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24"/>
  </p:notesMasterIdLst>
  <p:handoutMasterIdLst>
    <p:handoutMasterId r:id="rId25"/>
  </p:handoutMasterIdLst>
  <p:sldIdLst>
    <p:sldId id="261" r:id="rId3"/>
    <p:sldId id="275" r:id="rId4"/>
    <p:sldId id="277"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a:srgbClr val="FF9900"/>
    <a:srgbClr val="A50021"/>
    <a:srgbClr val="FF6699"/>
    <a:srgbClr val="FF5050"/>
    <a:srgbClr val="FF33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2194" autoAdjust="0"/>
  </p:normalViewPr>
  <p:slideViewPr>
    <p:cSldViewPr snapToGrid="0">
      <p:cViewPr varScale="1">
        <p:scale>
          <a:sx n="72" d="100"/>
          <a:sy n="72" d="100"/>
        </p:scale>
        <p:origin x="1790" y="53"/>
      </p:cViewPr>
      <p:guideLst>
        <p:guide pos="2880"/>
        <p:guide orient="horz" pos="216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59041DB8-B66F-4DC8-A96E-33677E0F90FF}" type="datetimeFigureOut">
              <a:rPr lang="en-US" altLang="zh-CN" smtClean="0">
                <a:ea typeface="Microsoft YaHei UI" panose="020B0503020204020204" pitchFamily="34" charset="-122"/>
              </a:rPr>
              <a:pPr/>
              <a:t>6/6/2022</a:t>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1604A0D4-B89B-4ADD-AF9E-38636B40EE4E}" type="slidenum">
              <a:rPr lang="zh-CN" smtClean="0">
                <a:ea typeface="Microsoft YaHei UI" panose="020B0503020204020204" pitchFamily="34" charset="-122"/>
              </a:rPr>
              <a:pPr/>
              <a:t>‹#›</a:t>
            </a:fld>
            <a:endParaRPr lang="zh-CN" dirty="0">
              <a:ea typeface="Microsoft YaHei UI"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ea typeface="Microsoft YaHei UI" panose="020B0503020204020204" pitchFamily="34" charset="-122"/>
              </a:defRPr>
            </a:lvl1pPr>
          </a:lstStyle>
          <a:p>
            <a:fld id="{DEB49C4A-65AC-492D-9701-81B46C3AD0E4}" type="datetimeFigureOut">
              <a:rPr lang="en-US" altLang="zh-CN" smtClean="0"/>
              <a:pPr/>
              <a:t>6/6/2022</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ea typeface="Microsoft YaHei UI" panose="020B0503020204020204" pitchFamily="34" charset="-122"/>
              </a:defRPr>
            </a:lvl1pPr>
          </a:lstStyle>
          <a:p>
            <a:fld id="{82869989-EB00-4EE7-BCB5-25BDC5BB29F8}" type="slidenum">
              <a:rPr lang="en-US" altLang="zh-CN" smtClean="0"/>
              <a:pPr/>
              <a:t>‹#›</a:t>
            </a:fld>
            <a:endParaRPr lang="en-US" altLang="zh-CN"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r"/>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a:t>
            </a:fld>
            <a:endParaRPr lang="en-US" altLang="zh-CN" dirty="0"/>
          </a:p>
        </p:txBody>
      </p:sp>
    </p:spTree>
    <p:extLst>
      <p:ext uri="{BB962C8B-B14F-4D97-AF65-F5344CB8AC3E}">
        <p14:creationId xmlns:p14="http://schemas.microsoft.com/office/powerpoint/2010/main" val="405340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3</a:t>
            </a:fld>
            <a:endParaRPr lang="zh-CN"/>
          </a:p>
        </p:txBody>
      </p:sp>
    </p:spTree>
    <p:extLst>
      <p:ext uri="{BB962C8B-B14F-4D97-AF65-F5344CB8AC3E}">
        <p14:creationId xmlns:p14="http://schemas.microsoft.com/office/powerpoint/2010/main" val="3407718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4</a:t>
            </a:fld>
            <a:endParaRPr lang="zh-CN"/>
          </a:p>
        </p:txBody>
      </p:sp>
    </p:spTree>
    <p:extLst>
      <p:ext uri="{BB962C8B-B14F-4D97-AF65-F5344CB8AC3E}">
        <p14:creationId xmlns:p14="http://schemas.microsoft.com/office/powerpoint/2010/main" val="1644279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5</a:t>
            </a:fld>
            <a:endParaRPr lang="zh-CN"/>
          </a:p>
        </p:txBody>
      </p:sp>
    </p:spTree>
    <p:extLst>
      <p:ext uri="{BB962C8B-B14F-4D97-AF65-F5344CB8AC3E}">
        <p14:creationId xmlns:p14="http://schemas.microsoft.com/office/powerpoint/2010/main" val="4051239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6</a:t>
            </a:fld>
            <a:endParaRPr lang="zh-CN"/>
          </a:p>
        </p:txBody>
      </p:sp>
    </p:spTree>
    <p:extLst>
      <p:ext uri="{BB962C8B-B14F-4D97-AF65-F5344CB8AC3E}">
        <p14:creationId xmlns:p14="http://schemas.microsoft.com/office/powerpoint/2010/main" val="1915377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1972</a:t>
            </a:r>
            <a:r>
              <a:rPr lang="zh-CN" altLang="en-US" dirty="0" smtClean="0">
                <a:latin typeface="Arial" panose="020B0604020202020204" pitchFamily="34" charset="0"/>
              </a:rPr>
              <a:t>年托宾在普林斯顿大学演讲时提议“往飞速运转的国际金融市场这一车轮中掷些沙子”，首次提出对现货外汇交易课征全球统一的交易税，经济学家后来把这种外汇交易税称为“托宾税”。 </a:t>
            </a:r>
          </a:p>
          <a:p>
            <a:pPr eaLnBrk="1" hangingPunct="1"/>
            <a:r>
              <a:rPr lang="en-US" altLang="zh-CN" dirty="0" smtClean="0">
                <a:latin typeface="Arial" panose="020B0604020202020204" pitchFamily="34" charset="0"/>
              </a:rPr>
              <a:t>1987</a:t>
            </a:r>
            <a:r>
              <a:rPr lang="zh-CN" altLang="en-US" dirty="0" smtClean="0">
                <a:latin typeface="Arial" panose="020B0604020202020204" pitchFamily="34" charset="0"/>
              </a:rPr>
              <a:t>年由威廉姆森和米勒</a:t>
            </a:r>
            <a:r>
              <a:rPr lang="en-US" altLang="zh-CN" dirty="0" smtClean="0">
                <a:latin typeface="Arial" panose="020B0604020202020204" pitchFamily="34" charset="0"/>
              </a:rPr>
              <a:t>(M</a:t>
            </a:r>
            <a:r>
              <a:rPr lang="zh-CN" altLang="en-US" dirty="0" smtClean="0">
                <a:latin typeface="Arial" panose="020B0604020202020204" pitchFamily="34" charset="0"/>
              </a:rPr>
              <a:t>．</a:t>
            </a:r>
            <a:r>
              <a:rPr lang="en-US" altLang="zh-CN" dirty="0" smtClean="0">
                <a:latin typeface="Arial" panose="020B0604020202020204" pitchFamily="34" charset="0"/>
              </a:rPr>
              <a:t>H</a:t>
            </a:r>
            <a:r>
              <a:rPr lang="zh-CN" altLang="en-US" dirty="0" smtClean="0">
                <a:latin typeface="Arial" panose="020B0604020202020204" pitchFamily="34" charset="0"/>
              </a:rPr>
              <a:t>．</a:t>
            </a:r>
            <a:r>
              <a:rPr lang="en-US" altLang="zh-CN" dirty="0" smtClean="0">
                <a:latin typeface="Arial" panose="020B0604020202020204" pitchFamily="34" charset="0"/>
              </a:rPr>
              <a:t>Miller)</a:t>
            </a:r>
            <a:r>
              <a:rPr lang="zh-CN" altLang="en-US" dirty="0" smtClean="0">
                <a:latin typeface="Arial" panose="020B0604020202020204" pitchFamily="34" charset="0"/>
              </a:rPr>
              <a:t>将汇率目标区制从政策协调角度进行扩展而形成的，它又被称为“扩展的汇率目标区方 </a:t>
            </a:r>
          </a:p>
          <a:p>
            <a:pPr eaLnBrk="1" hangingPunct="1"/>
            <a:endParaRPr lang="en-US" altLang="zh-CN" dirty="0" smtClean="0">
              <a:latin typeface="Arial" panose="020B0604020202020204" pitchFamily="34" charset="0"/>
            </a:endParaRP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7</a:t>
            </a:fld>
            <a:endParaRPr lang="zh-CN"/>
          </a:p>
        </p:txBody>
      </p:sp>
    </p:spTree>
    <p:extLst>
      <p:ext uri="{BB962C8B-B14F-4D97-AF65-F5344CB8AC3E}">
        <p14:creationId xmlns:p14="http://schemas.microsoft.com/office/powerpoint/2010/main" val="2894755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1972</a:t>
            </a:r>
            <a:r>
              <a:rPr lang="zh-CN" altLang="en-US" dirty="0" smtClean="0">
                <a:latin typeface="Arial" panose="020B0604020202020204" pitchFamily="34" charset="0"/>
              </a:rPr>
              <a:t>年托宾在普林斯顿大学演讲时提议“往飞速运转的国际金融市场这一车轮中掷些沙子”，首次提出对现货外汇交易课征全球统一的交易税，经济学家后来把这种外汇交易税称为“托宾税”。 </a:t>
            </a:r>
          </a:p>
          <a:p>
            <a:pPr eaLnBrk="1" hangingPunct="1"/>
            <a:r>
              <a:rPr lang="en-US" altLang="zh-CN" dirty="0" smtClean="0">
                <a:latin typeface="Arial" panose="020B0604020202020204" pitchFamily="34" charset="0"/>
              </a:rPr>
              <a:t>1987</a:t>
            </a:r>
            <a:r>
              <a:rPr lang="zh-CN" altLang="en-US" dirty="0" smtClean="0">
                <a:latin typeface="Arial" panose="020B0604020202020204" pitchFamily="34" charset="0"/>
              </a:rPr>
              <a:t>年由威廉姆森和米勒</a:t>
            </a:r>
            <a:r>
              <a:rPr lang="en-US" altLang="zh-CN" dirty="0" smtClean="0">
                <a:latin typeface="Arial" panose="020B0604020202020204" pitchFamily="34" charset="0"/>
              </a:rPr>
              <a:t>(M</a:t>
            </a:r>
            <a:r>
              <a:rPr lang="zh-CN" altLang="en-US" dirty="0" smtClean="0">
                <a:latin typeface="Arial" panose="020B0604020202020204" pitchFamily="34" charset="0"/>
              </a:rPr>
              <a:t>．</a:t>
            </a:r>
            <a:r>
              <a:rPr lang="en-US" altLang="zh-CN" dirty="0" smtClean="0">
                <a:latin typeface="Arial" panose="020B0604020202020204" pitchFamily="34" charset="0"/>
              </a:rPr>
              <a:t>H</a:t>
            </a:r>
            <a:r>
              <a:rPr lang="zh-CN" altLang="en-US" dirty="0" smtClean="0">
                <a:latin typeface="Arial" panose="020B0604020202020204" pitchFamily="34" charset="0"/>
              </a:rPr>
              <a:t>．</a:t>
            </a:r>
            <a:r>
              <a:rPr lang="en-US" altLang="zh-CN" dirty="0" smtClean="0">
                <a:latin typeface="Arial" panose="020B0604020202020204" pitchFamily="34" charset="0"/>
              </a:rPr>
              <a:t>Miller)</a:t>
            </a:r>
            <a:r>
              <a:rPr lang="zh-CN" altLang="en-US" dirty="0" smtClean="0">
                <a:latin typeface="Arial" panose="020B0604020202020204" pitchFamily="34" charset="0"/>
              </a:rPr>
              <a:t>将汇率目标区制从政策协调角度进行扩展而形成的，它又被称为“扩展的汇率目标区方 </a:t>
            </a:r>
          </a:p>
          <a:p>
            <a:pPr eaLnBrk="1" hangingPunct="1"/>
            <a:endParaRPr lang="en-US" altLang="zh-CN" dirty="0" smtClean="0">
              <a:latin typeface="Arial" panose="020B0604020202020204" pitchFamily="34" charset="0"/>
            </a:endParaRP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8</a:t>
            </a:fld>
            <a:endParaRPr lang="zh-CN"/>
          </a:p>
        </p:txBody>
      </p:sp>
    </p:spTree>
    <p:extLst>
      <p:ext uri="{BB962C8B-B14F-4D97-AF65-F5344CB8AC3E}">
        <p14:creationId xmlns:p14="http://schemas.microsoft.com/office/powerpoint/2010/main" val="2767049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r>
              <a:rPr lang="en-US" altLang="zh-CN" dirty="0" smtClean="0">
                <a:latin typeface="Arial" panose="020B0604020202020204" pitchFamily="34" charset="0"/>
              </a:rPr>
              <a:t>1972</a:t>
            </a:r>
            <a:r>
              <a:rPr lang="zh-CN" altLang="en-US" dirty="0" smtClean="0">
                <a:latin typeface="Arial" panose="020B0604020202020204" pitchFamily="34" charset="0"/>
              </a:rPr>
              <a:t>年托宾在普林斯顿大学演讲时提议“往飞速运转的国际金融市场这一车轮中掷些沙子”，首次提出对现货外汇交易课征全球统一的交易税，经济学家后来把这种外汇交易税称为“托宾税”。 </a:t>
            </a:r>
          </a:p>
          <a:p>
            <a:pPr eaLnBrk="1" hangingPunct="1"/>
            <a:r>
              <a:rPr lang="en-US" altLang="zh-CN" dirty="0" smtClean="0">
                <a:latin typeface="Arial" panose="020B0604020202020204" pitchFamily="34" charset="0"/>
              </a:rPr>
              <a:t>1987</a:t>
            </a:r>
            <a:r>
              <a:rPr lang="zh-CN" altLang="en-US" dirty="0" smtClean="0">
                <a:latin typeface="Arial" panose="020B0604020202020204" pitchFamily="34" charset="0"/>
              </a:rPr>
              <a:t>年由威廉姆森和米勒</a:t>
            </a:r>
            <a:r>
              <a:rPr lang="en-US" altLang="zh-CN" dirty="0" smtClean="0">
                <a:latin typeface="Arial" panose="020B0604020202020204" pitchFamily="34" charset="0"/>
              </a:rPr>
              <a:t>(M</a:t>
            </a:r>
            <a:r>
              <a:rPr lang="zh-CN" altLang="en-US" dirty="0" smtClean="0">
                <a:latin typeface="Arial" panose="020B0604020202020204" pitchFamily="34" charset="0"/>
              </a:rPr>
              <a:t>．</a:t>
            </a:r>
            <a:r>
              <a:rPr lang="en-US" altLang="zh-CN" dirty="0" smtClean="0">
                <a:latin typeface="Arial" panose="020B0604020202020204" pitchFamily="34" charset="0"/>
              </a:rPr>
              <a:t>H</a:t>
            </a:r>
            <a:r>
              <a:rPr lang="zh-CN" altLang="en-US" dirty="0" smtClean="0">
                <a:latin typeface="Arial" panose="020B0604020202020204" pitchFamily="34" charset="0"/>
              </a:rPr>
              <a:t>．</a:t>
            </a:r>
            <a:r>
              <a:rPr lang="en-US" altLang="zh-CN" dirty="0" smtClean="0">
                <a:latin typeface="Arial" panose="020B0604020202020204" pitchFamily="34" charset="0"/>
              </a:rPr>
              <a:t>Miller)</a:t>
            </a:r>
            <a:r>
              <a:rPr lang="zh-CN" altLang="en-US" dirty="0" smtClean="0">
                <a:latin typeface="Arial" panose="020B0604020202020204" pitchFamily="34" charset="0"/>
              </a:rPr>
              <a:t>将汇率目标区制从政策协调角度进行扩展而形成的，它又被称为“扩展的汇率目标区方 </a:t>
            </a:r>
          </a:p>
          <a:p>
            <a:pPr eaLnBrk="1" hangingPunct="1"/>
            <a:endParaRPr lang="en-US" altLang="zh-CN" dirty="0" smtClean="0">
              <a:latin typeface="Arial" panose="020B0604020202020204" pitchFamily="34" charset="0"/>
            </a:endParaRP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9</a:t>
            </a:fld>
            <a:endParaRPr lang="zh-CN"/>
          </a:p>
        </p:txBody>
      </p:sp>
    </p:spTree>
    <p:extLst>
      <p:ext uri="{BB962C8B-B14F-4D97-AF65-F5344CB8AC3E}">
        <p14:creationId xmlns:p14="http://schemas.microsoft.com/office/powerpoint/2010/main" val="2331408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10</a:t>
            </a:fld>
            <a:endParaRPr lang="zh-CN"/>
          </a:p>
        </p:txBody>
      </p:sp>
    </p:spTree>
    <p:extLst>
      <p:ext uri="{BB962C8B-B14F-4D97-AF65-F5344CB8AC3E}">
        <p14:creationId xmlns:p14="http://schemas.microsoft.com/office/powerpoint/2010/main" val="2022899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en-US" altLang="zh-CN" dirty="0" smtClean="0">
              <a:latin typeface="Arial" panose="020B0604020202020204" pitchFamily="34" charset="0"/>
            </a:endParaRPr>
          </a:p>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11</a:t>
            </a:fld>
            <a:endParaRPr lang="zh-CN"/>
          </a:p>
        </p:txBody>
      </p:sp>
    </p:spTree>
    <p:extLst>
      <p:ext uri="{BB962C8B-B14F-4D97-AF65-F5344CB8AC3E}">
        <p14:creationId xmlns:p14="http://schemas.microsoft.com/office/powerpoint/2010/main" val="498273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12</a:t>
            </a:fld>
            <a:endParaRPr lang="zh-CN"/>
          </a:p>
        </p:txBody>
      </p:sp>
    </p:spTree>
    <p:extLst>
      <p:ext uri="{BB962C8B-B14F-4D97-AF65-F5344CB8AC3E}">
        <p14:creationId xmlns:p14="http://schemas.microsoft.com/office/powerpoint/2010/main" val="556241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13</a:t>
            </a:fld>
            <a:endParaRPr lang="zh-CN"/>
          </a:p>
        </p:txBody>
      </p:sp>
    </p:spTree>
    <p:extLst>
      <p:ext uri="{BB962C8B-B14F-4D97-AF65-F5344CB8AC3E}">
        <p14:creationId xmlns:p14="http://schemas.microsoft.com/office/powerpoint/2010/main" val="2782336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14</a:t>
            </a:fld>
            <a:endParaRPr lang="zh-CN"/>
          </a:p>
        </p:txBody>
      </p:sp>
    </p:spTree>
    <p:extLst>
      <p:ext uri="{BB962C8B-B14F-4D97-AF65-F5344CB8AC3E}">
        <p14:creationId xmlns:p14="http://schemas.microsoft.com/office/powerpoint/2010/main" val="3701086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15</a:t>
            </a:fld>
            <a:endParaRPr lang="zh-CN"/>
          </a:p>
        </p:txBody>
      </p:sp>
    </p:spTree>
    <p:extLst>
      <p:ext uri="{BB962C8B-B14F-4D97-AF65-F5344CB8AC3E}">
        <p14:creationId xmlns:p14="http://schemas.microsoft.com/office/powerpoint/2010/main" val="2055337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16</a:t>
            </a:fld>
            <a:endParaRPr lang="zh-CN"/>
          </a:p>
        </p:txBody>
      </p:sp>
    </p:spTree>
    <p:extLst>
      <p:ext uri="{BB962C8B-B14F-4D97-AF65-F5344CB8AC3E}">
        <p14:creationId xmlns:p14="http://schemas.microsoft.com/office/powerpoint/2010/main" val="3082244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17</a:t>
            </a:fld>
            <a:endParaRPr lang="zh-CN"/>
          </a:p>
        </p:txBody>
      </p:sp>
    </p:spTree>
    <p:extLst>
      <p:ext uri="{BB962C8B-B14F-4D97-AF65-F5344CB8AC3E}">
        <p14:creationId xmlns:p14="http://schemas.microsoft.com/office/powerpoint/2010/main" val="2916487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18</a:t>
            </a:fld>
            <a:endParaRPr lang="zh-CN"/>
          </a:p>
        </p:txBody>
      </p:sp>
    </p:spTree>
    <p:extLst>
      <p:ext uri="{BB962C8B-B14F-4D97-AF65-F5344CB8AC3E}">
        <p14:creationId xmlns:p14="http://schemas.microsoft.com/office/powerpoint/2010/main" val="1057207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19</a:t>
            </a:fld>
            <a:endParaRPr lang="zh-CN"/>
          </a:p>
        </p:txBody>
      </p:sp>
    </p:spTree>
    <p:extLst>
      <p:ext uri="{BB962C8B-B14F-4D97-AF65-F5344CB8AC3E}">
        <p14:creationId xmlns:p14="http://schemas.microsoft.com/office/powerpoint/2010/main" val="12084249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20</a:t>
            </a:fld>
            <a:endParaRPr lang="zh-CN"/>
          </a:p>
        </p:txBody>
      </p:sp>
    </p:spTree>
    <p:extLst>
      <p:ext uri="{BB962C8B-B14F-4D97-AF65-F5344CB8AC3E}">
        <p14:creationId xmlns:p14="http://schemas.microsoft.com/office/powerpoint/2010/main" val="37159995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eaLnBrk="1" hangingPunct="1"/>
            <a:endParaRPr lang="zh-CN" altLang="zh-CN" dirty="0" smtClean="0">
              <a:latin typeface="Arial" panose="020B0604020202020204" pitchFamily="34" charset="0"/>
            </a:endParaRPr>
          </a:p>
        </p:txBody>
      </p:sp>
      <p:sp>
        <p:nvSpPr>
          <p:cNvPr id="4" name="幻灯片编号占位符 3"/>
          <p:cNvSpPr>
            <a:spLocks noGrp="1"/>
          </p:cNvSpPr>
          <p:nvPr>
            <p:ph type="sldNum" sz="quarter" idx="10"/>
          </p:nvPr>
        </p:nvSpPr>
        <p:spPr/>
        <p:txBody>
          <a:bodyPr/>
          <a:lstStyle/>
          <a:p>
            <a:fld id="{82869989-EB00-4EE7-BCB5-25BDC5BB29F8}" type="slidenum">
              <a:rPr lang="en-US" altLang="zh-CN" smtClean="0"/>
              <a:pPr/>
              <a:t>21</a:t>
            </a:fld>
            <a:endParaRPr lang="zh-CN"/>
          </a:p>
        </p:txBody>
      </p:sp>
    </p:spTree>
    <p:extLst>
      <p:ext uri="{BB962C8B-B14F-4D97-AF65-F5344CB8AC3E}">
        <p14:creationId xmlns:p14="http://schemas.microsoft.com/office/powerpoint/2010/main" val="132831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70384" y="1909346"/>
            <a:ext cx="7203233" cy="3383280"/>
          </a:xfrm>
        </p:spPr>
        <p:txBody>
          <a:bodyPr anchor="b">
            <a:normAutofit/>
          </a:bodyPr>
          <a:lstStyle>
            <a:lvl1pPr algn="l" latinLnBrk="0">
              <a:lnSpc>
                <a:spcPct val="76000"/>
              </a:lnSpc>
              <a:defRPr lang="zh-CN" sz="8000" cap="none" baseline="0">
                <a:solidFill>
                  <a:schemeClr val="tx1"/>
                </a:solidFill>
              </a:defRPr>
            </a:lvl1pPr>
          </a:lstStyle>
          <a:p>
            <a:r>
              <a:rPr lang="zh-CN" altLang="en-US" smtClean="0"/>
              <a:t>单击此处编辑母版标题样式</a:t>
            </a:r>
            <a:endParaRPr lang="zh-CN" dirty="0"/>
          </a:p>
        </p:txBody>
      </p:sp>
      <p:sp>
        <p:nvSpPr>
          <p:cNvPr id="3" name="副标题 2"/>
          <p:cNvSpPr>
            <a:spLocks noGrp="1"/>
          </p:cNvSpPr>
          <p:nvPr>
            <p:ph type="subTitle" idx="1"/>
          </p:nvPr>
        </p:nvSpPr>
        <p:spPr>
          <a:xfrm>
            <a:off x="970384" y="5432564"/>
            <a:ext cx="7203233" cy="457200"/>
          </a:xfrm>
        </p:spPr>
        <p:txBody>
          <a:bodyPr>
            <a:normAutofit/>
          </a:bodyPr>
          <a:lstStyle>
            <a:lvl1pPr marL="0" indent="0" algn="l" latinLnBrk="0">
              <a:spcBef>
                <a:spcPts val="0"/>
              </a:spcBef>
              <a:buNone/>
              <a:defRPr lang="zh-CN" sz="2000" b="0">
                <a:solidFill>
                  <a:schemeClr val="accent1"/>
                </a:solidFill>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a:p>
        </p:txBody>
      </p:sp>
      <p:cxnSp>
        <p:nvCxnSpPr>
          <p:cNvPr id="58" name="直线连接线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3" idx="3"/>
          </p:cNvCxnSpPr>
          <p:nvPr userDrawn="1"/>
        </p:nvCxnSpPr>
        <p:spPr>
          <a:xfrm>
            <a:off x="8172450" y="1143000"/>
            <a:ext cx="1167" cy="4518164"/>
          </a:xfrm>
          <a:prstGeom prst="line">
            <a:avLst/>
          </a:prstGeom>
          <a:ln w="190500" cmpd="sng"/>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1550" y="18386"/>
            <a:ext cx="7200900" cy="1142385"/>
          </a:xfrm>
        </p:spPr>
        <p:txBody>
          <a:bodyPr/>
          <a:lstStyle/>
          <a:p>
            <a:r>
              <a:rPr lang="zh-CN" altLang="en-US" dirty="0" smtClean="0"/>
              <a:t>单击此处编辑母版标题样式</a:t>
            </a:r>
            <a:endParaRPr lang="zh-CN" dirty="0"/>
          </a:p>
        </p:txBody>
      </p:sp>
      <p:sp>
        <p:nvSpPr>
          <p:cNvPr id="3" name="内容占位符 2"/>
          <p:cNvSpPr>
            <a:spLocks noGrp="1"/>
          </p:cNvSpPr>
          <p:nvPr>
            <p:ph idx="1"/>
          </p:nvPr>
        </p:nvSpPr>
        <p:spPr>
          <a:xfrm>
            <a:off x="971550" y="1447800"/>
            <a:ext cx="7200900" cy="4559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955AE237-00C5-49C3-9620-3A7E1C66D777}" type="datetime1">
              <a:rPr lang="zh-CN" altLang="en-US" smtClean="0"/>
              <a:pPr/>
              <a:t>2022/6/6</a:t>
            </a:fld>
            <a:endParaRPr lang="zh-CN"/>
          </a:p>
        </p:txBody>
      </p:sp>
      <p:sp>
        <p:nvSpPr>
          <p:cNvPr id="5" name="页脚占位符 4"/>
          <p:cNvSpPr>
            <a:spLocks noGrp="1"/>
          </p:cNvSpPr>
          <p:nvPr>
            <p:ph type="ftr" sz="quarter" idx="11"/>
          </p:nvPr>
        </p:nvSpPr>
        <p:spPr/>
        <p:txBody>
          <a:bodyPr/>
          <a:lstStyle>
            <a:lvl1pPr>
              <a:defRPr sz="1600">
                <a:solidFill>
                  <a:schemeClr val="accent1"/>
                </a:solidFill>
                <a:latin typeface="微软雅黑" panose="020B0503020204020204" pitchFamily="34" charset="-122"/>
                <a:ea typeface="微软雅黑" panose="020B0503020204020204" pitchFamily="34" charset="-122"/>
              </a:defRPr>
            </a:lvl1pPr>
          </a:lstStyle>
          <a:p>
            <a:r>
              <a:rPr lang="zh-CN" altLang="en-US" dirty="0" smtClean="0"/>
              <a:t>国际金融学 范小云</a:t>
            </a:r>
            <a:endParaRPr lang="zh-CN" altLang="en-US" dirty="0"/>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9144002" cy="6858000"/>
            <a:chOff x="-1" y="0"/>
            <a:chExt cx="12192002" cy="6858000"/>
          </a:xfrm>
        </p:grpSpPr>
        <p:cxnSp>
          <p:nvCxnSpPr>
            <p:cNvPr id="8" name="直线连接线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线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线连接线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线连接线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线连接线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线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线连接线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线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线连接线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线连接线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线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971550" y="2541573"/>
            <a:ext cx="7200900" cy="2743200"/>
          </a:xfrm>
        </p:spPr>
        <p:txBody>
          <a:bodyPr anchor="b">
            <a:normAutofit/>
          </a:bodyPr>
          <a:lstStyle>
            <a:lvl1pPr latinLnBrk="0">
              <a:lnSpc>
                <a:spcPct val="85000"/>
              </a:lnSpc>
              <a:defRPr lang="zh-CN" sz="6000" cap="none" baseline="0">
                <a:solidFill>
                  <a:schemeClr val="tx1"/>
                </a:solidFill>
              </a:defRPr>
            </a:lvl1pPr>
          </a:lstStyle>
          <a:p>
            <a:r>
              <a:rPr lang="zh-CN" altLang="en-US" smtClean="0"/>
              <a:t>单击此处编辑母版标题样式</a:t>
            </a:r>
            <a:endParaRPr lang="zh-CN" dirty="0"/>
          </a:p>
        </p:txBody>
      </p:sp>
      <p:sp>
        <p:nvSpPr>
          <p:cNvPr id="3" name="文本占位符 2"/>
          <p:cNvSpPr>
            <a:spLocks noGrp="1"/>
          </p:cNvSpPr>
          <p:nvPr>
            <p:ph type="body" idx="1"/>
          </p:nvPr>
        </p:nvSpPr>
        <p:spPr>
          <a:xfrm>
            <a:off x="971550" y="5431536"/>
            <a:ext cx="7200900" cy="457200"/>
          </a:xfrm>
        </p:spPr>
        <p:txBody>
          <a:bodyPr>
            <a:normAutofit/>
          </a:bodyPr>
          <a:lstStyle>
            <a:lvl1pPr marL="0" indent="0" latinLnBrk="0">
              <a:spcBef>
                <a:spcPts val="0"/>
              </a:spcBef>
              <a:buNone/>
              <a:defRPr lang="zh-CN" sz="2000" b="0">
                <a:solidFill>
                  <a:schemeClr val="tx1"/>
                </a:solidFill>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p>
        </p:txBody>
      </p:sp>
      <p:cxnSp>
        <p:nvCxnSpPr>
          <p:cNvPr id="58" name="直线连接线 57"/>
          <p:cNvCxnSpPr/>
          <p:nvPr userDrawn="1"/>
        </p:nvCxnSpPr>
        <p:spPr>
          <a:xfrm>
            <a:off x="971550" y="5294175"/>
            <a:ext cx="720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内容占位符 2"/>
          <p:cNvSpPr>
            <a:spLocks noGrp="1"/>
          </p:cNvSpPr>
          <p:nvPr>
            <p:ph sz="half" idx="1"/>
          </p:nvPr>
        </p:nvSpPr>
        <p:spPr>
          <a:xfrm>
            <a:off x="9715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内容占位符 3"/>
          <p:cNvSpPr>
            <a:spLocks noGrp="1"/>
          </p:cNvSpPr>
          <p:nvPr>
            <p:ph sz="half" idx="2"/>
          </p:nvPr>
        </p:nvSpPr>
        <p:spPr>
          <a:xfrm>
            <a:off x="47434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5" name="日期占位符 4"/>
          <p:cNvSpPr>
            <a:spLocks noGrp="1"/>
          </p:cNvSpPr>
          <p:nvPr>
            <p:ph type="dt" sz="half" idx="10"/>
          </p:nvPr>
        </p:nvSpPr>
        <p:spPr/>
        <p:txBody>
          <a:bodyPr/>
          <a:lstStyle/>
          <a:p>
            <a:fld id="{4563F93A-6675-49B1-B272-AB78494A47C1}" type="datetime1">
              <a:rPr lang="zh-CN" altLang="en-US" smtClean="0"/>
              <a:pPr/>
              <a:t>2022/6/6</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7" name="幻灯片编号占位符 6"/>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文本占位符 2"/>
          <p:cNvSpPr>
            <a:spLocks noGrp="1"/>
          </p:cNvSpPr>
          <p:nvPr>
            <p:ph type="body" idx="1"/>
          </p:nvPr>
        </p:nvSpPr>
        <p:spPr>
          <a:xfrm>
            <a:off x="9715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4" name="内容占位符 3"/>
          <p:cNvSpPr>
            <a:spLocks noGrp="1"/>
          </p:cNvSpPr>
          <p:nvPr>
            <p:ph sz="half" idx="2"/>
          </p:nvPr>
        </p:nvSpPr>
        <p:spPr>
          <a:xfrm>
            <a:off x="9715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5" name="文本占位符 4"/>
          <p:cNvSpPr>
            <a:spLocks noGrp="1"/>
          </p:cNvSpPr>
          <p:nvPr>
            <p:ph type="body" sz="quarter" idx="3"/>
          </p:nvPr>
        </p:nvSpPr>
        <p:spPr>
          <a:xfrm>
            <a:off x="47434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6" name="内容占位符 5"/>
          <p:cNvSpPr>
            <a:spLocks noGrp="1"/>
          </p:cNvSpPr>
          <p:nvPr>
            <p:ph sz="quarter" idx="4"/>
          </p:nvPr>
        </p:nvSpPr>
        <p:spPr>
          <a:xfrm>
            <a:off x="47434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7" name="日期占位符 6"/>
          <p:cNvSpPr>
            <a:spLocks noGrp="1"/>
          </p:cNvSpPr>
          <p:nvPr>
            <p:ph type="dt" sz="half" idx="10"/>
          </p:nvPr>
        </p:nvSpPr>
        <p:spPr/>
        <p:txBody>
          <a:bodyPr/>
          <a:lstStyle/>
          <a:p>
            <a:fld id="{EFE3F164-49FE-47CA-AD0E-694FC8244535}" type="datetime1">
              <a:rPr lang="zh-CN" altLang="en-US" smtClean="0"/>
              <a:pPr/>
              <a:t>2022/6/6</a:t>
            </a:fld>
            <a:endParaRPr lang="zh-CN"/>
          </a:p>
        </p:txBody>
      </p:sp>
      <p:sp>
        <p:nvSpPr>
          <p:cNvPr id="8" name="页脚占位符 7"/>
          <p:cNvSpPr>
            <a:spLocks noGrp="1"/>
          </p:cNvSpPr>
          <p:nvPr>
            <p:ph type="ftr" sz="quarter" idx="11"/>
          </p:nvPr>
        </p:nvSpPr>
        <p:spPr/>
        <p:txBody>
          <a:bodyPr/>
          <a:lstStyle/>
          <a:p>
            <a:r>
              <a:rPr lang="zh-CN" altLang="en-US" smtClean="0"/>
              <a:t>国际金融学 范小云</a:t>
            </a:r>
            <a:endParaRPr lang="zh-CN"/>
          </a:p>
        </p:txBody>
      </p:sp>
      <p:sp>
        <p:nvSpPr>
          <p:cNvPr id="9" name="幻灯片编号占位符 8"/>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日期占位符 2"/>
          <p:cNvSpPr>
            <a:spLocks noGrp="1"/>
          </p:cNvSpPr>
          <p:nvPr>
            <p:ph type="dt" sz="half" idx="10"/>
          </p:nvPr>
        </p:nvSpPr>
        <p:spPr/>
        <p:txBody>
          <a:bodyPr/>
          <a:lstStyle/>
          <a:p>
            <a:fld id="{CBD9AAED-D86B-4435-A478-E7982A9F3D12}" type="datetime1">
              <a:rPr lang="zh-CN" altLang="en-US" smtClean="0"/>
              <a:pPr/>
              <a:t>2022/6/6</a:t>
            </a:fld>
            <a:endParaRPr lang="zh-CN"/>
          </a:p>
        </p:txBody>
      </p:sp>
      <p:sp>
        <p:nvSpPr>
          <p:cNvPr id="4" name="页脚占位符 3"/>
          <p:cNvSpPr>
            <a:spLocks noGrp="1"/>
          </p:cNvSpPr>
          <p:nvPr>
            <p:ph type="ftr" sz="quarter" idx="11"/>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zh-CN" altLang="en-US" sz="1600" dirty="0" smtClean="0">
                <a:solidFill>
                  <a:srgbClr val="1CADE4"/>
                </a:solidFill>
                <a:latin typeface="微软雅黑" panose="020B0503020204020204" pitchFamily="34" charset="-122"/>
                <a:ea typeface="微软雅黑" panose="020B0503020204020204" pitchFamily="34" charset="-122"/>
              </a:rPr>
              <a:t>国际金融学 范小云</a:t>
            </a:r>
            <a:endParaRPr lang="zh-CN" altLang="en-US" sz="1600" dirty="0">
              <a:solidFill>
                <a:srgbClr val="1CADE4"/>
              </a:solidFill>
              <a:latin typeface="微软雅黑" panose="020B0503020204020204" pitchFamily="34" charset="-122"/>
              <a:ea typeface="微软雅黑" panose="020B0503020204020204" pitchFamily="34" charset="-122"/>
            </a:endParaRPr>
          </a:p>
        </p:txBody>
      </p:sp>
      <p:sp>
        <p:nvSpPr>
          <p:cNvPr id="5" name="幻灯片编号占位符 4"/>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12" name="日期占位符 211"/>
          <p:cNvSpPr>
            <a:spLocks noGrp="1"/>
          </p:cNvSpPr>
          <p:nvPr>
            <p:ph type="dt" sz="half" idx="10"/>
          </p:nvPr>
        </p:nvSpPr>
        <p:spPr/>
        <p:txBody>
          <a:bodyPr/>
          <a:lstStyle/>
          <a:p>
            <a:fld id="{8FD5366B-5DD5-4ECC-82BD-E5089146864D}" type="datetime1">
              <a:rPr lang="zh-CN" altLang="en-US" smtClean="0"/>
              <a:pPr/>
              <a:t>2022/6/6</a:t>
            </a:fld>
            <a:endParaRPr lang="zh-CN"/>
          </a:p>
        </p:txBody>
      </p:sp>
      <p:sp>
        <p:nvSpPr>
          <p:cNvPr id="213" name="页脚占位符 212"/>
          <p:cNvSpPr>
            <a:spLocks noGrp="1"/>
          </p:cNvSpPr>
          <p:nvPr>
            <p:ph type="ftr" sz="quarter" idx="11"/>
          </p:nvPr>
        </p:nvSpPr>
        <p:spPr/>
        <p:txBody>
          <a:bodyPr/>
          <a:lstStyle/>
          <a:p>
            <a:r>
              <a:rPr lang="zh-CN" altLang="en-US" smtClean="0"/>
              <a:t>国际金融学 范小云</a:t>
            </a:r>
            <a:endParaRPr lang="zh-CN"/>
          </a:p>
        </p:txBody>
      </p:sp>
      <p:sp>
        <p:nvSpPr>
          <p:cNvPr id="214" name="幻灯片编号占位符 213"/>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线连接线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线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线连接线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线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线连接线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线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线连接线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线连接线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线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线连接线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线连接线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2" name="标题 1"/>
          <p:cNvSpPr>
            <a:spLocks noGrp="1"/>
          </p:cNvSpPr>
          <p:nvPr>
            <p:ph type="title"/>
          </p:nvPr>
        </p:nvSpPr>
        <p:spPr>
          <a:xfrm>
            <a:off x="5934864" y="571500"/>
            <a:ext cx="2743200" cy="219710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3" name="内容占位符 2"/>
          <p:cNvSpPr>
            <a:spLocks noGrp="1"/>
          </p:cNvSpPr>
          <p:nvPr>
            <p:ph idx="1"/>
          </p:nvPr>
        </p:nvSpPr>
        <p:spPr>
          <a:xfrm>
            <a:off x="407398" y="571500"/>
            <a:ext cx="4663440" cy="57150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2000"/>
            </a:lvl6pPr>
            <a:lvl7pPr latinLnBrk="0">
              <a:defRPr lang="zh-CN" sz="2000"/>
            </a:lvl7pPr>
            <a:lvl8pPr latinLnBrk="0">
              <a:defRPr lang="zh-CN" sz="2000"/>
            </a:lvl8pPr>
            <a:lvl9pPr latinLnBrk="0">
              <a:defRPr lang="zh-CN"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文本占位符 3"/>
          <p:cNvSpPr>
            <a:spLocks noGrp="1"/>
          </p:cNvSpPr>
          <p:nvPr>
            <p:ph type="body" sz="half" idx="2"/>
          </p:nvPr>
        </p:nvSpPr>
        <p:spPr>
          <a:xfrm>
            <a:off x="5934864" y="2995012"/>
            <a:ext cx="2743200" cy="2285950"/>
          </a:xfrm>
        </p:spPr>
        <p:txBody>
          <a:bodyPr>
            <a:normAutofit/>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cxnSp>
        <p:nvCxnSpPr>
          <p:cNvPr id="60" name="直线连接线 59"/>
          <p:cNvCxnSpPr/>
          <p:nvPr userDrawn="1"/>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nvPr>
        </p:nvSpPr>
        <p:spPr/>
        <p:txBody>
          <a:bodyPr/>
          <a:lstStyle/>
          <a:p>
            <a:fld id="{4E4E324D-2A43-40A1-B3DC-C387EAFC4699}" type="datetime1">
              <a:rPr lang="zh-CN" altLang="en-US" smtClean="0"/>
              <a:pPr/>
              <a:t>2022/6/6</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8" name="幻灯片编号占位符 7"/>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9144002" cy="6858000"/>
            <a:chOff x="-1" y="0"/>
            <a:chExt cx="12192002" cy="6858000"/>
          </a:xfrm>
        </p:grpSpPr>
        <p:cxnSp>
          <p:nvCxnSpPr>
            <p:cNvPr id="9" name="直线连接线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线连接线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线连接线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线连接线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线连接线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线连接线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线连接线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3" name="图片占位符 2"/>
          <p:cNvSpPr>
            <a:spLocks noGrp="1"/>
          </p:cNvSpPr>
          <p:nvPr>
            <p:ph type="pic" idx="1"/>
          </p:nvPr>
        </p:nvSpPr>
        <p:spPr>
          <a:xfrm>
            <a:off x="3309" y="-159"/>
            <a:ext cx="5486400" cy="6858000"/>
          </a:xfrm>
        </p:spPr>
        <p:txBody>
          <a:bodyPr tIns="457200">
            <a:normAutofit/>
          </a:bodyPr>
          <a:lstStyle>
            <a:lvl1pPr marL="0" indent="0" algn="ctr" latinLnBrk="0">
              <a:buNone/>
              <a:defRPr lang="zh-CN" sz="20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dirty="0"/>
          </a:p>
        </p:txBody>
      </p:sp>
      <p:cxnSp>
        <p:nvCxnSpPr>
          <p:cNvPr id="59" name="直线连接线 58"/>
          <p:cNvCxnSpPr/>
          <p:nvPr/>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5932170" y="576072"/>
            <a:ext cx="2743200" cy="219456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4" name="文本占位符 3"/>
          <p:cNvSpPr>
            <a:spLocks noGrp="1"/>
          </p:cNvSpPr>
          <p:nvPr>
            <p:ph type="body" sz="half" idx="2"/>
          </p:nvPr>
        </p:nvSpPr>
        <p:spPr>
          <a:xfrm>
            <a:off x="5932170" y="2999232"/>
            <a:ext cx="2743200" cy="2286000"/>
          </a:xfrm>
        </p:spPr>
        <p:txBody>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3B70A53E-5BDE-449A-8325-0FD352C24776}" type="datetime1">
              <a:rPr lang="zh-CN" altLang="en-US" smtClean="0"/>
              <a:pPr/>
              <a:t>2022/6/6</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6985" y="489857"/>
            <a:ext cx="1265465" cy="5301343"/>
          </a:xfrm>
        </p:spPr>
        <p:txBody>
          <a:bodyPr vert="eaVert"/>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a:xfrm>
            <a:off x="971549" y="489857"/>
            <a:ext cx="5690508" cy="530134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27B70614-4D03-45B4-BA67-24D892EC8565}" type="datetime1">
              <a:rPr lang="zh-CN" altLang="en-US" smtClean="0"/>
              <a:pPr/>
              <a:t>2022/6/6</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71550" y="503854"/>
            <a:ext cx="7200900" cy="1142385"/>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971550" y="1981202"/>
            <a:ext cx="7200900" cy="3809999"/>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4" name="日期占位符 3"/>
          <p:cNvSpPr>
            <a:spLocks noGrp="1"/>
          </p:cNvSpPr>
          <p:nvPr>
            <p:ph type="dt" sz="half" idx="2"/>
          </p:nvPr>
        </p:nvSpPr>
        <p:spPr>
          <a:xfrm>
            <a:off x="6970531" y="6289679"/>
            <a:ext cx="724460"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27321F5A-E3A2-4B01-A540-357B93D3E2B1}" type="datetime1">
              <a:rPr lang="zh-CN" altLang="en-US" smtClean="0"/>
              <a:pPr/>
              <a:t>2022/6/6</a:t>
            </a:fld>
            <a:endParaRPr lang="zh-CN" altLang="en-US" dirty="0"/>
          </a:p>
        </p:txBody>
      </p:sp>
      <p:sp>
        <p:nvSpPr>
          <p:cNvPr id="5" name="页脚占位符 4"/>
          <p:cNvSpPr>
            <a:spLocks noGrp="1"/>
          </p:cNvSpPr>
          <p:nvPr>
            <p:ph type="ftr" sz="quarter" idx="3"/>
          </p:nvPr>
        </p:nvSpPr>
        <p:spPr>
          <a:xfrm>
            <a:off x="457201" y="6289679"/>
            <a:ext cx="4596023" cy="222436"/>
          </a:xfrm>
          <a:prstGeom prst="rect">
            <a:avLst/>
          </a:prstGeom>
        </p:spPr>
        <p:txBody>
          <a:bodyPr vert="horz" lIns="91440" tIns="45720" rIns="91440" bIns="45720" rtlCol="0" anchor="ctr"/>
          <a:lstStyle>
            <a:lvl1pPr algn="l" latinLnBrk="0">
              <a:defRPr lang="zh-CN" sz="800">
                <a:solidFill>
                  <a:schemeClr val="tx1">
                    <a:lumMod val="50000"/>
                    <a:lumOff val="50000"/>
                  </a:schemeClr>
                </a:solidFill>
                <a:ea typeface="Microsoft YaHei UI" panose="020B0503020204020204" pitchFamily="34" charset="-122"/>
              </a:defRPr>
            </a:lvl1pPr>
          </a:lstStyle>
          <a:p>
            <a:r>
              <a:rPr lang="zh-CN" altLang="en-US" smtClean="0"/>
              <a:t>国际金融学 范小云</a:t>
            </a:r>
            <a:endParaRPr lang="zh-CN" altLang="en-US" dirty="0"/>
          </a:p>
        </p:txBody>
      </p:sp>
      <p:sp>
        <p:nvSpPr>
          <p:cNvPr id="6" name="幻灯片编号占位符 5"/>
          <p:cNvSpPr>
            <a:spLocks noGrp="1"/>
          </p:cNvSpPr>
          <p:nvPr>
            <p:ph type="sldNum" sz="quarter" idx="4"/>
          </p:nvPr>
        </p:nvSpPr>
        <p:spPr>
          <a:xfrm>
            <a:off x="7998983" y="6289679"/>
            <a:ext cx="689162"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E31375A4-56A4-47D6-9801-1991572033F7}" type="slidenum">
              <a:rPr lang="en-US" altLang="zh-CN" smtClean="0"/>
              <a:pPr/>
              <a:t>‹#›</a:t>
            </a:fld>
            <a:endParaRPr lang="en-US" altLang="zh-CN" dirty="0"/>
          </a:p>
        </p:txBody>
      </p:sp>
      <p:cxnSp>
        <p:nvCxnSpPr>
          <p:cNvPr id="148" name="直线连接线 147"/>
          <p:cNvCxnSpPr/>
          <p:nvPr userDrawn="1"/>
        </p:nvCxnSpPr>
        <p:spPr>
          <a:xfrm>
            <a:off x="457200" y="6172200"/>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dt="0"/>
  <p:txStyles>
    <p:title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buClr>
        <a:buSzPct val="100000"/>
        <a:buFont typeface="Arial" pitchFamily="34" charset="0"/>
        <a:buChar char="▪"/>
        <a:defRPr lang="zh-CN" sz="2000" kern="1200">
          <a:solidFill>
            <a:schemeClr val="tx1"/>
          </a:solidFill>
          <a:latin typeface="+mn-lt"/>
          <a:ea typeface="Microsoft YaHei UI" panose="020B0503020204020204" pitchFamily="34" charset="-122"/>
          <a:cs typeface="+mn-cs"/>
        </a:defRPr>
      </a:lvl1pPr>
      <a:lvl2pPr marL="457200" indent="-182880" algn="l" defTabSz="914400" rtl="0" eaLnBrk="1" latinLnBrk="0" hangingPunct="1">
        <a:lnSpc>
          <a:spcPct val="90000"/>
        </a:lnSpc>
        <a:spcBef>
          <a:spcPts val="1200"/>
        </a:spcBef>
        <a:buClr>
          <a:schemeClr val="accent1"/>
        </a:buClr>
        <a:buSzPct val="100000"/>
        <a:buFont typeface="Arial" pitchFamily="34" charset="0"/>
        <a:buChar char="▪"/>
        <a:defRPr lang="zh-CN" sz="1800" kern="1200">
          <a:solidFill>
            <a:schemeClr val="tx1"/>
          </a:solidFill>
          <a:latin typeface="+mn-lt"/>
          <a:ea typeface="Microsoft YaHei UI" panose="020B0503020204020204" pitchFamily="34" charset="-122"/>
          <a:cs typeface="+mn-cs"/>
        </a:defRPr>
      </a:lvl2pPr>
      <a:lvl3pPr marL="685800" indent="-179388" algn="l" defTabSz="914400" rtl="0" eaLnBrk="1" latinLnBrk="0" hangingPunct="1">
        <a:lnSpc>
          <a:spcPct val="90000"/>
        </a:lnSpc>
        <a:spcBef>
          <a:spcPts val="800"/>
        </a:spcBef>
        <a:buClr>
          <a:schemeClr val="accent1"/>
        </a:buClr>
        <a:buSzPct val="100000"/>
        <a:buFont typeface="Arial" pitchFamily="34" charset="0"/>
        <a:buChar char="▪"/>
        <a:defRPr lang="zh-CN" sz="1600" kern="1200">
          <a:solidFill>
            <a:schemeClr val="tx1"/>
          </a:solidFill>
          <a:latin typeface="+mn-lt"/>
          <a:ea typeface="Microsoft YaHei UI" panose="020B0503020204020204" pitchFamily="34" charset="-122"/>
          <a:cs typeface="+mn-cs"/>
        </a:defRPr>
      </a:lvl3pPr>
      <a:lvl4pPr marL="914400" indent="-182880" algn="l" defTabSz="914400" rtl="0" eaLnBrk="1" latinLnBrk="0" hangingPunct="1">
        <a:lnSpc>
          <a:spcPct val="90000"/>
        </a:lnSpc>
        <a:spcBef>
          <a:spcPts val="8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4pPr>
      <a:lvl5pPr marL="11430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5pPr>
      <a:lvl6pPr marL="13716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8pPr>
      <a:lvl9pPr marL="20574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fanxiaoyun@163.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国际金融学</a:t>
            </a:r>
            <a:endParaRPr lang="zh-CN" dirty="0"/>
          </a:p>
        </p:txBody>
      </p:sp>
      <p:sp>
        <p:nvSpPr>
          <p:cNvPr id="3" name="副标题 2"/>
          <p:cNvSpPr>
            <a:spLocks noGrp="1"/>
          </p:cNvSpPr>
          <p:nvPr>
            <p:ph type="subTitle" idx="1"/>
          </p:nvPr>
        </p:nvSpPr>
        <p:spPr/>
        <p:txBody>
          <a:bodyPr>
            <a:normAutofit/>
          </a:bodyPr>
          <a:lstStyle/>
          <a:p>
            <a:r>
              <a:rPr lang="zh-CN" altLang="en-US" sz="1800" dirty="0"/>
              <a:t>主讲人 范小云  </a:t>
            </a:r>
            <a:r>
              <a:rPr lang="en-US" altLang="zh-CN" sz="1800" dirty="0"/>
              <a:t>E-mail: </a:t>
            </a:r>
            <a:r>
              <a:rPr lang="en-US" altLang="zh-CN" sz="1800" dirty="0" smtClean="0">
                <a:hlinkClick r:id="rId3"/>
              </a:rPr>
              <a:t>fanxiaoyun@vip.sina.com</a:t>
            </a:r>
            <a:r>
              <a:rPr lang="en-US" altLang="zh-CN" sz="1800" dirty="0" smtClean="0"/>
              <a:t>  </a:t>
            </a:r>
            <a:r>
              <a:rPr lang="en-US" altLang="zh-CN" sz="1800" dirty="0"/>
              <a:t>Tel.: </a:t>
            </a:r>
            <a:r>
              <a:rPr lang="en-US" altLang="zh-CN" sz="1800" dirty="0" smtClean="0"/>
              <a:t>13032213932</a:t>
            </a:r>
            <a:endParaRPr lang="en-US" altLang="zh-CN" sz="1800" dirty="0"/>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16155" y="1639229"/>
            <a:ext cx="7200900" cy="2538633"/>
          </a:xfrm>
        </p:spPr>
        <p:txBody>
          <a:bodyPr>
            <a:noAutofit/>
          </a:bodyPr>
          <a:lstStyle/>
          <a:p>
            <a:pPr algn="ctr">
              <a:lnSpc>
                <a:spcPct val="100000"/>
              </a:lnSpc>
            </a:pPr>
            <a:r>
              <a:rPr lang="zh-CN" altLang="en-US" sz="4000" dirty="0" smtClean="0">
                <a:latin typeface="微软雅黑" panose="020B0503020204020204" pitchFamily="34" charset="-122"/>
                <a:ea typeface="微软雅黑" panose="020B0503020204020204" pitchFamily="34" charset="-122"/>
              </a:rPr>
              <a:t>第八</a:t>
            </a:r>
            <a:r>
              <a:rPr lang="zh-CN" altLang="en-US" sz="4000" dirty="0">
                <a:latin typeface="微软雅黑" panose="020B0503020204020204" pitchFamily="34" charset="-122"/>
                <a:ea typeface="微软雅黑" panose="020B0503020204020204" pitchFamily="34" charset="-122"/>
              </a:rPr>
              <a:t>章	</a:t>
            </a:r>
            <a:r>
              <a:rPr lang="en-US" altLang="zh-CN" sz="4000" dirty="0" smtClean="0">
                <a:latin typeface="微软雅黑" panose="020B0503020204020204" pitchFamily="34" charset="-122"/>
                <a:ea typeface="微软雅黑" panose="020B0503020204020204" pitchFamily="34" charset="-122"/>
              </a:rPr>
              <a:t/>
            </a:r>
            <a:br>
              <a:rPr lang="en-US" altLang="zh-CN" sz="4000" dirty="0" smtClean="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	</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宏观经济政策的国际协调</a:t>
            </a:r>
          </a:p>
        </p:txBody>
      </p:sp>
      <p:sp>
        <p:nvSpPr>
          <p:cNvPr id="4" name="页脚占位符 3"/>
          <p:cNvSpPr>
            <a:spLocks noGrp="1"/>
          </p:cNvSpPr>
          <p:nvPr>
            <p:ph type="ftr" sz="quarter" idx="11"/>
          </p:nvPr>
        </p:nvSpPr>
        <p:spPr/>
        <p:txBody>
          <a:bodyPr/>
          <a:lstStyle/>
          <a:p>
            <a:pPr lvl="0"/>
            <a:r>
              <a:rPr lang="zh-CN" altLang="en-US" sz="1600" dirty="0">
                <a:solidFill>
                  <a:srgbClr val="1CADE4"/>
                </a:solidFill>
                <a:latin typeface="微软雅黑" panose="020B0503020204020204" pitchFamily="34" charset="-122"/>
                <a:ea typeface="微软雅黑" panose="020B0503020204020204" pitchFamily="34" charset="-122"/>
              </a:rPr>
              <a:t>国际金融学 范小云</a:t>
            </a:r>
          </a:p>
        </p:txBody>
      </p:sp>
    </p:spTree>
    <p:extLst>
      <p:ext uri="{BB962C8B-B14F-4D97-AF65-F5344CB8AC3E}">
        <p14:creationId xmlns:p14="http://schemas.microsoft.com/office/powerpoint/2010/main" val="51034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第一节	宏观经济政策的国际协调</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一、开放经济的相互依存性</a:t>
            </a:r>
            <a:r>
              <a:rPr lang="en-US" altLang="zh-CN" sz="2800" dirty="0">
                <a:solidFill>
                  <a:schemeClr val="accent1"/>
                </a:solidFill>
                <a:latin typeface="微软雅黑" panose="020B0503020204020204" pitchFamily="34" charset="-122"/>
                <a:ea typeface="微软雅黑" panose="020B0503020204020204" pitchFamily="34" charset="-122"/>
              </a:rPr>
              <a:t>——</a:t>
            </a:r>
            <a:r>
              <a:rPr lang="zh-CN" altLang="en-US" sz="2800" dirty="0">
                <a:solidFill>
                  <a:schemeClr val="accent1"/>
                </a:solidFill>
                <a:latin typeface="微软雅黑" panose="020B0503020204020204" pitchFamily="34" charset="-122"/>
                <a:ea typeface="微软雅黑" panose="020B0503020204020204" pitchFamily="34" charset="-122"/>
              </a:rPr>
              <a:t>蒙代尔－弗莱明两国模型</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冲击在开放经济之间的传导机制：</a:t>
            </a:r>
          </a:p>
          <a:p>
            <a:pPr lvl="2">
              <a:lnSpc>
                <a:spcPct val="11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收入机制</a:t>
            </a:r>
          </a:p>
          <a:p>
            <a:pPr lvl="2">
              <a:lnSpc>
                <a:spcPct val="11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利率机制</a:t>
            </a:r>
          </a:p>
          <a:p>
            <a:pPr lvl="2">
              <a:lnSpc>
                <a:spcPct val="11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相对价格机制</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10525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第一节	宏观经济政策的国际协调</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400" dirty="0">
                <a:solidFill>
                  <a:schemeClr val="accent1"/>
                </a:solidFill>
                <a:latin typeface="微软雅黑" panose="020B0503020204020204" pitchFamily="34" charset="-122"/>
                <a:ea typeface="微软雅黑" panose="020B0503020204020204" pitchFamily="34" charset="-122"/>
              </a:rPr>
              <a:t>以浮动汇率制下，货币扩张的国际传导为例</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0" name="Line 2"/>
          <p:cNvSpPr>
            <a:spLocks noChangeShapeType="1"/>
          </p:cNvSpPr>
          <p:nvPr/>
        </p:nvSpPr>
        <p:spPr bwMode="auto">
          <a:xfrm flipV="1">
            <a:off x="1104901" y="2267034"/>
            <a:ext cx="0" cy="3529012"/>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3"/>
          <p:cNvSpPr>
            <a:spLocks noChangeShapeType="1"/>
          </p:cNvSpPr>
          <p:nvPr/>
        </p:nvSpPr>
        <p:spPr bwMode="auto">
          <a:xfrm flipV="1">
            <a:off x="1104901" y="5796046"/>
            <a:ext cx="2665413"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4"/>
          <p:cNvSpPr>
            <a:spLocks noChangeShapeType="1"/>
          </p:cNvSpPr>
          <p:nvPr/>
        </p:nvSpPr>
        <p:spPr bwMode="auto">
          <a:xfrm>
            <a:off x="1320801" y="3130634"/>
            <a:ext cx="1800225" cy="2160587"/>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5"/>
          <p:cNvSpPr>
            <a:spLocks noChangeShapeType="1"/>
          </p:cNvSpPr>
          <p:nvPr/>
        </p:nvSpPr>
        <p:spPr bwMode="auto">
          <a:xfrm flipV="1">
            <a:off x="1250951" y="2698834"/>
            <a:ext cx="1441450" cy="2160587"/>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Text Box 6"/>
          <p:cNvSpPr txBox="1">
            <a:spLocks noChangeArrowheads="1"/>
          </p:cNvSpPr>
          <p:nvPr/>
        </p:nvSpPr>
        <p:spPr bwMode="auto">
          <a:xfrm>
            <a:off x="457201" y="2122571"/>
            <a:ext cx="504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800"/>
              <a:t>i</a:t>
            </a:r>
          </a:p>
        </p:txBody>
      </p:sp>
      <p:sp>
        <p:nvSpPr>
          <p:cNvPr id="45" name="Text Box 7"/>
          <p:cNvSpPr txBox="1">
            <a:spLocks noChangeArrowheads="1"/>
          </p:cNvSpPr>
          <p:nvPr/>
        </p:nvSpPr>
        <p:spPr bwMode="auto">
          <a:xfrm>
            <a:off x="3770314" y="5580146"/>
            <a:ext cx="504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800"/>
              <a:t>Y</a:t>
            </a:r>
          </a:p>
        </p:txBody>
      </p:sp>
      <p:sp>
        <p:nvSpPr>
          <p:cNvPr id="46" name="Text Box 8"/>
          <p:cNvSpPr txBox="1">
            <a:spLocks noChangeArrowheads="1"/>
          </p:cNvSpPr>
          <p:nvPr/>
        </p:nvSpPr>
        <p:spPr bwMode="auto">
          <a:xfrm>
            <a:off x="2762251" y="2124159"/>
            <a:ext cx="720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800"/>
              <a:t>LM</a:t>
            </a:r>
          </a:p>
        </p:txBody>
      </p:sp>
      <p:sp>
        <p:nvSpPr>
          <p:cNvPr id="47" name="Text Box 9"/>
          <p:cNvSpPr txBox="1">
            <a:spLocks noChangeArrowheads="1"/>
          </p:cNvSpPr>
          <p:nvPr/>
        </p:nvSpPr>
        <p:spPr bwMode="auto">
          <a:xfrm>
            <a:off x="3194051" y="5146759"/>
            <a:ext cx="647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800"/>
              <a:t>IS</a:t>
            </a:r>
          </a:p>
        </p:txBody>
      </p:sp>
      <p:sp>
        <p:nvSpPr>
          <p:cNvPr id="48" name="Line 10"/>
          <p:cNvSpPr>
            <a:spLocks noChangeShapeType="1"/>
          </p:cNvSpPr>
          <p:nvPr/>
        </p:nvSpPr>
        <p:spPr bwMode="auto">
          <a:xfrm flipV="1">
            <a:off x="4921251" y="2267034"/>
            <a:ext cx="0" cy="3529012"/>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11"/>
          <p:cNvSpPr>
            <a:spLocks noChangeShapeType="1"/>
          </p:cNvSpPr>
          <p:nvPr/>
        </p:nvSpPr>
        <p:spPr bwMode="auto">
          <a:xfrm flipV="1">
            <a:off x="4921251" y="5796046"/>
            <a:ext cx="2665413"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12"/>
          <p:cNvSpPr>
            <a:spLocks noChangeShapeType="1"/>
          </p:cNvSpPr>
          <p:nvPr/>
        </p:nvSpPr>
        <p:spPr bwMode="auto">
          <a:xfrm>
            <a:off x="5859464" y="2914734"/>
            <a:ext cx="1439862" cy="1728787"/>
          </a:xfrm>
          <a:prstGeom prst="line">
            <a:avLst/>
          </a:prstGeom>
          <a:noFill/>
          <a:ln w="317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13"/>
          <p:cNvSpPr>
            <a:spLocks noChangeShapeType="1"/>
          </p:cNvSpPr>
          <p:nvPr/>
        </p:nvSpPr>
        <p:spPr bwMode="auto">
          <a:xfrm flipV="1">
            <a:off x="5283201" y="2771859"/>
            <a:ext cx="2303463" cy="2519362"/>
          </a:xfrm>
          <a:prstGeom prst="line">
            <a:avLst/>
          </a:prstGeom>
          <a:noFill/>
          <a:ln w="285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Text Box 14"/>
          <p:cNvSpPr txBox="1">
            <a:spLocks noChangeArrowheads="1"/>
          </p:cNvSpPr>
          <p:nvPr/>
        </p:nvSpPr>
        <p:spPr bwMode="auto">
          <a:xfrm>
            <a:off x="4273551" y="2122571"/>
            <a:ext cx="504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800"/>
              <a:t>i*</a:t>
            </a:r>
          </a:p>
        </p:txBody>
      </p:sp>
      <p:sp>
        <p:nvSpPr>
          <p:cNvPr id="53" name="Text Box 15"/>
          <p:cNvSpPr txBox="1">
            <a:spLocks noChangeArrowheads="1"/>
          </p:cNvSpPr>
          <p:nvPr/>
        </p:nvSpPr>
        <p:spPr bwMode="auto">
          <a:xfrm>
            <a:off x="7586664" y="5580146"/>
            <a:ext cx="647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800"/>
              <a:t>Y*</a:t>
            </a:r>
          </a:p>
        </p:txBody>
      </p:sp>
      <p:sp>
        <p:nvSpPr>
          <p:cNvPr id="54" name="Text Box 16"/>
          <p:cNvSpPr txBox="1">
            <a:spLocks noChangeArrowheads="1"/>
          </p:cNvSpPr>
          <p:nvPr/>
        </p:nvSpPr>
        <p:spPr bwMode="auto">
          <a:xfrm>
            <a:off x="7659689" y="2195596"/>
            <a:ext cx="93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800"/>
              <a:t>LM*</a:t>
            </a:r>
          </a:p>
        </p:txBody>
      </p:sp>
      <p:sp>
        <p:nvSpPr>
          <p:cNvPr id="55" name="Text Box 17"/>
          <p:cNvSpPr txBox="1">
            <a:spLocks noChangeArrowheads="1"/>
          </p:cNvSpPr>
          <p:nvPr/>
        </p:nvSpPr>
        <p:spPr bwMode="auto">
          <a:xfrm>
            <a:off x="7226301" y="4643521"/>
            <a:ext cx="720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pPr>
            <a:r>
              <a:rPr lang="en-US" altLang="zh-CN" sz="2800"/>
              <a:t>IS*</a:t>
            </a:r>
          </a:p>
        </p:txBody>
      </p:sp>
      <p:sp>
        <p:nvSpPr>
          <p:cNvPr id="56" name="Line 18"/>
          <p:cNvSpPr>
            <a:spLocks noChangeShapeType="1"/>
          </p:cNvSpPr>
          <p:nvPr/>
        </p:nvSpPr>
        <p:spPr bwMode="auto">
          <a:xfrm>
            <a:off x="1106489" y="3851359"/>
            <a:ext cx="54721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7" name="Group 19"/>
          <p:cNvGrpSpPr>
            <a:grpSpLocks/>
          </p:cNvGrpSpPr>
          <p:nvPr/>
        </p:nvGrpSpPr>
        <p:grpSpPr bwMode="auto">
          <a:xfrm>
            <a:off x="2401889" y="2771859"/>
            <a:ext cx="1441450" cy="2736850"/>
            <a:chOff x="1655" y="1117"/>
            <a:chExt cx="908" cy="1724"/>
          </a:xfrm>
        </p:grpSpPr>
        <p:sp>
          <p:nvSpPr>
            <p:cNvPr id="58" name="Line 20"/>
            <p:cNvSpPr>
              <a:spLocks noChangeShapeType="1"/>
            </p:cNvSpPr>
            <p:nvPr/>
          </p:nvSpPr>
          <p:spPr bwMode="auto">
            <a:xfrm flipV="1">
              <a:off x="1655" y="1480"/>
              <a:ext cx="908" cy="1361"/>
            </a:xfrm>
            <a:prstGeom prst="line">
              <a:avLst/>
            </a:prstGeom>
            <a:noFill/>
            <a:ln w="28575">
              <a:solidFill>
                <a:srgbClr val="8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21"/>
            <p:cNvSpPr>
              <a:spLocks noChangeShapeType="1"/>
            </p:cNvSpPr>
            <p:nvPr/>
          </p:nvSpPr>
          <p:spPr bwMode="auto">
            <a:xfrm>
              <a:off x="2064" y="1117"/>
              <a:ext cx="362" cy="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0" name="Group 22"/>
          <p:cNvGrpSpPr>
            <a:grpSpLocks/>
          </p:cNvGrpSpPr>
          <p:nvPr/>
        </p:nvGrpSpPr>
        <p:grpSpPr bwMode="auto">
          <a:xfrm>
            <a:off x="1898651" y="3851359"/>
            <a:ext cx="935038" cy="1944687"/>
            <a:chOff x="1338" y="1797"/>
            <a:chExt cx="589" cy="1225"/>
          </a:xfrm>
        </p:grpSpPr>
        <p:sp>
          <p:nvSpPr>
            <p:cNvPr id="61" name="Line 23"/>
            <p:cNvSpPr>
              <a:spLocks noChangeShapeType="1"/>
            </p:cNvSpPr>
            <p:nvPr/>
          </p:nvSpPr>
          <p:spPr bwMode="auto">
            <a:xfrm>
              <a:off x="1338" y="1797"/>
              <a:ext cx="0" cy="12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24"/>
            <p:cNvSpPr>
              <a:spLocks noChangeShapeType="1"/>
            </p:cNvSpPr>
            <p:nvPr/>
          </p:nvSpPr>
          <p:spPr bwMode="auto">
            <a:xfrm>
              <a:off x="1927" y="2478"/>
              <a:ext cx="0" cy="5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3" name="Group 25"/>
          <p:cNvGrpSpPr>
            <a:grpSpLocks/>
          </p:cNvGrpSpPr>
          <p:nvPr/>
        </p:nvGrpSpPr>
        <p:grpSpPr bwMode="auto">
          <a:xfrm>
            <a:off x="6075364" y="2555959"/>
            <a:ext cx="1727200" cy="1728787"/>
            <a:chOff x="3969" y="981"/>
            <a:chExt cx="1088" cy="1089"/>
          </a:xfrm>
        </p:grpSpPr>
        <p:sp>
          <p:nvSpPr>
            <p:cNvPr id="64" name="Line 26"/>
            <p:cNvSpPr>
              <a:spLocks noChangeShapeType="1"/>
            </p:cNvSpPr>
            <p:nvPr/>
          </p:nvSpPr>
          <p:spPr bwMode="auto">
            <a:xfrm>
              <a:off x="4150" y="981"/>
              <a:ext cx="907" cy="1089"/>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27"/>
            <p:cNvSpPr>
              <a:spLocks noChangeShapeType="1"/>
            </p:cNvSpPr>
            <p:nvPr/>
          </p:nvSpPr>
          <p:spPr bwMode="auto">
            <a:xfrm>
              <a:off x="3969" y="1117"/>
              <a:ext cx="22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6" name="Group 28"/>
          <p:cNvGrpSpPr>
            <a:grpSpLocks/>
          </p:cNvGrpSpPr>
          <p:nvPr/>
        </p:nvGrpSpPr>
        <p:grpSpPr bwMode="auto">
          <a:xfrm>
            <a:off x="1106489" y="3419559"/>
            <a:ext cx="5903912" cy="1512887"/>
            <a:chOff x="839" y="1525"/>
            <a:chExt cx="3719" cy="953"/>
          </a:xfrm>
        </p:grpSpPr>
        <p:sp>
          <p:nvSpPr>
            <p:cNvPr id="67" name="Line 29"/>
            <p:cNvSpPr>
              <a:spLocks noChangeShapeType="1"/>
            </p:cNvSpPr>
            <p:nvPr/>
          </p:nvSpPr>
          <p:spPr bwMode="auto">
            <a:xfrm>
              <a:off x="839" y="2478"/>
              <a:ext cx="240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30"/>
            <p:cNvSpPr>
              <a:spLocks noChangeShapeType="1"/>
            </p:cNvSpPr>
            <p:nvPr/>
          </p:nvSpPr>
          <p:spPr bwMode="auto">
            <a:xfrm>
              <a:off x="3243" y="1525"/>
              <a:ext cx="131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9" name="Group 31"/>
          <p:cNvGrpSpPr>
            <a:grpSpLocks/>
          </p:cNvGrpSpPr>
          <p:nvPr/>
        </p:nvGrpSpPr>
        <p:grpSpPr bwMode="auto">
          <a:xfrm>
            <a:off x="1538289" y="2771859"/>
            <a:ext cx="2087562" cy="2160587"/>
            <a:chOff x="1111" y="1117"/>
            <a:chExt cx="1315" cy="1361"/>
          </a:xfrm>
        </p:grpSpPr>
        <p:sp>
          <p:nvSpPr>
            <p:cNvPr id="70" name="Line 32"/>
            <p:cNvSpPr>
              <a:spLocks noChangeShapeType="1"/>
            </p:cNvSpPr>
            <p:nvPr/>
          </p:nvSpPr>
          <p:spPr bwMode="auto">
            <a:xfrm>
              <a:off x="1292" y="1117"/>
              <a:ext cx="1134" cy="1361"/>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33"/>
            <p:cNvSpPr>
              <a:spLocks noChangeShapeType="1"/>
            </p:cNvSpPr>
            <p:nvPr/>
          </p:nvSpPr>
          <p:spPr bwMode="auto">
            <a:xfrm>
              <a:off x="1111" y="1389"/>
              <a:ext cx="31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2" name="Line 34"/>
          <p:cNvSpPr>
            <a:spLocks noChangeShapeType="1"/>
          </p:cNvSpPr>
          <p:nvPr/>
        </p:nvSpPr>
        <p:spPr bwMode="auto">
          <a:xfrm>
            <a:off x="1106489" y="4356184"/>
            <a:ext cx="597693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3" name="Group 35"/>
          <p:cNvGrpSpPr>
            <a:grpSpLocks/>
          </p:cNvGrpSpPr>
          <p:nvPr/>
        </p:nvGrpSpPr>
        <p:grpSpPr bwMode="auto">
          <a:xfrm>
            <a:off x="5426076" y="2987759"/>
            <a:ext cx="1439863" cy="2232025"/>
            <a:chOff x="3560" y="1253"/>
            <a:chExt cx="907" cy="1406"/>
          </a:xfrm>
        </p:grpSpPr>
        <p:sp>
          <p:nvSpPr>
            <p:cNvPr id="74" name="Line 36"/>
            <p:cNvSpPr>
              <a:spLocks noChangeShapeType="1"/>
            </p:cNvSpPr>
            <p:nvPr/>
          </p:nvSpPr>
          <p:spPr bwMode="auto">
            <a:xfrm>
              <a:off x="3560" y="1570"/>
              <a:ext cx="907" cy="1089"/>
            </a:xfrm>
            <a:prstGeom prst="line">
              <a:avLst/>
            </a:prstGeom>
            <a:noFill/>
            <a:ln w="317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37"/>
            <p:cNvSpPr>
              <a:spLocks noChangeShapeType="1"/>
            </p:cNvSpPr>
            <p:nvPr/>
          </p:nvSpPr>
          <p:spPr bwMode="auto">
            <a:xfrm flipH="1">
              <a:off x="3742" y="1253"/>
              <a:ext cx="499" cy="45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6" name="Group 44"/>
          <p:cNvGrpSpPr>
            <a:grpSpLocks/>
          </p:cNvGrpSpPr>
          <p:nvPr/>
        </p:nvGrpSpPr>
        <p:grpSpPr bwMode="auto">
          <a:xfrm>
            <a:off x="3194051" y="4356184"/>
            <a:ext cx="2952750" cy="1439862"/>
            <a:chOff x="2154" y="2115"/>
            <a:chExt cx="1860" cy="907"/>
          </a:xfrm>
        </p:grpSpPr>
        <p:sp>
          <p:nvSpPr>
            <p:cNvPr id="77" name="Line 39"/>
            <p:cNvSpPr>
              <a:spLocks noChangeShapeType="1"/>
            </p:cNvSpPr>
            <p:nvPr/>
          </p:nvSpPr>
          <p:spPr bwMode="auto">
            <a:xfrm>
              <a:off x="2154" y="2115"/>
              <a:ext cx="0" cy="907"/>
            </a:xfrm>
            <a:prstGeom prst="line">
              <a:avLst/>
            </a:prstGeom>
            <a:noFill/>
            <a:ln w="3175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40"/>
            <p:cNvSpPr>
              <a:spLocks noChangeShapeType="1"/>
            </p:cNvSpPr>
            <p:nvPr/>
          </p:nvSpPr>
          <p:spPr bwMode="auto">
            <a:xfrm>
              <a:off x="4014" y="2115"/>
              <a:ext cx="0" cy="861"/>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9" name="Group 48"/>
          <p:cNvGrpSpPr>
            <a:grpSpLocks/>
          </p:cNvGrpSpPr>
          <p:nvPr/>
        </p:nvGrpSpPr>
        <p:grpSpPr bwMode="auto">
          <a:xfrm>
            <a:off x="1898651" y="3851359"/>
            <a:ext cx="4824413" cy="2160587"/>
            <a:chOff x="1338" y="1797"/>
            <a:chExt cx="3039" cy="1361"/>
          </a:xfrm>
        </p:grpSpPr>
        <p:sp>
          <p:nvSpPr>
            <p:cNvPr id="80" name="Line 45"/>
            <p:cNvSpPr>
              <a:spLocks noChangeShapeType="1"/>
            </p:cNvSpPr>
            <p:nvPr/>
          </p:nvSpPr>
          <p:spPr bwMode="auto">
            <a:xfrm>
              <a:off x="1338" y="3158"/>
              <a:ext cx="816" cy="0"/>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 name="Line 46"/>
            <p:cNvSpPr>
              <a:spLocks noChangeShapeType="1"/>
            </p:cNvSpPr>
            <p:nvPr/>
          </p:nvSpPr>
          <p:spPr bwMode="auto">
            <a:xfrm flipH="1">
              <a:off x="4014" y="3113"/>
              <a:ext cx="363" cy="0"/>
            </a:xfrm>
            <a:prstGeom prst="line">
              <a:avLst/>
            </a:prstGeom>
            <a:noFill/>
            <a:ln w="317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Line 47"/>
            <p:cNvSpPr>
              <a:spLocks noChangeShapeType="1"/>
            </p:cNvSpPr>
            <p:nvPr/>
          </p:nvSpPr>
          <p:spPr bwMode="auto">
            <a:xfrm>
              <a:off x="4332" y="1797"/>
              <a:ext cx="0" cy="1179"/>
            </a:xfrm>
            <a:prstGeom prst="line">
              <a:avLst/>
            </a:prstGeom>
            <a:noFill/>
            <a:ln w="19050">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73473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 calcmode="lin" valueType="num">
                                      <p:cBhvr additive="base">
                                        <p:cTn id="12" dur="500" fill="hold"/>
                                        <p:tgtEl>
                                          <p:spTgt spid="57"/>
                                        </p:tgtEl>
                                        <p:attrNameLst>
                                          <p:attrName>ppt_x</p:attrName>
                                        </p:attrNameLst>
                                      </p:cBhvr>
                                      <p:tavLst>
                                        <p:tav tm="0">
                                          <p:val>
                                            <p:strVal val="0-#ppt_w/2"/>
                                          </p:val>
                                        </p:tav>
                                        <p:tav tm="100000">
                                          <p:val>
                                            <p:strVal val="#ppt_x"/>
                                          </p:val>
                                        </p:tav>
                                      </p:tavLst>
                                    </p:anim>
                                    <p:anim calcmode="lin" valueType="num">
                                      <p:cBhvr additive="base">
                                        <p:cTn id="13"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63"/>
                                        </p:tgtEl>
                                        <p:attrNameLst>
                                          <p:attrName>style.visibility</p:attrName>
                                        </p:attrNameLst>
                                      </p:cBhvr>
                                      <p:to>
                                        <p:strVal val="visible"/>
                                      </p:to>
                                    </p:set>
                                    <p:anim calcmode="lin" valueType="num">
                                      <p:cBhvr additive="base">
                                        <p:cTn id="22" dur="500" fill="hold"/>
                                        <p:tgtEl>
                                          <p:spTgt spid="63"/>
                                        </p:tgtEl>
                                        <p:attrNameLst>
                                          <p:attrName>ppt_x</p:attrName>
                                        </p:attrNameLst>
                                      </p:cBhvr>
                                      <p:tavLst>
                                        <p:tav tm="0">
                                          <p:val>
                                            <p:strVal val="0-#ppt_w/2"/>
                                          </p:val>
                                        </p:tav>
                                        <p:tav tm="100000">
                                          <p:val>
                                            <p:strVal val="#ppt_x"/>
                                          </p:val>
                                        </p:tav>
                                      </p:tavLst>
                                    </p:anim>
                                    <p:anim calcmode="lin" valueType="num">
                                      <p:cBhvr additive="base">
                                        <p:cTn id="23" dur="5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additive="base">
                                        <p:cTn id="32" dur="500" fill="hold"/>
                                        <p:tgtEl>
                                          <p:spTgt spid="69"/>
                                        </p:tgtEl>
                                        <p:attrNameLst>
                                          <p:attrName>ppt_x</p:attrName>
                                        </p:attrNameLst>
                                      </p:cBhvr>
                                      <p:tavLst>
                                        <p:tav tm="0">
                                          <p:val>
                                            <p:strVal val="0-#ppt_w/2"/>
                                          </p:val>
                                        </p:tav>
                                        <p:tav tm="100000">
                                          <p:val>
                                            <p:strVal val="#ppt_x"/>
                                          </p:val>
                                        </p:tav>
                                      </p:tavLst>
                                    </p:anim>
                                    <p:anim calcmode="lin" valueType="num">
                                      <p:cBhvr additive="base">
                                        <p:cTn id="33" dur="50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nodeType="clickEffect">
                                  <p:stCondLst>
                                    <p:cond delay="0"/>
                                  </p:stCondLst>
                                  <p:childTnLst>
                                    <p:set>
                                      <p:cBhvr>
                                        <p:cTn id="37" dur="1" fill="hold">
                                          <p:stCondLst>
                                            <p:cond delay="0"/>
                                          </p:stCondLst>
                                        </p:cTn>
                                        <p:tgtEl>
                                          <p:spTgt spid="73"/>
                                        </p:tgtEl>
                                        <p:attrNameLst>
                                          <p:attrName>style.visibility</p:attrName>
                                        </p:attrNameLst>
                                      </p:cBhvr>
                                      <p:to>
                                        <p:strVal val="visible"/>
                                      </p:to>
                                    </p:set>
                                    <p:anim calcmode="lin" valueType="num">
                                      <p:cBhvr additive="base">
                                        <p:cTn id="38" dur="500" fill="hold"/>
                                        <p:tgtEl>
                                          <p:spTgt spid="73"/>
                                        </p:tgtEl>
                                        <p:attrNameLst>
                                          <p:attrName>ppt_x</p:attrName>
                                        </p:attrNameLst>
                                      </p:cBhvr>
                                      <p:tavLst>
                                        <p:tav tm="0">
                                          <p:val>
                                            <p:strVal val="1+#ppt_w/2"/>
                                          </p:val>
                                        </p:tav>
                                        <p:tav tm="100000">
                                          <p:val>
                                            <p:strVal val="#ppt_x"/>
                                          </p:val>
                                        </p:tav>
                                      </p:tavLst>
                                    </p:anim>
                                    <p:anim calcmode="lin" valueType="num">
                                      <p:cBhvr additive="base">
                                        <p:cTn id="39" dur="500" fill="hold"/>
                                        <p:tgtEl>
                                          <p:spTgt spid="7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2"/>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7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第一节	宏观经济政策的国际协调</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一、开放经济的相互依存性</a:t>
            </a:r>
            <a:r>
              <a:rPr lang="en-US" altLang="zh-CN" sz="2800" dirty="0">
                <a:solidFill>
                  <a:schemeClr val="accent1"/>
                </a:solidFill>
                <a:latin typeface="微软雅黑" panose="020B0503020204020204" pitchFamily="34" charset="-122"/>
                <a:ea typeface="微软雅黑" panose="020B0503020204020204" pitchFamily="34" charset="-122"/>
              </a:rPr>
              <a:t>——</a:t>
            </a:r>
            <a:r>
              <a:rPr lang="zh-CN" altLang="en-US" sz="2800" dirty="0">
                <a:solidFill>
                  <a:schemeClr val="accent1"/>
                </a:solidFill>
                <a:latin typeface="微软雅黑" panose="020B0503020204020204" pitchFamily="34" charset="-122"/>
                <a:ea typeface="微软雅黑" panose="020B0503020204020204" pitchFamily="34" charset="-122"/>
              </a:rPr>
              <a:t>蒙代尔－弗莱明两国模型</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一国财政、货币政策对别的国家会产生溢出效应。这一溢出效应的存在，使得一国实现内外均衡目标时会受到来自一国经济外部的制约，一国不可能完全不考虑各国经济之间的相互依存性来实现本国经济的内外均衡。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5065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第一节	宏观经济政策的国际协调</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二、政策国际协调的内容</a:t>
            </a:r>
          </a:p>
          <a:p>
            <a:pPr indent="228600">
              <a:lnSpc>
                <a:spcPct val="110000"/>
              </a:lnSpc>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信息交换</a:t>
            </a:r>
          </a:p>
          <a:p>
            <a:pPr indent="228600">
              <a:lnSpc>
                <a:spcPct val="11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危机</a:t>
            </a:r>
            <a:r>
              <a:rPr lang="zh-CN" altLang="en-US" sz="2400" dirty="0">
                <a:latin typeface="微软雅黑" panose="020B0503020204020204" pitchFamily="34" charset="-122"/>
                <a:ea typeface="微软雅黑" panose="020B0503020204020204" pitchFamily="34" charset="-122"/>
              </a:rPr>
              <a:t>管理</a:t>
            </a:r>
          </a:p>
          <a:p>
            <a:pPr indent="228600">
              <a:lnSpc>
                <a:spcPct val="11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避免</a:t>
            </a:r>
            <a:r>
              <a:rPr lang="zh-CN" altLang="en-US" sz="2400" dirty="0">
                <a:latin typeface="微软雅黑" panose="020B0503020204020204" pitchFamily="34" charset="-122"/>
                <a:ea typeface="微软雅黑" panose="020B0503020204020204" pitchFamily="34" charset="-122"/>
              </a:rPr>
              <a:t>共享目标变量的冲突</a:t>
            </a:r>
          </a:p>
          <a:p>
            <a:pPr indent="228600">
              <a:lnSpc>
                <a:spcPct val="11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合作</a:t>
            </a:r>
            <a:r>
              <a:rPr lang="zh-CN" altLang="en-US" sz="2400" dirty="0">
                <a:latin typeface="微软雅黑" panose="020B0503020204020204" pitchFamily="34" charset="-122"/>
                <a:ea typeface="微软雅黑" panose="020B0503020204020204" pitchFamily="34" charset="-122"/>
              </a:rPr>
              <a:t>确定中介目标</a:t>
            </a:r>
          </a:p>
          <a:p>
            <a:pPr indent="228600">
              <a:lnSpc>
                <a:spcPct val="11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部分</a:t>
            </a:r>
            <a:r>
              <a:rPr lang="zh-CN" altLang="en-US" sz="2400" dirty="0">
                <a:latin typeface="微软雅黑" panose="020B0503020204020204" pitchFamily="34" charset="-122"/>
                <a:ea typeface="微软雅黑" panose="020B0503020204020204" pitchFamily="34" charset="-122"/>
              </a:rPr>
              <a:t>协调</a:t>
            </a:r>
          </a:p>
          <a:p>
            <a:pPr indent="228600">
              <a:lnSpc>
                <a:spcPct val="110000"/>
              </a:lnSpc>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全面</a:t>
            </a:r>
            <a:r>
              <a:rPr lang="zh-CN" altLang="en-US" sz="2400" dirty="0">
                <a:latin typeface="微软雅黑" panose="020B0503020204020204" pitchFamily="34" charset="-122"/>
                <a:ea typeface="微软雅黑" panose="020B0503020204020204" pitchFamily="34" charset="-122"/>
              </a:rPr>
              <a:t>协调</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741684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第一节	宏观经济政策的国际协调</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三</a:t>
            </a:r>
            <a:r>
              <a:rPr lang="zh-CN" altLang="en-US" sz="2800" dirty="0">
                <a:solidFill>
                  <a:schemeClr val="accent1"/>
                </a:solidFill>
                <a:latin typeface="微软雅黑" panose="020B0503020204020204" pitchFamily="34" charset="-122"/>
                <a:ea typeface="微软雅黑" panose="020B0503020204020204" pitchFamily="34" charset="-122"/>
              </a:rPr>
              <a:t>、几种国际间政策协调的方案</a:t>
            </a:r>
          </a:p>
          <a:p>
            <a:pPr marL="742950" lvl="1" indent="-514350">
              <a:lnSpc>
                <a:spcPct val="110000"/>
              </a:lnSpc>
              <a:buFont typeface="+mj-lt"/>
              <a:buAutoNum type="arabicPeriod"/>
            </a:pPr>
            <a:r>
              <a:rPr lang="zh-CN" altLang="en-US" sz="2400" dirty="0">
                <a:latin typeface="微软雅黑" panose="020B0503020204020204" pitchFamily="34" charset="-122"/>
                <a:ea typeface="微软雅黑" panose="020B0503020204020204" pitchFamily="34" charset="-122"/>
              </a:rPr>
              <a:t>对全球外汇交易进行征税的托宾税方案</a:t>
            </a:r>
          </a:p>
          <a:p>
            <a:pPr marL="0" indent="457200">
              <a:lnSpc>
                <a:spcPct val="110000"/>
              </a:lnSpc>
              <a:buNone/>
            </a:pPr>
            <a:r>
              <a:rPr lang="en-US" altLang="zh-CN" sz="2400" dirty="0">
                <a:latin typeface="微软雅黑" panose="020B0503020204020204" pitchFamily="34" charset="-122"/>
                <a:ea typeface="微软雅黑" panose="020B0503020204020204" pitchFamily="34" charset="-122"/>
              </a:rPr>
              <a:t>1972</a:t>
            </a:r>
            <a:r>
              <a:rPr lang="zh-CN" altLang="en-US" sz="2400" dirty="0">
                <a:latin typeface="微软雅黑" panose="020B0503020204020204" pitchFamily="34" charset="-122"/>
                <a:ea typeface="微软雅黑" panose="020B0503020204020204" pitchFamily="34" charset="-122"/>
              </a:rPr>
              <a:t>年托宾在普林斯顿大学演讲时提议“往飞速运转的国际金融市场这一车轮中掷些沙子”，首次提出对现货外汇交易课征全球统一的交易税。</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托</a:t>
            </a:r>
            <a:r>
              <a:rPr lang="zh-CN" altLang="en-US" sz="2400" dirty="0">
                <a:latin typeface="微软雅黑" panose="020B0503020204020204" pitchFamily="34" charset="-122"/>
                <a:ea typeface="微软雅黑" panose="020B0503020204020204" pitchFamily="34" charset="-122"/>
              </a:rPr>
              <a:t>宾税具有两个特征：单一低税率和全球性。</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托</a:t>
            </a:r>
            <a:r>
              <a:rPr lang="zh-CN" altLang="en-US" sz="2400" dirty="0">
                <a:latin typeface="微软雅黑" panose="020B0503020204020204" pitchFamily="34" charset="-122"/>
                <a:ea typeface="微软雅黑" panose="020B0503020204020204" pitchFamily="34" charset="-122"/>
              </a:rPr>
              <a:t>宾说的功能：抑制投机、稳定汇率；全球收入再分配。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532672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第一节	宏观经济政策的国际协调</a:t>
            </a:r>
            <a:endParaRPr lang="zh-CN" dirty="0"/>
          </a:p>
        </p:txBody>
      </p:sp>
      <p:sp>
        <p:nvSpPr>
          <p:cNvPr id="3" name="内容占位符 2"/>
          <p:cNvSpPr>
            <a:spLocks noGrp="1"/>
          </p:cNvSpPr>
          <p:nvPr>
            <p:ph idx="1"/>
          </p:nvPr>
        </p:nvSpPr>
        <p:spPr>
          <a:xfrm>
            <a:off x="971550" y="1447799"/>
            <a:ext cx="7200900" cy="4841879"/>
          </a:xfrm>
        </p:spPr>
        <p:txBody>
          <a:bodyPr>
            <a:normAutofit lnSpcReduction="100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三</a:t>
            </a:r>
            <a:r>
              <a:rPr lang="zh-CN" altLang="en-US" sz="2800" dirty="0">
                <a:solidFill>
                  <a:schemeClr val="accent1"/>
                </a:solidFill>
                <a:latin typeface="微软雅黑" panose="020B0503020204020204" pitchFamily="34" charset="-122"/>
                <a:ea typeface="微软雅黑" panose="020B0503020204020204" pitchFamily="34" charset="-122"/>
              </a:rPr>
              <a:t>、几种国际间政策协调的方案</a:t>
            </a:r>
          </a:p>
          <a:p>
            <a:pPr marL="742950" lvl="1" indent="-514350">
              <a:lnSpc>
                <a:spcPct val="110000"/>
              </a:lnSpc>
              <a:buFont typeface="+mj-lt"/>
              <a:buAutoNum type="arabicPeriod" startAt="2"/>
            </a:pPr>
            <a:r>
              <a:rPr lang="zh-CN" altLang="en-US" sz="2400" dirty="0">
                <a:latin typeface="微软雅黑" panose="020B0503020204020204" pitchFamily="34" charset="-122"/>
                <a:ea typeface="微软雅黑" panose="020B0503020204020204" pitchFamily="34" charset="-122"/>
              </a:rPr>
              <a:t>恢复固定汇率制的麦金农方案</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麦金农方案最早提出于</a:t>
            </a:r>
            <a:r>
              <a:rPr lang="en-US" altLang="zh-CN" sz="2400" dirty="0">
                <a:latin typeface="微软雅黑" panose="020B0503020204020204" pitchFamily="34" charset="-122"/>
                <a:ea typeface="微软雅黑" panose="020B0503020204020204" pitchFamily="34" charset="-122"/>
              </a:rPr>
              <a:t>1974</a:t>
            </a:r>
            <a:r>
              <a:rPr lang="zh-CN" altLang="en-US" sz="2400" dirty="0">
                <a:latin typeface="微软雅黑" panose="020B0503020204020204" pitchFamily="34" charset="-122"/>
                <a:ea typeface="微软雅黑" panose="020B0503020204020204" pitchFamily="34" charset="-122"/>
              </a:rPr>
              <a:t>年，后在</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80</a:t>
            </a:r>
            <a:r>
              <a:rPr lang="zh-CN" altLang="en-US" sz="2400" dirty="0">
                <a:latin typeface="微软雅黑" panose="020B0503020204020204" pitchFamily="34" charset="-122"/>
                <a:ea typeface="微软雅黑" panose="020B0503020204020204" pitchFamily="34" charset="-122"/>
              </a:rPr>
              <a:t>年代中又经过多次修正。</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麦金农</a:t>
            </a:r>
            <a:r>
              <a:rPr lang="zh-CN" altLang="en-US" sz="2400" dirty="0">
                <a:latin typeface="微软雅黑" panose="020B0503020204020204" pitchFamily="34" charset="-122"/>
                <a:ea typeface="微软雅黑" panose="020B0503020204020204" pitchFamily="34" charset="-122"/>
              </a:rPr>
              <a:t>认为浮动汇率制为特征的国际货币制度缺乏效率：经常账户反映的是各国投资与储蓄的差额，汇率的波动并不能自动实现调节经常账户的目的；汇率的频繁波动意味着各国货币价值的不稳定，由此引发的货币替代及各国资产之间的转换活动使一国的货币需求难以确定，一国通过本国的政策搭配实现内外均衡的努力更加困难。</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73538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第一节	宏观经济政策的国际协调</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三</a:t>
            </a:r>
            <a:r>
              <a:rPr lang="zh-CN" altLang="en-US" sz="2800" dirty="0">
                <a:solidFill>
                  <a:schemeClr val="accent1"/>
                </a:solidFill>
                <a:latin typeface="微软雅黑" panose="020B0503020204020204" pitchFamily="34" charset="-122"/>
                <a:ea typeface="微软雅黑" panose="020B0503020204020204" pitchFamily="34" charset="-122"/>
              </a:rPr>
              <a:t>、几种国际间政策协调的方案</a:t>
            </a:r>
          </a:p>
          <a:p>
            <a:pPr marL="742950" lvl="1" indent="-514350">
              <a:lnSpc>
                <a:spcPct val="110000"/>
              </a:lnSpc>
              <a:buFont typeface="+mj-lt"/>
              <a:buAutoNum type="arabicPeriod" startAt="2"/>
            </a:pPr>
            <a:r>
              <a:rPr lang="zh-CN" altLang="en-US" sz="2400" dirty="0">
                <a:latin typeface="微软雅黑" panose="020B0503020204020204" pitchFamily="34" charset="-122"/>
                <a:ea typeface="微软雅黑" panose="020B0503020204020204" pitchFamily="34" charset="-122"/>
              </a:rPr>
              <a:t>恢复固定汇率制的麦金农方案</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麦金农方案对国际政策协调的设计包括如下内容：</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第一</a:t>
            </a:r>
            <a:r>
              <a:rPr lang="zh-CN" altLang="en-US" sz="2400" dirty="0">
                <a:latin typeface="微软雅黑" panose="020B0503020204020204" pitchFamily="34" charset="-122"/>
                <a:ea typeface="微软雅黑" panose="020B0503020204020204" pitchFamily="34" charset="-122"/>
              </a:rPr>
              <a:t>，各国应依据购买力平价确定彼此之间的汇率水平，实行固定汇率制。</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第二</a:t>
            </a:r>
            <a:r>
              <a:rPr lang="zh-CN" altLang="en-US" sz="2400" dirty="0">
                <a:latin typeface="微软雅黑" panose="020B0503020204020204" pitchFamily="34" charset="-122"/>
                <a:ea typeface="微软雅黑" panose="020B0503020204020204" pitchFamily="34" charset="-122"/>
              </a:rPr>
              <a:t>，各国应通过协调货币供给的方法维持固定汇率制。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307519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第一节	宏观经济政策的国际协调</a:t>
            </a:r>
            <a:endParaRPr lang="zh-CN" dirty="0"/>
          </a:p>
        </p:txBody>
      </p:sp>
      <p:sp>
        <p:nvSpPr>
          <p:cNvPr id="3" name="内容占位符 2"/>
          <p:cNvSpPr>
            <a:spLocks noGrp="1"/>
          </p:cNvSpPr>
          <p:nvPr>
            <p:ph idx="1"/>
          </p:nvPr>
        </p:nvSpPr>
        <p:spPr>
          <a:xfrm>
            <a:off x="971550" y="1447799"/>
            <a:ext cx="7200900" cy="4841879"/>
          </a:xfrm>
        </p:spPr>
        <p:txBody>
          <a:bodyPr>
            <a:normAutofit fontScale="92500"/>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三</a:t>
            </a:r>
            <a:r>
              <a:rPr lang="zh-CN" altLang="en-US" sz="2800" dirty="0">
                <a:solidFill>
                  <a:schemeClr val="accent1"/>
                </a:solidFill>
                <a:latin typeface="微软雅黑" panose="020B0503020204020204" pitchFamily="34" charset="-122"/>
                <a:ea typeface="微软雅黑" panose="020B0503020204020204" pitchFamily="34" charset="-122"/>
              </a:rPr>
              <a:t>、几种国际间政策协调的方案</a:t>
            </a:r>
          </a:p>
          <a:p>
            <a:pPr marL="742950" lvl="1" indent="-514350">
              <a:lnSpc>
                <a:spcPct val="110000"/>
              </a:lnSpc>
              <a:buFont typeface="+mj-lt"/>
              <a:buAutoNum type="arabicPeriod" startAt="3"/>
            </a:pPr>
            <a:r>
              <a:rPr lang="zh-CN" altLang="en-US" sz="2400" dirty="0">
                <a:latin typeface="微软雅黑" panose="020B0503020204020204" pitchFamily="34" charset="-122"/>
                <a:ea typeface="微软雅黑" panose="020B0503020204020204" pitchFamily="34" charset="-122"/>
              </a:rPr>
              <a:t>扩展的汇率目标区方案</a:t>
            </a:r>
          </a:p>
          <a:p>
            <a:pPr marL="0" indent="457200">
              <a:lnSpc>
                <a:spcPct val="110000"/>
              </a:lnSpc>
              <a:buNone/>
            </a:pPr>
            <a:r>
              <a:rPr lang="en-US" altLang="zh-CN" sz="2400" dirty="0" smtClean="0">
                <a:latin typeface="微软雅黑" panose="020B0503020204020204" pitchFamily="34" charset="-122"/>
                <a:ea typeface="微软雅黑" panose="020B0503020204020204" pitchFamily="34" charset="-122"/>
              </a:rPr>
              <a:t>1987</a:t>
            </a:r>
            <a:r>
              <a:rPr lang="zh-CN" altLang="en-US" sz="2400" dirty="0">
                <a:latin typeface="微软雅黑" panose="020B0503020204020204" pitchFamily="34" charset="-122"/>
                <a:ea typeface="微软雅黑" panose="020B0503020204020204" pitchFamily="34" charset="-122"/>
              </a:rPr>
              <a:t>年由威廉姆森和米勒提出，主张实行更有弹性的汇率制度，汇率变动范围达中心汇率上下</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第一</a:t>
            </a:r>
            <a:r>
              <a:rPr lang="zh-CN" altLang="en-US" sz="2400" dirty="0">
                <a:latin typeface="微软雅黑" panose="020B0503020204020204" pitchFamily="34" charset="-122"/>
                <a:ea typeface="微软雅黑" panose="020B0503020204020204" pitchFamily="34" charset="-122"/>
              </a:rPr>
              <a:t>，中心汇率的确定不应当依据购买力平价，而应依据威廉姆森提出的“基本均衡汇率”</a:t>
            </a:r>
            <a:r>
              <a:rPr lang="en-US" altLang="zh-CN" sz="2400" dirty="0">
                <a:latin typeface="微软雅黑" panose="020B0503020204020204" pitchFamily="34" charset="-122"/>
                <a:ea typeface="微软雅黑" panose="020B0503020204020204" pitchFamily="34" charset="-122"/>
              </a:rPr>
              <a:t>(FEER)</a:t>
            </a:r>
            <a:r>
              <a:rPr lang="zh-CN" altLang="en-US" sz="2400" dirty="0">
                <a:latin typeface="微软雅黑" panose="020B0503020204020204" pitchFamily="34" charset="-122"/>
                <a:ea typeface="微软雅黑" panose="020B0503020204020204" pitchFamily="34" charset="-122"/>
              </a:rPr>
              <a:t>来确定。</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第二</a:t>
            </a:r>
            <a:r>
              <a:rPr lang="zh-CN" altLang="en-US" sz="2400" dirty="0">
                <a:latin typeface="微软雅黑" panose="020B0503020204020204" pitchFamily="34" charset="-122"/>
                <a:ea typeface="微软雅黑" panose="020B0503020204020204" pitchFamily="34" charset="-122"/>
              </a:rPr>
              <a:t>，在对汇率目标区的维持上，各国都以货币政策实现外部均衡，以财政政策实现内部均衡这一搭配思路进行宏观调控上的政策协调。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35074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第二节	国际货币制度</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一、国际货币制度的概念及分类</a:t>
            </a:r>
          </a:p>
          <a:p>
            <a:pPr marL="742950" lvl="1" indent="-514350">
              <a:lnSpc>
                <a:spcPct val="110000"/>
              </a:lnSpc>
              <a:buFont typeface="+mj-lt"/>
              <a:buAutoNum type="arabicPeriod"/>
            </a:pPr>
            <a:r>
              <a:rPr lang="zh-CN" altLang="en-US" sz="2400" dirty="0" smtClean="0">
                <a:latin typeface="微软雅黑" panose="020B0503020204020204" pitchFamily="34" charset="-122"/>
                <a:ea typeface="微软雅黑" panose="020B0503020204020204" pitchFamily="34" charset="-122"/>
              </a:rPr>
              <a:t>国际</a:t>
            </a:r>
            <a:r>
              <a:rPr lang="zh-CN" altLang="en-US" sz="2400" dirty="0">
                <a:latin typeface="微软雅黑" panose="020B0503020204020204" pitchFamily="34" charset="-122"/>
                <a:ea typeface="微软雅黑" panose="020B0503020204020204" pitchFamily="34" charset="-122"/>
              </a:rPr>
              <a:t>货币制度的概念</a:t>
            </a:r>
          </a:p>
          <a:p>
            <a:pPr marL="742950" lvl="1" indent="-514350">
              <a:lnSpc>
                <a:spcPct val="110000"/>
              </a:lnSpc>
              <a:buFont typeface="+mj-lt"/>
              <a:buAutoNum type="arabicPeriod"/>
            </a:pPr>
            <a:r>
              <a:rPr lang="zh-CN" altLang="en-US" sz="2400" dirty="0" smtClean="0">
                <a:latin typeface="微软雅黑" panose="020B0503020204020204" pitchFamily="34" charset="-122"/>
                <a:ea typeface="微软雅黑" panose="020B0503020204020204" pitchFamily="34" charset="-122"/>
              </a:rPr>
              <a:t>国际</a:t>
            </a:r>
            <a:r>
              <a:rPr lang="zh-CN" altLang="en-US" sz="2400" dirty="0">
                <a:latin typeface="微软雅黑" panose="020B0503020204020204" pitchFamily="34" charset="-122"/>
                <a:ea typeface="微软雅黑" panose="020B0503020204020204" pitchFamily="34" charset="-122"/>
              </a:rPr>
              <a:t>货币制度的分类</a:t>
            </a:r>
          </a:p>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二</a:t>
            </a:r>
            <a:r>
              <a:rPr lang="zh-CN" altLang="en-US" sz="2800" dirty="0">
                <a:solidFill>
                  <a:schemeClr val="accent1"/>
                </a:solidFill>
                <a:latin typeface="微软雅黑" panose="020B0503020204020204" pitchFamily="34" charset="-122"/>
                <a:ea typeface="微软雅黑" panose="020B0503020204020204" pitchFamily="34" charset="-122"/>
              </a:rPr>
              <a:t>、国际货币制度的历史回顾</a:t>
            </a:r>
          </a:p>
          <a:p>
            <a:pPr marL="742950" lvl="1"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国际</a:t>
            </a:r>
            <a:r>
              <a:rPr lang="zh-CN" altLang="en-US" sz="2600" dirty="0">
                <a:latin typeface="微软雅黑" panose="020B0503020204020204" pitchFamily="34" charset="-122"/>
                <a:ea typeface="微软雅黑" panose="020B0503020204020204" pitchFamily="34" charset="-122"/>
              </a:rPr>
              <a:t>金本位制</a:t>
            </a:r>
          </a:p>
          <a:p>
            <a:pPr marL="742950" lvl="1"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布雷</a:t>
            </a:r>
            <a:r>
              <a:rPr lang="zh-CN" altLang="en-US" sz="2600" dirty="0">
                <a:latin typeface="微软雅黑" panose="020B0503020204020204" pitchFamily="34" charset="-122"/>
                <a:ea typeface="微软雅黑" panose="020B0503020204020204" pitchFamily="34" charset="-122"/>
              </a:rPr>
              <a:t>顿森林体系</a:t>
            </a:r>
          </a:p>
          <a:p>
            <a:pPr marL="742950" lvl="1" indent="-514350">
              <a:lnSpc>
                <a:spcPct val="110000"/>
              </a:lnSpc>
              <a:buFont typeface="+mj-lt"/>
              <a:buAutoNum type="arabicPeriod"/>
            </a:pPr>
            <a:r>
              <a:rPr lang="zh-CN" altLang="en-US" sz="2600" dirty="0" smtClean="0">
                <a:latin typeface="微软雅黑" panose="020B0503020204020204" pitchFamily="34" charset="-122"/>
                <a:ea typeface="微软雅黑" panose="020B0503020204020204" pitchFamily="34" charset="-122"/>
              </a:rPr>
              <a:t>当前</a:t>
            </a:r>
            <a:r>
              <a:rPr lang="zh-CN" altLang="en-US" sz="2600" dirty="0">
                <a:latin typeface="微软雅黑" panose="020B0503020204020204" pitchFamily="34" charset="-122"/>
                <a:ea typeface="微软雅黑" panose="020B0503020204020204" pitchFamily="34" charset="-122"/>
              </a:rPr>
              <a:t>的国际货币制度</a:t>
            </a:r>
          </a:p>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三</a:t>
            </a:r>
            <a:r>
              <a:rPr lang="zh-CN" altLang="en-US" sz="2800" dirty="0">
                <a:solidFill>
                  <a:schemeClr val="accent1"/>
                </a:solidFill>
                <a:latin typeface="微软雅黑" panose="020B0503020204020204" pitchFamily="34" charset="-122"/>
                <a:ea typeface="微软雅黑" panose="020B0503020204020204" pitchFamily="34" charset="-122"/>
              </a:rPr>
              <a:t>、关于国际货币体系发展前景的</a:t>
            </a:r>
            <a:r>
              <a:rPr lang="zh-CN" altLang="en-US" sz="2800" dirty="0" smtClean="0">
                <a:solidFill>
                  <a:schemeClr val="accent1"/>
                </a:solidFill>
                <a:latin typeface="微软雅黑" panose="020B0503020204020204" pitchFamily="34" charset="-122"/>
                <a:ea typeface="微软雅黑" panose="020B0503020204020204" pitchFamily="34" charset="-122"/>
              </a:rPr>
              <a:t>讨论</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65162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一、巴塞尔委员会成立</a:t>
            </a:r>
          </a:p>
          <a:p>
            <a:pPr marL="0" indent="457200">
              <a:lnSpc>
                <a:spcPct val="110000"/>
              </a:lnSpc>
              <a:buNone/>
            </a:pPr>
            <a:r>
              <a:rPr lang="en-US" altLang="zh-CN" sz="2400" dirty="0" smtClean="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70</a:t>
            </a:r>
            <a:r>
              <a:rPr lang="zh-CN" altLang="en-US" sz="2400" dirty="0">
                <a:latin typeface="微软雅黑" panose="020B0503020204020204" pitchFamily="34" charset="-122"/>
                <a:ea typeface="微软雅黑" panose="020B0503020204020204" pitchFamily="34" charset="-122"/>
              </a:rPr>
              <a:t>年代早期，金融全球化在一定程度上限制了国内银行监管的范围和权力，国际货币和银行市场爆发多次严重的危机（尤其是</a:t>
            </a:r>
            <a:r>
              <a:rPr lang="en-US" altLang="zh-CN" sz="2400" dirty="0">
                <a:latin typeface="微软雅黑" panose="020B0503020204020204" pitchFamily="34" charset="-122"/>
                <a:ea typeface="微软雅黑" panose="020B0503020204020204" pitchFamily="34" charset="-122"/>
              </a:rPr>
              <a:t>1974</a:t>
            </a:r>
            <a:r>
              <a:rPr lang="zh-CN" altLang="en-US" sz="2400" dirty="0">
                <a:latin typeface="微软雅黑" panose="020B0503020204020204" pitchFamily="34" charset="-122"/>
                <a:ea typeface="微软雅黑" panose="020B0503020204020204" pitchFamily="34" charset="-122"/>
              </a:rPr>
              <a:t>年西德的赫斯塔特银行</a:t>
            </a:r>
            <a:r>
              <a:rPr lang="en-US" altLang="zh-CN" sz="2400" dirty="0" err="1">
                <a:latin typeface="微软雅黑" panose="020B0503020204020204" pitchFamily="34" charset="-122"/>
                <a:ea typeface="微软雅黑" panose="020B0503020204020204" pitchFamily="34" charset="-122"/>
              </a:rPr>
              <a:t>Herstatt</a:t>
            </a:r>
            <a:r>
              <a:rPr lang="zh-CN" altLang="en-US" sz="2400" dirty="0">
                <a:latin typeface="微软雅黑" panose="020B0503020204020204" pitchFamily="34" charset="-122"/>
                <a:ea typeface="微软雅黑" panose="020B0503020204020204" pitchFamily="34" charset="-122"/>
              </a:rPr>
              <a:t>等倒闭），最终促成了</a:t>
            </a:r>
            <a:r>
              <a:rPr lang="en-US" altLang="zh-CN" sz="2400" dirty="0">
                <a:latin typeface="微软雅黑" panose="020B0503020204020204" pitchFamily="34" charset="-122"/>
                <a:ea typeface="微软雅黑" panose="020B0503020204020204" pitchFamily="34" charset="-122"/>
              </a:rPr>
              <a:t>1974</a:t>
            </a:r>
            <a:r>
              <a:rPr lang="zh-CN" altLang="en-US" sz="2400" dirty="0">
                <a:latin typeface="微软雅黑" panose="020B0503020204020204" pitchFamily="34" charset="-122"/>
                <a:ea typeface="微软雅黑" panose="020B0503020204020204" pitchFamily="34" charset="-122"/>
              </a:rPr>
              <a:t>年底十国集团的中央银行行长们建立了作为银行监督与管理的委员会</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巴塞尔银行监管委员会。</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59006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一、巴塞尔委员会成立</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最初，巴塞尔委员会遵循两条基本原则</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任何外国银行机构不能规避监管和监管应该是充分的。</a:t>
            </a:r>
          </a:p>
          <a:p>
            <a:pPr marL="0" indent="457200">
              <a:lnSpc>
                <a:spcPct val="110000"/>
              </a:lnSpc>
              <a:buNone/>
            </a:pPr>
            <a:r>
              <a:rPr lang="en-US" altLang="zh-CN" sz="2400" dirty="0" smtClean="0">
                <a:latin typeface="微软雅黑" panose="020B0503020204020204" pitchFamily="34" charset="-122"/>
                <a:ea typeface="微软雅黑" panose="020B0503020204020204" pitchFamily="34" charset="-122"/>
              </a:rPr>
              <a:t>1983</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月，该委员会完成了</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银行外资机构监管原则</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，确定了东道主国和母国监管当局对国外分行、子行和合资银行的监管职责分担原则。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19742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二、巴塞尔资本协议</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随着各国外资银行越来越多，建立公平竞争环境的目标日益被大家接受，巴塞尔委员会也开始关注国际银行的资本比率，委员会内部强烈意识到需要一个国际标准来加强国际银行系统的稳定和消除因不同国家资本要求不同导致的不公平竞争。</a:t>
            </a:r>
          </a:p>
          <a:p>
            <a:pPr marL="0" indent="457200">
              <a:lnSpc>
                <a:spcPct val="110000"/>
              </a:lnSpc>
              <a:buNone/>
            </a:pPr>
            <a:r>
              <a:rPr lang="en-US" altLang="zh-CN" sz="2400" dirty="0" smtClean="0">
                <a:latin typeface="微软雅黑" panose="020B0503020204020204" pitchFamily="34" charset="-122"/>
                <a:ea typeface="微软雅黑" panose="020B0503020204020204" pitchFamily="34" charset="-122"/>
              </a:rPr>
              <a:t>1988</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7</a:t>
            </a:r>
            <a:r>
              <a:rPr lang="zh-CN" altLang="en-US" sz="2400" dirty="0">
                <a:latin typeface="微软雅黑" panose="020B0503020204020204" pitchFamily="34" charset="-122"/>
                <a:ea typeface="微软雅黑" panose="020B0503020204020204" pitchFamily="34" charset="-122"/>
              </a:rPr>
              <a:t>月颁布</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巴塞尔资本协议</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，即</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关于统一国际银行资本衡量和资本标准的协议</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10684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二、巴塞尔资本协议</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第一，建立了一个二级资本框架。一级资本仅限于股东权益；二级资本包括一般贷款损失准备、最多</a:t>
            </a:r>
            <a:r>
              <a:rPr lang="en-US" altLang="zh-CN" sz="2400" dirty="0">
                <a:latin typeface="微软雅黑" panose="020B0503020204020204" pitchFamily="34" charset="-122"/>
                <a:ea typeface="微软雅黑" panose="020B0503020204020204" pitchFamily="34" charset="-122"/>
              </a:rPr>
              <a:t>45%</a:t>
            </a:r>
            <a:r>
              <a:rPr lang="zh-CN" altLang="en-US" sz="2400" dirty="0">
                <a:latin typeface="微软雅黑" panose="020B0503020204020204" pitchFamily="34" charset="-122"/>
                <a:ea typeface="微软雅黑" panose="020B0503020204020204" pitchFamily="34" charset="-122"/>
              </a:rPr>
              <a:t>的可出售证券未实现收益、混合债务资本工具、次级定期债务。第二，达成了</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的最低风险加权资本充足率标准，其中一级资本必须达到</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		</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981577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fontScale="92500"/>
          </a:bodyPr>
          <a:lstStyle/>
          <a:p>
            <a:pPr marL="0" indent="0">
              <a:lnSpc>
                <a:spcPct val="110000"/>
              </a:lnSpc>
              <a:buNone/>
            </a:pPr>
            <a:r>
              <a:rPr lang="zh-CN" altLang="en-US" sz="2800" dirty="0">
                <a:solidFill>
                  <a:schemeClr val="accent1"/>
                </a:solidFill>
                <a:latin typeface="微软雅黑" panose="020B0503020204020204" pitchFamily="34" charset="-122"/>
                <a:ea typeface="微软雅黑" panose="020B0503020204020204" pitchFamily="34" charset="-122"/>
              </a:rPr>
              <a:t>三、巴塞尔新资本协议</a:t>
            </a:r>
          </a:p>
          <a:p>
            <a:pPr marL="0" indent="457200">
              <a:lnSpc>
                <a:spcPct val="110000"/>
              </a:lnSpc>
              <a:buNone/>
            </a:pP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巴塞尔资本协议</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只关注信用风险过于狭窄，在风险权重赋值上，并没有依据不同借款人的违约风险进行赋值，风险权重不能准确反映借款人的风险。 </a:t>
            </a:r>
          </a:p>
          <a:p>
            <a:pPr marL="0" indent="457200">
              <a:lnSpc>
                <a:spcPct val="110000"/>
              </a:lnSpc>
              <a:buNone/>
            </a:pPr>
            <a:r>
              <a:rPr lang="en-US" altLang="zh-CN" sz="2400" dirty="0" smtClean="0">
                <a:latin typeface="微软雅黑" panose="020B0503020204020204" pitchFamily="34" charset="-122"/>
                <a:ea typeface="微软雅黑" panose="020B0503020204020204" pitchFamily="34" charset="-122"/>
              </a:rPr>
              <a:t>2004</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6</a:t>
            </a:r>
            <a:r>
              <a:rPr lang="zh-CN" altLang="en-US" sz="2400" dirty="0">
                <a:latin typeface="微软雅黑" panose="020B0503020204020204" pitchFamily="34" charset="-122"/>
                <a:ea typeface="微软雅黑" panose="020B0503020204020204" pitchFamily="34" charset="-122"/>
              </a:rPr>
              <a:t>月修订后的</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巴塞尔新资本协议</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的颁布，即巴塞尔协议</a:t>
            </a:r>
            <a:r>
              <a:rPr lang="en-US" altLang="zh-CN" sz="2400" dirty="0">
                <a:latin typeface="微软雅黑" panose="020B0503020204020204" pitchFamily="34" charset="-122"/>
                <a:ea typeface="微软雅黑" panose="020B0503020204020204" pitchFamily="34" charset="-122"/>
              </a:rPr>
              <a:t>II </a:t>
            </a:r>
            <a:r>
              <a:rPr lang="zh-CN" altLang="en-US" sz="2400" dirty="0">
                <a:latin typeface="微软雅黑" panose="020B0503020204020204" pitchFamily="34" charset="-122"/>
                <a:ea typeface="微软雅黑" panose="020B0503020204020204" pitchFamily="34" charset="-122"/>
              </a:rPr>
              <a:t>，由最低资本要求、监管当局的监督检查和市场约束三大支柱组成。</a:t>
            </a:r>
          </a:p>
          <a:p>
            <a:pPr marL="0" indent="457200">
              <a:lnSpc>
                <a:spcPct val="110000"/>
              </a:lnSpc>
              <a:buNone/>
            </a:pPr>
            <a:r>
              <a:rPr lang="zh-CN" altLang="en-US" sz="2400" dirty="0" smtClean="0">
                <a:latin typeface="微软雅黑" panose="020B0503020204020204" pitchFamily="34" charset="-122"/>
                <a:ea typeface="微软雅黑" panose="020B0503020204020204" pitchFamily="34" charset="-122"/>
              </a:rPr>
              <a:t>资本</a:t>
            </a:r>
            <a:r>
              <a:rPr lang="zh-CN" altLang="en-US" sz="2400" dirty="0">
                <a:latin typeface="微软雅黑" panose="020B0503020204020204" pitchFamily="34" charset="-122"/>
                <a:ea typeface="微软雅黑" panose="020B0503020204020204" pitchFamily="34" charset="-122"/>
              </a:rPr>
              <a:t>要求不但涵盖了信用风险，而且包括市场风险和操作风险；而在风险计量方面，提出了内部评级法，允许银行自己估计支持其各种独特风险所需的资本金额</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710637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四</a:t>
            </a:r>
            <a:r>
              <a:rPr lang="zh-CN" altLang="en-US" sz="2800" dirty="0">
                <a:solidFill>
                  <a:schemeClr val="accent1"/>
                </a:solidFill>
                <a:latin typeface="微软雅黑" panose="020B0503020204020204" pitchFamily="34" charset="-122"/>
                <a:ea typeface="微软雅黑" panose="020B0503020204020204" pitchFamily="34" charset="-122"/>
              </a:rPr>
              <a:t>、巴塞尔</a:t>
            </a:r>
            <a:r>
              <a:rPr lang="en-US" altLang="zh-CN" sz="2800" dirty="0">
                <a:solidFill>
                  <a:schemeClr val="accent1"/>
                </a:solidFill>
                <a:latin typeface="微软雅黑" panose="020B0503020204020204" pitchFamily="34" charset="-122"/>
                <a:ea typeface="微软雅黑" panose="020B0503020204020204" pitchFamily="34" charset="-122"/>
              </a:rPr>
              <a:t>Ⅲ</a:t>
            </a:r>
          </a:p>
          <a:p>
            <a:pPr marL="0" indent="457200">
              <a:lnSpc>
                <a:spcPct val="110000"/>
              </a:lnSpc>
              <a:buNone/>
            </a:pPr>
            <a:r>
              <a:rPr lang="en-US" altLang="zh-CN" sz="2400" dirty="0">
                <a:latin typeface="微软雅黑" panose="020B0503020204020204" pitchFamily="34" charset="-122"/>
                <a:ea typeface="微软雅黑" panose="020B0503020204020204" pitchFamily="34" charset="-122"/>
              </a:rPr>
              <a:t>2010</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12</a:t>
            </a:r>
            <a:r>
              <a:rPr lang="zh-CN" altLang="en-US" sz="2400" dirty="0">
                <a:latin typeface="微软雅黑" panose="020B0503020204020204" pitchFamily="34" charset="-122"/>
                <a:ea typeface="微软雅黑" panose="020B0503020204020204" pitchFamily="34" charset="-122"/>
              </a:rPr>
              <a:t>月</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巴塞尔</a:t>
            </a:r>
            <a:r>
              <a:rPr lang="en-US" altLang="zh-CN" sz="2400" dirty="0">
                <a:latin typeface="微软雅黑" panose="020B0503020204020204" pitchFamily="34" charset="-122"/>
                <a:ea typeface="微软雅黑" panose="020B0503020204020204" pitchFamily="34" charset="-122"/>
              </a:rPr>
              <a:t>III</a:t>
            </a:r>
            <a:r>
              <a:rPr lang="zh-CN" altLang="en-US" sz="2400" dirty="0">
                <a:latin typeface="微软雅黑" panose="020B0503020204020204" pitchFamily="34" charset="-122"/>
                <a:ea typeface="微软雅黑" panose="020B0503020204020204" pitchFamily="34" charset="-122"/>
              </a:rPr>
              <a:t>：更富有弹性的银行和银行系统的全球监管框架</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巴塞尔</a:t>
            </a:r>
            <a:r>
              <a:rPr lang="en-US" altLang="zh-CN" sz="2400" dirty="0">
                <a:latin typeface="微软雅黑" panose="020B0503020204020204" pitchFamily="34" charset="-122"/>
                <a:ea typeface="微软雅黑" panose="020B0503020204020204" pitchFamily="34" charset="-122"/>
              </a:rPr>
              <a:t>III</a:t>
            </a:r>
            <a:r>
              <a:rPr lang="zh-CN" altLang="en-US" sz="2400" dirty="0">
                <a:latin typeface="微软雅黑" panose="020B0503020204020204" pitchFamily="34" charset="-122"/>
                <a:ea typeface="微软雅黑" panose="020B0503020204020204" pitchFamily="34" charset="-122"/>
              </a:rPr>
              <a:t>：流动性风险衡量、标准和监测的国际框架</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在韩国</a:t>
            </a:r>
            <a:r>
              <a:rPr lang="en-US" altLang="zh-CN" sz="2400" dirty="0">
                <a:latin typeface="微软雅黑" panose="020B0503020204020204" pitchFamily="34" charset="-122"/>
                <a:ea typeface="微软雅黑" panose="020B0503020204020204" pitchFamily="34" charset="-122"/>
              </a:rPr>
              <a:t>G20</a:t>
            </a:r>
            <a:r>
              <a:rPr lang="zh-CN" altLang="en-US" sz="2400" dirty="0">
                <a:latin typeface="微软雅黑" panose="020B0503020204020204" pitchFamily="34" charset="-122"/>
                <a:ea typeface="微软雅黑" panose="020B0503020204020204" pitchFamily="34" charset="-122"/>
              </a:rPr>
              <a:t>峰会上获得通过。</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143244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四</a:t>
            </a:r>
            <a:r>
              <a:rPr lang="zh-CN" altLang="en-US" sz="2800" dirty="0">
                <a:solidFill>
                  <a:schemeClr val="accent1"/>
                </a:solidFill>
                <a:latin typeface="微软雅黑" panose="020B0503020204020204" pitchFamily="34" charset="-122"/>
                <a:ea typeface="微软雅黑" panose="020B0503020204020204" pitchFamily="34" charset="-122"/>
              </a:rPr>
              <a:t>、巴塞尔</a:t>
            </a:r>
            <a:r>
              <a:rPr lang="en-US" altLang="zh-CN" sz="2800" dirty="0">
                <a:solidFill>
                  <a:schemeClr val="accent1"/>
                </a:solidFill>
                <a:latin typeface="微软雅黑" panose="020B0503020204020204" pitchFamily="34" charset="-122"/>
                <a:ea typeface="微软雅黑" panose="020B0503020204020204" pitchFamily="34" charset="-122"/>
              </a:rPr>
              <a:t>Ⅲ</a:t>
            </a:r>
          </a:p>
          <a:p>
            <a:pPr marL="685800" lvl="1" indent="-457200">
              <a:lnSpc>
                <a:spcPct val="110000"/>
              </a:lnSpc>
              <a:buFont typeface="+mj-lt"/>
              <a:buAutoNum type="arabicPeriod"/>
            </a:pPr>
            <a:r>
              <a:rPr lang="zh-CN" altLang="en-US" sz="2400" dirty="0" smtClean="0">
                <a:latin typeface="微软雅黑" panose="020B0503020204020204" pitchFamily="34" charset="-122"/>
                <a:ea typeface="微软雅黑" panose="020B0503020204020204" pitchFamily="34" charset="-122"/>
              </a:rPr>
              <a:t>提高资本质量、一致性和透明度</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aphicFrame>
        <p:nvGraphicFramePr>
          <p:cNvPr id="6" name="Group 347"/>
          <p:cNvGraphicFramePr>
            <a:graphicFrameLocks/>
          </p:cNvGraphicFramePr>
          <p:nvPr>
            <p:extLst>
              <p:ext uri="{D42A27DB-BD31-4B8C-83A1-F6EECF244321}">
                <p14:modId xmlns:p14="http://schemas.microsoft.com/office/powerpoint/2010/main" val="3842633307"/>
              </p:ext>
            </p:extLst>
          </p:nvPr>
        </p:nvGraphicFramePr>
        <p:xfrm>
          <a:off x="262857" y="2683711"/>
          <a:ext cx="8569325" cy="3290889"/>
        </p:xfrm>
        <a:graphic>
          <a:graphicData uri="http://schemas.openxmlformats.org/drawingml/2006/table">
            <a:tbl>
              <a:tblPr>
                <a:tableStyleId>{BC89EF96-8CEA-46FF-86C4-4CE0E7609802}</a:tableStyleId>
              </a:tblPr>
              <a:tblGrid>
                <a:gridCol w="2160588">
                  <a:extLst>
                    <a:ext uri="{9D8B030D-6E8A-4147-A177-3AD203B41FA5}">
                      <a16:colId xmlns:a16="http://schemas.microsoft.com/office/drawing/2014/main" val="20000"/>
                    </a:ext>
                  </a:extLst>
                </a:gridCol>
                <a:gridCol w="1512887">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gridCol w="1512888">
                  <a:extLst>
                    <a:ext uri="{9D8B030D-6E8A-4147-A177-3AD203B41FA5}">
                      <a16:colId xmlns:a16="http://schemas.microsoft.com/office/drawing/2014/main" val="20003"/>
                    </a:ext>
                  </a:extLst>
                </a:gridCol>
                <a:gridCol w="1655762">
                  <a:extLst>
                    <a:ext uri="{9D8B030D-6E8A-4147-A177-3AD203B41FA5}">
                      <a16:colId xmlns:a16="http://schemas.microsoft.com/office/drawing/2014/main" val="20004"/>
                    </a:ext>
                  </a:extLst>
                </a:gridCol>
              </a:tblGrid>
              <a:tr h="576374">
                <a:tc gridSpan="5">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次贷危机中出现危机的主要银行</a:t>
                      </a: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2007</a:t>
                      </a: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年底的资本状况</a:t>
                      </a:r>
                      <a:endPar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006034">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银行名称</a:t>
                      </a:r>
                    </a:p>
                  </a:txBody>
                  <a:tcPr marT="45729" marB="45729" anchor="ctr" horzOverflow="overflow"/>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美国</a:t>
                      </a:r>
                      <a:endParaRPr kumimoji="0" lang="en-US" altLang="zh-CN"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endParaRPr>
                    </a:p>
                    <a:p>
                      <a:pPr marL="0" marR="0" lvl="0" indent="0" algn="ctr" defTabSz="914400" rtl="0" eaLnBrk="1" fontAlgn="t" latinLnBrk="0" hangingPunct="1">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华盛顿互惠银行</a:t>
                      </a:r>
                    </a:p>
                  </a:txBody>
                  <a:tcPr marT="45729" marB="45729" anchor="ctr" horzOverflow="overflow"/>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英国</a:t>
                      </a:r>
                    </a:p>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诺森罗克银行</a:t>
                      </a:r>
                    </a:p>
                  </a:txBody>
                  <a:tcPr marT="45729" marB="45729" anchor="ctr" horzOverflow="overflow"/>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德国</a:t>
                      </a:r>
                    </a:p>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巴伐利亚州银行</a:t>
                      </a:r>
                    </a:p>
                  </a:txBody>
                  <a:tcPr marT="45729" marB="45729" anchor="ctr" horzOverflow="overflow"/>
                </a:tc>
                <a:tc>
                  <a:txBody>
                    <a:bodyPr/>
                    <a:lstStyle/>
                    <a:p>
                      <a:pPr marL="0" marR="0" lvl="0" indent="0" algn="ctr" defTabSz="914400" rtl="0" eaLnBrk="1" fontAlgn="t" latinLnBrk="0" hangingPunct="1">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冰岛</a:t>
                      </a:r>
                    </a:p>
                    <a:p>
                      <a:pPr marL="0" marR="0" lvl="0" indent="0" algn="ctr" defTabSz="914400" rtl="0" eaLnBrk="0" fontAlgn="t" latinLnBrk="0" hangingPunct="0">
                        <a:lnSpc>
                          <a:spcPct val="100000"/>
                        </a:lnSpc>
                        <a:spcBef>
                          <a:spcPct val="0"/>
                        </a:spcBef>
                        <a:spcAft>
                          <a:spcPct val="0"/>
                        </a:spcAft>
                        <a:buClrTx/>
                        <a:buSzTx/>
                        <a:buFontTx/>
                        <a:buNone/>
                        <a:tabLst/>
                      </a:pPr>
                      <a:r>
                        <a:rPr kumimoji="0" lang="zh-CN" altLang="en-US" sz="2000" u="none" strike="noStrike" kern="1200"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mn-cs"/>
                        </a:rPr>
                        <a:t>考普森农业银行</a:t>
                      </a:r>
                    </a:p>
                  </a:txBody>
                  <a:tcPr marT="45729" marB="45729" anchor="ctr" horzOverflow="overflow"/>
                </a:tc>
                <a:extLst>
                  <a:ext uri="{0D108BD9-81ED-4DB2-BD59-A6C34878D82A}">
                    <a16:rowId xmlns:a16="http://schemas.microsoft.com/office/drawing/2014/main" val="10001"/>
                  </a:ext>
                </a:extLst>
              </a:tr>
              <a:tr h="57002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资本充足率</a:t>
                      </a:r>
                      <a:endPar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12.3%</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14.4%</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12%</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11.8%</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extLst>
                  <a:ext uri="{0D108BD9-81ED-4DB2-BD59-A6C34878D82A}">
                    <a16:rowId xmlns:a16="http://schemas.microsoft.com/office/drawing/2014/main" val="10002"/>
                  </a:ext>
                </a:extLst>
              </a:tr>
              <a:tr h="56843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一级资本充足率</a:t>
                      </a:r>
                      <a:endPar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7.9%</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7.7%</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6%</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9.6%</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extLst>
                  <a:ext uri="{0D108BD9-81ED-4DB2-BD59-A6C34878D82A}">
                    <a16:rowId xmlns:a16="http://schemas.microsoft.com/office/drawing/2014/main" val="10003"/>
                  </a:ext>
                </a:extLst>
              </a:tr>
              <a:tr h="57002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权益</a:t>
                      </a: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a:t>
                      </a:r>
                      <a:r>
                        <a:rPr kumimoji="0" lang="zh-CN" altLang="en-US" sz="2000" u="none" strike="noStrike" cap="none" normalizeH="0" baseline="0" smtClean="0">
                          <a:ln>
                            <a:noFill/>
                          </a:ln>
                          <a:effectLst/>
                          <a:latin typeface="微软雅黑" panose="020B0503020204020204" pitchFamily="34" charset="-122"/>
                          <a:ea typeface="微软雅黑" panose="020B0503020204020204" pitchFamily="34" charset="-122"/>
                        </a:rPr>
                        <a:t>总资产</a:t>
                      </a:r>
                      <a:endPar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8.69%</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2.47%</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smtClean="0">
                          <a:ln>
                            <a:noFill/>
                          </a:ln>
                          <a:effectLst/>
                          <a:latin typeface="微软雅黑" panose="020B0503020204020204" pitchFamily="34" charset="-122"/>
                          <a:ea typeface="微软雅黑" panose="020B0503020204020204" pitchFamily="34" charset="-122"/>
                        </a:rPr>
                        <a:t>3.1%</a:t>
                      </a:r>
                      <a:endParaRPr kumimoji="0" lang="en-US" altLang="zh-CN"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smtClean="0">
                          <a:ln>
                            <a:noFill/>
                          </a:ln>
                          <a:effectLst/>
                          <a:latin typeface="微软雅黑" panose="020B0503020204020204" pitchFamily="34" charset="-122"/>
                          <a:ea typeface="微软雅黑" panose="020B0503020204020204" pitchFamily="34" charset="-122"/>
                        </a:rPr>
                        <a:t>6.67%</a:t>
                      </a:r>
                      <a:endParaRPr kumimoji="0" lang="en-US" altLang="zh-CN"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29" marB="45729" anchor="ctr"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7969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四</a:t>
            </a:r>
            <a:r>
              <a:rPr lang="zh-CN" altLang="en-US" sz="2800" dirty="0">
                <a:solidFill>
                  <a:schemeClr val="accent1"/>
                </a:solidFill>
                <a:latin typeface="微软雅黑" panose="020B0503020204020204" pitchFamily="34" charset="-122"/>
                <a:ea typeface="微软雅黑" panose="020B0503020204020204" pitchFamily="34" charset="-122"/>
              </a:rPr>
              <a:t>、巴塞尔</a:t>
            </a:r>
            <a:r>
              <a:rPr lang="en-US" altLang="zh-CN" sz="2800" dirty="0">
                <a:solidFill>
                  <a:schemeClr val="accent1"/>
                </a:solidFill>
                <a:latin typeface="微软雅黑" panose="020B0503020204020204" pitchFamily="34" charset="-122"/>
                <a:ea typeface="微软雅黑" panose="020B0503020204020204" pitchFamily="34" charset="-122"/>
              </a:rPr>
              <a:t>Ⅲ</a:t>
            </a:r>
          </a:p>
          <a:p>
            <a:pPr marL="685800" lvl="1" indent="-457200">
              <a:lnSpc>
                <a:spcPct val="110000"/>
              </a:lnSpc>
              <a:buFont typeface="+mj-lt"/>
              <a:buAutoNum type="arabicPeriod" startAt="2"/>
            </a:pPr>
            <a:r>
              <a:rPr lang="zh-CN" altLang="en-US" sz="2400" dirty="0">
                <a:latin typeface="微软雅黑" panose="020B0503020204020204" pitchFamily="34" charset="-122"/>
                <a:ea typeface="微软雅黑" panose="020B0503020204020204" pitchFamily="34" charset="-122"/>
              </a:rPr>
              <a:t>加大风险覆盖</a:t>
            </a:r>
            <a:endParaRPr lang="en-US" altLang="zh-CN" sz="2400" dirty="0">
              <a:latin typeface="微软雅黑" panose="020B0503020204020204" pitchFamily="34" charset="-122"/>
              <a:ea typeface="微软雅黑" panose="020B0503020204020204" pitchFamily="34" charset="-122"/>
            </a:endParaRP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对交易账户和复杂资产证券化敞口的资本金要求等</a:t>
            </a:r>
          </a:p>
          <a:p>
            <a:pPr marL="685800" lvl="1" indent="-457200">
              <a:lnSpc>
                <a:spcPct val="110000"/>
              </a:lnSpc>
              <a:buFont typeface="+mj-lt"/>
              <a:buAutoNum type="arabicPeriod" startAt="3"/>
            </a:pPr>
            <a:r>
              <a:rPr lang="zh-CN" altLang="en-US" sz="2400" dirty="0">
                <a:latin typeface="微软雅黑" panose="020B0503020204020204" pitchFamily="34" charset="-122"/>
                <a:ea typeface="微软雅黑" panose="020B0503020204020204" pitchFamily="34" charset="-122"/>
              </a:rPr>
              <a:t>引入杠杆率要求</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危机前杠杆率的不断上升导致银行部门风险不断积聚，而危机发生后又迫使银行降低杠杆率提高资本充足率，进行去杠杆化（</a:t>
            </a:r>
            <a:r>
              <a:rPr lang="en-US" altLang="zh-CN" sz="2400" dirty="0">
                <a:latin typeface="微软雅黑" panose="020B0503020204020204" pitchFamily="34" charset="-122"/>
                <a:ea typeface="微软雅黑" panose="020B0503020204020204" pitchFamily="34" charset="-122"/>
              </a:rPr>
              <a:t>deleverage</a:t>
            </a:r>
            <a:r>
              <a:rPr lang="zh-CN" altLang="en-US" sz="2400" dirty="0">
                <a:latin typeface="微软雅黑" panose="020B0503020204020204" pitchFamily="34" charset="-122"/>
                <a:ea typeface="微软雅黑" panose="020B0503020204020204" pitchFamily="34" charset="-122"/>
              </a:rPr>
              <a:t>），进而增加了资产价格下降的压力，银行资产状况更加恶化 </a:t>
            </a:r>
          </a:p>
          <a:p>
            <a:pPr marL="0" indent="457200">
              <a:lnSpc>
                <a:spcPct val="110000"/>
              </a:lnSpc>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117558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四</a:t>
            </a:r>
            <a:r>
              <a:rPr lang="zh-CN" altLang="en-US" sz="2800" dirty="0">
                <a:solidFill>
                  <a:schemeClr val="accent1"/>
                </a:solidFill>
                <a:latin typeface="微软雅黑" panose="020B0503020204020204" pitchFamily="34" charset="-122"/>
                <a:ea typeface="微软雅黑" panose="020B0503020204020204" pitchFamily="34" charset="-122"/>
              </a:rPr>
              <a:t>、巴塞尔</a:t>
            </a:r>
            <a:r>
              <a:rPr lang="en-US" altLang="zh-CN" sz="2800" dirty="0">
                <a:solidFill>
                  <a:schemeClr val="accent1"/>
                </a:solidFill>
                <a:latin typeface="微软雅黑" panose="020B0503020204020204" pitchFamily="34" charset="-122"/>
                <a:ea typeface="微软雅黑" panose="020B0503020204020204" pitchFamily="34" charset="-122"/>
              </a:rPr>
              <a:t>Ⅲ</a:t>
            </a:r>
          </a:p>
          <a:p>
            <a:pPr marL="685800" lvl="1" indent="-457200">
              <a:lnSpc>
                <a:spcPct val="110000"/>
              </a:lnSpc>
              <a:buFont typeface="+mj-lt"/>
              <a:buAutoNum type="arabicPeriod" startAt="4"/>
            </a:pPr>
            <a:r>
              <a:rPr lang="zh-CN" altLang="en-US" sz="2400" dirty="0">
                <a:latin typeface="微软雅黑" panose="020B0503020204020204" pitchFamily="34" charset="-122"/>
                <a:ea typeface="微软雅黑" panose="020B0503020204020204" pitchFamily="34" charset="-122"/>
              </a:rPr>
              <a:t>建立全球流动性标准</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一是通过确保银行拥有足够的高质量的流动性能渡过为期一个月的极其严峻的压力环境，提高银行流动性风险的短期弹性。二是通过激励银行运用稳定的资金来源为业务融资，提高银行流动性风险的长期弹性。</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30046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a:r>
            <a:br>
              <a:rPr lang="zh-CN" altLang="en-US" dirty="0"/>
            </a:br>
            <a:r>
              <a:rPr lang="zh-CN" altLang="en-US" dirty="0"/>
              <a:t>第三节	国际金融监管协调与合作</a:t>
            </a:r>
            <a:endParaRPr lang="zh-CN" dirty="0"/>
          </a:p>
        </p:txBody>
      </p:sp>
      <p:sp>
        <p:nvSpPr>
          <p:cNvPr id="3" name="内容占位符 2"/>
          <p:cNvSpPr>
            <a:spLocks noGrp="1"/>
          </p:cNvSpPr>
          <p:nvPr>
            <p:ph idx="1"/>
          </p:nvPr>
        </p:nvSpPr>
        <p:spPr>
          <a:xfrm>
            <a:off x="971550" y="1447799"/>
            <a:ext cx="7200900" cy="4841879"/>
          </a:xfrm>
        </p:spPr>
        <p:txBody>
          <a:bodyPr>
            <a:normAutofit/>
          </a:bodyPr>
          <a:lstStyle/>
          <a:p>
            <a:pPr marL="0" indent="0">
              <a:lnSpc>
                <a:spcPct val="110000"/>
              </a:lnSpc>
              <a:buNone/>
            </a:pPr>
            <a:r>
              <a:rPr lang="zh-CN" altLang="en-US" sz="2800" dirty="0" smtClean="0">
                <a:solidFill>
                  <a:schemeClr val="accent1"/>
                </a:solidFill>
                <a:latin typeface="微软雅黑" panose="020B0503020204020204" pitchFamily="34" charset="-122"/>
                <a:ea typeface="微软雅黑" panose="020B0503020204020204" pitchFamily="34" charset="-122"/>
              </a:rPr>
              <a:t>四</a:t>
            </a:r>
            <a:r>
              <a:rPr lang="zh-CN" altLang="en-US" sz="2800" dirty="0">
                <a:solidFill>
                  <a:schemeClr val="accent1"/>
                </a:solidFill>
                <a:latin typeface="微软雅黑" panose="020B0503020204020204" pitchFamily="34" charset="-122"/>
                <a:ea typeface="微软雅黑" panose="020B0503020204020204" pitchFamily="34" charset="-122"/>
              </a:rPr>
              <a:t>、巴塞尔</a:t>
            </a:r>
            <a:r>
              <a:rPr lang="en-US" altLang="zh-CN" sz="2800" dirty="0">
                <a:solidFill>
                  <a:schemeClr val="accent1"/>
                </a:solidFill>
                <a:latin typeface="微软雅黑" panose="020B0503020204020204" pitchFamily="34" charset="-122"/>
                <a:ea typeface="微软雅黑" panose="020B0503020204020204" pitchFamily="34" charset="-122"/>
              </a:rPr>
              <a:t>Ⅲ</a:t>
            </a:r>
          </a:p>
          <a:p>
            <a:pPr marL="685800" lvl="1" indent="-457200">
              <a:lnSpc>
                <a:spcPct val="110000"/>
              </a:lnSpc>
              <a:buFont typeface="+mj-lt"/>
              <a:buAutoNum type="arabicPeriod" startAt="5"/>
            </a:pPr>
            <a:r>
              <a:rPr lang="zh-CN" altLang="en-US" sz="2400" dirty="0">
                <a:latin typeface="微软雅黑" panose="020B0503020204020204" pitchFamily="34" charset="-122"/>
                <a:ea typeface="微软雅黑" panose="020B0503020204020204" pitchFamily="34" charset="-122"/>
              </a:rPr>
              <a:t>时间维度上进行逆周期监管</a:t>
            </a:r>
          </a:p>
          <a:p>
            <a:pPr marL="0" indent="457200">
              <a:lnSpc>
                <a:spcPct val="110000"/>
              </a:lnSpc>
              <a:buNone/>
            </a:pPr>
            <a:r>
              <a:rPr lang="zh-CN" altLang="en-US" sz="2400" dirty="0">
                <a:latin typeface="微软雅黑" panose="020B0503020204020204" pitchFamily="34" charset="-122"/>
                <a:ea typeface="微软雅黑" panose="020B0503020204020204" pitchFamily="34" charset="-122"/>
              </a:rPr>
              <a:t>建立资本留存缓冲和逆周期</a:t>
            </a:r>
            <a:r>
              <a:rPr lang="zh-CN" altLang="en-US" sz="2400" dirty="0" smtClean="0">
                <a:latin typeface="微软雅黑" panose="020B0503020204020204" pitchFamily="34" charset="-122"/>
                <a:ea typeface="微软雅黑" panose="020B0503020204020204" pitchFamily="34" charset="-122"/>
              </a:rPr>
              <a:t>资本</a:t>
            </a:r>
            <a:r>
              <a:rPr lang="zh-CN" altLang="en-US" sz="2400" dirty="0">
                <a:latin typeface="微软雅黑" panose="020B0503020204020204" pitchFamily="34" charset="-122"/>
                <a:ea typeface="微软雅黑" panose="020B0503020204020204" pitchFamily="34" charset="-122"/>
              </a:rPr>
              <a:t>缓冲</a:t>
            </a:r>
            <a:r>
              <a:rPr lang="zh-CN" altLang="en-US" sz="2400" dirty="0" smtClean="0">
                <a:latin typeface="微软雅黑" panose="020B0503020204020204" pitchFamily="34" charset="-122"/>
                <a:ea typeface="微软雅黑" panose="020B0503020204020204" pitchFamily="34" charset="-122"/>
              </a:rPr>
              <a:t>性</a:t>
            </a:r>
            <a:endParaRPr lang="en-US" altLang="zh-CN" sz="2400" dirty="0" smtClean="0">
              <a:latin typeface="微软雅黑" panose="020B0503020204020204" pitchFamily="34" charset="-122"/>
              <a:ea typeface="微软雅黑" panose="020B0503020204020204" pitchFamily="34" charset="-122"/>
            </a:endParaRPr>
          </a:p>
          <a:p>
            <a:pPr marL="685800" lvl="1" indent="-457200">
              <a:lnSpc>
                <a:spcPct val="110000"/>
              </a:lnSpc>
              <a:buFont typeface="+mj-lt"/>
              <a:buAutoNum type="arabicPeriod" startAt="6"/>
            </a:pPr>
            <a:r>
              <a:rPr lang="zh-CN" altLang="en-US" sz="2400" dirty="0">
                <a:latin typeface="微软雅黑" panose="020B0503020204020204" pitchFamily="34" charset="-122"/>
                <a:ea typeface="微软雅黑" panose="020B0503020204020204" pitchFamily="34" charset="-122"/>
              </a:rPr>
              <a:t>横截面维度上强调系统重要性机构风险与相互关联性 </a:t>
            </a:r>
          </a:p>
          <a:p>
            <a:pPr marL="0" indent="457200">
              <a:lnSpc>
                <a:spcPct val="110000"/>
              </a:lnSpc>
              <a:buNone/>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55582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iamond Grid 16x9">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15_4109default" id="{E728D685-11FC-4812-BA85-57AC6F9C9F40}" vid="{BC4E008B-95FF-4815-904E-143A8EDFC1D4}"/>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7087C0F-7449-45C4-B248-63D02665BF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菱形网格演示文稿（宽屏）</Template>
  <TotalTime>0</TotalTime>
  <Words>1833</Words>
  <Application>Microsoft Office PowerPoint</Application>
  <PresentationFormat>全屏显示(4:3)</PresentationFormat>
  <Paragraphs>173</Paragraphs>
  <Slides>21</Slides>
  <Notes>20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Microsoft YaHei UI</vt:lpstr>
      <vt:lpstr>宋体</vt:lpstr>
      <vt:lpstr>微软雅黑</vt:lpstr>
      <vt:lpstr>幼圆</vt:lpstr>
      <vt:lpstr>Arial</vt:lpstr>
      <vt:lpstr>Wingdings</vt:lpstr>
      <vt:lpstr>Diamond Grid 16x9</vt:lpstr>
      <vt:lpstr>国际金融学</vt:lpstr>
      <vt:lpstr>第八章    宏观经济政策的国际协调</vt:lpstr>
      <vt:lpstr> 第一节 宏观经济政策的国际协调</vt:lpstr>
      <vt:lpstr> 第一节 宏观经济政策的国际协调</vt:lpstr>
      <vt:lpstr> 第一节 宏观经济政策的国际协调</vt:lpstr>
      <vt:lpstr> 第一节 宏观经济政策的国际协调</vt:lpstr>
      <vt:lpstr> 第一节 宏观经济政策的国际协调</vt:lpstr>
      <vt:lpstr> 第一节 宏观经济政策的国际协调</vt:lpstr>
      <vt:lpstr> 第一节 宏观经济政策的国际协调</vt:lpstr>
      <vt:lpstr> 第一节 宏观经济政策的国际协调</vt:lpstr>
      <vt:lpstr> 第二节 国际货币制度</vt:lpstr>
      <vt:lpstr> 第三节 国际金融监管协调与合作</vt:lpstr>
      <vt:lpstr> 第三节 国际金融监管协调与合作</vt:lpstr>
      <vt:lpstr> 第三节 国际金融监管协调与合作</vt:lpstr>
      <vt:lpstr> 第三节 国际金融监管协调与合作</vt:lpstr>
      <vt:lpstr> 第三节 国际金融监管协调与合作</vt:lpstr>
      <vt:lpstr> 第三节 国际金融监管协调与合作</vt:lpstr>
      <vt:lpstr> 第三节 国际金融监管协调与合作</vt:lpstr>
      <vt:lpstr> 第三节 国际金融监管协调与合作</vt:lpstr>
      <vt:lpstr> 第三节 国际金融监管协调与合作</vt:lpstr>
      <vt:lpstr> 第三节 国际金融监管协调与合作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2015-03-10T15:06:14Z</dcterms:created>
  <dcterms:modified xsi:type="dcterms:W3CDTF">2022-06-06T05:52:31Z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TC030310159991</vt:lpwstr>
  </property>
</Properties>
</file>