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56"/>
  </p:notesMasterIdLst>
  <p:handoutMasterIdLst>
    <p:handoutMasterId r:id="rId57"/>
  </p:handoutMasterIdLst>
  <p:sldIdLst>
    <p:sldId id="261" r:id="rId3"/>
    <p:sldId id="275" r:id="rId4"/>
    <p:sldId id="271" r:id="rId5"/>
    <p:sldId id="319" r:id="rId6"/>
    <p:sldId id="320" r:id="rId7"/>
    <p:sldId id="321" r:id="rId8"/>
    <p:sldId id="372" r:id="rId9"/>
    <p:sldId id="322" r:id="rId10"/>
    <p:sldId id="324" r:id="rId11"/>
    <p:sldId id="326" r:id="rId12"/>
    <p:sldId id="325" r:id="rId13"/>
    <p:sldId id="327" r:id="rId14"/>
    <p:sldId id="367" r:id="rId15"/>
    <p:sldId id="328" r:id="rId16"/>
    <p:sldId id="365" r:id="rId17"/>
    <p:sldId id="369" r:id="rId18"/>
    <p:sldId id="370" r:id="rId19"/>
    <p:sldId id="329" r:id="rId20"/>
    <p:sldId id="330" r:id="rId21"/>
    <p:sldId id="331" r:id="rId22"/>
    <p:sldId id="333" r:id="rId23"/>
    <p:sldId id="332" r:id="rId24"/>
    <p:sldId id="334" r:id="rId25"/>
    <p:sldId id="335" r:id="rId26"/>
    <p:sldId id="338" r:id="rId27"/>
    <p:sldId id="336" r:id="rId28"/>
    <p:sldId id="339" r:id="rId29"/>
    <p:sldId id="340" r:id="rId30"/>
    <p:sldId id="341" r:id="rId31"/>
    <p:sldId id="342" r:id="rId32"/>
    <p:sldId id="343" r:id="rId33"/>
    <p:sldId id="345" r:id="rId34"/>
    <p:sldId id="346" r:id="rId35"/>
    <p:sldId id="347" r:id="rId36"/>
    <p:sldId id="348" r:id="rId37"/>
    <p:sldId id="368" r:id="rId38"/>
    <p:sldId id="373" r:id="rId39"/>
    <p:sldId id="349" r:id="rId40"/>
    <p:sldId id="350" r:id="rId41"/>
    <p:sldId id="351" r:id="rId42"/>
    <p:sldId id="352" r:id="rId43"/>
    <p:sldId id="353" r:id="rId44"/>
    <p:sldId id="354" r:id="rId45"/>
    <p:sldId id="355" r:id="rId46"/>
    <p:sldId id="356" r:id="rId47"/>
    <p:sldId id="357" r:id="rId48"/>
    <p:sldId id="358" r:id="rId49"/>
    <p:sldId id="359" r:id="rId50"/>
    <p:sldId id="360" r:id="rId51"/>
    <p:sldId id="361" r:id="rId52"/>
    <p:sldId id="363" r:id="rId53"/>
    <p:sldId id="362" r:id="rId54"/>
    <p:sldId id="364"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FF5050"/>
    <a:srgbClr val="A50021"/>
    <a:srgbClr val="FF3399"/>
    <a:srgbClr val="CC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98" d="100"/>
          <a:sy n="98" d="100"/>
        </p:scale>
        <p:origin x="-872" y="-6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9/24/2019</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9/24/2019</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r>
              <a:rPr lang="zh-CN" altLang="en-US" dirty="0" smtClean="0"/>
              <a:t>更新于</a:t>
            </a:r>
            <a:r>
              <a:rPr lang="en-US" altLang="zh-CN" dirty="0" smtClean="0"/>
              <a:t>2015</a:t>
            </a:r>
            <a:r>
              <a:rPr lang="zh-CN" altLang="en-US" dirty="0" smtClean="0"/>
              <a:t>年</a:t>
            </a:r>
            <a:r>
              <a:rPr lang="en-US" altLang="zh-CN" dirty="0" smtClean="0"/>
              <a:t>3</a:t>
            </a:r>
            <a:r>
              <a:rPr lang="zh-CN" altLang="en-US" dirty="0" smtClean="0"/>
              <a:t>月</a:t>
            </a:r>
            <a:r>
              <a:rPr lang="en-US" altLang="zh-CN" dirty="0" smtClean="0"/>
              <a:t>11</a:t>
            </a:r>
            <a:r>
              <a:rPr lang="zh-CN" altLang="en-US" dirty="0" smtClean="0"/>
              <a:t>日</a:t>
            </a:r>
            <a:r>
              <a:rPr lang="zh-CN" altLang="en-US" baseline="0" dirty="0" smtClean="0"/>
              <a:t> </a:t>
            </a:r>
            <a:r>
              <a:rPr lang="en-US" altLang="zh-CN" baseline="0" dirty="0" err="1" smtClean="0"/>
              <a:t>cmw</a:t>
            </a:r>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a:t>
            </a:fld>
            <a:endParaRPr lang="en-US" altLang="zh-CN" dirty="0"/>
          </a:p>
        </p:txBody>
      </p:sp>
    </p:spTree>
    <p:extLst>
      <p:ext uri="{BB962C8B-B14F-4D97-AF65-F5344CB8AC3E}">
        <p14:creationId xmlns:p14="http://schemas.microsoft.com/office/powerpoint/2010/main" val="40534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a:t>
            </a:fld>
            <a:endParaRPr lang="en-US" altLang="zh-CN" dirty="0"/>
          </a:p>
        </p:txBody>
      </p:sp>
    </p:spTree>
    <p:extLst>
      <p:ext uri="{BB962C8B-B14F-4D97-AF65-F5344CB8AC3E}">
        <p14:creationId xmlns:p14="http://schemas.microsoft.com/office/powerpoint/2010/main" val="533526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a:t>
            </a:fld>
            <a:endParaRPr lang="en-US" altLang="zh-CN" dirty="0"/>
          </a:p>
        </p:txBody>
      </p:sp>
    </p:spTree>
    <p:extLst>
      <p:ext uri="{BB962C8B-B14F-4D97-AF65-F5344CB8AC3E}">
        <p14:creationId xmlns:p14="http://schemas.microsoft.com/office/powerpoint/2010/main" val="3298208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5</a:t>
            </a:fld>
            <a:endParaRPr lang="en-US" altLang="zh-CN" dirty="0"/>
          </a:p>
        </p:txBody>
      </p:sp>
    </p:spTree>
    <p:extLst>
      <p:ext uri="{BB962C8B-B14F-4D97-AF65-F5344CB8AC3E}">
        <p14:creationId xmlns:p14="http://schemas.microsoft.com/office/powerpoint/2010/main" val="3550748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6</a:t>
            </a:fld>
            <a:endParaRPr lang="en-US" altLang="zh-CN" dirty="0"/>
          </a:p>
        </p:txBody>
      </p:sp>
    </p:spTree>
    <p:extLst>
      <p:ext uri="{BB962C8B-B14F-4D97-AF65-F5344CB8AC3E}">
        <p14:creationId xmlns:p14="http://schemas.microsoft.com/office/powerpoint/2010/main" val="3660813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7</a:t>
            </a:fld>
            <a:endParaRPr lang="en-US" altLang="zh-CN" dirty="0"/>
          </a:p>
        </p:txBody>
      </p:sp>
    </p:spTree>
    <p:extLst>
      <p:ext uri="{BB962C8B-B14F-4D97-AF65-F5344CB8AC3E}">
        <p14:creationId xmlns:p14="http://schemas.microsoft.com/office/powerpoint/2010/main" val="3298208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8</a:t>
            </a:fld>
            <a:endParaRPr lang="en-US" altLang="zh-CN" dirty="0"/>
          </a:p>
        </p:txBody>
      </p:sp>
    </p:spTree>
    <p:extLst>
      <p:ext uri="{BB962C8B-B14F-4D97-AF65-F5344CB8AC3E}">
        <p14:creationId xmlns:p14="http://schemas.microsoft.com/office/powerpoint/2010/main" val="1174888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9</a:t>
            </a:fld>
            <a:endParaRPr lang="en-US" altLang="zh-CN" dirty="0"/>
          </a:p>
        </p:txBody>
      </p:sp>
    </p:spTree>
    <p:extLst>
      <p:ext uri="{BB962C8B-B14F-4D97-AF65-F5344CB8AC3E}">
        <p14:creationId xmlns:p14="http://schemas.microsoft.com/office/powerpoint/2010/main" val="54494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10</a:t>
            </a:fld>
            <a:endParaRPr lang="en-US" altLang="zh-CN" dirty="0"/>
          </a:p>
        </p:txBody>
      </p:sp>
    </p:spTree>
    <p:extLst>
      <p:ext uri="{BB962C8B-B14F-4D97-AF65-F5344CB8AC3E}">
        <p14:creationId xmlns:p14="http://schemas.microsoft.com/office/powerpoint/2010/main" val="113740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11</a:t>
            </a:fld>
            <a:endParaRPr lang="en-US" altLang="zh-CN" dirty="0"/>
          </a:p>
        </p:txBody>
      </p:sp>
    </p:spTree>
    <p:extLst>
      <p:ext uri="{BB962C8B-B14F-4D97-AF65-F5344CB8AC3E}">
        <p14:creationId xmlns:p14="http://schemas.microsoft.com/office/powerpoint/2010/main" val="1156454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12</a:t>
            </a:fld>
            <a:endParaRPr lang="en-US" altLang="zh-CN" dirty="0"/>
          </a:p>
        </p:txBody>
      </p:sp>
    </p:spTree>
    <p:extLst>
      <p:ext uri="{BB962C8B-B14F-4D97-AF65-F5344CB8AC3E}">
        <p14:creationId xmlns:p14="http://schemas.microsoft.com/office/powerpoint/2010/main" val="3226845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14</a:t>
            </a:fld>
            <a:endParaRPr lang="en-US" altLang="zh-CN" dirty="0"/>
          </a:p>
        </p:txBody>
      </p:sp>
    </p:spTree>
    <p:extLst>
      <p:ext uri="{BB962C8B-B14F-4D97-AF65-F5344CB8AC3E}">
        <p14:creationId xmlns:p14="http://schemas.microsoft.com/office/powerpoint/2010/main" val="1451704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15</a:t>
            </a:fld>
            <a:endParaRPr lang="en-US" altLang="zh-CN" dirty="0"/>
          </a:p>
        </p:txBody>
      </p:sp>
    </p:spTree>
    <p:extLst>
      <p:ext uri="{BB962C8B-B14F-4D97-AF65-F5344CB8AC3E}">
        <p14:creationId xmlns:p14="http://schemas.microsoft.com/office/powerpoint/2010/main" val="1371005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17</a:t>
            </a:fld>
            <a:endParaRPr lang="en-US" altLang="zh-CN" dirty="0"/>
          </a:p>
        </p:txBody>
      </p:sp>
    </p:spTree>
    <p:extLst>
      <p:ext uri="{BB962C8B-B14F-4D97-AF65-F5344CB8AC3E}">
        <p14:creationId xmlns:p14="http://schemas.microsoft.com/office/powerpoint/2010/main" val="1371005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18</a:t>
            </a:fld>
            <a:endParaRPr lang="en-US" altLang="zh-CN" dirty="0"/>
          </a:p>
        </p:txBody>
      </p:sp>
    </p:spTree>
    <p:extLst>
      <p:ext uri="{BB962C8B-B14F-4D97-AF65-F5344CB8AC3E}">
        <p14:creationId xmlns:p14="http://schemas.microsoft.com/office/powerpoint/2010/main" val="3812669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19</a:t>
            </a:fld>
            <a:endParaRPr lang="en-US" altLang="zh-CN" dirty="0"/>
          </a:p>
        </p:txBody>
      </p:sp>
    </p:spTree>
    <p:extLst>
      <p:ext uri="{BB962C8B-B14F-4D97-AF65-F5344CB8AC3E}">
        <p14:creationId xmlns:p14="http://schemas.microsoft.com/office/powerpoint/2010/main" val="2894876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20</a:t>
            </a:fld>
            <a:endParaRPr lang="en-US" altLang="zh-CN" dirty="0"/>
          </a:p>
        </p:txBody>
      </p:sp>
    </p:spTree>
    <p:extLst>
      <p:ext uri="{BB962C8B-B14F-4D97-AF65-F5344CB8AC3E}">
        <p14:creationId xmlns:p14="http://schemas.microsoft.com/office/powerpoint/2010/main" val="1508896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21</a:t>
            </a:fld>
            <a:endParaRPr lang="en-US" altLang="zh-CN" dirty="0"/>
          </a:p>
        </p:txBody>
      </p:sp>
    </p:spTree>
    <p:extLst>
      <p:ext uri="{BB962C8B-B14F-4D97-AF65-F5344CB8AC3E}">
        <p14:creationId xmlns:p14="http://schemas.microsoft.com/office/powerpoint/2010/main" val="3351030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22</a:t>
            </a:fld>
            <a:endParaRPr lang="en-US" altLang="zh-CN" dirty="0"/>
          </a:p>
        </p:txBody>
      </p:sp>
    </p:spTree>
    <p:extLst>
      <p:ext uri="{BB962C8B-B14F-4D97-AF65-F5344CB8AC3E}">
        <p14:creationId xmlns:p14="http://schemas.microsoft.com/office/powerpoint/2010/main" val="2504562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23</a:t>
            </a:fld>
            <a:endParaRPr lang="en-US" altLang="zh-CN" dirty="0"/>
          </a:p>
        </p:txBody>
      </p:sp>
    </p:spTree>
    <p:extLst>
      <p:ext uri="{BB962C8B-B14F-4D97-AF65-F5344CB8AC3E}">
        <p14:creationId xmlns:p14="http://schemas.microsoft.com/office/powerpoint/2010/main" val="3366870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24</a:t>
            </a:fld>
            <a:endParaRPr lang="en-US" altLang="zh-CN" dirty="0"/>
          </a:p>
        </p:txBody>
      </p:sp>
    </p:spTree>
    <p:extLst>
      <p:ext uri="{BB962C8B-B14F-4D97-AF65-F5344CB8AC3E}">
        <p14:creationId xmlns:p14="http://schemas.microsoft.com/office/powerpoint/2010/main" val="1284564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25</a:t>
            </a:fld>
            <a:endParaRPr lang="en-US" altLang="zh-CN" dirty="0"/>
          </a:p>
        </p:txBody>
      </p:sp>
    </p:spTree>
    <p:extLst>
      <p:ext uri="{BB962C8B-B14F-4D97-AF65-F5344CB8AC3E}">
        <p14:creationId xmlns:p14="http://schemas.microsoft.com/office/powerpoint/2010/main" val="2768603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26</a:t>
            </a:fld>
            <a:endParaRPr lang="en-US" altLang="zh-CN" dirty="0"/>
          </a:p>
        </p:txBody>
      </p:sp>
    </p:spTree>
    <p:extLst>
      <p:ext uri="{BB962C8B-B14F-4D97-AF65-F5344CB8AC3E}">
        <p14:creationId xmlns:p14="http://schemas.microsoft.com/office/powerpoint/2010/main" val="2136009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27</a:t>
            </a:fld>
            <a:endParaRPr lang="en-US" altLang="zh-CN" dirty="0"/>
          </a:p>
        </p:txBody>
      </p:sp>
    </p:spTree>
    <p:extLst>
      <p:ext uri="{BB962C8B-B14F-4D97-AF65-F5344CB8AC3E}">
        <p14:creationId xmlns:p14="http://schemas.microsoft.com/office/powerpoint/2010/main" val="12297459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28</a:t>
            </a:fld>
            <a:endParaRPr lang="en-US" altLang="zh-CN" dirty="0"/>
          </a:p>
        </p:txBody>
      </p:sp>
    </p:spTree>
    <p:extLst>
      <p:ext uri="{BB962C8B-B14F-4D97-AF65-F5344CB8AC3E}">
        <p14:creationId xmlns:p14="http://schemas.microsoft.com/office/powerpoint/2010/main" val="3132372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29</a:t>
            </a:fld>
            <a:endParaRPr lang="en-US" altLang="zh-CN" dirty="0"/>
          </a:p>
        </p:txBody>
      </p:sp>
    </p:spTree>
    <p:extLst>
      <p:ext uri="{BB962C8B-B14F-4D97-AF65-F5344CB8AC3E}">
        <p14:creationId xmlns:p14="http://schemas.microsoft.com/office/powerpoint/2010/main" val="22929254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30</a:t>
            </a:fld>
            <a:endParaRPr lang="en-US" altLang="zh-CN" dirty="0"/>
          </a:p>
        </p:txBody>
      </p:sp>
    </p:spTree>
    <p:extLst>
      <p:ext uri="{BB962C8B-B14F-4D97-AF65-F5344CB8AC3E}">
        <p14:creationId xmlns:p14="http://schemas.microsoft.com/office/powerpoint/2010/main" val="1299767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31</a:t>
            </a:fld>
            <a:endParaRPr lang="en-US" altLang="zh-CN" dirty="0"/>
          </a:p>
        </p:txBody>
      </p:sp>
    </p:spTree>
    <p:extLst>
      <p:ext uri="{BB962C8B-B14F-4D97-AF65-F5344CB8AC3E}">
        <p14:creationId xmlns:p14="http://schemas.microsoft.com/office/powerpoint/2010/main" val="33932964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32</a:t>
            </a:fld>
            <a:endParaRPr lang="en-US" altLang="zh-CN" dirty="0"/>
          </a:p>
        </p:txBody>
      </p:sp>
    </p:spTree>
    <p:extLst>
      <p:ext uri="{BB962C8B-B14F-4D97-AF65-F5344CB8AC3E}">
        <p14:creationId xmlns:p14="http://schemas.microsoft.com/office/powerpoint/2010/main" val="3641755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33</a:t>
            </a:fld>
            <a:endParaRPr lang="en-US" altLang="zh-CN" dirty="0"/>
          </a:p>
        </p:txBody>
      </p:sp>
    </p:spTree>
    <p:extLst>
      <p:ext uri="{BB962C8B-B14F-4D97-AF65-F5344CB8AC3E}">
        <p14:creationId xmlns:p14="http://schemas.microsoft.com/office/powerpoint/2010/main" val="13242522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34</a:t>
            </a:fld>
            <a:endParaRPr lang="en-US" altLang="zh-CN" dirty="0"/>
          </a:p>
        </p:txBody>
      </p:sp>
    </p:spTree>
    <p:extLst>
      <p:ext uri="{BB962C8B-B14F-4D97-AF65-F5344CB8AC3E}">
        <p14:creationId xmlns:p14="http://schemas.microsoft.com/office/powerpoint/2010/main" val="8479594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35</a:t>
            </a:fld>
            <a:endParaRPr lang="en-US" altLang="zh-CN" dirty="0"/>
          </a:p>
        </p:txBody>
      </p:sp>
    </p:spTree>
    <p:extLst>
      <p:ext uri="{BB962C8B-B14F-4D97-AF65-F5344CB8AC3E}">
        <p14:creationId xmlns:p14="http://schemas.microsoft.com/office/powerpoint/2010/main" val="10519770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38</a:t>
            </a:fld>
            <a:endParaRPr lang="en-US" altLang="zh-CN" dirty="0"/>
          </a:p>
        </p:txBody>
      </p:sp>
    </p:spTree>
    <p:extLst>
      <p:ext uri="{BB962C8B-B14F-4D97-AF65-F5344CB8AC3E}">
        <p14:creationId xmlns:p14="http://schemas.microsoft.com/office/powerpoint/2010/main" val="31815586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39</a:t>
            </a:fld>
            <a:endParaRPr lang="en-US" altLang="zh-CN" dirty="0"/>
          </a:p>
        </p:txBody>
      </p:sp>
    </p:spTree>
    <p:extLst>
      <p:ext uri="{BB962C8B-B14F-4D97-AF65-F5344CB8AC3E}">
        <p14:creationId xmlns:p14="http://schemas.microsoft.com/office/powerpoint/2010/main" val="36777009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40</a:t>
            </a:fld>
            <a:endParaRPr lang="en-US" altLang="zh-CN" dirty="0"/>
          </a:p>
        </p:txBody>
      </p:sp>
    </p:spTree>
    <p:extLst>
      <p:ext uri="{BB962C8B-B14F-4D97-AF65-F5344CB8AC3E}">
        <p14:creationId xmlns:p14="http://schemas.microsoft.com/office/powerpoint/2010/main" val="35655937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41</a:t>
            </a:fld>
            <a:endParaRPr lang="en-US" altLang="zh-CN" dirty="0"/>
          </a:p>
        </p:txBody>
      </p:sp>
    </p:spTree>
    <p:extLst>
      <p:ext uri="{BB962C8B-B14F-4D97-AF65-F5344CB8AC3E}">
        <p14:creationId xmlns:p14="http://schemas.microsoft.com/office/powerpoint/2010/main" val="25373796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42</a:t>
            </a:fld>
            <a:endParaRPr lang="en-US" altLang="zh-CN" dirty="0"/>
          </a:p>
        </p:txBody>
      </p:sp>
    </p:spTree>
    <p:extLst>
      <p:ext uri="{BB962C8B-B14F-4D97-AF65-F5344CB8AC3E}">
        <p14:creationId xmlns:p14="http://schemas.microsoft.com/office/powerpoint/2010/main" val="24231697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43</a:t>
            </a:fld>
            <a:endParaRPr lang="en-US" altLang="zh-CN" dirty="0"/>
          </a:p>
        </p:txBody>
      </p:sp>
    </p:spTree>
    <p:extLst>
      <p:ext uri="{BB962C8B-B14F-4D97-AF65-F5344CB8AC3E}">
        <p14:creationId xmlns:p14="http://schemas.microsoft.com/office/powerpoint/2010/main" val="4683849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44</a:t>
            </a:fld>
            <a:endParaRPr lang="en-US" altLang="zh-CN" dirty="0"/>
          </a:p>
        </p:txBody>
      </p:sp>
    </p:spTree>
    <p:extLst>
      <p:ext uri="{BB962C8B-B14F-4D97-AF65-F5344CB8AC3E}">
        <p14:creationId xmlns:p14="http://schemas.microsoft.com/office/powerpoint/2010/main" val="31052293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45</a:t>
            </a:fld>
            <a:endParaRPr lang="en-US" altLang="zh-CN" dirty="0"/>
          </a:p>
        </p:txBody>
      </p:sp>
    </p:spTree>
    <p:extLst>
      <p:ext uri="{BB962C8B-B14F-4D97-AF65-F5344CB8AC3E}">
        <p14:creationId xmlns:p14="http://schemas.microsoft.com/office/powerpoint/2010/main" val="6813023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46</a:t>
            </a:fld>
            <a:endParaRPr lang="en-US" altLang="zh-CN" dirty="0"/>
          </a:p>
        </p:txBody>
      </p:sp>
    </p:spTree>
    <p:extLst>
      <p:ext uri="{BB962C8B-B14F-4D97-AF65-F5344CB8AC3E}">
        <p14:creationId xmlns:p14="http://schemas.microsoft.com/office/powerpoint/2010/main" val="7957149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47</a:t>
            </a:fld>
            <a:endParaRPr lang="en-US" altLang="zh-CN" dirty="0"/>
          </a:p>
        </p:txBody>
      </p:sp>
    </p:spTree>
    <p:extLst>
      <p:ext uri="{BB962C8B-B14F-4D97-AF65-F5344CB8AC3E}">
        <p14:creationId xmlns:p14="http://schemas.microsoft.com/office/powerpoint/2010/main" val="40558945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48</a:t>
            </a:fld>
            <a:endParaRPr lang="en-US" altLang="zh-CN" dirty="0"/>
          </a:p>
        </p:txBody>
      </p:sp>
    </p:spTree>
    <p:extLst>
      <p:ext uri="{BB962C8B-B14F-4D97-AF65-F5344CB8AC3E}">
        <p14:creationId xmlns:p14="http://schemas.microsoft.com/office/powerpoint/2010/main" val="37333844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49</a:t>
            </a:fld>
            <a:endParaRPr lang="en-US" altLang="zh-CN" dirty="0"/>
          </a:p>
        </p:txBody>
      </p:sp>
    </p:spTree>
    <p:extLst>
      <p:ext uri="{BB962C8B-B14F-4D97-AF65-F5344CB8AC3E}">
        <p14:creationId xmlns:p14="http://schemas.microsoft.com/office/powerpoint/2010/main" val="41363607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50</a:t>
            </a:fld>
            <a:endParaRPr lang="en-US" altLang="zh-CN" dirty="0"/>
          </a:p>
        </p:txBody>
      </p:sp>
    </p:spTree>
    <p:extLst>
      <p:ext uri="{BB962C8B-B14F-4D97-AF65-F5344CB8AC3E}">
        <p14:creationId xmlns:p14="http://schemas.microsoft.com/office/powerpoint/2010/main" val="8857031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51</a:t>
            </a:fld>
            <a:endParaRPr lang="en-US" altLang="zh-CN" dirty="0"/>
          </a:p>
        </p:txBody>
      </p:sp>
    </p:spTree>
    <p:extLst>
      <p:ext uri="{BB962C8B-B14F-4D97-AF65-F5344CB8AC3E}">
        <p14:creationId xmlns:p14="http://schemas.microsoft.com/office/powerpoint/2010/main" val="34118072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52</a:t>
            </a:fld>
            <a:endParaRPr lang="en-US" altLang="zh-CN" dirty="0"/>
          </a:p>
        </p:txBody>
      </p:sp>
    </p:spTree>
    <p:extLst>
      <p:ext uri="{BB962C8B-B14F-4D97-AF65-F5344CB8AC3E}">
        <p14:creationId xmlns:p14="http://schemas.microsoft.com/office/powerpoint/2010/main" val="24936181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53</a:t>
            </a:fld>
            <a:endParaRPr lang="en-US" altLang="zh-CN" dirty="0"/>
          </a:p>
        </p:txBody>
      </p:sp>
    </p:spTree>
    <p:extLst>
      <p:ext uri="{BB962C8B-B14F-4D97-AF65-F5344CB8AC3E}">
        <p14:creationId xmlns:p14="http://schemas.microsoft.com/office/powerpoint/2010/main" val="4056496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smtClean="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2019-09-24</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smtClean="0"/>
              <a:t>国际金融学 范小云</a:t>
            </a:r>
            <a:endParaRPr lang="zh-CN" altLang="en-US" dirty="0"/>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2019-09-24</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2019-09-24</a:t>
            </a:fld>
            <a:endParaRPr lang="zh-CN"/>
          </a:p>
        </p:txBody>
      </p:sp>
      <p:sp>
        <p:nvSpPr>
          <p:cNvPr id="8" name="页脚占位符 7"/>
          <p:cNvSpPr>
            <a:spLocks noGrp="1"/>
          </p:cNvSpPr>
          <p:nvPr>
            <p:ph type="ftr" sz="quarter" idx="11"/>
          </p:nvPr>
        </p:nvSpPr>
        <p:spPr/>
        <p:txBody>
          <a:bodyPr/>
          <a:lstStyle/>
          <a:p>
            <a:r>
              <a:rPr lang="zh-CN" altLang="en-US" smtClean="0"/>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2019-09-24</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smtClean="0">
                <a:solidFill>
                  <a:srgbClr val="1CADE4"/>
                </a:solidFill>
                <a:latin typeface="微软雅黑" panose="020B0503020204020204" pitchFamily="34" charset="-122"/>
                <a:ea typeface="微软雅黑" panose="020B0503020204020204" pitchFamily="34" charset="-122"/>
              </a:rPr>
              <a:t>国际金融学 范小云</a:t>
            </a:r>
            <a:endParaRPr lang="zh-CN" altLang="en-US" sz="1600" dirty="0">
              <a:solidFill>
                <a:srgbClr val="1CADE4"/>
              </a:solidFill>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2019-09-24</a:t>
            </a:fld>
            <a:endParaRPr lang="zh-CN"/>
          </a:p>
        </p:txBody>
      </p:sp>
      <p:sp>
        <p:nvSpPr>
          <p:cNvPr id="213" name="页脚占位符 212"/>
          <p:cNvSpPr>
            <a:spLocks noGrp="1"/>
          </p:cNvSpPr>
          <p:nvPr>
            <p:ph type="ftr" sz="quarter" idx="11"/>
          </p:nvPr>
        </p:nvSpPr>
        <p:spPr/>
        <p:txBody>
          <a:bodyPr/>
          <a:lstStyle/>
          <a:p>
            <a:r>
              <a:rPr lang="zh-CN" altLang="en-US" smtClean="0"/>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2019-09-24</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2019-09-24</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2019-09-24</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2019-09-24</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smtClean="0"/>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userDrawn="1"/>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国际金融学</a:t>
            </a:r>
            <a:endParaRPr lang="zh-CN" dirty="0"/>
          </a:p>
        </p:txBody>
      </p:sp>
      <p:sp>
        <p:nvSpPr>
          <p:cNvPr id="3" name="副标题 2"/>
          <p:cNvSpPr>
            <a:spLocks noGrp="1"/>
          </p:cNvSpPr>
          <p:nvPr>
            <p:ph type="subTitle" idx="1"/>
          </p:nvPr>
        </p:nvSpPr>
        <p:spPr/>
        <p:txBody>
          <a:bodyPr>
            <a:normAutofit/>
          </a:bodyPr>
          <a:lstStyle/>
          <a:p>
            <a:r>
              <a:rPr lang="zh-CN" altLang="en-US" sz="1800" dirty="0"/>
              <a:t>主讲人 范小云  </a:t>
            </a:r>
            <a:r>
              <a:rPr lang="en-US" altLang="zh-CN" sz="1800" dirty="0" smtClean="0"/>
              <a:t>  </a:t>
            </a:r>
            <a:r>
              <a:rPr lang="en-US" altLang="zh-CN" sz="1800" dirty="0"/>
              <a:t>Tel.: </a:t>
            </a:r>
            <a:r>
              <a:rPr lang="en-US" altLang="zh-CN" sz="1800" dirty="0" smtClean="0"/>
              <a:t>13032213932</a:t>
            </a:r>
            <a:endParaRPr lang="en-US" altLang="zh-CN" sz="1800"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1817649"/>
          </a:xfrm>
        </p:spPr>
        <p:txBody>
          <a:bodyPr>
            <a:noAutofit/>
          </a:bodyPr>
          <a:lstStyle/>
          <a:p>
            <a:pPr algn="ctr">
              <a:lnSpc>
                <a:spcPct val="100000"/>
              </a:lnSpc>
            </a:pPr>
            <a:r>
              <a:rPr lang="zh-CN" altLang="en-US" sz="4000" dirty="0">
                <a:latin typeface="微软雅黑" panose="020B0503020204020204" pitchFamily="34" charset="-122"/>
                <a:ea typeface="微软雅黑" panose="020B0503020204020204" pitchFamily="34" charset="-122"/>
              </a:rPr>
              <a:t>	 第二章		</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外汇与汇率</a:t>
            </a: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a:xfrm>
            <a:off x="971550" y="1447800"/>
            <a:ext cx="7403016" cy="4559300"/>
          </a:xfrm>
        </p:spPr>
        <p:txBody>
          <a:bodyPr>
            <a:normAutofit/>
          </a:bodyPr>
          <a:lstStyle/>
          <a:p>
            <a:pPr>
              <a:lnSpc>
                <a:spcPct val="110000"/>
              </a:lnSpc>
              <a:buNone/>
            </a:pPr>
            <a:r>
              <a:rPr lang="zh-CN" altLang="en-US" sz="2800" dirty="0">
                <a:latin typeface="微软雅黑" panose="020B0503020204020204" pitchFamily="34" charset="-122"/>
                <a:ea typeface="微软雅黑" panose="020B0503020204020204" pitchFamily="34" charset="-122"/>
              </a:rPr>
              <a:t>一、外汇市场的含义</a:t>
            </a:r>
          </a:p>
          <a:p>
            <a:pPr>
              <a:lnSpc>
                <a:spcPct val="110000"/>
              </a:lnSpc>
              <a:buNone/>
            </a:pPr>
            <a:r>
              <a:rPr lang="zh-CN" altLang="en-US" dirty="0" smtClean="0">
                <a:latin typeface="微软雅黑" panose="020B0503020204020204" pitchFamily="34" charset="-122"/>
                <a:ea typeface="微软雅黑" panose="020B0503020204020204" pitchFamily="34" charset="-122"/>
              </a:rPr>
              <a:t>      外汇市场</a:t>
            </a:r>
            <a:r>
              <a:rPr lang="zh-CN" altLang="en-US" dirty="0">
                <a:latin typeface="微软雅黑" panose="020B0503020204020204" pitchFamily="34" charset="-122"/>
                <a:ea typeface="微软雅黑" panose="020B0503020204020204" pitchFamily="34" charset="-122"/>
              </a:rPr>
              <a:t>是从事外汇买卖或兑换的场所，或是各种不同货币彼此进行交换的场所。</a:t>
            </a:r>
          </a:p>
          <a:p>
            <a:pPr>
              <a:lnSpc>
                <a:spcPct val="110000"/>
              </a:lnSpc>
              <a:buNone/>
            </a:pPr>
            <a:r>
              <a:rPr lang="zh-CN" altLang="en-US" dirty="0" smtClean="0">
                <a:latin typeface="微软雅黑" panose="020B0503020204020204" pitchFamily="34" charset="-122"/>
                <a:ea typeface="微软雅黑" panose="020B0503020204020204" pitchFamily="34" charset="-122"/>
              </a:rPr>
              <a:t>       主要</a:t>
            </a:r>
            <a:r>
              <a:rPr lang="zh-CN" altLang="en-US" dirty="0">
                <a:latin typeface="微软雅黑" panose="020B0503020204020204" pitchFamily="34" charset="-122"/>
                <a:ea typeface="微软雅黑" panose="020B0503020204020204" pitchFamily="34" charset="-122"/>
              </a:rPr>
              <a:t>有两类外汇买卖：</a:t>
            </a:r>
          </a:p>
          <a:p>
            <a:pPr lvl="2">
              <a:lnSpc>
                <a:spcPct val="110000"/>
              </a:lnSpc>
              <a:buFont typeface="Wingdings" pitchFamily="2" charset="2"/>
              <a:buChar char="u"/>
            </a:pPr>
            <a:r>
              <a:rPr lang="zh-CN" altLang="en-US" sz="2000" dirty="0" smtClean="0">
                <a:latin typeface="微软雅黑" panose="020B0503020204020204" pitchFamily="34" charset="-122"/>
                <a:ea typeface="微软雅黑" panose="020B0503020204020204" pitchFamily="34" charset="-122"/>
              </a:rPr>
              <a:t>   本币</a:t>
            </a:r>
            <a:r>
              <a:rPr lang="zh-CN" altLang="en-US" sz="2000" dirty="0">
                <a:latin typeface="微软雅黑" panose="020B0503020204020204" pitchFamily="34" charset="-122"/>
                <a:ea typeface="微软雅黑" panose="020B0503020204020204" pitchFamily="34" charset="-122"/>
              </a:rPr>
              <a:t>与外币之间的买卖（国内外汇市场）</a:t>
            </a:r>
          </a:p>
          <a:p>
            <a:pPr lvl="2">
              <a:lnSpc>
                <a:spcPct val="110000"/>
              </a:lnSpc>
              <a:buFont typeface="Wingdings" pitchFamily="2" charset="2"/>
              <a:buChar char="u"/>
            </a:pPr>
            <a:r>
              <a:rPr lang="zh-CN" altLang="en-US" sz="2000" dirty="0" smtClean="0">
                <a:latin typeface="微软雅黑" panose="020B0503020204020204" pitchFamily="34" charset="-122"/>
                <a:ea typeface="微软雅黑" panose="020B0503020204020204" pitchFamily="34" charset="-122"/>
              </a:rPr>
              <a:t>   外币</a:t>
            </a:r>
            <a:r>
              <a:rPr lang="zh-CN" altLang="en-US" sz="2000" dirty="0">
                <a:latin typeface="微软雅黑" panose="020B0503020204020204" pitchFamily="34" charset="-122"/>
                <a:ea typeface="微软雅黑" panose="020B0503020204020204" pitchFamily="34" charset="-122"/>
              </a:rPr>
              <a:t>与外币之间的买卖（国际外汇市场）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59435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fontScale="77500" lnSpcReduction="20000"/>
          </a:bodyPr>
          <a:lstStyle/>
          <a:p>
            <a:pPr marL="0" indent="0">
              <a:lnSpc>
                <a:spcPct val="160000"/>
              </a:lnSpc>
              <a:buNone/>
            </a:pPr>
            <a:r>
              <a:rPr lang="en-US" altLang="zh-CN"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从</a:t>
            </a:r>
            <a:r>
              <a:rPr lang="zh-CN" altLang="en-US" sz="2400" dirty="0">
                <a:latin typeface="微软雅黑" panose="020B0503020204020204" pitchFamily="34" charset="-122"/>
                <a:ea typeface="微软雅黑" panose="020B0503020204020204" pitchFamily="34" charset="-122"/>
              </a:rPr>
              <a:t>交易的币种看，集中化程度很高，</a:t>
            </a:r>
            <a:r>
              <a:rPr lang="zh-CN" altLang="en-US" sz="2400" dirty="0">
                <a:solidFill>
                  <a:schemeClr val="accent1"/>
                </a:solidFill>
                <a:latin typeface="微软雅黑" panose="020B0503020204020204" pitchFamily="34" charset="-122"/>
                <a:ea typeface="微软雅黑" panose="020B0503020204020204" pitchFamily="34" charset="-122"/>
              </a:rPr>
              <a:t>美元、欧元和日元</a:t>
            </a:r>
            <a:r>
              <a:rPr lang="zh-CN" altLang="en-US" sz="2400" dirty="0">
                <a:latin typeface="微软雅黑" panose="020B0503020204020204" pitchFamily="34" charset="-122"/>
                <a:ea typeface="微软雅黑" panose="020B0503020204020204" pitchFamily="34" charset="-122"/>
              </a:rPr>
              <a:t>始终保持中心地位，其中美元占据最大的市场份额。以美元为单边货币的交易额占全部交易额的比重自</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90</a:t>
            </a:r>
            <a:r>
              <a:rPr lang="zh-CN" altLang="en-US" sz="2400" dirty="0">
                <a:latin typeface="微软雅黑" panose="020B0503020204020204" pitchFamily="34" charset="-122"/>
                <a:ea typeface="微软雅黑" panose="020B0503020204020204" pitchFamily="34" charset="-122"/>
              </a:rPr>
              <a:t>年代以来始终超过</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2010</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月，以美元、欧元和日元为单边货币的交易额占全部交易额的比重分别为</a:t>
            </a:r>
            <a:r>
              <a:rPr lang="en-US" altLang="zh-CN" sz="2400" dirty="0">
                <a:latin typeface="微软雅黑" panose="020B0503020204020204" pitchFamily="34" charset="-122"/>
                <a:ea typeface="微软雅黑" panose="020B0503020204020204" pitchFamily="34" charset="-122"/>
              </a:rPr>
              <a:t>84.9%</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39.1%</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19</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a:t>
            </a:r>
            <a:r>
              <a:rPr lang="zh-CN" altLang="en-US" sz="2400" dirty="0" smtClean="0"/>
              <a:t>其后</a:t>
            </a:r>
            <a:r>
              <a:rPr lang="zh-CN" altLang="en-US" sz="2400" dirty="0"/>
              <a:t>依次</a:t>
            </a:r>
            <a:r>
              <a:rPr lang="zh-CN" altLang="en-US" sz="2400" dirty="0" smtClean="0"/>
              <a:t>为英镑</a:t>
            </a:r>
            <a:r>
              <a:rPr lang="zh-CN" altLang="en-US" sz="2400" dirty="0"/>
              <a:t>（</a:t>
            </a:r>
            <a:r>
              <a:rPr lang="en-US" altLang="zh-CN" sz="2400" dirty="0"/>
              <a:t>12.9%</a:t>
            </a:r>
            <a:r>
              <a:rPr lang="zh-CN" altLang="en-US" sz="2400" dirty="0"/>
              <a:t>）、澳元（</a:t>
            </a:r>
            <a:r>
              <a:rPr lang="en-US" altLang="zh-CN" sz="2400" dirty="0"/>
              <a:t>7.6%</a:t>
            </a:r>
            <a:r>
              <a:rPr lang="zh-CN" altLang="en-US" sz="2400" dirty="0"/>
              <a:t>）、瑞士法郎（</a:t>
            </a:r>
            <a:r>
              <a:rPr lang="en-US" altLang="zh-CN" sz="2400" dirty="0"/>
              <a:t>6.4%</a:t>
            </a:r>
            <a:r>
              <a:rPr lang="zh-CN" altLang="en-US" sz="2400" dirty="0" smtClean="0"/>
              <a:t>）</a:t>
            </a:r>
          </a:p>
          <a:p>
            <a:pPr marL="0" indent="0">
              <a:lnSpc>
                <a:spcPct val="160000"/>
              </a:lnSpc>
              <a:buNone/>
            </a:pPr>
            <a:r>
              <a:rPr lang="en-US" altLang="zh-CN" sz="2400" dirty="0" smtClean="0"/>
              <a:t>	</a:t>
            </a:r>
            <a:r>
              <a:rPr lang="zh-CN" altLang="en-US" sz="2400" dirty="0" smtClean="0"/>
              <a:t>按货币对说，主要货币对排名前</a:t>
            </a:r>
            <a:r>
              <a:rPr lang="en-US" altLang="zh-CN" sz="2400" dirty="0" smtClean="0"/>
              <a:t>7</a:t>
            </a:r>
            <a:r>
              <a:rPr lang="zh-CN" altLang="en-US" sz="2400" dirty="0" smtClean="0"/>
              <a:t>的依次为</a:t>
            </a:r>
            <a:r>
              <a:rPr lang="en-US" altLang="zh-CN" sz="2400" dirty="0" smtClean="0"/>
              <a:t>EURUSD</a:t>
            </a:r>
            <a:r>
              <a:rPr lang="zh-CN" altLang="en-US" sz="2400" dirty="0" smtClean="0"/>
              <a:t>、</a:t>
            </a:r>
            <a:r>
              <a:rPr lang="en-US" altLang="zh-CN" sz="2400" dirty="0" smtClean="0"/>
              <a:t>USDJPY</a:t>
            </a:r>
            <a:r>
              <a:rPr lang="zh-CN" altLang="en-US" sz="2400" dirty="0" smtClean="0"/>
              <a:t>、</a:t>
            </a:r>
            <a:r>
              <a:rPr lang="en-US" altLang="zh-CN" sz="2400" dirty="0" smtClean="0"/>
              <a:t>GBPUSD</a:t>
            </a:r>
            <a:r>
              <a:rPr lang="zh-CN" altLang="en-US" sz="2400" dirty="0" smtClean="0"/>
              <a:t>、</a:t>
            </a:r>
            <a:r>
              <a:rPr lang="en-US" altLang="zh-CN" sz="2400" dirty="0" smtClean="0"/>
              <a:t>AUDUSD</a:t>
            </a:r>
            <a:r>
              <a:rPr lang="zh-CN" altLang="en-US" sz="2400" dirty="0" smtClean="0"/>
              <a:t>、</a:t>
            </a:r>
            <a:r>
              <a:rPr lang="en-US" altLang="zh-CN" sz="2400" dirty="0" smtClean="0"/>
              <a:t>NZDUSD</a:t>
            </a:r>
            <a:r>
              <a:rPr lang="zh-CN" altLang="en-US" sz="2400" dirty="0" smtClean="0"/>
              <a:t>、</a:t>
            </a:r>
            <a:r>
              <a:rPr lang="en-US" altLang="zh-CN" sz="2400" dirty="0" smtClean="0"/>
              <a:t>USDCAD</a:t>
            </a:r>
            <a:r>
              <a:rPr lang="zh-CN" altLang="en-US" sz="2400" dirty="0" smtClean="0"/>
              <a:t>、</a:t>
            </a:r>
            <a:r>
              <a:rPr lang="en-US" altLang="zh-CN" sz="2400" dirty="0" smtClean="0"/>
              <a:t>USDCHF</a:t>
            </a:r>
            <a:r>
              <a:rPr lang="zh-CN" altLang="en-US" sz="2400" dirty="0" smtClean="0"/>
              <a:t>，合计占总交易量的</a:t>
            </a:r>
            <a:r>
              <a:rPr lang="en-US" altLang="zh-CN" sz="2400" dirty="0" smtClean="0"/>
              <a:t>85%</a:t>
            </a:r>
            <a:r>
              <a:rPr lang="zh-CN" altLang="en-US" sz="2400" dirty="0" smtClean="0"/>
              <a:t>。交叉货币对排名前五的依次为</a:t>
            </a:r>
            <a:r>
              <a:rPr lang="en-US" altLang="zh-CN" sz="2400" dirty="0" smtClean="0"/>
              <a:t>EURJPY</a:t>
            </a:r>
            <a:r>
              <a:rPr lang="zh-CN" altLang="en-US" sz="2400" dirty="0" smtClean="0"/>
              <a:t>、</a:t>
            </a:r>
            <a:r>
              <a:rPr lang="en-US" altLang="zh-CN" sz="2400" dirty="0" smtClean="0"/>
              <a:t>EURGBP</a:t>
            </a:r>
            <a:r>
              <a:rPr lang="zh-CN" altLang="en-US" sz="2400" dirty="0" smtClean="0"/>
              <a:t>、</a:t>
            </a:r>
            <a:r>
              <a:rPr lang="en-US" altLang="zh-CN" sz="2400" dirty="0" smtClean="0"/>
              <a:t>EURCHF</a:t>
            </a:r>
            <a:r>
              <a:rPr lang="zh-CN" altLang="en-US" sz="2400" dirty="0" smtClean="0"/>
              <a:t>、</a:t>
            </a:r>
            <a:r>
              <a:rPr lang="en-US" altLang="zh-CN" sz="2400" dirty="0" smtClean="0"/>
              <a:t>GBPJPY</a:t>
            </a:r>
            <a:r>
              <a:rPr lang="zh-CN" altLang="en-US" sz="2400" dirty="0" smtClean="0"/>
              <a:t>、</a:t>
            </a:r>
            <a:r>
              <a:rPr lang="en-US" altLang="zh-CN" sz="2400" dirty="0" smtClean="0"/>
              <a:t>GBPCHF</a:t>
            </a:r>
            <a:r>
              <a:rPr lang="zh-CN" altLang="en-US" sz="2400" dirty="0" smtClean="0"/>
              <a:t>。</a:t>
            </a:r>
          </a:p>
          <a:p>
            <a:pPr>
              <a:lnSpc>
                <a:spcPct val="130000"/>
              </a:lnSpc>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64204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a:bodyPr>
          <a:lstStyle/>
          <a:p>
            <a:pPr>
              <a:lnSpc>
                <a:spcPct val="100000"/>
              </a:lnSpc>
              <a:buNone/>
            </a:pPr>
            <a:r>
              <a:rPr lang="zh-CN" altLang="en-US" sz="2800" dirty="0">
                <a:latin typeface="微软雅黑" panose="020B0503020204020204" pitchFamily="34" charset="-122"/>
                <a:ea typeface="微软雅黑" panose="020B0503020204020204" pitchFamily="34" charset="-122"/>
              </a:rPr>
              <a:t>二、外汇市场的组织形态</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有形</a:t>
            </a:r>
            <a:r>
              <a:rPr lang="zh-CN" altLang="en-US" sz="2400" dirty="0">
                <a:latin typeface="微软雅黑" panose="020B0503020204020204" pitchFamily="34" charset="-122"/>
                <a:ea typeface="微软雅黑" panose="020B0503020204020204" pitchFamily="34" charset="-122"/>
              </a:rPr>
              <a:t>市场</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外汇交易</a:t>
            </a:r>
            <a:r>
              <a:rPr lang="zh-CN" altLang="en-US" sz="2400" dirty="0">
                <a:latin typeface="微软雅黑" panose="020B0503020204020204" pitchFamily="34" charset="-122"/>
                <a:ea typeface="微软雅黑" panose="020B0503020204020204" pitchFamily="34" charset="-122"/>
              </a:rPr>
              <a:t>所</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无形市场</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表现</a:t>
            </a:r>
            <a:r>
              <a:rPr lang="zh-CN" altLang="en-US" sz="2400" dirty="0">
                <a:latin typeface="微软雅黑" panose="020B0503020204020204" pitchFamily="34" charset="-122"/>
                <a:ea typeface="微软雅黑" panose="020B0503020204020204" pitchFamily="34" charset="-122"/>
              </a:rPr>
              <a:t>为电话、电报、</a:t>
            </a:r>
            <a:r>
              <a:rPr lang="zh-CN" altLang="en-US" sz="2400" dirty="0" smtClean="0">
                <a:latin typeface="微软雅黑" panose="020B0503020204020204" pitchFamily="34" charset="-122"/>
                <a:ea typeface="微软雅黑" panose="020B0503020204020204" pitchFamily="34" charset="-122"/>
              </a:rPr>
              <a:t>电传和计算</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机</a:t>
            </a:r>
            <a:r>
              <a:rPr lang="zh-CN" altLang="en-US" sz="2400" dirty="0">
                <a:latin typeface="微软雅黑" panose="020B0503020204020204" pitchFamily="34" charset="-122"/>
                <a:ea typeface="微软雅黑" panose="020B0503020204020204" pitchFamily="34" charset="-122"/>
              </a:rPr>
              <a:t>终端等</a:t>
            </a:r>
            <a:r>
              <a:rPr lang="zh-CN" altLang="en-US" sz="2400" dirty="0" smtClean="0">
                <a:latin typeface="微软雅黑" panose="020B0503020204020204" pitchFamily="34" charset="-122"/>
                <a:ea typeface="微软雅黑" panose="020B0503020204020204" pitchFamily="34" charset="-122"/>
              </a:rPr>
              <a:t>各种远程</a:t>
            </a:r>
            <a:r>
              <a:rPr lang="zh-CN" altLang="en-US" sz="2400" dirty="0">
                <a:latin typeface="微软雅黑" panose="020B0503020204020204" pitchFamily="34" charset="-122"/>
                <a:ea typeface="微软雅黑" panose="020B0503020204020204" pitchFamily="34" charset="-122"/>
              </a:rPr>
              <a:t>通讯工具</a:t>
            </a:r>
            <a:r>
              <a:rPr lang="zh-CN" altLang="en-US" sz="2400" dirty="0" smtClean="0">
                <a:latin typeface="微软雅黑" panose="020B0503020204020204" pitchFamily="34" charset="-122"/>
                <a:ea typeface="微软雅黑" panose="020B0503020204020204" pitchFamily="34" charset="-122"/>
              </a:rPr>
              <a:t>构成</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的交易</a:t>
            </a:r>
            <a:r>
              <a:rPr lang="zh-CN" altLang="en-US" sz="2400" dirty="0">
                <a:latin typeface="微软雅黑" panose="020B0503020204020204" pitchFamily="34" charset="-122"/>
                <a:ea typeface="微软雅黑" panose="020B0503020204020204" pitchFamily="34" charset="-122"/>
              </a:rPr>
              <a:t>网络</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目前</a:t>
            </a:r>
            <a:r>
              <a:rPr lang="zh-CN" altLang="en-US" sz="2400" dirty="0">
                <a:latin typeface="微软雅黑" panose="020B0503020204020204" pitchFamily="34" charset="-122"/>
                <a:ea typeface="微软雅黑" panose="020B0503020204020204" pitchFamily="34" charset="-122"/>
              </a:rPr>
              <a:t>的外汇市场是一个全球性的</a:t>
            </a:r>
            <a:r>
              <a:rPr lang="en-US" altLang="zh-CN" sz="2400" dirty="0">
                <a:latin typeface="微软雅黑" panose="020B0503020204020204" pitchFamily="34" charset="-122"/>
                <a:ea typeface="微软雅黑" panose="020B0503020204020204" pitchFamily="34" charset="-122"/>
              </a:rPr>
              <a:t>24</a:t>
            </a:r>
            <a:r>
              <a:rPr lang="zh-CN" altLang="en-US" sz="2400" dirty="0" smtClean="0">
                <a:latin typeface="微软雅黑" panose="020B0503020204020204" pitchFamily="34" charset="-122"/>
                <a:ea typeface="微软雅黑" panose="020B0503020204020204" pitchFamily="34" charset="-122"/>
              </a:rPr>
              <a:t>小时不</a:t>
            </a:r>
            <a:r>
              <a:rPr lang="zh-CN" altLang="en-US" sz="2400" dirty="0">
                <a:latin typeface="微软雅黑" panose="020B0503020204020204" pitchFamily="34" charset="-122"/>
                <a:ea typeface="微软雅黑" panose="020B0503020204020204" pitchFamily="34" charset="-122"/>
              </a:rPr>
              <a:t>间断的外汇交易。</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795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a:xfrm>
            <a:off x="971550" y="1447799"/>
            <a:ext cx="7200900" cy="4707673"/>
          </a:xfrm>
        </p:spPr>
        <p:txBody>
          <a:bodyPr>
            <a:normAutofit/>
          </a:bodyPr>
          <a:lstStyle/>
          <a:p>
            <a:pPr>
              <a:lnSpc>
                <a:spcPct val="120000"/>
              </a:lnSpc>
              <a:spcBef>
                <a:spcPts val="1000"/>
              </a:spcBef>
              <a:buNone/>
            </a:pPr>
            <a:r>
              <a:rPr lang="zh-CN" altLang="en-US" sz="2800" dirty="0">
                <a:latin typeface="微软雅黑" panose="020B0503020204020204" pitchFamily="34" charset="-122"/>
                <a:ea typeface="微软雅黑" panose="020B0503020204020204" pitchFamily="34" charset="-122"/>
              </a:rPr>
              <a:t>二、外汇市场的组织形态</a:t>
            </a:r>
          </a:p>
          <a:p>
            <a:pPr>
              <a:lnSpc>
                <a:spcPct val="120000"/>
              </a:lnSpc>
              <a:spcBef>
                <a:spcPts val="1000"/>
              </a:spcBef>
              <a:buNone/>
            </a:pPr>
            <a:r>
              <a:rPr lang="zh-CN" altLang="en-US" sz="2800" dirty="0" smtClean="0">
                <a:latin typeface="微软雅黑" panose="020B0503020204020204" pitchFamily="34" charset="-122"/>
                <a:ea typeface="微软雅黑" panose="020B0503020204020204" pitchFamily="34" charset="-122"/>
              </a:rPr>
              <a:t>       </a:t>
            </a:r>
            <a:r>
              <a:rPr lang="zh-CN" altLang="en-US" sz="2600" dirty="0" smtClean="0">
                <a:latin typeface="微软雅黑" panose="020B0503020204020204" pitchFamily="34" charset="-122"/>
                <a:ea typeface="微软雅黑" panose="020B0503020204020204" pitchFamily="34" charset="-122"/>
              </a:rPr>
              <a:t>全球</a:t>
            </a:r>
            <a:r>
              <a:rPr lang="zh-CN" altLang="en-US" sz="2600" dirty="0">
                <a:latin typeface="微软雅黑" panose="020B0503020204020204" pitchFamily="34" charset="-122"/>
                <a:ea typeface="微软雅黑" panose="020B0503020204020204" pitchFamily="34" charset="-122"/>
              </a:rPr>
              <a:t>一半以上的外汇交易集中在英、美、日这三大外汇交易中心。伦敦是世界上最大的外汇交易中心，其外汇交易额占全球外汇交易额的比例不断提高，</a:t>
            </a:r>
            <a:r>
              <a:rPr lang="en-US" altLang="zh-CN" sz="2600" dirty="0">
                <a:latin typeface="微软雅黑" panose="020B0503020204020204" pitchFamily="34" charset="-122"/>
                <a:ea typeface="微软雅黑" panose="020B0503020204020204" pitchFamily="34" charset="-122"/>
              </a:rPr>
              <a:t>1995</a:t>
            </a:r>
            <a:r>
              <a:rPr lang="zh-CN" altLang="en-US" sz="2600" dirty="0">
                <a:latin typeface="微软雅黑" panose="020B0503020204020204" pitchFamily="34" charset="-122"/>
                <a:ea typeface="微软雅黑" panose="020B0503020204020204" pitchFamily="34" charset="-122"/>
              </a:rPr>
              <a:t>年为</a:t>
            </a:r>
            <a:r>
              <a:rPr lang="en-US" altLang="zh-CN" sz="2600" dirty="0">
                <a:latin typeface="微软雅黑" panose="020B0503020204020204" pitchFamily="34" charset="-122"/>
                <a:ea typeface="微软雅黑" panose="020B0503020204020204" pitchFamily="34" charset="-122"/>
              </a:rPr>
              <a:t>29.3%</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2001</a:t>
            </a:r>
            <a:r>
              <a:rPr lang="zh-CN" altLang="en-US" sz="2600" dirty="0">
                <a:latin typeface="微软雅黑" panose="020B0503020204020204" pitchFamily="34" charset="-122"/>
                <a:ea typeface="微软雅黑" panose="020B0503020204020204" pitchFamily="34" charset="-122"/>
              </a:rPr>
              <a:t>年增至</a:t>
            </a:r>
            <a:r>
              <a:rPr lang="en-US" altLang="zh-CN" sz="2600" dirty="0">
                <a:latin typeface="微软雅黑" panose="020B0503020204020204" pitchFamily="34" charset="-122"/>
                <a:ea typeface="微软雅黑" panose="020B0503020204020204" pitchFamily="34" charset="-122"/>
              </a:rPr>
              <a:t>32%</a:t>
            </a:r>
            <a:r>
              <a:rPr lang="zh-CN" altLang="en-US" sz="2600" dirty="0">
                <a:latin typeface="微软雅黑" panose="020B0503020204020204" pitchFamily="34" charset="-122"/>
                <a:ea typeface="微软雅黑" panose="020B0503020204020204" pitchFamily="34" charset="-122"/>
              </a:rPr>
              <a:t>，而</a:t>
            </a:r>
            <a:r>
              <a:rPr lang="en-US" altLang="zh-CN" sz="2600" dirty="0">
                <a:latin typeface="微软雅黑" panose="020B0503020204020204" pitchFamily="34" charset="-122"/>
                <a:ea typeface="微软雅黑" panose="020B0503020204020204" pitchFamily="34" charset="-122"/>
              </a:rPr>
              <a:t>2010</a:t>
            </a:r>
            <a:r>
              <a:rPr lang="zh-CN" altLang="en-US" sz="2600" dirty="0">
                <a:latin typeface="微软雅黑" panose="020B0503020204020204" pitchFamily="34" charset="-122"/>
                <a:ea typeface="微软雅黑" panose="020B0503020204020204" pitchFamily="34" charset="-122"/>
              </a:rPr>
              <a:t>年进一步升至</a:t>
            </a:r>
            <a:r>
              <a:rPr lang="en-US" altLang="zh-CN" sz="2600" dirty="0">
                <a:latin typeface="微软雅黑" panose="020B0503020204020204" pitchFamily="34" charset="-122"/>
                <a:ea typeface="微软雅黑" panose="020B0503020204020204" pitchFamily="34" charset="-122"/>
              </a:rPr>
              <a:t>36.7%</a:t>
            </a:r>
            <a:r>
              <a:rPr lang="zh-CN" altLang="en-US" sz="2600" dirty="0">
                <a:latin typeface="微软雅黑" panose="020B0503020204020204" pitchFamily="34" charset="-122"/>
                <a:ea typeface="微软雅黑" panose="020B0503020204020204" pitchFamily="34" charset="-122"/>
              </a:rPr>
              <a:t>，交易额达到</a:t>
            </a:r>
            <a:r>
              <a:rPr lang="en-US" altLang="zh-CN" sz="2600" dirty="0">
                <a:latin typeface="微软雅黑" panose="020B0503020204020204" pitchFamily="34" charset="-122"/>
                <a:ea typeface="微软雅黑" panose="020B0503020204020204" pitchFamily="34" charset="-122"/>
              </a:rPr>
              <a:t>18536</a:t>
            </a:r>
            <a:r>
              <a:rPr lang="zh-CN" altLang="en-US" sz="2600" dirty="0">
                <a:latin typeface="微软雅黑" panose="020B0503020204020204" pitchFamily="34" charset="-122"/>
                <a:ea typeface="微软雅黑" panose="020B0503020204020204" pitchFamily="34" charset="-122"/>
              </a:rPr>
              <a:t>亿美元，是第二大</a:t>
            </a:r>
            <a:r>
              <a:rPr lang="zh-CN" altLang="en-US" sz="2600" dirty="0" smtClean="0">
                <a:latin typeface="微软雅黑" panose="020B0503020204020204" pitchFamily="34" charset="-122"/>
                <a:ea typeface="微软雅黑" panose="020B0503020204020204" pitchFamily="34" charset="-122"/>
              </a:rPr>
              <a:t>外汇市场的</a:t>
            </a:r>
            <a:r>
              <a:rPr lang="zh-CN" altLang="en-US" sz="2600" dirty="0">
                <a:latin typeface="微软雅黑" panose="020B0503020204020204" pitchFamily="34" charset="-122"/>
                <a:ea typeface="微软雅黑" panose="020B0503020204020204" pitchFamily="34" charset="-122"/>
              </a:rPr>
              <a:t>外汇交易额的</a:t>
            </a:r>
            <a:r>
              <a:rPr lang="en-US" altLang="zh-CN" sz="2600" dirty="0">
                <a:latin typeface="微软雅黑" panose="020B0503020204020204" pitchFamily="34" charset="-122"/>
                <a:ea typeface="微软雅黑" panose="020B0503020204020204" pitchFamily="34" charset="-122"/>
              </a:rPr>
              <a:t>2.05</a:t>
            </a:r>
            <a:r>
              <a:rPr lang="zh-CN" altLang="en-US" sz="2600" dirty="0">
                <a:latin typeface="微软雅黑" panose="020B0503020204020204" pitchFamily="34" charset="-122"/>
                <a:ea typeface="微软雅黑" panose="020B0503020204020204" pitchFamily="34" charset="-122"/>
              </a:rPr>
              <a:t>倍</a:t>
            </a:r>
            <a:r>
              <a:rPr lang="zh-CN" altLang="en-US" sz="2600" dirty="0" smtClean="0">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71901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a:bodyPr>
          <a:lstStyle/>
          <a:p>
            <a:pPr>
              <a:lnSpc>
                <a:spcPct val="130000"/>
              </a:lnSpc>
              <a:buNone/>
            </a:pPr>
            <a:r>
              <a:rPr lang="zh-CN" altLang="en-US" sz="2400" dirty="0" smtClean="0">
                <a:latin typeface="微软雅黑" panose="020B0503020204020204" pitchFamily="34" charset="-122"/>
                <a:ea typeface="微软雅黑" panose="020B0503020204020204" pitchFamily="34" charset="-122"/>
              </a:rPr>
              <a:t>这个市场有多大？</a:t>
            </a:r>
            <a:endParaRPr lang="en-US" altLang="zh-CN" sz="2400" dirty="0" smtClean="0">
              <a:latin typeface="微软雅黑" panose="020B0503020204020204" pitchFamily="34" charset="-122"/>
              <a:ea typeface="微软雅黑" panose="020B0503020204020204" pitchFamily="34" charset="-122"/>
            </a:endParaRPr>
          </a:p>
          <a:p>
            <a:pPr>
              <a:lnSpc>
                <a:spcPct val="120000"/>
              </a:lnSpc>
              <a:spcBef>
                <a:spcPts val="1000"/>
              </a:spcBef>
              <a:buNone/>
            </a:pPr>
            <a:r>
              <a:rPr lang="en-US" altLang="zh-CN" sz="26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t>据</a:t>
            </a:r>
            <a:r>
              <a:rPr lang="zh-CN" altLang="en-US" sz="2400" dirty="0"/>
              <a:t>国际清算银行（</a:t>
            </a:r>
            <a:r>
              <a:rPr lang="en-US" altLang="zh-CN" sz="2400" dirty="0"/>
              <a:t>BIS</a:t>
            </a:r>
            <a:r>
              <a:rPr lang="zh-CN" altLang="en-US" sz="2400" dirty="0"/>
              <a:t>）的调查数据，</a:t>
            </a:r>
            <a:r>
              <a:rPr lang="zh-CN" altLang="en-US" sz="2400" dirty="0">
                <a:solidFill>
                  <a:schemeClr val="accent1"/>
                </a:solidFill>
                <a:latin typeface="微软雅黑" panose="020B0503020204020204" pitchFamily="34" charset="-122"/>
                <a:ea typeface="微软雅黑" panose="020B0503020204020204" pitchFamily="34" charset="-122"/>
              </a:rPr>
              <a:t>从外汇市场的交易额看，</a:t>
            </a:r>
            <a:r>
              <a:rPr lang="zh-CN" altLang="en-US" sz="2400" dirty="0"/>
              <a:t>截至</a:t>
            </a:r>
            <a:r>
              <a:rPr lang="en-US" altLang="zh-CN" sz="2400" dirty="0"/>
              <a:t>2016</a:t>
            </a:r>
            <a:r>
              <a:rPr lang="zh-CN" altLang="en-US" sz="2400" dirty="0"/>
              <a:t>年</a:t>
            </a:r>
            <a:r>
              <a:rPr lang="en-US" altLang="zh-CN" sz="2400" dirty="0"/>
              <a:t>4</a:t>
            </a:r>
            <a:r>
              <a:rPr lang="zh-CN" altLang="en-US" sz="2400" dirty="0"/>
              <a:t>月，全球外汇市场日均交易量从 </a:t>
            </a:r>
            <a:r>
              <a:rPr lang="en-US" altLang="zh-CN" sz="2400" dirty="0"/>
              <a:t>20</a:t>
            </a:r>
            <a:r>
              <a:rPr lang="zh-CN" altLang="en-US" sz="2400" dirty="0"/>
              <a:t>世纪</a:t>
            </a:r>
            <a:r>
              <a:rPr lang="en-US" altLang="zh-CN" sz="2400" dirty="0"/>
              <a:t>80 </a:t>
            </a:r>
            <a:r>
              <a:rPr lang="zh-CN" altLang="en-US" sz="2400" dirty="0"/>
              <a:t>年代中期的每天约 </a:t>
            </a:r>
            <a:r>
              <a:rPr lang="en-US" altLang="zh-CN" sz="2400" dirty="0"/>
              <a:t>700 </a:t>
            </a:r>
            <a:r>
              <a:rPr lang="zh-CN" altLang="en-US" sz="2400" dirty="0"/>
              <a:t>亿美元猛升至</a:t>
            </a:r>
            <a:r>
              <a:rPr lang="en-US" altLang="zh-CN" sz="2400" dirty="0"/>
              <a:t>5.1</a:t>
            </a:r>
            <a:r>
              <a:rPr lang="zh-CN" altLang="en-US" sz="2400" dirty="0"/>
              <a:t>万亿美元，交易量是全球</a:t>
            </a:r>
            <a:r>
              <a:rPr lang="en-US" altLang="zh-CN" sz="2400" dirty="0"/>
              <a:t>GDP</a:t>
            </a:r>
            <a:r>
              <a:rPr lang="zh-CN" altLang="en-US" sz="2400" dirty="0"/>
              <a:t>的</a:t>
            </a:r>
            <a:r>
              <a:rPr lang="en-US" altLang="zh-CN" sz="2400" dirty="0"/>
              <a:t>4</a:t>
            </a:r>
            <a:r>
              <a:rPr lang="zh-CN" altLang="en-US" sz="2400" dirty="0"/>
              <a:t>倍，较期货市场大</a:t>
            </a:r>
            <a:r>
              <a:rPr lang="en-US" altLang="zh-CN" sz="2400" dirty="0"/>
              <a:t>12</a:t>
            </a:r>
            <a:r>
              <a:rPr lang="zh-CN" altLang="en-US" sz="2400" dirty="0"/>
              <a:t>倍，较股票市场大</a:t>
            </a:r>
            <a:r>
              <a:rPr lang="en-US" altLang="zh-CN" sz="2400" dirty="0"/>
              <a:t>27</a:t>
            </a:r>
            <a:r>
              <a:rPr lang="zh-CN" altLang="en-US" sz="2400" dirty="0"/>
              <a:t>倍，较纽约证券交易所交易量大</a:t>
            </a:r>
            <a:r>
              <a:rPr lang="en-US" altLang="zh-CN" sz="2400" dirty="0"/>
              <a:t>53</a:t>
            </a:r>
            <a:r>
              <a:rPr lang="zh-CN" altLang="en-US" sz="2400" dirty="0"/>
              <a:t>倍。</a:t>
            </a:r>
          </a:p>
          <a:p>
            <a:pPr>
              <a:lnSpc>
                <a:spcPct val="120000"/>
              </a:lnSpc>
              <a:spcBef>
                <a:spcPts val="1000"/>
              </a:spcBef>
              <a:buNone/>
            </a:pPr>
            <a:r>
              <a:rPr lang="en-US" altLang="zh-CN" sz="2400" dirty="0">
                <a:solidFill>
                  <a:schemeClr val="accent1"/>
                </a:solidFill>
                <a:latin typeface="微软雅黑" panose="020B0503020204020204" pitchFamily="34" charset="-122"/>
                <a:ea typeface="微软雅黑" panose="020B0503020204020204" pitchFamily="34" charset="-122"/>
              </a:rPr>
              <a:t>	1998</a:t>
            </a:r>
            <a:r>
              <a:rPr lang="zh-CN" altLang="en-US" sz="2400" dirty="0">
                <a:solidFill>
                  <a:schemeClr val="accent1"/>
                </a:solidFill>
                <a:latin typeface="微软雅黑" panose="020B0503020204020204" pitchFamily="34" charset="-122"/>
                <a:ea typeface="微软雅黑" panose="020B0503020204020204" pitchFamily="34" charset="-122"/>
              </a:rPr>
              <a:t>年</a:t>
            </a:r>
            <a:r>
              <a:rPr lang="en-US" altLang="zh-CN" sz="2400" dirty="0">
                <a:solidFill>
                  <a:schemeClr val="accent1"/>
                </a:solidFill>
                <a:latin typeface="微软雅黑" panose="020B0503020204020204" pitchFamily="34" charset="-122"/>
                <a:ea typeface="微软雅黑" panose="020B0503020204020204" pitchFamily="34" charset="-122"/>
              </a:rPr>
              <a:t>1.527</a:t>
            </a:r>
            <a:r>
              <a:rPr lang="zh-CN" altLang="en-US" sz="2400" dirty="0">
                <a:solidFill>
                  <a:schemeClr val="accent1"/>
                </a:solidFill>
                <a:latin typeface="微软雅黑" panose="020B0503020204020204" pitchFamily="34" charset="-122"/>
                <a:ea typeface="微软雅黑" panose="020B0503020204020204" pitchFamily="34" charset="-122"/>
              </a:rPr>
              <a:t>万亿美元，</a:t>
            </a:r>
            <a:r>
              <a:rPr lang="en-US" altLang="zh-CN" sz="2400" dirty="0">
                <a:solidFill>
                  <a:schemeClr val="accent1"/>
                </a:solidFill>
                <a:latin typeface="微软雅黑" panose="020B0503020204020204" pitchFamily="34" charset="-122"/>
                <a:ea typeface="微软雅黑" panose="020B0503020204020204" pitchFamily="34" charset="-122"/>
              </a:rPr>
              <a:t>2004</a:t>
            </a:r>
            <a:r>
              <a:rPr lang="zh-CN" altLang="en-US" sz="2400" dirty="0">
                <a:solidFill>
                  <a:schemeClr val="accent1"/>
                </a:solidFill>
                <a:latin typeface="微软雅黑" panose="020B0503020204020204" pitchFamily="34" charset="-122"/>
                <a:ea typeface="微软雅黑" panose="020B0503020204020204" pitchFamily="34" charset="-122"/>
              </a:rPr>
              <a:t>年</a:t>
            </a:r>
            <a:r>
              <a:rPr lang="en-US" altLang="zh-CN" sz="2400" dirty="0">
                <a:solidFill>
                  <a:schemeClr val="accent1"/>
                </a:solidFill>
                <a:latin typeface="微软雅黑" panose="020B0503020204020204" pitchFamily="34" charset="-122"/>
                <a:ea typeface="微软雅黑" panose="020B0503020204020204" pitchFamily="34" charset="-122"/>
              </a:rPr>
              <a:t>1.934</a:t>
            </a:r>
            <a:r>
              <a:rPr lang="zh-CN" altLang="en-US" sz="2400" dirty="0">
                <a:solidFill>
                  <a:schemeClr val="accent1"/>
                </a:solidFill>
                <a:latin typeface="微软雅黑" panose="020B0503020204020204" pitchFamily="34" charset="-122"/>
                <a:ea typeface="微软雅黑" panose="020B0503020204020204" pitchFamily="34" charset="-122"/>
              </a:rPr>
              <a:t>万亿美元，</a:t>
            </a:r>
            <a:r>
              <a:rPr lang="en-US" altLang="zh-CN" sz="2400" dirty="0">
                <a:solidFill>
                  <a:schemeClr val="accent1"/>
                </a:solidFill>
                <a:latin typeface="微软雅黑" panose="020B0503020204020204" pitchFamily="34" charset="-122"/>
                <a:ea typeface="微软雅黑" panose="020B0503020204020204" pitchFamily="34" charset="-122"/>
              </a:rPr>
              <a:t>2010</a:t>
            </a:r>
            <a:r>
              <a:rPr lang="zh-CN" altLang="en-US" sz="2400" dirty="0">
                <a:solidFill>
                  <a:schemeClr val="accent1"/>
                </a:solidFill>
                <a:latin typeface="微软雅黑" panose="020B0503020204020204" pitchFamily="34" charset="-122"/>
                <a:ea typeface="微软雅黑" panose="020B0503020204020204" pitchFamily="34" charset="-122"/>
              </a:rPr>
              <a:t>年</a:t>
            </a:r>
            <a:r>
              <a:rPr lang="en-US" altLang="zh-CN" sz="2400" dirty="0">
                <a:solidFill>
                  <a:schemeClr val="accent1"/>
                </a:solidFill>
                <a:latin typeface="微软雅黑" panose="020B0503020204020204" pitchFamily="34" charset="-122"/>
                <a:ea typeface="微软雅黑" panose="020B0503020204020204" pitchFamily="34" charset="-122"/>
              </a:rPr>
              <a:t>3.981</a:t>
            </a:r>
            <a:r>
              <a:rPr lang="zh-CN" altLang="en-US" sz="2400" dirty="0">
                <a:solidFill>
                  <a:schemeClr val="accent1"/>
                </a:solidFill>
                <a:latin typeface="微软雅黑" panose="020B0503020204020204" pitchFamily="34" charset="-122"/>
                <a:ea typeface="微软雅黑" panose="020B0503020204020204" pitchFamily="34" charset="-122"/>
              </a:rPr>
              <a:t>万亿</a:t>
            </a:r>
            <a:r>
              <a:rPr lang="zh-CN" altLang="en-US" sz="2400" dirty="0" smtClean="0">
                <a:solidFill>
                  <a:schemeClr val="accent1"/>
                </a:solidFill>
                <a:latin typeface="微软雅黑" panose="020B0503020204020204" pitchFamily="34" charset="-122"/>
                <a:ea typeface="微软雅黑" panose="020B0503020204020204" pitchFamily="34" charset="-122"/>
              </a:rPr>
              <a:t>美元</a:t>
            </a:r>
            <a:endParaRPr lang="zh-CN" altLang="en-US" sz="2400" dirty="0">
              <a:solidFill>
                <a:schemeClr val="accent1"/>
              </a:solidFill>
              <a:latin typeface="微软雅黑" panose="020B0503020204020204" pitchFamily="34" charset="-122"/>
              <a:ea typeface="微软雅黑" panose="020B0503020204020204" pitchFamily="34" charset="-122"/>
            </a:endParaRPr>
          </a:p>
          <a:p>
            <a:pPr>
              <a:lnSpc>
                <a:spcPct val="130000"/>
              </a:lnSpc>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7263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a:bodyPr>
          <a:lstStyle/>
          <a:p>
            <a:pPr>
              <a:lnSpc>
                <a:spcPct val="100000"/>
              </a:lnSpc>
              <a:buNone/>
            </a:pPr>
            <a:r>
              <a:rPr lang="zh-CN" altLang="en-US" sz="2800" dirty="0">
                <a:latin typeface="微软雅黑" panose="020B0503020204020204" pitchFamily="34" charset="-122"/>
                <a:ea typeface="微软雅黑" panose="020B0503020204020204" pitchFamily="34" charset="-122"/>
              </a:rPr>
              <a:t>三、外汇市场的构成</a:t>
            </a:r>
          </a:p>
          <a:p>
            <a:pPr>
              <a:lnSpc>
                <a:spcPct val="100000"/>
              </a:lnSpc>
              <a:buNone/>
            </a:pPr>
            <a:r>
              <a:rPr lang="zh-CN" altLang="en-US" sz="28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外汇市场</a:t>
            </a:r>
            <a:r>
              <a:rPr lang="zh-CN" altLang="en-US" sz="2400" dirty="0">
                <a:latin typeface="微软雅黑" panose="020B0503020204020204" pitchFamily="34" charset="-122"/>
                <a:ea typeface="微软雅黑" panose="020B0503020204020204" pitchFamily="34" charset="-122"/>
              </a:rPr>
              <a:t>上的参与者主要有：外汇银行、外汇经纪人、顾客和中央银行。</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外汇市场</a:t>
            </a:r>
            <a:r>
              <a:rPr lang="zh-CN" altLang="en-US" sz="2400" dirty="0">
                <a:latin typeface="微软雅黑" panose="020B0503020204020204" pitchFamily="34" charset="-122"/>
                <a:ea typeface="微软雅黑" panose="020B0503020204020204" pitchFamily="34" charset="-122"/>
              </a:rPr>
              <a:t>的交易分三个层次：</a:t>
            </a:r>
          </a:p>
          <a:p>
            <a:pPr lvl="4">
              <a:lnSpc>
                <a:spcPct val="100000"/>
              </a:lnSpc>
              <a:buFont typeface="Wingdings" panose="05000000000000000000" pitchFamily="2" charset="2"/>
              <a:buChar char="ü"/>
            </a:pPr>
            <a:r>
              <a:rPr lang="zh-CN" altLang="en-US" sz="2400" b="1" dirty="0">
                <a:latin typeface="微软雅黑" panose="020B0503020204020204" pitchFamily="34" charset="-122"/>
                <a:ea typeface="微软雅黑" panose="020B0503020204020204" pitchFamily="34" charset="-122"/>
              </a:rPr>
              <a:t>银行和顾客之间的</a:t>
            </a:r>
            <a:r>
              <a:rPr lang="zh-CN" altLang="en-US" sz="2400" b="1" dirty="0" smtClean="0">
                <a:latin typeface="微软雅黑" panose="020B0503020204020204" pitchFamily="34" charset="-122"/>
                <a:ea typeface="微软雅黑" panose="020B0503020204020204" pitchFamily="34" charset="-122"/>
              </a:rPr>
              <a:t>外汇交易</a:t>
            </a:r>
            <a:endParaRPr lang="zh-CN" altLang="en-US" sz="2400" b="1"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2207941" y="4449336"/>
            <a:ext cx="6467708" cy="830997"/>
          </a:xfrm>
          <a:prstGeom prst="rect">
            <a:avLst/>
          </a:prstGeom>
          <a:noFill/>
        </p:spPr>
        <p:txBody>
          <a:bodyPr wrap="square" rtlCol="0">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外汇银行起中介作用，赚取买卖差价。是一个零售市场。</a:t>
            </a:r>
          </a:p>
        </p:txBody>
      </p:sp>
    </p:spTree>
    <p:extLst>
      <p:ext uri="{BB962C8B-B14F-4D97-AF65-F5344CB8AC3E}">
        <p14:creationId xmlns:p14="http://schemas.microsoft.com/office/powerpoint/2010/main" val="336979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三、外汇市场的构成</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外汇市场</a:t>
            </a:r>
            <a:r>
              <a:rPr lang="zh-CN" altLang="en-US" sz="2400" dirty="0">
                <a:latin typeface="微软雅黑" panose="020B0503020204020204" pitchFamily="34" charset="-122"/>
                <a:ea typeface="微软雅黑" panose="020B0503020204020204" pitchFamily="34" charset="-122"/>
              </a:rPr>
              <a:t>上的参与者主要有：外汇银行、外汇经纪人、顾客和中央银行。</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外汇市场</a:t>
            </a:r>
            <a:r>
              <a:rPr lang="zh-CN" altLang="en-US" sz="2400" dirty="0">
                <a:latin typeface="微软雅黑" panose="020B0503020204020204" pitchFamily="34" charset="-122"/>
                <a:ea typeface="微软雅黑" panose="020B0503020204020204" pitchFamily="34" charset="-122"/>
              </a:rPr>
              <a:t>的交易分三个层次：</a:t>
            </a:r>
          </a:p>
          <a:p>
            <a:pPr lvl="4">
              <a:lnSpc>
                <a:spcPct val="100000"/>
              </a:lnSpc>
              <a:buNone/>
            </a:pPr>
            <a:r>
              <a:rPr lang="zh-CN" altLang="en-US" sz="2400" dirty="0">
                <a:latin typeface="微软雅黑" panose="020B0503020204020204" pitchFamily="34" charset="-122"/>
                <a:ea typeface="微软雅黑" panose="020B0503020204020204" pitchFamily="34" charset="-122"/>
              </a:rPr>
              <a:t>银行和顾客之间的外汇交易</a:t>
            </a:r>
          </a:p>
          <a:p>
            <a:pPr lvl="4">
              <a:lnSpc>
                <a:spcPct val="100000"/>
              </a:lnSpc>
              <a:buNone/>
            </a:pPr>
            <a:r>
              <a:rPr lang="zh-CN" altLang="en-US" sz="2400" b="1" dirty="0">
                <a:latin typeface="微软雅黑" panose="020B0503020204020204" pitchFamily="34" charset="-122"/>
                <a:ea typeface="微软雅黑" panose="020B0503020204020204" pitchFamily="34" charset="-122"/>
              </a:rPr>
              <a:t>银行同业间的</a:t>
            </a:r>
            <a:r>
              <a:rPr lang="zh-CN" altLang="en-US" sz="2400" b="1" dirty="0" smtClean="0">
                <a:latin typeface="微软雅黑" panose="020B0503020204020204" pitchFamily="34" charset="-122"/>
                <a:ea typeface="微软雅黑" panose="020B0503020204020204" pitchFamily="34" charset="-122"/>
              </a:rPr>
              <a:t>外汇交易</a:t>
            </a:r>
            <a:endParaRPr lang="zh-CN" altLang="en-US" sz="2400" b="1"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397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Autofit/>
          </a:bodyPr>
          <a:lstStyle/>
          <a:p>
            <a:pPr>
              <a:lnSpc>
                <a:spcPct val="110000"/>
              </a:lnSpc>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一方面</a:t>
            </a:r>
            <a:r>
              <a:rPr lang="zh-CN" altLang="en-US" sz="2400" dirty="0">
                <a:latin typeface="微软雅黑" panose="020B0503020204020204" pitchFamily="34" charset="-122"/>
                <a:ea typeface="微软雅黑" panose="020B0503020204020204" pitchFamily="34" charset="-122"/>
              </a:rPr>
              <a:t>，为避免汇率变动风险，银行借助同业间交易及时将多头（</a:t>
            </a:r>
            <a:r>
              <a:rPr lang="en-US" altLang="zh-CN" sz="2400" dirty="0">
                <a:latin typeface="微软雅黑" panose="020B0503020204020204" pitchFamily="34" charset="-122"/>
                <a:ea typeface="微软雅黑" panose="020B0503020204020204" pitchFamily="34" charset="-122"/>
              </a:rPr>
              <a:t>long position</a:t>
            </a:r>
            <a:r>
              <a:rPr lang="zh-CN" altLang="en-US" sz="2400" dirty="0">
                <a:latin typeface="微软雅黑" panose="020B0503020204020204" pitchFamily="34" charset="-122"/>
                <a:ea typeface="微软雅黑" panose="020B0503020204020204" pitchFamily="34" charset="-122"/>
              </a:rPr>
              <a:t>）抛出，将空头（</a:t>
            </a:r>
            <a:r>
              <a:rPr lang="en-US" altLang="zh-CN" sz="2400" dirty="0">
                <a:latin typeface="微软雅黑" panose="020B0503020204020204" pitchFamily="34" charset="-122"/>
                <a:ea typeface="微软雅黑" panose="020B0503020204020204" pitchFamily="34" charset="-122"/>
              </a:rPr>
              <a:t>short position</a:t>
            </a:r>
            <a:r>
              <a:rPr lang="zh-CN" altLang="en-US" sz="2400" dirty="0">
                <a:latin typeface="微软雅黑" panose="020B0503020204020204" pitchFamily="34" charset="-122"/>
                <a:ea typeface="微软雅黑" panose="020B0503020204020204" pitchFamily="34" charset="-122"/>
              </a:rPr>
              <a:t>）补进；</a:t>
            </a:r>
          </a:p>
          <a:p>
            <a:pPr>
              <a:lnSpc>
                <a:spcPct val="110000"/>
              </a:lnSpc>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另一方面</a:t>
            </a:r>
            <a:r>
              <a:rPr lang="zh-CN" altLang="en-US" sz="2400" dirty="0">
                <a:latin typeface="微软雅黑" panose="020B0503020204020204" pitchFamily="34" charset="-122"/>
                <a:ea typeface="微软雅黑" panose="020B0503020204020204" pitchFamily="34" charset="-122"/>
              </a:rPr>
              <a:t>，银行出于投机、套汇、套利等目的从事同业外汇交易。</a:t>
            </a:r>
          </a:p>
          <a:p>
            <a:pPr>
              <a:lnSpc>
                <a:spcPct val="110000"/>
              </a:lnSpc>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银行</a:t>
            </a:r>
            <a:r>
              <a:rPr lang="zh-CN" altLang="en-US" sz="2400" dirty="0">
                <a:latin typeface="微软雅黑" panose="020B0503020204020204" pitchFamily="34" charset="-122"/>
                <a:ea typeface="微软雅黑" panose="020B0503020204020204" pitchFamily="34" charset="-122"/>
              </a:rPr>
              <a:t>同业外汇买卖差价一般低于银行与顾客之间的买卖差价。</a:t>
            </a:r>
          </a:p>
          <a:p>
            <a:pPr>
              <a:lnSpc>
                <a:spcPct val="110000"/>
              </a:lnSpc>
              <a:buNone/>
            </a:pPr>
            <a:r>
              <a:rPr lang="zh-CN" altLang="en-US" sz="2400" dirty="0">
                <a:solidFill>
                  <a:schemeClr val="accent1"/>
                </a:solidFill>
                <a:latin typeface="微软雅黑" panose="020B0503020204020204" pitchFamily="34" charset="-122"/>
                <a:ea typeface="微软雅黑" panose="020B0503020204020204" pitchFamily="34" charset="-122"/>
              </a:rPr>
              <a:t>据国际清算银行估测，同业外汇交易占据着绝大部分的外汇交易总额。</a:t>
            </a:r>
            <a:r>
              <a:rPr lang="en-US" altLang="zh-CN" sz="2400" dirty="0">
                <a:solidFill>
                  <a:schemeClr val="accent1"/>
                </a:solidFill>
                <a:latin typeface="微软雅黑" panose="020B0503020204020204" pitchFamily="34" charset="-122"/>
                <a:ea typeface="微软雅黑" panose="020B0503020204020204" pitchFamily="34" charset="-122"/>
              </a:rPr>
              <a:t>1998</a:t>
            </a:r>
            <a:r>
              <a:rPr lang="zh-CN" altLang="en-US" sz="2400" dirty="0">
                <a:solidFill>
                  <a:schemeClr val="accent1"/>
                </a:solidFill>
                <a:latin typeface="微软雅黑" panose="020B0503020204020204" pitchFamily="34" charset="-122"/>
                <a:ea typeface="微软雅黑" panose="020B0503020204020204" pitchFamily="34" charset="-122"/>
              </a:rPr>
              <a:t>年为</a:t>
            </a:r>
            <a:r>
              <a:rPr lang="en-US" altLang="zh-CN" sz="2400" dirty="0">
                <a:solidFill>
                  <a:schemeClr val="accent1"/>
                </a:solidFill>
                <a:latin typeface="微软雅黑" panose="020B0503020204020204" pitchFamily="34" charset="-122"/>
                <a:ea typeface="微软雅黑" panose="020B0503020204020204" pitchFamily="34" charset="-122"/>
              </a:rPr>
              <a:t>83%</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2010</a:t>
            </a:r>
            <a:r>
              <a:rPr lang="zh-CN" altLang="en-US" sz="2400" dirty="0">
                <a:solidFill>
                  <a:schemeClr val="accent1"/>
                </a:solidFill>
                <a:latin typeface="微软雅黑" panose="020B0503020204020204" pitchFamily="34" charset="-122"/>
                <a:ea typeface="微软雅黑" panose="020B0503020204020204" pitchFamily="34" charset="-122"/>
              </a:rPr>
              <a:t>年为</a:t>
            </a:r>
            <a:r>
              <a:rPr lang="en-US" altLang="zh-CN" sz="2400" dirty="0">
                <a:solidFill>
                  <a:schemeClr val="accent1"/>
                </a:solidFill>
                <a:latin typeface="微软雅黑" panose="020B0503020204020204" pitchFamily="34" charset="-122"/>
                <a:ea typeface="微软雅黑" panose="020B0503020204020204" pitchFamily="34" charset="-122"/>
              </a:rPr>
              <a:t>87%</a:t>
            </a:r>
            <a:r>
              <a:rPr lang="zh-CN" altLang="en-US" sz="2400" dirty="0">
                <a:solidFill>
                  <a:schemeClr val="accent1"/>
                </a:solidFill>
                <a:latin typeface="微软雅黑" panose="020B0503020204020204" pitchFamily="34" charset="-122"/>
                <a:ea typeface="微软雅黑" panose="020B0503020204020204" pitchFamily="34" charset="-122"/>
              </a:rPr>
              <a:t>（包括银行与其它金融机构之间的交易）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17625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三、外汇市场的构成</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外汇市场</a:t>
            </a:r>
            <a:r>
              <a:rPr lang="zh-CN" altLang="en-US" sz="2400" dirty="0">
                <a:latin typeface="微软雅黑" panose="020B0503020204020204" pitchFamily="34" charset="-122"/>
                <a:ea typeface="微软雅黑" panose="020B0503020204020204" pitchFamily="34" charset="-122"/>
              </a:rPr>
              <a:t>上的参与者主要有：外汇银行、外汇经纪人、顾客和中央银行。</a:t>
            </a:r>
          </a:p>
          <a:p>
            <a:pPr>
              <a:lnSpc>
                <a:spcPct val="100000"/>
              </a:lnSpc>
              <a:buNone/>
            </a:pPr>
            <a:r>
              <a:rPr lang="zh-CN" altLang="en-US" sz="2400" dirty="0" smtClean="0">
                <a:latin typeface="微软雅黑" panose="020B0503020204020204" pitchFamily="34" charset="-122"/>
                <a:ea typeface="微软雅黑" panose="020B0503020204020204" pitchFamily="34" charset="-122"/>
              </a:rPr>
              <a:t>       外汇市场</a:t>
            </a:r>
            <a:r>
              <a:rPr lang="zh-CN" altLang="en-US" sz="2400" dirty="0">
                <a:latin typeface="微软雅黑" panose="020B0503020204020204" pitchFamily="34" charset="-122"/>
                <a:ea typeface="微软雅黑" panose="020B0503020204020204" pitchFamily="34" charset="-122"/>
              </a:rPr>
              <a:t>的交易分三个层次：</a:t>
            </a:r>
          </a:p>
          <a:p>
            <a:pPr lvl="4">
              <a:lnSpc>
                <a:spcPct val="100000"/>
              </a:lnSpc>
              <a:buNone/>
            </a:pPr>
            <a:r>
              <a:rPr lang="zh-CN" altLang="en-US" sz="2400" dirty="0">
                <a:latin typeface="微软雅黑" panose="020B0503020204020204" pitchFamily="34" charset="-122"/>
                <a:ea typeface="微软雅黑" panose="020B0503020204020204" pitchFamily="34" charset="-122"/>
              </a:rPr>
              <a:t>银行和顾客之间的外汇交易</a:t>
            </a:r>
          </a:p>
          <a:p>
            <a:pPr lvl="4">
              <a:lnSpc>
                <a:spcPct val="100000"/>
              </a:lnSpc>
              <a:buNone/>
            </a:pPr>
            <a:r>
              <a:rPr lang="zh-CN" altLang="en-US" sz="2400" dirty="0">
                <a:latin typeface="微软雅黑" panose="020B0503020204020204" pitchFamily="34" charset="-122"/>
                <a:ea typeface="微软雅黑" panose="020B0503020204020204" pitchFamily="34" charset="-122"/>
              </a:rPr>
              <a:t>银行同业间的外汇交易</a:t>
            </a:r>
          </a:p>
          <a:p>
            <a:pPr lvl="4">
              <a:lnSpc>
                <a:spcPct val="100000"/>
              </a:lnSpc>
              <a:buNone/>
            </a:pPr>
            <a:r>
              <a:rPr lang="zh-CN" altLang="en-US" sz="2400" b="1" dirty="0">
                <a:latin typeface="微软雅黑" panose="020B0503020204020204" pitchFamily="34" charset="-122"/>
                <a:ea typeface="微软雅黑" panose="020B0503020204020204" pitchFamily="34" charset="-122"/>
              </a:rPr>
              <a:t>银行与中央银行之间的外汇交易</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文本框 5"/>
          <p:cNvSpPr txBox="1"/>
          <p:nvPr/>
        </p:nvSpPr>
        <p:spPr>
          <a:xfrm>
            <a:off x="2174486" y="5355531"/>
            <a:ext cx="6467708" cy="461665"/>
          </a:xfrm>
          <a:prstGeom prst="rect">
            <a:avLst/>
          </a:prstGeom>
          <a:noFill/>
        </p:spPr>
        <p:txBody>
          <a:bodyPr wrap="square" rtlCol="0">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主要体现为中央银行的外汇干预</a:t>
            </a:r>
          </a:p>
        </p:txBody>
      </p:sp>
    </p:spTree>
    <p:extLst>
      <p:ext uri="{BB962C8B-B14F-4D97-AF65-F5344CB8AC3E}">
        <p14:creationId xmlns:p14="http://schemas.microsoft.com/office/powerpoint/2010/main" val="375456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外汇市场概述</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三、外汇市场的构成</a:t>
            </a:r>
          </a:p>
          <a:p>
            <a:pPr>
              <a:lnSpc>
                <a:spcPct val="100000"/>
              </a:lnSpc>
              <a:buNone/>
            </a:pPr>
            <a:endParaRPr lang="en-US" altLang="zh-CN" sz="2400" dirty="0" smtClean="0">
              <a:latin typeface="微软雅黑" panose="020B0503020204020204" pitchFamily="34" charset="-122"/>
              <a:ea typeface="微软雅黑" panose="020B0503020204020204" pitchFamily="34" charset="-122"/>
            </a:endParaRPr>
          </a:p>
          <a:p>
            <a:pPr>
              <a:lnSpc>
                <a:spcPct val="100000"/>
              </a:lnSpc>
              <a:buNone/>
            </a:pPr>
            <a:r>
              <a:rPr lang="zh-CN" altLang="en-US" sz="2400" dirty="0" smtClean="0">
                <a:latin typeface="微软雅黑" panose="020B0503020204020204" pitchFamily="34" charset="-122"/>
                <a:ea typeface="微软雅黑" panose="020B0503020204020204" pitchFamily="34" charset="-122"/>
              </a:rPr>
              <a:t>       外汇市场</a:t>
            </a:r>
            <a:r>
              <a:rPr lang="zh-CN" altLang="en-US" sz="2400" dirty="0">
                <a:latin typeface="微软雅黑" panose="020B0503020204020204" pitchFamily="34" charset="-122"/>
                <a:ea typeface="微软雅黑" panose="020B0503020204020204" pitchFamily="34" charset="-122"/>
              </a:rPr>
              <a:t>上的汇率由作为造市商的大银行主观报出的，但实质上仍客观反映了市场的供求关系。</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8571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1"/>
          </p:nvPr>
        </p:nvSpPr>
        <p:spPr/>
        <p:txBody>
          <a:bodyPr/>
          <a:lstStyle/>
          <a:p>
            <a:r>
              <a:rPr lang="zh-CN" altLang="en-US" smtClean="0"/>
              <a:t>国际金融学 范小云</a:t>
            </a:r>
            <a:endParaRPr lang="zh-CN"/>
          </a:p>
        </p:txBody>
      </p:sp>
      <p:graphicFrame>
        <p:nvGraphicFramePr>
          <p:cNvPr id="5" name="表格 4"/>
          <p:cNvGraphicFramePr>
            <a:graphicFrameLocks noGrp="1"/>
          </p:cNvGraphicFramePr>
          <p:nvPr/>
        </p:nvGraphicFramePr>
        <p:xfrm>
          <a:off x="494851" y="634697"/>
          <a:ext cx="8304904" cy="5594963"/>
        </p:xfrm>
        <a:graphic>
          <a:graphicData uri="http://schemas.openxmlformats.org/drawingml/2006/table">
            <a:tbl>
              <a:tblPr/>
              <a:tblGrid>
                <a:gridCol w="508986"/>
                <a:gridCol w="3417556"/>
                <a:gridCol w="537882"/>
                <a:gridCol w="3840480"/>
              </a:tblGrid>
              <a:tr h="548644">
                <a:tc gridSpan="4">
                  <a:txBody>
                    <a:bodyPr/>
                    <a:lstStyle/>
                    <a:p>
                      <a:pPr algn="ctr">
                        <a:spcAft>
                          <a:spcPts val="0"/>
                        </a:spcAft>
                      </a:pPr>
                      <a:r>
                        <a:rPr lang="zh-CN" altLang="en-US" sz="2400" b="1" kern="0" dirty="0" smtClean="0">
                          <a:solidFill>
                            <a:srgbClr val="000000"/>
                          </a:solidFill>
                          <a:latin typeface="宋体"/>
                          <a:ea typeface="宋体"/>
                          <a:cs typeface="宋体"/>
                        </a:rPr>
                        <a:t>人</a:t>
                      </a:r>
                      <a:r>
                        <a:rPr lang="zh-CN" sz="2400" b="1" kern="0" dirty="0" smtClean="0">
                          <a:solidFill>
                            <a:srgbClr val="000000"/>
                          </a:solidFill>
                          <a:latin typeface="Calibri"/>
                          <a:ea typeface="宋体"/>
                          <a:cs typeface="宋体"/>
                        </a:rPr>
                        <a:t>民币</a:t>
                      </a:r>
                      <a:r>
                        <a:rPr lang="zh-CN" sz="2400" b="1" kern="0" dirty="0">
                          <a:solidFill>
                            <a:srgbClr val="000000"/>
                          </a:solidFill>
                          <a:latin typeface="Calibri"/>
                          <a:ea typeface="宋体"/>
                          <a:cs typeface="宋体"/>
                        </a:rPr>
                        <a:t>外汇即期做市</a:t>
                      </a:r>
                      <a:r>
                        <a:rPr lang="zh-CN" sz="2400" b="1" kern="0" dirty="0" smtClean="0">
                          <a:solidFill>
                            <a:srgbClr val="000000"/>
                          </a:solidFill>
                          <a:latin typeface="Calibri"/>
                          <a:ea typeface="宋体"/>
                          <a:cs typeface="宋体"/>
                        </a:rPr>
                        <a:t>商</a:t>
                      </a:r>
                      <a:r>
                        <a:rPr lang="zh-CN" altLang="en-US" sz="2400" b="1" kern="0" dirty="0" smtClean="0">
                          <a:solidFill>
                            <a:srgbClr val="000000"/>
                          </a:solidFill>
                          <a:latin typeface="Calibri"/>
                          <a:ea typeface="宋体"/>
                          <a:cs typeface="宋体"/>
                        </a:rPr>
                        <a:t>（</a:t>
                      </a:r>
                      <a:r>
                        <a:rPr lang="en-US" altLang="zh-CN" sz="2400" b="1" kern="0" dirty="0" smtClean="0">
                          <a:solidFill>
                            <a:srgbClr val="000000"/>
                          </a:solidFill>
                          <a:latin typeface="Calibri"/>
                          <a:ea typeface="宋体"/>
                          <a:cs typeface="宋体"/>
                        </a:rPr>
                        <a:t>2017</a:t>
                      </a:r>
                      <a:r>
                        <a:rPr lang="zh-CN" altLang="en-US" sz="2400" b="1" kern="0" dirty="0" smtClean="0">
                          <a:solidFill>
                            <a:srgbClr val="000000"/>
                          </a:solidFill>
                          <a:latin typeface="Calibri"/>
                          <a:ea typeface="宋体"/>
                          <a:cs typeface="宋体"/>
                        </a:rPr>
                        <a:t>年</a:t>
                      </a:r>
                      <a:r>
                        <a:rPr lang="en-US" altLang="zh-CN" sz="2400" b="1" kern="0" dirty="0" smtClean="0">
                          <a:solidFill>
                            <a:srgbClr val="000000"/>
                          </a:solidFill>
                          <a:latin typeface="Calibri"/>
                          <a:ea typeface="宋体"/>
                          <a:cs typeface="宋体"/>
                        </a:rPr>
                        <a:t>3</a:t>
                      </a:r>
                      <a:r>
                        <a:rPr lang="zh-CN" altLang="en-US" sz="2400" b="1" kern="0" dirty="0" smtClean="0">
                          <a:solidFill>
                            <a:srgbClr val="000000"/>
                          </a:solidFill>
                          <a:latin typeface="Calibri"/>
                          <a:ea typeface="宋体"/>
                          <a:cs typeface="宋体"/>
                        </a:rPr>
                        <a:t>月）</a:t>
                      </a:r>
                      <a:endParaRPr lang="zh-CN" sz="2400" kern="100" dirty="0">
                        <a:latin typeface="Calibri"/>
                        <a:ea typeface="宋体"/>
                        <a:cs typeface="Times New Roman"/>
                      </a:endParaRPr>
                    </a:p>
                  </a:txBody>
                  <a:tcPr marL="69708" marR="0" marT="0" marB="0" anchor="ctr">
                    <a:lnL>
                      <a:noFill/>
                    </a:lnL>
                    <a:lnR>
                      <a:noFill/>
                    </a:lnR>
                    <a:lnT>
                      <a:noFill/>
                    </a:lnT>
                    <a:lnB w="12700" cap="flat" cmpd="sng" algn="ctr">
                      <a:solidFill>
                        <a:srgbClr val="CADEF6"/>
                      </a:solidFill>
                      <a:prstDash val="dot"/>
                      <a:round/>
                      <a:headEnd type="none" w="med" len="med"/>
                      <a:tailEnd type="none" w="med" len="med"/>
                    </a:lnB>
                    <a:solidFill>
                      <a:srgbClr val="E8F0F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320433">
                <a:tc>
                  <a:txBody>
                    <a:bodyPr/>
                    <a:lstStyle/>
                    <a:p>
                      <a:pPr marR="104140" algn="l">
                        <a:spcAft>
                          <a:spcPts val="0"/>
                        </a:spcAft>
                      </a:pPr>
                      <a:r>
                        <a:rPr lang="en-US" sz="1800" kern="0" dirty="0">
                          <a:solidFill>
                            <a:srgbClr val="000000"/>
                          </a:solidFill>
                          <a:latin typeface="宋体"/>
                          <a:ea typeface="宋体"/>
                          <a:cs typeface="宋体"/>
                        </a:rPr>
                        <a:t>1</a:t>
                      </a:r>
                      <a:endParaRPr lang="zh-CN" sz="1800" kern="100" dirty="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dirty="0">
                          <a:solidFill>
                            <a:srgbClr val="000000"/>
                          </a:solidFill>
                          <a:latin typeface="Calibri"/>
                          <a:ea typeface="宋体"/>
                          <a:cs typeface="宋体"/>
                        </a:rPr>
                        <a:t>中国工商银行股份有限公司</a:t>
                      </a:r>
                      <a:endParaRPr lang="zh-CN" sz="1800" kern="100" dirty="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dirty="0">
                          <a:solidFill>
                            <a:srgbClr val="000000"/>
                          </a:solidFill>
                          <a:latin typeface="宋体"/>
                          <a:ea typeface="宋体"/>
                          <a:cs typeface="宋体"/>
                        </a:rPr>
                        <a:t>2</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dirty="0">
                          <a:solidFill>
                            <a:srgbClr val="000000"/>
                          </a:solidFill>
                          <a:latin typeface="Calibri"/>
                          <a:ea typeface="宋体"/>
                          <a:cs typeface="宋体"/>
                        </a:rPr>
                        <a:t>中国农业银行股份有限公司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320433">
                <a:tc>
                  <a:txBody>
                    <a:bodyPr/>
                    <a:lstStyle/>
                    <a:p>
                      <a:pPr marR="104140" algn="l">
                        <a:spcAft>
                          <a:spcPts val="0"/>
                        </a:spcAft>
                      </a:pPr>
                      <a:r>
                        <a:rPr lang="en-US" sz="1800" kern="0">
                          <a:solidFill>
                            <a:srgbClr val="000000"/>
                          </a:solidFill>
                          <a:latin typeface="宋体"/>
                          <a:ea typeface="宋体"/>
                          <a:cs typeface="宋体"/>
                        </a:rPr>
                        <a:t>3</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dirty="0">
                          <a:solidFill>
                            <a:srgbClr val="000000"/>
                          </a:solidFill>
                          <a:latin typeface="Calibri"/>
                          <a:ea typeface="宋体"/>
                          <a:cs typeface="宋体"/>
                        </a:rPr>
                        <a:t>中国银行股份有限公司</a:t>
                      </a:r>
                      <a:endParaRPr lang="zh-CN" sz="1800" kern="100" dirty="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a:solidFill>
                            <a:srgbClr val="000000"/>
                          </a:solidFill>
                          <a:latin typeface="宋体"/>
                          <a:ea typeface="宋体"/>
                          <a:cs typeface="宋体"/>
                        </a:rPr>
                        <a:t>4</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a:solidFill>
                            <a:srgbClr val="000000"/>
                          </a:solidFill>
                          <a:latin typeface="Calibri"/>
                          <a:ea typeface="宋体"/>
                          <a:cs typeface="宋体"/>
                        </a:rPr>
                        <a:t>中国建设银行股份有限公司</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5</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dirty="0">
                          <a:solidFill>
                            <a:srgbClr val="000000"/>
                          </a:solidFill>
                          <a:latin typeface="Calibri"/>
                          <a:ea typeface="宋体"/>
                          <a:cs typeface="宋体"/>
                        </a:rPr>
                        <a:t>交通银行股份有限公司</a:t>
                      </a:r>
                      <a:endParaRPr lang="zh-CN" sz="1800" kern="100" dirty="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a:solidFill>
                            <a:srgbClr val="000000"/>
                          </a:solidFill>
                          <a:latin typeface="宋体"/>
                          <a:ea typeface="宋体"/>
                          <a:cs typeface="宋体"/>
                        </a:rPr>
                        <a:t>6</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dirty="0">
                          <a:solidFill>
                            <a:srgbClr val="000000"/>
                          </a:solidFill>
                          <a:latin typeface="Calibri"/>
                          <a:ea typeface="宋体"/>
                          <a:cs typeface="宋体"/>
                        </a:rPr>
                        <a:t>中信银行股份有限公司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320433">
                <a:tc>
                  <a:txBody>
                    <a:bodyPr/>
                    <a:lstStyle/>
                    <a:p>
                      <a:pPr marR="104140" algn="l">
                        <a:spcAft>
                          <a:spcPts val="0"/>
                        </a:spcAft>
                      </a:pPr>
                      <a:r>
                        <a:rPr lang="en-US" sz="1800" kern="0">
                          <a:solidFill>
                            <a:srgbClr val="000000"/>
                          </a:solidFill>
                          <a:latin typeface="宋体"/>
                          <a:ea typeface="宋体"/>
                          <a:cs typeface="宋体"/>
                        </a:rPr>
                        <a:t>7</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a:solidFill>
                            <a:srgbClr val="000000"/>
                          </a:solidFill>
                          <a:latin typeface="Calibri"/>
                          <a:ea typeface="宋体"/>
                          <a:cs typeface="宋体"/>
                        </a:rPr>
                        <a:t>招商银行股份有限公司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a:solidFill>
                            <a:srgbClr val="000000"/>
                          </a:solidFill>
                          <a:latin typeface="宋体"/>
                          <a:ea typeface="宋体"/>
                          <a:cs typeface="宋体"/>
                        </a:rPr>
                        <a:t>8</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a:solidFill>
                            <a:srgbClr val="000000"/>
                          </a:solidFill>
                          <a:latin typeface="Calibri"/>
                          <a:ea typeface="宋体"/>
                          <a:cs typeface="宋体"/>
                        </a:rPr>
                        <a:t>中国光大银行股份有限公司</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9</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dirty="0">
                          <a:solidFill>
                            <a:srgbClr val="000000"/>
                          </a:solidFill>
                          <a:latin typeface="Calibri"/>
                          <a:ea typeface="宋体"/>
                          <a:cs typeface="宋体"/>
                        </a:rPr>
                        <a:t>华夏银行股份有限公司</a:t>
                      </a:r>
                      <a:endParaRPr lang="zh-CN" sz="1800" kern="100" dirty="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a:solidFill>
                            <a:srgbClr val="000000"/>
                          </a:solidFill>
                          <a:latin typeface="宋体"/>
                          <a:ea typeface="宋体"/>
                          <a:cs typeface="宋体"/>
                        </a:rPr>
                        <a:t>10</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a:solidFill>
                            <a:srgbClr val="000000"/>
                          </a:solidFill>
                          <a:latin typeface="Calibri"/>
                          <a:ea typeface="宋体"/>
                          <a:cs typeface="宋体"/>
                        </a:rPr>
                        <a:t>广发银行股份有限公司</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320433">
                <a:tc>
                  <a:txBody>
                    <a:bodyPr/>
                    <a:lstStyle/>
                    <a:p>
                      <a:pPr marR="104140" algn="l">
                        <a:spcAft>
                          <a:spcPts val="0"/>
                        </a:spcAft>
                      </a:pPr>
                      <a:r>
                        <a:rPr lang="en-US" sz="1800" kern="0">
                          <a:solidFill>
                            <a:srgbClr val="000000"/>
                          </a:solidFill>
                          <a:latin typeface="宋体"/>
                          <a:ea typeface="宋体"/>
                          <a:cs typeface="宋体"/>
                        </a:rPr>
                        <a:t>11</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a:solidFill>
                            <a:srgbClr val="000000"/>
                          </a:solidFill>
                          <a:latin typeface="Calibri"/>
                          <a:ea typeface="宋体"/>
                          <a:cs typeface="宋体"/>
                        </a:rPr>
                        <a:t>平安银行股份有限公司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a:solidFill>
                            <a:srgbClr val="000000"/>
                          </a:solidFill>
                          <a:latin typeface="宋体"/>
                          <a:ea typeface="宋体"/>
                          <a:cs typeface="宋体"/>
                        </a:rPr>
                        <a:t>12</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a:solidFill>
                            <a:srgbClr val="000000"/>
                          </a:solidFill>
                          <a:latin typeface="Calibri"/>
                          <a:ea typeface="宋体"/>
                          <a:cs typeface="宋体"/>
                        </a:rPr>
                        <a:t>兴业银行股份有限公司</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13</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a:solidFill>
                            <a:srgbClr val="000000"/>
                          </a:solidFill>
                          <a:latin typeface="Calibri"/>
                          <a:ea typeface="宋体"/>
                          <a:cs typeface="宋体"/>
                        </a:rPr>
                        <a:t>中国民生银行股份有限公司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dirty="0">
                          <a:solidFill>
                            <a:srgbClr val="000000"/>
                          </a:solidFill>
                          <a:latin typeface="宋体"/>
                          <a:ea typeface="宋体"/>
                          <a:cs typeface="宋体"/>
                        </a:rPr>
                        <a:t>14</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a:solidFill>
                            <a:srgbClr val="000000"/>
                          </a:solidFill>
                          <a:latin typeface="Calibri"/>
                          <a:ea typeface="宋体"/>
                          <a:cs typeface="宋体"/>
                        </a:rPr>
                        <a:t>国家开发银行</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440345">
                <a:tc>
                  <a:txBody>
                    <a:bodyPr/>
                    <a:lstStyle/>
                    <a:p>
                      <a:pPr marR="104140" algn="l">
                        <a:spcAft>
                          <a:spcPts val="0"/>
                        </a:spcAft>
                      </a:pPr>
                      <a:r>
                        <a:rPr lang="en-US" sz="1800" kern="0">
                          <a:solidFill>
                            <a:srgbClr val="000000"/>
                          </a:solidFill>
                          <a:latin typeface="宋体"/>
                          <a:ea typeface="宋体"/>
                          <a:cs typeface="宋体"/>
                        </a:rPr>
                        <a:t>15</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a:solidFill>
                            <a:srgbClr val="000000"/>
                          </a:solidFill>
                          <a:latin typeface="Calibri"/>
                          <a:ea typeface="宋体"/>
                          <a:cs typeface="宋体"/>
                        </a:rPr>
                        <a:t>中国邮政储蓄银行股份有限公司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dirty="0">
                          <a:solidFill>
                            <a:srgbClr val="000000"/>
                          </a:solidFill>
                          <a:latin typeface="宋体"/>
                          <a:ea typeface="宋体"/>
                          <a:cs typeface="宋体"/>
                        </a:rPr>
                        <a:t>16</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a:solidFill>
                            <a:srgbClr val="000000"/>
                          </a:solidFill>
                          <a:latin typeface="Calibri"/>
                          <a:ea typeface="宋体"/>
                          <a:cs typeface="宋体"/>
                        </a:rPr>
                        <a:t>上海银行股份有限公司</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17</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a:solidFill>
                            <a:srgbClr val="000000"/>
                          </a:solidFill>
                          <a:latin typeface="Calibri"/>
                          <a:ea typeface="宋体"/>
                          <a:cs typeface="宋体"/>
                        </a:rPr>
                        <a:t>南京银行股份有限公司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a:solidFill>
                            <a:srgbClr val="000000"/>
                          </a:solidFill>
                          <a:latin typeface="宋体"/>
                          <a:ea typeface="宋体"/>
                          <a:cs typeface="宋体"/>
                        </a:rPr>
                        <a:t>18</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dirty="0">
                          <a:solidFill>
                            <a:srgbClr val="000000"/>
                          </a:solidFill>
                          <a:latin typeface="Calibri"/>
                          <a:ea typeface="宋体"/>
                          <a:cs typeface="宋体"/>
                        </a:rPr>
                        <a:t>宁波银行股份有限公司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320433">
                <a:tc>
                  <a:txBody>
                    <a:bodyPr/>
                    <a:lstStyle/>
                    <a:p>
                      <a:pPr marR="104140" algn="l">
                        <a:spcAft>
                          <a:spcPts val="0"/>
                        </a:spcAft>
                      </a:pPr>
                      <a:r>
                        <a:rPr lang="en-US" sz="1800" kern="0">
                          <a:solidFill>
                            <a:srgbClr val="000000"/>
                          </a:solidFill>
                          <a:latin typeface="宋体"/>
                          <a:ea typeface="宋体"/>
                          <a:cs typeface="宋体"/>
                        </a:rPr>
                        <a:t>19</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a:solidFill>
                            <a:srgbClr val="000000"/>
                          </a:solidFill>
                          <a:latin typeface="Calibri"/>
                          <a:ea typeface="宋体"/>
                          <a:cs typeface="宋体"/>
                        </a:rPr>
                        <a:t>法国巴黎银行</a:t>
                      </a:r>
                      <a:r>
                        <a:rPr lang="en-US" sz="1800" kern="0">
                          <a:solidFill>
                            <a:srgbClr val="000000"/>
                          </a:solidFill>
                          <a:latin typeface="Calibri"/>
                          <a:ea typeface="宋体"/>
                          <a:cs typeface="宋体"/>
                        </a:rPr>
                        <a:t>(</a:t>
                      </a:r>
                      <a:r>
                        <a:rPr lang="zh-CN" sz="1800" kern="0">
                          <a:solidFill>
                            <a:srgbClr val="000000"/>
                          </a:solidFill>
                          <a:latin typeface="Calibri"/>
                          <a:ea typeface="宋体"/>
                          <a:cs typeface="宋体"/>
                        </a:rPr>
                        <a:t>中国</a:t>
                      </a:r>
                      <a:r>
                        <a:rPr lang="en-US" sz="1800" kern="0">
                          <a:solidFill>
                            <a:srgbClr val="000000"/>
                          </a:solidFill>
                          <a:latin typeface="Calibri"/>
                          <a:ea typeface="宋体"/>
                          <a:cs typeface="宋体"/>
                        </a:rPr>
                        <a:t>)</a:t>
                      </a:r>
                      <a:r>
                        <a:rPr lang="zh-CN" sz="1800" kern="0">
                          <a:solidFill>
                            <a:srgbClr val="000000"/>
                          </a:solidFill>
                          <a:latin typeface="Calibri"/>
                          <a:ea typeface="宋体"/>
                          <a:cs typeface="宋体"/>
                        </a:rPr>
                        <a:t>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a:solidFill>
                            <a:srgbClr val="000000"/>
                          </a:solidFill>
                          <a:latin typeface="宋体"/>
                          <a:ea typeface="宋体"/>
                          <a:cs typeface="宋体"/>
                        </a:rPr>
                        <a:t>20</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a:solidFill>
                            <a:srgbClr val="000000"/>
                          </a:solidFill>
                          <a:latin typeface="Calibri"/>
                          <a:ea typeface="宋体"/>
                          <a:cs typeface="宋体"/>
                        </a:rPr>
                        <a:t>上海浦东发展银行</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21</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a:solidFill>
                            <a:srgbClr val="000000"/>
                          </a:solidFill>
                          <a:latin typeface="Calibri"/>
                          <a:ea typeface="宋体"/>
                          <a:cs typeface="宋体"/>
                        </a:rPr>
                        <a:t>星展银行（中国）有限公司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a:solidFill>
                            <a:srgbClr val="000000"/>
                          </a:solidFill>
                          <a:latin typeface="宋体"/>
                          <a:ea typeface="宋体"/>
                          <a:cs typeface="宋体"/>
                        </a:rPr>
                        <a:t>22</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a:solidFill>
                            <a:srgbClr val="000000"/>
                          </a:solidFill>
                          <a:latin typeface="Calibri"/>
                          <a:ea typeface="宋体"/>
                          <a:cs typeface="宋体"/>
                        </a:rPr>
                        <a:t>美国银行有限公司上海分行</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320433">
                <a:tc>
                  <a:txBody>
                    <a:bodyPr/>
                    <a:lstStyle/>
                    <a:p>
                      <a:pPr marR="104140" algn="l">
                        <a:spcAft>
                          <a:spcPts val="0"/>
                        </a:spcAft>
                      </a:pPr>
                      <a:r>
                        <a:rPr lang="en-US" sz="1800" kern="0">
                          <a:solidFill>
                            <a:srgbClr val="000000"/>
                          </a:solidFill>
                          <a:latin typeface="宋体"/>
                          <a:ea typeface="宋体"/>
                          <a:cs typeface="宋体"/>
                        </a:rPr>
                        <a:t>23</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a:solidFill>
                            <a:srgbClr val="000000"/>
                          </a:solidFill>
                          <a:latin typeface="Calibri"/>
                          <a:ea typeface="宋体"/>
                          <a:cs typeface="宋体"/>
                        </a:rPr>
                        <a:t>汇丰银行（中国）有限公司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a:solidFill>
                            <a:srgbClr val="000000"/>
                          </a:solidFill>
                          <a:latin typeface="宋体"/>
                          <a:ea typeface="宋体"/>
                          <a:cs typeface="宋体"/>
                        </a:rPr>
                        <a:t>24</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dirty="0">
                          <a:solidFill>
                            <a:srgbClr val="000000"/>
                          </a:solidFill>
                          <a:latin typeface="Calibri"/>
                          <a:ea typeface="宋体"/>
                          <a:cs typeface="宋体"/>
                        </a:rPr>
                        <a:t>蒙特利尔银行</a:t>
                      </a:r>
                      <a:r>
                        <a:rPr lang="en-US" sz="1800" kern="0" dirty="0">
                          <a:solidFill>
                            <a:srgbClr val="000000"/>
                          </a:solidFill>
                          <a:latin typeface="Calibri"/>
                          <a:ea typeface="宋体"/>
                          <a:cs typeface="宋体"/>
                        </a:rPr>
                        <a:t>(</a:t>
                      </a:r>
                      <a:r>
                        <a:rPr lang="zh-CN" sz="1800" kern="0" dirty="0">
                          <a:solidFill>
                            <a:srgbClr val="000000"/>
                          </a:solidFill>
                          <a:latin typeface="Calibri"/>
                          <a:ea typeface="宋体"/>
                          <a:cs typeface="宋体"/>
                        </a:rPr>
                        <a:t>中国</a:t>
                      </a:r>
                      <a:r>
                        <a:rPr lang="en-US" sz="1800" kern="0" dirty="0">
                          <a:solidFill>
                            <a:srgbClr val="000000"/>
                          </a:solidFill>
                          <a:latin typeface="Calibri"/>
                          <a:ea typeface="宋体"/>
                          <a:cs typeface="宋体"/>
                        </a:rPr>
                        <a:t>)</a:t>
                      </a:r>
                      <a:r>
                        <a:rPr lang="zh-CN" sz="1800" kern="0" dirty="0">
                          <a:solidFill>
                            <a:srgbClr val="000000"/>
                          </a:solidFill>
                          <a:latin typeface="Calibri"/>
                          <a:ea typeface="宋体"/>
                          <a:cs typeface="宋体"/>
                        </a:rPr>
                        <a:t>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25</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a:solidFill>
                            <a:srgbClr val="000000"/>
                          </a:solidFill>
                          <a:latin typeface="Calibri"/>
                          <a:ea typeface="宋体"/>
                          <a:cs typeface="宋体"/>
                        </a:rPr>
                        <a:t>花旗银行</a:t>
                      </a:r>
                      <a:r>
                        <a:rPr lang="en-US" sz="1800" kern="0">
                          <a:solidFill>
                            <a:srgbClr val="000000"/>
                          </a:solidFill>
                          <a:latin typeface="Calibri"/>
                          <a:ea typeface="宋体"/>
                          <a:cs typeface="宋体"/>
                        </a:rPr>
                        <a:t>(</a:t>
                      </a:r>
                      <a:r>
                        <a:rPr lang="zh-CN" sz="1800" kern="0">
                          <a:solidFill>
                            <a:srgbClr val="000000"/>
                          </a:solidFill>
                          <a:latin typeface="Calibri"/>
                          <a:ea typeface="宋体"/>
                          <a:cs typeface="宋体"/>
                        </a:rPr>
                        <a:t>中国</a:t>
                      </a:r>
                      <a:r>
                        <a:rPr lang="en-US" sz="1800" kern="0">
                          <a:solidFill>
                            <a:srgbClr val="000000"/>
                          </a:solidFill>
                          <a:latin typeface="Calibri"/>
                          <a:ea typeface="宋体"/>
                          <a:cs typeface="宋体"/>
                        </a:rPr>
                        <a:t>)</a:t>
                      </a:r>
                      <a:r>
                        <a:rPr lang="zh-CN" sz="1800" kern="0">
                          <a:solidFill>
                            <a:srgbClr val="000000"/>
                          </a:solidFill>
                          <a:latin typeface="Calibri"/>
                          <a:ea typeface="宋体"/>
                          <a:cs typeface="宋体"/>
                        </a:rPr>
                        <a:t>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a:solidFill>
                            <a:srgbClr val="000000"/>
                          </a:solidFill>
                          <a:latin typeface="宋体"/>
                          <a:ea typeface="宋体"/>
                          <a:cs typeface="宋体"/>
                        </a:rPr>
                        <a:t>26</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dirty="0">
                          <a:solidFill>
                            <a:srgbClr val="000000"/>
                          </a:solidFill>
                          <a:latin typeface="Calibri"/>
                          <a:ea typeface="宋体"/>
                          <a:cs typeface="宋体"/>
                        </a:rPr>
                        <a:t>渣打银行</a:t>
                      </a:r>
                      <a:r>
                        <a:rPr lang="en-US" sz="1800" kern="0" dirty="0">
                          <a:solidFill>
                            <a:srgbClr val="000000"/>
                          </a:solidFill>
                          <a:latin typeface="Calibri"/>
                          <a:ea typeface="宋体"/>
                          <a:cs typeface="宋体"/>
                        </a:rPr>
                        <a:t>(</a:t>
                      </a:r>
                      <a:r>
                        <a:rPr lang="zh-CN" sz="1800" kern="0" dirty="0">
                          <a:solidFill>
                            <a:srgbClr val="000000"/>
                          </a:solidFill>
                          <a:latin typeface="Calibri"/>
                          <a:ea typeface="宋体"/>
                          <a:cs typeface="宋体"/>
                        </a:rPr>
                        <a:t>中国</a:t>
                      </a:r>
                      <a:r>
                        <a:rPr lang="en-US" sz="1800" kern="0" dirty="0">
                          <a:solidFill>
                            <a:srgbClr val="000000"/>
                          </a:solidFill>
                          <a:latin typeface="Calibri"/>
                          <a:ea typeface="宋体"/>
                          <a:cs typeface="宋体"/>
                        </a:rPr>
                        <a:t>)</a:t>
                      </a:r>
                      <a:r>
                        <a:rPr lang="zh-CN" sz="1800" kern="0" dirty="0">
                          <a:solidFill>
                            <a:srgbClr val="000000"/>
                          </a:solidFill>
                          <a:latin typeface="Calibri"/>
                          <a:ea typeface="宋体"/>
                          <a:cs typeface="宋体"/>
                        </a:rPr>
                        <a:t>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r h="440345">
                <a:tc>
                  <a:txBody>
                    <a:bodyPr/>
                    <a:lstStyle/>
                    <a:p>
                      <a:pPr marR="104140" algn="l">
                        <a:spcAft>
                          <a:spcPts val="0"/>
                        </a:spcAft>
                      </a:pPr>
                      <a:r>
                        <a:rPr lang="en-US" sz="1800" kern="0">
                          <a:solidFill>
                            <a:srgbClr val="000000"/>
                          </a:solidFill>
                          <a:latin typeface="宋体"/>
                          <a:ea typeface="宋体"/>
                          <a:cs typeface="宋体"/>
                        </a:rPr>
                        <a:t>27</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zh-CN" sz="1800" kern="0">
                          <a:solidFill>
                            <a:srgbClr val="000000"/>
                          </a:solidFill>
                          <a:latin typeface="Calibri"/>
                          <a:ea typeface="宋体"/>
                          <a:cs typeface="宋体"/>
                        </a:rPr>
                        <a:t>三井住友银行（中国）有限公司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marR="104140" algn="l">
                        <a:spcAft>
                          <a:spcPts val="0"/>
                        </a:spcAft>
                      </a:pPr>
                      <a:r>
                        <a:rPr lang="en-US" sz="1800" kern="0">
                          <a:solidFill>
                            <a:srgbClr val="000000"/>
                          </a:solidFill>
                          <a:latin typeface="宋体"/>
                          <a:ea typeface="宋体"/>
                          <a:cs typeface="宋体"/>
                        </a:rPr>
                        <a:t>28</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c>
                  <a:txBody>
                    <a:bodyPr/>
                    <a:lstStyle/>
                    <a:p>
                      <a:pPr algn="l">
                        <a:spcAft>
                          <a:spcPts val="0"/>
                        </a:spcAft>
                      </a:pPr>
                      <a:r>
                        <a:rPr lang="zh-CN" sz="1800" kern="0" dirty="0">
                          <a:solidFill>
                            <a:srgbClr val="000000"/>
                          </a:solidFill>
                          <a:latin typeface="Calibri"/>
                          <a:ea typeface="宋体"/>
                          <a:cs typeface="宋体"/>
                        </a:rPr>
                        <a:t>德意志银行（中国）有限公司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4F7FB"/>
                    </a:solidFill>
                  </a:tcPr>
                </a:tc>
              </a:tr>
              <a:tr h="320433">
                <a:tc>
                  <a:txBody>
                    <a:bodyPr/>
                    <a:lstStyle/>
                    <a:p>
                      <a:pPr marR="104140" algn="l">
                        <a:spcAft>
                          <a:spcPts val="0"/>
                        </a:spcAft>
                      </a:pPr>
                      <a:r>
                        <a:rPr lang="en-US" sz="1800" kern="0">
                          <a:solidFill>
                            <a:srgbClr val="000000"/>
                          </a:solidFill>
                          <a:latin typeface="宋体"/>
                          <a:ea typeface="宋体"/>
                          <a:cs typeface="宋体"/>
                        </a:rPr>
                        <a:t>29</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zh-CN" sz="1800" kern="0">
                          <a:solidFill>
                            <a:srgbClr val="000000"/>
                          </a:solidFill>
                          <a:latin typeface="Calibri"/>
                          <a:ea typeface="宋体"/>
                          <a:cs typeface="宋体"/>
                        </a:rPr>
                        <a:t>瑞穗银行</a:t>
                      </a:r>
                      <a:r>
                        <a:rPr lang="en-US" sz="1800" kern="0">
                          <a:solidFill>
                            <a:srgbClr val="000000"/>
                          </a:solidFill>
                          <a:latin typeface="Calibri"/>
                          <a:ea typeface="宋体"/>
                          <a:cs typeface="宋体"/>
                        </a:rPr>
                        <a:t>(</a:t>
                      </a:r>
                      <a:r>
                        <a:rPr lang="zh-CN" sz="1800" kern="0">
                          <a:solidFill>
                            <a:srgbClr val="000000"/>
                          </a:solidFill>
                          <a:latin typeface="Calibri"/>
                          <a:ea typeface="宋体"/>
                          <a:cs typeface="宋体"/>
                        </a:rPr>
                        <a:t>中国</a:t>
                      </a:r>
                      <a:r>
                        <a:rPr lang="en-US" sz="1800" kern="0">
                          <a:solidFill>
                            <a:srgbClr val="000000"/>
                          </a:solidFill>
                          <a:latin typeface="Calibri"/>
                          <a:ea typeface="宋体"/>
                          <a:cs typeface="宋体"/>
                        </a:rPr>
                        <a:t>)</a:t>
                      </a:r>
                      <a:r>
                        <a:rPr lang="zh-CN" sz="1800" kern="0">
                          <a:solidFill>
                            <a:srgbClr val="000000"/>
                          </a:solidFill>
                          <a:latin typeface="Calibri"/>
                          <a:ea typeface="宋体"/>
                          <a:cs typeface="宋体"/>
                        </a:rPr>
                        <a:t>有限公司</a:t>
                      </a:r>
                      <a:endParaRPr lang="zh-CN" sz="1800" kern="100">
                        <a:latin typeface="Calibri"/>
                        <a:ea typeface="宋体"/>
                        <a:cs typeface="Times New Roman"/>
                      </a:endParaRPr>
                    </a:p>
                  </a:txBody>
                  <a:tcPr marL="69708"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marR="104140" algn="l">
                        <a:spcAft>
                          <a:spcPts val="0"/>
                        </a:spcAft>
                      </a:pPr>
                      <a:r>
                        <a:rPr lang="en-US" sz="1800" kern="0">
                          <a:solidFill>
                            <a:srgbClr val="000000"/>
                          </a:solidFill>
                          <a:latin typeface="宋体"/>
                          <a:ea typeface="宋体"/>
                          <a:cs typeface="宋体"/>
                        </a:rPr>
                        <a:t>30</a:t>
                      </a:r>
                      <a:endParaRPr lang="zh-CN" sz="1800" kern="10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c>
                  <a:txBody>
                    <a:bodyPr/>
                    <a:lstStyle/>
                    <a:p>
                      <a:pPr algn="l">
                        <a:spcAft>
                          <a:spcPts val="0"/>
                        </a:spcAft>
                      </a:pPr>
                      <a:r>
                        <a:rPr lang="zh-CN" sz="1800" kern="0" dirty="0">
                          <a:solidFill>
                            <a:srgbClr val="000000"/>
                          </a:solidFill>
                          <a:latin typeface="Calibri"/>
                          <a:ea typeface="宋体"/>
                          <a:cs typeface="宋体"/>
                        </a:rPr>
                        <a:t>三菱东京日联银行（中国）有限公司</a:t>
                      </a:r>
                      <a:endParaRPr lang="zh-CN" sz="1800" kern="100" dirty="0">
                        <a:latin typeface="Calibri"/>
                        <a:ea typeface="宋体"/>
                        <a:cs typeface="Times New Roman"/>
                      </a:endParaRPr>
                    </a:p>
                  </a:txBody>
                  <a:tcPr marL="0" marR="0" marT="0" marB="0" anchor="ctr">
                    <a:lnL>
                      <a:noFill/>
                    </a:lnL>
                    <a:lnR>
                      <a:noFill/>
                    </a:lnR>
                    <a:lnT w="12700" cap="flat" cmpd="sng" algn="ctr">
                      <a:solidFill>
                        <a:srgbClr val="CADEF6"/>
                      </a:solidFill>
                      <a:prstDash val="dot"/>
                      <a:round/>
                      <a:headEnd type="none" w="med" len="med"/>
                      <a:tailEnd type="none" w="med" len="med"/>
                    </a:lnT>
                    <a:lnB w="12700" cap="flat" cmpd="sng" algn="ctr">
                      <a:solidFill>
                        <a:srgbClr val="CADEF6"/>
                      </a:solidFill>
                      <a:prstDash val="dot"/>
                      <a:round/>
                      <a:headEnd type="none" w="med" len="med"/>
                      <a:tailEnd type="none" w="med" len="med"/>
                    </a:lnB>
                    <a:solidFill>
                      <a:srgbClr val="FFFFFF"/>
                    </a:solidFill>
                  </a:tcPr>
                </a:tc>
              </a:tr>
            </a:tbl>
          </a:graphicData>
        </a:graphic>
      </p:graphicFrame>
      <p:sp>
        <p:nvSpPr>
          <p:cNvPr id="6" name="TextBox 5"/>
          <p:cNvSpPr txBox="1"/>
          <p:nvPr/>
        </p:nvSpPr>
        <p:spPr>
          <a:xfrm>
            <a:off x="1914861" y="6314739"/>
            <a:ext cx="5959737" cy="369332"/>
          </a:xfrm>
          <a:prstGeom prst="rect">
            <a:avLst/>
          </a:prstGeom>
          <a:noFill/>
        </p:spPr>
        <p:txBody>
          <a:bodyPr wrap="square" rtlCol="0">
            <a:spAutoFit/>
          </a:bodyPr>
          <a:lstStyle/>
          <a:p>
            <a:r>
              <a:rPr lang="zh-CN" altLang="en-US" dirty="0" smtClean="0"/>
              <a:t>人民币即期外汇会员</a:t>
            </a:r>
            <a:r>
              <a:rPr lang="en-US" altLang="zh-CN" dirty="0" smtClean="0"/>
              <a:t>130</a:t>
            </a:r>
            <a:r>
              <a:rPr lang="zh-CN" altLang="en-US" dirty="0" smtClean="0"/>
              <a:t>家</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a:xfrm>
            <a:off x="971549" y="1447800"/>
            <a:ext cx="7976959" cy="4718824"/>
          </a:xfrm>
        </p:spPr>
        <p:txBody>
          <a:bodyPr>
            <a:normAutofit fontScale="85000" lnSpcReduction="20000"/>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一、汇率的标价方法</a:t>
            </a:r>
          </a:p>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       直接标价</a:t>
            </a:r>
            <a:r>
              <a:rPr lang="zh-CN" altLang="en-US" sz="2400" dirty="0" smtClean="0">
                <a:solidFill>
                  <a:schemeClr val="accent1"/>
                </a:solidFill>
                <a:latin typeface="微软雅黑" panose="020B0503020204020204" pitchFamily="34" charset="-122"/>
                <a:ea typeface="微软雅黑" panose="020B0503020204020204" pitchFamily="34" charset="-122"/>
              </a:rPr>
              <a:t>法</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a:lnSpc>
                <a:spcPct val="110000"/>
              </a:lnSpc>
              <a:buNone/>
            </a:pPr>
            <a:r>
              <a:rPr lang="en-US" altLang="zh-CN" sz="2400" b="1" dirty="0" smtClean="0">
                <a:solidFill>
                  <a:schemeClr val="accent1">
                    <a:lumMod val="75000"/>
                  </a:schemeClr>
                </a:solidFill>
                <a:latin typeface="微软雅黑" pitchFamily="34" charset="-122"/>
                <a:ea typeface="微软雅黑" pitchFamily="34" charset="-122"/>
              </a:rPr>
              <a:t>		</a:t>
            </a:r>
            <a:r>
              <a:rPr lang="en-US" altLang="zh-CN" sz="2200" b="1" dirty="0" smtClean="0">
                <a:solidFill>
                  <a:schemeClr val="accent1">
                    <a:lumMod val="75000"/>
                  </a:schemeClr>
                </a:solidFill>
                <a:latin typeface="微软雅黑" pitchFamily="34" charset="-122"/>
                <a:ea typeface="微软雅黑" pitchFamily="34" charset="-122"/>
              </a:rPr>
              <a:t>——</a:t>
            </a:r>
            <a:r>
              <a:rPr lang="zh-CN" altLang="en-US" sz="2200" b="1" dirty="0">
                <a:solidFill>
                  <a:schemeClr val="accent1">
                    <a:lumMod val="75000"/>
                  </a:schemeClr>
                </a:solidFill>
                <a:latin typeface="微软雅黑" pitchFamily="34" charset="-122"/>
                <a:ea typeface="微软雅黑" pitchFamily="34" charset="-122"/>
              </a:rPr>
              <a:t>用本币表示外币的价格。汇率变动方向与外币价值一致</a:t>
            </a:r>
            <a:endParaRPr lang="zh-CN" altLang="en-US" sz="2200" dirty="0">
              <a:solidFill>
                <a:schemeClr val="accent1"/>
              </a:solidFill>
              <a:latin typeface="微软雅黑" panose="020B0503020204020204" pitchFamily="34" charset="-122"/>
              <a:ea typeface="微软雅黑" panose="020B0503020204020204" pitchFamily="34" charset="-122"/>
            </a:endParaRPr>
          </a:p>
          <a:p>
            <a:pPr marL="457200" lvl="2" indent="0">
              <a:lnSpc>
                <a:spcPct val="100000"/>
              </a:lnSpc>
              <a:spcBef>
                <a:spcPts val="1000"/>
              </a:spcBef>
              <a:buNone/>
            </a:pPr>
            <a:endParaRPr lang="en-US" altLang="zh-CN" sz="2000" dirty="0" smtClean="0">
              <a:latin typeface="微软雅黑" panose="020B0503020204020204" pitchFamily="34" charset="-122"/>
              <a:ea typeface="微软雅黑" panose="020B0503020204020204" pitchFamily="34" charset="-122"/>
            </a:endParaRPr>
          </a:p>
          <a:p>
            <a:pPr marL="457200" lvl="2" indent="0">
              <a:lnSpc>
                <a:spcPct val="100000"/>
              </a:lnSpc>
              <a:spcBef>
                <a:spcPts val="1000"/>
              </a:spcBef>
              <a:buNone/>
            </a:pPr>
            <a:r>
              <a:rPr lang="zh-CN" altLang="en-US" sz="2000" dirty="0" smtClean="0">
                <a:latin typeface="微软雅黑" panose="020B0503020204020204" pitchFamily="34" charset="-122"/>
                <a:ea typeface="微软雅黑" panose="020B0503020204020204" pitchFamily="34" charset="-122"/>
              </a:rPr>
              <a:t>例如</a:t>
            </a:r>
            <a:r>
              <a:rPr lang="zh-CN" altLang="en-US" sz="2000" dirty="0">
                <a:latin typeface="微软雅黑" panose="020B0503020204020204" pitchFamily="34" charset="-122"/>
                <a:ea typeface="微软雅黑" panose="020B0503020204020204" pitchFamily="34" charset="-122"/>
              </a:rPr>
              <a:t>，我国人民币市场汇率为：</a:t>
            </a:r>
          </a:p>
          <a:p>
            <a:pPr marL="457200" lvl="2" indent="0">
              <a:lnSpc>
                <a:spcPct val="100000"/>
              </a:lnSpc>
              <a:spcBef>
                <a:spcPts val="1000"/>
              </a:spcBef>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2010</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18</a:t>
            </a:r>
            <a:r>
              <a:rPr lang="zh-CN" altLang="en-US" sz="2000" dirty="0">
                <a:latin typeface="微软雅黑" panose="020B0503020204020204" pitchFamily="34" charset="-122"/>
                <a:ea typeface="微软雅黑" panose="020B0503020204020204" pitchFamily="34" charset="-122"/>
              </a:rPr>
              <a:t>日公布的外汇牌价中基准价格： </a:t>
            </a:r>
          </a:p>
          <a:p>
            <a:pPr marL="457200" lvl="2" indent="0">
              <a:lnSpc>
                <a:spcPct val="100000"/>
              </a:lnSpc>
              <a:spcBef>
                <a:spcPts val="1000"/>
              </a:spcBef>
              <a:buNone/>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USD100=CNY682.75</a:t>
            </a:r>
            <a:endParaRPr lang="en-US" altLang="zh-CN" sz="2000" dirty="0">
              <a:latin typeface="微软雅黑" panose="020B0503020204020204" pitchFamily="34" charset="-122"/>
              <a:ea typeface="微软雅黑" panose="020B0503020204020204" pitchFamily="34" charset="-122"/>
            </a:endParaRPr>
          </a:p>
          <a:p>
            <a:pPr marL="457200" lvl="2" indent="0">
              <a:lnSpc>
                <a:spcPct val="100000"/>
              </a:lnSpc>
              <a:spcBef>
                <a:spcPts val="1000"/>
              </a:spcBef>
              <a:buNone/>
            </a:pPr>
            <a:r>
              <a:rPr lang="en-US" altLang="zh-CN" sz="2000" dirty="0">
                <a:latin typeface="微软雅黑" panose="020B0503020204020204" pitchFamily="34" charset="-122"/>
                <a:ea typeface="微软雅黑" panose="020B0503020204020204" pitchFamily="34" charset="-122"/>
              </a:rPr>
              <a:t>      2012</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日公布的外汇牌价中基准价格：  </a:t>
            </a:r>
          </a:p>
          <a:p>
            <a:pPr marL="457200" lvl="2" indent="0">
              <a:lnSpc>
                <a:spcPct val="100000"/>
              </a:lnSpc>
              <a:spcBef>
                <a:spcPts val="1000"/>
              </a:spcBef>
              <a:buNone/>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USD100=CNY631.21</a:t>
            </a:r>
          </a:p>
          <a:p>
            <a:pPr marL="914400" lvl="4" indent="0">
              <a:lnSpc>
                <a:spcPct val="100000"/>
              </a:lnSpc>
              <a:spcBef>
                <a:spcPts val="1000"/>
              </a:spcBef>
              <a:buNone/>
            </a:pPr>
            <a:r>
              <a:rPr lang="en-US" altLang="zh-CN" sz="2000" dirty="0">
                <a:latin typeface="微软雅黑" panose="020B0503020204020204" pitchFamily="34" charset="-122"/>
                <a:ea typeface="微软雅黑" panose="020B0503020204020204" pitchFamily="34" charset="-122"/>
              </a:rPr>
              <a:t>2019</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23</a:t>
            </a:r>
            <a:r>
              <a:rPr lang="zh-CN" altLang="en-US" sz="2000" dirty="0">
                <a:latin typeface="微软雅黑" panose="020B0503020204020204" pitchFamily="34" charset="-122"/>
                <a:ea typeface="微软雅黑" panose="020B0503020204020204" pitchFamily="34" charset="-122"/>
              </a:rPr>
              <a:t>日</a:t>
            </a:r>
            <a:endParaRPr lang="en-US" altLang="zh-CN" sz="2000" dirty="0">
              <a:latin typeface="微软雅黑" panose="020B0503020204020204" pitchFamily="34" charset="-122"/>
              <a:ea typeface="微软雅黑" panose="020B0503020204020204" pitchFamily="34" charset="-122"/>
            </a:endParaRPr>
          </a:p>
          <a:p>
            <a:pPr marL="914400" lvl="4" indent="0">
              <a:lnSpc>
                <a:spcPct val="100000"/>
              </a:lnSpc>
              <a:spcBef>
                <a:spcPts val="1000"/>
              </a:spcBef>
              <a:buNone/>
            </a:pPr>
            <a:r>
              <a:rPr lang="en-US" altLang="zh-CN" sz="2000" dirty="0" smtClean="0">
                <a:latin typeface="微软雅黑" panose="020B0503020204020204" pitchFamily="34" charset="-122"/>
                <a:ea typeface="微软雅黑" panose="020B0503020204020204" pitchFamily="34" charset="-122"/>
              </a:rPr>
              <a:t>	USD100=CNY707.34</a:t>
            </a:r>
            <a:endParaRPr lang="en-US" altLang="zh-CN" sz="2000" dirty="0">
              <a:latin typeface="微软雅黑" panose="020B0503020204020204" pitchFamily="34" charset="-122"/>
              <a:ea typeface="微软雅黑" panose="020B0503020204020204" pitchFamily="34" charset="-122"/>
            </a:endParaRPr>
          </a:p>
          <a:p>
            <a:pPr marL="457200" lvl="2" indent="0">
              <a:lnSpc>
                <a:spcPct val="100000"/>
              </a:lnSpc>
              <a:spcBef>
                <a:spcPts val="1000"/>
              </a:spcBef>
              <a:buNone/>
            </a:pPr>
            <a:r>
              <a:rPr lang="zh-CN" altLang="en-US" sz="2000" dirty="0">
                <a:latin typeface="微软雅黑" panose="020B0503020204020204" pitchFamily="34" charset="-122"/>
                <a:ea typeface="微软雅黑" panose="020B0503020204020204" pitchFamily="34" charset="-122"/>
              </a:rPr>
              <a:t>说明</a:t>
            </a:r>
            <a:r>
              <a:rPr lang="en-US" altLang="zh-CN" sz="2000" dirty="0">
                <a:latin typeface="微软雅黑" panose="020B0503020204020204" pitchFamily="34" charset="-122"/>
                <a:ea typeface="微软雅黑" panose="020B0503020204020204" pitchFamily="34" charset="-122"/>
              </a:rPr>
              <a:t>2010</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19</a:t>
            </a:r>
            <a:r>
              <a:rPr lang="zh-CN" altLang="en-US" sz="2000" dirty="0">
                <a:latin typeface="微软雅黑" panose="020B0503020204020204" pitchFamily="34" charset="-122"/>
                <a:ea typeface="微软雅黑" panose="020B0503020204020204" pitchFamily="34" charset="-122"/>
              </a:rPr>
              <a:t>日中国人民银行宣布汇改后，人民币币值上升，美元币值下跌</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2019</a:t>
            </a:r>
            <a:r>
              <a:rPr lang="zh-CN" altLang="en-US" sz="2000" dirty="0" smtClean="0">
                <a:latin typeface="微软雅黑" panose="020B0503020204020204" pitchFamily="34" charset="-122"/>
                <a:ea typeface="微软雅黑" panose="020B0503020204020204" pitchFamily="34" charset="-122"/>
              </a:rPr>
              <a:t>年人民币贬值。</a:t>
            </a:r>
            <a:endParaRPr lang="zh-CN" altLang="en-US" sz="20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13748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fade">
                                      <p:cBhvr>
                                        <p:cTn id="3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fontScale="77500" lnSpcReduction="20000"/>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一、汇率的标价方法</a:t>
            </a:r>
          </a:p>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       </a:t>
            </a: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直接</a:t>
            </a:r>
            <a:r>
              <a:rPr lang="zh-CN" altLang="en-US" sz="2400" dirty="0">
                <a:solidFill>
                  <a:schemeClr val="accent1"/>
                </a:solidFill>
                <a:latin typeface="微软雅黑" panose="020B0503020204020204" pitchFamily="34" charset="-122"/>
                <a:ea typeface="微软雅黑" panose="020B0503020204020204" pitchFamily="34" charset="-122"/>
              </a:rPr>
              <a:t>标价法</a:t>
            </a:r>
          </a:p>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	</a:t>
            </a: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间接</a:t>
            </a:r>
            <a:r>
              <a:rPr lang="zh-CN" altLang="en-US" sz="2400" dirty="0">
                <a:solidFill>
                  <a:schemeClr val="accent1"/>
                </a:solidFill>
                <a:latin typeface="微软雅黑" panose="020B0503020204020204" pitchFamily="34" charset="-122"/>
                <a:ea typeface="微软雅黑" panose="020B0503020204020204" pitchFamily="34" charset="-122"/>
              </a:rPr>
              <a:t>标价法</a:t>
            </a:r>
          </a:p>
          <a:p>
            <a:pPr marL="0" indent="0">
              <a:lnSpc>
                <a:spcPct val="150000"/>
              </a:lnSpc>
              <a:buNone/>
              <a:defRPr/>
            </a:pPr>
            <a:r>
              <a:rPr lang="en-US" altLang="zh-CN" sz="2400" dirty="0">
                <a:solidFill>
                  <a:schemeClr val="accent1"/>
                </a:solidFill>
                <a:latin typeface="微软雅黑" panose="020B0503020204020204" pitchFamily="34" charset="-122"/>
                <a:ea typeface="微软雅黑" panose="020B0503020204020204" pitchFamily="34" charset="-122"/>
              </a:rPr>
              <a:t>	</a:t>
            </a: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en-US" altLang="zh-CN" b="1" dirty="0" smtClean="0">
                <a:solidFill>
                  <a:schemeClr val="accent1">
                    <a:lumMod val="75000"/>
                  </a:schemeClr>
                </a:solidFill>
                <a:latin typeface="微软雅黑" pitchFamily="34" charset="-122"/>
                <a:ea typeface="微软雅黑" pitchFamily="34" charset="-122"/>
              </a:rPr>
              <a:t>——</a:t>
            </a:r>
            <a:r>
              <a:rPr lang="zh-CN" altLang="en-US" b="1" dirty="0">
                <a:solidFill>
                  <a:schemeClr val="accent1">
                    <a:lumMod val="75000"/>
                  </a:schemeClr>
                </a:solidFill>
                <a:latin typeface="微软雅黑" pitchFamily="34" charset="-122"/>
                <a:ea typeface="微软雅黑" pitchFamily="34" charset="-122"/>
              </a:rPr>
              <a:t>用外币表示本币的价格，汇率变动方向与本币价值一致。</a:t>
            </a:r>
            <a:endParaRPr lang="en-US" altLang="zh-CN" b="1" dirty="0">
              <a:solidFill>
                <a:schemeClr val="accent1">
                  <a:lumMod val="75000"/>
                </a:schemeClr>
              </a:solidFill>
              <a:latin typeface="微软雅黑" pitchFamily="34" charset="-122"/>
              <a:ea typeface="微软雅黑" pitchFamily="34" charset="-122"/>
            </a:endParaRPr>
          </a:p>
          <a:p>
            <a:pPr marL="277812" lvl="2" indent="0">
              <a:spcBef>
                <a:spcPts val="1000"/>
              </a:spcBef>
              <a:buNone/>
              <a:defRPr/>
            </a:pPr>
            <a:r>
              <a:rPr lang="en-US" altLang="zh-CN" sz="2000" b="1" dirty="0">
                <a:solidFill>
                  <a:schemeClr val="accent1">
                    <a:lumMod val="75000"/>
                  </a:schemeClr>
                </a:solidFill>
                <a:latin typeface="微软雅黑" pitchFamily="34" charset="-122"/>
                <a:ea typeface="微软雅黑" pitchFamily="34" charset="-122"/>
              </a:rPr>
              <a:t>	</a:t>
            </a:r>
          </a:p>
          <a:p>
            <a:pPr marL="277812" lvl="2" indent="0">
              <a:spcBef>
                <a:spcPts val="1000"/>
              </a:spcBef>
              <a:buNone/>
              <a:defRPr/>
            </a:pPr>
            <a:r>
              <a:rPr lang="zh-CN" altLang="en-US" sz="2000" dirty="0">
                <a:latin typeface="微软雅黑" panose="020B0503020204020204" pitchFamily="34" charset="-122"/>
                <a:ea typeface="微软雅黑" panose="020B0503020204020204" pitchFamily="34" charset="-122"/>
              </a:rPr>
              <a:t>例如，</a:t>
            </a:r>
            <a:endParaRPr lang="en-US" altLang="zh-CN" sz="2000" dirty="0">
              <a:latin typeface="微软雅黑" panose="020B0503020204020204" pitchFamily="34" charset="-122"/>
              <a:ea typeface="微软雅黑" panose="020B0503020204020204" pitchFamily="34" charset="-122"/>
            </a:endParaRPr>
          </a:p>
          <a:p>
            <a:pPr marL="277812" lvl="2" indent="0">
              <a:spcBef>
                <a:spcPts val="1000"/>
              </a:spcBef>
              <a:buNone/>
              <a:defRPr/>
            </a:pPr>
            <a:r>
              <a:rPr lang="en-US" altLang="zh-CN" sz="2000" dirty="0">
                <a:latin typeface="微软雅黑" panose="020B0503020204020204" pitchFamily="34" charset="-122"/>
                <a:ea typeface="微软雅黑" panose="020B0503020204020204" pitchFamily="34" charset="-122"/>
              </a:rPr>
              <a:t>		2017</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日汇率中间价：</a:t>
            </a:r>
            <a:endParaRPr lang="en-US" altLang="zh-CN" sz="2000" dirty="0">
              <a:latin typeface="微软雅黑" panose="020B0503020204020204" pitchFamily="34" charset="-122"/>
              <a:ea typeface="微软雅黑" panose="020B0503020204020204" pitchFamily="34" charset="-122"/>
            </a:endParaRPr>
          </a:p>
          <a:p>
            <a:pPr marL="277812" lvl="2" indent="0" algn="ctr">
              <a:spcBef>
                <a:spcPts val="1000"/>
              </a:spcBef>
              <a:buNone/>
              <a:defRPr/>
            </a:pPr>
            <a:r>
              <a:rPr lang="en-US" altLang="zh-CN" sz="2000" dirty="0">
                <a:latin typeface="微软雅黑" panose="020B0503020204020204" pitchFamily="34" charset="-122"/>
                <a:ea typeface="微软雅黑" panose="020B0503020204020204" pitchFamily="34" charset="-122"/>
              </a:rPr>
              <a:t>100</a:t>
            </a:r>
            <a:r>
              <a:rPr lang="zh-CN" altLang="en-US" sz="2000" dirty="0">
                <a:latin typeface="微软雅黑" panose="020B0503020204020204" pitchFamily="34" charset="-122"/>
                <a:ea typeface="微软雅黑" panose="020B0503020204020204" pitchFamily="34" charset="-122"/>
              </a:rPr>
              <a:t>人民币</a:t>
            </a:r>
            <a:r>
              <a:rPr lang="en-US" altLang="zh-CN" sz="2000" dirty="0">
                <a:latin typeface="微软雅黑" panose="020B0503020204020204" pitchFamily="34" charset="-122"/>
                <a:ea typeface="微软雅黑" panose="020B0503020204020204" pitchFamily="34" charset="-122"/>
              </a:rPr>
              <a:t>=881.49</a:t>
            </a:r>
            <a:r>
              <a:rPr lang="zh-CN" altLang="en-US" sz="2000" dirty="0">
                <a:latin typeface="微软雅黑" panose="020B0503020204020204" pitchFamily="34" charset="-122"/>
                <a:ea typeface="微软雅黑" panose="020B0503020204020204" pitchFamily="34" charset="-122"/>
              </a:rPr>
              <a:t>卢布</a:t>
            </a:r>
            <a:endParaRPr lang="en-US" altLang="zh-CN" sz="2000" dirty="0">
              <a:latin typeface="微软雅黑" panose="020B0503020204020204" pitchFamily="34" charset="-122"/>
              <a:ea typeface="微软雅黑" panose="020B0503020204020204" pitchFamily="34" charset="-122"/>
            </a:endParaRPr>
          </a:p>
          <a:p>
            <a:pPr marL="277812" lvl="2" indent="0">
              <a:spcBef>
                <a:spcPts val="1000"/>
              </a:spcBef>
              <a:buNone/>
              <a:defRPr/>
            </a:pPr>
            <a:r>
              <a:rPr lang="en-US" altLang="zh-CN" sz="2000" dirty="0">
                <a:latin typeface="微软雅黑" panose="020B0503020204020204" pitchFamily="34" charset="-122"/>
                <a:ea typeface="微软雅黑" panose="020B0503020204020204" pitchFamily="34" charset="-122"/>
              </a:rPr>
              <a:t>		2017</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19</a:t>
            </a:r>
            <a:r>
              <a:rPr lang="zh-CN" altLang="en-US" sz="2000" dirty="0">
                <a:latin typeface="微软雅黑" panose="020B0503020204020204" pitchFamily="34" charset="-122"/>
                <a:ea typeface="微软雅黑" panose="020B0503020204020204" pitchFamily="34" charset="-122"/>
              </a:rPr>
              <a:t>日的汇率中间价：</a:t>
            </a:r>
            <a:endParaRPr lang="en-US" altLang="zh-CN" sz="2000" dirty="0"/>
          </a:p>
          <a:p>
            <a:pPr marL="277812" lvl="2" indent="0" algn="ctr">
              <a:spcBef>
                <a:spcPts val="1000"/>
              </a:spcBef>
              <a:buNone/>
              <a:defRPr/>
            </a:pPr>
            <a:r>
              <a:rPr lang="en-US" altLang="zh-CN" sz="2000" dirty="0" smtClean="0">
                <a:latin typeface="微软雅黑" panose="020B0503020204020204" pitchFamily="34" charset="-122"/>
                <a:ea typeface="微软雅黑" panose="020B0503020204020204" pitchFamily="34" charset="-122"/>
              </a:rPr>
              <a:t>    100 </a:t>
            </a:r>
            <a:r>
              <a:rPr lang="zh-CN" altLang="en-US" sz="2000" dirty="0">
                <a:latin typeface="微软雅黑" panose="020B0503020204020204" pitchFamily="34" charset="-122"/>
                <a:ea typeface="微软雅黑" panose="020B0503020204020204" pitchFamily="34" charset="-122"/>
              </a:rPr>
              <a:t>人民币</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834.76 </a:t>
            </a:r>
            <a:r>
              <a:rPr lang="zh-CN" altLang="en-US" sz="2000" dirty="0" smtClean="0">
                <a:latin typeface="微软雅黑" panose="020B0503020204020204" pitchFamily="34" charset="-122"/>
                <a:ea typeface="微软雅黑" panose="020B0503020204020204" pitchFamily="34" charset="-122"/>
              </a:rPr>
              <a:t>卢布</a:t>
            </a:r>
            <a:endParaRPr lang="en-US" altLang="zh-CN" sz="2000" dirty="0" smtClean="0">
              <a:latin typeface="微软雅黑" panose="020B0503020204020204" pitchFamily="34" charset="-122"/>
              <a:ea typeface="微软雅黑" panose="020B0503020204020204" pitchFamily="34" charset="-122"/>
            </a:endParaRPr>
          </a:p>
          <a:p>
            <a:pPr marL="277812" lvl="2" indent="0">
              <a:spcBef>
                <a:spcPts val="1000"/>
              </a:spcBef>
              <a:buNone/>
              <a:defRPr/>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2019</a:t>
            </a:r>
            <a:r>
              <a:rPr lang="zh-CN" altLang="en-US" sz="2000" dirty="0" smtClean="0">
                <a:latin typeface="微软雅黑" panose="020B0503020204020204" pitchFamily="34" charset="-122"/>
                <a:ea typeface="微软雅黑" panose="020B0503020204020204" pitchFamily="34" charset="-122"/>
              </a:rPr>
              <a:t>年</a:t>
            </a:r>
            <a:r>
              <a:rPr lang="en-US" altLang="zh-CN" sz="2000" dirty="0" smtClean="0">
                <a:latin typeface="微软雅黑" panose="020B0503020204020204" pitchFamily="34" charset="-122"/>
                <a:ea typeface="微软雅黑" panose="020B0503020204020204" pitchFamily="34" charset="-122"/>
              </a:rPr>
              <a:t>9</a:t>
            </a:r>
            <a:r>
              <a:rPr lang="zh-CN" altLang="en-US" sz="2000" dirty="0" smtClean="0">
                <a:latin typeface="微软雅黑" panose="020B0503020204020204" pitchFamily="34" charset="-122"/>
                <a:ea typeface="微软雅黑" panose="020B0503020204020204" pitchFamily="34" charset="-122"/>
              </a:rPr>
              <a:t>月</a:t>
            </a:r>
            <a:r>
              <a:rPr lang="en-US" altLang="zh-CN" sz="2000" dirty="0" smtClean="0">
                <a:latin typeface="微软雅黑" panose="020B0503020204020204" pitchFamily="34" charset="-122"/>
                <a:ea typeface="微软雅黑" panose="020B0503020204020204" pitchFamily="34" charset="-122"/>
              </a:rPr>
              <a:t>23</a:t>
            </a:r>
            <a:r>
              <a:rPr lang="zh-CN" altLang="en-US" sz="2000" dirty="0" smtClean="0">
                <a:latin typeface="微软雅黑" panose="020B0503020204020204" pitchFamily="34" charset="-122"/>
                <a:ea typeface="微软雅黑" panose="020B0503020204020204" pitchFamily="34" charset="-122"/>
              </a:rPr>
              <a:t>日：</a:t>
            </a:r>
            <a:endParaRPr lang="en-US" altLang="zh-CN" sz="2000" dirty="0" smtClean="0">
              <a:latin typeface="微软雅黑" panose="020B0503020204020204" pitchFamily="34" charset="-122"/>
              <a:ea typeface="微软雅黑" panose="020B0503020204020204" pitchFamily="34" charset="-122"/>
            </a:endParaRPr>
          </a:p>
          <a:p>
            <a:pPr marL="277812" lvl="2" indent="0" algn="ctr">
              <a:spcBef>
                <a:spcPts val="1000"/>
              </a:spcBef>
              <a:buNone/>
              <a:defRPr/>
            </a:pPr>
            <a:r>
              <a:rPr lang="en-US" altLang="zh-CN" sz="2000" dirty="0" smtClean="0">
                <a:latin typeface="微软雅黑" panose="020B0503020204020204" pitchFamily="34" charset="-122"/>
                <a:ea typeface="微软雅黑" panose="020B0503020204020204" pitchFamily="34" charset="-122"/>
              </a:rPr>
              <a:t>100</a:t>
            </a:r>
            <a:r>
              <a:rPr lang="zh-CN" altLang="en-US" sz="2000" dirty="0" smtClean="0">
                <a:latin typeface="微软雅黑" panose="020B0503020204020204" pitchFamily="34" charset="-122"/>
                <a:ea typeface="微软雅黑" panose="020B0503020204020204" pitchFamily="34" charset="-122"/>
              </a:rPr>
              <a:t>人民币</a:t>
            </a:r>
            <a:r>
              <a:rPr lang="en-US" altLang="zh-CN" sz="2000" dirty="0" smtClean="0">
                <a:latin typeface="微软雅黑" panose="020B0503020204020204" pitchFamily="34" charset="-122"/>
                <a:ea typeface="微软雅黑" panose="020B0503020204020204" pitchFamily="34" charset="-122"/>
              </a:rPr>
              <a:t>=904.0</a:t>
            </a:r>
            <a:r>
              <a:rPr lang="zh-CN" altLang="en-US" sz="2000" dirty="0" smtClean="0">
                <a:latin typeface="微软雅黑" panose="020B0503020204020204" pitchFamily="34" charset="-122"/>
                <a:ea typeface="微软雅黑" panose="020B0503020204020204" pitchFamily="34" charset="-122"/>
              </a:rPr>
              <a:t>卢布</a:t>
            </a:r>
            <a:endParaRPr lang="en-US" altLang="zh-CN" sz="2000" dirty="0">
              <a:latin typeface="微软雅黑" panose="020B0503020204020204" pitchFamily="34" charset="-122"/>
              <a:ea typeface="微软雅黑" panose="020B0503020204020204" pitchFamily="34" charset="-122"/>
            </a:endParaRPr>
          </a:p>
          <a:p>
            <a:pPr>
              <a:lnSpc>
                <a:spcPct val="100000"/>
              </a:lnSpc>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122873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五边形 39"/>
          <p:cNvSpPr/>
          <p:nvPr/>
        </p:nvSpPr>
        <p:spPr>
          <a:xfrm>
            <a:off x="0" y="571500"/>
            <a:ext cx="5500688" cy="642938"/>
          </a:xfrm>
          <a:prstGeom prst="homePlat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1" name="五边形 40"/>
          <p:cNvSpPr/>
          <p:nvPr/>
        </p:nvSpPr>
        <p:spPr>
          <a:xfrm>
            <a:off x="0" y="571500"/>
            <a:ext cx="5221288" cy="642938"/>
          </a:xfrm>
          <a:prstGeom prst="homePlate">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2400" b="1" dirty="0">
                <a:latin typeface="微软雅黑" pitchFamily="34" charset="-122"/>
                <a:ea typeface="微软雅黑" pitchFamily="34" charset="-122"/>
              </a:rPr>
              <a:t>汇率的标价方法</a:t>
            </a:r>
          </a:p>
        </p:txBody>
      </p:sp>
      <p:sp>
        <p:nvSpPr>
          <p:cNvPr id="32" name="TextBox 31"/>
          <p:cNvSpPr txBox="1"/>
          <p:nvPr/>
        </p:nvSpPr>
        <p:spPr>
          <a:xfrm>
            <a:off x="629056" y="1214438"/>
            <a:ext cx="7885078" cy="4637167"/>
          </a:xfrm>
          <a:prstGeom prst="rect">
            <a:avLst/>
          </a:prstGeom>
          <a:noFill/>
        </p:spPr>
        <p:txBody>
          <a:bodyPr wrap="square">
            <a:spAutoFit/>
          </a:bodyPr>
          <a:lstStyle/>
          <a:p>
            <a:pPr>
              <a:lnSpc>
                <a:spcPct val="150000"/>
              </a:lnSpc>
              <a:defRPr/>
            </a:pPr>
            <a:r>
              <a:rPr lang="en-US" altLang="zh-CN" sz="2000" b="1" dirty="0">
                <a:solidFill>
                  <a:schemeClr val="accent1">
                    <a:lumMod val="75000"/>
                  </a:schemeClr>
                </a:solidFill>
                <a:latin typeface="微软雅黑" pitchFamily="34" charset="-122"/>
                <a:ea typeface="微软雅黑" pitchFamily="34" charset="-122"/>
              </a:rPr>
              <a:t>	</a:t>
            </a:r>
            <a:r>
              <a:rPr lang="zh-CN" altLang="en-US" sz="2000" b="1" dirty="0" smtClean="0">
                <a:solidFill>
                  <a:schemeClr val="accent1">
                    <a:lumMod val="75000"/>
                  </a:schemeClr>
                </a:solidFill>
                <a:latin typeface="微软雅黑" pitchFamily="34" charset="-122"/>
                <a:ea typeface="微软雅黑" pitchFamily="34" charset="-122"/>
              </a:rPr>
              <a:t>人民币</a:t>
            </a:r>
            <a:r>
              <a:rPr lang="zh-CN" altLang="en-US" sz="2000" b="1" dirty="0">
                <a:solidFill>
                  <a:schemeClr val="accent1">
                    <a:lumMod val="75000"/>
                  </a:schemeClr>
                </a:solidFill>
                <a:latin typeface="微软雅黑" pitchFamily="34" charset="-122"/>
                <a:ea typeface="微软雅黑" pitchFamily="34" charset="-122"/>
              </a:rPr>
              <a:t>汇率中间</a:t>
            </a:r>
            <a:r>
              <a:rPr lang="zh-CN" altLang="en-US" sz="2000" b="1" dirty="0" smtClean="0">
                <a:solidFill>
                  <a:schemeClr val="accent1">
                    <a:lumMod val="75000"/>
                  </a:schemeClr>
                </a:solidFill>
                <a:latin typeface="微软雅黑" pitchFamily="34" charset="-122"/>
                <a:ea typeface="微软雅黑" pitchFamily="34" charset="-122"/>
              </a:rPr>
              <a:t>价</a:t>
            </a:r>
            <a:r>
              <a:rPr lang="en-US" altLang="zh-CN" sz="2000" b="1" dirty="0" smtClean="0">
                <a:solidFill>
                  <a:schemeClr val="accent1">
                    <a:lumMod val="75000"/>
                  </a:schemeClr>
                </a:solidFill>
                <a:latin typeface="微软雅黑" pitchFamily="34" charset="-122"/>
                <a:ea typeface="微软雅黑" pitchFamily="34" charset="-122"/>
              </a:rPr>
              <a:t>2017</a:t>
            </a:r>
            <a:r>
              <a:rPr lang="zh-CN" altLang="en-US" sz="2000" b="1" dirty="0" smtClean="0">
                <a:solidFill>
                  <a:schemeClr val="accent1">
                    <a:lumMod val="75000"/>
                  </a:schemeClr>
                </a:solidFill>
                <a:latin typeface="微软雅黑" pitchFamily="34" charset="-122"/>
                <a:ea typeface="微软雅黑" pitchFamily="34" charset="-122"/>
              </a:rPr>
              <a:t>年</a:t>
            </a:r>
            <a:r>
              <a:rPr lang="en-US" altLang="zh-CN" sz="2000" b="1" dirty="0">
                <a:solidFill>
                  <a:schemeClr val="accent1">
                    <a:lumMod val="75000"/>
                  </a:schemeClr>
                </a:solidFill>
                <a:latin typeface="微软雅黑" pitchFamily="34" charset="-122"/>
                <a:ea typeface="微软雅黑" pitchFamily="34" charset="-122"/>
              </a:rPr>
              <a:t>5</a:t>
            </a:r>
            <a:r>
              <a:rPr lang="zh-CN" altLang="en-US" sz="2000" b="1" dirty="0">
                <a:solidFill>
                  <a:schemeClr val="accent1">
                    <a:lumMod val="75000"/>
                  </a:schemeClr>
                </a:solidFill>
                <a:latin typeface="微软雅黑" pitchFamily="34" charset="-122"/>
                <a:ea typeface="微软雅黑" pitchFamily="34" charset="-122"/>
              </a:rPr>
              <a:t>月</a:t>
            </a:r>
            <a:r>
              <a:rPr lang="en-US" altLang="zh-CN" sz="2000" b="1" dirty="0">
                <a:solidFill>
                  <a:schemeClr val="accent1">
                    <a:lumMod val="75000"/>
                  </a:schemeClr>
                </a:solidFill>
                <a:latin typeface="微软雅黑" pitchFamily="34" charset="-122"/>
                <a:ea typeface="微软雅黑" pitchFamily="34" charset="-122"/>
              </a:rPr>
              <a:t>19</a:t>
            </a:r>
            <a:r>
              <a:rPr lang="zh-CN" altLang="en-US" sz="2000" b="1" dirty="0" smtClean="0">
                <a:solidFill>
                  <a:schemeClr val="accent1">
                    <a:lumMod val="75000"/>
                  </a:schemeClr>
                </a:solidFill>
                <a:latin typeface="微软雅黑" pitchFamily="34" charset="-122"/>
                <a:ea typeface="微软雅黑" pitchFamily="34" charset="-122"/>
              </a:rPr>
              <a:t>日（</a:t>
            </a:r>
            <a:r>
              <a:rPr lang="en-US" altLang="zh-CN" sz="2000" b="1" dirty="0" smtClean="0">
                <a:solidFill>
                  <a:schemeClr val="accent1">
                    <a:lumMod val="75000"/>
                  </a:schemeClr>
                </a:solidFill>
                <a:latin typeface="微软雅黑" pitchFamily="34" charset="-122"/>
                <a:ea typeface="微软雅黑" pitchFamily="34" charset="-122"/>
              </a:rPr>
              <a:t>2019</a:t>
            </a:r>
            <a:r>
              <a:rPr lang="zh-CN" altLang="en-US" sz="2000" b="1" dirty="0" smtClean="0">
                <a:solidFill>
                  <a:schemeClr val="accent1">
                    <a:lumMod val="75000"/>
                  </a:schemeClr>
                </a:solidFill>
                <a:latin typeface="微软雅黑" pitchFamily="34" charset="-122"/>
                <a:ea typeface="微软雅黑" pitchFamily="34" charset="-122"/>
              </a:rPr>
              <a:t>年</a:t>
            </a:r>
            <a:r>
              <a:rPr lang="en-US" altLang="zh-CN" sz="2000" b="1" dirty="0" smtClean="0">
                <a:solidFill>
                  <a:schemeClr val="accent1">
                    <a:lumMod val="75000"/>
                  </a:schemeClr>
                </a:solidFill>
                <a:latin typeface="微软雅黑" pitchFamily="34" charset="-122"/>
                <a:ea typeface="微软雅黑" pitchFamily="34" charset="-122"/>
              </a:rPr>
              <a:t>9</a:t>
            </a:r>
            <a:r>
              <a:rPr lang="zh-CN" altLang="en-US" sz="2000" b="1" dirty="0" smtClean="0">
                <a:solidFill>
                  <a:schemeClr val="accent1">
                    <a:lumMod val="75000"/>
                  </a:schemeClr>
                </a:solidFill>
                <a:latin typeface="微软雅黑" pitchFamily="34" charset="-122"/>
                <a:ea typeface="微软雅黑" pitchFamily="34" charset="-122"/>
              </a:rPr>
              <a:t>月</a:t>
            </a:r>
            <a:r>
              <a:rPr lang="en-US" altLang="zh-CN" sz="2000" b="1" dirty="0" smtClean="0">
                <a:solidFill>
                  <a:schemeClr val="accent1">
                    <a:lumMod val="75000"/>
                  </a:schemeClr>
                </a:solidFill>
                <a:latin typeface="微软雅黑" pitchFamily="34" charset="-122"/>
                <a:ea typeface="微软雅黑" pitchFamily="34" charset="-122"/>
              </a:rPr>
              <a:t>23</a:t>
            </a:r>
            <a:r>
              <a:rPr lang="zh-CN" altLang="en-US" sz="2000" b="1" dirty="0" smtClean="0">
                <a:solidFill>
                  <a:schemeClr val="accent1">
                    <a:lumMod val="75000"/>
                  </a:schemeClr>
                </a:solidFill>
                <a:latin typeface="微软雅黑" pitchFamily="34" charset="-122"/>
                <a:ea typeface="微软雅黑" pitchFamily="34" charset="-122"/>
              </a:rPr>
              <a:t>日）</a:t>
            </a:r>
            <a:endParaRPr lang="en-US" altLang="zh-CN" sz="2000" b="1" dirty="0">
              <a:solidFill>
                <a:schemeClr val="accent1">
                  <a:lumMod val="75000"/>
                </a:schemeClr>
              </a:solidFill>
              <a:latin typeface="微软雅黑" pitchFamily="34" charset="-122"/>
              <a:ea typeface="微软雅黑" pitchFamily="34" charset="-122"/>
            </a:endParaRPr>
          </a:p>
          <a:p>
            <a:pPr marL="457200" lvl="2">
              <a:spcBef>
                <a:spcPts val="1000"/>
              </a:spcBef>
              <a:defRPr/>
            </a:pPr>
            <a:r>
              <a:rPr lang="en-US" altLang="zh-CN" sz="2000" b="1" dirty="0">
                <a:solidFill>
                  <a:schemeClr val="accent1">
                    <a:lumMod val="75000"/>
                  </a:schemeClr>
                </a:solidFill>
                <a:latin typeface="微软雅黑" pitchFamily="34" charset="-122"/>
                <a:ea typeface="微软雅黑" pitchFamily="34" charset="-122"/>
              </a:rPr>
              <a:t>	</a:t>
            </a:r>
            <a:r>
              <a:rPr lang="en-US" altLang="zh-CN" sz="2000"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100 </a:t>
            </a:r>
            <a:r>
              <a:rPr lang="zh-CN" altLang="en-US" b="1" dirty="0">
                <a:solidFill>
                  <a:schemeClr val="accent1">
                    <a:lumMod val="75000"/>
                  </a:schemeClr>
                </a:solidFill>
                <a:latin typeface="华文楷体" pitchFamily="2" charset="-122"/>
                <a:ea typeface="华文楷体" pitchFamily="2" charset="-122"/>
              </a:rPr>
              <a:t>美元</a:t>
            </a:r>
            <a:r>
              <a:rPr lang="en-US" altLang="zh-CN" b="1" dirty="0">
                <a:solidFill>
                  <a:schemeClr val="accent1">
                    <a:lumMod val="75000"/>
                  </a:schemeClr>
                </a:solidFill>
                <a:latin typeface="华文楷体" pitchFamily="2" charset="-122"/>
                <a:ea typeface="华文楷体" pitchFamily="2" charset="-122"/>
              </a:rPr>
              <a:t>        =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687.86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dirty="0"/>
              <a:t>707.34</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100 </a:t>
            </a:r>
            <a:r>
              <a:rPr lang="zh-CN" altLang="en-US" b="1" dirty="0">
                <a:solidFill>
                  <a:schemeClr val="accent1">
                    <a:lumMod val="75000"/>
                  </a:schemeClr>
                </a:solidFill>
                <a:latin typeface="华文楷体" pitchFamily="2" charset="-122"/>
                <a:ea typeface="华文楷体" pitchFamily="2" charset="-122"/>
              </a:rPr>
              <a:t>欧元        </a:t>
            </a:r>
            <a:r>
              <a:rPr lang="en-US" altLang="zh-CN" b="1" dirty="0">
                <a:solidFill>
                  <a:schemeClr val="accent1">
                    <a:lumMod val="75000"/>
                  </a:schemeClr>
                </a:solidFill>
                <a:latin typeface="华文楷体" pitchFamily="2" charset="-122"/>
                <a:ea typeface="华文楷体" pitchFamily="2" charset="-122"/>
              </a:rPr>
              <a:t>=   765.86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780.3</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100 </a:t>
            </a:r>
            <a:r>
              <a:rPr lang="zh-CN" altLang="en-US" b="1" dirty="0">
                <a:solidFill>
                  <a:schemeClr val="accent1">
                    <a:lumMod val="75000"/>
                  </a:schemeClr>
                </a:solidFill>
                <a:latin typeface="华文楷体" pitchFamily="2" charset="-122"/>
                <a:ea typeface="华文楷体" pitchFamily="2" charset="-122"/>
              </a:rPr>
              <a:t>日元        </a:t>
            </a: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6.1927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6.5769</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100 </a:t>
            </a:r>
            <a:r>
              <a:rPr lang="zh-CN" altLang="en-US" b="1" dirty="0">
                <a:solidFill>
                  <a:schemeClr val="accent1">
                    <a:lumMod val="75000"/>
                  </a:schemeClr>
                </a:solidFill>
                <a:latin typeface="华文楷体" pitchFamily="2" charset="-122"/>
                <a:ea typeface="华文楷体" pitchFamily="2" charset="-122"/>
              </a:rPr>
              <a:t>港元        </a:t>
            </a:r>
            <a:r>
              <a:rPr lang="en-US" altLang="zh-CN" b="1" dirty="0">
                <a:solidFill>
                  <a:schemeClr val="accent1">
                    <a:lumMod val="75000"/>
                  </a:schemeClr>
                </a:solidFill>
                <a:latin typeface="华文楷体" pitchFamily="2" charset="-122"/>
                <a:ea typeface="华文楷体" pitchFamily="2" charset="-122"/>
              </a:rPr>
              <a:t>=</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88.379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90.258</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100 </a:t>
            </a:r>
            <a:r>
              <a:rPr lang="zh-CN" altLang="en-US" b="1" dirty="0">
                <a:solidFill>
                  <a:schemeClr val="accent1">
                    <a:lumMod val="75000"/>
                  </a:schemeClr>
                </a:solidFill>
                <a:latin typeface="华文楷体" pitchFamily="2" charset="-122"/>
                <a:ea typeface="华文楷体" pitchFamily="2" charset="-122"/>
              </a:rPr>
              <a:t>英镑        </a:t>
            </a: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893.29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882.98</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rgbClr val="FF0000"/>
                </a:solidFill>
                <a:latin typeface="华文楷体" pitchFamily="2" charset="-122"/>
                <a:ea typeface="华文楷体" pitchFamily="2" charset="-122"/>
              </a:rPr>
              <a:t>100 </a:t>
            </a:r>
            <a:r>
              <a:rPr lang="zh-CN" altLang="en-US" b="1" dirty="0">
                <a:solidFill>
                  <a:srgbClr val="FF0000"/>
                </a:solidFill>
                <a:latin typeface="华文楷体" pitchFamily="2" charset="-122"/>
                <a:ea typeface="华文楷体" pitchFamily="2" charset="-122"/>
              </a:rPr>
              <a:t>人民币   </a:t>
            </a:r>
            <a:r>
              <a:rPr lang="en-US" altLang="zh-CN" b="1" dirty="0">
                <a:solidFill>
                  <a:srgbClr val="FF0000"/>
                </a:solidFill>
                <a:latin typeface="华文楷体" pitchFamily="2" charset="-122"/>
                <a:ea typeface="华文楷体" pitchFamily="2" charset="-122"/>
              </a:rPr>
              <a:t>=</a:t>
            </a:r>
            <a:r>
              <a:rPr lang="zh-CN" altLang="en-US" b="1" dirty="0">
                <a:solidFill>
                  <a:srgbClr val="FF0000"/>
                </a:solidFill>
                <a:latin typeface="华文楷体" pitchFamily="2" charset="-122"/>
                <a:ea typeface="华文楷体" pitchFamily="2" charset="-122"/>
              </a:rPr>
              <a:t>   </a:t>
            </a:r>
            <a:r>
              <a:rPr lang="en-US" altLang="zh-CN" b="1" dirty="0">
                <a:solidFill>
                  <a:srgbClr val="FF0000"/>
                </a:solidFill>
                <a:latin typeface="华文楷体" pitchFamily="2" charset="-122"/>
                <a:ea typeface="华文楷体" pitchFamily="2" charset="-122"/>
              </a:rPr>
              <a:t>62.744 </a:t>
            </a:r>
            <a:r>
              <a:rPr lang="zh-CN" altLang="en-US" b="1" dirty="0" smtClean="0">
                <a:solidFill>
                  <a:srgbClr val="FF0000"/>
                </a:solidFill>
                <a:latin typeface="华文楷体" pitchFamily="2" charset="-122"/>
                <a:ea typeface="华文楷体" pitchFamily="2" charset="-122"/>
              </a:rPr>
              <a:t>林吉特（</a:t>
            </a:r>
            <a:r>
              <a:rPr lang="en-US" altLang="zh-CN" b="1" dirty="0" smtClean="0">
                <a:solidFill>
                  <a:srgbClr val="FF0000"/>
                </a:solidFill>
                <a:latin typeface="华文楷体" pitchFamily="2" charset="-122"/>
                <a:ea typeface="华文楷体" pitchFamily="2" charset="-122"/>
              </a:rPr>
              <a:t>58.857</a:t>
            </a:r>
            <a:r>
              <a:rPr lang="zh-CN" altLang="en-US" b="1" dirty="0" smtClean="0">
                <a:solidFill>
                  <a:srgbClr val="FF0000"/>
                </a:solidFill>
                <a:latin typeface="华文楷体" pitchFamily="2" charset="-122"/>
                <a:ea typeface="华文楷体" pitchFamily="2" charset="-122"/>
              </a:rPr>
              <a:t>）</a:t>
            </a:r>
            <a:endParaRPr lang="en-US" altLang="zh-CN" b="1" dirty="0">
              <a:solidFill>
                <a:srgbClr val="FF0000"/>
              </a:solidFill>
              <a:latin typeface="华文楷体" pitchFamily="2" charset="-122"/>
              <a:ea typeface="华文楷体" pitchFamily="2" charset="-122"/>
            </a:endParaRPr>
          </a:p>
          <a:p>
            <a:pPr marL="1371600" lvl="4">
              <a:spcBef>
                <a:spcPts val="1000"/>
              </a:spcBef>
              <a:defRPr/>
            </a:pPr>
            <a:r>
              <a:rPr lang="en-US" altLang="zh-CN" b="1" dirty="0">
                <a:solidFill>
                  <a:srgbClr val="FF0000"/>
                </a:solidFill>
                <a:latin typeface="华文楷体" pitchFamily="2" charset="-122"/>
                <a:ea typeface="华文楷体" pitchFamily="2" charset="-122"/>
              </a:rPr>
              <a:t>	</a:t>
            </a:r>
            <a:r>
              <a:rPr lang="zh-CN" altLang="en-US" b="1" dirty="0">
                <a:solidFill>
                  <a:srgbClr val="FF0000"/>
                </a:solidFill>
                <a:latin typeface="华文楷体" pitchFamily="2" charset="-122"/>
                <a:ea typeface="华文楷体" pitchFamily="2" charset="-122"/>
              </a:rPr>
              <a:t> </a:t>
            </a:r>
            <a:r>
              <a:rPr lang="en-US" altLang="zh-CN" b="1" dirty="0">
                <a:solidFill>
                  <a:srgbClr val="FF0000"/>
                </a:solidFill>
                <a:latin typeface="华文楷体" pitchFamily="2" charset="-122"/>
                <a:ea typeface="华文楷体" pitchFamily="2" charset="-122"/>
              </a:rPr>
              <a:t>100 </a:t>
            </a:r>
            <a:r>
              <a:rPr lang="zh-CN" altLang="en-US" b="1" dirty="0">
                <a:solidFill>
                  <a:srgbClr val="FF0000"/>
                </a:solidFill>
                <a:latin typeface="华文楷体" pitchFamily="2" charset="-122"/>
                <a:ea typeface="华文楷体" pitchFamily="2" charset="-122"/>
              </a:rPr>
              <a:t>人民币   </a:t>
            </a:r>
            <a:r>
              <a:rPr lang="en-US" altLang="zh-CN" b="1" dirty="0">
                <a:solidFill>
                  <a:srgbClr val="FF0000"/>
                </a:solidFill>
                <a:latin typeface="华文楷体" pitchFamily="2" charset="-122"/>
                <a:ea typeface="华文楷体" pitchFamily="2" charset="-122"/>
              </a:rPr>
              <a:t>=</a:t>
            </a:r>
            <a:r>
              <a:rPr lang="zh-CN" altLang="en-US" b="1" dirty="0">
                <a:solidFill>
                  <a:srgbClr val="FF0000"/>
                </a:solidFill>
                <a:latin typeface="华文楷体" pitchFamily="2" charset="-122"/>
                <a:ea typeface="华文楷体" pitchFamily="2" charset="-122"/>
              </a:rPr>
              <a:t>   </a:t>
            </a:r>
            <a:r>
              <a:rPr lang="en-US" altLang="zh-CN" b="1" dirty="0">
                <a:solidFill>
                  <a:srgbClr val="FF0000"/>
                </a:solidFill>
                <a:latin typeface="华文楷体" pitchFamily="2" charset="-122"/>
                <a:ea typeface="华文楷体" pitchFamily="2" charset="-122"/>
              </a:rPr>
              <a:t>834.76 </a:t>
            </a:r>
            <a:r>
              <a:rPr lang="zh-CN" altLang="en-US" b="1" dirty="0">
                <a:solidFill>
                  <a:srgbClr val="FF0000"/>
                </a:solidFill>
                <a:latin typeface="华文楷体" pitchFamily="2" charset="-122"/>
                <a:ea typeface="华文楷体" pitchFamily="2" charset="-122"/>
              </a:rPr>
              <a:t>卢布 </a:t>
            </a:r>
            <a:r>
              <a:rPr lang="zh-CN" altLang="en-US" b="1" dirty="0" smtClean="0">
                <a:solidFill>
                  <a:srgbClr val="FF0000"/>
                </a:solidFill>
                <a:latin typeface="华文楷体" pitchFamily="2" charset="-122"/>
                <a:ea typeface="华文楷体" pitchFamily="2" charset="-122"/>
              </a:rPr>
              <a:t>（</a:t>
            </a:r>
            <a:r>
              <a:rPr lang="en-US" altLang="zh-CN" b="1" dirty="0" smtClean="0">
                <a:solidFill>
                  <a:srgbClr val="FF0000"/>
                </a:solidFill>
                <a:latin typeface="华文楷体" pitchFamily="2" charset="-122"/>
                <a:ea typeface="华文楷体" pitchFamily="2" charset="-122"/>
              </a:rPr>
              <a:t>904.0</a:t>
            </a:r>
            <a:r>
              <a:rPr lang="zh-CN" altLang="en-US" b="1" dirty="0" smtClean="0">
                <a:solidFill>
                  <a:srgbClr val="FF0000"/>
                </a:solidFill>
                <a:latin typeface="华文楷体" pitchFamily="2" charset="-122"/>
                <a:ea typeface="华文楷体" pitchFamily="2" charset="-122"/>
              </a:rPr>
              <a:t>）</a:t>
            </a:r>
            <a:endParaRPr lang="en-US" altLang="zh-CN" b="1" dirty="0">
              <a:solidFill>
                <a:srgbClr val="FF0000"/>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100 </a:t>
            </a:r>
            <a:r>
              <a:rPr lang="zh-CN" altLang="en-US" b="1" dirty="0">
                <a:solidFill>
                  <a:schemeClr val="accent1">
                    <a:lumMod val="75000"/>
                  </a:schemeClr>
                </a:solidFill>
                <a:latin typeface="华文楷体" pitchFamily="2" charset="-122"/>
                <a:ea typeface="华文楷体" pitchFamily="2" charset="-122"/>
              </a:rPr>
              <a:t>澳元       </a:t>
            </a: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511.32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479.68</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a:solidFill>
                  <a:schemeClr val="accent1">
                    <a:lumMod val="75000"/>
                  </a:schemeClr>
                </a:solidFill>
                <a:latin typeface="华文楷体" pitchFamily="2" charset="-122"/>
                <a:ea typeface="华文楷体" pitchFamily="2" charset="-122"/>
              </a:rPr>
              <a:t>	</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100 </a:t>
            </a:r>
            <a:r>
              <a:rPr lang="zh-CN" altLang="en-US" b="1" dirty="0">
                <a:solidFill>
                  <a:schemeClr val="accent1">
                    <a:lumMod val="75000"/>
                  </a:schemeClr>
                </a:solidFill>
                <a:latin typeface="华文楷体" pitchFamily="2" charset="-122"/>
                <a:ea typeface="华文楷体" pitchFamily="2" charset="-122"/>
              </a:rPr>
              <a:t>加元       </a:t>
            </a:r>
            <a:r>
              <a:rPr lang="en-US" altLang="zh-CN" b="1" dirty="0">
                <a:solidFill>
                  <a:schemeClr val="accent1">
                    <a:lumMod val="75000"/>
                  </a:schemeClr>
                </a:solidFill>
                <a:latin typeface="华文楷体" pitchFamily="2" charset="-122"/>
                <a:ea typeface="华文楷体" pitchFamily="2" charset="-122"/>
              </a:rPr>
              <a:t>=</a:t>
            </a:r>
            <a:r>
              <a:rPr lang="zh-CN" altLang="en-US" b="1" dirty="0">
                <a:solidFill>
                  <a:schemeClr val="accent1">
                    <a:lumMod val="75000"/>
                  </a:schemeClr>
                </a:solidFill>
                <a:latin typeface="华文楷体" pitchFamily="2" charset="-122"/>
                <a:ea typeface="华文楷体" pitchFamily="2" charset="-122"/>
              </a:rPr>
              <a:t>   </a:t>
            </a:r>
            <a:r>
              <a:rPr lang="en-US" altLang="zh-CN" b="1" dirty="0">
                <a:solidFill>
                  <a:schemeClr val="accent1">
                    <a:lumMod val="75000"/>
                  </a:schemeClr>
                </a:solidFill>
                <a:latin typeface="华文楷体" pitchFamily="2" charset="-122"/>
                <a:ea typeface="华文楷体" pitchFamily="2" charset="-122"/>
              </a:rPr>
              <a:t>506.96 </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533.83</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smtClean="0">
              <a:solidFill>
                <a:schemeClr val="accent1">
                  <a:lumMod val="75000"/>
                </a:schemeClr>
              </a:solidFill>
              <a:latin typeface="华文楷体" pitchFamily="2" charset="-122"/>
              <a:ea typeface="华文楷体" pitchFamily="2" charset="-122"/>
            </a:endParaRPr>
          </a:p>
          <a:p>
            <a:pPr marL="1371600" lvl="4">
              <a:spcBef>
                <a:spcPts val="1000"/>
              </a:spcBef>
              <a:defRPr/>
            </a:pPr>
            <a:r>
              <a:rPr lang="en-US" altLang="zh-CN" b="1" dirty="0" smtClean="0">
                <a:solidFill>
                  <a:schemeClr val="accent1">
                    <a:lumMod val="75000"/>
                  </a:schemeClr>
                </a:solidFill>
                <a:latin typeface="华文楷体" pitchFamily="2" charset="-122"/>
                <a:ea typeface="华文楷体" pitchFamily="2" charset="-122"/>
              </a:rPr>
              <a:t>	 100</a:t>
            </a:r>
            <a:r>
              <a:rPr lang="zh-CN" altLang="en-US" b="1" dirty="0" smtClean="0">
                <a:solidFill>
                  <a:schemeClr val="accent1">
                    <a:lumMod val="75000"/>
                  </a:schemeClr>
                </a:solidFill>
                <a:latin typeface="华文楷体" pitchFamily="2" charset="-122"/>
                <a:ea typeface="华文楷体" pitchFamily="2" charset="-122"/>
              </a:rPr>
              <a:t>人民币</a:t>
            </a:r>
            <a:r>
              <a:rPr lang="en-US" altLang="zh-CN" b="1" dirty="0" smtClean="0">
                <a:solidFill>
                  <a:schemeClr val="accent1">
                    <a:lumMod val="75000"/>
                  </a:schemeClr>
                </a:solidFill>
                <a:latin typeface="华文楷体" pitchFamily="2" charset="-122"/>
                <a:ea typeface="华文楷体" pitchFamily="2" charset="-122"/>
              </a:rPr>
              <a:t>=16362</a:t>
            </a:r>
            <a:r>
              <a:rPr lang="zh-CN" altLang="en-US" b="1" dirty="0" smtClean="0">
                <a:solidFill>
                  <a:schemeClr val="accent1">
                    <a:lumMod val="75000"/>
                  </a:schemeClr>
                </a:solidFill>
                <a:latin typeface="华文楷体" pitchFamily="2" charset="-122"/>
                <a:ea typeface="华文楷体" pitchFamily="2" charset="-122"/>
              </a:rPr>
              <a:t>韩元（</a:t>
            </a:r>
            <a:r>
              <a:rPr lang="en-US" altLang="zh-CN" b="1" dirty="0" smtClean="0">
                <a:solidFill>
                  <a:schemeClr val="accent1">
                    <a:lumMod val="75000"/>
                  </a:schemeClr>
                </a:solidFill>
                <a:latin typeface="华文楷体" pitchFamily="2" charset="-122"/>
                <a:ea typeface="华文楷体" pitchFamily="2" charset="-122"/>
              </a:rPr>
              <a:t>16809</a:t>
            </a:r>
            <a:r>
              <a:rPr lang="zh-CN" altLang="en-US" b="1" dirty="0" smtClean="0">
                <a:solidFill>
                  <a:schemeClr val="accent1">
                    <a:lumMod val="75000"/>
                  </a:schemeClr>
                </a:solidFill>
                <a:latin typeface="华文楷体" pitchFamily="2" charset="-122"/>
                <a:ea typeface="华文楷体" pitchFamily="2" charset="-122"/>
              </a:rPr>
              <a:t>）</a:t>
            </a:r>
            <a:endParaRPr lang="en-US" altLang="zh-CN" b="1" dirty="0" smtClean="0">
              <a:solidFill>
                <a:schemeClr val="accent1">
                  <a:lumMod val="75000"/>
                </a:schemeClr>
              </a:solidFill>
              <a:latin typeface="华文楷体" pitchFamily="2" charset="-122"/>
              <a:ea typeface="华文楷体" pitchFamily="2" charset="-122"/>
            </a:endParaRPr>
          </a:p>
        </p:txBody>
      </p:sp>
      <p:sp>
        <p:nvSpPr>
          <p:cNvPr id="2" name="TextBox 1"/>
          <p:cNvSpPr txBox="1"/>
          <p:nvPr/>
        </p:nvSpPr>
        <p:spPr>
          <a:xfrm>
            <a:off x="408561" y="5748349"/>
            <a:ext cx="8508459" cy="1200329"/>
          </a:xfrm>
          <a:prstGeom prst="rect">
            <a:avLst/>
          </a:prstGeom>
          <a:noFill/>
        </p:spPr>
        <p:txBody>
          <a:bodyPr wrap="square" rtlCol="0">
            <a:spAutoFit/>
          </a:bodyPr>
          <a:lstStyle/>
          <a:p>
            <a:pPr marL="0" lvl="4"/>
            <a:r>
              <a:rPr lang="zh-CN" altLang="en-US" b="1" dirty="0"/>
              <a:t>人民币对马来西亚林吉特、俄罗斯卢布、南非兰特、韩元、阿联酋迪拉姆、沙特里亚尔、匈牙利福林、波兰兹罗提、丹麦克朗、瑞典克朗、挪威克朗、土耳其里拉、墨西哥比索、泰铢汇率中间价采取间接标价法</a:t>
            </a:r>
            <a:endParaRPr lang="en-US" altLang="zh-CN" b="1" dirty="0">
              <a:solidFill>
                <a:schemeClr val="accent1">
                  <a:lumMod val="75000"/>
                </a:schemeClr>
              </a:solidFill>
              <a:latin typeface="华文楷体" pitchFamily="2" charset="-122"/>
              <a:ea typeface="华文楷体" pitchFamily="2" charset="-122"/>
            </a:endParaRPr>
          </a:p>
          <a:p>
            <a:endParaRPr lang="zh-CN" altLang="en-US" dirty="0"/>
          </a:p>
        </p:txBody>
      </p:sp>
    </p:spTree>
    <p:extLst>
      <p:ext uri="{BB962C8B-B14F-4D97-AF65-F5344CB8AC3E}">
        <p14:creationId xmlns:p14="http://schemas.microsoft.com/office/powerpoint/2010/main" val="314608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一、汇率的标价方法</a:t>
            </a:r>
          </a:p>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       </a:t>
            </a: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直接</a:t>
            </a:r>
            <a:r>
              <a:rPr lang="zh-CN" altLang="en-US" sz="2400" dirty="0">
                <a:solidFill>
                  <a:schemeClr val="accent1"/>
                </a:solidFill>
                <a:latin typeface="微软雅黑" panose="020B0503020204020204" pitchFamily="34" charset="-122"/>
                <a:ea typeface="微软雅黑" panose="020B0503020204020204" pitchFamily="34" charset="-122"/>
              </a:rPr>
              <a:t>标价法</a:t>
            </a:r>
          </a:p>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	</a:t>
            </a: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间接</a:t>
            </a:r>
            <a:r>
              <a:rPr lang="zh-CN" altLang="en-US" sz="2400" dirty="0">
                <a:solidFill>
                  <a:schemeClr val="accent1"/>
                </a:solidFill>
                <a:latin typeface="微软雅黑" panose="020B0503020204020204" pitchFamily="34" charset="-122"/>
                <a:ea typeface="微软雅黑" panose="020B0503020204020204" pitchFamily="34" charset="-122"/>
              </a:rPr>
              <a:t>标价法</a:t>
            </a:r>
          </a:p>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	</a:t>
            </a: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美元</a:t>
            </a:r>
            <a:r>
              <a:rPr lang="zh-CN" altLang="en-US" sz="2400" dirty="0">
                <a:solidFill>
                  <a:schemeClr val="accent1"/>
                </a:solidFill>
                <a:latin typeface="微软雅黑" panose="020B0503020204020204" pitchFamily="34" charset="-122"/>
                <a:ea typeface="微软雅黑" panose="020B0503020204020204" pitchFamily="34" charset="-122"/>
              </a:rPr>
              <a:t>标价法</a:t>
            </a:r>
          </a:p>
          <a:p>
            <a:pPr marL="228600" lvl="1" indent="0">
              <a:lnSpc>
                <a:spcPct val="100000"/>
              </a:lnSpc>
              <a:buNone/>
            </a:pPr>
            <a:r>
              <a:rPr lang="zh-CN" altLang="en-US" sz="2400" dirty="0" smtClean="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目的：简化报价程序；</a:t>
            </a: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广泛</a:t>
            </a:r>
            <a:r>
              <a:rPr lang="zh-CN" altLang="en-US" sz="2400" dirty="0">
                <a:latin typeface="微软雅黑" panose="020B0503020204020204" pitchFamily="34" charset="-122"/>
                <a:ea typeface="微软雅黑" panose="020B0503020204020204" pitchFamily="34" charset="-122"/>
              </a:rPr>
              <a:t>比较各种货币</a:t>
            </a:r>
            <a:r>
              <a:rPr lang="zh-CN" altLang="en-US" sz="2400" dirty="0" smtClean="0">
                <a:latin typeface="微软雅黑" panose="020B0503020204020204" pitchFamily="34" charset="-122"/>
                <a:ea typeface="微软雅黑" panose="020B0503020204020204" pitchFamily="34" charset="-122"/>
              </a:rPr>
              <a:t>的汇价</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11828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3"/>
          <p:cNvGraphicFramePr>
            <a:graphicFrameLocks noGrp="1"/>
          </p:cNvGraphicFramePr>
          <p:nvPr>
            <p:extLst>
              <p:ext uri="{D42A27DB-BD31-4B8C-83A1-F6EECF244321}">
                <p14:modId xmlns:p14="http://schemas.microsoft.com/office/powerpoint/2010/main" val="2523584802"/>
              </p:ext>
            </p:extLst>
          </p:nvPr>
        </p:nvGraphicFramePr>
        <p:xfrm>
          <a:off x="707019" y="1261132"/>
          <a:ext cx="7745607" cy="4795417"/>
        </p:xfrm>
        <a:graphic>
          <a:graphicData uri="http://schemas.openxmlformats.org/drawingml/2006/table">
            <a:tbl>
              <a:tblPr/>
              <a:tblGrid>
                <a:gridCol w="1936402"/>
                <a:gridCol w="1936402"/>
                <a:gridCol w="1683893"/>
                <a:gridCol w="2188910"/>
              </a:tblGrid>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国家或地区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货币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符号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ISO</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标准代码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中国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人民币元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RMB</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CNY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香港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港元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HK$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HKD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美国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美元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USD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日本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日元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JPY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德国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德国马克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DM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DEM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法国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法国法郎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FRF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欧元区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欧元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EUR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瑞典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瑞典克朗</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SKr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SEK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瑞士</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瑞士法郎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SF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CHF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59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英国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英镑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GBP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36647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二、法定升值与升值、法定贬值与</a:t>
            </a:r>
            <a:r>
              <a:rPr lang="zh-CN" altLang="en-US" sz="2400" dirty="0" smtClean="0">
                <a:latin typeface="微软雅黑" panose="020B0503020204020204" pitchFamily="34" charset="-122"/>
                <a:ea typeface="微软雅黑" panose="020B0503020204020204" pitchFamily="34" charset="-122"/>
              </a:rPr>
              <a:t>贬值</a:t>
            </a:r>
            <a:endParaRPr lang="en-US" altLang="zh-CN" sz="2400" dirty="0" smtClean="0">
              <a:latin typeface="微软雅黑" panose="020B0503020204020204" pitchFamily="34" charset="-122"/>
              <a:ea typeface="微软雅黑" panose="020B0503020204020204" pitchFamily="34" charset="-122"/>
            </a:endParaRPr>
          </a:p>
          <a:p>
            <a:pPr>
              <a:lnSpc>
                <a:spcPct val="100000"/>
              </a:lnSpc>
              <a:spcBef>
                <a:spcPts val="1000"/>
              </a:spcBef>
              <a:buNone/>
            </a:pPr>
            <a:endParaRPr lang="zh-CN" altLang="en-US" sz="2400" dirty="0">
              <a:latin typeface="微软雅黑" panose="020B0503020204020204" pitchFamily="34" charset="-122"/>
              <a:ea typeface="微软雅黑" panose="020B0503020204020204" pitchFamily="34" charset="-122"/>
            </a:endParaRP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法定</a:t>
            </a:r>
            <a:r>
              <a:rPr lang="zh-CN" altLang="en-US" sz="2400" dirty="0">
                <a:latin typeface="微软雅黑" panose="020B0503020204020204" pitchFamily="34" charset="-122"/>
                <a:ea typeface="微软雅黑" panose="020B0503020204020204" pitchFamily="34" charset="-122"/>
              </a:rPr>
              <a:t>升值（</a:t>
            </a:r>
            <a:r>
              <a:rPr lang="en-US" altLang="zh-CN" sz="2400" dirty="0">
                <a:latin typeface="微软雅黑" panose="020B0503020204020204" pitchFamily="34" charset="-122"/>
                <a:ea typeface="微软雅黑" panose="020B0503020204020204" pitchFamily="34" charset="-122"/>
              </a:rPr>
              <a:t>Revaluation</a:t>
            </a:r>
            <a:r>
              <a:rPr lang="zh-CN" altLang="en-US" sz="2400" dirty="0">
                <a:latin typeface="微软雅黑" panose="020B0503020204020204" pitchFamily="34" charset="-122"/>
                <a:ea typeface="微软雅黑" panose="020B0503020204020204" pitchFamily="34" charset="-122"/>
              </a:rPr>
              <a:t>）</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法定</a:t>
            </a:r>
            <a:r>
              <a:rPr lang="zh-CN" altLang="en-US" sz="2400" dirty="0">
                <a:latin typeface="微软雅黑" panose="020B0503020204020204" pitchFamily="34" charset="-122"/>
                <a:ea typeface="微软雅黑" panose="020B0503020204020204" pitchFamily="34" charset="-122"/>
              </a:rPr>
              <a:t>贬值（</a:t>
            </a:r>
            <a:r>
              <a:rPr lang="en-US" altLang="zh-CN" sz="2400" dirty="0">
                <a:latin typeface="微软雅黑" panose="020B0503020204020204" pitchFamily="34" charset="-122"/>
                <a:ea typeface="微软雅黑" panose="020B0503020204020204" pitchFamily="34" charset="-122"/>
              </a:rPr>
              <a:t>Devaluation</a:t>
            </a:r>
            <a:r>
              <a:rPr lang="zh-CN" altLang="en-US" sz="2400" dirty="0">
                <a:latin typeface="微软雅黑" panose="020B0503020204020204" pitchFamily="34" charset="-122"/>
                <a:ea typeface="微软雅黑" panose="020B0503020204020204" pitchFamily="34" charset="-122"/>
              </a:rPr>
              <a:t>）</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升值</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Appreciation</a:t>
            </a:r>
            <a:r>
              <a:rPr lang="zh-CN" altLang="en-US" sz="2400" dirty="0">
                <a:latin typeface="微软雅黑" panose="020B0503020204020204" pitchFamily="34" charset="-122"/>
                <a:ea typeface="微软雅黑" panose="020B0503020204020204" pitchFamily="34" charset="-122"/>
              </a:rPr>
              <a:t>）</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贬值</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Depreciation</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47703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00000"/>
              </a:lnSpc>
              <a:buNone/>
            </a:pPr>
            <a:r>
              <a:rPr lang="zh-CN" altLang="en-US" sz="2400" dirty="0" smtClean="0">
                <a:latin typeface="微软雅黑" panose="020B0503020204020204" pitchFamily="34" charset="-122"/>
                <a:ea typeface="微软雅黑" panose="020B0503020204020204" pitchFamily="34" charset="-122"/>
              </a:rPr>
              <a:t>基本</a:t>
            </a:r>
            <a:r>
              <a:rPr lang="zh-CN" altLang="en-US" sz="2400" dirty="0">
                <a:latin typeface="微软雅黑" panose="020B0503020204020204" pitchFamily="34" charset="-122"/>
                <a:ea typeface="微软雅黑" panose="020B0503020204020204" pitchFamily="34" charset="-122"/>
              </a:rPr>
              <a:t>汇率与套算汇率（</a:t>
            </a:r>
            <a:r>
              <a:rPr lang="en-US" altLang="zh-CN" sz="2400" dirty="0">
                <a:latin typeface="微软雅黑" panose="020B0503020204020204" pitchFamily="34" charset="-122"/>
                <a:ea typeface="微软雅黑" panose="020B0503020204020204" pitchFamily="34" charset="-122"/>
              </a:rPr>
              <a:t>Cross Rate</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457200" lvl="2" indent="0">
              <a:lnSpc>
                <a:spcPct val="100000"/>
              </a:lnSpc>
              <a:buNone/>
            </a:pPr>
            <a:endParaRPr lang="en-US" altLang="zh-CN" sz="2400" dirty="0" smtClean="0">
              <a:latin typeface="微软雅黑" panose="020B0503020204020204" pitchFamily="34" charset="-122"/>
              <a:ea typeface="微软雅黑" panose="020B0503020204020204" pitchFamily="34" charset="-122"/>
            </a:endParaRPr>
          </a:p>
          <a:p>
            <a:pPr marL="1143000" lvl="5" indent="0">
              <a:lnSpc>
                <a:spcPct val="100000"/>
              </a:lnSpc>
              <a:buNone/>
            </a:pPr>
            <a:r>
              <a:rPr lang="zh-CN" altLang="en-US" sz="2400" dirty="0" smtClean="0">
                <a:solidFill>
                  <a:schemeClr val="accent1"/>
                </a:solidFill>
                <a:latin typeface="微软雅黑" panose="020B0503020204020204" pitchFamily="34" charset="-122"/>
                <a:ea typeface="微软雅黑" panose="020B0503020204020204" pitchFamily="34" charset="-122"/>
              </a:rPr>
              <a:t>例</a:t>
            </a:r>
            <a:r>
              <a:rPr lang="zh-CN" altLang="en-US" sz="2400" dirty="0">
                <a:solidFill>
                  <a:schemeClr val="accent1"/>
                </a:solidFill>
                <a:latin typeface="微软雅黑" panose="020B0503020204020204" pitchFamily="34" charset="-122"/>
                <a:ea typeface="微软雅黑" panose="020B0503020204020204" pitchFamily="34" charset="-122"/>
              </a:rPr>
              <a:t>一：</a:t>
            </a:r>
          </a:p>
          <a:p>
            <a:pPr marL="1143000" lvl="5" indent="0">
              <a:lnSpc>
                <a:spcPct val="100000"/>
              </a:lnSpc>
              <a:buNone/>
            </a:pPr>
            <a:r>
              <a:rPr lang="en-US" altLang="zh-CN" sz="2400" dirty="0">
                <a:solidFill>
                  <a:schemeClr val="accent1"/>
                </a:solidFill>
                <a:latin typeface="微软雅黑" panose="020B0503020204020204" pitchFamily="34" charset="-122"/>
                <a:ea typeface="微软雅黑" panose="020B0503020204020204" pitchFamily="34" charset="-122"/>
              </a:rPr>
              <a:t>USD1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CNY6.8270</a:t>
            </a:r>
          </a:p>
          <a:p>
            <a:pPr marL="1143000" lvl="5" indent="0">
              <a:lnSpc>
                <a:spcPct val="100000"/>
              </a:lnSpc>
              <a:buNone/>
            </a:pPr>
            <a:r>
              <a:rPr lang="en-US" altLang="zh-CN" sz="2400" dirty="0">
                <a:solidFill>
                  <a:schemeClr val="accent1"/>
                </a:solidFill>
                <a:latin typeface="微软雅黑" panose="020B0503020204020204" pitchFamily="34" charset="-122"/>
                <a:ea typeface="微软雅黑" panose="020B0503020204020204" pitchFamily="34" charset="-122"/>
              </a:rPr>
              <a:t>USD1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HKD7.8000</a:t>
            </a:r>
          </a:p>
          <a:p>
            <a:pPr marL="1143000" lvl="5" indent="0">
              <a:lnSpc>
                <a:spcPct val="100000"/>
              </a:lnSpc>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1143000" lvl="5" indent="0">
              <a:lnSpc>
                <a:spcPct val="100000"/>
              </a:lnSpc>
              <a:buNone/>
            </a:pPr>
            <a:r>
              <a:rPr lang="en-US" altLang="zh-CN" sz="2400" dirty="0">
                <a:solidFill>
                  <a:schemeClr val="accent1"/>
                </a:solidFill>
                <a:latin typeface="微软雅黑" panose="020B0503020204020204" pitchFamily="34" charset="-122"/>
                <a:ea typeface="微软雅黑" panose="020B0503020204020204" pitchFamily="34" charset="-122"/>
              </a:rPr>
              <a:t>HKD1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CNY</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6.8270/7.8000</a:t>
            </a:r>
            <a:r>
              <a:rPr lang="zh-CN" altLang="en-US" sz="2400" dirty="0">
                <a:solidFill>
                  <a:schemeClr val="accent1"/>
                </a:solidFill>
                <a:latin typeface="微软雅黑" panose="020B0503020204020204" pitchFamily="34" charset="-122"/>
                <a:ea typeface="微软雅黑" panose="020B0503020204020204" pitchFamily="34" charset="-122"/>
              </a:rPr>
              <a:t>）</a:t>
            </a:r>
          </a:p>
          <a:p>
            <a:pPr marL="1028700" lvl="2" indent="-571500">
              <a:lnSpc>
                <a:spcPct val="100000"/>
              </a:lnSpc>
              <a:buFont typeface="+mj-lt"/>
              <a:buAutoNum type="romanUcPeriod"/>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9898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00000"/>
              </a:lnSpc>
              <a:buNone/>
            </a:pPr>
            <a:r>
              <a:rPr lang="zh-CN" altLang="en-US" sz="2400" dirty="0" smtClean="0">
                <a:latin typeface="微软雅黑" panose="020B0503020204020204" pitchFamily="34" charset="-122"/>
                <a:ea typeface="微软雅黑" panose="020B0503020204020204" pitchFamily="34" charset="-122"/>
              </a:rPr>
              <a:t>基本</a:t>
            </a:r>
            <a:r>
              <a:rPr lang="zh-CN" altLang="en-US" sz="2400" dirty="0">
                <a:latin typeface="微软雅黑" panose="020B0503020204020204" pitchFamily="34" charset="-122"/>
                <a:ea typeface="微软雅黑" panose="020B0503020204020204" pitchFamily="34" charset="-122"/>
              </a:rPr>
              <a:t>汇率与套算汇率（</a:t>
            </a:r>
            <a:r>
              <a:rPr lang="en-US" altLang="zh-CN" sz="2400" dirty="0">
                <a:latin typeface="微软雅黑" panose="020B0503020204020204" pitchFamily="34" charset="-122"/>
                <a:ea typeface="微软雅黑" panose="020B0503020204020204" pitchFamily="34" charset="-122"/>
              </a:rPr>
              <a:t>Cross Rate</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457200" lvl="2" indent="0">
              <a:lnSpc>
                <a:spcPct val="100000"/>
              </a:lnSpc>
              <a:buNone/>
            </a:pPr>
            <a:endParaRPr lang="en-US" altLang="zh-CN" sz="2400" dirty="0" smtClean="0">
              <a:latin typeface="微软雅黑" panose="020B0503020204020204" pitchFamily="34" charset="-122"/>
              <a:ea typeface="微软雅黑" panose="020B0503020204020204" pitchFamily="34" charset="-122"/>
            </a:endParaRPr>
          </a:p>
          <a:p>
            <a:pPr marL="1143000" lvl="5" indent="0">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例二：</a:t>
            </a:r>
          </a:p>
          <a:p>
            <a:pPr marL="1143000" lvl="5" indent="0">
              <a:lnSpc>
                <a:spcPct val="100000"/>
              </a:lnSpc>
              <a:buNone/>
            </a:pPr>
            <a:r>
              <a:rPr lang="en-US" altLang="zh-CN" sz="2400" dirty="0">
                <a:solidFill>
                  <a:schemeClr val="accent1"/>
                </a:solidFill>
                <a:latin typeface="微软雅黑" panose="020B0503020204020204" pitchFamily="34" charset="-122"/>
                <a:ea typeface="微软雅黑" panose="020B0503020204020204" pitchFamily="34" charset="-122"/>
              </a:rPr>
              <a:t>USD1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CNY6.8270</a:t>
            </a:r>
          </a:p>
          <a:p>
            <a:pPr marL="1143000" lvl="5" indent="0">
              <a:lnSpc>
                <a:spcPct val="100000"/>
              </a:lnSpc>
              <a:buNone/>
            </a:pPr>
            <a:r>
              <a:rPr lang="en-US" altLang="zh-CN" sz="2400" dirty="0">
                <a:solidFill>
                  <a:schemeClr val="accent1"/>
                </a:solidFill>
                <a:latin typeface="微软雅黑" panose="020B0503020204020204" pitchFamily="34" charset="-122"/>
                <a:ea typeface="微软雅黑" panose="020B0503020204020204" pitchFamily="34" charset="-122"/>
              </a:rPr>
              <a:t>GBP1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USD1.7800</a:t>
            </a:r>
          </a:p>
          <a:p>
            <a:pPr marL="1143000" lvl="5" indent="0">
              <a:lnSpc>
                <a:spcPct val="100000"/>
              </a:lnSpc>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1143000" lvl="5" indent="0">
              <a:lnSpc>
                <a:spcPct val="100000"/>
              </a:lnSpc>
              <a:buNone/>
            </a:pPr>
            <a:r>
              <a:rPr lang="en-US" altLang="zh-CN" sz="2400" dirty="0">
                <a:solidFill>
                  <a:schemeClr val="accent1"/>
                </a:solidFill>
                <a:latin typeface="微软雅黑" panose="020B0503020204020204" pitchFamily="34" charset="-122"/>
                <a:ea typeface="微软雅黑" panose="020B0503020204020204" pitchFamily="34" charset="-122"/>
              </a:rPr>
              <a:t>GBP1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CNY</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6.8270×1.7800</a:t>
            </a:r>
            <a:r>
              <a:rPr lang="zh-CN" altLang="en-US" sz="2400" dirty="0" smtClean="0">
                <a:solidFill>
                  <a:schemeClr val="accent1"/>
                </a:solidFill>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7454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a:xfrm>
            <a:off x="971550" y="1447799"/>
            <a:ext cx="7200900" cy="4841879"/>
          </a:xfrm>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00000"/>
              </a:lnSpc>
              <a:buNone/>
            </a:pPr>
            <a:r>
              <a:rPr lang="zh-CN" altLang="en-US" sz="2400" dirty="0" smtClean="0">
                <a:latin typeface="微软雅黑" panose="020B0503020204020204" pitchFamily="34" charset="-122"/>
                <a:ea typeface="微软雅黑" panose="020B0503020204020204" pitchFamily="34" charset="-122"/>
              </a:rPr>
              <a:t>基本</a:t>
            </a:r>
            <a:r>
              <a:rPr lang="zh-CN" altLang="en-US" sz="2400" dirty="0">
                <a:latin typeface="微软雅黑" panose="020B0503020204020204" pitchFamily="34" charset="-122"/>
                <a:ea typeface="微软雅黑" panose="020B0503020204020204" pitchFamily="34" charset="-122"/>
              </a:rPr>
              <a:t>汇率与套算汇率（</a:t>
            </a:r>
            <a:r>
              <a:rPr lang="en-US" altLang="zh-CN" sz="2400" dirty="0">
                <a:latin typeface="微软雅黑" panose="020B0503020204020204" pitchFamily="34" charset="-122"/>
                <a:ea typeface="微软雅黑" panose="020B0503020204020204" pitchFamily="34" charset="-122"/>
              </a:rPr>
              <a:t>Cross Rate</a:t>
            </a:r>
            <a:r>
              <a:rPr lang="zh-CN" altLang="en-US" sz="2400" dirty="0">
                <a:latin typeface="微软雅黑" panose="020B0503020204020204" pitchFamily="34" charset="-122"/>
                <a:ea typeface="微软雅黑" panose="020B0503020204020204" pitchFamily="34" charset="-122"/>
              </a:rPr>
              <a:t>）</a:t>
            </a:r>
          </a:p>
          <a:p>
            <a:pPr marL="1028700" lvl="2" indent="-571500">
              <a:lnSpc>
                <a:spcPct val="100000"/>
              </a:lnSpc>
              <a:buNone/>
            </a:pPr>
            <a:r>
              <a:rPr lang="zh-CN" altLang="en-US" sz="2400" dirty="0" smtClean="0">
                <a:latin typeface="微软雅黑" panose="020B0503020204020204" pitchFamily="34" charset="-122"/>
                <a:ea typeface="微软雅黑" panose="020B0503020204020204" pitchFamily="34" charset="-122"/>
              </a:rPr>
              <a:t>买入汇率</a:t>
            </a:r>
            <a:r>
              <a:rPr lang="zh-CN" altLang="en-US" sz="2400" dirty="0">
                <a:latin typeface="微软雅黑" panose="020B0503020204020204" pitchFamily="34" charset="-122"/>
                <a:ea typeface="微软雅黑" panose="020B0503020204020204" pitchFamily="34" charset="-122"/>
              </a:rPr>
              <a:t>、卖出汇率和中间</a:t>
            </a:r>
            <a:r>
              <a:rPr lang="zh-CN" altLang="en-US" sz="2400" dirty="0" smtClean="0">
                <a:latin typeface="微软雅黑" panose="020B0503020204020204" pitchFamily="34" charset="-122"/>
                <a:ea typeface="微软雅黑" panose="020B0503020204020204" pitchFamily="34" charset="-122"/>
              </a:rPr>
              <a:t>汇率</a:t>
            </a:r>
            <a:endParaRPr lang="zh-CN" altLang="en-US" sz="2400" dirty="0">
              <a:latin typeface="微软雅黑" panose="020B0503020204020204" pitchFamily="34" charset="-122"/>
              <a:ea typeface="微软雅黑" panose="020B0503020204020204" pitchFamily="34" charset="-122"/>
            </a:endParaRPr>
          </a:p>
          <a:p>
            <a:pPr marL="1143000" lvl="5" indent="0">
              <a:lnSpc>
                <a:spcPct val="100000"/>
              </a:lnSpc>
              <a:spcBef>
                <a:spcPts val="0"/>
              </a:spcBef>
              <a:buNone/>
            </a:pPr>
            <a:endParaRPr lang="en-US" altLang="zh-CN" sz="2400" dirty="0" smtClean="0">
              <a:latin typeface="微软雅黑" panose="020B0503020204020204" pitchFamily="34" charset="-122"/>
              <a:ea typeface="微软雅黑" panose="020B0503020204020204" pitchFamily="34" charset="-122"/>
            </a:endParaRPr>
          </a:p>
          <a:p>
            <a:pPr marL="1143000" lvl="5" indent="0">
              <a:lnSpc>
                <a:spcPct val="100000"/>
              </a:lnSpc>
              <a:spcBef>
                <a:spcPts val="0"/>
              </a:spcBef>
              <a:buNone/>
            </a:pPr>
            <a:r>
              <a:rPr lang="zh-CN" altLang="en-US" sz="2400" dirty="0" smtClean="0">
                <a:latin typeface="微软雅黑" panose="020B0503020204020204" pitchFamily="34" charset="-122"/>
                <a:ea typeface="微软雅黑" panose="020B0503020204020204" pitchFamily="34" charset="-122"/>
              </a:rPr>
              <a:t>买入汇率</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Bid Rate</a:t>
            </a:r>
            <a:r>
              <a:rPr lang="zh-CN" altLang="en-US" sz="2400" dirty="0">
                <a:latin typeface="微软雅黑" panose="020B0503020204020204" pitchFamily="34" charset="-122"/>
                <a:ea typeface="微软雅黑" panose="020B0503020204020204" pitchFamily="34" charset="-122"/>
              </a:rPr>
              <a:t>）</a:t>
            </a:r>
          </a:p>
          <a:p>
            <a:pPr marL="1143000" lvl="5" indent="0">
              <a:lnSpc>
                <a:spcPct val="100000"/>
              </a:lnSpc>
              <a:buNone/>
            </a:pPr>
            <a:r>
              <a:rPr lang="zh-CN" altLang="en-US" sz="2400" dirty="0" smtClean="0">
                <a:latin typeface="微软雅黑" panose="020B0503020204020204" pitchFamily="34" charset="-122"/>
                <a:ea typeface="微软雅黑" panose="020B0503020204020204" pitchFamily="34" charset="-122"/>
              </a:rPr>
              <a:t>卖出汇率</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Offer Rate</a:t>
            </a:r>
            <a:r>
              <a:rPr lang="zh-CN" altLang="en-US" sz="2400" dirty="0">
                <a:latin typeface="微软雅黑" panose="020B0503020204020204" pitchFamily="34" charset="-122"/>
                <a:ea typeface="微软雅黑" panose="020B0503020204020204" pitchFamily="34" charset="-122"/>
              </a:rPr>
              <a:t>）</a:t>
            </a:r>
          </a:p>
          <a:p>
            <a:pPr marL="1143000" lvl="5" indent="0">
              <a:lnSpc>
                <a:spcPct val="100000"/>
              </a:lnSpc>
              <a:buNone/>
            </a:pPr>
            <a:r>
              <a:rPr lang="zh-CN" altLang="en-US" sz="2400" dirty="0" smtClean="0">
                <a:latin typeface="微软雅黑" panose="020B0503020204020204" pitchFamily="34" charset="-122"/>
                <a:ea typeface="微软雅黑" panose="020B0503020204020204" pitchFamily="34" charset="-122"/>
              </a:rPr>
              <a:t>中间汇率</a:t>
            </a:r>
            <a:endParaRPr lang="en-US" altLang="zh-CN" sz="2400" dirty="0" smtClean="0">
              <a:latin typeface="微软雅黑" panose="020B0503020204020204" pitchFamily="34" charset="-122"/>
              <a:ea typeface="微软雅黑" panose="020B0503020204020204" pitchFamily="34" charset="-122"/>
            </a:endParaRPr>
          </a:p>
          <a:p>
            <a:pPr marL="1143000" lvl="5" indent="0">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例：</a:t>
            </a:r>
          </a:p>
          <a:p>
            <a:pPr marL="1143000" lvl="5" indent="0">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巴黎：</a:t>
            </a:r>
            <a:r>
              <a:rPr lang="en-US" altLang="zh-CN" sz="2400" dirty="0">
                <a:solidFill>
                  <a:schemeClr val="accent1"/>
                </a:solidFill>
                <a:latin typeface="微软雅黑" panose="020B0503020204020204" pitchFamily="34" charset="-122"/>
                <a:ea typeface="微软雅黑" panose="020B0503020204020204" pitchFamily="34" charset="-122"/>
              </a:rPr>
              <a:t>USD1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EUR0.7335-65</a:t>
            </a:r>
          </a:p>
          <a:p>
            <a:pPr marL="1143000" lvl="5" indent="0">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伦敦：</a:t>
            </a:r>
            <a:r>
              <a:rPr lang="en-US" altLang="zh-CN" sz="2400" dirty="0">
                <a:solidFill>
                  <a:schemeClr val="accent1"/>
                </a:solidFill>
                <a:latin typeface="微软雅黑" panose="020B0503020204020204" pitchFamily="34" charset="-122"/>
                <a:ea typeface="微软雅黑" panose="020B0503020204020204" pitchFamily="34" charset="-122"/>
              </a:rPr>
              <a:t>GBP1</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USD1.4405-20</a:t>
            </a:r>
          </a:p>
          <a:p>
            <a:pPr marL="1143000" lvl="5" indent="0">
              <a:lnSpc>
                <a:spcPct val="100000"/>
              </a:lnSpc>
              <a:buNone/>
            </a:pPr>
            <a:endParaRPr lang="en-US" altLang="zh-CN" sz="26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587299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00000"/>
              </a:lnSpc>
              <a:buNone/>
            </a:pPr>
            <a:r>
              <a:rPr lang="zh-CN" altLang="en-US" sz="2400" dirty="0" smtClean="0">
                <a:latin typeface="微软雅黑" panose="020B0503020204020204" pitchFamily="34" charset="-122"/>
                <a:ea typeface="微软雅黑" panose="020B0503020204020204" pitchFamily="34" charset="-122"/>
              </a:rPr>
              <a:t>基本</a:t>
            </a:r>
            <a:r>
              <a:rPr lang="zh-CN" altLang="en-US" sz="2400" dirty="0">
                <a:latin typeface="微软雅黑" panose="020B0503020204020204" pitchFamily="34" charset="-122"/>
                <a:ea typeface="微软雅黑" panose="020B0503020204020204" pitchFamily="34" charset="-122"/>
              </a:rPr>
              <a:t>汇率与套算汇率（</a:t>
            </a:r>
            <a:r>
              <a:rPr lang="en-US" altLang="zh-CN" sz="2400" dirty="0">
                <a:latin typeface="微软雅黑" panose="020B0503020204020204" pitchFamily="34" charset="-122"/>
                <a:ea typeface="微软雅黑" panose="020B0503020204020204" pitchFamily="34" charset="-122"/>
              </a:rPr>
              <a:t>Cross Rate</a:t>
            </a:r>
            <a:r>
              <a:rPr lang="zh-CN" altLang="en-US" sz="2400" dirty="0">
                <a:latin typeface="微软雅黑" panose="020B0503020204020204" pitchFamily="34" charset="-122"/>
                <a:ea typeface="微软雅黑" panose="020B0503020204020204" pitchFamily="34" charset="-122"/>
              </a:rPr>
              <a:t>）</a:t>
            </a:r>
          </a:p>
          <a:p>
            <a:pPr marL="1028700" lvl="2" indent="-571500">
              <a:lnSpc>
                <a:spcPct val="100000"/>
              </a:lnSpc>
              <a:buNone/>
            </a:pPr>
            <a:r>
              <a:rPr lang="zh-CN" altLang="en-US" sz="2400" dirty="0" smtClean="0">
                <a:latin typeface="微软雅黑" panose="020B0503020204020204" pitchFamily="34" charset="-122"/>
                <a:ea typeface="微软雅黑" panose="020B0503020204020204" pitchFamily="34" charset="-122"/>
              </a:rPr>
              <a:t>买入汇率</a:t>
            </a:r>
            <a:r>
              <a:rPr lang="zh-CN" altLang="en-US" sz="2400" dirty="0">
                <a:latin typeface="微软雅黑" panose="020B0503020204020204" pitchFamily="34" charset="-122"/>
                <a:ea typeface="微软雅黑" panose="020B0503020204020204" pitchFamily="34" charset="-122"/>
              </a:rPr>
              <a:t>、卖出汇率和中间</a:t>
            </a:r>
            <a:r>
              <a:rPr lang="zh-CN" altLang="en-US" sz="2400" dirty="0" smtClean="0">
                <a:latin typeface="微软雅黑" panose="020B0503020204020204" pitchFamily="34" charset="-122"/>
                <a:ea typeface="微软雅黑" panose="020B0503020204020204" pitchFamily="34" charset="-122"/>
              </a:rPr>
              <a:t>汇率</a:t>
            </a:r>
            <a:endParaRPr lang="zh-CN" altLang="en-US" sz="2400" dirty="0">
              <a:latin typeface="微软雅黑" panose="020B0503020204020204" pitchFamily="34" charset="-122"/>
              <a:ea typeface="微软雅黑" panose="020B0503020204020204" pitchFamily="34" charset="-122"/>
            </a:endParaRPr>
          </a:p>
          <a:p>
            <a:pPr marL="1143000" lvl="5" indent="0">
              <a:lnSpc>
                <a:spcPct val="100000"/>
              </a:lnSpc>
              <a:spcBef>
                <a:spcPts val="0"/>
              </a:spcBef>
              <a:buNone/>
            </a:pPr>
            <a:endParaRPr lang="en-US" altLang="zh-CN" sz="2400" dirty="0" smtClean="0">
              <a:latin typeface="微软雅黑" panose="020B0503020204020204" pitchFamily="34" charset="-122"/>
              <a:ea typeface="微软雅黑" panose="020B0503020204020204" pitchFamily="34" charset="-122"/>
            </a:endParaRPr>
          </a:p>
          <a:p>
            <a:pPr marL="1143000" lvl="5" indent="0">
              <a:lnSpc>
                <a:spcPct val="100000"/>
              </a:lnSpc>
              <a:spcBef>
                <a:spcPts val="0"/>
              </a:spcBef>
              <a:buNone/>
            </a:pPr>
            <a:r>
              <a:rPr lang="zh-CN" altLang="en-US" sz="2400" dirty="0" smtClean="0">
                <a:latin typeface="微软雅黑" panose="020B0503020204020204" pitchFamily="34" charset="-122"/>
                <a:ea typeface="微软雅黑" panose="020B0503020204020204" pitchFamily="34" charset="-122"/>
              </a:rPr>
              <a:t>买入汇率</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Bid Rate</a:t>
            </a:r>
            <a:r>
              <a:rPr lang="zh-CN" altLang="en-US" sz="2400" dirty="0">
                <a:latin typeface="微软雅黑" panose="020B0503020204020204" pitchFamily="34" charset="-122"/>
                <a:ea typeface="微软雅黑" panose="020B0503020204020204" pitchFamily="34" charset="-122"/>
              </a:rPr>
              <a:t>）</a:t>
            </a:r>
          </a:p>
          <a:p>
            <a:pPr marL="1143000" lvl="5" indent="0">
              <a:lnSpc>
                <a:spcPct val="100000"/>
              </a:lnSpc>
              <a:buNone/>
            </a:pPr>
            <a:r>
              <a:rPr lang="zh-CN" altLang="en-US" sz="2400" dirty="0" smtClean="0">
                <a:latin typeface="微软雅黑" panose="020B0503020204020204" pitchFamily="34" charset="-122"/>
                <a:ea typeface="微软雅黑" panose="020B0503020204020204" pitchFamily="34" charset="-122"/>
              </a:rPr>
              <a:t>卖出汇率</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Offer Rate</a:t>
            </a:r>
            <a:r>
              <a:rPr lang="zh-CN" altLang="en-US" sz="2400" dirty="0">
                <a:latin typeface="微软雅黑" panose="020B0503020204020204" pitchFamily="34" charset="-122"/>
                <a:ea typeface="微软雅黑" panose="020B0503020204020204" pitchFamily="34" charset="-122"/>
              </a:rPr>
              <a:t>）</a:t>
            </a:r>
          </a:p>
          <a:p>
            <a:pPr marL="1143000" lvl="5" indent="0">
              <a:lnSpc>
                <a:spcPct val="100000"/>
              </a:lnSpc>
              <a:buNone/>
            </a:pPr>
            <a:r>
              <a:rPr lang="zh-CN" altLang="en-US" sz="2400" dirty="0" smtClean="0">
                <a:latin typeface="微软雅黑" panose="020B0503020204020204" pitchFamily="34" charset="-122"/>
                <a:ea typeface="微软雅黑" panose="020B0503020204020204" pitchFamily="34" charset="-122"/>
              </a:rPr>
              <a:t>中间汇率</a:t>
            </a:r>
            <a:endParaRPr lang="en-US" altLang="zh-CN" sz="2400" dirty="0" smtClean="0">
              <a:latin typeface="微软雅黑" panose="020B0503020204020204" pitchFamily="34" charset="-122"/>
              <a:ea typeface="微软雅黑" panose="020B0503020204020204" pitchFamily="34" charset="-122"/>
            </a:endParaRPr>
          </a:p>
          <a:p>
            <a:pPr marL="1143000" lvl="5" indent="0">
              <a:lnSpc>
                <a:spcPct val="100000"/>
              </a:lnSpc>
              <a:buNone/>
            </a:pPr>
            <a:endParaRPr lang="en-US" altLang="zh-CN" sz="2400" dirty="0" smtClean="0">
              <a:latin typeface="微软雅黑" panose="020B0503020204020204" pitchFamily="34" charset="-122"/>
              <a:ea typeface="微软雅黑" panose="020B0503020204020204" pitchFamily="34" charset="-122"/>
            </a:endParaRPr>
          </a:p>
          <a:p>
            <a:pPr marL="457200" lvl="2" indent="0">
              <a:lnSpc>
                <a:spcPct val="100000"/>
              </a:lnSpc>
              <a:buNone/>
            </a:pPr>
            <a:r>
              <a:rPr lang="zh-CN" altLang="en-US" sz="2400" dirty="0" smtClean="0">
                <a:solidFill>
                  <a:schemeClr val="accent1"/>
                </a:solidFill>
                <a:latin typeface="微软雅黑" panose="020B0503020204020204" pitchFamily="34" charset="-122"/>
                <a:ea typeface="微软雅黑" panose="020B0503020204020204" pitchFamily="34" charset="-122"/>
              </a:rPr>
              <a:t>思考</a:t>
            </a:r>
            <a:r>
              <a:rPr lang="zh-CN" altLang="en-US" sz="2400" dirty="0">
                <a:solidFill>
                  <a:schemeClr val="accent1"/>
                </a:solidFill>
                <a:latin typeface="微软雅黑" panose="020B0503020204020204" pitchFamily="34" charset="-122"/>
                <a:ea typeface="微软雅黑" panose="020B0503020204020204" pitchFamily="34" charset="-122"/>
              </a:rPr>
              <a:t>：如何套算汇率买入价和卖出价</a:t>
            </a:r>
            <a:r>
              <a:rPr lang="zh-CN" altLang="en-US" sz="2400" dirty="0" smtClean="0">
                <a:solidFill>
                  <a:schemeClr val="accent1"/>
                </a:solidFill>
                <a:latin typeface="微软雅黑" panose="020B0503020204020204" pitchFamily="34" charset="-122"/>
                <a:ea typeface="微软雅黑" panose="020B0503020204020204" pitchFamily="34" charset="-122"/>
              </a:rPr>
              <a:t>？</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1894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pP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a:lnSpc>
                <a:spcPct val="100000"/>
              </a:lnSpc>
              <a:buNone/>
            </a:pPr>
            <a:r>
              <a:rPr lang="zh-CN" altLang="en-US" sz="2400" dirty="0" smtClean="0">
                <a:latin typeface="微软雅黑" panose="020B0503020204020204" pitchFamily="34" charset="-122"/>
                <a:ea typeface="微软雅黑" panose="020B0503020204020204" pitchFamily="34" charset="-122"/>
              </a:rPr>
              <a:t>例</a:t>
            </a:r>
            <a:r>
              <a:rPr lang="zh-CN" altLang="en-US" sz="2400" dirty="0">
                <a:latin typeface="微软雅黑" panose="020B0503020204020204" pitchFamily="34" charset="-122"/>
                <a:ea typeface="微软雅黑" panose="020B0503020204020204" pitchFamily="34" charset="-122"/>
              </a:rPr>
              <a:t>一：</a:t>
            </a:r>
            <a:br>
              <a:rPr lang="zh-CN" altLang="en-US"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USD1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CNY6.8270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80</a:t>
            </a:r>
            <a:br>
              <a:rPr lang="en-US" altLang="zh-CN"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USD1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HKD7.8000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a:t>
            </a:r>
            <a:br>
              <a:rPr lang="en-US" altLang="zh-CN"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
            </a:r>
            <a:br>
              <a:rPr lang="en-US" altLang="zh-CN"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HKD1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CNY</a:t>
            </a:r>
            <a:r>
              <a:rPr lang="zh-CN" altLang="en-US" sz="2400" dirty="0">
                <a:latin typeface="微软雅黑" panose="020B0503020204020204" pitchFamily="34" charset="-122"/>
                <a:ea typeface="微软雅黑" panose="020B0503020204020204" pitchFamily="34" charset="-122"/>
              </a:rPr>
              <a:t>？</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6.8270/7.8010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6.8280/7.8000</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209758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pP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a:lnSpc>
                <a:spcPct val="100000"/>
              </a:lnSpc>
              <a:buNone/>
            </a:pPr>
            <a:r>
              <a:rPr lang="zh-CN" altLang="en-US" sz="2400" dirty="0" smtClean="0">
                <a:latin typeface="微软雅黑" panose="020B0503020204020204" pitchFamily="34" charset="-122"/>
                <a:ea typeface="微软雅黑" panose="020B0503020204020204" pitchFamily="34" charset="-122"/>
              </a:rPr>
              <a:t>例</a:t>
            </a:r>
            <a:r>
              <a:rPr lang="zh-CN" altLang="en-US" sz="2400" dirty="0">
                <a:latin typeface="微软雅黑" panose="020B0503020204020204" pitchFamily="34" charset="-122"/>
                <a:ea typeface="微软雅黑" panose="020B0503020204020204" pitchFamily="34" charset="-122"/>
              </a:rPr>
              <a:t>二</a:t>
            </a:r>
            <a:r>
              <a:rPr lang="zh-CN" altLang="en-US" sz="2400" dirty="0" smtClean="0">
                <a:latin typeface="微软雅黑" panose="020B0503020204020204" pitchFamily="34" charset="-122"/>
                <a:ea typeface="微软雅黑" panose="020B0503020204020204" pitchFamily="34" charset="-122"/>
              </a:rPr>
              <a:t>：</a:t>
            </a:r>
            <a:br>
              <a:rPr lang="zh-CN" altLang="en-US" sz="2400" dirty="0" smtClean="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USD1</a:t>
            </a:r>
            <a:r>
              <a:rPr lang="zh-CN" altLang="en-US"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CNY6.8270 - 80</a:t>
            </a:r>
            <a:r>
              <a:rPr lang="en-US" altLang="zh-CN" sz="2400" dirty="0">
                <a:latin typeface="微软雅黑" panose="020B0503020204020204" pitchFamily="34" charset="-122"/>
                <a:ea typeface="微软雅黑" panose="020B0503020204020204" pitchFamily="34" charset="-122"/>
              </a:rPr>
              <a:t/>
            </a:r>
            <a:br>
              <a:rPr lang="en-US" altLang="zh-CN"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GBP1</a:t>
            </a:r>
            <a:r>
              <a:rPr lang="zh-CN" altLang="en-US"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USD1.7800 - 10</a:t>
            </a:r>
            <a:r>
              <a:rPr lang="en-US" altLang="zh-CN" sz="2400" dirty="0">
                <a:latin typeface="微软雅黑" panose="020B0503020204020204" pitchFamily="34" charset="-122"/>
                <a:ea typeface="微软雅黑" panose="020B0503020204020204" pitchFamily="34" charset="-122"/>
              </a:rPr>
              <a:t/>
            </a:r>
            <a:br>
              <a:rPr lang="en-US" altLang="zh-CN"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
            </a:r>
            <a:br>
              <a:rPr lang="en-US" altLang="zh-CN" sz="2400" dirty="0">
                <a:latin typeface="微软雅黑" panose="020B0503020204020204" pitchFamily="34" charset="-122"/>
                <a:ea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rPr>
              <a:t>GBP1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CNY</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6.8270×1.7800 - 6.8280×1.7810</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2907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marL="230400" indent="-230400" algn="ctr">
              <a:lnSpc>
                <a:spcPct val="100000"/>
              </a:lnSpc>
            </a:pP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230400" indent="-230400" algn="ctr">
              <a:lnSpc>
                <a:spcPct val="100000"/>
              </a:lnSpc>
            </a:pPr>
            <a:endParaRPr lang="en-US" altLang="zh-CN" sz="2800" dirty="0">
              <a:solidFill>
                <a:schemeClr val="accent1"/>
              </a:solidFill>
              <a:latin typeface="微软雅黑" panose="020B0503020204020204" pitchFamily="34" charset="-122"/>
              <a:ea typeface="微软雅黑" panose="020B0503020204020204" pitchFamily="34" charset="-122"/>
            </a:endParaRPr>
          </a:p>
          <a:p>
            <a:pPr marL="230400" indent="-230400">
              <a:lnSpc>
                <a:spcPct val="100000"/>
              </a:lnSpc>
            </a:pPr>
            <a:r>
              <a:rPr lang="zh-CN" altLang="en-US" sz="2800" dirty="0" smtClean="0">
                <a:solidFill>
                  <a:schemeClr val="accent1"/>
                </a:solidFill>
                <a:latin typeface="微软雅黑" panose="020B0503020204020204" pitchFamily="34" charset="-122"/>
                <a:ea typeface="微软雅黑" panose="020B0503020204020204" pitchFamily="34" charset="-122"/>
              </a:rPr>
              <a:t>标价</a:t>
            </a:r>
            <a:r>
              <a:rPr lang="zh-CN" altLang="en-US" sz="2800" dirty="0">
                <a:solidFill>
                  <a:schemeClr val="accent1"/>
                </a:solidFill>
                <a:latin typeface="微软雅黑" panose="020B0503020204020204" pitchFamily="34" charset="-122"/>
                <a:ea typeface="微软雅黑" panose="020B0503020204020204" pitchFamily="34" charset="-122"/>
              </a:rPr>
              <a:t>方法相同时，交叉相除</a:t>
            </a:r>
          </a:p>
          <a:p>
            <a:pPr marL="230400" indent="-230400">
              <a:lnSpc>
                <a:spcPct val="100000"/>
              </a:lnSpc>
            </a:pPr>
            <a:r>
              <a:rPr lang="zh-CN" altLang="en-US" sz="2800" dirty="0">
                <a:solidFill>
                  <a:schemeClr val="accent1"/>
                </a:solidFill>
                <a:latin typeface="微软雅黑" panose="020B0503020204020204" pitchFamily="34" charset="-122"/>
                <a:ea typeface="微软雅黑" panose="020B0503020204020204" pitchFamily="34" charset="-122"/>
              </a:rPr>
              <a:t>标价方法不同时，同向相乘</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039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fontScale="77500" lnSpcReduction="20000"/>
          </a:bodyPr>
          <a:lstStyle/>
          <a:p>
            <a:pPr>
              <a:lnSpc>
                <a:spcPct val="120000"/>
              </a:lnSpc>
              <a:buNone/>
            </a:pPr>
            <a:r>
              <a:rPr lang="zh-CN" altLang="en-US" sz="2800" dirty="0">
                <a:latin typeface="微软雅黑" panose="020B0503020204020204" pitchFamily="34" charset="-122"/>
                <a:ea typeface="微软雅黑" panose="020B0503020204020204" pitchFamily="34" charset="-122"/>
              </a:rPr>
              <a:t>三、汇率的</a:t>
            </a:r>
            <a:r>
              <a:rPr lang="zh-CN" altLang="en-US" sz="2800" dirty="0" smtClean="0">
                <a:latin typeface="微软雅黑" panose="020B0503020204020204" pitchFamily="34" charset="-122"/>
                <a:ea typeface="微软雅黑" panose="020B0503020204020204" pitchFamily="34" charset="-122"/>
              </a:rPr>
              <a:t>种类</a:t>
            </a:r>
            <a:endParaRPr lang="en-US" altLang="zh-CN" sz="2800" dirty="0" smtClean="0">
              <a:latin typeface="微软雅黑" panose="020B0503020204020204" pitchFamily="34" charset="-122"/>
              <a:ea typeface="微软雅黑" panose="020B0503020204020204" pitchFamily="34" charset="-122"/>
            </a:endParaRPr>
          </a:p>
          <a:p>
            <a:pPr marL="1028700" lvl="2" indent="-571500">
              <a:lnSpc>
                <a:spcPct val="120000"/>
              </a:lnSpc>
              <a:buFont typeface="+mj-lt"/>
              <a:buAutoNum type="romanUcPeriod" startAt="3"/>
            </a:pPr>
            <a:r>
              <a:rPr lang="zh-CN" altLang="en-US" sz="2800" dirty="0">
                <a:solidFill>
                  <a:schemeClr val="accent1"/>
                </a:solidFill>
                <a:latin typeface="微软雅黑" panose="020B0503020204020204" pitchFamily="34" charset="-122"/>
                <a:ea typeface="微软雅黑" panose="020B0503020204020204" pitchFamily="34" charset="-122"/>
              </a:rPr>
              <a:t>即期汇率和远</a:t>
            </a:r>
            <a:r>
              <a:rPr lang="zh-CN" altLang="en-US" sz="2800" dirty="0" smtClean="0">
                <a:solidFill>
                  <a:schemeClr val="accent1"/>
                </a:solidFill>
                <a:latin typeface="微软雅黑" panose="020B0503020204020204" pitchFamily="34" charset="-122"/>
                <a:ea typeface="微软雅黑" panose="020B0503020204020204" pitchFamily="34" charset="-122"/>
              </a:rPr>
              <a:t>期汇率</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1257300" lvl="3" indent="-571500">
              <a:lnSpc>
                <a:spcPct val="12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即</a:t>
            </a:r>
            <a:r>
              <a:rPr lang="zh-CN" altLang="en-US" sz="2600" dirty="0">
                <a:latin typeface="微软雅黑" panose="020B0503020204020204" pitchFamily="34" charset="-122"/>
                <a:ea typeface="微软雅黑" panose="020B0503020204020204" pitchFamily="34" charset="-122"/>
              </a:rPr>
              <a:t>期汇率</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现汇汇率（</a:t>
            </a:r>
            <a:r>
              <a:rPr lang="en-US" altLang="zh-CN" sz="2600" dirty="0">
                <a:latin typeface="微软雅黑" panose="020B0503020204020204" pitchFamily="34" charset="-122"/>
                <a:ea typeface="微软雅黑" panose="020B0503020204020204" pitchFamily="34" charset="-122"/>
              </a:rPr>
              <a:t>Spot Rate</a:t>
            </a:r>
            <a:r>
              <a:rPr lang="zh-CN" altLang="en-US" sz="2600" dirty="0">
                <a:latin typeface="微软雅黑" panose="020B0503020204020204" pitchFamily="34" charset="-122"/>
                <a:ea typeface="微软雅黑" panose="020B0503020204020204" pitchFamily="34" charset="-122"/>
              </a:rPr>
              <a:t>）</a:t>
            </a:r>
          </a:p>
          <a:p>
            <a:pPr marL="1257300" lvl="3" indent="-571500">
              <a:lnSpc>
                <a:spcPct val="12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远期</a:t>
            </a:r>
            <a:r>
              <a:rPr lang="zh-CN" altLang="en-US" sz="2600" dirty="0">
                <a:latin typeface="微软雅黑" panose="020B0503020204020204" pitchFamily="34" charset="-122"/>
                <a:ea typeface="微软雅黑" panose="020B0503020204020204" pitchFamily="34" charset="-122"/>
              </a:rPr>
              <a:t>汇率</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期汇汇率（</a:t>
            </a:r>
            <a:r>
              <a:rPr lang="en-US" altLang="zh-CN" sz="2600" dirty="0">
                <a:latin typeface="微软雅黑" panose="020B0503020204020204" pitchFamily="34" charset="-122"/>
                <a:ea typeface="微软雅黑" panose="020B0503020204020204" pitchFamily="34" charset="-122"/>
              </a:rPr>
              <a:t>Forward Rate</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685800" lvl="3" indent="0">
              <a:lnSpc>
                <a:spcPct val="120000"/>
              </a:lnSpc>
              <a:buNone/>
            </a:pPr>
            <a:r>
              <a:rPr lang="zh-CN" altLang="en-US" sz="2600" dirty="0" smtClean="0">
                <a:latin typeface="微软雅黑" panose="020B0503020204020204" pitchFamily="34" charset="-122"/>
                <a:ea typeface="微软雅黑" panose="020B0503020204020204" pitchFamily="34" charset="-122"/>
              </a:rPr>
              <a:t>       </a:t>
            </a:r>
            <a:r>
              <a:rPr lang="zh-CN" altLang="en-US" sz="2600" dirty="0" smtClean="0">
                <a:solidFill>
                  <a:schemeClr val="accent1"/>
                </a:solidFill>
                <a:latin typeface="微软雅黑" panose="020B0503020204020204" pitchFamily="34" charset="-122"/>
                <a:ea typeface="微软雅黑" panose="020B0503020204020204" pitchFamily="34" charset="-122"/>
              </a:rPr>
              <a:t>直接</a:t>
            </a:r>
            <a:r>
              <a:rPr lang="zh-CN" altLang="en-US" sz="2600" dirty="0">
                <a:solidFill>
                  <a:schemeClr val="accent1"/>
                </a:solidFill>
                <a:latin typeface="微软雅黑" panose="020B0503020204020204" pitchFamily="34" charset="-122"/>
                <a:ea typeface="微软雅黑" panose="020B0503020204020204" pitchFamily="34" charset="-122"/>
              </a:rPr>
              <a:t>报价</a:t>
            </a:r>
          </a:p>
          <a:p>
            <a:pPr marL="685800" lvl="3" indent="0">
              <a:lnSpc>
                <a:spcPct val="120000"/>
              </a:lnSpc>
              <a:buNone/>
            </a:pPr>
            <a:r>
              <a:rPr lang="zh-CN" altLang="en-US" sz="2600" dirty="0">
                <a:latin typeface="微软雅黑" panose="020B0503020204020204" pitchFamily="34" charset="-122"/>
                <a:ea typeface="微软雅黑" panose="020B0503020204020204" pitchFamily="34" charset="-122"/>
              </a:rPr>
              <a:t>	</a:t>
            </a:r>
            <a:r>
              <a:rPr lang="zh-CN" altLang="en-US" sz="2600" dirty="0" smtClean="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日本、瑞士等）</a:t>
            </a:r>
          </a:p>
          <a:p>
            <a:pPr marL="685800" lvl="3" indent="0">
              <a:lnSpc>
                <a:spcPct val="120000"/>
              </a:lnSpc>
              <a:buNone/>
            </a:pPr>
            <a:r>
              <a:rPr lang="zh-CN" altLang="en-US" sz="2600" dirty="0">
                <a:solidFill>
                  <a:schemeClr val="accent1"/>
                </a:solidFill>
                <a:latin typeface="微软雅黑" panose="020B0503020204020204" pitchFamily="34" charset="-122"/>
                <a:ea typeface="微软雅黑" panose="020B0503020204020204" pitchFamily="34" charset="-122"/>
              </a:rPr>
              <a:t>       远期差价（掉期率报价）</a:t>
            </a:r>
          </a:p>
          <a:p>
            <a:pPr marL="685800" lvl="3" indent="0">
              <a:lnSpc>
                <a:spcPct val="120000"/>
              </a:lnSpc>
              <a:buNone/>
            </a:pPr>
            <a:r>
              <a:rPr lang="zh-CN" altLang="en-US" sz="2600" dirty="0">
                <a:latin typeface="微软雅黑" panose="020B0503020204020204" pitchFamily="34" charset="-122"/>
                <a:ea typeface="微软雅黑" panose="020B0503020204020204" pitchFamily="34" charset="-122"/>
              </a:rPr>
              <a:t>		</a:t>
            </a: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英、美、德、法等）	</a:t>
            </a:r>
          </a:p>
          <a:p>
            <a:pPr marL="2343150" lvl="8" indent="-514350">
              <a:lnSpc>
                <a:spcPct val="120000"/>
              </a:lnSpc>
              <a:buFont typeface="+mj-ea"/>
              <a:buAutoNum type="circleNumDbPlain"/>
            </a:pPr>
            <a:r>
              <a:rPr lang="zh-CN" altLang="en-US" sz="2600" dirty="0" smtClean="0">
                <a:latin typeface="微软雅黑" panose="020B0503020204020204" pitchFamily="34" charset="-122"/>
                <a:ea typeface="微软雅黑" panose="020B0503020204020204" pitchFamily="34" charset="-122"/>
              </a:rPr>
              <a:t>升</a:t>
            </a:r>
            <a:r>
              <a:rPr lang="zh-CN" altLang="en-US" sz="2600" dirty="0">
                <a:latin typeface="微软雅黑" panose="020B0503020204020204" pitchFamily="34" charset="-122"/>
                <a:ea typeface="微软雅黑" panose="020B0503020204020204" pitchFamily="34" charset="-122"/>
              </a:rPr>
              <a:t>水（</a:t>
            </a:r>
            <a:r>
              <a:rPr lang="en-US" altLang="zh-CN" sz="2600" dirty="0">
                <a:latin typeface="微软雅黑" panose="020B0503020204020204" pitchFamily="34" charset="-122"/>
                <a:ea typeface="微软雅黑" panose="020B0503020204020204" pitchFamily="34" charset="-122"/>
              </a:rPr>
              <a:t>At Premium</a:t>
            </a:r>
            <a:r>
              <a:rPr lang="zh-CN" altLang="en-US" sz="2600" dirty="0">
                <a:latin typeface="微软雅黑" panose="020B0503020204020204" pitchFamily="34" charset="-122"/>
                <a:ea typeface="微软雅黑" panose="020B0503020204020204" pitchFamily="34" charset="-122"/>
              </a:rPr>
              <a:t>）</a:t>
            </a:r>
          </a:p>
          <a:p>
            <a:pPr marL="2343150" lvl="8" indent="-514350">
              <a:lnSpc>
                <a:spcPct val="120000"/>
              </a:lnSpc>
              <a:buFont typeface="+mj-ea"/>
              <a:buAutoNum type="circleNumDbPlain"/>
            </a:pPr>
            <a:r>
              <a:rPr lang="zh-CN" altLang="en-US" sz="2600" dirty="0" smtClean="0">
                <a:latin typeface="微软雅黑" panose="020B0503020204020204" pitchFamily="34" charset="-122"/>
                <a:ea typeface="微软雅黑" panose="020B0503020204020204" pitchFamily="34" charset="-122"/>
              </a:rPr>
              <a:t>贴水</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At Discount</a:t>
            </a:r>
            <a:r>
              <a:rPr lang="zh-CN" altLang="en-US" sz="2600" dirty="0">
                <a:latin typeface="微软雅黑" panose="020B0503020204020204" pitchFamily="34" charset="-122"/>
                <a:ea typeface="微软雅黑" panose="020B0503020204020204" pitchFamily="34" charset="-122"/>
              </a:rPr>
              <a:t>）</a:t>
            </a:r>
          </a:p>
          <a:p>
            <a:pPr marL="2343150" lvl="8" indent="-514350">
              <a:lnSpc>
                <a:spcPct val="120000"/>
              </a:lnSpc>
              <a:buFont typeface="+mj-ea"/>
              <a:buAutoNum type="circleNumDbPlain"/>
            </a:pPr>
            <a:r>
              <a:rPr lang="zh-CN" altLang="en-US" sz="2600" dirty="0" smtClean="0">
                <a:latin typeface="微软雅黑" panose="020B0503020204020204" pitchFamily="34" charset="-122"/>
                <a:ea typeface="微软雅黑" panose="020B0503020204020204" pitchFamily="34" charset="-122"/>
              </a:rPr>
              <a:t>平价</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At Par</a:t>
            </a:r>
            <a:r>
              <a:rPr lang="zh-CN" altLang="en-US" sz="2600" dirty="0">
                <a:latin typeface="微软雅黑" panose="020B0503020204020204" pitchFamily="34" charset="-122"/>
                <a:ea typeface="微软雅黑" panose="020B0503020204020204" pitchFamily="34" charset="-122"/>
              </a:rPr>
              <a:t>）</a:t>
            </a:r>
          </a:p>
          <a:p>
            <a:pPr marL="1257300" lvl="3" indent="-571500">
              <a:lnSpc>
                <a:spcPct val="120000"/>
              </a:lnSpc>
              <a:buFont typeface="+mj-lt"/>
              <a:buAutoNum type="arabicPeriod"/>
            </a:pPr>
            <a:endParaRPr lang="zh-CN" altLang="en-US" sz="2600" dirty="0">
              <a:latin typeface="微软雅黑" panose="020B0503020204020204" pitchFamily="34" charset="-122"/>
              <a:ea typeface="微软雅黑" panose="020B0503020204020204" pitchFamily="34" charset="-122"/>
            </a:endParaRPr>
          </a:p>
          <a:p>
            <a:pPr marL="1028700" lvl="2" indent="-571500">
              <a:lnSpc>
                <a:spcPct val="120000"/>
              </a:lnSpc>
              <a:buFont typeface="+mj-lt"/>
              <a:buAutoNum type="romanUcPeriod" startAt="3"/>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13148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a:xfrm>
            <a:off x="971550" y="1447799"/>
            <a:ext cx="7200900" cy="4640767"/>
          </a:xfrm>
        </p:spPr>
        <p:txBody>
          <a:bodyPr>
            <a:noAutofit/>
          </a:bodyPr>
          <a:lstStyle/>
          <a:p>
            <a:pPr>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在</a:t>
            </a:r>
            <a:r>
              <a:rPr lang="zh-CN" altLang="en-US" sz="2400" dirty="0">
                <a:latin typeface="微软雅黑" panose="020B0503020204020204" pitchFamily="34" charset="-122"/>
                <a:ea typeface="微软雅黑" panose="020B0503020204020204" pitchFamily="34" charset="-122"/>
              </a:rPr>
              <a:t>实务中，银行报出的远期差价用点数表述，每点万分之一。一般而言，期汇买卖差价大于现汇。</a:t>
            </a:r>
          </a:p>
          <a:p>
            <a:pPr>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银行</a:t>
            </a:r>
            <a:r>
              <a:rPr lang="zh-CN" altLang="en-US" sz="2400" dirty="0">
                <a:latin typeface="微软雅黑" panose="020B0503020204020204" pitchFamily="34" charset="-122"/>
                <a:ea typeface="微软雅黑" panose="020B0503020204020204" pitchFamily="34" charset="-122"/>
              </a:rPr>
              <a:t>直接报出即期汇率，再报出远期差价，远期汇率由交易者自己计算。即：</a:t>
            </a:r>
          </a:p>
          <a:p>
            <a:pPr>
              <a:lnSpc>
                <a:spcPct val="100000"/>
              </a:lnSpc>
              <a:spcBef>
                <a:spcPts val="1000"/>
              </a:spcBef>
              <a:buNone/>
            </a:pP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直接</a:t>
            </a:r>
            <a:r>
              <a:rPr lang="zh-CN" altLang="en-US" sz="2400" dirty="0">
                <a:solidFill>
                  <a:schemeClr val="accent1"/>
                </a:solidFill>
                <a:latin typeface="微软雅黑" panose="020B0503020204020204" pitchFamily="34" charset="-122"/>
                <a:ea typeface="微软雅黑" panose="020B0503020204020204" pitchFamily="34" charset="-122"/>
              </a:rPr>
              <a:t>标价法下：</a:t>
            </a:r>
          </a:p>
          <a:p>
            <a:pPr lvl="2">
              <a:lnSpc>
                <a:spcPct val="100000"/>
              </a:lnSpc>
              <a:spcBef>
                <a:spcPts val="1000"/>
              </a:spcBef>
              <a:buNone/>
            </a:pPr>
            <a:r>
              <a:rPr lang="en-US" altLang="zh-CN" sz="2000" dirty="0" smtClean="0">
                <a:solidFill>
                  <a:schemeClr val="accent1"/>
                </a:solidFill>
                <a:latin typeface="微软雅黑" panose="020B0503020204020204" pitchFamily="34" charset="-122"/>
                <a:ea typeface="微软雅黑" panose="020B0503020204020204" pitchFamily="34" charset="-122"/>
              </a:rPr>
              <a:t>			</a:t>
            </a:r>
            <a:r>
              <a:rPr lang="zh-CN" altLang="en-US" sz="2000" dirty="0" smtClean="0">
                <a:solidFill>
                  <a:schemeClr val="accent1"/>
                </a:solidFill>
                <a:latin typeface="微软雅黑" panose="020B0503020204020204" pitchFamily="34" charset="-122"/>
                <a:ea typeface="微软雅黑" panose="020B0503020204020204" pitchFamily="34" charset="-122"/>
              </a:rPr>
              <a:t>远期</a:t>
            </a:r>
            <a:r>
              <a:rPr lang="zh-CN" altLang="en-US" sz="2000" dirty="0">
                <a:solidFill>
                  <a:schemeClr val="accent1"/>
                </a:solidFill>
                <a:latin typeface="微软雅黑" panose="020B0503020204020204" pitchFamily="34" charset="-122"/>
                <a:ea typeface="微软雅黑" panose="020B0503020204020204" pitchFamily="34" charset="-122"/>
              </a:rPr>
              <a:t>汇率＝即期汇率＋升水（－贴水）</a:t>
            </a:r>
          </a:p>
          <a:p>
            <a:pPr>
              <a:lnSpc>
                <a:spcPct val="100000"/>
              </a:lnSpc>
              <a:spcBef>
                <a:spcPts val="1000"/>
              </a:spcBef>
              <a:buNone/>
            </a:pPr>
            <a:r>
              <a:rPr lang="en-US" altLang="zh-CN" sz="2400" dirty="0" smtClean="0">
                <a:solidFill>
                  <a:schemeClr val="accent1"/>
                </a:solidFill>
                <a:latin typeface="微软雅黑" panose="020B0503020204020204" pitchFamily="34" charset="-122"/>
                <a:ea typeface="微软雅黑" panose="020B0503020204020204" pitchFamily="34" charset="-122"/>
              </a:rPr>
              <a:t>		</a:t>
            </a:r>
            <a:r>
              <a:rPr lang="zh-CN" altLang="en-US" sz="2400" dirty="0" smtClean="0">
                <a:solidFill>
                  <a:schemeClr val="accent1"/>
                </a:solidFill>
                <a:latin typeface="微软雅黑" panose="020B0503020204020204" pitchFamily="34" charset="-122"/>
                <a:ea typeface="微软雅黑" panose="020B0503020204020204" pitchFamily="34" charset="-122"/>
              </a:rPr>
              <a:t>间接</a:t>
            </a:r>
            <a:r>
              <a:rPr lang="zh-CN" altLang="en-US" sz="2400" dirty="0">
                <a:solidFill>
                  <a:schemeClr val="accent1"/>
                </a:solidFill>
                <a:latin typeface="微软雅黑" panose="020B0503020204020204" pitchFamily="34" charset="-122"/>
                <a:ea typeface="微软雅黑" panose="020B0503020204020204" pitchFamily="34" charset="-122"/>
              </a:rPr>
              <a:t>标价法下：</a:t>
            </a:r>
          </a:p>
          <a:p>
            <a:pPr lvl="2">
              <a:lnSpc>
                <a:spcPct val="100000"/>
              </a:lnSpc>
              <a:spcBef>
                <a:spcPts val="1000"/>
              </a:spcBef>
              <a:buNone/>
            </a:pPr>
            <a:r>
              <a:rPr lang="en-US" altLang="zh-CN" sz="2000" dirty="0" smtClean="0">
                <a:solidFill>
                  <a:schemeClr val="accent1"/>
                </a:solidFill>
                <a:latin typeface="微软雅黑" panose="020B0503020204020204" pitchFamily="34" charset="-122"/>
                <a:ea typeface="微软雅黑" panose="020B0503020204020204" pitchFamily="34" charset="-122"/>
              </a:rPr>
              <a:t>			</a:t>
            </a:r>
            <a:r>
              <a:rPr lang="zh-CN" altLang="en-US" sz="2000" dirty="0" smtClean="0">
                <a:solidFill>
                  <a:schemeClr val="accent1"/>
                </a:solidFill>
                <a:latin typeface="微软雅黑" panose="020B0503020204020204" pitchFamily="34" charset="-122"/>
                <a:ea typeface="微软雅黑" panose="020B0503020204020204" pitchFamily="34" charset="-122"/>
              </a:rPr>
              <a:t>远期</a:t>
            </a:r>
            <a:r>
              <a:rPr lang="zh-CN" altLang="en-US" sz="2000" dirty="0">
                <a:solidFill>
                  <a:schemeClr val="accent1"/>
                </a:solidFill>
                <a:latin typeface="微软雅黑" panose="020B0503020204020204" pitchFamily="34" charset="-122"/>
                <a:ea typeface="微软雅黑" panose="020B0503020204020204" pitchFamily="34" charset="-122"/>
              </a:rPr>
              <a:t>汇率＝即期汇率－升水（＋贴水）</a:t>
            </a:r>
          </a:p>
          <a:p>
            <a:pPr>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如果</a:t>
            </a:r>
            <a:r>
              <a:rPr lang="zh-CN" altLang="en-US" sz="2400" dirty="0">
                <a:latin typeface="微软雅黑" panose="020B0503020204020204" pitchFamily="34" charset="-122"/>
                <a:ea typeface="微软雅黑" panose="020B0503020204020204" pitchFamily="34" charset="-122"/>
              </a:rPr>
              <a:t>区分买入价和卖出价怎么办？如果只报出差价，不标出升贴水怎么办？如果只报出汇率，不说明标价方法怎么办？</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6858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a:xfrm>
            <a:off x="971550" y="1447799"/>
            <a:ext cx="7200900" cy="4640767"/>
          </a:xfrm>
        </p:spPr>
        <p:txBody>
          <a:bodyPr>
            <a:noAutofit/>
          </a:bodyPr>
          <a:lstStyle/>
          <a:p>
            <a:pPr>
              <a:lnSpc>
                <a:spcPct val="100000"/>
              </a:lnSpc>
              <a:spcBef>
                <a:spcPts val="1000"/>
              </a:spcBef>
            </a:pPr>
            <a:endParaRPr lang="en-US" altLang="zh-CN" sz="2400" dirty="0">
              <a:latin typeface="微软雅黑" panose="020B0503020204020204" pitchFamily="34" charset="-122"/>
              <a:ea typeface="微软雅黑" panose="020B0503020204020204" pitchFamily="34" charset="-122"/>
            </a:endParaRPr>
          </a:p>
          <a:p>
            <a:pPr>
              <a:lnSpc>
                <a:spcPct val="100000"/>
              </a:lnSpc>
              <a:spcBef>
                <a:spcPts val="1000"/>
              </a:spcBef>
              <a:buNone/>
            </a:pPr>
            <a:r>
              <a:rPr lang="zh-CN" altLang="en-US" sz="2400" dirty="0" smtClean="0">
                <a:latin typeface="微软雅黑" panose="020B0503020204020204" pitchFamily="34" charset="-122"/>
                <a:ea typeface="微软雅黑" panose="020B0503020204020204" pitchFamily="34" charset="-122"/>
              </a:rPr>
              <a:t>例如，</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银行</a:t>
            </a:r>
            <a:r>
              <a:rPr lang="zh-CN" altLang="en-US" sz="2400" dirty="0">
                <a:latin typeface="微软雅黑" panose="020B0503020204020204" pitchFamily="34" charset="-122"/>
                <a:ea typeface="微软雅黑" panose="020B0503020204020204" pitchFamily="34" charset="-122"/>
              </a:rPr>
              <a:t>报出的美元和欧元的报价为：</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USD1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EUR0.7335-65</a:t>
            </a:r>
          </a:p>
          <a:p>
            <a:pPr>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一个月</a:t>
            </a:r>
            <a:r>
              <a:rPr lang="zh-CN" altLang="en-US" sz="2400" dirty="0">
                <a:latin typeface="微软雅黑" panose="020B0503020204020204" pitchFamily="34" charset="-122"/>
                <a:ea typeface="微软雅黑" panose="020B0503020204020204" pitchFamily="34" charset="-122"/>
              </a:rPr>
              <a:t>掉期率为</a:t>
            </a:r>
            <a:r>
              <a:rPr lang="en-US" altLang="zh-CN" sz="2400" dirty="0">
                <a:latin typeface="微软雅黑" panose="020B0503020204020204" pitchFamily="34" charset="-122"/>
                <a:ea typeface="微软雅黑" panose="020B0503020204020204" pitchFamily="34" charset="-122"/>
              </a:rPr>
              <a:t>34/25</a:t>
            </a:r>
          </a:p>
          <a:p>
            <a:pPr>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三个月</a:t>
            </a:r>
            <a:r>
              <a:rPr lang="zh-CN" altLang="en-US" sz="2400" dirty="0">
                <a:latin typeface="微软雅黑" panose="020B0503020204020204" pitchFamily="34" charset="-122"/>
                <a:ea typeface="微软雅黑" panose="020B0503020204020204" pitchFamily="34" charset="-122"/>
              </a:rPr>
              <a:t>掉期率为</a:t>
            </a:r>
            <a:r>
              <a:rPr lang="en-US" altLang="zh-CN" sz="2400" dirty="0">
                <a:latin typeface="微软雅黑" panose="020B0503020204020204" pitchFamily="34" charset="-122"/>
                <a:ea typeface="微软雅黑" panose="020B0503020204020204" pitchFamily="34" charset="-122"/>
              </a:rPr>
              <a:t>20/45</a:t>
            </a:r>
          </a:p>
          <a:p>
            <a:pPr>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美元</a:t>
            </a:r>
            <a:r>
              <a:rPr lang="zh-CN" altLang="en-US" sz="2400" dirty="0">
                <a:latin typeface="微软雅黑" panose="020B0503020204020204" pitchFamily="34" charset="-122"/>
                <a:ea typeface="微软雅黑" panose="020B0503020204020204" pitchFamily="34" charset="-122"/>
              </a:rPr>
              <a:t>和欧元的一月期和三月期远期汇率		分别是多少？</a:t>
            </a:r>
          </a:p>
          <a:p>
            <a:pPr>
              <a:lnSpc>
                <a:spcPct val="100000"/>
              </a:lnSpc>
              <a:spcBef>
                <a:spcPts val="1000"/>
              </a:spcBef>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986178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a:xfrm>
            <a:off x="971550" y="1447799"/>
            <a:ext cx="7200900" cy="4640767"/>
          </a:xfrm>
        </p:spPr>
        <p:txBody>
          <a:bodyPr>
            <a:noAutofit/>
          </a:bodyPr>
          <a:lstStyle/>
          <a:p>
            <a:pPr algn="ctr">
              <a:lnSpc>
                <a:spcPct val="100000"/>
              </a:lnSpc>
              <a:spcBef>
                <a:spcPts val="1000"/>
              </a:spcBef>
            </a:pP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algn="ctr">
              <a:lnSpc>
                <a:spcPct val="100000"/>
              </a:lnSpc>
              <a:spcBef>
                <a:spcPts val="1000"/>
              </a:spcBef>
            </a:pPr>
            <a:endParaRPr lang="en-US" altLang="zh-CN" sz="2800" dirty="0">
              <a:solidFill>
                <a:schemeClr val="accent1"/>
              </a:solidFill>
              <a:latin typeface="微软雅黑" panose="020B0503020204020204" pitchFamily="34" charset="-122"/>
              <a:ea typeface="微软雅黑" panose="020B0503020204020204" pitchFamily="34" charset="-122"/>
            </a:endParaRPr>
          </a:p>
          <a:p>
            <a:pPr algn="ctr">
              <a:lnSpc>
                <a:spcPct val="100000"/>
              </a:lnSpc>
              <a:spcBef>
                <a:spcPts val="1000"/>
              </a:spcBef>
            </a:pPr>
            <a:endParaRPr lang="en-US" altLang="zh-CN" sz="2800" dirty="0">
              <a:solidFill>
                <a:schemeClr val="accent1"/>
              </a:solidFill>
              <a:latin typeface="微软雅黑" panose="020B0503020204020204" pitchFamily="34" charset="-122"/>
              <a:ea typeface="微软雅黑" panose="020B0503020204020204" pitchFamily="34" charset="-122"/>
            </a:endParaRPr>
          </a:p>
          <a:p>
            <a:pPr>
              <a:lnSpc>
                <a:spcPct val="100000"/>
              </a:lnSpc>
              <a:spcBef>
                <a:spcPts val="1000"/>
              </a:spcBef>
            </a:pPr>
            <a:r>
              <a:rPr lang="zh-CN" altLang="en-US" sz="2800" dirty="0" smtClean="0">
                <a:solidFill>
                  <a:schemeClr val="accent1"/>
                </a:solidFill>
                <a:latin typeface="微软雅黑" panose="020B0503020204020204" pitchFamily="34" charset="-122"/>
                <a:ea typeface="微软雅黑" panose="020B0503020204020204" pitchFamily="34" charset="-122"/>
              </a:rPr>
              <a:t>左</a:t>
            </a:r>
            <a:r>
              <a:rPr lang="zh-CN" altLang="en-US" sz="2800" dirty="0">
                <a:solidFill>
                  <a:schemeClr val="accent1"/>
                </a:solidFill>
                <a:latin typeface="微软雅黑" panose="020B0503020204020204" pitchFamily="34" charset="-122"/>
                <a:ea typeface="微软雅黑" panose="020B0503020204020204" pitchFamily="34" charset="-122"/>
              </a:rPr>
              <a:t>低右高，往上加</a:t>
            </a:r>
          </a:p>
          <a:p>
            <a:pPr>
              <a:lnSpc>
                <a:spcPct val="100000"/>
              </a:lnSpc>
              <a:spcBef>
                <a:spcPts val="1000"/>
              </a:spcBef>
            </a:pPr>
            <a:r>
              <a:rPr lang="zh-CN" altLang="en-US" sz="2800" dirty="0" smtClean="0">
                <a:solidFill>
                  <a:schemeClr val="accent1"/>
                </a:solidFill>
                <a:latin typeface="微软雅黑" panose="020B0503020204020204" pitchFamily="34" charset="-122"/>
                <a:ea typeface="微软雅黑" panose="020B0503020204020204" pitchFamily="34" charset="-122"/>
              </a:rPr>
              <a:t>左</a:t>
            </a:r>
            <a:r>
              <a:rPr lang="zh-CN" altLang="en-US" sz="2800" dirty="0">
                <a:solidFill>
                  <a:schemeClr val="accent1"/>
                </a:solidFill>
                <a:latin typeface="微软雅黑" panose="020B0503020204020204" pitchFamily="34" charset="-122"/>
                <a:ea typeface="微软雅黑" panose="020B0503020204020204" pitchFamily="34" charset="-122"/>
              </a:rPr>
              <a:t>高右低，往下减</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0303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2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20000"/>
              </a:lnSpc>
              <a:buNone/>
            </a:pPr>
            <a:r>
              <a:rPr lang="zh-CN" altLang="en-US" sz="2400" dirty="0">
                <a:solidFill>
                  <a:schemeClr val="accent1"/>
                </a:solidFill>
                <a:latin typeface="微软雅黑" panose="020B0503020204020204" pitchFamily="34" charset="-122"/>
                <a:ea typeface="微软雅黑" panose="020B0503020204020204" pitchFamily="34" charset="-122"/>
              </a:rPr>
              <a:t>名义汇率、实际汇率和有效</a:t>
            </a:r>
            <a:r>
              <a:rPr lang="zh-CN" altLang="en-US" sz="2400" dirty="0" smtClean="0">
                <a:solidFill>
                  <a:schemeClr val="accent1"/>
                </a:solidFill>
                <a:latin typeface="微软雅黑" panose="020B0503020204020204" pitchFamily="34" charset="-122"/>
                <a:ea typeface="微软雅黑" panose="020B0503020204020204" pitchFamily="34" charset="-122"/>
              </a:rPr>
              <a:t>汇率</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marL="1200150" lvl="3" indent="-514350">
              <a:lnSpc>
                <a:spcPct val="120000"/>
              </a:lnSpc>
              <a:buNone/>
            </a:pPr>
            <a:r>
              <a:rPr lang="zh-CN" altLang="en-US" sz="2400" b="1" dirty="0" smtClean="0">
                <a:latin typeface="微软雅黑" panose="020B0503020204020204" pitchFamily="34" charset="-122"/>
                <a:ea typeface="微软雅黑" panose="020B0503020204020204" pitchFamily="34" charset="-122"/>
              </a:rPr>
              <a:t>名义</a:t>
            </a:r>
            <a:r>
              <a:rPr lang="zh-CN" altLang="en-US" sz="2400" b="1" dirty="0">
                <a:latin typeface="微软雅黑" panose="020B0503020204020204" pitchFamily="34" charset="-122"/>
                <a:ea typeface="微软雅黑" panose="020B0503020204020204" pitchFamily="34" charset="-122"/>
              </a:rPr>
              <a:t>汇率和实际汇率</a:t>
            </a:r>
          </a:p>
          <a:p>
            <a:pPr marL="685800" lvl="3" indent="0">
              <a:lnSpc>
                <a:spcPct val="120000"/>
              </a:lnSpc>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实际</a:t>
            </a:r>
            <a:r>
              <a:rPr lang="zh-CN" altLang="en-US" sz="2400" dirty="0">
                <a:latin typeface="微软雅黑" panose="020B0503020204020204" pitchFamily="34" charset="-122"/>
                <a:ea typeface="微软雅黑" panose="020B0503020204020204" pitchFamily="34" charset="-122"/>
              </a:rPr>
              <a:t>汇率是经两国价格水平调整后		的汇率：</a:t>
            </a:r>
          </a:p>
          <a:p>
            <a:pPr marL="685800" lvl="3" indent="0">
              <a:lnSpc>
                <a:spcPct val="120000"/>
              </a:lnSpc>
              <a:buNone/>
            </a:pPr>
            <a:r>
              <a:rPr lang="zh-CN" altLang="en-US"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R</a:t>
            </a:r>
            <a:r>
              <a:rPr lang="zh-CN" altLang="en-US"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eP</a:t>
            </a:r>
            <a:r>
              <a:rPr lang="en-US" altLang="zh-CN" sz="2400" dirty="0">
                <a:latin typeface="微软雅黑" panose="020B0503020204020204" pitchFamily="34" charset="-122"/>
                <a:ea typeface="微软雅黑" panose="020B0503020204020204" pitchFamily="34" charset="-122"/>
              </a:rPr>
              <a:t>*/P</a:t>
            </a:r>
          </a:p>
          <a:p>
            <a:pPr marL="685800" lvl="3" indent="0">
              <a:lnSpc>
                <a:spcPct val="120000"/>
              </a:lnSpc>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R</a:t>
            </a:r>
            <a:r>
              <a:rPr lang="zh-CN" altLang="en-US" sz="2400" dirty="0">
                <a:latin typeface="微软雅黑" panose="020B0503020204020204" pitchFamily="34" charset="-122"/>
                <a:ea typeface="微软雅黑" panose="020B0503020204020204" pitchFamily="34" charset="-122"/>
              </a:rPr>
              <a:t>为实际汇率，</a:t>
            </a:r>
            <a:r>
              <a:rPr lang="en-US" altLang="zh-CN" sz="2400" dirty="0">
                <a:latin typeface="微软雅黑" panose="020B0503020204020204" pitchFamily="34" charset="-122"/>
                <a:ea typeface="微软雅黑" panose="020B0503020204020204" pitchFamily="34" charset="-122"/>
              </a:rPr>
              <a:t>e</a:t>
            </a:r>
            <a:r>
              <a:rPr lang="zh-CN" altLang="en-US" sz="2400" dirty="0">
                <a:latin typeface="微软雅黑" panose="020B0503020204020204" pitchFamily="34" charset="-122"/>
                <a:ea typeface="微软雅黑" panose="020B0503020204020204" pitchFamily="34" charset="-122"/>
              </a:rPr>
              <a:t>为名义汇率</a:t>
            </a:r>
            <a:r>
              <a:rPr lang="en-US" altLang="zh-CN"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1028700" lvl="2" indent="-571500">
              <a:lnSpc>
                <a:spcPct val="120000"/>
              </a:lnSpc>
              <a:buFont typeface="+mj-lt"/>
              <a:buAutoNum type="romanUcPeriod" startAt="4"/>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9561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2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20000"/>
              </a:lnSpc>
              <a:buNone/>
            </a:pPr>
            <a:r>
              <a:rPr lang="zh-CN" altLang="en-US" sz="2400" dirty="0">
                <a:solidFill>
                  <a:schemeClr val="accent1"/>
                </a:solidFill>
                <a:latin typeface="微软雅黑" panose="020B0503020204020204" pitchFamily="34" charset="-122"/>
                <a:ea typeface="微软雅黑" panose="020B0503020204020204" pitchFamily="34" charset="-122"/>
              </a:rPr>
              <a:t>名义汇率、实际汇率和有效</a:t>
            </a:r>
            <a:r>
              <a:rPr lang="zh-CN" altLang="en-US" sz="2400" dirty="0" smtClean="0">
                <a:solidFill>
                  <a:schemeClr val="accent1"/>
                </a:solidFill>
                <a:latin typeface="微软雅黑" panose="020B0503020204020204" pitchFamily="34" charset="-122"/>
                <a:ea typeface="微软雅黑" panose="020B0503020204020204" pitchFamily="34" charset="-122"/>
              </a:rPr>
              <a:t>汇率</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marL="1200150" lvl="3" indent="-514350">
              <a:lnSpc>
                <a:spcPct val="120000"/>
              </a:lnSpc>
              <a:buNone/>
            </a:pPr>
            <a:r>
              <a:rPr lang="zh-CN" altLang="en-US" sz="2400" b="1" dirty="0">
                <a:latin typeface="微软雅黑" panose="020B0503020204020204" pitchFamily="34" charset="-122"/>
                <a:ea typeface="微软雅黑" panose="020B0503020204020204" pitchFamily="34" charset="-122"/>
              </a:rPr>
              <a:t>有效汇率</a:t>
            </a:r>
          </a:p>
          <a:p>
            <a:pPr marL="685800" lvl="3" indent="0">
              <a:lnSpc>
                <a:spcPct val="120000"/>
              </a:lnSpc>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是</a:t>
            </a:r>
            <a:r>
              <a:rPr lang="zh-CN" altLang="en-US" sz="2400" dirty="0">
                <a:latin typeface="微软雅黑" panose="020B0503020204020204" pitchFamily="34" charset="-122"/>
                <a:ea typeface="微软雅黑" panose="020B0503020204020204" pitchFamily="34" charset="-122"/>
              </a:rPr>
              <a:t>一种</a:t>
            </a:r>
            <a:r>
              <a:rPr lang="zh-CN" altLang="en-US" sz="2400" dirty="0" smtClean="0">
                <a:latin typeface="微软雅黑" panose="020B0503020204020204" pitchFamily="34" charset="-122"/>
                <a:ea typeface="微软雅黑" panose="020B0503020204020204" pitchFamily="34" charset="-122"/>
              </a:rPr>
              <a:t>加权平均</a:t>
            </a:r>
            <a:r>
              <a:rPr lang="zh-CN" altLang="en-US" sz="2400" dirty="0">
                <a:latin typeface="微软雅黑" panose="020B0503020204020204" pitchFamily="34" charset="-122"/>
                <a:ea typeface="微软雅黑" panose="020B0503020204020204" pitchFamily="34" charset="-122"/>
              </a:rPr>
              <a:t>汇率，或称汇率指数</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685800" lvl="3" indent="0">
              <a:lnSpc>
                <a:spcPct val="120000"/>
              </a:lnSpc>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1723444532"/>
              </p:ext>
            </p:extLst>
          </p:nvPr>
        </p:nvGraphicFramePr>
        <p:xfrm>
          <a:off x="1473798" y="4291229"/>
          <a:ext cx="7080550" cy="1147533"/>
        </p:xfrm>
        <a:graphic>
          <a:graphicData uri="http://schemas.openxmlformats.org/presentationml/2006/ole">
            <mc:AlternateContent xmlns:mc="http://schemas.openxmlformats.org/markup-compatibility/2006">
              <mc:Choice xmlns:v="urn:schemas-microsoft-com:vml" Requires="v">
                <p:oleObj spid="_x0000_s1060" name="公式" r:id="rId4" imgW="3593880" imgH="660240" progId="Equation.3">
                  <p:embed/>
                </p:oleObj>
              </mc:Choice>
              <mc:Fallback>
                <p:oleObj name="公式" r:id="rId4" imgW="3593880" imgH="660240" progId="Equation.3">
                  <p:embed/>
                  <p:pic>
                    <p:nvPicPr>
                      <p:cNvPr id="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98" y="4291229"/>
                        <a:ext cx="7080550" cy="1147533"/>
                      </a:xfrm>
                      <a:prstGeom prst="rect">
                        <a:avLst/>
                      </a:prstGeom>
                      <a:solidFill>
                        <a:schemeClr val="bg1">
                          <a:alpha val="0"/>
                        </a:schemeClr>
                      </a:solidFill>
                    </p:spPr>
                  </p:pic>
                </p:oleObj>
              </mc:Fallback>
            </mc:AlternateContent>
          </a:graphicData>
        </a:graphic>
      </p:graphicFrame>
    </p:spTree>
    <p:extLst>
      <p:ext uri="{BB962C8B-B14F-4D97-AF65-F5344CB8AC3E}">
        <p14:creationId xmlns:p14="http://schemas.microsoft.com/office/powerpoint/2010/main" val="37329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汇率的标价方法和种类</a:t>
            </a:r>
          </a:p>
        </p:txBody>
      </p:sp>
      <p:sp>
        <p:nvSpPr>
          <p:cNvPr id="3" name="内容占位符 2"/>
          <p:cNvSpPr>
            <a:spLocks noGrp="1"/>
          </p:cNvSpPr>
          <p:nvPr>
            <p:ph idx="1"/>
          </p:nvPr>
        </p:nvSpPr>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三、汇率的</a:t>
            </a:r>
            <a:r>
              <a:rPr lang="zh-CN" altLang="en-US" sz="2400" dirty="0" smtClean="0">
                <a:latin typeface="微软雅黑" panose="020B0503020204020204" pitchFamily="34" charset="-122"/>
                <a:ea typeface="微软雅黑" panose="020B0503020204020204" pitchFamily="34" charset="-122"/>
              </a:rPr>
              <a:t>种类</a:t>
            </a:r>
            <a:endParaRPr lang="en-US" altLang="zh-CN" sz="2400" dirty="0" smtClean="0">
              <a:latin typeface="微软雅黑" panose="020B0503020204020204" pitchFamily="34" charset="-122"/>
              <a:ea typeface="微软雅黑" panose="020B0503020204020204" pitchFamily="34" charset="-122"/>
            </a:endParaRPr>
          </a:p>
          <a:p>
            <a:pPr marL="1028700" lvl="2" indent="-571500">
              <a:lnSpc>
                <a:spcPct val="100000"/>
              </a:lnSpc>
              <a:spcBef>
                <a:spcPts val="18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电汇</a:t>
            </a:r>
            <a:r>
              <a:rPr lang="zh-CN" altLang="en-US" sz="2400" dirty="0">
                <a:solidFill>
                  <a:schemeClr val="accent1"/>
                </a:solidFill>
                <a:latin typeface="微软雅黑" panose="020B0503020204020204" pitchFamily="34" charset="-122"/>
                <a:ea typeface="微软雅黑" panose="020B0503020204020204" pitchFamily="34" charset="-122"/>
              </a:rPr>
              <a:t>汇率、信汇汇率和票汇汇率</a:t>
            </a:r>
          </a:p>
          <a:p>
            <a:pPr marL="1028700" lvl="2" indent="-571500">
              <a:lnSpc>
                <a:spcPct val="100000"/>
              </a:lnSpc>
              <a:spcBef>
                <a:spcPts val="18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官方</a:t>
            </a:r>
            <a:r>
              <a:rPr lang="zh-CN" altLang="en-US" sz="2400" dirty="0">
                <a:solidFill>
                  <a:schemeClr val="accent1"/>
                </a:solidFill>
                <a:latin typeface="微软雅黑" panose="020B0503020204020204" pitchFamily="34" charset="-122"/>
                <a:ea typeface="微软雅黑" panose="020B0503020204020204" pitchFamily="34" charset="-122"/>
              </a:rPr>
              <a:t>汇率和市场汇率</a:t>
            </a:r>
          </a:p>
          <a:p>
            <a:pPr marL="1028700" lvl="2" indent="-571500">
              <a:lnSpc>
                <a:spcPct val="100000"/>
              </a:lnSpc>
              <a:spcBef>
                <a:spcPts val="18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固定汇率</a:t>
            </a:r>
            <a:r>
              <a:rPr lang="zh-CN" altLang="en-US" sz="2400" dirty="0">
                <a:solidFill>
                  <a:schemeClr val="accent1"/>
                </a:solidFill>
                <a:latin typeface="微软雅黑" panose="020B0503020204020204" pitchFamily="34" charset="-122"/>
                <a:ea typeface="微软雅黑" panose="020B0503020204020204" pitchFamily="34" charset="-122"/>
              </a:rPr>
              <a:t>和浮动汇率</a:t>
            </a:r>
          </a:p>
          <a:p>
            <a:pPr marL="1028700" lvl="2" indent="-571500">
              <a:lnSpc>
                <a:spcPct val="100000"/>
              </a:lnSpc>
              <a:spcBef>
                <a:spcPts val="1800"/>
              </a:spcBef>
              <a:buNone/>
            </a:pPr>
            <a:r>
              <a:rPr lang="en-US" altLang="zh-CN" sz="2400" dirty="0" smtClean="0">
                <a:solidFill>
                  <a:schemeClr val="accent1"/>
                </a:solidFill>
                <a:latin typeface="微软雅黑" panose="020B0503020204020204" pitchFamily="34" charset="-122"/>
                <a:ea typeface="微软雅黑" panose="020B0503020204020204" pitchFamily="34" charset="-122"/>
              </a:rPr>
              <a:t>……</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685800" lvl="3" indent="0">
              <a:lnSpc>
                <a:spcPct val="10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9273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a:lnSpc>
                <a:spcPct val="100000"/>
              </a:lnSpc>
              <a:buNone/>
            </a:pPr>
            <a:r>
              <a:rPr lang="zh-CN" altLang="en-US" sz="2400" dirty="0" smtClean="0">
                <a:latin typeface="微软雅黑" panose="020B0503020204020204" pitchFamily="34" charset="-122"/>
                <a:ea typeface="微软雅黑" panose="020B0503020204020204" pitchFamily="34" charset="-122"/>
              </a:rPr>
              <a:t>一</a:t>
            </a:r>
            <a:r>
              <a:rPr lang="zh-CN" altLang="en-US" sz="2400" dirty="0">
                <a:latin typeface="微软雅黑" panose="020B0503020204020204" pitchFamily="34" charset="-122"/>
                <a:ea typeface="微软雅黑" panose="020B0503020204020204" pitchFamily="34" charset="-122"/>
              </a:rPr>
              <a:t>、即期外汇交易</a:t>
            </a:r>
          </a:p>
          <a:p>
            <a:pPr>
              <a:lnSpc>
                <a:spcPct val="100000"/>
              </a:lnSpc>
              <a:buNone/>
            </a:pPr>
            <a:r>
              <a:rPr lang="zh-CN" altLang="en-US" sz="2400" dirty="0" smtClean="0">
                <a:latin typeface="微软雅黑" panose="020B0503020204020204" pitchFamily="34" charset="-122"/>
                <a:ea typeface="微软雅黑" panose="020B0503020204020204" pitchFamily="34" charset="-122"/>
              </a:rPr>
              <a:t>二</a:t>
            </a:r>
            <a:r>
              <a:rPr lang="zh-CN" altLang="en-US" sz="2400" dirty="0">
                <a:latin typeface="微软雅黑" panose="020B0503020204020204" pitchFamily="34" charset="-122"/>
                <a:ea typeface="微软雅黑" panose="020B0503020204020204" pitchFamily="34" charset="-122"/>
              </a:rPr>
              <a:t>、远期外汇交易</a:t>
            </a:r>
          </a:p>
          <a:p>
            <a:pPr>
              <a:lnSpc>
                <a:spcPct val="100000"/>
              </a:lnSpc>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远期交易</a:t>
            </a:r>
            <a:r>
              <a:rPr lang="zh-CN" altLang="en-US" sz="2400" dirty="0">
                <a:latin typeface="微软雅黑" panose="020B0503020204020204" pitchFamily="34" charset="-122"/>
                <a:ea typeface="微软雅黑" panose="020B0503020204020204" pitchFamily="34" charset="-122"/>
              </a:rPr>
              <a:t>的目的主要有两个：</a:t>
            </a:r>
          </a:p>
          <a:p>
            <a:pPr lvl="4">
              <a:lnSpc>
                <a:spcPct val="100000"/>
              </a:lnSpc>
              <a:spcBef>
                <a:spcPts val="18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套</a:t>
            </a:r>
            <a:r>
              <a:rPr lang="zh-CN" altLang="en-US" sz="2400" dirty="0">
                <a:solidFill>
                  <a:schemeClr val="accent1"/>
                </a:solidFill>
                <a:latin typeface="微软雅黑" panose="020B0503020204020204" pitchFamily="34" charset="-122"/>
                <a:ea typeface="微软雅黑" panose="020B0503020204020204" pitchFamily="34" charset="-122"/>
              </a:rPr>
              <a:t>期保值（</a:t>
            </a:r>
            <a:r>
              <a:rPr lang="en-US" altLang="zh-CN" sz="2400" dirty="0">
                <a:solidFill>
                  <a:schemeClr val="accent1"/>
                </a:solidFill>
                <a:latin typeface="微软雅黑" panose="020B0503020204020204" pitchFamily="34" charset="-122"/>
                <a:ea typeface="微软雅黑" panose="020B0503020204020204" pitchFamily="34" charset="-122"/>
              </a:rPr>
              <a:t>Hedging</a:t>
            </a:r>
            <a:r>
              <a:rPr lang="zh-CN" altLang="en-US" sz="2400" dirty="0">
                <a:solidFill>
                  <a:schemeClr val="accent1"/>
                </a:solidFill>
                <a:latin typeface="微软雅黑" panose="020B0503020204020204" pitchFamily="34" charset="-122"/>
                <a:ea typeface="微软雅黑" panose="020B0503020204020204" pitchFamily="34" charset="-122"/>
              </a:rPr>
              <a:t>）</a:t>
            </a:r>
          </a:p>
          <a:p>
            <a:pPr lvl="4">
              <a:lnSpc>
                <a:spcPct val="100000"/>
              </a:lnSpc>
              <a:spcBef>
                <a:spcPts val="18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投机</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6870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套期保值（</a:t>
            </a:r>
            <a:r>
              <a:rPr lang="en-US" altLang="zh-CN" sz="2400" dirty="0">
                <a:solidFill>
                  <a:schemeClr val="accent1"/>
                </a:solidFill>
                <a:latin typeface="微软雅黑" panose="020B0503020204020204" pitchFamily="34" charset="-122"/>
                <a:ea typeface="微软雅黑" panose="020B0503020204020204" pitchFamily="34" charset="-122"/>
              </a:rPr>
              <a:t>Hedging</a:t>
            </a:r>
            <a:r>
              <a:rPr lang="zh-CN" altLang="en-US" sz="2400" dirty="0" smtClean="0">
                <a:solidFill>
                  <a:schemeClr val="accent1"/>
                </a:solidFill>
                <a:latin typeface="微软雅黑" panose="020B0503020204020204" pitchFamily="34" charset="-122"/>
                <a:ea typeface="微软雅黑" panose="020B0503020204020204" pitchFamily="34" charset="-122"/>
              </a:rPr>
              <a:t>）</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marL="228600" lvl="1" indent="0">
              <a:lnSpc>
                <a:spcPct val="100000"/>
              </a:lnSpc>
              <a:buNone/>
            </a:pPr>
            <a:r>
              <a:rPr lang="zh-CN" altLang="en-US" sz="2400" dirty="0" smtClean="0">
                <a:latin typeface="微软雅黑" panose="020B0503020204020204" pitchFamily="34" charset="-122"/>
                <a:ea typeface="微软雅黑" panose="020B0503020204020204" pitchFamily="34" charset="-122"/>
              </a:rPr>
              <a:t>是</a:t>
            </a:r>
            <a:r>
              <a:rPr lang="zh-CN" altLang="en-US" sz="2400" dirty="0">
                <a:latin typeface="微软雅黑" panose="020B0503020204020204" pitchFamily="34" charset="-122"/>
                <a:ea typeface="微软雅黑" panose="020B0503020204020204" pitchFamily="34" charset="-122"/>
              </a:rPr>
              <a:t>指卖出或买入金额等于一笔外币资产或负债的外汇，使这笔外币资产或负债以本币表示的价值避免遭受汇率变动的影响。</a:t>
            </a: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如：进出口商和资金借贷者为避免汇率风险而进行远期买卖；</a:t>
            </a: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外汇银行为平衡期汇头寸而进行远期买卖</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228600" lvl="4" indent="-228600">
              <a:lnSpc>
                <a:spcPct val="100000"/>
              </a:lnSpc>
              <a:spcBef>
                <a:spcPts val="1800"/>
              </a:spcBef>
              <a:buNone/>
            </a:pPr>
            <a:r>
              <a:rPr lang="zh-CN" altLang="en-US" sz="2400" dirty="0">
                <a:solidFill>
                  <a:schemeClr val="accent1"/>
                </a:solidFill>
                <a:latin typeface="微软雅黑" panose="020B0503020204020204" pitchFamily="34" charset="-122"/>
                <a:ea typeface="微软雅黑" panose="020B0503020204020204" pitchFamily="34" charset="-122"/>
              </a:rPr>
              <a:t>投机</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投机者为谋取汇率变动的差价进行远期交易。</a:t>
            </a:r>
          </a:p>
          <a:p>
            <a:pPr marL="228600" lvl="4" indent="-228600">
              <a:lnSpc>
                <a:spcPct val="100000"/>
              </a:lnSpc>
              <a:spcBef>
                <a:spcPts val="1800"/>
              </a:spcBef>
            </a:pPr>
            <a:endParaRPr lang="zh-CN" altLang="en-US" sz="2800" dirty="0">
              <a:solidFill>
                <a:schemeClr val="accent1"/>
              </a:solidFill>
              <a:latin typeface="微软雅黑" panose="020B0503020204020204" pitchFamily="34" charset="-122"/>
              <a:ea typeface="微软雅黑" panose="020B0503020204020204" pitchFamily="34" charset="-122"/>
            </a:endParaRPr>
          </a:p>
          <a:p>
            <a:pPr marL="228600" lvl="1" indent="-228600">
              <a:lnSpc>
                <a:spcPct val="100000"/>
              </a:lnSpc>
              <a:spcBef>
                <a:spcPts val="1800"/>
              </a:spcBef>
            </a:pP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28009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9861" y="134283"/>
            <a:ext cx="8849856" cy="6899563"/>
          </a:xfrm>
        </p:spPr>
        <p:txBody>
          <a:bodyPr>
            <a:noAutofit/>
          </a:bodyPr>
          <a:lstStyle/>
          <a:p>
            <a:endParaRPr lang="en-US" altLang="en-US" sz="1800" dirty="0" smtClean="0"/>
          </a:p>
          <a:p>
            <a:pPr>
              <a:lnSpc>
                <a:spcPct val="150000"/>
              </a:lnSpc>
            </a:pPr>
            <a:r>
              <a:rPr altLang="en-US" sz="2400" dirty="0" smtClean="0"/>
              <a:t>假设</a:t>
            </a:r>
            <a:r>
              <a:rPr altLang="en-US" sz="2400" dirty="0" smtClean="0"/>
              <a:t>：出口商在</a:t>
            </a:r>
            <a:r>
              <a:rPr lang="en-US" altLang="zh-CN" sz="2400" dirty="0" smtClean="0"/>
              <a:t>6</a:t>
            </a:r>
            <a:r>
              <a:rPr altLang="en-US" sz="2400" dirty="0" smtClean="0"/>
              <a:t>个月</a:t>
            </a:r>
            <a:r>
              <a:rPr lang="en-US" altLang="zh-CN" sz="2400" dirty="0" smtClean="0"/>
              <a:t>(180</a:t>
            </a:r>
            <a:r>
              <a:rPr altLang="en-US" sz="2400" dirty="0" smtClean="0"/>
              <a:t>天</a:t>
            </a:r>
            <a:r>
              <a:rPr lang="en-US" altLang="zh-CN" sz="2400" dirty="0" smtClean="0"/>
              <a:t>)</a:t>
            </a:r>
            <a:r>
              <a:rPr altLang="en-US" sz="2400" dirty="0" smtClean="0"/>
              <a:t>后会得到货款</a:t>
            </a:r>
            <a:r>
              <a:rPr lang="en-US" altLang="zh-CN" sz="2400" dirty="0" smtClean="0"/>
              <a:t>EUR100,000</a:t>
            </a:r>
            <a:r>
              <a:rPr altLang="en-US" sz="2400" dirty="0" smtClean="0"/>
              <a:t>，</a:t>
            </a:r>
            <a:r>
              <a:rPr altLang="en-US" sz="2400" dirty="0" smtClean="0"/>
              <a:t>则出口商透过即期市场及资金借贷</a:t>
            </a:r>
            <a:r>
              <a:rPr lang="zh-CN" altLang="en-US" sz="2400" dirty="0" smtClean="0"/>
              <a:t>可以</a:t>
            </a:r>
            <a:r>
              <a:rPr altLang="en-US" sz="2400" dirty="0" smtClean="0"/>
              <a:t>规避</a:t>
            </a:r>
            <a:r>
              <a:rPr lang="zh-CN" altLang="en-US" sz="2400" dirty="0" smtClean="0"/>
              <a:t>未来的汇率</a:t>
            </a:r>
            <a:r>
              <a:rPr altLang="en-US" sz="2400" dirty="0" smtClean="0"/>
              <a:t>风险</a:t>
            </a:r>
            <a:r>
              <a:rPr lang="zh-CN" altLang="en-US" sz="2400" dirty="0" smtClean="0"/>
              <a:t>吗？</a:t>
            </a:r>
            <a:r>
              <a:rPr altLang="en-US" sz="2400" dirty="0" smtClean="0"/>
              <a:t/>
            </a:r>
            <a:br>
              <a:rPr altLang="en-US" sz="2400" dirty="0" smtClean="0"/>
            </a:br>
            <a:endParaRPr lang="en-US" altLang="en-US" sz="2400" dirty="0" smtClean="0"/>
          </a:p>
          <a:p>
            <a:pPr>
              <a:lnSpc>
                <a:spcPct val="150000"/>
              </a:lnSpc>
            </a:pPr>
            <a:r>
              <a:rPr altLang="en-US" sz="2400" dirty="0" smtClean="0"/>
              <a:t>市场现状：</a:t>
            </a:r>
            <a:endParaRPr lang="en-US" altLang="en-US" sz="2400" dirty="0" smtClean="0"/>
          </a:p>
          <a:p>
            <a:pPr marL="0" indent="0">
              <a:lnSpc>
                <a:spcPct val="150000"/>
              </a:lnSpc>
              <a:buNone/>
            </a:pPr>
            <a:r>
              <a:rPr altLang="en-US" sz="2400" dirty="0" smtClean="0"/>
              <a:t>　　</a:t>
            </a:r>
            <a:r>
              <a:rPr lang="en-US" altLang="zh-CN" sz="2400" dirty="0" smtClean="0"/>
              <a:t>1. </a:t>
            </a:r>
            <a:r>
              <a:rPr altLang="en-US" sz="2400" dirty="0" smtClean="0"/>
              <a:t>即期汇率</a:t>
            </a:r>
            <a:r>
              <a:rPr lang="en-US" altLang="zh-CN" sz="2400" dirty="0" smtClean="0"/>
              <a:t>EUR/USD</a:t>
            </a:r>
            <a:r>
              <a:rPr altLang="en-US" sz="2400" dirty="0" smtClean="0"/>
              <a:t>为</a:t>
            </a:r>
            <a:r>
              <a:rPr lang="en-US" altLang="zh-CN" sz="2400" dirty="0" smtClean="0"/>
              <a:t>0.8500</a:t>
            </a:r>
            <a:r>
              <a:rPr altLang="en-US" sz="2400" dirty="0" smtClean="0"/>
              <a:t/>
            </a:r>
            <a:br>
              <a:rPr altLang="en-US" sz="2400" dirty="0" smtClean="0"/>
            </a:br>
            <a:r>
              <a:rPr altLang="en-US" sz="2400" dirty="0" smtClean="0"/>
              <a:t>　　</a:t>
            </a:r>
            <a:r>
              <a:rPr lang="en-US" altLang="zh-CN" sz="2400" dirty="0" smtClean="0"/>
              <a:t>2. 6</a:t>
            </a:r>
            <a:r>
              <a:rPr altLang="en-US" sz="2400" dirty="0" smtClean="0"/>
              <a:t>个月美元利率为</a:t>
            </a:r>
            <a:r>
              <a:rPr lang="en-US" altLang="zh-CN" sz="2400" dirty="0" smtClean="0"/>
              <a:t>6.5%</a:t>
            </a:r>
            <a:r>
              <a:rPr altLang="en-US" sz="2400" dirty="0" smtClean="0"/>
              <a:t/>
            </a:r>
            <a:br>
              <a:rPr altLang="en-US" sz="2400" dirty="0" smtClean="0"/>
            </a:br>
            <a:r>
              <a:rPr altLang="en-US" sz="2400" dirty="0" smtClean="0"/>
              <a:t>　　</a:t>
            </a:r>
            <a:r>
              <a:rPr lang="en-US" altLang="zh-CN" sz="2400" dirty="0" smtClean="0"/>
              <a:t>3. 6</a:t>
            </a:r>
            <a:r>
              <a:rPr altLang="en-US" sz="2400" dirty="0" smtClean="0"/>
              <a:t>个月欧元利率为</a:t>
            </a:r>
            <a:r>
              <a:rPr lang="en-US" altLang="zh-CN" sz="2400" dirty="0" smtClean="0"/>
              <a:t>4.5%</a:t>
            </a:r>
            <a:r>
              <a:rPr altLang="en-US" sz="1800" dirty="0" smtClean="0"/>
              <a:t/>
            </a:r>
            <a:br>
              <a:rPr altLang="en-US" sz="1800" dirty="0" smtClean="0"/>
            </a:br>
            <a:r>
              <a:rPr altLang="en-US" sz="1800" dirty="0" smtClean="0"/>
              <a:t>　　</a:t>
            </a:r>
            <a:endParaRPr lang="zh-CN" altLang="en-US" sz="1800" dirty="0"/>
          </a:p>
        </p:txBody>
      </p:sp>
      <p:sp>
        <p:nvSpPr>
          <p:cNvPr id="4" name="页脚占位符 3"/>
          <p:cNvSpPr>
            <a:spLocks noGrp="1"/>
          </p:cNvSpPr>
          <p:nvPr>
            <p:ph type="ftr" sz="quarter" idx="11"/>
          </p:nvPr>
        </p:nvSpPr>
        <p:spPr/>
        <p:txBody>
          <a:bodyPr/>
          <a:lstStyle/>
          <a:p>
            <a:r>
              <a:rPr lang="zh-CN" altLang="en-US" dirty="0" smtClean="0"/>
              <a:t>国际金融学 范小云</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9861" y="134283"/>
            <a:ext cx="8849856" cy="6899563"/>
          </a:xfrm>
        </p:spPr>
        <p:txBody>
          <a:bodyPr>
            <a:noAutofit/>
          </a:bodyPr>
          <a:lstStyle/>
          <a:p>
            <a:pPr marL="0" indent="0">
              <a:lnSpc>
                <a:spcPct val="120000"/>
              </a:lnSpc>
              <a:buNone/>
            </a:pPr>
            <a:r>
              <a:rPr altLang="en-US" sz="1800" dirty="0" smtClean="0">
                <a:solidFill>
                  <a:srgbClr val="0070C0"/>
                </a:solidFill>
              </a:rPr>
              <a:t>所采取的步骤如下</a:t>
            </a:r>
            <a:r>
              <a:rPr altLang="en-US" sz="1800" dirty="0" smtClean="0">
                <a:solidFill>
                  <a:srgbClr val="0070C0"/>
                </a:solidFill>
              </a:rPr>
              <a:t>：</a:t>
            </a:r>
            <a:r>
              <a:rPr altLang="en-US" sz="1800" dirty="0" smtClean="0"/>
              <a:t/>
            </a:r>
            <a:br>
              <a:rPr altLang="en-US" sz="1800" dirty="0" smtClean="0"/>
            </a:br>
            <a:r>
              <a:rPr altLang="en-US" sz="1800" dirty="0" smtClean="0"/>
              <a:t>　　</a:t>
            </a:r>
            <a:r>
              <a:rPr lang="en-US" altLang="zh-CN" sz="1800" dirty="0" smtClean="0"/>
              <a:t>(1)</a:t>
            </a:r>
            <a:r>
              <a:rPr altLang="en-US" sz="1800" dirty="0" smtClean="0"/>
              <a:t>出口商先行借入欧元，并在即期市场预先卖出欧元</a:t>
            </a:r>
            <a:r>
              <a:rPr lang="en-US" altLang="zh-CN" sz="1800" dirty="0" smtClean="0"/>
              <a:t>100,000</a:t>
            </a:r>
            <a:r>
              <a:rPr altLang="en-US" sz="1800" dirty="0" smtClean="0"/>
              <a:t>以规避</a:t>
            </a:r>
            <a:r>
              <a:rPr lang="en-US" altLang="zh-CN" sz="1800" dirty="0" smtClean="0"/>
              <a:t>6</a:t>
            </a:r>
            <a:r>
              <a:rPr altLang="en-US" sz="1800" dirty="0" smtClean="0"/>
              <a:t>个月后出口收到的欧元外汇风险，借入欧元的期间为</a:t>
            </a:r>
            <a:r>
              <a:rPr lang="en-US" altLang="zh-CN" sz="1800" dirty="0" smtClean="0"/>
              <a:t>6</a:t>
            </a:r>
            <a:r>
              <a:rPr altLang="en-US" sz="1800" dirty="0" smtClean="0"/>
              <a:t>个月，利率为</a:t>
            </a:r>
            <a:r>
              <a:rPr lang="en-US" altLang="zh-CN" sz="1800" dirty="0" smtClean="0"/>
              <a:t>4.5%</a:t>
            </a:r>
            <a:r>
              <a:rPr altLang="en-US" sz="1800" dirty="0" smtClean="0"/>
              <a:t>，同时可使用因卖出欧元所获之美元资金</a:t>
            </a:r>
            <a:r>
              <a:rPr lang="en-US" altLang="zh-CN" sz="1800" dirty="0" smtClean="0"/>
              <a:t>6</a:t>
            </a:r>
            <a:r>
              <a:rPr altLang="en-US" sz="1800" dirty="0" smtClean="0"/>
              <a:t>个月，利率为</a:t>
            </a:r>
            <a:r>
              <a:rPr lang="en-US" altLang="zh-CN" sz="1800" dirty="0" smtClean="0"/>
              <a:t>6.5%</a:t>
            </a:r>
            <a:r>
              <a:rPr altLang="en-US" sz="1800" dirty="0" smtClean="0"/>
              <a:t>。</a:t>
            </a:r>
            <a:br>
              <a:rPr altLang="en-US" sz="1800" dirty="0" smtClean="0"/>
            </a:br>
            <a:r>
              <a:rPr altLang="en-US" sz="1800" dirty="0" smtClean="0"/>
              <a:t>　　</a:t>
            </a:r>
            <a:r>
              <a:rPr lang="en-US" altLang="zh-CN" sz="1800" dirty="0" smtClean="0"/>
              <a:t>(2)</a:t>
            </a:r>
            <a:r>
              <a:rPr altLang="en-US" sz="1800" dirty="0" smtClean="0"/>
              <a:t>借入欧元</a:t>
            </a:r>
            <a:r>
              <a:rPr lang="en-US" altLang="zh-CN" sz="1800" dirty="0" smtClean="0"/>
              <a:t>100,000</a:t>
            </a:r>
            <a:r>
              <a:rPr altLang="en-US" sz="1800" dirty="0" smtClean="0"/>
              <a:t>的利息成本为：</a:t>
            </a:r>
            <a:br>
              <a:rPr altLang="en-US" sz="1800" dirty="0" smtClean="0"/>
            </a:br>
            <a:r>
              <a:rPr lang="en-US" altLang="zh-CN" sz="1800" dirty="0" smtClean="0"/>
              <a:t>EUR100,000X4.5%X180/360=EUR2250</a:t>
            </a:r>
            <a:r>
              <a:rPr altLang="en-US" sz="1800" dirty="0" smtClean="0"/>
              <a:t/>
            </a:r>
            <a:br>
              <a:rPr altLang="en-US" sz="1800" dirty="0" smtClean="0"/>
            </a:br>
            <a:r>
              <a:rPr lang="en-US" altLang="zh-CN" sz="1800" dirty="0" smtClean="0"/>
              <a:t>EUR2250X0.85EUR/USD=USD1912.5 </a:t>
            </a:r>
            <a:r>
              <a:rPr altLang="en-US" sz="1800" dirty="0" smtClean="0"/>
              <a:t/>
            </a:r>
            <a:br>
              <a:rPr altLang="en-US" sz="1800" dirty="0" smtClean="0"/>
            </a:br>
            <a:r>
              <a:rPr altLang="en-US" sz="1800" dirty="0" smtClean="0"/>
              <a:t>　　</a:t>
            </a:r>
            <a:r>
              <a:rPr lang="en-US" altLang="zh-CN" sz="1800" dirty="0" smtClean="0"/>
              <a:t>(3)</a:t>
            </a:r>
            <a:r>
              <a:rPr altLang="en-US" sz="1800" dirty="0" smtClean="0"/>
              <a:t>卖出即期欧元所享用美元</a:t>
            </a:r>
            <a:r>
              <a:rPr lang="en-US" altLang="zh-CN" sz="1800" dirty="0" smtClean="0"/>
              <a:t>6</a:t>
            </a:r>
            <a:r>
              <a:rPr altLang="en-US" sz="1800" dirty="0" smtClean="0"/>
              <a:t>个月的利息收益为：</a:t>
            </a:r>
            <a:br>
              <a:rPr altLang="en-US" sz="1800" dirty="0" smtClean="0"/>
            </a:br>
            <a:r>
              <a:rPr lang="en-US" altLang="zh-CN" sz="1800" dirty="0" smtClean="0"/>
              <a:t>USD85,000X6.5%X180/360=USD2762.5</a:t>
            </a:r>
            <a:r>
              <a:rPr altLang="en-US" sz="1800" dirty="0" smtClean="0"/>
              <a:t/>
            </a:r>
            <a:br>
              <a:rPr altLang="en-US" sz="1800" dirty="0" smtClean="0"/>
            </a:br>
            <a:r>
              <a:rPr altLang="en-US" sz="1800" dirty="0" smtClean="0"/>
              <a:t>　　</a:t>
            </a:r>
            <a:r>
              <a:rPr lang="en-US" altLang="zh-CN" sz="1800" dirty="0" smtClean="0"/>
              <a:t>(4)</a:t>
            </a:r>
            <a:r>
              <a:rPr altLang="en-US" sz="1800" dirty="0" smtClean="0"/>
              <a:t>客户透过上述方式规避外汇风险的损益如下：</a:t>
            </a:r>
            <a:br>
              <a:rPr altLang="en-US" sz="1800" dirty="0" smtClean="0"/>
            </a:br>
            <a:r>
              <a:rPr lang="en-US" altLang="en-US" sz="1800" dirty="0" smtClean="0"/>
              <a:t>	</a:t>
            </a:r>
            <a:r>
              <a:rPr lang="en-US" altLang="zh-CN" sz="1800" dirty="0" smtClean="0"/>
              <a:t>USD85,000 </a:t>
            </a:r>
            <a:r>
              <a:rPr lang="en-US" altLang="zh-CN" sz="1800" dirty="0" smtClean="0"/>
              <a:t>(</a:t>
            </a:r>
            <a:r>
              <a:rPr altLang="en-US" sz="1800" dirty="0" smtClean="0"/>
              <a:t>卖出即期欧元所得之美元金额</a:t>
            </a:r>
            <a:r>
              <a:rPr lang="en-US" altLang="zh-CN" sz="1800" dirty="0" smtClean="0"/>
              <a:t>)</a:t>
            </a:r>
            <a:r>
              <a:rPr altLang="en-US" sz="1800" dirty="0" smtClean="0"/>
              <a:t/>
            </a:r>
            <a:br>
              <a:rPr altLang="en-US" sz="1800" dirty="0" smtClean="0"/>
            </a:br>
            <a:r>
              <a:rPr lang="en-US" altLang="en-US" sz="1800" dirty="0" smtClean="0"/>
              <a:t>	</a:t>
            </a:r>
            <a:r>
              <a:rPr lang="en-US" altLang="zh-CN" sz="1800" dirty="0" smtClean="0"/>
              <a:t>(</a:t>
            </a:r>
            <a:r>
              <a:rPr altLang="en-US" sz="1800" dirty="0" smtClean="0"/>
              <a:t>加</a:t>
            </a:r>
            <a:r>
              <a:rPr lang="en-US" altLang="zh-CN" sz="1800" dirty="0" smtClean="0"/>
              <a:t>)+USD2762.5 (</a:t>
            </a:r>
            <a:r>
              <a:rPr altLang="en-US" sz="1800" dirty="0" smtClean="0"/>
              <a:t>使用美元</a:t>
            </a:r>
            <a:r>
              <a:rPr lang="en-US" altLang="zh-CN" sz="1800" dirty="0" smtClean="0"/>
              <a:t>6</a:t>
            </a:r>
            <a:r>
              <a:rPr altLang="en-US" sz="1800" dirty="0" smtClean="0"/>
              <a:t>个月的利息收益</a:t>
            </a:r>
            <a:r>
              <a:rPr lang="en-US" altLang="zh-CN" sz="1800" dirty="0" smtClean="0"/>
              <a:t>)</a:t>
            </a:r>
            <a:r>
              <a:rPr altLang="en-US" sz="1800" dirty="0" smtClean="0"/>
              <a:t/>
            </a:r>
            <a:br>
              <a:rPr altLang="en-US" sz="1800" dirty="0" smtClean="0"/>
            </a:br>
            <a:r>
              <a:rPr lang="en-US" altLang="en-US" sz="1800" dirty="0" smtClean="0"/>
              <a:t>	</a:t>
            </a:r>
            <a:r>
              <a:rPr lang="en-US" altLang="zh-CN" sz="1800" dirty="0" smtClean="0"/>
              <a:t>(</a:t>
            </a:r>
            <a:r>
              <a:rPr altLang="en-US" sz="1800" dirty="0" smtClean="0"/>
              <a:t>减</a:t>
            </a:r>
            <a:r>
              <a:rPr lang="en-US" altLang="zh-CN" sz="1800" dirty="0" smtClean="0"/>
              <a:t>)-USD1912.5 (</a:t>
            </a:r>
            <a:r>
              <a:rPr altLang="en-US" sz="1800" dirty="0" smtClean="0"/>
              <a:t>借入欧元</a:t>
            </a:r>
            <a:r>
              <a:rPr lang="en-US" altLang="zh-CN" sz="1800" dirty="0" smtClean="0"/>
              <a:t>6</a:t>
            </a:r>
            <a:r>
              <a:rPr altLang="en-US" sz="1800" dirty="0" smtClean="0"/>
              <a:t>个月的利息成本</a:t>
            </a:r>
            <a:r>
              <a:rPr lang="en-US" altLang="zh-CN" sz="1800" dirty="0" smtClean="0"/>
              <a:t>)</a:t>
            </a:r>
            <a:r>
              <a:rPr altLang="en-US" sz="1800" dirty="0" smtClean="0"/>
              <a:t/>
            </a:r>
            <a:br>
              <a:rPr altLang="en-US" sz="1800" dirty="0" smtClean="0"/>
            </a:br>
            <a:r>
              <a:rPr lang="en-US" altLang="en-US" sz="1800" dirty="0"/>
              <a:t>	</a:t>
            </a:r>
            <a:r>
              <a:rPr lang="en-US" altLang="en-US" sz="1800" dirty="0" smtClean="0"/>
              <a:t>	</a:t>
            </a:r>
            <a:r>
              <a:rPr lang="en-US" altLang="zh-CN" sz="1800" dirty="0" smtClean="0"/>
              <a:t>=</a:t>
            </a:r>
            <a:r>
              <a:rPr lang="en-US" altLang="zh-CN" sz="1800" dirty="0" smtClean="0"/>
              <a:t>USD85,850</a:t>
            </a:r>
            <a:r>
              <a:rPr altLang="en-US" sz="1800" dirty="0" smtClean="0"/>
              <a:t/>
            </a:r>
            <a:br>
              <a:rPr altLang="en-US" sz="1800" dirty="0" smtClean="0"/>
            </a:br>
            <a:r>
              <a:rPr lang="en-US" altLang="en-US" sz="1800" dirty="0" smtClean="0"/>
              <a:t>	</a:t>
            </a:r>
            <a:r>
              <a:rPr lang="en-US" altLang="zh-CN" sz="1800" dirty="0" smtClean="0"/>
              <a:t>USD85,850/EUR100,000=0.8585 </a:t>
            </a:r>
            <a:r>
              <a:rPr lang="en-US" altLang="zh-CN" sz="1800" dirty="0" smtClean="0"/>
              <a:t>(</a:t>
            </a:r>
            <a:r>
              <a:rPr altLang="en-US" sz="1800" dirty="0" smtClean="0"/>
              <a:t>此即远期外汇的价格</a:t>
            </a:r>
            <a:r>
              <a:rPr lang="en-US" altLang="zh-CN" sz="1800" dirty="0" smtClean="0"/>
              <a:t>)</a:t>
            </a:r>
            <a:r>
              <a:rPr altLang="en-US" sz="1800" dirty="0" smtClean="0"/>
              <a:t/>
            </a:r>
            <a:br>
              <a:rPr altLang="en-US" sz="1800" dirty="0" smtClean="0"/>
            </a:br>
            <a:r>
              <a:rPr altLang="en-US" sz="1800" dirty="0" smtClean="0"/>
              <a:t>　　由上述计算中，可求出以即期交易方式规避远期外汇风险的价格计算，据此便可求得远期外汇价格。</a:t>
            </a:r>
            <a:br>
              <a:rPr altLang="en-US" sz="1800" dirty="0" smtClean="0"/>
            </a:br>
            <a:r>
              <a:rPr altLang="en-US" sz="1800" dirty="0" smtClean="0"/>
              <a:t>　　运用上述的计算理念，可以得出远期外汇的计算公式：</a:t>
            </a:r>
            <a:br>
              <a:rPr altLang="en-US" sz="1800" dirty="0" smtClean="0"/>
            </a:br>
            <a:r>
              <a:rPr altLang="en-US" sz="1800" dirty="0" smtClean="0"/>
              <a:t>　　远期外汇价格</a:t>
            </a:r>
            <a:r>
              <a:rPr lang="en-US" altLang="zh-CN" sz="1800" dirty="0" smtClean="0"/>
              <a:t>=</a:t>
            </a:r>
            <a:r>
              <a:rPr altLang="en-US" sz="1800" dirty="0" smtClean="0"/>
              <a:t>即期外汇价格</a:t>
            </a:r>
            <a:r>
              <a:rPr lang="en-US" altLang="zh-CN" sz="1800" dirty="0" smtClean="0"/>
              <a:t>+</a:t>
            </a:r>
            <a:r>
              <a:rPr altLang="en-US" sz="1800" dirty="0" smtClean="0"/>
              <a:t>即期外汇价格</a:t>
            </a:r>
            <a:r>
              <a:rPr lang="en-US" altLang="zh-CN" sz="1800" dirty="0" smtClean="0"/>
              <a:t>X(</a:t>
            </a:r>
            <a:r>
              <a:rPr altLang="en-US" sz="1800" dirty="0" smtClean="0"/>
              <a:t>报价币利率一被报价币利率</a:t>
            </a:r>
            <a:r>
              <a:rPr lang="en-US" altLang="zh-CN" sz="1800" dirty="0" smtClean="0"/>
              <a:t>)X</a:t>
            </a:r>
            <a:r>
              <a:rPr altLang="en-US" sz="1800" dirty="0" smtClean="0"/>
              <a:t>天数</a:t>
            </a:r>
            <a:r>
              <a:rPr lang="en-US" altLang="zh-CN" sz="1800" dirty="0" smtClean="0"/>
              <a:t>/360</a:t>
            </a:r>
            <a:endParaRPr lang="zh-CN" altLang="en-US" sz="1800" dirty="0"/>
          </a:p>
        </p:txBody>
      </p:sp>
      <p:sp>
        <p:nvSpPr>
          <p:cNvPr id="4" name="页脚占位符 3"/>
          <p:cNvSpPr>
            <a:spLocks noGrp="1"/>
          </p:cNvSpPr>
          <p:nvPr>
            <p:ph type="ftr" sz="quarter" idx="11"/>
          </p:nvPr>
        </p:nvSpPr>
        <p:spPr/>
        <p:txBody>
          <a:bodyPr/>
          <a:lstStyle/>
          <a:p>
            <a:r>
              <a:rPr lang="zh-CN" altLang="en-US" dirty="0" smtClean="0"/>
              <a:t>国际金融学 范小云</a:t>
            </a:r>
            <a:endParaRPr lang="zh-CN" altLang="en-US" dirty="0"/>
          </a:p>
        </p:txBody>
      </p:sp>
    </p:spTree>
    <p:extLst>
      <p:ext uri="{BB962C8B-B14F-4D97-AF65-F5344CB8AC3E}">
        <p14:creationId xmlns:p14="http://schemas.microsoft.com/office/powerpoint/2010/main" val="417534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a:lnSpc>
                <a:spcPct val="100000"/>
              </a:lnSpc>
              <a:buNone/>
            </a:pPr>
            <a:r>
              <a:rPr lang="zh-CN" altLang="en-US" sz="2400" dirty="0" smtClean="0">
                <a:latin typeface="微软雅黑" panose="020B0503020204020204" pitchFamily="34" charset="-122"/>
                <a:ea typeface="微软雅黑" panose="020B0503020204020204" pitchFamily="34" charset="-122"/>
              </a:rPr>
              <a:t>三</a:t>
            </a:r>
            <a:r>
              <a:rPr lang="zh-CN" altLang="en-US" sz="2400" dirty="0">
                <a:latin typeface="微软雅黑" panose="020B0503020204020204" pitchFamily="34" charset="-122"/>
                <a:ea typeface="微软雅黑" panose="020B0503020204020204" pitchFamily="34" charset="-122"/>
              </a:rPr>
              <a:t>、掉期外汇交易</a:t>
            </a: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将</a:t>
            </a:r>
            <a:r>
              <a:rPr lang="zh-CN" altLang="en-US" sz="2400" dirty="0">
                <a:latin typeface="微软雅黑" panose="020B0503020204020204" pitchFamily="34" charset="-122"/>
                <a:ea typeface="微软雅黑" panose="020B0503020204020204" pitchFamily="34" charset="-122"/>
              </a:rPr>
              <a:t>货币相同、金额相同、方向相反、交割期限不同的两笔或两笔以上的交易结合起来进行。</a:t>
            </a:r>
          </a:p>
          <a:p>
            <a:pPr>
              <a:lnSpc>
                <a:spcPct val="100000"/>
              </a:lnSpc>
              <a:buNone/>
            </a:pPr>
            <a:r>
              <a:rPr lang="zh-CN" altLang="en-US" sz="2400" dirty="0" smtClean="0">
                <a:latin typeface="微软雅黑" panose="020B0503020204020204" pitchFamily="34" charset="-122"/>
                <a:ea typeface="微软雅黑" panose="020B0503020204020204" pitchFamily="34" charset="-122"/>
              </a:rPr>
              <a:t>四</a:t>
            </a:r>
            <a:r>
              <a:rPr lang="zh-CN" altLang="en-US" sz="2400" dirty="0">
                <a:latin typeface="微软雅黑" panose="020B0503020204020204" pitchFamily="34" charset="-122"/>
                <a:ea typeface="微软雅黑" panose="020B0503020204020204" pitchFamily="34" charset="-122"/>
              </a:rPr>
              <a:t>、套汇交易（</a:t>
            </a:r>
            <a:r>
              <a:rPr lang="en-US" altLang="zh-CN" sz="2400" dirty="0">
                <a:latin typeface="微软雅黑" panose="020B0503020204020204" pitchFamily="34" charset="-122"/>
                <a:ea typeface="微软雅黑" panose="020B0503020204020204" pitchFamily="34" charset="-122"/>
              </a:rPr>
              <a:t>Arbitrage</a:t>
            </a:r>
            <a:r>
              <a:rPr lang="zh-CN" altLang="en-US" sz="2400" dirty="0">
                <a:latin typeface="微软雅黑" panose="020B0503020204020204" pitchFamily="34" charset="-122"/>
                <a:ea typeface="微软雅黑" panose="020B0503020204020204" pitchFamily="34" charset="-122"/>
              </a:rPr>
              <a:t>）</a:t>
            </a: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指</a:t>
            </a:r>
            <a:r>
              <a:rPr lang="zh-CN" altLang="en-US" sz="2400" dirty="0">
                <a:latin typeface="微软雅黑" panose="020B0503020204020204" pitchFamily="34" charset="-122"/>
                <a:ea typeface="微软雅黑" panose="020B0503020204020204" pitchFamily="34" charset="-122"/>
              </a:rPr>
              <a:t>利用同一时刻不同外汇市场上的汇率差异，通过买进和卖出外汇而赚取利润的行为。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5700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marL="571500" indent="-571500">
              <a:lnSpc>
                <a:spcPct val="100000"/>
              </a:lnSpc>
              <a:spcBef>
                <a:spcPts val="1000"/>
              </a:spcBef>
              <a:buFont typeface="+mj-lt"/>
              <a:buAutoNum type="romanUcPeriod"/>
            </a:pPr>
            <a:r>
              <a:rPr lang="zh-CN" altLang="en-US" sz="2400" dirty="0" smtClean="0">
                <a:solidFill>
                  <a:schemeClr val="accent1"/>
                </a:solidFill>
                <a:latin typeface="微软雅黑" panose="020B0503020204020204" pitchFamily="34" charset="-122"/>
                <a:ea typeface="微软雅黑" panose="020B0503020204020204" pitchFamily="34" charset="-122"/>
              </a:rPr>
              <a:t>直接套汇</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marL="571500" indent="-571500">
              <a:lnSpc>
                <a:spcPct val="100000"/>
              </a:lnSpc>
              <a:spcBef>
                <a:spcPts val="1000"/>
              </a:spcBef>
              <a:buFont typeface="+mj-lt"/>
              <a:buAutoNum type="romanUcPeriod"/>
            </a:pPr>
            <a:endParaRPr lang="zh-CN" altLang="en-US" sz="2400" dirty="0" smtClean="0">
              <a:solidFill>
                <a:schemeClr val="accent1"/>
              </a:solidFill>
              <a:latin typeface="微软雅黑" panose="020B0503020204020204" pitchFamily="34" charset="-122"/>
              <a:ea typeface="微软雅黑" panose="020B0503020204020204" pitchFamily="34" charset="-122"/>
            </a:endParaRPr>
          </a:p>
          <a:p>
            <a:pPr marL="228600" lvl="1"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纽约</a:t>
            </a:r>
            <a:r>
              <a:rPr lang="zh-CN" altLang="en-US"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USD100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EUR72.6800</a:t>
            </a:r>
          </a:p>
          <a:p>
            <a:pPr marL="228600" lvl="1"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法兰克福：	</a:t>
            </a:r>
            <a:r>
              <a:rPr lang="en-US" altLang="zh-CN" sz="2400" dirty="0">
                <a:latin typeface="微软雅黑" panose="020B0503020204020204" pitchFamily="34" charset="-122"/>
                <a:ea typeface="微软雅黑" panose="020B0503020204020204" pitchFamily="34" charset="-122"/>
              </a:rPr>
              <a:t>USD1</a:t>
            </a:r>
            <a:r>
              <a:rPr lang="zh-CN" altLang="en-US"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EUR0.7293</a:t>
            </a:r>
          </a:p>
          <a:p>
            <a:pPr marL="228600" lvl="1" indent="0">
              <a:lnSpc>
                <a:spcPct val="100000"/>
              </a:lnSpc>
              <a:spcBef>
                <a:spcPts val="1000"/>
              </a:spcBef>
              <a:buNone/>
            </a:pPr>
            <a:endParaRPr lang="en-US" altLang="zh-CN" sz="2400" dirty="0">
              <a:latin typeface="微软雅黑" panose="020B0503020204020204" pitchFamily="34" charset="-122"/>
              <a:ea typeface="微软雅黑" panose="020B0503020204020204" pitchFamily="34" charset="-122"/>
            </a:endParaRPr>
          </a:p>
          <a:p>
            <a:pPr marL="228600" lvl="1"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套汇者同时在纽约卖欧元、在法兰克福卖美元，则套汇者每</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美元就可以获取汇差收益</a:t>
            </a:r>
            <a:r>
              <a:rPr lang="en-US" altLang="zh-CN" sz="2400" dirty="0">
                <a:latin typeface="微软雅黑" panose="020B0503020204020204" pitchFamily="34" charset="-122"/>
                <a:ea typeface="微软雅黑" panose="020B0503020204020204" pitchFamily="34" charset="-122"/>
              </a:rPr>
              <a:t>0.0025</a:t>
            </a:r>
            <a:r>
              <a:rPr lang="zh-CN" altLang="en-US" sz="2400" dirty="0">
                <a:latin typeface="微软雅黑" panose="020B0503020204020204" pitchFamily="34" charset="-122"/>
                <a:ea typeface="微软雅黑" panose="020B0503020204020204" pitchFamily="34" charset="-122"/>
              </a:rPr>
              <a:t>欧元的利润。</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16556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marL="571500" indent="-571500">
              <a:lnSpc>
                <a:spcPct val="100000"/>
              </a:lnSpc>
              <a:spcBef>
                <a:spcPts val="1000"/>
              </a:spcBef>
              <a:buFont typeface="+mj-lt"/>
              <a:buAutoNum type="romanUcPeriod" startAt="2"/>
            </a:pPr>
            <a:r>
              <a:rPr lang="zh-CN" altLang="en-US" sz="2400" dirty="0">
                <a:solidFill>
                  <a:schemeClr val="accent1"/>
                </a:solidFill>
                <a:latin typeface="微软雅黑" panose="020B0503020204020204" pitchFamily="34" charset="-122"/>
                <a:ea typeface="微软雅黑" panose="020B0503020204020204" pitchFamily="34" charset="-122"/>
              </a:rPr>
              <a:t>间接套汇</a:t>
            </a:r>
          </a:p>
          <a:p>
            <a:pPr marL="571500" indent="-571500">
              <a:lnSpc>
                <a:spcPct val="100000"/>
              </a:lnSpc>
              <a:spcBef>
                <a:spcPts val="1000"/>
              </a:spcBef>
              <a:buFont typeface="+mj-lt"/>
              <a:buAutoNum type="romanUcPeriod" startAt="2"/>
            </a:pPr>
            <a:endParaRPr lang="zh-CN" altLang="en-US" sz="2400" dirty="0">
              <a:solidFill>
                <a:schemeClr val="accent1"/>
              </a:solidFill>
              <a:latin typeface="微软雅黑" panose="020B0503020204020204" pitchFamily="34" charset="-122"/>
              <a:ea typeface="微软雅黑" panose="020B0503020204020204" pitchFamily="34" charset="-122"/>
            </a:endParaRPr>
          </a:p>
          <a:p>
            <a:pPr marL="228600" lvl="1"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纽约</a:t>
            </a:r>
            <a:r>
              <a:rPr lang="zh-CN" altLang="en-US" sz="2400" dirty="0" smtClean="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USD100=EUR72.6800</a:t>
            </a:r>
            <a:endParaRPr lang="en-US" altLang="zh-CN" sz="2400" dirty="0">
              <a:latin typeface="微软雅黑" panose="020B0503020204020204" pitchFamily="34" charset="-122"/>
              <a:ea typeface="微软雅黑" panose="020B0503020204020204" pitchFamily="34" charset="-122"/>
            </a:endParaRPr>
          </a:p>
          <a:p>
            <a:pPr marL="228600" lvl="1"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巴黎</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GBP1=EUR1.1019</a:t>
            </a:r>
          </a:p>
          <a:p>
            <a:pPr marL="228600" lvl="1"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伦敦</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GBP1=USD1.5222</a:t>
            </a:r>
          </a:p>
          <a:p>
            <a:pPr marL="228600" lvl="1"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套汇者如果同时在纽约拿美元买欧元，在巴黎卖欧元、买英镑，在伦敦买美元、卖英镑，则套汇者每最初的</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美元就可以收回</a:t>
            </a:r>
            <a:r>
              <a:rPr lang="en-US" altLang="zh-CN" sz="2400" dirty="0">
                <a:latin typeface="微软雅黑" panose="020B0503020204020204" pitchFamily="34" charset="-122"/>
                <a:ea typeface="微软雅黑" panose="020B0503020204020204" pitchFamily="34" charset="-122"/>
              </a:rPr>
              <a:t>1.004</a:t>
            </a:r>
            <a:r>
              <a:rPr lang="zh-CN" altLang="en-US" sz="2400" dirty="0">
                <a:latin typeface="微软雅黑" panose="020B0503020204020204" pitchFamily="34" charset="-122"/>
                <a:ea typeface="微软雅黑" panose="020B0503020204020204" pitchFamily="34" charset="-122"/>
              </a:rPr>
              <a:t>美元。</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3626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a:lnSpc>
                <a:spcPct val="100000"/>
              </a:lnSpc>
              <a:spcBef>
                <a:spcPts val="1000"/>
              </a:spcBef>
            </a:pPr>
            <a:endParaRPr lang="en-US" altLang="zh-CN" sz="2800" dirty="0" smtClean="0">
              <a:latin typeface="微软雅黑" panose="020B0503020204020204" pitchFamily="34" charset="-122"/>
              <a:ea typeface="微软雅黑" panose="020B0503020204020204" pitchFamily="34" charset="-122"/>
            </a:endParaRPr>
          </a:p>
          <a:p>
            <a:pPr>
              <a:lnSpc>
                <a:spcPct val="100000"/>
              </a:lnSpc>
              <a:spcBef>
                <a:spcPts val="1000"/>
              </a:spcBef>
            </a:pPr>
            <a:r>
              <a:rPr lang="zh-CN" altLang="en-US" sz="2400" dirty="0" smtClean="0">
                <a:latin typeface="微软雅黑" panose="020B0503020204020204" pitchFamily="34" charset="-122"/>
                <a:ea typeface="微软雅黑" panose="020B0503020204020204" pitchFamily="34" charset="-122"/>
              </a:rPr>
              <a:t>判断</a:t>
            </a:r>
            <a:r>
              <a:rPr lang="zh-CN" altLang="en-US" sz="2400" dirty="0">
                <a:latin typeface="微软雅黑" panose="020B0503020204020204" pitchFamily="34" charset="-122"/>
                <a:ea typeface="微软雅黑" panose="020B0503020204020204" pitchFamily="34" charset="-122"/>
              </a:rPr>
              <a:t>方法：</a:t>
            </a:r>
          </a:p>
          <a:p>
            <a:pPr lvl="1">
              <a:lnSpc>
                <a:spcPct val="100000"/>
              </a:lnSpc>
              <a:spcBef>
                <a:spcPts val="100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统一</a:t>
            </a:r>
            <a:r>
              <a:rPr lang="zh-CN" altLang="en-US" sz="2400" dirty="0">
                <a:latin typeface="微软雅黑" panose="020B0503020204020204" pitchFamily="34" charset="-122"/>
                <a:ea typeface="微软雅黑" panose="020B0503020204020204" pitchFamily="34" charset="-122"/>
              </a:rPr>
              <a:t>标价方法，并把被表示货币的单位统一成</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p>
          <a:p>
            <a:pPr lvl="1">
              <a:lnSpc>
                <a:spcPct val="100000"/>
              </a:lnSpc>
              <a:spcBef>
                <a:spcPts val="100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将</a:t>
            </a:r>
            <a:r>
              <a:rPr lang="zh-CN" altLang="en-US" sz="2400" dirty="0">
                <a:latin typeface="微软雅黑" panose="020B0503020204020204" pitchFamily="34" charset="-122"/>
                <a:ea typeface="微软雅黑" panose="020B0503020204020204" pitchFamily="34" charset="-122"/>
              </a:rPr>
              <a:t>三个汇率相乘，如果不等于</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，说明有套汇机会；</a:t>
            </a:r>
          </a:p>
          <a:p>
            <a:pPr lvl="1">
              <a:lnSpc>
                <a:spcPct val="100000"/>
              </a:lnSpc>
              <a:spcBef>
                <a:spcPts val="100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根据</a:t>
            </a:r>
            <a:r>
              <a:rPr lang="zh-CN" altLang="en-US" sz="2400" dirty="0">
                <a:latin typeface="微软雅黑" panose="020B0503020204020204" pitchFamily="34" charset="-122"/>
                <a:ea typeface="微软雅黑" panose="020B0503020204020204" pitchFamily="34" charset="-122"/>
              </a:rPr>
              <a:t>乘积大于</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还是小于</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，来判断买卖方向</a:t>
            </a:r>
            <a:r>
              <a:rPr lang="zh-CN" altLang="en-US" sz="26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27394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marL="0" indent="0">
              <a:lnSpc>
                <a:spcPct val="100000"/>
              </a:lnSpc>
              <a:spcBef>
                <a:spcPts val="1000"/>
              </a:spcBef>
              <a:buNone/>
            </a:pPr>
            <a:endParaRPr lang="zh-CN" altLang="en-US" sz="2800" dirty="0">
              <a:latin typeface="微软雅黑" panose="020B0503020204020204" pitchFamily="34" charset="-122"/>
              <a:ea typeface="微软雅黑" panose="020B0503020204020204" pitchFamily="34" charset="-122"/>
            </a:endParaRPr>
          </a:p>
          <a:p>
            <a:pPr marL="0" indent="0">
              <a:lnSpc>
                <a:spcPct val="100000"/>
              </a:lnSpc>
              <a:spcBef>
                <a:spcPts val="1000"/>
              </a:spcBef>
              <a:buNone/>
            </a:pPr>
            <a:r>
              <a:rPr lang="zh-CN" altLang="en-US" sz="28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纽约：	</a:t>
            </a:r>
            <a:r>
              <a:rPr lang="en-US" altLang="zh-CN" sz="2400" dirty="0" smtClean="0">
                <a:latin typeface="微软雅黑" panose="020B0503020204020204" pitchFamily="34" charset="-122"/>
                <a:ea typeface="微软雅黑" panose="020B0503020204020204" pitchFamily="34" charset="-122"/>
              </a:rPr>
              <a:t>USD1=EUR0.7268</a:t>
            </a: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巴黎：	</a:t>
            </a:r>
            <a:r>
              <a:rPr lang="en-US" altLang="zh-CN" sz="2400" dirty="0" smtClean="0">
                <a:latin typeface="微软雅黑" panose="020B0503020204020204" pitchFamily="34" charset="-122"/>
                <a:ea typeface="微软雅黑" panose="020B0503020204020204" pitchFamily="34" charset="-122"/>
              </a:rPr>
              <a:t>EUR1=GBP1 </a:t>
            </a:r>
            <a:r>
              <a:rPr lang="en-US" altLang="zh-CN" sz="2400" dirty="0">
                <a:latin typeface="微软雅黑" panose="020B0503020204020204" pitchFamily="34" charset="-122"/>
                <a:ea typeface="微软雅黑" panose="020B0503020204020204" pitchFamily="34" charset="-122"/>
              </a:rPr>
              <a:t>/ 1.1019</a:t>
            </a:r>
          </a:p>
          <a:p>
            <a:pPr marL="0"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伦敦：	</a:t>
            </a:r>
            <a:r>
              <a:rPr lang="en-US" altLang="zh-CN" sz="2400" dirty="0" smtClean="0">
                <a:latin typeface="微软雅黑" panose="020B0503020204020204" pitchFamily="34" charset="-122"/>
                <a:ea typeface="微软雅黑" panose="020B0503020204020204" pitchFamily="34" charset="-122"/>
              </a:rPr>
              <a:t>GBP1=USD1.5222</a:t>
            </a: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ts val="1000"/>
              </a:spcBef>
              <a:buNone/>
            </a:pPr>
            <a:endParaRPr lang="en-US" altLang="zh-CN" sz="2400" dirty="0" smtClean="0">
              <a:latin typeface="微软雅黑" panose="020B0503020204020204" pitchFamily="34" charset="-122"/>
              <a:ea typeface="微软雅黑" panose="020B0503020204020204" pitchFamily="34" charset="-122"/>
            </a:endParaRPr>
          </a:p>
          <a:p>
            <a:pPr marL="0" indent="0">
              <a:lnSpc>
                <a:spcPct val="100000"/>
              </a:lnSpc>
              <a:spcBef>
                <a:spcPts val="1000"/>
              </a:spcBef>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0.7268/1.1019×1.5222=1.004</a:t>
            </a:r>
            <a:endParaRPr lang="en-US" altLang="zh-CN"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54207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marL="0" indent="0">
              <a:lnSpc>
                <a:spcPct val="10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假设</a:t>
            </a:r>
            <a:r>
              <a:rPr lang="en-US" altLang="zh-CN" sz="2400" dirty="0" smtClean="0">
                <a:solidFill>
                  <a:schemeClr val="accent1"/>
                </a:solidFill>
                <a:latin typeface="微软雅黑" panose="020B0503020204020204" pitchFamily="34" charset="-122"/>
                <a:ea typeface="微软雅黑" panose="020B0503020204020204" pitchFamily="34" charset="-122"/>
              </a:rPr>
              <a:t>: </a:t>
            </a:r>
          </a:p>
          <a:p>
            <a:pPr marL="0" indent="0">
              <a:lnSpc>
                <a:spcPct val="100000"/>
              </a:lnSpc>
              <a:spcBef>
                <a:spcPts val="1000"/>
              </a:spcBef>
              <a:buNone/>
            </a:pPr>
            <a:endParaRPr lang="en-US" altLang="zh-CN" sz="2400" dirty="0" smtClean="0">
              <a:latin typeface="微软雅黑" panose="020B0503020204020204" pitchFamily="34" charset="-122"/>
              <a:ea typeface="微软雅黑" panose="020B0503020204020204" pitchFamily="34" charset="-122"/>
            </a:endParaRP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纽约：	</a:t>
            </a:r>
            <a:r>
              <a:rPr lang="en-US" altLang="zh-CN" sz="2400" dirty="0" smtClean="0">
                <a:latin typeface="微软雅黑" panose="020B0503020204020204" pitchFamily="34" charset="-122"/>
                <a:ea typeface="微软雅黑" panose="020B0503020204020204" pitchFamily="34" charset="-122"/>
              </a:rPr>
              <a:t>USD1=EUR0.7258-78</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巴黎：	</a:t>
            </a:r>
            <a:r>
              <a:rPr lang="en-US" altLang="zh-CN" sz="2400" dirty="0" smtClean="0">
                <a:latin typeface="微软雅黑" panose="020B0503020204020204" pitchFamily="34" charset="-122"/>
                <a:ea typeface="微软雅黑" panose="020B0503020204020204" pitchFamily="34" charset="-122"/>
              </a:rPr>
              <a:t>GBP1=EUR1.1009-29</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伦敦：	</a:t>
            </a:r>
            <a:r>
              <a:rPr lang="en-US" altLang="zh-CN" sz="2400" dirty="0" smtClean="0">
                <a:latin typeface="微软雅黑" panose="020B0503020204020204" pitchFamily="34" charset="-122"/>
                <a:ea typeface="微软雅黑" panose="020B0503020204020204" pitchFamily="34" charset="-122"/>
              </a:rPr>
              <a:t>GBP1=USD1.5192-12    </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某投资者有</a:t>
            </a:r>
            <a:r>
              <a:rPr lang="en-US" altLang="zh-CN" sz="2400" dirty="0" smtClean="0">
                <a:latin typeface="微软雅黑" panose="020B0503020204020204" pitchFamily="34" charset="-122"/>
                <a:ea typeface="微软雅黑" panose="020B0503020204020204" pitchFamily="34" charset="-122"/>
              </a:rPr>
              <a:t>100</a:t>
            </a:r>
            <a:r>
              <a:rPr lang="zh-CN" altLang="en-US" sz="2400" dirty="0" smtClean="0">
                <a:latin typeface="微软雅黑" panose="020B0503020204020204" pitchFamily="34" charset="-122"/>
                <a:ea typeface="微软雅黑" panose="020B0503020204020204" pitchFamily="34" charset="-122"/>
              </a:rPr>
              <a:t>万美元闲资</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据此行情可否套汇</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如何操作</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结果如何？ </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4317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五、套利交易</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六、投机交易</a:t>
            </a:r>
          </a:p>
          <a:p>
            <a:pPr lvl="4">
              <a:lnSpc>
                <a:spcPct val="100000"/>
              </a:lnSpc>
              <a:spcBef>
                <a:spcPts val="1000"/>
              </a:spcBef>
              <a:buNone/>
            </a:pPr>
            <a:r>
              <a:rPr lang="zh-CN" altLang="en-US" sz="2400" b="1" dirty="0" smtClean="0">
                <a:latin typeface="微软雅黑" panose="020B0503020204020204" pitchFamily="34" charset="-122"/>
                <a:ea typeface="微软雅黑" panose="020B0503020204020204" pitchFamily="34" charset="-122"/>
              </a:rPr>
              <a:t>即</a:t>
            </a:r>
            <a:r>
              <a:rPr lang="zh-CN" altLang="en-US" sz="2400" b="1" dirty="0">
                <a:latin typeface="微软雅黑" panose="020B0503020204020204" pitchFamily="34" charset="-122"/>
                <a:ea typeface="微软雅黑" panose="020B0503020204020204" pitchFamily="34" charset="-122"/>
              </a:rPr>
              <a:t>期</a:t>
            </a:r>
            <a:r>
              <a:rPr lang="zh-CN" altLang="en-US" sz="2400" b="1" dirty="0" smtClean="0">
                <a:latin typeface="微软雅黑" panose="020B0503020204020204" pitchFamily="34" charset="-122"/>
                <a:ea typeface="微软雅黑" panose="020B0503020204020204" pitchFamily="34" charset="-122"/>
              </a:rPr>
              <a:t>投机</a:t>
            </a:r>
            <a:endParaRPr lang="en-US" altLang="zh-CN" sz="2400" b="1" dirty="0" smtClean="0">
              <a:latin typeface="微软雅黑" panose="020B0503020204020204" pitchFamily="34" charset="-122"/>
              <a:ea typeface="微软雅黑" panose="020B0503020204020204" pitchFamily="34" charset="-122"/>
            </a:endParaRPr>
          </a:p>
          <a:p>
            <a:pPr marL="1192212" lvl="5" indent="0">
              <a:lnSpc>
                <a:spcPct val="100000"/>
              </a:lnSpc>
              <a:spcBef>
                <a:spcPts val="1000"/>
              </a:spcBef>
              <a:buNone/>
            </a:pPr>
            <a:r>
              <a:rPr lang="zh-CN" altLang="en-US" sz="2400" dirty="0">
                <a:solidFill>
                  <a:schemeClr val="accent1"/>
                </a:solidFill>
                <a:latin typeface="微软雅黑" panose="020B0503020204020204" pitchFamily="34" charset="-122"/>
                <a:ea typeface="微软雅黑" panose="020B0503020204020204" pitchFamily="34" charset="-122"/>
              </a:rPr>
              <a:t>即期投机指外汇经营者根据自己对汇率的预测，买进或卖出某种现汇，希望从汇率变动中赚取利润的行为。</a:t>
            </a:r>
          </a:p>
          <a:p>
            <a:pPr lvl="4">
              <a:lnSpc>
                <a:spcPct val="100000"/>
              </a:lnSpc>
              <a:spcBef>
                <a:spcPts val="100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42001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p:txBody>
          <a:bodyPr>
            <a:normAutofit/>
          </a:bodyPr>
          <a:lstStyle/>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五、套利交易</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六、投机交易</a:t>
            </a:r>
          </a:p>
          <a:p>
            <a:pPr lvl="4">
              <a:lnSpc>
                <a:spcPct val="100000"/>
              </a:lnSpc>
              <a:spcBef>
                <a:spcPts val="1000"/>
              </a:spcBef>
              <a:buNone/>
            </a:pPr>
            <a:r>
              <a:rPr lang="zh-CN" altLang="en-US" sz="2400" dirty="0" smtClean="0">
                <a:latin typeface="微软雅黑" panose="020B0503020204020204" pitchFamily="34" charset="-122"/>
                <a:ea typeface="微软雅黑" panose="020B0503020204020204" pitchFamily="34" charset="-122"/>
              </a:rPr>
              <a:t>即</a:t>
            </a:r>
            <a:r>
              <a:rPr lang="zh-CN" altLang="en-US" sz="2400" dirty="0">
                <a:latin typeface="微软雅黑" panose="020B0503020204020204" pitchFamily="34" charset="-122"/>
                <a:ea typeface="微软雅黑" panose="020B0503020204020204" pitchFamily="34" charset="-122"/>
              </a:rPr>
              <a:t>期投机</a:t>
            </a:r>
          </a:p>
          <a:p>
            <a:pPr lvl="4">
              <a:lnSpc>
                <a:spcPct val="100000"/>
              </a:lnSpc>
              <a:spcBef>
                <a:spcPts val="1000"/>
              </a:spcBef>
              <a:buNone/>
            </a:pPr>
            <a:r>
              <a:rPr lang="zh-CN" altLang="en-US" sz="2400" b="1" dirty="0" smtClean="0">
                <a:latin typeface="微软雅黑" panose="020B0503020204020204" pitchFamily="34" charset="-122"/>
                <a:ea typeface="微软雅黑" panose="020B0503020204020204" pitchFamily="34" charset="-122"/>
              </a:rPr>
              <a:t>远期投机</a:t>
            </a:r>
            <a:endParaRPr lang="en-US" altLang="zh-CN" sz="2400" b="1" dirty="0" smtClean="0">
              <a:latin typeface="微软雅黑" panose="020B0503020204020204" pitchFamily="34" charset="-122"/>
              <a:ea typeface="微软雅黑" panose="020B0503020204020204" pitchFamily="34" charset="-122"/>
            </a:endParaRPr>
          </a:p>
          <a:p>
            <a:pPr marL="1192212" lvl="5" indent="0">
              <a:lnSpc>
                <a:spcPct val="10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远期</a:t>
            </a:r>
            <a:r>
              <a:rPr lang="zh-CN" altLang="en-US" sz="2400" dirty="0">
                <a:solidFill>
                  <a:schemeClr val="accent1"/>
                </a:solidFill>
                <a:latin typeface="微软雅黑" panose="020B0503020204020204" pitchFamily="34" charset="-122"/>
                <a:ea typeface="微软雅黑" panose="020B0503020204020204" pitchFamily="34" charset="-122"/>
              </a:rPr>
              <a:t>投机是基于预期未来某一时点的现汇汇率与目前的期汇汇率的不同而进行期汇交易的。</a:t>
            </a:r>
          </a:p>
          <a:p>
            <a:pPr lvl="4">
              <a:lnSpc>
                <a:spcPct val="100000"/>
              </a:lnSpc>
              <a:spcBef>
                <a:spcPts val="100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992993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五、套利交易</a:t>
            </a:r>
          </a:p>
          <a:p>
            <a:pPr>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六、投机交易</a:t>
            </a:r>
          </a:p>
          <a:p>
            <a:pPr lvl="4">
              <a:lnSpc>
                <a:spcPct val="100000"/>
              </a:lnSpc>
              <a:spcBef>
                <a:spcPts val="1000"/>
              </a:spcBef>
              <a:buNone/>
            </a:pPr>
            <a:r>
              <a:rPr lang="zh-CN" altLang="en-US" sz="2400" dirty="0" smtClean="0">
                <a:latin typeface="微软雅黑" panose="020B0503020204020204" pitchFamily="34" charset="-122"/>
                <a:ea typeface="微软雅黑" panose="020B0503020204020204" pitchFamily="34" charset="-122"/>
              </a:rPr>
              <a:t>即</a:t>
            </a:r>
            <a:r>
              <a:rPr lang="zh-CN" altLang="en-US" sz="2400" dirty="0">
                <a:latin typeface="微软雅黑" panose="020B0503020204020204" pitchFamily="34" charset="-122"/>
                <a:ea typeface="微软雅黑" panose="020B0503020204020204" pitchFamily="34" charset="-122"/>
              </a:rPr>
              <a:t>期投机</a:t>
            </a:r>
          </a:p>
          <a:p>
            <a:pPr lvl="4">
              <a:lnSpc>
                <a:spcPct val="100000"/>
              </a:lnSpc>
              <a:spcBef>
                <a:spcPts val="1000"/>
              </a:spcBef>
              <a:buNone/>
            </a:pPr>
            <a:r>
              <a:rPr lang="zh-CN" altLang="en-US" sz="2400" dirty="0" smtClean="0">
                <a:latin typeface="微软雅黑" panose="020B0503020204020204" pitchFamily="34" charset="-122"/>
                <a:ea typeface="微软雅黑" panose="020B0503020204020204" pitchFamily="34" charset="-122"/>
              </a:rPr>
              <a:t>远期投机</a:t>
            </a:r>
            <a:endParaRPr lang="en-US" altLang="zh-CN" sz="2400" dirty="0" smtClean="0">
              <a:latin typeface="微软雅黑" panose="020B0503020204020204" pitchFamily="34" charset="-122"/>
              <a:ea typeface="微软雅黑" panose="020B0503020204020204" pitchFamily="34" charset="-122"/>
            </a:endParaRPr>
          </a:p>
          <a:p>
            <a:pPr marL="277812" lvl="1" indent="0">
              <a:lnSpc>
                <a:spcPct val="11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即</a:t>
            </a:r>
            <a:r>
              <a:rPr lang="zh-CN" altLang="en-US" sz="2400" dirty="0">
                <a:solidFill>
                  <a:schemeClr val="accent1"/>
                </a:solidFill>
                <a:latin typeface="微软雅黑" panose="020B0503020204020204" pitchFamily="34" charset="-122"/>
                <a:ea typeface="微软雅黑" panose="020B0503020204020204" pitchFamily="34" charset="-122"/>
              </a:rPr>
              <a:t>期投机利用买卖现汇的方式进行投机，必须持有本币或外币资金，交易数额受手中所持资金量限制。而远期外汇交易在成交时无需付现（只是偶尔需要在银行存入少量保证金），一般都是到期轧抵，支付差额。所以，即使没有巨额资金，亦可进行大规模外汇投机，从而具有更大的风险性</a:t>
            </a:r>
            <a:r>
              <a:rPr lang="zh-CN" altLang="en-US" sz="2400" dirty="0" smtClean="0">
                <a:solidFill>
                  <a:schemeClr val="accent1"/>
                </a:solidFill>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4357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外汇交易</a:t>
            </a:r>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spcBef>
                <a:spcPts val="1000"/>
              </a:spcBef>
              <a:buNone/>
            </a:pPr>
            <a:r>
              <a:rPr lang="zh-CN" altLang="en-US" sz="28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1973</a:t>
            </a:r>
            <a:r>
              <a:rPr lang="zh-CN" altLang="en-US" sz="2400" dirty="0">
                <a:latin typeface="微软雅黑" panose="020B0503020204020204" pitchFamily="34" charset="-122"/>
                <a:ea typeface="微软雅黑" panose="020B0503020204020204" pitchFamily="34" charset="-122"/>
              </a:rPr>
              <a:t>年底，美国富兰克林银行已签订的外汇交易合同金额高达</a:t>
            </a:r>
            <a:r>
              <a:rPr lang="en-US" altLang="zh-CN" sz="2400" dirty="0">
                <a:latin typeface="微软雅黑" panose="020B0503020204020204" pitchFamily="34" charset="-122"/>
                <a:ea typeface="微软雅黑" panose="020B0503020204020204" pitchFamily="34" charset="-122"/>
              </a:rPr>
              <a:t>38</a:t>
            </a:r>
            <a:r>
              <a:rPr lang="zh-CN" altLang="en-US" sz="2400" dirty="0">
                <a:latin typeface="微软雅黑" panose="020B0503020204020204" pitchFamily="34" charset="-122"/>
                <a:ea typeface="微软雅黑" panose="020B0503020204020204" pitchFamily="34" charset="-122"/>
              </a:rPr>
              <a:t>亿美元，其中大部分是购入的远期联邦德国马克。当时，该银行预期马克将要升值故有意进行远期投机。不料马克不升反贬。富兰克林银行光是在</a:t>
            </a:r>
            <a:r>
              <a:rPr lang="en-US" altLang="zh-CN" sz="2400" dirty="0">
                <a:latin typeface="微软雅黑" panose="020B0503020204020204" pitchFamily="34" charset="-122"/>
                <a:ea typeface="微软雅黑" panose="020B0503020204020204" pitchFamily="34" charset="-122"/>
              </a:rPr>
              <a:t>1974</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月蒙受的外汇损失就达</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千万美元，而外汇损失又引起存款流失，在挤兑风潮的冲击下，该银行最终只得宣告破产。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28684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a:t>
            </a:r>
            <a:r>
              <a:rPr altLang="en-US" dirty="0" smtClean="0"/>
              <a:t>四</a:t>
            </a:r>
            <a:r>
              <a:rPr lang="zh-CN" altLang="en-US" dirty="0" smtClean="0"/>
              <a:t>节</a:t>
            </a:r>
            <a:r>
              <a:rPr lang="zh-CN" altLang="en-US" dirty="0"/>
              <a:t>	</a:t>
            </a:r>
            <a:r>
              <a:rPr altLang="en-US" dirty="0" smtClean="0"/>
              <a:t>汇率变动的影响因素</a:t>
            </a:r>
            <a:endParaRPr lang="zh-CN" altLang="en-US" dirty="0"/>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buNone/>
            </a:pPr>
            <a:r>
              <a:rPr lang="zh-CN" altLang="en-US" sz="2400" b="1" dirty="0">
                <a:latin typeface="微软雅黑" panose="020B0503020204020204" pitchFamily="34" charset="-122"/>
                <a:ea typeface="微软雅黑" panose="020B0503020204020204" pitchFamily="34" charset="-122"/>
              </a:rPr>
              <a:t>一、国际收支状况</a:t>
            </a:r>
          </a:p>
          <a:p>
            <a:pPr lvl="1">
              <a:lnSpc>
                <a:spcPct val="100000"/>
              </a:lnSpc>
              <a:buNone/>
            </a:pPr>
            <a:r>
              <a:rPr lang="zh-CN" altLang="en-US" sz="2400" dirty="0">
                <a:solidFill>
                  <a:schemeClr val="accent1"/>
                </a:solidFill>
                <a:latin typeface="微软雅黑" panose="020B0503020204020204" pitchFamily="34" charset="-122"/>
                <a:ea typeface="微软雅黑" panose="020B0503020204020204" pitchFamily="34" charset="-122"/>
              </a:rPr>
              <a:t>影响汇率变化的直接和基本因素。国际收支顺差时，货币趋于升值；国际收支逆差时，货币趋于贬值。</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圆角矩形 5"/>
          <p:cNvSpPr/>
          <p:nvPr/>
        </p:nvSpPr>
        <p:spPr>
          <a:xfrm>
            <a:off x="1124265" y="3154065"/>
            <a:ext cx="1214438" cy="571500"/>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7" name="TextBox 4"/>
          <p:cNvSpPr txBox="1">
            <a:spLocks noChangeArrowheads="1"/>
          </p:cNvSpPr>
          <p:nvPr/>
        </p:nvSpPr>
        <p:spPr bwMode="auto">
          <a:xfrm>
            <a:off x="1124265" y="3225503"/>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dirty="0">
                <a:solidFill>
                  <a:schemeClr val="bg1"/>
                </a:solidFill>
              </a:rPr>
              <a:t>出口</a:t>
            </a:r>
          </a:p>
        </p:txBody>
      </p:sp>
      <p:sp>
        <p:nvSpPr>
          <p:cNvPr id="8" name="圆角矩形 7"/>
          <p:cNvSpPr/>
          <p:nvPr/>
        </p:nvSpPr>
        <p:spPr>
          <a:xfrm>
            <a:off x="3267390" y="3154065"/>
            <a:ext cx="1214438" cy="571500"/>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9" name="TextBox 7"/>
          <p:cNvSpPr txBox="1">
            <a:spLocks noChangeArrowheads="1"/>
          </p:cNvSpPr>
          <p:nvPr/>
        </p:nvSpPr>
        <p:spPr bwMode="auto">
          <a:xfrm>
            <a:off x="3267390" y="3225503"/>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a:solidFill>
                  <a:schemeClr val="bg1"/>
                </a:solidFill>
              </a:rPr>
              <a:t>进口</a:t>
            </a:r>
          </a:p>
        </p:txBody>
      </p:sp>
      <p:sp>
        <p:nvSpPr>
          <p:cNvPr id="10" name="圆角矩形 9"/>
          <p:cNvSpPr/>
          <p:nvPr/>
        </p:nvSpPr>
        <p:spPr>
          <a:xfrm>
            <a:off x="1124265" y="4269678"/>
            <a:ext cx="1214438" cy="500063"/>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1" name="TextBox 9"/>
          <p:cNvSpPr txBox="1">
            <a:spLocks noChangeArrowheads="1"/>
          </p:cNvSpPr>
          <p:nvPr/>
        </p:nvSpPr>
        <p:spPr bwMode="auto">
          <a:xfrm>
            <a:off x="1124265" y="4342208"/>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dirty="0">
                <a:solidFill>
                  <a:schemeClr val="bg1"/>
                </a:solidFill>
              </a:rPr>
              <a:t>外汇收入</a:t>
            </a:r>
          </a:p>
        </p:txBody>
      </p:sp>
      <p:sp>
        <p:nvSpPr>
          <p:cNvPr id="12" name="圆角矩形 11"/>
          <p:cNvSpPr/>
          <p:nvPr/>
        </p:nvSpPr>
        <p:spPr>
          <a:xfrm>
            <a:off x="3271625" y="4238148"/>
            <a:ext cx="1214437" cy="500063"/>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3" name="TextBox 11"/>
          <p:cNvSpPr txBox="1">
            <a:spLocks noChangeArrowheads="1"/>
          </p:cNvSpPr>
          <p:nvPr/>
        </p:nvSpPr>
        <p:spPr bwMode="auto">
          <a:xfrm>
            <a:off x="3200187" y="4338161"/>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dirty="0">
                <a:solidFill>
                  <a:schemeClr val="bg1"/>
                </a:solidFill>
              </a:rPr>
              <a:t>外汇支出</a:t>
            </a:r>
          </a:p>
        </p:txBody>
      </p:sp>
      <p:sp>
        <p:nvSpPr>
          <p:cNvPr id="14" name="下箭头 13"/>
          <p:cNvSpPr/>
          <p:nvPr/>
        </p:nvSpPr>
        <p:spPr>
          <a:xfrm>
            <a:off x="1554157" y="3770109"/>
            <a:ext cx="263284" cy="468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3630293" y="3770109"/>
            <a:ext cx="250031" cy="4292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燕尾形 15"/>
          <p:cNvSpPr/>
          <p:nvPr/>
        </p:nvSpPr>
        <p:spPr>
          <a:xfrm>
            <a:off x="2624453" y="3296940"/>
            <a:ext cx="357187" cy="35718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7" name="燕尾形 16"/>
          <p:cNvSpPr/>
          <p:nvPr/>
        </p:nvSpPr>
        <p:spPr>
          <a:xfrm>
            <a:off x="2695890" y="4315892"/>
            <a:ext cx="357188" cy="35718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8" name="下箭头 17"/>
          <p:cNvSpPr/>
          <p:nvPr/>
        </p:nvSpPr>
        <p:spPr>
          <a:xfrm>
            <a:off x="1554157" y="4807392"/>
            <a:ext cx="263284" cy="4076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下箭头 18"/>
          <p:cNvSpPr/>
          <p:nvPr/>
        </p:nvSpPr>
        <p:spPr>
          <a:xfrm>
            <a:off x="3630293" y="4807390"/>
            <a:ext cx="278444" cy="4076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圆角矩形 19"/>
          <p:cNvSpPr/>
          <p:nvPr/>
        </p:nvSpPr>
        <p:spPr>
          <a:xfrm>
            <a:off x="1124265" y="5215029"/>
            <a:ext cx="1214438" cy="500063"/>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1" name="TextBox 22"/>
          <p:cNvSpPr txBox="1">
            <a:spLocks noChangeArrowheads="1"/>
          </p:cNvSpPr>
          <p:nvPr/>
        </p:nvSpPr>
        <p:spPr bwMode="auto">
          <a:xfrm>
            <a:off x="1124265" y="5286467"/>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dirty="0">
                <a:solidFill>
                  <a:schemeClr val="bg1"/>
                </a:solidFill>
              </a:rPr>
              <a:t>外汇供给</a:t>
            </a:r>
          </a:p>
        </p:txBody>
      </p:sp>
      <p:sp>
        <p:nvSpPr>
          <p:cNvPr id="22" name="圆角矩形 21"/>
          <p:cNvSpPr/>
          <p:nvPr/>
        </p:nvSpPr>
        <p:spPr>
          <a:xfrm>
            <a:off x="3195953" y="5215029"/>
            <a:ext cx="1214437" cy="500063"/>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3" name="TextBox 24"/>
          <p:cNvSpPr txBox="1">
            <a:spLocks noChangeArrowheads="1"/>
          </p:cNvSpPr>
          <p:nvPr/>
        </p:nvSpPr>
        <p:spPr bwMode="auto">
          <a:xfrm>
            <a:off x="3195953" y="5286467"/>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a:solidFill>
                  <a:schemeClr val="bg1"/>
                </a:solidFill>
              </a:rPr>
              <a:t>外汇需求</a:t>
            </a:r>
          </a:p>
        </p:txBody>
      </p:sp>
      <p:sp>
        <p:nvSpPr>
          <p:cNvPr id="24" name="燕尾形 23"/>
          <p:cNvSpPr/>
          <p:nvPr/>
        </p:nvSpPr>
        <p:spPr>
          <a:xfrm>
            <a:off x="2695890" y="5286467"/>
            <a:ext cx="357188" cy="35718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5" name="右箭头 24"/>
          <p:cNvSpPr/>
          <p:nvPr/>
        </p:nvSpPr>
        <p:spPr>
          <a:xfrm>
            <a:off x="4910453" y="3225503"/>
            <a:ext cx="1357312"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圆角矩形 25"/>
          <p:cNvSpPr/>
          <p:nvPr/>
        </p:nvSpPr>
        <p:spPr>
          <a:xfrm>
            <a:off x="6482078" y="3154065"/>
            <a:ext cx="1214437" cy="571500"/>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7" name="TextBox 29"/>
          <p:cNvSpPr txBox="1">
            <a:spLocks noChangeArrowheads="1"/>
          </p:cNvSpPr>
          <p:nvPr/>
        </p:nvSpPr>
        <p:spPr bwMode="auto">
          <a:xfrm>
            <a:off x="6482078" y="3225503"/>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a:solidFill>
                  <a:schemeClr val="bg1"/>
                </a:solidFill>
              </a:rPr>
              <a:t>顺差</a:t>
            </a:r>
          </a:p>
        </p:txBody>
      </p:sp>
      <p:sp>
        <p:nvSpPr>
          <p:cNvPr id="28" name="圆角矩形 27"/>
          <p:cNvSpPr/>
          <p:nvPr/>
        </p:nvSpPr>
        <p:spPr>
          <a:xfrm>
            <a:off x="6482078" y="5143592"/>
            <a:ext cx="1214437" cy="571500"/>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9" name="TextBox 32"/>
          <p:cNvSpPr txBox="1">
            <a:spLocks noChangeArrowheads="1"/>
          </p:cNvSpPr>
          <p:nvPr/>
        </p:nvSpPr>
        <p:spPr bwMode="auto">
          <a:xfrm>
            <a:off x="6482078" y="5215029"/>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a:solidFill>
                  <a:schemeClr val="bg1"/>
                </a:solidFill>
              </a:rPr>
              <a:t>本币升值</a:t>
            </a:r>
          </a:p>
        </p:txBody>
      </p:sp>
      <p:sp>
        <p:nvSpPr>
          <p:cNvPr id="30" name="右箭头 29"/>
          <p:cNvSpPr/>
          <p:nvPr/>
        </p:nvSpPr>
        <p:spPr>
          <a:xfrm>
            <a:off x="4910453" y="5215029"/>
            <a:ext cx="1357312"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404803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p:bldP spid="14" grpId="0" animBg="1"/>
      <p:bldP spid="15" grpId="0" animBg="1"/>
      <p:bldP spid="17" grpId="0" animBg="1"/>
      <p:bldP spid="18" grpId="0" animBg="1"/>
      <p:bldP spid="19" grpId="0" animBg="1"/>
      <p:bldP spid="20" grpId="0" animBg="1"/>
      <p:bldP spid="21" grpId="0"/>
      <p:bldP spid="22" grpId="0" animBg="1"/>
      <p:bldP spid="23" grpId="0"/>
      <p:bldP spid="24" grpId="0" animBg="1"/>
      <p:bldP spid="25" grpId="0" animBg="1"/>
      <p:bldP spid="26" grpId="0" animBg="1"/>
      <p:bldP spid="27" grpId="0"/>
      <p:bldP spid="28" grpId="0" animBg="1"/>
      <p:bldP spid="29" grpId="0"/>
      <p:bldP spid="3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第四节	汇率变动的影响因素</a:t>
            </a:r>
            <a:endParaRPr lang="zh-CN" altLang="en-US" dirty="0"/>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一、国际收支状况</a:t>
            </a:r>
          </a:p>
          <a:p>
            <a:pPr>
              <a:lnSpc>
                <a:spcPct val="100000"/>
              </a:lnSpc>
              <a:buNone/>
            </a:pPr>
            <a:r>
              <a:rPr lang="zh-CN" altLang="en-US" sz="2400" b="1" dirty="0">
                <a:latin typeface="微软雅黑" panose="020B0503020204020204" pitchFamily="34" charset="-122"/>
                <a:ea typeface="微软雅黑" panose="020B0503020204020204" pitchFamily="34" charset="-122"/>
              </a:rPr>
              <a:t>二、通货膨胀率</a:t>
            </a:r>
            <a:r>
              <a:rPr lang="zh-CN" altLang="en-US" sz="2400" b="1" dirty="0" smtClean="0">
                <a:latin typeface="微软雅黑" panose="020B0503020204020204" pitchFamily="34" charset="-122"/>
                <a:ea typeface="微软雅黑" panose="020B0503020204020204" pitchFamily="34" charset="-122"/>
              </a:rPr>
              <a:t>差异</a:t>
            </a:r>
            <a:endParaRPr lang="en-US" altLang="zh-CN" sz="2400" b="1" dirty="0" smtClean="0">
              <a:latin typeface="微软雅黑" panose="020B0503020204020204" pitchFamily="34" charset="-122"/>
              <a:ea typeface="微软雅黑" panose="020B0503020204020204" pitchFamily="34" charset="-122"/>
            </a:endParaRPr>
          </a:p>
          <a:p>
            <a:pPr>
              <a:lnSpc>
                <a:spcPct val="100000"/>
              </a:lnSpc>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文本框 5"/>
          <p:cNvSpPr txBox="1"/>
          <p:nvPr/>
        </p:nvSpPr>
        <p:spPr>
          <a:xfrm>
            <a:off x="1148576" y="2912574"/>
            <a:ext cx="6445405" cy="3090077"/>
          </a:xfrm>
          <a:prstGeom prst="rect">
            <a:avLst/>
          </a:prstGeom>
          <a:noFill/>
        </p:spPr>
        <p:txBody>
          <a:bodyPr wrap="square" rtlCol="0">
            <a:spAutoFit/>
          </a:bodyPr>
          <a:lstStyle/>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决定汇率长期走势的主要因素。高通胀率会削弱本国商品在国际市场的相对价格竞争能力，引起出口减少、进口增加，恶化贸易收支。</a:t>
            </a:r>
          </a:p>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通胀率差异还会影响人们对汇率的预期。通胀率高，人们预期该国货币趋于疲软，将把手中的该国货币转化为其他货币，恶化资本与金融账户。</a:t>
            </a:r>
          </a:p>
        </p:txBody>
      </p:sp>
    </p:spTree>
    <p:extLst>
      <p:ext uri="{BB962C8B-B14F-4D97-AF65-F5344CB8AC3E}">
        <p14:creationId xmlns:p14="http://schemas.microsoft.com/office/powerpoint/2010/main" val="140126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第四节	汇率变动的影响因素</a:t>
            </a:r>
            <a:endParaRPr lang="zh-CN" altLang="en-US" dirty="0"/>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一、国际收支状况</a:t>
            </a:r>
          </a:p>
          <a:p>
            <a:pPr>
              <a:lnSpc>
                <a:spcPct val="100000"/>
              </a:lnSpc>
              <a:buNone/>
            </a:pPr>
            <a:r>
              <a:rPr lang="zh-CN" altLang="en-US" sz="2400" dirty="0">
                <a:latin typeface="微软雅黑" panose="020B0503020204020204" pitchFamily="34" charset="-122"/>
                <a:ea typeface="微软雅黑" panose="020B0503020204020204" pitchFamily="34" charset="-122"/>
              </a:rPr>
              <a:t>二、通货膨胀率差异</a:t>
            </a:r>
          </a:p>
          <a:p>
            <a:pPr>
              <a:lnSpc>
                <a:spcPct val="100000"/>
              </a:lnSpc>
              <a:buNone/>
            </a:pPr>
            <a:r>
              <a:rPr lang="zh-CN" altLang="en-US" sz="2400" b="1" dirty="0">
                <a:latin typeface="微软雅黑" panose="020B0503020204020204" pitchFamily="34" charset="-122"/>
                <a:ea typeface="微软雅黑" panose="020B0503020204020204" pitchFamily="34" charset="-122"/>
              </a:rPr>
              <a:t>三、利率</a:t>
            </a:r>
            <a:r>
              <a:rPr lang="zh-CN" altLang="en-US" sz="2400" b="1" dirty="0" smtClean="0">
                <a:latin typeface="微软雅黑" panose="020B0503020204020204" pitchFamily="34" charset="-122"/>
                <a:ea typeface="微软雅黑" panose="020B0503020204020204" pitchFamily="34" charset="-122"/>
              </a:rPr>
              <a:t>差异</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文本框 5"/>
          <p:cNvSpPr txBox="1"/>
          <p:nvPr/>
        </p:nvSpPr>
        <p:spPr>
          <a:xfrm>
            <a:off x="1053790" y="3719961"/>
            <a:ext cx="7036419" cy="1717393"/>
          </a:xfrm>
          <a:prstGeom prst="rect">
            <a:avLst/>
          </a:prstGeom>
          <a:noFill/>
        </p:spPr>
        <p:txBody>
          <a:bodyPr wrap="square" rtlCol="0">
            <a:spAutoFit/>
          </a:bodyPr>
          <a:lstStyle/>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一国利率水平相对于他国利率提高，会刺激国外资金流入增加，改善资本金融账户。但是，利率变动必须在考虑未来汇率的不利变动后金融资产的所有者仍有利可图时，资本流动才会发生。</a:t>
            </a:r>
          </a:p>
        </p:txBody>
      </p:sp>
    </p:spTree>
    <p:extLst>
      <p:ext uri="{BB962C8B-B14F-4D97-AF65-F5344CB8AC3E}">
        <p14:creationId xmlns:p14="http://schemas.microsoft.com/office/powerpoint/2010/main" val="3961667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第四节	汇率变动的影响因素</a:t>
            </a:r>
            <a:endParaRPr lang="zh-CN" altLang="en-US" dirty="0"/>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一、国际收支状况</a:t>
            </a:r>
          </a:p>
          <a:p>
            <a:pPr>
              <a:lnSpc>
                <a:spcPct val="100000"/>
              </a:lnSpc>
              <a:buNone/>
            </a:pPr>
            <a:r>
              <a:rPr lang="zh-CN" altLang="en-US" sz="2400" dirty="0">
                <a:latin typeface="微软雅黑" panose="020B0503020204020204" pitchFamily="34" charset="-122"/>
                <a:ea typeface="微软雅黑" panose="020B0503020204020204" pitchFamily="34" charset="-122"/>
              </a:rPr>
              <a:t>二、通货膨胀率差异</a:t>
            </a:r>
          </a:p>
          <a:p>
            <a:pPr>
              <a:lnSpc>
                <a:spcPct val="100000"/>
              </a:lnSpc>
              <a:buNone/>
            </a:pPr>
            <a:r>
              <a:rPr lang="zh-CN" altLang="en-US" sz="2400" dirty="0">
                <a:latin typeface="微软雅黑" panose="020B0503020204020204" pitchFamily="34" charset="-122"/>
                <a:ea typeface="微软雅黑" panose="020B0503020204020204" pitchFamily="34" charset="-122"/>
              </a:rPr>
              <a:t>三、利率差异</a:t>
            </a:r>
          </a:p>
          <a:p>
            <a:pPr>
              <a:lnSpc>
                <a:spcPct val="100000"/>
              </a:lnSpc>
              <a:buNone/>
            </a:pPr>
            <a:r>
              <a:rPr lang="zh-CN" altLang="en-US" sz="2400" b="1" dirty="0">
                <a:latin typeface="微软雅黑" panose="020B0503020204020204" pitchFamily="34" charset="-122"/>
                <a:ea typeface="微软雅黑" panose="020B0503020204020204" pitchFamily="34" charset="-122"/>
              </a:rPr>
              <a:t>四、经济增长率</a:t>
            </a:r>
            <a:r>
              <a:rPr lang="zh-CN" altLang="en-US" sz="2400" b="1" dirty="0" smtClean="0">
                <a:latin typeface="微软雅黑" panose="020B0503020204020204" pitchFamily="34" charset="-122"/>
                <a:ea typeface="微软雅黑" panose="020B0503020204020204" pitchFamily="34" charset="-122"/>
              </a:rPr>
              <a:t>差异</a:t>
            </a:r>
            <a:endParaRPr lang="zh-CN" altLang="en-US" sz="2400" b="1"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文本框 5"/>
          <p:cNvSpPr txBox="1"/>
          <p:nvPr/>
        </p:nvSpPr>
        <p:spPr>
          <a:xfrm>
            <a:off x="4415883" y="1857707"/>
            <a:ext cx="4181707" cy="4022063"/>
          </a:xfrm>
          <a:prstGeom prst="rect">
            <a:avLst/>
          </a:prstGeom>
          <a:noFill/>
        </p:spPr>
        <p:txBody>
          <a:bodyPr wrap="square" rtlCol="0">
            <a:spAutoFit/>
          </a:bodyPr>
          <a:lstStyle/>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一国经济增长率较高，收入增加，进口需求增加；</a:t>
            </a:r>
          </a:p>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高经济增长率往往伴随着劳动生产率提高，使生产成本降低，从而本国产品竞争力增强；</a:t>
            </a:r>
          </a:p>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一国经济增长率高，会吸引大量资本流入，对本币币值起到有力的支持作用。</a:t>
            </a:r>
          </a:p>
        </p:txBody>
      </p:sp>
    </p:spTree>
    <p:extLst>
      <p:ext uri="{BB962C8B-B14F-4D97-AF65-F5344CB8AC3E}">
        <p14:creationId xmlns:p14="http://schemas.microsoft.com/office/powerpoint/2010/main" val="1360112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第四节	汇率变动的影响因素</a:t>
            </a:r>
            <a:endParaRPr lang="zh-CN" altLang="en-US" dirty="0"/>
          </a:p>
        </p:txBody>
      </p:sp>
      <p:sp>
        <p:nvSpPr>
          <p:cNvPr id="3" name="内容占位符 2"/>
          <p:cNvSpPr>
            <a:spLocks noGrp="1"/>
          </p:cNvSpPr>
          <p:nvPr>
            <p:ph idx="1"/>
          </p:nvPr>
        </p:nvSpPr>
        <p:spPr>
          <a:xfrm>
            <a:off x="960792" y="1404768"/>
            <a:ext cx="7200900" cy="4841880"/>
          </a:xfrm>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一、国际收支状况</a:t>
            </a:r>
          </a:p>
          <a:p>
            <a:pPr>
              <a:lnSpc>
                <a:spcPct val="100000"/>
              </a:lnSpc>
              <a:buNone/>
            </a:pPr>
            <a:r>
              <a:rPr lang="zh-CN" altLang="en-US" sz="2400" dirty="0">
                <a:latin typeface="微软雅黑" panose="020B0503020204020204" pitchFamily="34" charset="-122"/>
                <a:ea typeface="微软雅黑" panose="020B0503020204020204" pitchFamily="34" charset="-122"/>
              </a:rPr>
              <a:t>二、通货膨胀率差异</a:t>
            </a:r>
          </a:p>
          <a:p>
            <a:pPr>
              <a:lnSpc>
                <a:spcPct val="100000"/>
              </a:lnSpc>
              <a:buNone/>
            </a:pPr>
            <a:r>
              <a:rPr lang="zh-CN" altLang="en-US" sz="2400" dirty="0">
                <a:latin typeface="微软雅黑" panose="020B0503020204020204" pitchFamily="34" charset="-122"/>
                <a:ea typeface="微软雅黑" panose="020B0503020204020204" pitchFamily="34" charset="-122"/>
              </a:rPr>
              <a:t>三、利率差异</a:t>
            </a:r>
          </a:p>
          <a:p>
            <a:pPr>
              <a:lnSpc>
                <a:spcPct val="100000"/>
              </a:lnSpc>
              <a:buNone/>
            </a:pPr>
            <a:r>
              <a:rPr lang="zh-CN" altLang="en-US" sz="2400" dirty="0">
                <a:latin typeface="微软雅黑" panose="020B0503020204020204" pitchFamily="34" charset="-122"/>
                <a:ea typeface="微软雅黑" panose="020B0503020204020204" pitchFamily="34" charset="-122"/>
              </a:rPr>
              <a:t>四、经济增长率差异</a:t>
            </a:r>
          </a:p>
          <a:p>
            <a:pPr>
              <a:lnSpc>
                <a:spcPct val="100000"/>
              </a:lnSpc>
              <a:buNone/>
            </a:pPr>
            <a:r>
              <a:rPr lang="zh-CN" altLang="en-US" sz="2400" b="1" dirty="0">
                <a:latin typeface="微软雅黑" panose="020B0503020204020204" pitchFamily="34" charset="-122"/>
                <a:ea typeface="微软雅黑" panose="020B0503020204020204" pitchFamily="34" charset="-122"/>
              </a:rPr>
              <a:t>五、中央银行</a:t>
            </a:r>
            <a:r>
              <a:rPr lang="zh-CN" altLang="en-US" sz="2400" b="1" dirty="0" smtClean="0">
                <a:latin typeface="微软雅黑" panose="020B0503020204020204" pitchFamily="34" charset="-122"/>
                <a:ea typeface="微软雅黑" panose="020B0503020204020204" pitchFamily="34" charset="-122"/>
              </a:rPr>
              <a:t>干预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文本框 5"/>
          <p:cNvSpPr txBox="1"/>
          <p:nvPr/>
        </p:nvSpPr>
        <p:spPr>
          <a:xfrm>
            <a:off x="4404732" y="2511404"/>
            <a:ext cx="4181707" cy="3209533"/>
          </a:xfrm>
          <a:prstGeom prst="rect">
            <a:avLst/>
          </a:prstGeom>
          <a:noFill/>
        </p:spPr>
        <p:txBody>
          <a:bodyPr wrap="square" rtlCol="0">
            <a:spAutoFit/>
          </a:bodyPr>
          <a:lstStyle/>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中央银行的外汇市场干预可以直接影响汇率的短期走势；</a:t>
            </a:r>
          </a:p>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货币当局发表影响人们心理预期的申明，影响汇率短期走势；</a:t>
            </a:r>
          </a:p>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各国货币当局对外汇市场的联合干预来影响汇率</a:t>
            </a:r>
          </a:p>
        </p:txBody>
      </p:sp>
    </p:spTree>
    <p:extLst>
      <p:ext uri="{BB962C8B-B14F-4D97-AF65-F5344CB8AC3E}">
        <p14:creationId xmlns:p14="http://schemas.microsoft.com/office/powerpoint/2010/main" val="3333281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第四节	汇率变动的影响因素</a:t>
            </a:r>
            <a:endParaRPr lang="zh-CN" altLang="en-US" dirty="0"/>
          </a:p>
        </p:txBody>
      </p:sp>
      <p:sp>
        <p:nvSpPr>
          <p:cNvPr id="3" name="内容占位符 2"/>
          <p:cNvSpPr>
            <a:spLocks noGrp="1"/>
          </p:cNvSpPr>
          <p:nvPr>
            <p:ph idx="1"/>
          </p:nvPr>
        </p:nvSpPr>
        <p:spPr>
          <a:xfrm>
            <a:off x="971550" y="1447799"/>
            <a:ext cx="7200900" cy="4841880"/>
          </a:xfrm>
        </p:spPr>
        <p:txBody>
          <a:bodyPr>
            <a:normAutofit/>
          </a:bodyPr>
          <a:lstStyle/>
          <a:p>
            <a:pPr>
              <a:lnSpc>
                <a:spcPct val="100000"/>
              </a:lnSpc>
              <a:buNone/>
            </a:pPr>
            <a:r>
              <a:rPr lang="zh-CN" altLang="en-US" sz="2400" dirty="0">
                <a:latin typeface="微软雅黑" panose="020B0503020204020204" pitchFamily="34" charset="-122"/>
                <a:ea typeface="微软雅黑" panose="020B0503020204020204" pitchFamily="34" charset="-122"/>
              </a:rPr>
              <a:t>一、国际收支状况</a:t>
            </a:r>
          </a:p>
          <a:p>
            <a:pPr>
              <a:lnSpc>
                <a:spcPct val="100000"/>
              </a:lnSpc>
              <a:buNone/>
            </a:pPr>
            <a:r>
              <a:rPr lang="zh-CN" altLang="en-US" sz="2400" dirty="0">
                <a:latin typeface="微软雅黑" panose="020B0503020204020204" pitchFamily="34" charset="-122"/>
                <a:ea typeface="微软雅黑" panose="020B0503020204020204" pitchFamily="34" charset="-122"/>
              </a:rPr>
              <a:t>二、通货膨胀率差异</a:t>
            </a:r>
          </a:p>
          <a:p>
            <a:pPr>
              <a:lnSpc>
                <a:spcPct val="100000"/>
              </a:lnSpc>
              <a:buNone/>
            </a:pPr>
            <a:r>
              <a:rPr lang="zh-CN" altLang="en-US" sz="2400" dirty="0">
                <a:latin typeface="微软雅黑" panose="020B0503020204020204" pitchFamily="34" charset="-122"/>
                <a:ea typeface="微软雅黑" panose="020B0503020204020204" pitchFamily="34" charset="-122"/>
              </a:rPr>
              <a:t>三、利率差异</a:t>
            </a:r>
          </a:p>
          <a:p>
            <a:pPr>
              <a:lnSpc>
                <a:spcPct val="100000"/>
              </a:lnSpc>
              <a:buNone/>
            </a:pPr>
            <a:r>
              <a:rPr lang="zh-CN" altLang="en-US" sz="2400" dirty="0">
                <a:latin typeface="微软雅黑" panose="020B0503020204020204" pitchFamily="34" charset="-122"/>
                <a:ea typeface="微软雅黑" panose="020B0503020204020204" pitchFamily="34" charset="-122"/>
              </a:rPr>
              <a:t>四、经济增长率差异</a:t>
            </a:r>
          </a:p>
          <a:p>
            <a:pPr>
              <a:lnSpc>
                <a:spcPct val="100000"/>
              </a:lnSpc>
              <a:buNone/>
            </a:pPr>
            <a:r>
              <a:rPr lang="zh-CN" altLang="en-US" sz="2400" dirty="0">
                <a:latin typeface="微软雅黑" panose="020B0503020204020204" pitchFamily="34" charset="-122"/>
                <a:ea typeface="微软雅黑" panose="020B0503020204020204" pitchFamily="34" charset="-122"/>
              </a:rPr>
              <a:t>五、中央银行干预</a:t>
            </a:r>
          </a:p>
          <a:p>
            <a:pPr>
              <a:lnSpc>
                <a:spcPct val="100000"/>
              </a:lnSpc>
              <a:buNone/>
            </a:pPr>
            <a:r>
              <a:rPr lang="zh-CN" altLang="en-US" sz="2400" b="1" dirty="0">
                <a:latin typeface="微软雅黑" panose="020B0503020204020204" pitchFamily="34" charset="-122"/>
                <a:ea typeface="微软雅黑" panose="020B0503020204020204" pitchFamily="34" charset="-122"/>
              </a:rPr>
              <a:t>六、预期因素</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4326673" y="3581921"/>
            <a:ext cx="4181707" cy="2554545"/>
          </a:xfrm>
          <a:prstGeom prst="rect">
            <a:avLst/>
          </a:prstGeom>
          <a:noFill/>
        </p:spPr>
        <p:txBody>
          <a:bodyPr wrap="square" rtlCol="0">
            <a:spAutoFit/>
          </a:bodyPr>
          <a:lstStyle/>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预期因素是影响国际资本流动的一个重要因素。</a:t>
            </a:r>
          </a:p>
          <a:p>
            <a:pPr lvl="1" indent="-182880">
              <a:lnSpc>
                <a:spcPct val="120000"/>
              </a:lnSpc>
              <a:spcBef>
                <a:spcPts val="1200"/>
              </a:spcBef>
              <a:buClr>
                <a:schemeClr val="accent1"/>
              </a:buClr>
              <a:buSzPct val="100000"/>
              <a:buFont typeface="Arial" pitchFamily="34" charset="0"/>
              <a:buChar char="▪"/>
            </a:pPr>
            <a:r>
              <a:rPr lang="zh-CN" altLang="en-US" sz="2200" dirty="0">
                <a:solidFill>
                  <a:schemeClr val="accent1"/>
                </a:solidFill>
                <a:latin typeface="微软雅黑" panose="020B0503020204020204" pitchFamily="34" charset="-122"/>
                <a:ea typeface="微软雅黑" panose="020B0503020204020204" pitchFamily="34" charset="-122"/>
              </a:rPr>
              <a:t>人们对某种货币的预期心理往往会引起市场投机活动，从而加剧市场汇率变动。</a:t>
            </a:r>
          </a:p>
          <a:p>
            <a:endParaRPr lang="zh-CN" altLang="en-US" dirty="0"/>
          </a:p>
        </p:txBody>
      </p:sp>
    </p:spTree>
    <p:extLst>
      <p:ext uri="{BB962C8B-B14F-4D97-AF65-F5344CB8AC3E}">
        <p14:creationId xmlns:p14="http://schemas.microsoft.com/office/powerpoint/2010/main" val="2084471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菱形网格演示文稿（宽屏）</Template>
  <TotalTime>0</TotalTime>
  <Words>2004</Words>
  <Application>Microsoft Office PowerPoint</Application>
  <PresentationFormat>全屏显示(4:3)</PresentationFormat>
  <Paragraphs>538</Paragraphs>
  <Slides>53</Slides>
  <Notes>48</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55" baseType="lpstr">
      <vt:lpstr>Diamond Grid 16x9</vt:lpstr>
      <vt:lpstr>公式</vt:lpstr>
      <vt:lpstr>国际金融学</vt:lpstr>
      <vt:lpstr>  第二章   外汇与汇率</vt:lpstr>
      <vt:lpstr>第一节 外汇市场概述</vt:lpstr>
      <vt:lpstr>第一节 外汇市场概述</vt:lpstr>
      <vt:lpstr>第一节 外汇市场概述</vt:lpstr>
      <vt:lpstr>第一节 外汇市场概述</vt:lpstr>
      <vt:lpstr>第一节 外汇市场概述</vt:lpstr>
      <vt:lpstr>第一节 外汇市场概述</vt:lpstr>
      <vt:lpstr>第一节 外汇市场概述</vt:lpstr>
      <vt:lpstr>第一节 外汇市场概述</vt:lpstr>
      <vt:lpstr>第一节 外汇市场概述</vt:lpstr>
      <vt:lpstr>第一节 外汇市场概述</vt:lpstr>
      <vt:lpstr>PowerPoint 演示文稿</vt:lpstr>
      <vt:lpstr>第二节 汇率的标价方法和种类</vt:lpstr>
      <vt:lpstr>第二节 汇率的标价方法和种类</vt:lpstr>
      <vt:lpstr>PowerPoint 演示文稿</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第二节 汇率的标价方法和种类</vt:lpstr>
      <vt:lpstr>第三节 外汇交易</vt:lpstr>
      <vt:lpstr>第三节 外汇交易</vt:lpstr>
      <vt:lpstr>PowerPoint 演示文稿</vt:lpstr>
      <vt:lpstr>PowerPoint 演示文稿</vt:lpstr>
      <vt:lpstr>第三节 外汇交易</vt:lpstr>
      <vt:lpstr>第三节 外汇交易</vt:lpstr>
      <vt:lpstr>第三节 外汇交易</vt:lpstr>
      <vt:lpstr>第三节 外汇交易</vt:lpstr>
      <vt:lpstr>第三节 外汇交易</vt:lpstr>
      <vt:lpstr>第三节 外汇交易</vt:lpstr>
      <vt:lpstr>第三节 外汇交易</vt:lpstr>
      <vt:lpstr>第三节 外汇交易</vt:lpstr>
      <vt:lpstr>第三节 外汇交易</vt:lpstr>
      <vt:lpstr>第三节 外汇交易</vt:lpstr>
      <vt:lpstr>第四节 汇率变动的影响因素</vt:lpstr>
      <vt:lpstr>第四节 汇率变动的影响因素</vt:lpstr>
      <vt:lpstr>第四节 汇率变动的影响因素</vt:lpstr>
      <vt:lpstr>第四节 汇率变动的影响因素</vt:lpstr>
      <vt:lpstr>第四节 汇率变动的影响因素</vt:lpstr>
      <vt:lpstr>第四节 汇率变动的影响因素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2015-03-10T15:06:14Z</dcterms:created>
  <dcterms:modified xsi:type="dcterms:W3CDTF">2019-09-24T00:08:05Z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