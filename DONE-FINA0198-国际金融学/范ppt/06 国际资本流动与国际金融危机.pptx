
<file path=[Content_Types].xml><?xml version="1.0" encoding="utf-8"?>
<Types xmlns="http://schemas.openxmlformats.org/package/2006/content-types">
  <Default Extension="png" ContentType="image/png"/>
  <Default Extension="emf" ContentType="image/x-emf"/>
  <Default Extension="jpeg" ContentType="image/jpe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customXml/itemProps1.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removePersonalInfoOnSave="1" saveSubsetFonts="1">
  <p:sldMasterIdLst>
    <p:sldMasterId id="2147483648" r:id="rId2"/>
  </p:sldMasterIdLst>
  <p:notesMasterIdLst>
    <p:notesMasterId r:id="rId88"/>
  </p:notesMasterIdLst>
  <p:handoutMasterIdLst>
    <p:handoutMasterId r:id="rId89"/>
  </p:handoutMasterIdLst>
  <p:sldIdLst>
    <p:sldId id="261" r:id="rId3"/>
    <p:sldId id="275" r:id="rId4"/>
    <p:sldId id="276" r:id="rId5"/>
    <p:sldId id="444" r:id="rId6"/>
    <p:sldId id="445" r:id="rId7"/>
    <p:sldId id="446" r:id="rId8"/>
    <p:sldId id="443" r:id="rId9"/>
    <p:sldId id="442" r:id="rId10"/>
    <p:sldId id="277" r:id="rId11"/>
    <p:sldId id="362" r:id="rId12"/>
    <p:sldId id="363" r:id="rId13"/>
    <p:sldId id="278" r:id="rId14"/>
    <p:sldId id="364" r:id="rId15"/>
    <p:sldId id="366" r:id="rId16"/>
    <p:sldId id="367" r:id="rId17"/>
    <p:sldId id="368" r:id="rId18"/>
    <p:sldId id="369" r:id="rId19"/>
    <p:sldId id="370" r:id="rId20"/>
    <p:sldId id="371" r:id="rId21"/>
    <p:sldId id="372" r:id="rId22"/>
    <p:sldId id="373" r:id="rId23"/>
    <p:sldId id="374" r:id="rId24"/>
    <p:sldId id="375" r:id="rId25"/>
    <p:sldId id="376" r:id="rId26"/>
    <p:sldId id="377" r:id="rId27"/>
    <p:sldId id="378" r:id="rId28"/>
    <p:sldId id="380" r:id="rId29"/>
    <p:sldId id="381" r:id="rId30"/>
    <p:sldId id="382" r:id="rId31"/>
    <p:sldId id="383" r:id="rId32"/>
    <p:sldId id="384" r:id="rId33"/>
    <p:sldId id="385" r:id="rId34"/>
    <p:sldId id="386" r:id="rId35"/>
    <p:sldId id="387" r:id="rId36"/>
    <p:sldId id="437" r:id="rId37"/>
    <p:sldId id="388" r:id="rId38"/>
    <p:sldId id="389" r:id="rId39"/>
    <p:sldId id="390" r:id="rId40"/>
    <p:sldId id="391" r:id="rId41"/>
    <p:sldId id="392" r:id="rId42"/>
    <p:sldId id="393" r:id="rId43"/>
    <p:sldId id="394" r:id="rId44"/>
    <p:sldId id="395" r:id="rId45"/>
    <p:sldId id="396" r:id="rId46"/>
    <p:sldId id="397" r:id="rId47"/>
    <p:sldId id="399" r:id="rId48"/>
    <p:sldId id="400" r:id="rId49"/>
    <p:sldId id="401" r:id="rId50"/>
    <p:sldId id="402" r:id="rId51"/>
    <p:sldId id="403" r:id="rId52"/>
    <p:sldId id="404" r:id="rId53"/>
    <p:sldId id="438" r:id="rId54"/>
    <p:sldId id="405" r:id="rId55"/>
    <p:sldId id="406" r:id="rId56"/>
    <p:sldId id="407" r:id="rId57"/>
    <p:sldId id="409" r:id="rId58"/>
    <p:sldId id="410" r:id="rId59"/>
    <p:sldId id="411" r:id="rId60"/>
    <p:sldId id="412" r:id="rId61"/>
    <p:sldId id="413" r:id="rId62"/>
    <p:sldId id="414" r:id="rId63"/>
    <p:sldId id="415" r:id="rId64"/>
    <p:sldId id="416" r:id="rId65"/>
    <p:sldId id="417" r:id="rId66"/>
    <p:sldId id="439" r:id="rId67"/>
    <p:sldId id="440" r:id="rId68"/>
    <p:sldId id="419" r:id="rId69"/>
    <p:sldId id="420" r:id="rId70"/>
    <p:sldId id="421" r:id="rId71"/>
    <p:sldId id="422" r:id="rId72"/>
    <p:sldId id="441" r:id="rId73"/>
    <p:sldId id="423" r:id="rId74"/>
    <p:sldId id="424" r:id="rId75"/>
    <p:sldId id="425" r:id="rId76"/>
    <p:sldId id="426" r:id="rId77"/>
    <p:sldId id="427" r:id="rId78"/>
    <p:sldId id="428" r:id="rId79"/>
    <p:sldId id="429" r:id="rId80"/>
    <p:sldId id="430" r:id="rId81"/>
    <p:sldId id="431" r:id="rId82"/>
    <p:sldId id="432" r:id="rId83"/>
    <p:sldId id="433" r:id="rId84"/>
    <p:sldId id="434" r:id="rId85"/>
    <p:sldId id="435" r:id="rId86"/>
    <p:sldId id="436" r:id="rId87"/>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pos="2880" userDrawn="1">
          <p15:clr>
            <a:srgbClr val="A4A3A4"/>
          </p15:clr>
        </p15:guide>
        <p15:guide id="2" orient="horz" pos="2160"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FFFF"/>
    <a:srgbClr val="F6F6F6"/>
    <a:srgbClr val="CC9900"/>
    <a:srgbClr val="FF9900"/>
    <a:srgbClr val="A50021"/>
    <a:srgbClr val="FF6699"/>
    <a:srgbClr val="FF5050"/>
    <a:srgbClr val="FF3399"/>
    <a:srgbClr val="FF33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69012ECD-51FC-41F1-AA8D-1B2483CD663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9DCAF9ED-07DC-4A11-8D7F-57B35C25682E}" styleName="Medium Style 1 - Accent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a:noFill/>
            </a:ln>
          </a:insideV>
        </a:tcBdr>
        <a:fill>
          <a:solidFill>
            <a:schemeClr val="lt1"/>
          </a:solidFill>
        </a:fill>
      </a:tcStyle>
    </a:wholeTbl>
    <a:band1H>
      <a:tcStyle>
        <a:tcBdr/>
        <a:fill>
          <a:solidFill>
            <a:schemeClr val="accent2">
              <a:tint val="20000"/>
            </a:schemeClr>
          </a:solidFill>
        </a:fill>
      </a:tcStyle>
    </a:band1H>
    <a:band1V>
      <a:tcStyle>
        <a:tcBdr/>
        <a:fill>
          <a:solidFill>
            <a:schemeClr val="accent2">
              <a:tint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solidFill>
            <a:schemeClr val="lt1"/>
          </a:solidFill>
        </a:fill>
      </a:tcStyle>
    </a:lastRow>
    <a:firstRow>
      <a:tcTxStyle b="on">
        <a:fontRef idx="minor">
          <a:scrgbClr r="0" g="0" b="0"/>
        </a:fontRef>
        <a:schemeClr val="lt1"/>
      </a:tcTxStyle>
      <a:tcStyle>
        <a:tcBdr/>
        <a:fill>
          <a:solidFill>
            <a:schemeClr val="accent2"/>
          </a:solidFill>
        </a:fill>
      </a:tcStyle>
    </a:firstRow>
  </a:tblStyle>
  <a:tblStyle styleId="{B301B821-A1FF-4177-AEE7-76D212191A09}" styleName="Medium Style 1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2D5ABB26-0587-4C30-8999-92F81FD0307C}" styleName="无样式，无网格">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69CF1AB2-1976-4502-BF36-3FF5EA218861}" styleName="中度样式 4 - 强调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25400" cmpd="sng">
              <a:solidFill>
                <a:schemeClr val="accent1"/>
              </a:solidFill>
            </a:ln>
          </a:top>
        </a:tcBdr>
        <a:fill>
          <a:solidFill>
            <a:schemeClr val="accent1">
              <a:tint val="20000"/>
            </a:schemeClr>
          </a:solidFill>
        </a:fill>
      </a:tcStyle>
    </a:lastRow>
    <a:firstRow>
      <a:tcTxStyle b="on"/>
      <a:tcStyle>
        <a:tcBdr/>
        <a:fill>
          <a:solidFill>
            <a:schemeClr val="accent1">
              <a:tint val="20000"/>
            </a:schemeClr>
          </a:solidFill>
        </a:fill>
      </a:tcStyle>
    </a:firstRow>
  </a:tblStyle>
  <a:tblStyle styleId="{BC89EF96-8CEA-46FF-86C4-4CE0E7609802}" styleName="浅色样式 3 - 强调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000" autoAdjust="0"/>
    <p:restoredTop sz="82194" autoAdjust="0"/>
  </p:normalViewPr>
  <p:slideViewPr>
    <p:cSldViewPr snapToGrid="0">
      <p:cViewPr varScale="1">
        <p:scale>
          <a:sx n="72" d="100"/>
          <a:sy n="72" d="100"/>
        </p:scale>
        <p:origin x="1066" y="53"/>
      </p:cViewPr>
      <p:guideLst>
        <p:guide pos="2880"/>
        <p:guide orient="horz" pos="2160"/>
      </p:guideLst>
    </p:cSldViewPr>
  </p:slideViewPr>
  <p:notesTextViewPr>
    <p:cViewPr>
      <p:scale>
        <a:sx n="100" d="100"/>
        <a:sy n="100" d="100"/>
      </p:scale>
      <p:origin x="0" y="0"/>
    </p:cViewPr>
  </p:notesTextViewPr>
  <p:sorterViewPr>
    <p:cViewPr>
      <p:scale>
        <a:sx n="100" d="100"/>
        <a:sy n="100" d="100"/>
      </p:scale>
      <p:origin x="0" y="0"/>
    </p:cViewPr>
  </p:sorterViewPr>
  <p:notesViewPr>
    <p:cSldViewPr snapToGrid="0">
      <p:cViewPr varScale="1">
        <p:scale>
          <a:sx n="82" d="100"/>
          <a:sy n="82" d="100"/>
        </p:scale>
        <p:origin x="3852" y="78"/>
      </p:cViewPr>
      <p:guideLst/>
    </p:cSldViewPr>
  </p:notes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4.xml"/><Relationship Id="rId21" Type="http://schemas.openxmlformats.org/officeDocument/2006/relationships/slide" Target="slides/slide19.xml"/><Relationship Id="rId42" Type="http://schemas.openxmlformats.org/officeDocument/2006/relationships/slide" Target="slides/slide40.xml"/><Relationship Id="rId47" Type="http://schemas.openxmlformats.org/officeDocument/2006/relationships/slide" Target="slides/slide45.xml"/><Relationship Id="rId63" Type="http://schemas.openxmlformats.org/officeDocument/2006/relationships/slide" Target="slides/slide61.xml"/><Relationship Id="rId68" Type="http://schemas.openxmlformats.org/officeDocument/2006/relationships/slide" Target="slides/slide66.xml"/><Relationship Id="rId84" Type="http://schemas.openxmlformats.org/officeDocument/2006/relationships/slide" Target="slides/slide82.xml"/><Relationship Id="rId89" Type="http://schemas.openxmlformats.org/officeDocument/2006/relationships/handoutMaster" Target="handoutMasters/handoutMaster1.xml"/><Relationship Id="rId16" Type="http://schemas.openxmlformats.org/officeDocument/2006/relationships/slide" Target="slides/slide14.xml"/><Relationship Id="rId11" Type="http://schemas.openxmlformats.org/officeDocument/2006/relationships/slide" Target="slides/slide9.xml"/><Relationship Id="rId32" Type="http://schemas.openxmlformats.org/officeDocument/2006/relationships/slide" Target="slides/slide30.xml"/><Relationship Id="rId37" Type="http://schemas.openxmlformats.org/officeDocument/2006/relationships/slide" Target="slides/slide35.xml"/><Relationship Id="rId53" Type="http://schemas.openxmlformats.org/officeDocument/2006/relationships/slide" Target="slides/slide51.xml"/><Relationship Id="rId58" Type="http://schemas.openxmlformats.org/officeDocument/2006/relationships/slide" Target="slides/slide56.xml"/><Relationship Id="rId74" Type="http://schemas.openxmlformats.org/officeDocument/2006/relationships/slide" Target="slides/slide72.xml"/><Relationship Id="rId79" Type="http://schemas.openxmlformats.org/officeDocument/2006/relationships/slide" Target="slides/slide77.xml"/><Relationship Id="rId5" Type="http://schemas.openxmlformats.org/officeDocument/2006/relationships/slide" Target="slides/slide3.xml"/><Relationship Id="rId90" Type="http://schemas.openxmlformats.org/officeDocument/2006/relationships/presProps" Target="presProps.xml"/><Relationship Id="rId22" Type="http://schemas.openxmlformats.org/officeDocument/2006/relationships/slide" Target="slides/slide20.xml"/><Relationship Id="rId27" Type="http://schemas.openxmlformats.org/officeDocument/2006/relationships/slide" Target="slides/slide25.xml"/><Relationship Id="rId43" Type="http://schemas.openxmlformats.org/officeDocument/2006/relationships/slide" Target="slides/slide41.xml"/><Relationship Id="rId48" Type="http://schemas.openxmlformats.org/officeDocument/2006/relationships/slide" Target="slides/slide46.xml"/><Relationship Id="rId64" Type="http://schemas.openxmlformats.org/officeDocument/2006/relationships/slide" Target="slides/slide62.xml"/><Relationship Id="rId69" Type="http://schemas.openxmlformats.org/officeDocument/2006/relationships/slide" Target="slides/slide67.xml"/><Relationship Id="rId8" Type="http://schemas.openxmlformats.org/officeDocument/2006/relationships/slide" Target="slides/slide6.xml"/><Relationship Id="rId51" Type="http://schemas.openxmlformats.org/officeDocument/2006/relationships/slide" Target="slides/slide49.xml"/><Relationship Id="rId72" Type="http://schemas.openxmlformats.org/officeDocument/2006/relationships/slide" Target="slides/slide70.xml"/><Relationship Id="rId80" Type="http://schemas.openxmlformats.org/officeDocument/2006/relationships/slide" Target="slides/slide78.xml"/><Relationship Id="rId85" Type="http://schemas.openxmlformats.org/officeDocument/2006/relationships/slide" Target="slides/slide83.xml"/><Relationship Id="rId93" Type="http://schemas.openxmlformats.org/officeDocument/2006/relationships/tableStyles" Target="tableStyles.xml"/><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slide" Target="slides/slide36.xml"/><Relationship Id="rId46" Type="http://schemas.openxmlformats.org/officeDocument/2006/relationships/slide" Target="slides/slide44.xml"/><Relationship Id="rId59" Type="http://schemas.openxmlformats.org/officeDocument/2006/relationships/slide" Target="slides/slide57.xml"/><Relationship Id="rId67" Type="http://schemas.openxmlformats.org/officeDocument/2006/relationships/slide" Target="slides/slide65.xml"/><Relationship Id="rId20" Type="http://schemas.openxmlformats.org/officeDocument/2006/relationships/slide" Target="slides/slide18.xml"/><Relationship Id="rId41" Type="http://schemas.openxmlformats.org/officeDocument/2006/relationships/slide" Target="slides/slide39.xml"/><Relationship Id="rId54" Type="http://schemas.openxmlformats.org/officeDocument/2006/relationships/slide" Target="slides/slide52.xml"/><Relationship Id="rId62" Type="http://schemas.openxmlformats.org/officeDocument/2006/relationships/slide" Target="slides/slide60.xml"/><Relationship Id="rId70" Type="http://schemas.openxmlformats.org/officeDocument/2006/relationships/slide" Target="slides/slide68.xml"/><Relationship Id="rId75" Type="http://schemas.openxmlformats.org/officeDocument/2006/relationships/slide" Target="slides/slide73.xml"/><Relationship Id="rId83" Type="http://schemas.openxmlformats.org/officeDocument/2006/relationships/slide" Target="slides/slide81.xml"/><Relationship Id="rId88" Type="http://schemas.openxmlformats.org/officeDocument/2006/relationships/notesMaster" Target="notesMasters/notesMaster1.xml"/><Relationship Id="rId91" Type="http://schemas.openxmlformats.org/officeDocument/2006/relationships/viewProps" Target="viewProps.xml"/><Relationship Id="rId1" Type="http://schemas.openxmlformats.org/officeDocument/2006/relationships/customXml" Target="../customXml/item1.xml"/><Relationship Id="rId6" Type="http://schemas.openxmlformats.org/officeDocument/2006/relationships/slide" Target="slides/slide4.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49" Type="http://schemas.openxmlformats.org/officeDocument/2006/relationships/slide" Target="slides/slide47.xml"/><Relationship Id="rId57" Type="http://schemas.openxmlformats.org/officeDocument/2006/relationships/slide" Target="slides/slide55.xml"/><Relationship Id="rId10" Type="http://schemas.openxmlformats.org/officeDocument/2006/relationships/slide" Target="slides/slide8.xml"/><Relationship Id="rId31" Type="http://schemas.openxmlformats.org/officeDocument/2006/relationships/slide" Target="slides/slide29.xml"/><Relationship Id="rId44" Type="http://schemas.openxmlformats.org/officeDocument/2006/relationships/slide" Target="slides/slide42.xml"/><Relationship Id="rId52" Type="http://schemas.openxmlformats.org/officeDocument/2006/relationships/slide" Target="slides/slide50.xml"/><Relationship Id="rId60" Type="http://schemas.openxmlformats.org/officeDocument/2006/relationships/slide" Target="slides/slide58.xml"/><Relationship Id="rId65" Type="http://schemas.openxmlformats.org/officeDocument/2006/relationships/slide" Target="slides/slide63.xml"/><Relationship Id="rId73" Type="http://schemas.openxmlformats.org/officeDocument/2006/relationships/slide" Target="slides/slide71.xml"/><Relationship Id="rId78" Type="http://schemas.openxmlformats.org/officeDocument/2006/relationships/slide" Target="slides/slide76.xml"/><Relationship Id="rId81" Type="http://schemas.openxmlformats.org/officeDocument/2006/relationships/slide" Target="slides/slide79.xml"/><Relationship Id="rId86" Type="http://schemas.openxmlformats.org/officeDocument/2006/relationships/slide" Target="slides/slide84.xml"/><Relationship Id="rId4" Type="http://schemas.openxmlformats.org/officeDocument/2006/relationships/slide" Target="slides/slide2.xml"/><Relationship Id="rId9" Type="http://schemas.openxmlformats.org/officeDocument/2006/relationships/slide" Target="slides/slide7.xml"/><Relationship Id="rId13" Type="http://schemas.openxmlformats.org/officeDocument/2006/relationships/slide" Target="slides/slide11.xml"/><Relationship Id="rId18" Type="http://schemas.openxmlformats.org/officeDocument/2006/relationships/slide" Target="slides/slide16.xml"/><Relationship Id="rId39" Type="http://schemas.openxmlformats.org/officeDocument/2006/relationships/slide" Target="slides/slide37.xml"/><Relationship Id="rId34" Type="http://schemas.openxmlformats.org/officeDocument/2006/relationships/slide" Target="slides/slide32.xml"/><Relationship Id="rId50" Type="http://schemas.openxmlformats.org/officeDocument/2006/relationships/slide" Target="slides/slide48.xml"/><Relationship Id="rId55" Type="http://schemas.openxmlformats.org/officeDocument/2006/relationships/slide" Target="slides/slide53.xml"/><Relationship Id="rId76" Type="http://schemas.openxmlformats.org/officeDocument/2006/relationships/slide" Target="slides/slide74.xml"/><Relationship Id="rId7" Type="http://schemas.openxmlformats.org/officeDocument/2006/relationships/slide" Target="slides/slide5.xml"/><Relationship Id="rId71" Type="http://schemas.openxmlformats.org/officeDocument/2006/relationships/slide" Target="slides/slide69.xml"/><Relationship Id="rId92" Type="http://schemas.openxmlformats.org/officeDocument/2006/relationships/theme" Target="theme/theme1.xml"/><Relationship Id="rId2" Type="http://schemas.openxmlformats.org/officeDocument/2006/relationships/slideMaster" Target="slideMasters/slideMaster1.xml"/><Relationship Id="rId29" Type="http://schemas.openxmlformats.org/officeDocument/2006/relationships/slide" Target="slides/slide27.xml"/><Relationship Id="rId24" Type="http://schemas.openxmlformats.org/officeDocument/2006/relationships/slide" Target="slides/slide22.xml"/><Relationship Id="rId40" Type="http://schemas.openxmlformats.org/officeDocument/2006/relationships/slide" Target="slides/slide38.xml"/><Relationship Id="rId45" Type="http://schemas.openxmlformats.org/officeDocument/2006/relationships/slide" Target="slides/slide43.xml"/><Relationship Id="rId66" Type="http://schemas.openxmlformats.org/officeDocument/2006/relationships/slide" Target="slides/slide64.xml"/><Relationship Id="rId87" Type="http://schemas.openxmlformats.org/officeDocument/2006/relationships/slide" Target="slides/slide85.xml"/><Relationship Id="rId61" Type="http://schemas.openxmlformats.org/officeDocument/2006/relationships/slide" Target="slides/slide59.xml"/><Relationship Id="rId82" Type="http://schemas.openxmlformats.org/officeDocument/2006/relationships/slide" Target="slides/slide80.xml"/><Relationship Id="rId19" Type="http://schemas.openxmlformats.org/officeDocument/2006/relationships/slide" Target="slides/slide17.xml"/><Relationship Id="rId14" Type="http://schemas.openxmlformats.org/officeDocument/2006/relationships/slide" Target="slides/slide12.xml"/><Relationship Id="rId30" Type="http://schemas.openxmlformats.org/officeDocument/2006/relationships/slide" Target="slides/slide28.xml"/><Relationship Id="rId35" Type="http://schemas.openxmlformats.org/officeDocument/2006/relationships/slide" Target="slides/slide33.xml"/><Relationship Id="rId56" Type="http://schemas.openxmlformats.org/officeDocument/2006/relationships/slide" Target="slides/slide54.xml"/><Relationship Id="rId77" Type="http://schemas.openxmlformats.org/officeDocument/2006/relationships/slide" Target="slides/slide75.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latinLnBrk="0">
              <a:defRPr lang="zh-CN" sz="1200"/>
            </a:lvl1pPr>
          </a:lstStyle>
          <a:p>
            <a:endParaRPr lang="zh-CN" dirty="0">
              <a:ea typeface="Microsoft YaHei UI" panose="020B0503020204020204" pitchFamily="34" charset="-122"/>
            </a:endParaRPr>
          </a:p>
        </p:txBody>
      </p:sp>
      <p:sp>
        <p:nvSpPr>
          <p:cNvPr id="3" name="日期占位符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latinLnBrk="0">
              <a:defRPr lang="zh-CN" sz="1200"/>
            </a:lvl1pPr>
          </a:lstStyle>
          <a:p>
            <a:fld id="{59041DB8-B66F-4DC8-A96E-33677E0F90FF}" type="datetimeFigureOut">
              <a:rPr lang="en-US" altLang="zh-CN" smtClean="0">
                <a:ea typeface="Microsoft YaHei UI" panose="020B0503020204020204" pitchFamily="34" charset="-122"/>
              </a:rPr>
              <a:pPr/>
              <a:t>5/23/2022</a:t>
            </a:fld>
            <a:endParaRPr lang="zh-CN" dirty="0">
              <a:ea typeface="Microsoft YaHei UI" panose="020B0503020204020204" pitchFamily="34" charset="-122"/>
            </a:endParaRPr>
          </a:p>
        </p:txBody>
      </p:sp>
      <p:sp>
        <p:nvSpPr>
          <p:cNvPr id="4" name="页脚占位符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latinLnBrk="0">
              <a:defRPr lang="zh-CN" sz="1200"/>
            </a:lvl1pPr>
          </a:lstStyle>
          <a:p>
            <a:endParaRPr lang="zh-CN" dirty="0">
              <a:ea typeface="Microsoft YaHei UI" panose="020B0503020204020204" pitchFamily="34" charset="-122"/>
            </a:endParaRPr>
          </a:p>
        </p:txBody>
      </p:sp>
      <p:sp>
        <p:nvSpPr>
          <p:cNvPr id="5" name="幻灯片编号占位符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latinLnBrk="0">
              <a:defRPr lang="zh-CN" sz="1200"/>
            </a:lvl1pPr>
          </a:lstStyle>
          <a:p>
            <a:fld id="{1604A0D4-B89B-4ADD-AF9E-38636B40EE4E}" type="slidenum">
              <a:rPr lang="zh-CN" smtClean="0">
                <a:ea typeface="Microsoft YaHei UI" panose="020B0503020204020204" pitchFamily="34" charset="-122"/>
              </a:rPr>
              <a:pPr/>
              <a:t>‹#›</a:t>
            </a:fld>
            <a:endParaRPr lang="zh-CN" dirty="0">
              <a:ea typeface="Microsoft YaHei UI" panose="020B0503020204020204" pitchFamily="34" charset="-122"/>
            </a:endParaRPr>
          </a:p>
        </p:txBody>
      </p:sp>
    </p:spTree>
    <p:extLst>
      <p:ext uri="{BB962C8B-B14F-4D97-AF65-F5344CB8AC3E}">
        <p14:creationId xmlns:p14="http://schemas.microsoft.com/office/powerpoint/2010/main" val="424738915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latinLnBrk="0">
              <a:defRPr lang="zh-CN" sz="1200">
                <a:ea typeface="Microsoft YaHei UI" panose="020B0503020204020204" pitchFamily="34" charset="-122"/>
              </a:defRPr>
            </a:lvl1pPr>
          </a:lstStyle>
          <a:p>
            <a:endParaRPr lang="zh-CN" altLang="en-US" dirty="0"/>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latinLnBrk="0">
              <a:defRPr lang="zh-CN" sz="1200">
                <a:ea typeface="Microsoft YaHei UI" panose="020B0503020204020204" pitchFamily="34" charset="-122"/>
              </a:defRPr>
            </a:lvl1pPr>
          </a:lstStyle>
          <a:p>
            <a:fld id="{DEB49C4A-65AC-492D-9701-81B46C3AD0E4}" type="datetimeFigureOut">
              <a:rPr lang="en-US" altLang="zh-CN" smtClean="0"/>
              <a:pPr/>
              <a:t>5/23/2022</a:t>
            </a:fld>
            <a:endParaRPr lang="zh-CN" altLang="en-US" dirty="0"/>
          </a:p>
        </p:txBody>
      </p:sp>
      <p:sp>
        <p:nvSpPr>
          <p:cNvPr id="4" name="幻灯片图像占位符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zh-CN" dirty="0"/>
          </a:p>
        </p:txBody>
      </p:sp>
      <p:sp>
        <p:nvSpPr>
          <p:cNvPr id="5" name="备注占位符 4"/>
          <p:cNvSpPr>
            <a:spLocks noGrp="1"/>
          </p:cNvSpPr>
          <p:nvPr>
            <p:ph type="body" sz="quarter" idx="3"/>
          </p:nvPr>
        </p:nvSpPr>
        <p:spPr>
          <a:xfrm>
            <a:off x="685800" y="4400550"/>
            <a:ext cx="5486400" cy="3086100"/>
          </a:xfrm>
          <a:prstGeom prst="rect">
            <a:avLst/>
          </a:prstGeom>
        </p:spPr>
        <p:txBody>
          <a:bodyPr vert="horz" lIns="91440" tIns="45720" rIns="91440" bIns="45720" rtlCol="0"/>
          <a:lstStyle/>
          <a:p>
            <a:pPr lvl="0"/>
            <a:r>
              <a:rPr lang="zh-CN" dirty="0"/>
              <a:t>单击此处编辑母版文本样式</a:t>
            </a:r>
          </a:p>
          <a:p>
            <a:pPr lvl="1"/>
            <a:r>
              <a:rPr lang="zh-CN" dirty="0"/>
              <a:t>第二级</a:t>
            </a:r>
          </a:p>
          <a:p>
            <a:pPr lvl="2"/>
            <a:r>
              <a:rPr lang="zh-CN" dirty="0"/>
              <a:t>第三级</a:t>
            </a:r>
          </a:p>
          <a:p>
            <a:pPr lvl="3"/>
            <a:r>
              <a:rPr lang="zh-CN" dirty="0"/>
              <a:t>第四级</a:t>
            </a:r>
          </a:p>
          <a:p>
            <a:pPr lvl="4"/>
            <a:r>
              <a:rPr lang="zh-CN" dirty="0"/>
              <a:t>第五级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latinLnBrk="0">
              <a:defRPr lang="zh-CN" sz="1200">
                <a:ea typeface="Microsoft YaHei UI" panose="020B0503020204020204" pitchFamily="34" charset="-122"/>
              </a:defRPr>
            </a:lvl1pPr>
          </a:lstStyle>
          <a:p>
            <a:endParaRPr lang="zh-CN" altLang="en-US" dirty="0"/>
          </a:p>
        </p:txBody>
      </p:sp>
      <p:sp>
        <p:nvSpPr>
          <p:cNvPr id="7" name="幻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latinLnBrk="0">
              <a:defRPr lang="zh-CN" sz="1200">
                <a:ea typeface="Microsoft YaHei UI" panose="020B0503020204020204" pitchFamily="34" charset="-122"/>
              </a:defRPr>
            </a:lvl1pPr>
          </a:lstStyle>
          <a:p>
            <a:fld id="{82869989-EB00-4EE7-BCB5-25BDC5BB29F8}" type="slidenum">
              <a:rPr lang="en-US" altLang="zh-CN" smtClean="0"/>
              <a:pPr/>
              <a:t>‹#›</a:t>
            </a:fld>
            <a:endParaRPr lang="en-US" altLang="zh-CN" dirty="0"/>
          </a:p>
        </p:txBody>
      </p:sp>
    </p:spTree>
    <p:extLst>
      <p:ext uri="{BB962C8B-B14F-4D97-AF65-F5344CB8AC3E}">
        <p14:creationId xmlns:p14="http://schemas.microsoft.com/office/powerpoint/2010/main" val="2193636149"/>
      </p:ext>
    </p:extLst>
  </p:cSld>
  <p:clrMap bg1="lt1" tx1="dk1" bg2="lt2" tx2="dk2" accent1="accent1" accent2="accent2" accent3="accent3" accent4="accent4" accent5="accent5" accent6="accent6" hlink="hlink" folHlink="folHlink"/>
  <p:notesStyle>
    <a:lvl1pPr marL="0" algn="l" defTabSz="914400" rtl="0" eaLnBrk="1" latinLnBrk="0" hangingPunct="1">
      <a:defRPr lang="zh-CN" sz="1200" kern="1200">
        <a:solidFill>
          <a:schemeClr val="tx1"/>
        </a:solidFill>
        <a:latin typeface="+mn-lt"/>
        <a:ea typeface="Microsoft YaHei UI" panose="020B0503020204020204" pitchFamily="34" charset="-122"/>
        <a:cs typeface="+mn-cs"/>
      </a:defRPr>
    </a:lvl1pPr>
    <a:lvl2pPr marL="457200" algn="l" defTabSz="914400" rtl="0" eaLnBrk="1" latinLnBrk="0" hangingPunct="1">
      <a:defRPr lang="zh-CN" sz="1200" kern="1200">
        <a:solidFill>
          <a:schemeClr val="tx1"/>
        </a:solidFill>
        <a:latin typeface="+mn-lt"/>
        <a:ea typeface="Microsoft YaHei UI" panose="020B0503020204020204" pitchFamily="34" charset="-122"/>
        <a:cs typeface="+mn-cs"/>
      </a:defRPr>
    </a:lvl2pPr>
    <a:lvl3pPr marL="914400" algn="l" defTabSz="914400" rtl="0" eaLnBrk="1" latinLnBrk="0" hangingPunct="1">
      <a:defRPr lang="zh-CN" sz="1200" kern="1200">
        <a:solidFill>
          <a:schemeClr val="tx1"/>
        </a:solidFill>
        <a:latin typeface="+mn-lt"/>
        <a:ea typeface="Microsoft YaHei UI" panose="020B0503020204020204" pitchFamily="34" charset="-122"/>
        <a:cs typeface="+mn-cs"/>
      </a:defRPr>
    </a:lvl3pPr>
    <a:lvl4pPr marL="1371600" algn="l" defTabSz="914400" rtl="0" eaLnBrk="1" latinLnBrk="0" hangingPunct="1">
      <a:defRPr lang="zh-CN" sz="1200" kern="1200">
        <a:solidFill>
          <a:schemeClr val="tx1"/>
        </a:solidFill>
        <a:latin typeface="+mn-lt"/>
        <a:ea typeface="Microsoft YaHei UI" panose="020B0503020204020204" pitchFamily="34" charset="-122"/>
        <a:cs typeface="+mn-cs"/>
      </a:defRPr>
    </a:lvl4pPr>
    <a:lvl5pPr marL="1828800" algn="l" defTabSz="914400" rtl="0" eaLnBrk="1" latinLnBrk="0" hangingPunct="1">
      <a:defRPr lang="zh-CN" sz="1200" kern="1200">
        <a:solidFill>
          <a:schemeClr val="tx1"/>
        </a:solidFill>
        <a:latin typeface="+mn-lt"/>
        <a:ea typeface="Microsoft YaHei UI" panose="020B0503020204020204" pitchFamily="34" charset="-122"/>
        <a:cs typeface="+mn-cs"/>
      </a:defRPr>
    </a:lvl5pPr>
    <a:lvl6pPr marL="2286000" algn="l" defTabSz="914400" rtl="0" eaLnBrk="1" latinLnBrk="0" hangingPunct="1">
      <a:defRPr lang="zh-CN" sz="1200" kern="1200">
        <a:solidFill>
          <a:schemeClr val="tx1"/>
        </a:solidFill>
        <a:latin typeface="+mn-lt"/>
        <a:ea typeface="+mn-ea"/>
        <a:cs typeface="+mn-cs"/>
      </a:defRPr>
    </a:lvl6pPr>
    <a:lvl7pPr marL="2743200" algn="l" defTabSz="914400" rtl="0" eaLnBrk="1" latinLnBrk="0" hangingPunct="1">
      <a:defRPr lang="zh-CN" sz="1200" kern="1200">
        <a:solidFill>
          <a:schemeClr val="tx1"/>
        </a:solidFill>
        <a:latin typeface="+mn-lt"/>
        <a:ea typeface="+mn-ea"/>
        <a:cs typeface="+mn-cs"/>
      </a:defRPr>
    </a:lvl7pPr>
    <a:lvl8pPr marL="3200400" algn="l" defTabSz="914400" rtl="0" eaLnBrk="1" latinLnBrk="0" hangingPunct="1">
      <a:defRPr lang="zh-CN" sz="1200" kern="1200">
        <a:solidFill>
          <a:schemeClr val="tx1"/>
        </a:solidFill>
        <a:latin typeface="+mn-lt"/>
        <a:ea typeface="+mn-ea"/>
        <a:cs typeface="+mn-cs"/>
      </a:defRPr>
    </a:lvl8pPr>
    <a:lvl9pPr marL="3657600" algn="l" defTabSz="914400" rtl="0" eaLnBrk="1" latinLnBrk="0" hangingPunct="1">
      <a:defRPr lang="zh-CN"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3" Type="http://schemas.openxmlformats.org/officeDocument/2006/relationships/hyperlink" Target="http://money.163.com/baike/huobijijin/" TargetMode="External"/><Relationship Id="rId2" Type="http://schemas.openxmlformats.org/officeDocument/2006/relationships/slide" Target="../slides/slide7.xml"/><Relationship Id="rId1" Type="http://schemas.openxmlformats.org/officeDocument/2006/relationships/notesMaster" Target="../notesMasters/notesMaster1.xml"/><Relationship Id="rId4" Type="http://schemas.openxmlformats.org/officeDocument/2006/relationships/hyperlink" Target="http://money.163.com/baike/gdp/" TargetMode="Externa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2" Type="http://schemas.openxmlformats.org/officeDocument/2006/relationships/slide" Target="../slides/slide77.xml"/><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2" Type="http://schemas.openxmlformats.org/officeDocument/2006/relationships/slide" Target="../slides/slide78.xml"/><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2" Type="http://schemas.openxmlformats.org/officeDocument/2006/relationships/slide" Target="../slides/slide79.xml"/><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2" Type="http://schemas.openxmlformats.org/officeDocument/2006/relationships/slide" Target="../slides/slide80.xml"/><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2" Type="http://schemas.openxmlformats.org/officeDocument/2006/relationships/slide" Target="../slides/slide81.xml"/><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2" Type="http://schemas.openxmlformats.org/officeDocument/2006/relationships/slide" Target="../slides/slide82.xml"/><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2" Type="http://schemas.openxmlformats.org/officeDocument/2006/relationships/slide" Target="../slides/slide83.xml"/><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2" Type="http://schemas.openxmlformats.org/officeDocument/2006/relationships/slide" Target="../slides/slide84.xml"/><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2" Type="http://schemas.openxmlformats.org/officeDocument/2006/relationships/slide" Target="../slides/slide8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lgn="r"/>
            <a:endParaRPr lang="zh-CN" altLang="en-US" dirty="0"/>
          </a:p>
        </p:txBody>
      </p:sp>
      <p:sp>
        <p:nvSpPr>
          <p:cNvPr id="4" name="灯片编号占位符 3"/>
          <p:cNvSpPr>
            <a:spLocks noGrp="1"/>
          </p:cNvSpPr>
          <p:nvPr>
            <p:ph type="sldNum" sz="quarter" idx="10"/>
          </p:nvPr>
        </p:nvSpPr>
        <p:spPr/>
        <p:txBody>
          <a:bodyPr/>
          <a:lstStyle/>
          <a:p>
            <a:fld id="{82869989-EB00-4EE7-BCB5-25BDC5BB29F8}" type="slidenum">
              <a:rPr lang="en-US" altLang="zh-CN" smtClean="0"/>
              <a:pPr/>
              <a:t>1</a:t>
            </a:fld>
            <a:endParaRPr lang="en-US" altLang="zh-CN" dirty="0"/>
          </a:p>
        </p:txBody>
      </p:sp>
    </p:spTree>
    <p:extLst>
      <p:ext uri="{BB962C8B-B14F-4D97-AF65-F5344CB8AC3E}">
        <p14:creationId xmlns:p14="http://schemas.microsoft.com/office/powerpoint/2010/main" val="405340375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71600" y="1143000"/>
            <a:ext cx="4114800" cy="3086100"/>
          </a:xfrm>
        </p:spPr>
      </p:sp>
      <p:sp>
        <p:nvSpPr>
          <p:cNvPr id="3" name="备注占位符 2"/>
          <p:cNvSpPr>
            <a:spLocks noGrp="1"/>
          </p:cNvSpPr>
          <p:nvPr>
            <p:ph type="body" idx="1"/>
          </p:nvPr>
        </p:nvSpPr>
        <p:spPr/>
        <p:txBody>
          <a:bodyPr/>
          <a:lstStyle/>
          <a:p>
            <a:r>
              <a:rPr lang="en-US" altLang="zh-CN" sz="1200" b="0" i="0" u="none" strike="noStrike" kern="1200" dirty="0" smtClean="0">
                <a:solidFill>
                  <a:schemeClr val="tx1"/>
                </a:solidFill>
                <a:effectLst/>
                <a:latin typeface="+mn-lt"/>
                <a:ea typeface="Microsoft YaHei UI" panose="020B0503020204020204" pitchFamily="34" charset="-122"/>
                <a:cs typeface="+mn-cs"/>
              </a:rPr>
              <a:t>2007</a:t>
            </a:r>
            <a:r>
              <a:rPr lang="zh-CN" altLang="en-US" sz="1200" b="0" i="0" u="none" strike="noStrike" kern="1200" dirty="0" smtClean="0">
                <a:solidFill>
                  <a:schemeClr val="tx1"/>
                </a:solidFill>
                <a:effectLst/>
                <a:latin typeface="+mn-lt"/>
                <a:ea typeface="Microsoft YaHei UI" panose="020B0503020204020204" pitchFamily="34" charset="-122"/>
                <a:cs typeface="+mn-cs"/>
              </a:rPr>
              <a:t>年次贷危机之前，全球国际资本流动的规模达到历史高点，年资本流动总规模高达</a:t>
            </a:r>
            <a:r>
              <a:rPr lang="en-US" altLang="zh-CN" sz="1200" b="0" i="0" u="none" strike="noStrike" kern="1200" dirty="0" smtClean="0">
                <a:solidFill>
                  <a:schemeClr val="tx1"/>
                </a:solidFill>
                <a:effectLst/>
                <a:latin typeface="+mn-lt"/>
                <a:ea typeface="Microsoft YaHei UI" panose="020B0503020204020204" pitchFamily="34" charset="-122"/>
                <a:cs typeface="+mn-cs"/>
              </a:rPr>
              <a:t>12.4</a:t>
            </a:r>
            <a:r>
              <a:rPr lang="zh-CN" altLang="en-US" sz="1200" b="0" i="0" u="none" strike="noStrike" kern="1200" dirty="0" smtClean="0">
                <a:solidFill>
                  <a:schemeClr val="tx1"/>
                </a:solidFill>
                <a:effectLst/>
                <a:latin typeface="+mn-lt"/>
                <a:ea typeface="Microsoft YaHei UI" panose="020B0503020204020204" pitchFamily="34" charset="-122"/>
                <a:cs typeface="+mn-cs"/>
              </a:rPr>
              <a:t>万亿美元。在次贷危机的冲击之下，全球国际资本流动规模从高位大幅回落。</a:t>
            </a:r>
            <a:r>
              <a:rPr lang="en-US" altLang="zh-CN" sz="1200" b="0" i="0" u="none" strike="noStrike" kern="1200" dirty="0" smtClean="0">
                <a:solidFill>
                  <a:schemeClr val="tx1"/>
                </a:solidFill>
                <a:effectLst/>
                <a:latin typeface="+mn-lt"/>
                <a:ea typeface="Microsoft YaHei UI" panose="020B0503020204020204" pitchFamily="34" charset="-122"/>
                <a:cs typeface="+mn-cs"/>
              </a:rPr>
              <a:t>2009</a:t>
            </a:r>
            <a:r>
              <a:rPr lang="zh-CN" altLang="en-US" sz="1200" b="0" i="0" u="none" strike="noStrike" kern="1200" dirty="0" smtClean="0">
                <a:solidFill>
                  <a:schemeClr val="tx1"/>
                </a:solidFill>
                <a:effectLst/>
                <a:latin typeface="+mn-lt"/>
                <a:ea typeface="Microsoft YaHei UI" panose="020B0503020204020204" pitchFamily="34" charset="-122"/>
                <a:cs typeface="+mn-cs"/>
              </a:rPr>
              <a:t>年全球资本流动规模达到低点，略超</a:t>
            </a:r>
            <a:r>
              <a:rPr lang="en-US" altLang="zh-CN" sz="1200" b="0" i="0" u="none" strike="noStrike" kern="1200" dirty="0" smtClean="0">
                <a:solidFill>
                  <a:schemeClr val="tx1"/>
                </a:solidFill>
                <a:effectLst/>
                <a:latin typeface="+mn-lt"/>
                <a:ea typeface="Microsoft YaHei UI" panose="020B0503020204020204" pitchFamily="34" charset="-122"/>
                <a:cs typeface="+mn-cs"/>
              </a:rPr>
              <a:t>2</a:t>
            </a:r>
            <a:r>
              <a:rPr lang="zh-CN" altLang="en-US" sz="1200" b="0" i="0" u="none" strike="noStrike" kern="1200" dirty="0" smtClean="0">
                <a:solidFill>
                  <a:schemeClr val="tx1"/>
                </a:solidFill>
                <a:effectLst/>
                <a:latin typeface="+mn-lt"/>
                <a:ea typeface="Microsoft YaHei UI" panose="020B0503020204020204" pitchFamily="34" charset="-122"/>
                <a:cs typeface="+mn-cs"/>
              </a:rPr>
              <a:t>万亿美元。此后在</a:t>
            </a:r>
            <a:r>
              <a:rPr lang="en-US" altLang="zh-CN" sz="1200" b="0" i="0" u="none" strike="noStrike" kern="1200" dirty="0" smtClean="0">
                <a:solidFill>
                  <a:schemeClr val="tx1"/>
                </a:solidFill>
                <a:effectLst/>
                <a:latin typeface="+mn-lt"/>
                <a:ea typeface="Microsoft YaHei UI" panose="020B0503020204020204" pitchFamily="34" charset="-122"/>
                <a:cs typeface="+mn-cs"/>
              </a:rPr>
              <a:t>2010</a:t>
            </a:r>
            <a:r>
              <a:rPr lang="zh-CN" altLang="en-US" sz="1200" b="0" i="0" u="none" strike="noStrike" kern="1200" dirty="0" smtClean="0">
                <a:solidFill>
                  <a:schemeClr val="tx1"/>
                </a:solidFill>
                <a:effectLst/>
                <a:latin typeface="+mn-lt"/>
                <a:ea typeface="Microsoft YaHei UI" panose="020B0503020204020204" pitchFamily="34" charset="-122"/>
                <a:cs typeface="+mn-cs"/>
              </a:rPr>
              <a:t>年虽低位反弹至</a:t>
            </a:r>
            <a:r>
              <a:rPr lang="en-US" altLang="zh-CN" sz="1200" b="0" i="0" u="none" strike="noStrike" kern="1200" dirty="0" smtClean="0">
                <a:solidFill>
                  <a:schemeClr val="tx1"/>
                </a:solidFill>
                <a:effectLst/>
                <a:latin typeface="+mn-lt"/>
                <a:ea typeface="Microsoft YaHei UI" panose="020B0503020204020204" pitchFamily="34" charset="-122"/>
                <a:cs typeface="+mn-cs"/>
              </a:rPr>
              <a:t>6.4</a:t>
            </a:r>
            <a:r>
              <a:rPr lang="zh-CN" altLang="en-US" sz="1200" b="0" i="0" u="none" strike="noStrike" kern="1200" dirty="0" smtClean="0">
                <a:solidFill>
                  <a:schemeClr val="tx1"/>
                </a:solidFill>
                <a:effectLst/>
                <a:latin typeface="+mn-lt"/>
                <a:ea typeface="Microsoft YaHei UI" panose="020B0503020204020204" pitchFamily="34" charset="-122"/>
                <a:cs typeface="+mn-cs"/>
              </a:rPr>
              <a:t>万亿美元，但其后在欧债危机的负面影响下再次一蹶不振，直到</a:t>
            </a:r>
            <a:r>
              <a:rPr lang="en-US" altLang="zh-CN" sz="1200" b="0" i="0" u="none" strike="noStrike" kern="1200" dirty="0" smtClean="0">
                <a:solidFill>
                  <a:schemeClr val="tx1"/>
                </a:solidFill>
                <a:effectLst/>
                <a:latin typeface="+mn-lt"/>
                <a:ea typeface="Microsoft YaHei UI" panose="020B0503020204020204" pitchFamily="34" charset="-122"/>
                <a:cs typeface="+mn-cs"/>
              </a:rPr>
              <a:t>2016</a:t>
            </a:r>
            <a:r>
              <a:rPr lang="zh-CN" altLang="en-US" sz="1200" b="0" i="0" u="none" strike="noStrike" kern="1200" dirty="0" smtClean="0">
                <a:solidFill>
                  <a:schemeClr val="tx1"/>
                </a:solidFill>
                <a:effectLst/>
                <a:latin typeface="+mn-lt"/>
                <a:ea typeface="Microsoft YaHei UI" panose="020B0503020204020204" pitchFamily="34" charset="-122"/>
                <a:cs typeface="+mn-cs"/>
              </a:rPr>
              <a:t>年，全球国际资本流动的规模可能仅为</a:t>
            </a:r>
            <a:r>
              <a:rPr lang="en-US" altLang="zh-CN" sz="1200" b="0" i="0" u="none" strike="noStrike" kern="1200" dirty="0" smtClean="0">
                <a:solidFill>
                  <a:schemeClr val="tx1"/>
                </a:solidFill>
                <a:effectLst/>
                <a:latin typeface="+mn-lt"/>
                <a:ea typeface="Microsoft YaHei UI" panose="020B0503020204020204" pitchFamily="34" charset="-122"/>
                <a:cs typeface="+mn-cs"/>
              </a:rPr>
              <a:t>4.3</a:t>
            </a:r>
            <a:r>
              <a:rPr lang="zh-CN" altLang="en-US" sz="1200" b="0" i="0" u="none" strike="noStrike" kern="1200" dirty="0" smtClean="0">
                <a:solidFill>
                  <a:schemeClr val="tx1"/>
                </a:solidFill>
                <a:effectLst/>
                <a:latin typeface="+mn-lt"/>
                <a:ea typeface="Microsoft YaHei UI" panose="020B0503020204020204" pitchFamily="34" charset="-122"/>
                <a:cs typeface="+mn-cs"/>
              </a:rPr>
              <a:t>万亿美元，是</a:t>
            </a:r>
            <a:r>
              <a:rPr lang="en-US" altLang="zh-CN" sz="1200" b="0" i="0" u="none" strike="noStrike" kern="1200" dirty="0" smtClean="0">
                <a:solidFill>
                  <a:schemeClr val="tx1"/>
                </a:solidFill>
                <a:effectLst/>
                <a:latin typeface="+mn-lt"/>
                <a:ea typeface="Microsoft YaHei UI" panose="020B0503020204020204" pitchFamily="34" charset="-122"/>
                <a:cs typeface="+mn-cs"/>
              </a:rPr>
              <a:t>2007</a:t>
            </a:r>
            <a:r>
              <a:rPr lang="zh-CN" altLang="en-US" sz="1200" b="0" i="0" u="none" strike="noStrike" kern="1200" dirty="0" smtClean="0">
                <a:solidFill>
                  <a:schemeClr val="tx1"/>
                </a:solidFill>
                <a:effectLst/>
                <a:latin typeface="+mn-lt"/>
                <a:ea typeface="Microsoft YaHei UI" panose="020B0503020204020204" pitchFamily="34" charset="-122"/>
                <a:cs typeface="+mn-cs"/>
              </a:rPr>
              <a:t>年高点水平的三分之一。</a:t>
            </a:r>
            <a:endParaRPr lang="zh-CN" dirty="0"/>
          </a:p>
        </p:txBody>
      </p:sp>
      <p:sp>
        <p:nvSpPr>
          <p:cNvPr id="4" name="幻灯片编号占位符 3"/>
          <p:cNvSpPr>
            <a:spLocks noGrp="1"/>
          </p:cNvSpPr>
          <p:nvPr>
            <p:ph type="sldNum" sz="quarter" idx="10"/>
          </p:nvPr>
        </p:nvSpPr>
        <p:spPr/>
        <p:txBody>
          <a:bodyPr/>
          <a:lstStyle/>
          <a:p>
            <a:fld id="{82869989-EB00-4EE7-BCB5-25BDC5BB29F8}" type="slidenum">
              <a:rPr lang="en-US" altLang="zh-CN" smtClean="0"/>
              <a:pPr/>
              <a:t>3</a:t>
            </a:fld>
            <a:endParaRPr lang="zh-CN"/>
          </a:p>
        </p:txBody>
      </p:sp>
    </p:spTree>
    <p:extLst>
      <p:ext uri="{BB962C8B-B14F-4D97-AF65-F5344CB8AC3E}">
        <p14:creationId xmlns:p14="http://schemas.microsoft.com/office/powerpoint/2010/main" val="242861171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71600" y="1143000"/>
            <a:ext cx="4114800" cy="3086100"/>
          </a:xfrm>
        </p:spPr>
      </p:sp>
      <p:sp>
        <p:nvSpPr>
          <p:cNvPr id="3" name="备注占位符 2"/>
          <p:cNvSpPr>
            <a:spLocks noGrp="1"/>
          </p:cNvSpPr>
          <p:nvPr>
            <p:ph type="body" idx="1"/>
          </p:nvPr>
        </p:nvSpPr>
        <p:spPr/>
        <p:txBody>
          <a:bodyPr/>
          <a:lstStyle/>
          <a:p>
            <a:r>
              <a:rPr lang="zh-CN" altLang="en-US" sz="1200" dirty="0" smtClean="0"/>
              <a:t>商业银行对风险的容忍度低，只能“锦上添花”，不能“雪中送炭”。由于受到美国次贷危机和欧洲主权债务危机的双重打击，又由于欧洲的商业银行传统上就在国际信贷市场非常活跃，所以，危机后当这些银行不得不收回大量国际银行信贷时，就成为全球国际资本撤回的主要“宗主国”或来源地。</a:t>
            </a:r>
            <a:endParaRPr lang="en-US" altLang="zh-CN" sz="1200" dirty="0" smtClean="0"/>
          </a:p>
          <a:p>
            <a:r>
              <a:rPr lang="zh-CN" altLang="en-US" sz="1200" dirty="0" smtClean="0"/>
              <a:t>新兴经济体受到的冲击更为明显，根据国际</a:t>
            </a:r>
            <a:r>
              <a:rPr lang="zh-CN" altLang="en-US" sz="1200" u="sng" dirty="0" smtClean="0">
                <a:hlinkClick r:id="rId3" tooltip="财经知识_货币基金"/>
              </a:rPr>
              <a:t>货币基金</a:t>
            </a:r>
            <a:r>
              <a:rPr lang="zh-CN" altLang="en-US" sz="1200" dirty="0" smtClean="0"/>
              <a:t>组织对</a:t>
            </a:r>
            <a:r>
              <a:rPr lang="en-US" altLang="zh-CN" sz="1200" dirty="0" smtClean="0"/>
              <a:t>45</a:t>
            </a:r>
            <a:r>
              <a:rPr lang="zh-CN" altLang="en-US" sz="1200" dirty="0" smtClean="0"/>
              <a:t>个样本新兴经济体的统计，其中</a:t>
            </a:r>
            <a:r>
              <a:rPr lang="en-US" altLang="zh-CN" sz="1200" dirty="0" smtClean="0"/>
              <a:t>76%</a:t>
            </a:r>
            <a:r>
              <a:rPr lang="zh-CN" altLang="en-US" sz="1200" dirty="0" smtClean="0"/>
              <a:t>的经济体在最近数年出现国际资本净流入（流入减流出）规模的显著下降，这一比例事实上超过了</a:t>
            </a:r>
            <a:r>
              <a:rPr lang="en-US" altLang="zh-CN" sz="1200" dirty="0" smtClean="0"/>
              <a:t>80</a:t>
            </a:r>
            <a:r>
              <a:rPr lang="zh-CN" altLang="en-US" sz="1200" dirty="0" smtClean="0"/>
              <a:t>年代拉美债务危机和</a:t>
            </a:r>
            <a:r>
              <a:rPr lang="en-US" altLang="zh-CN" sz="1200" dirty="0" smtClean="0"/>
              <a:t>90</a:t>
            </a:r>
            <a:r>
              <a:rPr lang="zh-CN" altLang="en-US" sz="1200" dirty="0" smtClean="0"/>
              <a:t>年代亚洲金融危机时期。特别是</a:t>
            </a:r>
            <a:r>
              <a:rPr lang="en-US" altLang="zh-CN" sz="1200" dirty="0" smtClean="0"/>
              <a:t>2014</a:t>
            </a:r>
            <a:r>
              <a:rPr lang="zh-CN" altLang="en-US" sz="1200" dirty="0" smtClean="0"/>
              <a:t>年以来，部分新兴经济体从过去的国际资本净流入国转为国际资本净流出国（我们将非储备性质的金融账户逆差视为国际资本净流出）。其中比较突出的几个地区包括：部分东欧国家（如波兰、捷克等）、俄罗斯和中国。以中国为例，</a:t>
            </a:r>
            <a:r>
              <a:rPr lang="en-US" altLang="zh-CN" sz="1200" dirty="0" smtClean="0"/>
              <a:t>2007</a:t>
            </a:r>
            <a:r>
              <a:rPr lang="zh-CN" altLang="en-US" sz="1200" dirty="0" smtClean="0"/>
              <a:t>年非储备性质的金融账户顺差规模</a:t>
            </a:r>
            <a:r>
              <a:rPr lang="en-US" altLang="zh-CN" sz="1200" dirty="0" smtClean="0"/>
              <a:t>911</a:t>
            </a:r>
            <a:r>
              <a:rPr lang="zh-CN" altLang="en-US" sz="1200" dirty="0" smtClean="0"/>
              <a:t>亿美元，与</a:t>
            </a:r>
            <a:r>
              <a:rPr lang="en-US" altLang="zh-CN" sz="1200" u="sng" dirty="0" smtClean="0">
                <a:hlinkClick r:id="rId4" tooltip="财经知识_GDP"/>
              </a:rPr>
              <a:t>GDP</a:t>
            </a:r>
            <a:r>
              <a:rPr lang="zh-CN" altLang="en-US" sz="1200" dirty="0" smtClean="0"/>
              <a:t>之比为</a:t>
            </a:r>
            <a:r>
              <a:rPr lang="en-US" altLang="zh-CN" sz="1200" dirty="0" smtClean="0"/>
              <a:t>2.7%</a:t>
            </a:r>
            <a:r>
              <a:rPr lang="zh-CN" altLang="en-US" sz="1200" dirty="0" smtClean="0"/>
              <a:t>；该项目的顺差规模在</a:t>
            </a:r>
            <a:r>
              <a:rPr lang="en-US" altLang="zh-CN" sz="1200" dirty="0" smtClean="0"/>
              <a:t>2010</a:t>
            </a:r>
            <a:r>
              <a:rPr lang="zh-CN" altLang="en-US" sz="1200" dirty="0" smtClean="0"/>
              <a:t>年达到</a:t>
            </a:r>
            <a:r>
              <a:rPr lang="en-US" altLang="zh-CN" sz="1200" dirty="0" smtClean="0"/>
              <a:t>2822</a:t>
            </a:r>
            <a:r>
              <a:rPr lang="zh-CN" altLang="en-US" sz="1200" dirty="0" smtClean="0"/>
              <a:t>亿美元，与</a:t>
            </a:r>
            <a:r>
              <a:rPr lang="en-US" altLang="zh-CN" sz="1200" dirty="0" smtClean="0"/>
              <a:t>GDP</a:t>
            </a:r>
            <a:r>
              <a:rPr lang="zh-CN" altLang="en-US" sz="1200" dirty="0" smtClean="0"/>
              <a:t>之比高达</a:t>
            </a:r>
            <a:r>
              <a:rPr lang="en-US" altLang="zh-CN" sz="1200" dirty="0" smtClean="0"/>
              <a:t>4.7%</a:t>
            </a:r>
            <a:r>
              <a:rPr lang="zh-CN" altLang="en-US" sz="1200" dirty="0" smtClean="0"/>
              <a:t>；该项目差额从</a:t>
            </a:r>
            <a:r>
              <a:rPr lang="en-US" altLang="zh-CN" sz="1200" dirty="0" smtClean="0"/>
              <a:t>2014</a:t>
            </a:r>
            <a:r>
              <a:rPr lang="zh-CN" altLang="en-US" sz="1200" dirty="0" smtClean="0"/>
              <a:t>年连续</a:t>
            </a:r>
            <a:r>
              <a:rPr lang="en-US" altLang="zh-CN" sz="1200" dirty="0" smtClean="0"/>
              <a:t>3</a:t>
            </a:r>
            <a:r>
              <a:rPr lang="zh-CN" altLang="en-US" sz="1200" dirty="0" smtClean="0"/>
              <a:t>年转为持续逆差，逆差与</a:t>
            </a:r>
            <a:r>
              <a:rPr lang="en-US" altLang="zh-CN" sz="1200" dirty="0" smtClean="0"/>
              <a:t>GDP</a:t>
            </a:r>
            <a:r>
              <a:rPr lang="zh-CN" altLang="en-US" sz="1200" dirty="0" smtClean="0"/>
              <a:t>之比分别为</a:t>
            </a:r>
            <a:r>
              <a:rPr lang="en-US" altLang="zh-CN" sz="1200" dirty="0" smtClean="0"/>
              <a:t>0.5%</a:t>
            </a:r>
            <a:r>
              <a:rPr lang="zh-CN" altLang="en-US" sz="1200" dirty="0" smtClean="0"/>
              <a:t>、</a:t>
            </a:r>
            <a:r>
              <a:rPr lang="en-US" altLang="zh-CN" sz="1200" dirty="0" smtClean="0"/>
              <a:t>4.4%</a:t>
            </a:r>
            <a:r>
              <a:rPr lang="zh-CN" altLang="en-US" sz="1200" dirty="0" smtClean="0"/>
              <a:t>和</a:t>
            </a:r>
            <a:r>
              <a:rPr lang="en-US" altLang="zh-CN" sz="1200" dirty="0" smtClean="0"/>
              <a:t>3.7%</a:t>
            </a:r>
            <a:r>
              <a:rPr lang="zh-CN" altLang="en-US" sz="1200" dirty="0" smtClean="0"/>
              <a:t>，逆差规模在</a:t>
            </a:r>
            <a:r>
              <a:rPr lang="en-US" altLang="zh-CN" sz="1200" dirty="0" smtClean="0"/>
              <a:t>2015</a:t>
            </a:r>
            <a:r>
              <a:rPr lang="zh-CN" altLang="en-US" sz="1200" dirty="0" smtClean="0"/>
              <a:t>年曾高达</a:t>
            </a:r>
            <a:r>
              <a:rPr lang="en-US" altLang="zh-CN" sz="1200" dirty="0" smtClean="0"/>
              <a:t>4856</a:t>
            </a:r>
            <a:r>
              <a:rPr lang="zh-CN" altLang="en-US" sz="1200" dirty="0" smtClean="0"/>
              <a:t>亿美元。</a:t>
            </a:r>
            <a:endParaRPr lang="zh-CN" dirty="0"/>
          </a:p>
        </p:txBody>
      </p:sp>
      <p:sp>
        <p:nvSpPr>
          <p:cNvPr id="4" name="幻灯片编号占位符 3"/>
          <p:cNvSpPr>
            <a:spLocks noGrp="1"/>
          </p:cNvSpPr>
          <p:nvPr>
            <p:ph type="sldNum" sz="quarter" idx="10"/>
          </p:nvPr>
        </p:nvSpPr>
        <p:spPr/>
        <p:txBody>
          <a:bodyPr/>
          <a:lstStyle/>
          <a:p>
            <a:fld id="{82869989-EB00-4EE7-BCB5-25BDC5BB29F8}" type="slidenum">
              <a:rPr lang="en-US" altLang="zh-CN" smtClean="0">
                <a:solidFill>
                  <a:prstClr val="black"/>
                </a:solidFill>
                <a:latin typeface="Calibri"/>
                <a:ea typeface="宋体"/>
              </a:rPr>
              <a:pPr/>
              <a:t>7</a:t>
            </a:fld>
            <a:endParaRPr lang="zh-CN" altLang="en-US">
              <a:solidFill>
                <a:prstClr val="black"/>
              </a:solidFill>
              <a:latin typeface="Calibri"/>
              <a:ea typeface="宋体"/>
            </a:endParaRPr>
          </a:p>
        </p:txBody>
      </p:sp>
    </p:spTree>
    <p:extLst>
      <p:ext uri="{BB962C8B-B14F-4D97-AF65-F5344CB8AC3E}">
        <p14:creationId xmlns:p14="http://schemas.microsoft.com/office/powerpoint/2010/main" val="242861171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71600" y="1143000"/>
            <a:ext cx="4114800" cy="3086100"/>
          </a:xfrm>
        </p:spPr>
      </p:sp>
      <p:sp>
        <p:nvSpPr>
          <p:cNvPr id="3" name="备注占位符 2"/>
          <p:cNvSpPr>
            <a:spLocks noGrp="1"/>
          </p:cNvSpPr>
          <p:nvPr>
            <p:ph type="body" idx="1"/>
          </p:nvPr>
        </p:nvSpPr>
        <p:spPr/>
        <p:txBody>
          <a:bodyPr/>
          <a:lstStyle/>
          <a:p>
            <a:endParaRPr lang="zh-CN" dirty="0"/>
          </a:p>
        </p:txBody>
      </p:sp>
      <p:sp>
        <p:nvSpPr>
          <p:cNvPr id="4" name="幻灯片编号占位符 3"/>
          <p:cNvSpPr>
            <a:spLocks noGrp="1"/>
          </p:cNvSpPr>
          <p:nvPr>
            <p:ph type="sldNum" sz="quarter" idx="10"/>
          </p:nvPr>
        </p:nvSpPr>
        <p:spPr/>
        <p:txBody>
          <a:bodyPr/>
          <a:lstStyle/>
          <a:p>
            <a:fld id="{82869989-EB00-4EE7-BCB5-25BDC5BB29F8}" type="slidenum">
              <a:rPr lang="en-US" altLang="zh-CN" smtClean="0">
                <a:solidFill>
                  <a:prstClr val="black"/>
                </a:solidFill>
                <a:latin typeface="Calibri"/>
                <a:ea typeface="宋体"/>
              </a:rPr>
              <a:pPr/>
              <a:t>8</a:t>
            </a:fld>
            <a:endParaRPr lang="zh-CN" altLang="en-US">
              <a:solidFill>
                <a:prstClr val="black"/>
              </a:solidFill>
              <a:latin typeface="Calibri"/>
              <a:ea typeface="宋体"/>
            </a:endParaRPr>
          </a:p>
        </p:txBody>
      </p:sp>
    </p:spTree>
    <p:extLst>
      <p:ext uri="{BB962C8B-B14F-4D97-AF65-F5344CB8AC3E}">
        <p14:creationId xmlns:p14="http://schemas.microsoft.com/office/powerpoint/2010/main" val="242861171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71600" y="1143000"/>
            <a:ext cx="4114800" cy="3086100"/>
          </a:xfrm>
        </p:spPr>
      </p:sp>
      <p:sp>
        <p:nvSpPr>
          <p:cNvPr id="3" name="备注占位符 2"/>
          <p:cNvSpPr>
            <a:spLocks noGrp="1"/>
          </p:cNvSpPr>
          <p:nvPr>
            <p:ph type="body" idx="1"/>
          </p:nvPr>
        </p:nvSpPr>
        <p:spPr/>
        <p:txBody>
          <a:bodyPr/>
          <a:lstStyle/>
          <a:p>
            <a:pPr eaLnBrk="1" hangingPunct="1"/>
            <a:endParaRPr lang="zh-CN" altLang="zh-CN" dirty="0" smtClean="0">
              <a:latin typeface="Arial" panose="020B0604020202020204" pitchFamily="34" charset="0"/>
            </a:endParaRPr>
          </a:p>
        </p:txBody>
      </p:sp>
      <p:sp>
        <p:nvSpPr>
          <p:cNvPr id="4" name="幻灯片编号占位符 3"/>
          <p:cNvSpPr>
            <a:spLocks noGrp="1"/>
          </p:cNvSpPr>
          <p:nvPr>
            <p:ph type="sldNum" sz="quarter" idx="10"/>
          </p:nvPr>
        </p:nvSpPr>
        <p:spPr/>
        <p:txBody>
          <a:bodyPr/>
          <a:lstStyle/>
          <a:p>
            <a:fld id="{82869989-EB00-4EE7-BCB5-25BDC5BB29F8}" type="slidenum">
              <a:rPr lang="en-US" altLang="zh-CN" smtClean="0"/>
              <a:pPr/>
              <a:t>9</a:t>
            </a:fld>
            <a:endParaRPr lang="zh-CN"/>
          </a:p>
        </p:txBody>
      </p:sp>
    </p:spTree>
    <p:extLst>
      <p:ext uri="{BB962C8B-B14F-4D97-AF65-F5344CB8AC3E}">
        <p14:creationId xmlns:p14="http://schemas.microsoft.com/office/powerpoint/2010/main" val="340771833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71600" y="1143000"/>
            <a:ext cx="4114800" cy="3086100"/>
          </a:xfrm>
        </p:spPr>
      </p:sp>
      <p:sp>
        <p:nvSpPr>
          <p:cNvPr id="3" name="备注占位符 2"/>
          <p:cNvSpPr>
            <a:spLocks noGrp="1"/>
          </p:cNvSpPr>
          <p:nvPr>
            <p:ph type="body" idx="1"/>
          </p:nvPr>
        </p:nvSpPr>
        <p:spPr/>
        <p:txBody>
          <a:bodyPr/>
          <a:lstStyle/>
          <a:p>
            <a:pPr eaLnBrk="1" hangingPunct="1"/>
            <a:endParaRPr lang="zh-CN" altLang="zh-CN" dirty="0" smtClean="0">
              <a:latin typeface="Arial" panose="020B0604020202020204" pitchFamily="34" charset="0"/>
            </a:endParaRPr>
          </a:p>
        </p:txBody>
      </p:sp>
      <p:sp>
        <p:nvSpPr>
          <p:cNvPr id="4" name="幻灯片编号占位符 3"/>
          <p:cNvSpPr>
            <a:spLocks noGrp="1"/>
          </p:cNvSpPr>
          <p:nvPr>
            <p:ph type="sldNum" sz="quarter" idx="10"/>
          </p:nvPr>
        </p:nvSpPr>
        <p:spPr/>
        <p:txBody>
          <a:bodyPr/>
          <a:lstStyle/>
          <a:p>
            <a:fld id="{82869989-EB00-4EE7-BCB5-25BDC5BB29F8}" type="slidenum">
              <a:rPr lang="en-US" altLang="zh-CN" smtClean="0"/>
              <a:pPr/>
              <a:t>10</a:t>
            </a:fld>
            <a:endParaRPr lang="zh-CN"/>
          </a:p>
        </p:txBody>
      </p:sp>
    </p:spTree>
    <p:extLst>
      <p:ext uri="{BB962C8B-B14F-4D97-AF65-F5344CB8AC3E}">
        <p14:creationId xmlns:p14="http://schemas.microsoft.com/office/powerpoint/2010/main" val="17909671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71600" y="1143000"/>
            <a:ext cx="4114800" cy="3086100"/>
          </a:xfrm>
        </p:spPr>
      </p:sp>
      <p:sp>
        <p:nvSpPr>
          <p:cNvPr id="3" name="备注占位符 2"/>
          <p:cNvSpPr>
            <a:spLocks noGrp="1"/>
          </p:cNvSpPr>
          <p:nvPr>
            <p:ph type="body" idx="1"/>
          </p:nvPr>
        </p:nvSpPr>
        <p:spPr/>
        <p:txBody>
          <a:bodyPr/>
          <a:lstStyle/>
          <a:p>
            <a:pPr eaLnBrk="1" hangingPunct="1"/>
            <a:endParaRPr lang="zh-CN" altLang="zh-CN" dirty="0" smtClean="0">
              <a:latin typeface="Arial" panose="020B0604020202020204" pitchFamily="34" charset="0"/>
            </a:endParaRPr>
          </a:p>
        </p:txBody>
      </p:sp>
      <p:sp>
        <p:nvSpPr>
          <p:cNvPr id="4" name="幻灯片编号占位符 3"/>
          <p:cNvSpPr>
            <a:spLocks noGrp="1"/>
          </p:cNvSpPr>
          <p:nvPr>
            <p:ph type="sldNum" sz="quarter" idx="10"/>
          </p:nvPr>
        </p:nvSpPr>
        <p:spPr/>
        <p:txBody>
          <a:bodyPr/>
          <a:lstStyle/>
          <a:p>
            <a:fld id="{82869989-EB00-4EE7-BCB5-25BDC5BB29F8}" type="slidenum">
              <a:rPr lang="en-US" altLang="zh-CN" smtClean="0"/>
              <a:pPr/>
              <a:t>11</a:t>
            </a:fld>
            <a:endParaRPr lang="zh-CN"/>
          </a:p>
        </p:txBody>
      </p:sp>
    </p:spTree>
    <p:extLst>
      <p:ext uri="{BB962C8B-B14F-4D97-AF65-F5344CB8AC3E}">
        <p14:creationId xmlns:p14="http://schemas.microsoft.com/office/powerpoint/2010/main" val="116281647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71600" y="1143000"/>
            <a:ext cx="4114800" cy="3086100"/>
          </a:xfrm>
        </p:spPr>
      </p:sp>
      <p:sp>
        <p:nvSpPr>
          <p:cNvPr id="3" name="备注占位符 2"/>
          <p:cNvSpPr>
            <a:spLocks noGrp="1"/>
          </p:cNvSpPr>
          <p:nvPr>
            <p:ph type="body" idx="1"/>
          </p:nvPr>
        </p:nvSpPr>
        <p:spPr/>
        <p:txBody>
          <a:bodyPr/>
          <a:lstStyle/>
          <a:p>
            <a:pPr eaLnBrk="1" hangingPunct="1"/>
            <a:endParaRPr lang="zh-CN" altLang="zh-CN" dirty="0" smtClean="0">
              <a:latin typeface="Arial" panose="020B0604020202020204" pitchFamily="34" charset="0"/>
            </a:endParaRPr>
          </a:p>
        </p:txBody>
      </p:sp>
      <p:sp>
        <p:nvSpPr>
          <p:cNvPr id="4" name="幻灯片编号占位符 3"/>
          <p:cNvSpPr>
            <a:spLocks noGrp="1"/>
          </p:cNvSpPr>
          <p:nvPr>
            <p:ph type="sldNum" sz="quarter" idx="10"/>
          </p:nvPr>
        </p:nvSpPr>
        <p:spPr/>
        <p:txBody>
          <a:bodyPr/>
          <a:lstStyle/>
          <a:p>
            <a:fld id="{82869989-EB00-4EE7-BCB5-25BDC5BB29F8}" type="slidenum">
              <a:rPr lang="en-US" altLang="zh-CN" smtClean="0"/>
              <a:pPr/>
              <a:t>12</a:t>
            </a:fld>
            <a:endParaRPr lang="zh-CN"/>
          </a:p>
        </p:txBody>
      </p:sp>
    </p:spTree>
    <p:extLst>
      <p:ext uri="{BB962C8B-B14F-4D97-AF65-F5344CB8AC3E}">
        <p14:creationId xmlns:p14="http://schemas.microsoft.com/office/powerpoint/2010/main" val="202328647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71600" y="1143000"/>
            <a:ext cx="4114800" cy="3086100"/>
          </a:xfrm>
        </p:spPr>
      </p:sp>
      <p:sp>
        <p:nvSpPr>
          <p:cNvPr id="3" name="备注占位符 2"/>
          <p:cNvSpPr>
            <a:spLocks noGrp="1"/>
          </p:cNvSpPr>
          <p:nvPr>
            <p:ph type="body" idx="1"/>
          </p:nvPr>
        </p:nvSpPr>
        <p:spPr/>
        <p:txBody>
          <a:bodyPr/>
          <a:lstStyle/>
          <a:p>
            <a:pPr eaLnBrk="1" hangingPunct="1"/>
            <a:endParaRPr lang="zh-CN" altLang="zh-CN" dirty="0" smtClean="0">
              <a:latin typeface="Arial" panose="020B0604020202020204" pitchFamily="34" charset="0"/>
            </a:endParaRPr>
          </a:p>
        </p:txBody>
      </p:sp>
      <p:sp>
        <p:nvSpPr>
          <p:cNvPr id="4" name="幻灯片编号占位符 3"/>
          <p:cNvSpPr>
            <a:spLocks noGrp="1"/>
          </p:cNvSpPr>
          <p:nvPr>
            <p:ph type="sldNum" sz="quarter" idx="10"/>
          </p:nvPr>
        </p:nvSpPr>
        <p:spPr/>
        <p:txBody>
          <a:bodyPr/>
          <a:lstStyle/>
          <a:p>
            <a:fld id="{82869989-EB00-4EE7-BCB5-25BDC5BB29F8}" type="slidenum">
              <a:rPr lang="en-US" altLang="zh-CN" smtClean="0"/>
              <a:pPr/>
              <a:t>13</a:t>
            </a:fld>
            <a:endParaRPr lang="zh-CN"/>
          </a:p>
        </p:txBody>
      </p:sp>
    </p:spTree>
    <p:extLst>
      <p:ext uri="{BB962C8B-B14F-4D97-AF65-F5344CB8AC3E}">
        <p14:creationId xmlns:p14="http://schemas.microsoft.com/office/powerpoint/2010/main" val="291128229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71600" y="1143000"/>
            <a:ext cx="4114800" cy="3086100"/>
          </a:xfrm>
        </p:spPr>
      </p:sp>
      <p:sp>
        <p:nvSpPr>
          <p:cNvPr id="3" name="备注占位符 2"/>
          <p:cNvSpPr>
            <a:spLocks noGrp="1"/>
          </p:cNvSpPr>
          <p:nvPr>
            <p:ph type="body" idx="1"/>
          </p:nvPr>
        </p:nvSpPr>
        <p:spPr/>
        <p:txBody>
          <a:bodyPr/>
          <a:lstStyle/>
          <a:p>
            <a:pPr eaLnBrk="1" hangingPunct="1"/>
            <a:endParaRPr lang="zh-CN" altLang="zh-CN" dirty="0" smtClean="0">
              <a:latin typeface="Arial" panose="020B0604020202020204" pitchFamily="34" charset="0"/>
            </a:endParaRPr>
          </a:p>
        </p:txBody>
      </p:sp>
      <p:sp>
        <p:nvSpPr>
          <p:cNvPr id="4" name="幻灯片编号占位符 3"/>
          <p:cNvSpPr>
            <a:spLocks noGrp="1"/>
          </p:cNvSpPr>
          <p:nvPr>
            <p:ph type="sldNum" sz="quarter" idx="10"/>
          </p:nvPr>
        </p:nvSpPr>
        <p:spPr/>
        <p:txBody>
          <a:bodyPr/>
          <a:lstStyle/>
          <a:p>
            <a:fld id="{82869989-EB00-4EE7-BCB5-25BDC5BB29F8}" type="slidenum">
              <a:rPr lang="en-US" altLang="zh-CN" smtClean="0"/>
              <a:pPr/>
              <a:t>14</a:t>
            </a:fld>
            <a:endParaRPr lang="zh-CN"/>
          </a:p>
        </p:txBody>
      </p:sp>
    </p:spTree>
    <p:extLst>
      <p:ext uri="{BB962C8B-B14F-4D97-AF65-F5344CB8AC3E}">
        <p14:creationId xmlns:p14="http://schemas.microsoft.com/office/powerpoint/2010/main" val="76720335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71600" y="1143000"/>
            <a:ext cx="4114800" cy="3086100"/>
          </a:xfrm>
        </p:spPr>
      </p:sp>
      <p:sp>
        <p:nvSpPr>
          <p:cNvPr id="3" name="备注占位符 2"/>
          <p:cNvSpPr>
            <a:spLocks noGrp="1"/>
          </p:cNvSpPr>
          <p:nvPr>
            <p:ph type="body" idx="1"/>
          </p:nvPr>
        </p:nvSpPr>
        <p:spPr/>
        <p:txBody>
          <a:bodyPr/>
          <a:lstStyle/>
          <a:p>
            <a:pPr eaLnBrk="1" hangingPunct="1"/>
            <a:endParaRPr lang="zh-CN" altLang="zh-CN" dirty="0" smtClean="0">
              <a:latin typeface="Arial" panose="020B0604020202020204" pitchFamily="34" charset="0"/>
            </a:endParaRPr>
          </a:p>
        </p:txBody>
      </p:sp>
      <p:sp>
        <p:nvSpPr>
          <p:cNvPr id="4" name="幻灯片编号占位符 3"/>
          <p:cNvSpPr>
            <a:spLocks noGrp="1"/>
          </p:cNvSpPr>
          <p:nvPr>
            <p:ph type="sldNum" sz="quarter" idx="10"/>
          </p:nvPr>
        </p:nvSpPr>
        <p:spPr/>
        <p:txBody>
          <a:bodyPr/>
          <a:lstStyle/>
          <a:p>
            <a:fld id="{82869989-EB00-4EE7-BCB5-25BDC5BB29F8}" type="slidenum">
              <a:rPr lang="en-US" altLang="zh-CN" smtClean="0"/>
              <a:pPr/>
              <a:t>15</a:t>
            </a:fld>
            <a:endParaRPr lang="zh-CN"/>
          </a:p>
        </p:txBody>
      </p:sp>
    </p:spTree>
    <p:extLst>
      <p:ext uri="{BB962C8B-B14F-4D97-AF65-F5344CB8AC3E}">
        <p14:creationId xmlns:p14="http://schemas.microsoft.com/office/powerpoint/2010/main" val="428001810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71600" y="1143000"/>
            <a:ext cx="4114800" cy="3086100"/>
          </a:xfrm>
        </p:spPr>
      </p:sp>
      <p:sp>
        <p:nvSpPr>
          <p:cNvPr id="3" name="备注占位符 2"/>
          <p:cNvSpPr>
            <a:spLocks noGrp="1"/>
          </p:cNvSpPr>
          <p:nvPr>
            <p:ph type="body" idx="1"/>
          </p:nvPr>
        </p:nvSpPr>
        <p:spPr/>
        <p:txBody>
          <a:bodyPr/>
          <a:lstStyle/>
          <a:p>
            <a:pPr eaLnBrk="1" hangingPunct="1"/>
            <a:endParaRPr lang="zh-CN" altLang="zh-CN" dirty="0" smtClean="0">
              <a:latin typeface="Arial" panose="020B0604020202020204" pitchFamily="34" charset="0"/>
            </a:endParaRPr>
          </a:p>
        </p:txBody>
      </p:sp>
      <p:sp>
        <p:nvSpPr>
          <p:cNvPr id="4" name="幻灯片编号占位符 3"/>
          <p:cNvSpPr>
            <a:spLocks noGrp="1"/>
          </p:cNvSpPr>
          <p:nvPr>
            <p:ph type="sldNum" sz="quarter" idx="10"/>
          </p:nvPr>
        </p:nvSpPr>
        <p:spPr/>
        <p:txBody>
          <a:bodyPr/>
          <a:lstStyle/>
          <a:p>
            <a:fld id="{82869989-EB00-4EE7-BCB5-25BDC5BB29F8}" type="slidenum">
              <a:rPr lang="en-US" altLang="zh-CN" smtClean="0"/>
              <a:pPr/>
              <a:t>16</a:t>
            </a:fld>
            <a:endParaRPr lang="zh-CN"/>
          </a:p>
        </p:txBody>
      </p:sp>
    </p:spTree>
    <p:extLst>
      <p:ext uri="{BB962C8B-B14F-4D97-AF65-F5344CB8AC3E}">
        <p14:creationId xmlns:p14="http://schemas.microsoft.com/office/powerpoint/2010/main" val="1761946267"/>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71600" y="1143000"/>
            <a:ext cx="4114800" cy="3086100"/>
          </a:xfrm>
        </p:spPr>
      </p:sp>
      <p:sp>
        <p:nvSpPr>
          <p:cNvPr id="3" name="备注占位符 2"/>
          <p:cNvSpPr>
            <a:spLocks noGrp="1"/>
          </p:cNvSpPr>
          <p:nvPr>
            <p:ph type="body" idx="1"/>
          </p:nvPr>
        </p:nvSpPr>
        <p:spPr/>
        <p:txBody>
          <a:bodyPr/>
          <a:lstStyle/>
          <a:p>
            <a:pPr eaLnBrk="1" hangingPunct="1"/>
            <a:endParaRPr lang="zh-CN" altLang="zh-CN" dirty="0" smtClean="0">
              <a:latin typeface="Arial" panose="020B0604020202020204" pitchFamily="34" charset="0"/>
            </a:endParaRPr>
          </a:p>
        </p:txBody>
      </p:sp>
      <p:sp>
        <p:nvSpPr>
          <p:cNvPr id="4" name="幻灯片编号占位符 3"/>
          <p:cNvSpPr>
            <a:spLocks noGrp="1"/>
          </p:cNvSpPr>
          <p:nvPr>
            <p:ph type="sldNum" sz="quarter" idx="10"/>
          </p:nvPr>
        </p:nvSpPr>
        <p:spPr/>
        <p:txBody>
          <a:bodyPr/>
          <a:lstStyle/>
          <a:p>
            <a:fld id="{82869989-EB00-4EE7-BCB5-25BDC5BB29F8}" type="slidenum">
              <a:rPr lang="en-US" altLang="zh-CN" smtClean="0"/>
              <a:pPr/>
              <a:t>17</a:t>
            </a:fld>
            <a:endParaRPr lang="zh-CN"/>
          </a:p>
        </p:txBody>
      </p:sp>
    </p:spTree>
    <p:extLst>
      <p:ext uri="{BB962C8B-B14F-4D97-AF65-F5344CB8AC3E}">
        <p14:creationId xmlns:p14="http://schemas.microsoft.com/office/powerpoint/2010/main" val="257128892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71600" y="1143000"/>
            <a:ext cx="4114800" cy="3086100"/>
          </a:xfrm>
        </p:spPr>
      </p:sp>
      <p:sp>
        <p:nvSpPr>
          <p:cNvPr id="3" name="备注占位符 2"/>
          <p:cNvSpPr>
            <a:spLocks noGrp="1"/>
          </p:cNvSpPr>
          <p:nvPr>
            <p:ph type="body" idx="1"/>
          </p:nvPr>
        </p:nvSpPr>
        <p:spPr/>
        <p:txBody>
          <a:bodyPr/>
          <a:lstStyle/>
          <a:p>
            <a:pPr eaLnBrk="1" hangingPunct="1"/>
            <a:endParaRPr lang="zh-CN" altLang="zh-CN" dirty="0" smtClean="0">
              <a:latin typeface="Arial" panose="020B0604020202020204" pitchFamily="34" charset="0"/>
            </a:endParaRPr>
          </a:p>
        </p:txBody>
      </p:sp>
      <p:sp>
        <p:nvSpPr>
          <p:cNvPr id="4" name="幻灯片编号占位符 3"/>
          <p:cNvSpPr>
            <a:spLocks noGrp="1"/>
          </p:cNvSpPr>
          <p:nvPr>
            <p:ph type="sldNum" sz="quarter" idx="10"/>
          </p:nvPr>
        </p:nvSpPr>
        <p:spPr/>
        <p:txBody>
          <a:bodyPr/>
          <a:lstStyle/>
          <a:p>
            <a:fld id="{82869989-EB00-4EE7-BCB5-25BDC5BB29F8}" type="slidenum">
              <a:rPr lang="en-US" altLang="zh-CN" smtClean="0"/>
              <a:pPr/>
              <a:t>18</a:t>
            </a:fld>
            <a:endParaRPr lang="zh-CN"/>
          </a:p>
        </p:txBody>
      </p:sp>
    </p:spTree>
    <p:extLst>
      <p:ext uri="{BB962C8B-B14F-4D97-AF65-F5344CB8AC3E}">
        <p14:creationId xmlns:p14="http://schemas.microsoft.com/office/powerpoint/2010/main" val="3446907290"/>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71600" y="1143000"/>
            <a:ext cx="4114800" cy="3086100"/>
          </a:xfrm>
        </p:spPr>
      </p:sp>
      <p:sp>
        <p:nvSpPr>
          <p:cNvPr id="3" name="备注占位符 2"/>
          <p:cNvSpPr>
            <a:spLocks noGrp="1"/>
          </p:cNvSpPr>
          <p:nvPr>
            <p:ph type="body" idx="1"/>
          </p:nvPr>
        </p:nvSpPr>
        <p:spPr/>
        <p:txBody>
          <a:bodyPr/>
          <a:lstStyle/>
          <a:p>
            <a:pPr eaLnBrk="1" hangingPunct="1"/>
            <a:endParaRPr lang="zh-CN" altLang="zh-CN" dirty="0" smtClean="0">
              <a:latin typeface="Arial" panose="020B0604020202020204" pitchFamily="34" charset="0"/>
            </a:endParaRPr>
          </a:p>
        </p:txBody>
      </p:sp>
      <p:sp>
        <p:nvSpPr>
          <p:cNvPr id="4" name="幻灯片编号占位符 3"/>
          <p:cNvSpPr>
            <a:spLocks noGrp="1"/>
          </p:cNvSpPr>
          <p:nvPr>
            <p:ph type="sldNum" sz="quarter" idx="10"/>
          </p:nvPr>
        </p:nvSpPr>
        <p:spPr/>
        <p:txBody>
          <a:bodyPr/>
          <a:lstStyle/>
          <a:p>
            <a:fld id="{82869989-EB00-4EE7-BCB5-25BDC5BB29F8}" type="slidenum">
              <a:rPr lang="en-US" altLang="zh-CN" smtClean="0"/>
              <a:pPr/>
              <a:t>19</a:t>
            </a:fld>
            <a:endParaRPr lang="zh-CN"/>
          </a:p>
        </p:txBody>
      </p:sp>
    </p:spTree>
    <p:extLst>
      <p:ext uri="{BB962C8B-B14F-4D97-AF65-F5344CB8AC3E}">
        <p14:creationId xmlns:p14="http://schemas.microsoft.com/office/powerpoint/2010/main" val="1997062429"/>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71600" y="1143000"/>
            <a:ext cx="4114800" cy="3086100"/>
          </a:xfrm>
        </p:spPr>
      </p:sp>
      <p:sp>
        <p:nvSpPr>
          <p:cNvPr id="3" name="备注占位符 2"/>
          <p:cNvSpPr>
            <a:spLocks noGrp="1"/>
          </p:cNvSpPr>
          <p:nvPr>
            <p:ph type="body" idx="1"/>
          </p:nvPr>
        </p:nvSpPr>
        <p:spPr/>
        <p:txBody>
          <a:bodyPr/>
          <a:lstStyle/>
          <a:p>
            <a:pPr eaLnBrk="1" hangingPunct="1"/>
            <a:endParaRPr lang="zh-CN" altLang="zh-CN" dirty="0" smtClean="0">
              <a:latin typeface="Arial" panose="020B0604020202020204" pitchFamily="34" charset="0"/>
            </a:endParaRPr>
          </a:p>
        </p:txBody>
      </p:sp>
      <p:sp>
        <p:nvSpPr>
          <p:cNvPr id="4" name="幻灯片编号占位符 3"/>
          <p:cNvSpPr>
            <a:spLocks noGrp="1"/>
          </p:cNvSpPr>
          <p:nvPr>
            <p:ph type="sldNum" sz="quarter" idx="10"/>
          </p:nvPr>
        </p:nvSpPr>
        <p:spPr/>
        <p:txBody>
          <a:bodyPr/>
          <a:lstStyle/>
          <a:p>
            <a:fld id="{82869989-EB00-4EE7-BCB5-25BDC5BB29F8}" type="slidenum">
              <a:rPr lang="en-US" altLang="zh-CN" smtClean="0"/>
              <a:pPr/>
              <a:t>20</a:t>
            </a:fld>
            <a:endParaRPr lang="zh-CN"/>
          </a:p>
        </p:txBody>
      </p:sp>
    </p:spTree>
    <p:extLst>
      <p:ext uri="{BB962C8B-B14F-4D97-AF65-F5344CB8AC3E}">
        <p14:creationId xmlns:p14="http://schemas.microsoft.com/office/powerpoint/2010/main" val="2760128262"/>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71600" y="1143000"/>
            <a:ext cx="4114800" cy="3086100"/>
          </a:xfrm>
        </p:spPr>
      </p:sp>
      <p:sp>
        <p:nvSpPr>
          <p:cNvPr id="3" name="备注占位符 2"/>
          <p:cNvSpPr>
            <a:spLocks noGrp="1"/>
          </p:cNvSpPr>
          <p:nvPr>
            <p:ph type="body" idx="1"/>
          </p:nvPr>
        </p:nvSpPr>
        <p:spPr/>
        <p:txBody>
          <a:bodyPr/>
          <a:lstStyle/>
          <a:p>
            <a:pPr eaLnBrk="1" hangingPunct="1"/>
            <a:endParaRPr lang="zh-CN" altLang="zh-CN" dirty="0" smtClean="0">
              <a:latin typeface="Arial" panose="020B0604020202020204" pitchFamily="34" charset="0"/>
            </a:endParaRPr>
          </a:p>
        </p:txBody>
      </p:sp>
      <p:sp>
        <p:nvSpPr>
          <p:cNvPr id="4" name="幻灯片编号占位符 3"/>
          <p:cNvSpPr>
            <a:spLocks noGrp="1"/>
          </p:cNvSpPr>
          <p:nvPr>
            <p:ph type="sldNum" sz="quarter" idx="10"/>
          </p:nvPr>
        </p:nvSpPr>
        <p:spPr/>
        <p:txBody>
          <a:bodyPr/>
          <a:lstStyle/>
          <a:p>
            <a:fld id="{82869989-EB00-4EE7-BCB5-25BDC5BB29F8}" type="slidenum">
              <a:rPr lang="en-US" altLang="zh-CN" smtClean="0"/>
              <a:pPr/>
              <a:t>21</a:t>
            </a:fld>
            <a:endParaRPr lang="zh-CN"/>
          </a:p>
        </p:txBody>
      </p:sp>
    </p:spTree>
    <p:extLst>
      <p:ext uri="{BB962C8B-B14F-4D97-AF65-F5344CB8AC3E}">
        <p14:creationId xmlns:p14="http://schemas.microsoft.com/office/powerpoint/2010/main" val="2956534386"/>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71600" y="1143000"/>
            <a:ext cx="4114800" cy="3086100"/>
          </a:xfrm>
        </p:spPr>
      </p:sp>
      <p:sp>
        <p:nvSpPr>
          <p:cNvPr id="3" name="备注占位符 2"/>
          <p:cNvSpPr>
            <a:spLocks noGrp="1"/>
          </p:cNvSpPr>
          <p:nvPr>
            <p:ph type="body" idx="1"/>
          </p:nvPr>
        </p:nvSpPr>
        <p:spPr/>
        <p:txBody>
          <a:bodyPr/>
          <a:lstStyle/>
          <a:p>
            <a:pPr eaLnBrk="1" hangingPunct="1"/>
            <a:endParaRPr lang="zh-CN" altLang="zh-CN" dirty="0" smtClean="0">
              <a:latin typeface="Arial" panose="020B0604020202020204" pitchFamily="34" charset="0"/>
            </a:endParaRPr>
          </a:p>
        </p:txBody>
      </p:sp>
      <p:sp>
        <p:nvSpPr>
          <p:cNvPr id="4" name="幻灯片编号占位符 3"/>
          <p:cNvSpPr>
            <a:spLocks noGrp="1"/>
          </p:cNvSpPr>
          <p:nvPr>
            <p:ph type="sldNum" sz="quarter" idx="10"/>
          </p:nvPr>
        </p:nvSpPr>
        <p:spPr/>
        <p:txBody>
          <a:bodyPr/>
          <a:lstStyle/>
          <a:p>
            <a:fld id="{82869989-EB00-4EE7-BCB5-25BDC5BB29F8}" type="slidenum">
              <a:rPr lang="en-US" altLang="zh-CN" smtClean="0"/>
              <a:pPr/>
              <a:t>22</a:t>
            </a:fld>
            <a:endParaRPr lang="zh-CN"/>
          </a:p>
        </p:txBody>
      </p:sp>
    </p:spTree>
    <p:extLst>
      <p:ext uri="{BB962C8B-B14F-4D97-AF65-F5344CB8AC3E}">
        <p14:creationId xmlns:p14="http://schemas.microsoft.com/office/powerpoint/2010/main" val="3744978680"/>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71600" y="1143000"/>
            <a:ext cx="4114800" cy="3086100"/>
          </a:xfrm>
        </p:spPr>
      </p:sp>
      <p:sp>
        <p:nvSpPr>
          <p:cNvPr id="3" name="备注占位符 2"/>
          <p:cNvSpPr>
            <a:spLocks noGrp="1"/>
          </p:cNvSpPr>
          <p:nvPr>
            <p:ph type="body" idx="1"/>
          </p:nvPr>
        </p:nvSpPr>
        <p:spPr/>
        <p:txBody>
          <a:bodyPr/>
          <a:lstStyle/>
          <a:p>
            <a:pPr eaLnBrk="1" hangingPunct="1"/>
            <a:endParaRPr lang="zh-CN" altLang="zh-CN" dirty="0" smtClean="0">
              <a:latin typeface="Arial" panose="020B0604020202020204" pitchFamily="34" charset="0"/>
            </a:endParaRPr>
          </a:p>
        </p:txBody>
      </p:sp>
      <p:sp>
        <p:nvSpPr>
          <p:cNvPr id="4" name="幻灯片编号占位符 3"/>
          <p:cNvSpPr>
            <a:spLocks noGrp="1"/>
          </p:cNvSpPr>
          <p:nvPr>
            <p:ph type="sldNum" sz="quarter" idx="10"/>
          </p:nvPr>
        </p:nvSpPr>
        <p:spPr/>
        <p:txBody>
          <a:bodyPr/>
          <a:lstStyle/>
          <a:p>
            <a:fld id="{82869989-EB00-4EE7-BCB5-25BDC5BB29F8}" type="slidenum">
              <a:rPr lang="en-US" altLang="zh-CN" smtClean="0"/>
              <a:pPr/>
              <a:t>23</a:t>
            </a:fld>
            <a:endParaRPr lang="zh-CN"/>
          </a:p>
        </p:txBody>
      </p:sp>
    </p:spTree>
    <p:extLst>
      <p:ext uri="{BB962C8B-B14F-4D97-AF65-F5344CB8AC3E}">
        <p14:creationId xmlns:p14="http://schemas.microsoft.com/office/powerpoint/2010/main" val="60316113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71600" y="1143000"/>
            <a:ext cx="4114800" cy="3086100"/>
          </a:xfrm>
        </p:spPr>
      </p:sp>
      <p:sp>
        <p:nvSpPr>
          <p:cNvPr id="3" name="备注占位符 2"/>
          <p:cNvSpPr>
            <a:spLocks noGrp="1"/>
          </p:cNvSpPr>
          <p:nvPr>
            <p:ph type="body" idx="1"/>
          </p:nvPr>
        </p:nvSpPr>
        <p:spPr/>
        <p:txBody>
          <a:bodyPr/>
          <a:lstStyle/>
          <a:p>
            <a:pPr eaLnBrk="1" hangingPunct="1"/>
            <a:endParaRPr lang="zh-CN" altLang="zh-CN" dirty="0" smtClean="0">
              <a:latin typeface="Arial" panose="020B0604020202020204" pitchFamily="34" charset="0"/>
            </a:endParaRPr>
          </a:p>
        </p:txBody>
      </p:sp>
      <p:sp>
        <p:nvSpPr>
          <p:cNvPr id="4" name="幻灯片编号占位符 3"/>
          <p:cNvSpPr>
            <a:spLocks noGrp="1"/>
          </p:cNvSpPr>
          <p:nvPr>
            <p:ph type="sldNum" sz="quarter" idx="10"/>
          </p:nvPr>
        </p:nvSpPr>
        <p:spPr/>
        <p:txBody>
          <a:bodyPr/>
          <a:lstStyle/>
          <a:p>
            <a:fld id="{82869989-EB00-4EE7-BCB5-25BDC5BB29F8}" type="slidenum">
              <a:rPr lang="en-US" altLang="zh-CN" smtClean="0"/>
              <a:pPr/>
              <a:t>24</a:t>
            </a:fld>
            <a:endParaRPr lang="zh-CN"/>
          </a:p>
        </p:txBody>
      </p:sp>
    </p:spTree>
    <p:extLst>
      <p:ext uri="{BB962C8B-B14F-4D97-AF65-F5344CB8AC3E}">
        <p14:creationId xmlns:p14="http://schemas.microsoft.com/office/powerpoint/2010/main" val="1583726559"/>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71600" y="1143000"/>
            <a:ext cx="4114800" cy="3086100"/>
          </a:xfrm>
        </p:spPr>
      </p:sp>
      <p:sp>
        <p:nvSpPr>
          <p:cNvPr id="3" name="备注占位符 2"/>
          <p:cNvSpPr>
            <a:spLocks noGrp="1"/>
          </p:cNvSpPr>
          <p:nvPr>
            <p:ph type="body" idx="1"/>
          </p:nvPr>
        </p:nvSpPr>
        <p:spPr/>
        <p:txBody>
          <a:bodyPr/>
          <a:lstStyle/>
          <a:p>
            <a:pPr eaLnBrk="1" hangingPunct="1"/>
            <a:endParaRPr lang="zh-CN" altLang="zh-CN" dirty="0" smtClean="0">
              <a:latin typeface="Arial" panose="020B0604020202020204" pitchFamily="34" charset="0"/>
            </a:endParaRPr>
          </a:p>
        </p:txBody>
      </p:sp>
      <p:sp>
        <p:nvSpPr>
          <p:cNvPr id="4" name="幻灯片编号占位符 3"/>
          <p:cNvSpPr>
            <a:spLocks noGrp="1"/>
          </p:cNvSpPr>
          <p:nvPr>
            <p:ph type="sldNum" sz="quarter" idx="10"/>
          </p:nvPr>
        </p:nvSpPr>
        <p:spPr/>
        <p:txBody>
          <a:bodyPr/>
          <a:lstStyle/>
          <a:p>
            <a:fld id="{82869989-EB00-4EE7-BCB5-25BDC5BB29F8}" type="slidenum">
              <a:rPr lang="en-US" altLang="zh-CN" smtClean="0"/>
              <a:pPr/>
              <a:t>25</a:t>
            </a:fld>
            <a:endParaRPr lang="zh-CN"/>
          </a:p>
        </p:txBody>
      </p:sp>
    </p:spTree>
    <p:extLst>
      <p:ext uri="{BB962C8B-B14F-4D97-AF65-F5344CB8AC3E}">
        <p14:creationId xmlns:p14="http://schemas.microsoft.com/office/powerpoint/2010/main" val="3559911992"/>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71600" y="1143000"/>
            <a:ext cx="4114800" cy="3086100"/>
          </a:xfrm>
        </p:spPr>
      </p:sp>
      <p:sp>
        <p:nvSpPr>
          <p:cNvPr id="3" name="备注占位符 2"/>
          <p:cNvSpPr>
            <a:spLocks noGrp="1"/>
          </p:cNvSpPr>
          <p:nvPr>
            <p:ph type="body" idx="1"/>
          </p:nvPr>
        </p:nvSpPr>
        <p:spPr/>
        <p:txBody>
          <a:bodyPr/>
          <a:lstStyle/>
          <a:p>
            <a:pPr eaLnBrk="1" hangingPunct="1"/>
            <a:endParaRPr lang="zh-CN" altLang="zh-CN" dirty="0" smtClean="0">
              <a:latin typeface="Arial" panose="020B0604020202020204" pitchFamily="34" charset="0"/>
            </a:endParaRPr>
          </a:p>
        </p:txBody>
      </p:sp>
      <p:sp>
        <p:nvSpPr>
          <p:cNvPr id="4" name="幻灯片编号占位符 3"/>
          <p:cNvSpPr>
            <a:spLocks noGrp="1"/>
          </p:cNvSpPr>
          <p:nvPr>
            <p:ph type="sldNum" sz="quarter" idx="10"/>
          </p:nvPr>
        </p:nvSpPr>
        <p:spPr/>
        <p:txBody>
          <a:bodyPr/>
          <a:lstStyle/>
          <a:p>
            <a:fld id="{82869989-EB00-4EE7-BCB5-25BDC5BB29F8}" type="slidenum">
              <a:rPr lang="en-US" altLang="zh-CN" smtClean="0"/>
              <a:pPr/>
              <a:t>26</a:t>
            </a:fld>
            <a:endParaRPr lang="zh-CN"/>
          </a:p>
        </p:txBody>
      </p:sp>
    </p:spTree>
    <p:extLst>
      <p:ext uri="{BB962C8B-B14F-4D97-AF65-F5344CB8AC3E}">
        <p14:creationId xmlns:p14="http://schemas.microsoft.com/office/powerpoint/2010/main" val="3612716669"/>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71600" y="1143000"/>
            <a:ext cx="4114800" cy="3086100"/>
          </a:xfrm>
        </p:spPr>
      </p:sp>
      <p:sp>
        <p:nvSpPr>
          <p:cNvPr id="3" name="备注占位符 2"/>
          <p:cNvSpPr>
            <a:spLocks noGrp="1"/>
          </p:cNvSpPr>
          <p:nvPr>
            <p:ph type="body" idx="1"/>
          </p:nvPr>
        </p:nvSpPr>
        <p:spPr/>
        <p:txBody>
          <a:bodyPr/>
          <a:lstStyle/>
          <a:p>
            <a:pPr eaLnBrk="1" hangingPunct="1"/>
            <a:endParaRPr lang="zh-CN" altLang="zh-CN" dirty="0" smtClean="0">
              <a:latin typeface="Arial" panose="020B0604020202020204" pitchFamily="34" charset="0"/>
            </a:endParaRPr>
          </a:p>
        </p:txBody>
      </p:sp>
      <p:sp>
        <p:nvSpPr>
          <p:cNvPr id="4" name="幻灯片编号占位符 3"/>
          <p:cNvSpPr>
            <a:spLocks noGrp="1"/>
          </p:cNvSpPr>
          <p:nvPr>
            <p:ph type="sldNum" sz="quarter" idx="10"/>
          </p:nvPr>
        </p:nvSpPr>
        <p:spPr/>
        <p:txBody>
          <a:bodyPr/>
          <a:lstStyle/>
          <a:p>
            <a:fld id="{82869989-EB00-4EE7-BCB5-25BDC5BB29F8}" type="slidenum">
              <a:rPr lang="en-US" altLang="zh-CN" smtClean="0"/>
              <a:pPr/>
              <a:t>27</a:t>
            </a:fld>
            <a:endParaRPr lang="zh-CN"/>
          </a:p>
        </p:txBody>
      </p:sp>
    </p:spTree>
    <p:extLst>
      <p:ext uri="{BB962C8B-B14F-4D97-AF65-F5344CB8AC3E}">
        <p14:creationId xmlns:p14="http://schemas.microsoft.com/office/powerpoint/2010/main" val="3249386655"/>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71600" y="1143000"/>
            <a:ext cx="4114800" cy="3086100"/>
          </a:xfrm>
        </p:spPr>
      </p:sp>
      <p:sp>
        <p:nvSpPr>
          <p:cNvPr id="3" name="备注占位符 2"/>
          <p:cNvSpPr>
            <a:spLocks noGrp="1"/>
          </p:cNvSpPr>
          <p:nvPr>
            <p:ph type="body" idx="1"/>
          </p:nvPr>
        </p:nvSpPr>
        <p:spPr/>
        <p:txBody>
          <a:bodyPr/>
          <a:lstStyle/>
          <a:p>
            <a:pPr eaLnBrk="1" hangingPunct="1"/>
            <a:endParaRPr lang="zh-CN" altLang="zh-CN" dirty="0" smtClean="0">
              <a:latin typeface="Arial" panose="020B0604020202020204" pitchFamily="34" charset="0"/>
            </a:endParaRPr>
          </a:p>
        </p:txBody>
      </p:sp>
      <p:sp>
        <p:nvSpPr>
          <p:cNvPr id="4" name="幻灯片编号占位符 3"/>
          <p:cNvSpPr>
            <a:spLocks noGrp="1"/>
          </p:cNvSpPr>
          <p:nvPr>
            <p:ph type="sldNum" sz="quarter" idx="10"/>
          </p:nvPr>
        </p:nvSpPr>
        <p:spPr/>
        <p:txBody>
          <a:bodyPr/>
          <a:lstStyle/>
          <a:p>
            <a:fld id="{82869989-EB00-4EE7-BCB5-25BDC5BB29F8}" type="slidenum">
              <a:rPr lang="en-US" altLang="zh-CN" smtClean="0"/>
              <a:pPr/>
              <a:t>28</a:t>
            </a:fld>
            <a:endParaRPr lang="zh-CN"/>
          </a:p>
        </p:txBody>
      </p:sp>
    </p:spTree>
    <p:extLst>
      <p:ext uri="{BB962C8B-B14F-4D97-AF65-F5344CB8AC3E}">
        <p14:creationId xmlns:p14="http://schemas.microsoft.com/office/powerpoint/2010/main" val="4121465075"/>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71600" y="1143000"/>
            <a:ext cx="4114800" cy="3086100"/>
          </a:xfrm>
        </p:spPr>
      </p:sp>
      <p:sp>
        <p:nvSpPr>
          <p:cNvPr id="3" name="备注占位符 2"/>
          <p:cNvSpPr>
            <a:spLocks noGrp="1"/>
          </p:cNvSpPr>
          <p:nvPr>
            <p:ph type="body" idx="1"/>
          </p:nvPr>
        </p:nvSpPr>
        <p:spPr/>
        <p:txBody>
          <a:bodyPr/>
          <a:lstStyle/>
          <a:p>
            <a:pPr eaLnBrk="1" hangingPunct="1"/>
            <a:endParaRPr lang="zh-CN" altLang="zh-CN" dirty="0" smtClean="0">
              <a:latin typeface="Arial" panose="020B0604020202020204" pitchFamily="34" charset="0"/>
            </a:endParaRPr>
          </a:p>
        </p:txBody>
      </p:sp>
      <p:sp>
        <p:nvSpPr>
          <p:cNvPr id="4" name="幻灯片编号占位符 3"/>
          <p:cNvSpPr>
            <a:spLocks noGrp="1"/>
          </p:cNvSpPr>
          <p:nvPr>
            <p:ph type="sldNum" sz="quarter" idx="10"/>
          </p:nvPr>
        </p:nvSpPr>
        <p:spPr/>
        <p:txBody>
          <a:bodyPr/>
          <a:lstStyle/>
          <a:p>
            <a:fld id="{82869989-EB00-4EE7-BCB5-25BDC5BB29F8}" type="slidenum">
              <a:rPr lang="en-US" altLang="zh-CN" smtClean="0"/>
              <a:pPr/>
              <a:t>29</a:t>
            </a:fld>
            <a:endParaRPr lang="zh-CN"/>
          </a:p>
        </p:txBody>
      </p:sp>
    </p:spTree>
    <p:extLst>
      <p:ext uri="{BB962C8B-B14F-4D97-AF65-F5344CB8AC3E}">
        <p14:creationId xmlns:p14="http://schemas.microsoft.com/office/powerpoint/2010/main" val="3694042182"/>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71600" y="1143000"/>
            <a:ext cx="4114800" cy="3086100"/>
          </a:xfrm>
        </p:spPr>
      </p:sp>
      <p:sp>
        <p:nvSpPr>
          <p:cNvPr id="3" name="备注占位符 2"/>
          <p:cNvSpPr>
            <a:spLocks noGrp="1"/>
          </p:cNvSpPr>
          <p:nvPr>
            <p:ph type="body" idx="1"/>
          </p:nvPr>
        </p:nvSpPr>
        <p:spPr/>
        <p:txBody>
          <a:bodyPr/>
          <a:lstStyle/>
          <a:p>
            <a:pPr eaLnBrk="1" hangingPunct="1"/>
            <a:endParaRPr lang="zh-CN" altLang="zh-CN" dirty="0" smtClean="0">
              <a:latin typeface="Arial" panose="020B0604020202020204" pitchFamily="34" charset="0"/>
            </a:endParaRPr>
          </a:p>
        </p:txBody>
      </p:sp>
      <p:sp>
        <p:nvSpPr>
          <p:cNvPr id="4" name="幻灯片编号占位符 3"/>
          <p:cNvSpPr>
            <a:spLocks noGrp="1"/>
          </p:cNvSpPr>
          <p:nvPr>
            <p:ph type="sldNum" sz="quarter" idx="10"/>
          </p:nvPr>
        </p:nvSpPr>
        <p:spPr/>
        <p:txBody>
          <a:bodyPr/>
          <a:lstStyle/>
          <a:p>
            <a:fld id="{82869989-EB00-4EE7-BCB5-25BDC5BB29F8}" type="slidenum">
              <a:rPr lang="en-US" altLang="zh-CN" smtClean="0"/>
              <a:pPr/>
              <a:t>30</a:t>
            </a:fld>
            <a:endParaRPr lang="zh-CN"/>
          </a:p>
        </p:txBody>
      </p:sp>
    </p:spTree>
    <p:extLst>
      <p:ext uri="{BB962C8B-B14F-4D97-AF65-F5344CB8AC3E}">
        <p14:creationId xmlns:p14="http://schemas.microsoft.com/office/powerpoint/2010/main" val="1802645114"/>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71600" y="1143000"/>
            <a:ext cx="4114800" cy="3086100"/>
          </a:xfrm>
        </p:spPr>
      </p:sp>
      <p:sp>
        <p:nvSpPr>
          <p:cNvPr id="3" name="备注占位符 2"/>
          <p:cNvSpPr>
            <a:spLocks noGrp="1"/>
          </p:cNvSpPr>
          <p:nvPr>
            <p:ph type="body" idx="1"/>
          </p:nvPr>
        </p:nvSpPr>
        <p:spPr/>
        <p:txBody>
          <a:bodyPr/>
          <a:lstStyle/>
          <a:p>
            <a:pPr eaLnBrk="1" hangingPunct="1"/>
            <a:endParaRPr lang="zh-CN" altLang="zh-CN" dirty="0" smtClean="0">
              <a:latin typeface="Arial" panose="020B0604020202020204" pitchFamily="34" charset="0"/>
            </a:endParaRPr>
          </a:p>
        </p:txBody>
      </p:sp>
      <p:sp>
        <p:nvSpPr>
          <p:cNvPr id="4" name="幻灯片编号占位符 3"/>
          <p:cNvSpPr>
            <a:spLocks noGrp="1"/>
          </p:cNvSpPr>
          <p:nvPr>
            <p:ph type="sldNum" sz="quarter" idx="10"/>
          </p:nvPr>
        </p:nvSpPr>
        <p:spPr/>
        <p:txBody>
          <a:bodyPr/>
          <a:lstStyle/>
          <a:p>
            <a:fld id="{82869989-EB00-4EE7-BCB5-25BDC5BB29F8}" type="slidenum">
              <a:rPr lang="en-US" altLang="zh-CN" smtClean="0"/>
              <a:pPr/>
              <a:t>31</a:t>
            </a:fld>
            <a:endParaRPr lang="zh-CN"/>
          </a:p>
        </p:txBody>
      </p:sp>
    </p:spTree>
    <p:extLst>
      <p:ext uri="{BB962C8B-B14F-4D97-AF65-F5344CB8AC3E}">
        <p14:creationId xmlns:p14="http://schemas.microsoft.com/office/powerpoint/2010/main" val="2480271366"/>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71600" y="1143000"/>
            <a:ext cx="4114800" cy="3086100"/>
          </a:xfrm>
        </p:spPr>
      </p:sp>
      <p:sp>
        <p:nvSpPr>
          <p:cNvPr id="3" name="备注占位符 2"/>
          <p:cNvSpPr>
            <a:spLocks noGrp="1"/>
          </p:cNvSpPr>
          <p:nvPr>
            <p:ph type="body" idx="1"/>
          </p:nvPr>
        </p:nvSpPr>
        <p:spPr/>
        <p:txBody>
          <a:bodyPr/>
          <a:lstStyle/>
          <a:p>
            <a:pPr eaLnBrk="1" hangingPunct="1"/>
            <a:endParaRPr lang="zh-CN" altLang="zh-CN" dirty="0" smtClean="0">
              <a:latin typeface="Arial" panose="020B0604020202020204" pitchFamily="34" charset="0"/>
            </a:endParaRPr>
          </a:p>
        </p:txBody>
      </p:sp>
      <p:sp>
        <p:nvSpPr>
          <p:cNvPr id="4" name="幻灯片编号占位符 3"/>
          <p:cNvSpPr>
            <a:spLocks noGrp="1"/>
          </p:cNvSpPr>
          <p:nvPr>
            <p:ph type="sldNum" sz="quarter" idx="10"/>
          </p:nvPr>
        </p:nvSpPr>
        <p:spPr/>
        <p:txBody>
          <a:bodyPr/>
          <a:lstStyle/>
          <a:p>
            <a:fld id="{82869989-EB00-4EE7-BCB5-25BDC5BB29F8}" type="slidenum">
              <a:rPr lang="en-US" altLang="zh-CN" smtClean="0"/>
              <a:pPr/>
              <a:t>32</a:t>
            </a:fld>
            <a:endParaRPr lang="zh-CN"/>
          </a:p>
        </p:txBody>
      </p:sp>
    </p:spTree>
    <p:extLst>
      <p:ext uri="{BB962C8B-B14F-4D97-AF65-F5344CB8AC3E}">
        <p14:creationId xmlns:p14="http://schemas.microsoft.com/office/powerpoint/2010/main" val="3863733473"/>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71600" y="1143000"/>
            <a:ext cx="4114800" cy="3086100"/>
          </a:xfrm>
        </p:spPr>
      </p:sp>
      <p:sp>
        <p:nvSpPr>
          <p:cNvPr id="3" name="备注占位符 2"/>
          <p:cNvSpPr>
            <a:spLocks noGrp="1"/>
          </p:cNvSpPr>
          <p:nvPr>
            <p:ph type="body" idx="1"/>
          </p:nvPr>
        </p:nvSpPr>
        <p:spPr/>
        <p:txBody>
          <a:bodyPr/>
          <a:lstStyle/>
          <a:p>
            <a:pPr eaLnBrk="1" hangingPunct="1"/>
            <a:endParaRPr lang="zh-CN" altLang="zh-CN" dirty="0" smtClean="0">
              <a:latin typeface="Arial" panose="020B0604020202020204" pitchFamily="34" charset="0"/>
            </a:endParaRPr>
          </a:p>
        </p:txBody>
      </p:sp>
      <p:sp>
        <p:nvSpPr>
          <p:cNvPr id="4" name="幻灯片编号占位符 3"/>
          <p:cNvSpPr>
            <a:spLocks noGrp="1"/>
          </p:cNvSpPr>
          <p:nvPr>
            <p:ph type="sldNum" sz="quarter" idx="10"/>
          </p:nvPr>
        </p:nvSpPr>
        <p:spPr/>
        <p:txBody>
          <a:bodyPr/>
          <a:lstStyle/>
          <a:p>
            <a:fld id="{82869989-EB00-4EE7-BCB5-25BDC5BB29F8}" type="slidenum">
              <a:rPr lang="en-US" altLang="zh-CN" smtClean="0"/>
              <a:pPr/>
              <a:t>33</a:t>
            </a:fld>
            <a:endParaRPr lang="zh-CN"/>
          </a:p>
        </p:txBody>
      </p:sp>
    </p:spTree>
    <p:extLst>
      <p:ext uri="{BB962C8B-B14F-4D97-AF65-F5344CB8AC3E}">
        <p14:creationId xmlns:p14="http://schemas.microsoft.com/office/powerpoint/2010/main" val="3897143422"/>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71600" y="1143000"/>
            <a:ext cx="4114800" cy="3086100"/>
          </a:xfrm>
        </p:spPr>
      </p:sp>
      <p:sp>
        <p:nvSpPr>
          <p:cNvPr id="3" name="备注占位符 2"/>
          <p:cNvSpPr>
            <a:spLocks noGrp="1"/>
          </p:cNvSpPr>
          <p:nvPr>
            <p:ph type="body" idx="1"/>
          </p:nvPr>
        </p:nvSpPr>
        <p:spPr/>
        <p:txBody>
          <a:bodyPr/>
          <a:lstStyle/>
          <a:p>
            <a:pPr eaLnBrk="1" hangingPunct="1"/>
            <a:r>
              <a:rPr lang="en-US" altLang="zh-CN" dirty="0" smtClean="0">
                <a:latin typeface="Arial" panose="020B0604020202020204" pitchFamily="34" charset="0"/>
              </a:rPr>
              <a:t>1929</a:t>
            </a:r>
            <a:r>
              <a:rPr lang="zh-CN" altLang="en-US" dirty="0" smtClean="0">
                <a:latin typeface="Arial" panose="020B0604020202020204" pitchFamily="34" charset="0"/>
              </a:rPr>
              <a:t>年</a:t>
            </a:r>
            <a:r>
              <a:rPr lang="en-US" altLang="zh-CN" dirty="0" smtClean="0">
                <a:latin typeface="Arial" panose="020B0604020202020204" pitchFamily="34" charset="0"/>
              </a:rPr>
              <a:t>11</a:t>
            </a:r>
            <a:r>
              <a:rPr lang="zh-CN" altLang="en-US" dirty="0" smtClean="0">
                <a:latin typeface="Arial" panose="020B0604020202020204" pitchFamily="34" charset="0"/>
              </a:rPr>
              <a:t>月</a:t>
            </a:r>
            <a:r>
              <a:rPr lang="en-US" altLang="zh-CN" dirty="0" smtClean="0">
                <a:latin typeface="Arial" panose="020B0604020202020204" pitchFamily="34" charset="0"/>
              </a:rPr>
              <a:t>452</a:t>
            </a:r>
            <a:r>
              <a:rPr lang="zh-CN" altLang="en-US" dirty="0" smtClean="0">
                <a:latin typeface="Arial" panose="020B0604020202020204" pitchFamily="34" charset="0"/>
              </a:rPr>
              <a:t>，</a:t>
            </a:r>
            <a:r>
              <a:rPr lang="en-US" altLang="zh-CN" dirty="0" smtClean="0">
                <a:latin typeface="Arial" panose="020B0604020202020204" pitchFamily="34" charset="0"/>
              </a:rPr>
              <a:t>1932</a:t>
            </a:r>
            <a:r>
              <a:rPr lang="zh-CN" altLang="en-US" dirty="0" smtClean="0">
                <a:latin typeface="Arial" panose="020B0604020202020204" pitchFamily="34" charset="0"/>
              </a:rPr>
              <a:t>年</a:t>
            </a:r>
            <a:r>
              <a:rPr lang="en-US" altLang="zh-CN" dirty="0" smtClean="0">
                <a:latin typeface="Arial" panose="020B0604020202020204" pitchFamily="34" charset="0"/>
              </a:rPr>
              <a:t>1</a:t>
            </a:r>
            <a:r>
              <a:rPr lang="zh-CN" altLang="en-US" dirty="0" smtClean="0">
                <a:latin typeface="Arial" panose="020B0604020202020204" pitchFamily="34" charset="0"/>
              </a:rPr>
              <a:t>月</a:t>
            </a:r>
            <a:r>
              <a:rPr lang="en-US" altLang="zh-CN" dirty="0" smtClean="0">
                <a:latin typeface="Arial" panose="020B0604020202020204" pitchFamily="34" charset="0"/>
              </a:rPr>
              <a:t>64</a:t>
            </a:r>
            <a:r>
              <a:rPr lang="zh-CN" altLang="en-US" dirty="0" smtClean="0">
                <a:latin typeface="Arial" panose="020B0604020202020204" pitchFamily="34" charset="0"/>
              </a:rPr>
              <a:t>。</a:t>
            </a:r>
          </a:p>
        </p:txBody>
      </p:sp>
      <p:sp>
        <p:nvSpPr>
          <p:cNvPr id="4" name="幻灯片编号占位符 3"/>
          <p:cNvSpPr>
            <a:spLocks noGrp="1"/>
          </p:cNvSpPr>
          <p:nvPr>
            <p:ph type="sldNum" sz="quarter" idx="10"/>
          </p:nvPr>
        </p:nvSpPr>
        <p:spPr/>
        <p:txBody>
          <a:bodyPr/>
          <a:lstStyle/>
          <a:p>
            <a:fld id="{82869989-EB00-4EE7-BCB5-25BDC5BB29F8}" type="slidenum">
              <a:rPr lang="en-US" altLang="zh-CN" smtClean="0"/>
              <a:pPr/>
              <a:t>34</a:t>
            </a:fld>
            <a:endParaRPr lang="zh-CN"/>
          </a:p>
        </p:txBody>
      </p:sp>
    </p:spTree>
    <p:extLst>
      <p:ext uri="{BB962C8B-B14F-4D97-AF65-F5344CB8AC3E}">
        <p14:creationId xmlns:p14="http://schemas.microsoft.com/office/powerpoint/2010/main" val="215031365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71600" y="1143000"/>
            <a:ext cx="4114800" cy="3086100"/>
          </a:xfrm>
        </p:spPr>
      </p:sp>
      <p:sp>
        <p:nvSpPr>
          <p:cNvPr id="3" name="备注占位符 2"/>
          <p:cNvSpPr>
            <a:spLocks noGrp="1"/>
          </p:cNvSpPr>
          <p:nvPr>
            <p:ph type="body" idx="1"/>
          </p:nvPr>
        </p:nvSpPr>
        <p:spPr/>
        <p:txBody>
          <a:bodyPr/>
          <a:lstStyle/>
          <a:p>
            <a:pPr eaLnBrk="1" hangingPunct="1"/>
            <a:endParaRPr lang="zh-CN" altLang="zh-CN" dirty="0" smtClean="0">
              <a:latin typeface="Arial" panose="020B0604020202020204" pitchFamily="34" charset="0"/>
            </a:endParaRPr>
          </a:p>
        </p:txBody>
      </p:sp>
      <p:sp>
        <p:nvSpPr>
          <p:cNvPr id="4" name="幻灯片编号占位符 3"/>
          <p:cNvSpPr>
            <a:spLocks noGrp="1"/>
          </p:cNvSpPr>
          <p:nvPr>
            <p:ph type="sldNum" sz="quarter" idx="10"/>
          </p:nvPr>
        </p:nvSpPr>
        <p:spPr/>
        <p:txBody>
          <a:bodyPr/>
          <a:lstStyle/>
          <a:p>
            <a:fld id="{82869989-EB00-4EE7-BCB5-25BDC5BB29F8}" type="slidenum">
              <a:rPr lang="en-US" altLang="zh-CN" smtClean="0"/>
              <a:pPr/>
              <a:t>36</a:t>
            </a:fld>
            <a:endParaRPr lang="zh-CN"/>
          </a:p>
        </p:txBody>
      </p:sp>
    </p:spTree>
    <p:extLst>
      <p:ext uri="{BB962C8B-B14F-4D97-AF65-F5344CB8AC3E}">
        <p14:creationId xmlns:p14="http://schemas.microsoft.com/office/powerpoint/2010/main" val="2565024246"/>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71600" y="1143000"/>
            <a:ext cx="4114800" cy="3086100"/>
          </a:xfrm>
        </p:spPr>
      </p:sp>
      <p:sp>
        <p:nvSpPr>
          <p:cNvPr id="3" name="备注占位符 2"/>
          <p:cNvSpPr>
            <a:spLocks noGrp="1"/>
          </p:cNvSpPr>
          <p:nvPr>
            <p:ph type="body" idx="1"/>
          </p:nvPr>
        </p:nvSpPr>
        <p:spPr/>
        <p:txBody>
          <a:bodyPr/>
          <a:lstStyle/>
          <a:p>
            <a:pPr eaLnBrk="1" hangingPunct="1"/>
            <a:endParaRPr lang="zh-CN" altLang="zh-CN" dirty="0" smtClean="0">
              <a:latin typeface="Arial" panose="020B0604020202020204" pitchFamily="34" charset="0"/>
            </a:endParaRPr>
          </a:p>
        </p:txBody>
      </p:sp>
      <p:sp>
        <p:nvSpPr>
          <p:cNvPr id="4" name="幻灯片编号占位符 3"/>
          <p:cNvSpPr>
            <a:spLocks noGrp="1"/>
          </p:cNvSpPr>
          <p:nvPr>
            <p:ph type="sldNum" sz="quarter" idx="10"/>
          </p:nvPr>
        </p:nvSpPr>
        <p:spPr/>
        <p:txBody>
          <a:bodyPr/>
          <a:lstStyle/>
          <a:p>
            <a:fld id="{82869989-EB00-4EE7-BCB5-25BDC5BB29F8}" type="slidenum">
              <a:rPr lang="en-US" altLang="zh-CN" smtClean="0"/>
              <a:pPr/>
              <a:t>37</a:t>
            </a:fld>
            <a:endParaRPr lang="zh-CN"/>
          </a:p>
        </p:txBody>
      </p:sp>
    </p:spTree>
    <p:extLst>
      <p:ext uri="{BB962C8B-B14F-4D97-AF65-F5344CB8AC3E}">
        <p14:creationId xmlns:p14="http://schemas.microsoft.com/office/powerpoint/2010/main" val="3619120265"/>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71600" y="1143000"/>
            <a:ext cx="4114800" cy="3086100"/>
          </a:xfrm>
        </p:spPr>
      </p:sp>
      <p:sp>
        <p:nvSpPr>
          <p:cNvPr id="3" name="备注占位符 2"/>
          <p:cNvSpPr>
            <a:spLocks noGrp="1"/>
          </p:cNvSpPr>
          <p:nvPr>
            <p:ph type="body" idx="1"/>
          </p:nvPr>
        </p:nvSpPr>
        <p:spPr/>
        <p:txBody>
          <a:bodyPr/>
          <a:lstStyle/>
          <a:p>
            <a:pPr eaLnBrk="1" hangingPunct="1"/>
            <a:endParaRPr lang="zh-CN" altLang="zh-CN" dirty="0" smtClean="0">
              <a:latin typeface="Arial" panose="020B0604020202020204" pitchFamily="34" charset="0"/>
            </a:endParaRPr>
          </a:p>
        </p:txBody>
      </p:sp>
      <p:sp>
        <p:nvSpPr>
          <p:cNvPr id="4" name="幻灯片编号占位符 3"/>
          <p:cNvSpPr>
            <a:spLocks noGrp="1"/>
          </p:cNvSpPr>
          <p:nvPr>
            <p:ph type="sldNum" sz="quarter" idx="10"/>
          </p:nvPr>
        </p:nvSpPr>
        <p:spPr/>
        <p:txBody>
          <a:bodyPr/>
          <a:lstStyle/>
          <a:p>
            <a:fld id="{82869989-EB00-4EE7-BCB5-25BDC5BB29F8}" type="slidenum">
              <a:rPr lang="en-US" altLang="zh-CN" smtClean="0"/>
              <a:pPr/>
              <a:t>38</a:t>
            </a:fld>
            <a:endParaRPr lang="zh-CN"/>
          </a:p>
        </p:txBody>
      </p:sp>
    </p:spTree>
    <p:extLst>
      <p:ext uri="{BB962C8B-B14F-4D97-AF65-F5344CB8AC3E}">
        <p14:creationId xmlns:p14="http://schemas.microsoft.com/office/powerpoint/2010/main" val="3363314438"/>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71600" y="1143000"/>
            <a:ext cx="4114800" cy="3086100"/>
          </a:xfrm>
        </p:spPr>
      </p:sp>
      <p:sp>
        <p:nvSpPr>
          <p:cNvPr id="3" name="备注占位符 2"/>
          <p:cNvSpPr>
            <a:spLocks noGrp="1"/>
          </p:cNvSpPr>
          <p:nvPr>
            <p:ph type="body" idx="1"/>
          </p:nvPr>
        </p:nvSpPr>
        <p:spPr/>
        <p:txBody>
          <a:bodyPr/>
          <a:lstStyle/>
          <a:p>
            <a:pPr eaLnBrk="1" hangingPunct="1"/>
            <a:endParaRPr lang="zh-CN" altLang="zh-CN" dirty="0" smtClean="0">
              <a:latin typeface="Arial" panose="020B0604020202020204" pitchFamily="34" charset="0"/>
            </a:endParaRPr>
          </a:p>
        </p:txBody>
      </p:sp>
      <p:sp>
        <p:nvSpPr>
          <p:cNvPr id="4" name="幻灯片编号占位符 3"/>
          <p:cNvSpPr>
            <a:spLocks noGrp="1"/>
          </p:cNvSpPr>
          <p:nvPr>
            <p:ph type="sldNum" sz="quarter" idx="10"/>
          </p:nvPr>
        </p:nvSpPr>
        <p:spPr/>
        <p:txBody>
          <a:bodyPr/>
          <a:lstStyle/>
          <a:p>
            <a:fld id="{82869989-EB00-4EE7-BCB5-25BDC5BB29F8}" type="slidenum">
              <a:rPr lang="en-US" altLang="zh-CN" smtClean="0"/>
              <a:pPr/>
              <a:t>39</a:t>
            </a:fld>
            <a:endParaRPr lang="zh-CN"/>
          </a:p>
        </p:txBody>
      </p:sp>
    </p:spTree>
    <p:extLst>
      <p:ext uri="{BB962C8B-B14F-4D97-AF65-F5344CB8AC3E}">
        <p14:creationId xmlns:p14="http://schemas.microsoft.com/office/powerpoint/2010/main" val="251390712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71600" y="1143000"/>
            <a:ext cx="4114800" cy="3086100"/>
          </a:xfrm>
        </p:spPr>
      </p:sp>
      <p:sp>
        <p:nvSpPr>
          <p:cNvPr id="3" name="备注占位符 2"/>
          <p:cNvSpPr>
            <a:spLocks noGrp="1"/>
          </p:cNvSpPr>
          <p:nvPr>
            <p:ph type="body" idx="1"/>
          </p:nvPr>
        </p:nvSpPr>
        <p:spPr/>
        <p:txBody>
          <a:bodyPr/>
          <a:lstStyle/>
          <a:p>
            <a:pPr eaLnBrk="1" hangingPunct="1"/>
            <a:endParaRPr lang="zh-CN" altLang="zh-CN" dirty="0" smtClean="0">
              <a:latin typeface="Arial" panose="020B0604020202020204" pitchFamily="34" charset="0"/>
            </a:endParaRPr>
          </a:p>
        </p:txBody>
      </p:sp>
      <p:sp>
        <p:nvSpPr>
          <p:cNvPr id="4" name="幻灯片编号占位符 3"/>
          <p:cNvSpPr>
            <a:spLocks noGrp="1"/>
          </p:cNvSpPr>
          <p:nvPr>
            <p:ph type="sldNum" sz="quarter" idx="10"/>
          </p:nvPr>
        </p:nvSpPr>
        <p:spPr/>
        <p:txBody>
          <a:bodyPr/>
          <a:lstStyle/>
          <a:p>
            <a:fld id="{82869989-EB00-4EE7-BCB5-25BDC5BB29F8}" type="slidenum">
              <a:rPr lang="en-US" altLang="zh-CN" smtClean="0"/>
              <a:pPr/>
              <a:t>40</a:t>
            </a:fld>
            <a:endParaRPr lang="zh-CN"/>
          </a:p>
        </p:txBody>
      </p:sp>
    </p:spTree>
    <p:extLst>
      <p:ext uri="{BB962C8B-B14F-4D97-AF65-F5344CB8AC3E}">
        <p14:creationId xmlns:p14="http://schemas.microsoft.com/office/powerpoint/2010/main" val="48435018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71600" y="1143000"/>
            <a:ext cx="4114800" cy="3086100"/>
          </a:xfrm>
        </p:spPr>
      </p:sp>
      <p:sp>
        <p:nvSpPr>
          <p:cNvPr id="3" name="备注占位符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zh-CN" altLang="en-US" dirty="0" smtClean="0">
                <a:latin typeface="Arial" panose="020B0604020202020204" pitchFamily="34" charset="0"/>
              </a:rPr>
              <a:t>美元金币百万，</a:t>
            </a:r>
            <a:r>
              <a:rPr lang="en-US" altLang="zh-CN" dirty="0" smtClean="0">
                <a:latin typeface="Arial" panose="020B0604020202020204" pitchFamily="34" charset="0"/>
              </a:rPr>
              <a:t>1929</a:t>
            </a:r>
            <a:r>
              <a:rPr lang="zh-CN" altLang="en-US" dirty="0" smtClean="0">
                <a:latin typeface="Arial" panose="020B0604020202020204" pitchFamily="34" charset="0"/>
              </a:rPr>
              <a:t>年近</a:t>
            </a:r>
            <a:r>
              <a:rPr lang="en-US" altLang="zh-CN" dirty="0" smtClean="0">
                <a:latin typeface="Arial" panose="020B0604020202020204" pitchFamily="34" charset="0"/>
              </a:rPr>
              <a:t>29</a:t>
            </a:r>
            <a:r>
              <a:rPr lang="zh-CN" altLang="en-US" dirty="0" smtClean="0">
                <a:latin typeface="Arial" panose="020B0604020202020204" pitchFamily="34" charset="0"/>
              </a:rPr>
              <a:t>亿，</a:t>
            </a:r>
            <a:r>
              <a:rPr lang="en-US" altLang="zh-CN" dirty="0" smtClean="0">
                <a:latin typeface="Arial" panose="020B0604020202020204" pitchFamily="34" charset="0"/>
              </a:rPr>
              <a:t>33</a:t>
            </a:r>
            <a:r>
              <a:rPr lang="zh-CN" altLang="en-US" dirty="0" smtClean="0">
                <a:latin typeface="Arial" panose="020B0604020202020204" pitchFamily="34" charset="0"/>
              </a:rPr>
              <a:t>年不足</a:t>
            </a:r>
            <a:r>
              <a:rPr lang="en-US" altLang="zh-CN" dirty="0" smtClean="0">
                <a:latin typeface="Arial" panose="020B0604020202020204" pitchFamily="34" charset="0"/>
              </a:rPr>
              <a:t>10</a:t>
            </a:r>
            <a:r>
              <a:rPr lang="zh-CN" altLang="en-US" dirty="0" smtClean="0">
                <a:latin typeface="Arial" panose="020B0604020202020204" pitchFamily="34" charset="0"/>
              </a:rPr>
              <a:t>亿</a:t>
            </a:r>
          </a:p>
          <a:p>
            <a:pPr eaLnBrk="1" hangingPunct="1"/>
            <a:endParaRPr lang="zh-CN" altLang="zh-CN" dirty="0" smtClean="0">
              <a:latin typeface="Arial" panose="020B0604020202020204" pitchFamily="34" charset="0"/>
            </a:endParaRPr>
          </a:p>
        </p:txBody>
      </p:sp>
      <p:sp>
        <p:nvSpPr>
          <p:cNvPr id="4" name="幻灯片编号占位符 3"/>
          <p:cNvSpPr>
            <a:spLocks noGrp="1"/>
          </p:cNvSpPr>
          <p:nvPr>
            <p:ph type="sldNum" sz="quarter" idx="10"/>
          </p:nvPr>
        </p:nvSpPr>
        <p:spPr/>
        <p:txBody>
          <a:bodyPr/>
          <a:lstStyle/>
          <a:p>
            <a:fld id="{82869989-EB00-4EE7-BCB5-25BDC5BB29F8}" type="slidenum">
              <a:rPr lang="en-US" altLang="zh-CN" smtClean="0"/>
              <a:pPr/>
              <a:t>41</a:t>
            </a:fld>
            <a:endParaRPr lang="zh-CN"/>
          </a:p>
        </p:txBody>
      </p:sp>
    </p:spTree>
    <p:extLst>
      <p:ext uri="{BB962C8B-B14F-4D97-AF65-F5344CB8AC3E}">
        <p14:creationId xmlns:p14="http://schemas.microsoft.com/office/powerpoint/2010/main" val="3721921612"/>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71600" y="1143000"/>
            <a:ext cx="4114800" cy="3086100"/>
          </a:xfrm>
        </p:spPr>
      </p:sp>
      <p:sp>
        <p:nvSpPr>
          <p:cNvPr id="3" name="备注占位符 2"/>
          <p:cNvSpPr>
            <a:spLocks noGrp="1"/>
          </p:cNvSpPr>
          <p:nvPr>
            <p:ph type="body" idx="1"/>
          </p:nvPr>
        </p:nvSpPr>
        <p:spPr/>
        <p:txBody>
          <a:bodyPr/>
          <a:lstStyle/>
          <a:p>
            <a:pPr eaLnBrk="1" hangingPunct="1"/>
            <a:r>
              <a:rPr lang="zh-CN" altLang="en-US" dirty="0" smtClean="0">
                <a:latin typeface="Arial" panose="020B0604020202020204" pitchFamily="34" charset="0"/>
              </a:rPr>
              <a:t>中国主要出口上海、苏杭的纺织品（桌布）、佛山的瓷器等</a:t>
            </a:r>
          </a:p>
          <a:p>
            <a:pPr eaLnBrk="1" hangingPunct="1"/>
            <a:r>
              <a:rPr lang="zh-CN" altLang="en-US" dirty="0" smtClean="0">
                <a:latin typeface="Arial" panose="020B0604020202020204" pitchFamily="34" charset="0"/>
              </a:rPr>
              <a:t>荷属印尼群岛</a:t>
            </a:r>
          </a:p>
        </p:txBody>
      </p:sp>
      <p:sp>
        <p:nvSpPr>
          <p:cNvPr id="4" name="幻灯片编号占位符 3"/>
          <p:cNvSpPr>
            <a:spLocks noGrp="1"/>
          </p:cNvSpPr>
          <p:nvPr>
            <p:ph type="sldNum" sz="quarter" idx="10"/>
          </p:nvPr>
        </p:nvSpPr>
        <p:spPr/>
        <p:txBody>
          <a:bodyPr/>
          <a:lstStyle/>
          <a:p>
            <a:fld id="{82869989-EB00-4EE7-BCB5-25BDC5BB29F8}" type="slidenum">
              <a:rPr lang="en-US" altLang="zh-CN" smtClean="0"/>
              <a:pPr/>
              <a:t>42</a:t>
            </a:fld>
            <a:endParaRPr lang="zh-CN"/>
          </a:p>
        </p:txBody>
      </p:sp>
    </p:spTree>
    <p:extLst>
      <p:ext uri="{BB962C8B-B14F-4D97-AF65-F5344CB8AC3E}">
        <p14:creationId xmlns:p14="http://schemas.microsoft.com/office/powerpoint/2010/main" val="3034178772"/>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71600" y="1143000"/>
            <a:ext cx="4114800" cy="3086100"/>
          </a:xfrm>
        </p:spPr>
      </p:sp>
      <p:sp>
        <p:nvSpPr>
          <p:cNvPr id="3" name="备注占位符 2"/>
          <p:cNvSpPr>
            <a:spLocks noGrp="1"/>
          </p:cNvSpPr>
          <p:nvPr>
            <p:ph type="body" idx="1"/>
          </p:nvPr>
        </p:nvSpPr>
        <p:spPr/>
        <p:txBody>
          <a:bodyPr/>
          <a:lstStyle/>
          <a:p>
            <a:pPr eaLnBrk="1" hangingPunct="1"/>
            <a:endParaRPr lang="zh-CN" altLang="zh-CN" dirty="0" smtClean="0">
              <a:latin typeface="Arial" panose="020B0604020202020204" pitchFamily="34" charset="0"/>
            </a:endParaRPr>
          </a:p>
        </p:txBody>
      </p:sp>
      <p:sp>
        <p:nvSpPr>
          <p:cNvPr id="4" name="幻灯片编号占位符 3"/>
          <p:cNvSpPr>
            <a:spLocks noGrp="1"/>
          </p:cNvSpPr>
          <p:nvPr>
            <p:ph type="sldNum" sz="quarter" idx="10"/>
          </p:nvPr>
        </p:nvSpPr>
        <p:spPr/>
        <p:txBody>
          <a:bodyPr/>
          <a:lstStyle/>
          <a:p>
            <a:fld id="{82869989-EB00-4EE7-BCB5-25BDC5BB29F8}" type="slidenum">
              <a:rPr lang="en-US" altLang="zh-CN" smtClean="0"/>
              <a:pPr/>
              <a:t>43</a:t>
            </a:fld>
            <a:endParaRPr lang="zh-CN"/>
          </a:p>
        </p:txBody>
      </p:sp>
    </p:spTree>
    <p:extLst>
      <p:ext uri="{BB962C8B-B14F-4D97-AF65-F5344CB8AC3E}">
        <p14:creationId xmlns:p14="http://schemas.microsoft.com/office/powerpoint/2010/main" val="4022642723"/>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71600" y="1143000"/>
            <a:ext cx="4114800" cy="3086100"/>
          </a:xfrm>
        </p:spPr>
      </p:sp>
      <p:sp>
        <p:nvSpPr>
          <p:cNvPr id="3" name="备注占位符 2"/>
          <p:cNvSpPr>
            <a:spLocks noGrp="1"/>
          </p:cNvSpPr>
          <p:nvPr>
            <p:ph type="body" idx="1"/>
          </p:nvPr>
        </p:nvSpPr>
        <p:spPr/>
        <p:txBody>
          <a:bodyPr/>
          <a:lstStyle/>
          <a:p>
            <a:pPr eaLnBrk="1" hangingPunct="1"/>
            <a:endParaRPr lang="zh-CN" altLang="zh-CN" dirty="0" smtClean="0">
              <a:latin typeface="Arial" panose="020B0604020202020204" pitchFamily="34" charset="0"/>
            </a:endParaRPr>
          </a:p>
        </p:txBody>
      </p:sp>
      <p:sp>
        <p:nvSpPr>
          <p:cNvPr id="4" name="幻灯片编号占位符 3"/>
          <p:cNvSpPr>
            <a:spLocks noGrp="1"/>
          </p:cNvSpPr>
          <p:nvPr>
            <p:ph type="sldNum" sz="quarter" idx="10"/>
          </p:nvPr>
        </p:nvSpPr>
        <p:spPr/>
        <p:txBody>
          <a:bodyPr/>
          <a:lstStyle/>
          <a:p>
            <a:fld id="{82869989-EB00-4EE7-BCB5-25BDC5BB29F8}" type="slidenum">
              <a:rPr lang="en-US" altLang="zh-CN" smtClean="0"/>
              <a:pPr/>
              <a:t>44</a:t>
            </a:fld>
            <a:endParaRPr lang="zh-CN"/>
          </a:p>
        </p:txBody>
      </p:sp>
    </p:spTree>
    <p:extLst>
      <p:ext uri="{BB962C8B-B14F-4D97-AF65-F5344CB8AC3E}">
        <p14:creationId xmlns:p14="http://schemas.microsoft.com/office/powerpoint/2010/main" val="3962762497"/>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71600" y="1143000"/>
            <a:ext cx="4114800" cy="3086100"/>
          </a:xfrm>
        </p:spPr>
      </p:sp>
      <p:sp>
        <p:nvSpPr>
          <p:cNvPr id="3" name="备注占位符 2"/>
          <p:cNvSpPr>
            <a:spLocks noGrp="1"/>
          </p:cNvSpPr>
          <p:nvPr>
            <p:ph type="body" idx="1"/>
          </p:nvPr>
        </p:nvSpPr>
        <p:spPr/>
        <p:txBody>
          <a:bodyPr/>
          <a:lstStyle/>
          <a:p>
            <a:pPr eaLnBrk="1" hangingPunct="1"/>
            <a:endParaRPr lang="zh-CN" altLang="zh-CN" dirty="0" smtClean="0">
              <a:latin typeface="Arial" panose="020B0604020202020204" pitchFamily="34" charset="0"/>
            </a:endParaRPr>
          </a:p>
        </p:txBody>
      </p:sp>
      <p:sp>
        <p:nvSpPr>
          <p:cNvPr id="4" name="幻灯片编号占位符 3"/>
          <p:cNvSpPr>
            <a:spLocks noGrp="1"/>
          </p:cNvSpPr>
          <p:nvPr>
            <p:ph type="sldNum" sz="quarter" idx="10"/>
          </p:nvPr>
        </p:nvSpPr>
        <p:spPr/>
        <p:txBody>
          <a:bodyPr/>
          <a:lstStyle/>
          <a:p>
            <a:fld id="{82869989-EB00-4EE7-BCB5-25BDC5BB29F8}" type="slidenum">
              <a:rPr lang="en-US" altLang="zh-CN" smtClean="0"/>
              <a:pPr/>
              <a:t>45</a:t>
            </a:fld>
            <a:endParaRPr lang="zh-CN"/>
          </a:p>
        </p:txBody>
      </p:sp>
    </p:spTree>
    <p:extLst>
      <p:ext uri="{BB962C8B-B14F-4D97-AF65-F5344CB8AC3E}">
        <p14:creationId xmlns:p14="http://schemas.microsoft.com/office/powerpoint/2010/main" val="394564678"/>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71600" y="1143000"/>
            <a:ext cx="4114800" cy="3086100"/>
          </a:xfrm>
        </p:spPr>
      </p:sp>
      <p:sp>
        <p:nvSpPr>
          <p:cNvPr id="3" name="备注占位符 2"/>
          <p:cNvSpPr>
            <a:spLocks noGrp="1"/>
          </p:cNvSpPr>
          <p:nvPr>
            <p:ph type="body" idx="1"/>
          </p:nvPr>
        </p:nvSpPr>
        <p:spPr/>
        <p:txBody>
          <a:bodyPr/>
          <a:lstStyle/>
          <a:p>
            <a:pPr eaLnBrk="1" hangingPunct="1"/>
            <a:endParaRPr lang="zh-CN" altLang="zh-CN" dirty="0" smtClean="0">
              <a:latin typeface="Arial" panose="020B0604020202020204" pitchFamily="34" charset="0"/>
            </a:endParaRPr>
          </a:p>
        </p:txBody>
      </p:sp>
      <p:sp>
        <p:nvSpPr>
          <p:cNvPr id="4" name="幻灯片编号占位符 3"/>
          <p:cNvSpPr>
            <a:spLocks noGrp="1"/>
          </p:cNvSpPr>
          <p:nvPr>
            <p:ph type="sldNum" sz="quarter" idx="10"/>
          </p:nvPr>
        </p:nvSpPr>
        <p:spPr/>
        <p:txBody>
          <a:bodyPr/>
          <a:lstStyle/>
          <a:p>
            <a:fld id="{82869989-EB00-4EE7-BCB5-25BDC5BB29F8}" type="slidenum">
              <a:rPr lang="en-US" altLang="zh-CN" smtClean="0"/>
              <a:pPr/>
              <a:t>46</a:t>
            </a:fld>
            <a:endParaRPr lang="zh-CN"/>
          </a:p>
        </p:txBody>
      </p:sp>
    </p:spTree>
    <p:extLst>
      <p:ext uri="{BB962C8B-B14F-4D97-AF65-F5344CB8AC3E}">
        <p14:creationId xmlns:p14="http://schemas.microsoft.com/office/powerpoint/2010/main" val="2979063446"/>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71600" y="1143000"/>
            <a:ext cx="4114800" cy="3086100"/>
          </a:xfrm>
        </p:spPr>
      </p:sp>
      <p:sp>
        <p:nvSpPr>
          <p:cNvPr id="3" name="备注占位符 2"/>
          <p:cNvSpPr>
            <a:spLocks noGrp="1"/>
          </p:cNvSpPr>
          <p:nvPr>
            <p:ph type="body" idx="1"/>
          </p:nvPr>
        </p:nvSpPr>
        <p:spPr/>
        <p:txBody>
          <a:bodyPr/>
          <a:lstStyle/>
          <a:p>
            <a:pPr eaLnBrk="1" hangingPunct="1"/>
            <a:endParaRPr lang="zh-CN" altLang="zh-CN" dirty="0" smtClean="0">
              <a:latin typeface="Arial" panose="020B0604020202020204" pitchFamily="34" charset="0"/>
            </a:endParaRPr>
          </a:p>
        </p:txBody>
      </p:sp>
      <p:sp>
        <p:nvSpPr>
          <p:cNvPr id="4" name="幻灯片编号占位符 3"/>
          <p:cNvSpPr>
            <a:spLocks noGrp="1"/>
          </p:cNvSpPr>
          <p:nvPr>
            <p:ph type="sldNum" sz="quarter" idx="10"/>
          </p:nvPr>
        </p:nvSpPr>
        <p:spPr/>
        <p:txBody>
          <a:bodyPr/>
          <a:lstStyle/>
          <a:p>
            <a:fld id="{82869989-EB00-4EE7-BCB5-25BDC5BB29F8}" type="slidenum">
              <a:rPr lang="en-US" altLang="zh-CN" smtClean="0"/>
              <a:pPr/>
              <a:t>47</a:t>
            </a:fld>
            <a:endParaRPr lang="zh-CN"/>
          </a:p>
        </p:txBody>
      </p:sp>
    </p:spTree>
    <p:extLst>
      <p:ext uri="{BB962C8B-B14F-4D97-AF65-F5344CB8AC3E}">
        <p14:creationId xmlns:p14="http://schemas.microsoft.com/office/powerpoint/2010/main" val="134462984"/>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71600" y="1143000"/>
            <a:ext cx="4114800" cy="3086100"/>
          </a:xfrm>
        </p:spPr>
      </p:sp>
      <p:sp>
        <p:nvSpPr>
          <p:cNvPr id="3" name="备注占位符 2"/>
          <p:cNvSpPr>
            <a:spLocks noGrp="1"/>
          </p:cNvSpPr>
          <p:nvPr>
            <p:ph type="body" idx="1"/>
          </p:nvPr>
        </p:nvSpPr>
        <p:spPr/>
        <p:txBody>
          <a:bodyPr/>
          <a:lstStyle/>
          <a:p>
            <a:pPr eaLnBrk="1" hangingPunct="1"/>
            <a:endParaRPr lang="zh-CN" altLang="zh-CN" dirty="0" smtClean="0">
              <a:latin typeface="Arial" panose="020B0604020202020204" pitchFamily="34" charset="0"/>
            </a:endParaRPr>
          </a:p>
        </p:txBody>
      </p:sp>
      <p:sp>
        <p:nvSpPr>
          <p:cNvPr id="4" name="幻灯片编号占位符 3"/>
          <p:cNvSpPr>
            <a:spLocks noGrp="1"/>
          </p:cNvSpPr>
          <p:nvPr>
            <p:ph type="sldNum" sz="quarter" idx="10"/>
          </p:nvPr>
        </p:nvSpPr>
        <p:spPr/>
        <p:txBody>
          <a:bodyPr/>
          <a:lstStyle/>
          <a:p>
            <a:fld id="{82869989-EB00-4EE7-BCB5-25BDC5BB29F8}" type="slidenum">
              <a:rPr lang="en-US" altLang="zh-CN" smtClean="0"/>
              <a:pPr/>
              <a:t>48</a:t>
            </a:fld>
            <a:endParaRPr lang="zh-CN"/>
          </a:p>
        </p:txBody>
      </p:sp>
    </p:spTree>
    <p:extLst>
      <p:ext uri="{BB962C8B-B14F-4D97-AF65-F5344CB8AC3E}">
        <p14:creationId xmlns:p14="http://schemas.microsoft.com/office/powerpoint/2010/main" val="3425169345"/>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71600" y="1143000"/>
            <a:ext cx="4114800" cy="3086100"/>
          </a:xfrm>
        </p:spPr>
      </p:sp>
      <p:sp>
        <p:nvSpPr>
          <p:cNvPr id="3" name="备注占位符 2"/>
          <p:cNvSpPr>
            <a:spLocks noGrp="1"/>
          </p:cNvSpPr>
          <p:nvPr>
            <p:ph type="body" idx="1"/>
          </p:nvPr>
        </p:nvSpPr>
        <p:spPr/>
        <p:txBody>
          <a:bodyPr/>
          <a:lstStyle/>
          <a:p>
            <a:pPr eaLnBrk="1" hangingPunct="1"/>
            <a:r>
              <a:rPr lang="zh-CN" altLang="en-US" dirty="0" smtClean="0">
                <a:latin typeface="Arial" panose="020B0604020202020204" pitchFamily="34" charset="0"/>
              </a:rPr>
              <a:t>在墨西哥宣布无力偿还债务的数天之内，国际社会就采取了一系列紧急措施。美国政府继续提供了近</a:t>
            </a:r>
            <a:r>
              <a:rPr lang="en-US" altLang="zh-CN" dirty="0" smtClean="0">
                <a:latin typeface="Arial" panose="020B0604020202020204" pitchFamily="34" charset="0"/>
              </a:rPr>
              <a:t>30</a:t>
            </a:r>
            <a:r>
              <a:rPr lang="zh-CN" altLang="en-US" dirty="0" smtClean="0">
                <a:latin typeface="Arial" panose="020B0604020202020204" pitchFamily="34" charset="0"/>
              </a:rPr>
              <a:t>亿美元的贷款，国际清算银行提供了近</a:t>
            </a:r>
            <a:r>
              <a:rPr lang="en-US" altLang="zh-CN" dirty="0" smtClean="0">
                <a:latin typeface="Arial" panose="020B0604020202020204" pitchFamily="34" charset="0"/>
              </a:rPr>
              <a:t>10</a:t>
            </a:r>
            <a:r>
              <a:rPr lang="zh-CN" altLang="en-US" dirty="0" smtClean="0">
                <a:latin typeface="Arial" panose="020B0604020202020204" pitchFamily="34" charset="0"/>
              </a:rPr>
              <a:t>亿美元的过渡性贷款，主要债权国的出口信贷机构也同意对墨西哥增加</a:t>
            </a:r>
            <a:r>
              <a:rPr lang="en-US" altLang="zh-CN" dirty="0" smtClean="0">
                <a:latin typeface="Arial" panose="020B0604020202020204" pitchFamily="34" charset="0"/>
              </a:rPr>
              <a:t>20</a:t>
            </a:r>
            <a:r>
              <a:rPr lang="zh-CN" altLang="en-US" dirty="0" smtClean="0">
                <a:latin typeface="Arial" panose="020B0604020202020204" pitchFamily="34" charset="0"/>
              </a:rPr>
              <a:t>亿美元的贷款。此外，世界银行和一些国际性开发银行，也为债务国提供了相当数量的援助性贷款，同时</a:t>
            </a:r>
            <a:r>
              <a:rPr lang="en-US" altLang="zh-CN" dirty="0" smtClean="0">
                <a:latin typeface="Arial" panose="020B0604020202020204" pitchFamily="34" charset="0"/>
              </a:rPr>
              <a:t>IMF</a:t>
            </a:r>
            <a:r>
              <a:rPr lang="zh-CN" altLang="en-US" dirty="0" smtClean="0">
                <a:latin typeface="Arial" panose="020B0604020202020204" pitchFamily="34" charset="0"/>
              </a:rPr>
              <a:t>着手制定大规模的援助性贷款计划。对墨西哥的挽救计划成为此后几十个债务国重新安排到期债务的样板。</a:t>
            </a:r>
          </a:p>
          <a:p>
            <a:pPr eaLnBrk="1" hangingPunct="1"/>
            <a:endParaRPr lang="zh-CN" altLang="zh-CN" dirty="0" smtClean="0">
              <a:latin typeface="Arial" panose="020B0604020202020204" pitchFamily="34" charset="0"/>
            </a:endParaRPr>
          </a:p>
        </p:txBody>
      </p:sp>
      <p:sp>
        <p:nvSpPr>
          <p:cNvPr id="4" name="幻灯片编号占位符 3"/>
          <p:cNvSpPr>
            <a:spLocks noGrp="1"/>
          </p:cNvSpPr>
          <p:nvPr>
            <p:ph type="sldNum" sz="quarter" idx="10"/>
          </p:nvPr>
        </p:nvSpPr>
        <p:spPr/>
        <p:txBody>
          <a:bodyPr/>
          <a:lstStyle/>
          <a:p>
            <a:fld id="{82869989-EB00-4EE7-BCB5-25BDC5BB29F8}" type="slidenum">
              <a:rPr lang="en-US" altLang="zh-CN" smtClean="0"/>
              <a:pPr/>
              <a:t>49</a:t>
            </a:fld>
            <a:endParaRPr lang="zh-CN"/>
          </a:p>
        </p:txBody>
      </p:sp>
    </p:spTree>
    <p:extLst>
      <p:ext uri="{BB962C8B-B14F-4D97-AF65-F5344CB8AC3E}">
        <p14:creationId xmlns:p14="http://schemas.microsoft.com/office/powerpoint/2010/main" val="1423284859"/>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71600" y="1143000"/>
            <a:ext cx="4114800" cy="3086100"/>
          </a:xfrm>
        </p:spPr>
      </p:sp>
      <p:sp>
        <p:nvSpPr>
          <p:cNvPr id="3" name="备注占位符 2"/>
          <p:cNvSpPr>
            <a:spLocks noGrp="1"/>
          </p:cNvSpPr>
          <p:nvPr>
            <p:ph type="body" idx="1"/>
          </p:nvPr>
        </p:nvSpPr>
        <p:spPr/>
        <p:txBody>
          <a:bodyPr/>
          <a:lstStyle/>
          <a:p>
            <a:pPr eaLnBrk="1" hangingPunct="1"/>
            <a:r>
              <a:rPr lang="zh-CN" altLang="en-US" dirty="0" smtClean="0">
                <a:latin typeface="Arial" panose="020B0604020202020204" pitchFamily="34" charset="0"/>
              </a:rPr>
              <a:t>债务资本化是指债权银行按官方汇率将全部债务折合成债务国货币，并在债务国购买等值的股票或直接投资取得当地企业的股权；债权交换是指债权人按照一定的折扣将所持债务交换附有担保品的其他债务，这种交换要求新债券的信用较之原有的高。债务回购是指债务国以一定的折扣用现金购回所欠债务。</a:t>
            </a:r>
          </a:p>
        </p:txBody>
      </p:sp>
      <p:sp>
        <p:nvSpPr>
          <p:cNvPr id="4" name="幻灯片编号占位符 3"/>
          <p:cNvSpPr>
            <a:spLocks noGrp="1"/>
          </p:cNvSpPr>
          <p:nvPr>
            <p:ph type="sldNum" sz="quarter" idx="10"/>
          </p:nvPr>
        </p:nvSpPr>
        <p:spPr/>
        <p:txBody>
          <a:bodyPr/>
          <a:lstStyle/>
          <a:p>
            <a:fld id="{82869989-EB00-4EE7-BCB5-25BDC5BB29F8}" type="slidenum">
              <a:rPr lang="en-US" altLang="zh-CN" smtClean="0"/>
              <a:pPr/>
              <a:t>50</a:t>
            </a:fld>
            <a:endParaRPr lang="zh-CN"/>
          </a:p>
        </p:txBody>
      </p:sp>
    </p:spTree>
    <p:extLst>
      <p:ext uri="{BB962C8B-B14F-4D97-AF65-F5344CB8AC3E}">
        <p14:creationId xmlns:p14="http://schemas.microsoft.com/office/powerpoint/2010/main" val="3066199467"/>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71600" y="1143000"/>
            <a:ext cx="4114800" cy="3086100"/>
          </a:xfrm>
        </p:spPr>
      </p:sp>
      <p:sp>
        <p:nvSpPr>
          <p:cNvPr id="3" name="备注占位符 2"/>
          <p:cNvSpPr>
            <a:spLocks noGrp="1"/>
          </p:cNvSpPr>
          <p:nvPr>
            <p:ph type="body" idx="1"/>
          </p:nvPr>
        </p:nvSpPr>
        <p:spPr/>
        <p:txBody>
          <a:bodyPr/>
          <a:lstStyle/>
          <a:p>
            <a:pPr eaLnBrk="1" hangingPunct="1"/>
            <a:endParaRPr lang="zh-CN" altLang="en-US" dirty="0" smtClean="0">
              <a:latin typeface="Arial" panose="020B0604020202020204" pitchFamily="34" charset="0"/>
            </a:endParaRPr>
          </a:p>
        </p:txBody>
      </p:sp>
      <p:sp>
        <p:nvSpPr>
          <p:cNvPr id="4" name="幻灯片编号占位符 3"/>
          <p:cNvSpPr>
            <a:spLocks noGrp="1"/>
          </p:cNvSpPr>
          <p:nvPr>
            <p:ph type="sldNum" sz="quarter" idx="10"/>
          </p:nvPr>
        </p:nvSpPr>
        <p:spPr/>
        <p:txBody>
          <a:bodyPr/>
          <a:lstStyle/>
          <a:p>
            <a:fld id="{82869989-EB00-4EE7-BCB5-25BDC5BB29F8}" type="slidenum">
              <a:rPr lang="en-US" altLang="zh-CN" smtClean="0"/>
              <a:pPr/>
              <a:t>51</a:t>
            </a:fld>
            <a:endParaRPr lang="zh-CN"/>
          </a:p>
        </p:txBody>
      </p:sp>
    </p:spTree>
    <p:extLst>
      <p:ext uri="{BB962C8B-B14F-4D97-AF65-F5344CB8AC3E}">
        <p14:creationId xmlns:p14="http://schemas.microsoft.com/office/powerpoint/2010/main" val="3082833087"/>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71600" y="1143000"/>
            <a:ext cx="4114800" cy="3086100"/>
          </a:xfrm>
        </p:spPr>
      </p:sp>
      <p:sp>
        <p:nvSpPr>
          <p:cNvPr id="3" name="备注占位符 2"/>
          <p:cNvSpPr>
            <a:spLocks noGrp="1"/>
          </p:cNvSpPr>
          <p:nvPr>
            <p:ph type="body" idx="1"/>
          </p:nvPr>
        </p:nvSpPr>
        <p:spPr/>
        <p:txBody>
          <a:bodyPr/>
          <a:lstStyle/>
          <a:p>
            <a:pPr eaLnBrk="1" hangingPunct="1"/>
            <a:endParaRPr lang="zh-CN" altLang="en-US" dirty="0" smtClean="0">
              <a:latin typeface="Arial" panose="020B0604020202020204" pitchFamily="34" charset="0"/>
            </a:endParaRPr>
          </a:p>
        </p:txBody>
      </p:sp>
      <p:sp>
        <p:nvSpPr>
          <p:cNvPr id="4" name="幻灯片编号占位符 3"/>
          <p:cNvSpPr>
            <a:spLocks noGrp="1"/>
          </p:cNvSpPr>
          <p:nvPr>
            <p:ph type="sldNum" sz="quarter" idx="10"/>
          </p:nvPr>
        </p:nvSpPr>
        <p:spPr/>
        <p:txBody>
          <a:bodyPr/>
          <a:lstStyle/>
          <a:p>
            <a:fld id="{82869989-EB00-4EE7-BCB5-25BDC5BB29F8}" type="slidenum">
              <a:rPr lang="en-US" altLang="zh-CN" smtClean="0"/>
              <a:pPr/>
              <a:t>53</a:t>
            </a:fld>
            <a:endParaRPr lang="zh-CN"/>
          </a:p>
        </p:txBody>
      </p:sp>
    </p:spTree>
    <p:extLst>
      <p:ext uri="{BB962C8B-B14F-4D97-AF65-F5344CB8AC3E}">
        <p14:creationId xmlns:p14="http://schemas.microsoft.com/office/powerpoint/2010/main" val="3527971984"/>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71600" y="1143000"/>
            <a:ext cx="4114800" cy="3086100"/>
          </a:xfrm>
        </p:spPr>
      </p:sp>
      <p:sp>
        <p:nvSpPr>
          <p:cNvPr id="3" name="备注占位符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zh-CN" dirty="0" smtClean="0">
                <a:latin typeface="Arial" panose="020B0604020202020204" pitchFamily="34" charset="0"/>
              </a:rPr>
              <a:t>1997</a:t>
            </a:r>
            <a:r>
              <a:rPr lang="zh-CN" altLang="zh-CN" dirty="0" smtClean="0">
                <a:latin typeface="Arial" panose="020B0604020202020204" pitchFamily="34" charset="0"/>
              </a:rPr>
              <a:t>年</a:t>
            </a:r>
            <a:r>
              <a:rPr lang="en-US" altLang="zh-CN" dirty="0" smtClean="0">
                <a:latin typeface="Arial" panose="020B0604020202020204" pitchFamily="34" charset="0"/>
              </a:rPr>
              <a:t>7</a:t>
            </a:r>
            <a:r>
              <a:rPr lang="zh-CN" altLang="zh-CN" dirty="0" smtClean="0">
                <a:latin typeface="Arial" panose="020B0604020202020204" pitchFamily="34" charset="0"/>
              </a:rPr>
              <a:t>月</a:t>
            </a:r>
            <a:r>
              <a:rPr lang="en-US" altLang="zh-CN" dirty="0" smtClean="0">
                <a:latin typeface="Arial" panose="020B0604020202020204" pitchFamily="34" charset="0"/>
              </a:rPr>
              <a:t>2</a:t>
            </a:r>
            <a:r>
              <a:rPr lang="zh-CN" altLang="zh-CN" dirty="0" smtClean="0">
                <a:latin typeface="Arial" panose="020B0604020202020204" pitchFamily="34" charset="0"/>
              </a:rPr>
              <a:t>日，泰国政府由于持续的压力被迫宣布实行浮动汇率制，泰铢的价值立刻在在岸市场下跌了</a:t>
            </a:r>
            <a:r>
              <a:rPr lang="en-US" altLang="zh-CN" dirty="0" smtClean="0">
                <a:latin typeface="Arial" panose="020B0604020202020204" pitchFamily="34" charset="0"/>
              </a:rPr>
              <a:t>14%</a:t>
            </a:r>
            <a:r>
              <a:rPr lang="zh-CN" altLang="zh-CN" dirty="0" smtClean="0">
                <a:latin typeface="Arial" panose="020B0604020202020204" pitchFamily="34" charset="0"/>
              </a:rPr>
              <a:t>，在离岸市场下跌了</a:t>
            </a:r>
            <a:r>
              <a:rPr lang="en-US" altLang="zh-CN" dirty="0" smtClean="0">
                <a:latin typeface="Arial" panose="020B0604020202020204" pitchFamily="34" charset="0"/>
              </a:rPr>
              <a:t>19%</a:t>
            </a:r>
            <a:r>
              <a:rPr lang="zh-CN" altLang="zh-CN" dirty="0" smtClean="0">
                <a:latin typeface="Arial" panose="020B0604020202020204" pitchFamily="34" charset="0"/>
              </a:rPr>
              <a:t>。这标志着亚洲金融危机的开始</a:t>
            </a:r>
          </a:p>
          <a:p>
            <a:pPr eaLnBrk="1" hangingPunct="1"/>
            <a:endParaRPr lang="zh-CN" altLang="en-US" dirty="0" smtClean="0">
              <a:latin typeface="Arial" panose="020B0604020202020204" pitchFamily="34" charset="0"/>
            </a:endParaRPr>
          </a:p>
        </p:txBody>
      </p:sp>
      <p:sp>
        <p:nvSpPr>
          <p:cNvPr id="4" name="幻灯片编号占位符 3"/>
          <p:cNvSpPr>
            <a:spLocks noGrp="1"/>
          </p:cNvSpPr>
          <p:nvPr>
            <p:ph type="sldNum" sz="quarter" idx="10"/>
          </p:nvPr>
        </p:nvSpPr>
        <p:spPr/>
        <p:txBody>
          <a:bodyPr/>
          <a:lstStyle/>
          <a:p>
            <a:fld id="{82869989-EB00-4EE7-BCB5-25BDC5BB29F8}" type="slidenum">
              <a:rPr lang="en-US" altLang="zh-CN" smtClean="0"/>
              <a:pPr/>
              <a:t>54</a:t>
            </a:fld>
            <a:endParaRPr lang="zh-CN"/>
          </a:p>
        </p:txBody>
      </p:sp>
    </p:spTree>
    <p:extLst>
      <p:ext uri="{BB962C8B-B14F-4D97-AF65-F5344CB8AC3E}">
        <p14:creationId xmlns:p14="http://schemas.microsoft.com/office/powerpoint/2010/main" val="967375397"/>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71600" y="1143000"/>
            <a:ext cx="4114800" cy="3086100"/>
          </a:xfrm>
        </p:spPr>
      </p:sp>
      <p:sp>
        <p:nvSpPr>
          <p:cNvPr id="3" name="备注占位符 2"/>
          <p:cNvSpPr>
            <a:spLocks noGrp="1"/>
          </p:cNvSpPr>
          <p:nvPr>
            <p:ph type="body" idx="1"/>
          </p:nvPr>
        </p:nvSpPr>
        <p:spPr/>
        <p:txBody>
          <a:bodyPr/>
          <a:lstStyle/>
          <a:p>
            <a:pPr eaLnBrk="1" hangingPunct="1"/>
            <a:endParaRPr lang="zh-CN" altLang="en-US" dirty="0" smtClean="0">
              <a:latin typeface="Arial" panose="020B0604020202020204" pitchFamily="34" charset="0"/>
            </a:endParaRPr>
          </a:p>
        </p:txBody>
      </p:sp>
      <p:sp>
        <p:nvSpPr>
          <p:cNvPr id="4" name="幻灯片编号占位符 3"/>
          <p:cNvSpPr>
            <a:spLocks noGrp="1"/>
          </p:cNvSpPr>
          <p:nvPr>
            <p:ph type="sldNum" sz="quarter" idx="10"/>
          </p:nvPr>
        </p:nvSpPr>
        <p:spPr/>
        <p:txBody>
          <a:bodyPr/>
          <a:lstStyle/>
          <a:p>
            <a:fld id="{82869989-EB00-4EE7-BCB5-25BDC5BB29F8}" type="slidenum">
              <a:rPr lang="en-US" altLang="zh-CN" smtClean="0"/>
              <a:pPr/>
              <a:t>55</a:t>
            </a:fld>
            <a:endParaRPr lang="zh-CN"/>
          </a:p>
        </p:txBody>
      </p:sp>
    </p:spTree>
    <p:extLst>
      <p:ext uri="{BB962C8B-B14F-4D97-AF65-F5344CB8AC3E}">
        <p14:creationId xmlns:p14="http://schemas.microsoft.com/office/powerpoint/2010/main" val="1909586482"/>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71600" y="1143000"/>
            <a:ext cx="4114800" cy="3086100"/>
          </a:xfrm>
        </p:spPr>
      </p:sp>
      <p:sp>
        <p:nvSpPr>
          <p:cNvPr id="3" name="备注占位符 2"/>
          <p:cNvSpPr>
            <a:spLocks noGrp="1"/>
          </p:cNvSpPr>
          <p:nvPr>
            <p:ph type="body" idx="1"/>
          </p:nvPr>
        </p:nvSpPr>
        <p:spPr/>
        <p:txBody>
          <a:bodyPr/>
          <a:lstStyle/>
          <a:p>
            <a:pPr eaLnBrk="1" hangingPunct="1"/>
            <a:endParaRPr lang="zh-CN" altLang="en-US" dirty="0" smtClean="0">
              <a:latin typeface="Arial" panose="020B0604020202020204" pitchFamily="34" charset="0"/>
            </a:endParaRPr>
          </a:p>
        </p:txBody>
      </p:sp>
      <p:sp>
        <p:nvSpPr>
          <p:cNvPr id="4" name="幻灯片编号占位符 3"/>
          <p:cNvSpPr>
            <a:spLocks noGrp="1"/>
          </p:cNvSpPr>
          <p:nvPr>
            <p:ph type="sldNum" sz="quarter" idx="10"/>
          </p:nvPr>
        </p:nvSpPr>
        <p:spPr/>
        <p:txBody>
          <a:bodyPr/>
          <a:lstStyle/>
          <a:p>
            <a:fld id="{82869989-EB00-4EE7-BCB5-25BDC5BB29F8}" type="slidenum">
              <a:rPr lang="en-US" altLang="zh-CN" smtClean="0"/>
              <a:pPr/>
              <a:t>56</a:t>
            </a:fld>
            <a:endParaRPr lang="zh-CN"/>
          </a:p>
        </p:txBody>
      </p:sp>
    </p:spTree>
    <p:extLst>
      <p:ext uri="{BB962C8B-B14F-4D97-AF65-F5344CB8AC3E}">
        <p14:creationId xmlns:p14="http://schemas.microsoft.com/office/powerpoint/2010/main" val="366278650"/>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71600" y="1143000"/>
            <a:ext cx="4114800" cy="3086100"/>
          </a:xfrm>
        </p:spPr>
      </p:sp>
      <p:sp>
        <p:nvSpPr>
          <p:cNvPr id="3" name="备注占位符 2"/>
          <p:cNvSpPr>
            <a:spLocks noGrp="1"/>
          </p:cNvSpPr>
          <p:nvPr>
            <p:ph type="body" idx="1"/>
          </p:nvPr>
        </p:nvSpPr>
        <p:spPr/>
        <p:txBody>
          <a:bodyPr/>
          <a:lstStyle/>
          <a:p>
            <a:pPr eaLnBrk="1" hangingPunct="1"/>
            <a:endParaRPr lang="zh-CN" altLang="en-US" dirty="0" smtClean="0">
              <a:latin typeface="Arial" panose="020B0604020202020204" pitchFamily="34" charset="0"/>
            </a:endParaRPr>
          </a:p>
        </p:txBody>
      </p:sp>
      <p:sp>
        <p:nvSpPr>
          <p:cNvPr id="4" name="幻灯片编号占位符 3"/>
          <p:cNvSpPr>
            <a:spLocks noGrp="1"/>
          </p:cNvSpPr>
          <p:nvPr>
            <p:ph type="sldNum" sz="quarter" idx="10"/>
          </p:nvPr>
        </p:nvSpPr>
        <p:spPr/>
        <p:txBody>
          <a:bodyPr/>
          <a:lstStyle/>
          <a:p>
            <a:fld id="{82869989-EB00-4EE7-BCB5-25BDC5BB29F8}" type="slidenum">
              <a:rPr lang="en-US" altLang="zh-CN" smtClean="0"/>
              <a:pPr/>
              <a:t>57</a:t>
            </a:fld>
            <a:endParaRPr lang="zh-CN"/>
          </a:p>
        </p:txBody>
      </p:sp>
    </p:spTree>
    <p:extLst>
      <p:ext uri="{BB962C8B-B14F-4D97-AF65-F5344CB8AC3E}">
        <p14:creationId xmlns:p14="http://schemas.microsoft.com/office/powerpoint/2010/main" val="2070183856"/>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71600" y="1143000"/>
            <a:ext cx="4114800" cy="3086100"/>
          </a:xfrm>
        </p:spPr>
      </p:sp>
      <p:sp>
        <p:nvSpPr>
          <p:cNvPr id="3" name="备注占位符 2"/>
          <p:cNvSpPr>
            <a:spLocks noGrp="1"/>
          </p:cNvSpPr>
          <p:nvPr>
            <p:ph type="body" idx="1"/>
          </p:nvPr>
        </p:nvSpPr>
        <p:spPr/>
        <p:txBody>
          <a:bodyPr/>
          <a:lstStyle/>
          <a:p>
            <a:pPr eaLnBrk="1" hangingPunct="1"/>
            <a:endParaRPr lang="zh-CN" altLang="zh-CN" dirty="0" smtClean="0">
              <a:latin typeface="Arial" panose="020B0604020202020204" pitchFamily="34" charset="0"/>
            </a:endParaRPr>
          </a:p>
        </p:txBody>
      </p:sp>
      <p:sp>
        <p:nvSpPr>
          <p:cNvPr id="4" name="幻灯片编号占位符 3"/>
          <p:cNvSpPr>
            <a:spLocks noGrp="1"/>
          </p:cNvSpPr>
          <p:nvPr>
            <p:ph type="sldNum" sz="quarter" idx="10"/>
          </p:nvPr>
        </p:nvSpPr>
        <p:spPr/>
        <p:txBody>
          <a:bodyPr/>
          <a:lstStyle/>
          <a:p>
            <a:fld id="{82869989-EB00-4EE7-BCB5-25BDC5BB29F8}" type="slidenum">
              <a:rPr lang="en-US" altLang="zh-CN" smtClean="0"/>
              <a:pPr/>
              <a:t>58</a:t>
            </a:fld>
            <a:endParaRPr lang="zh-CN"/>
          </a:p>
        </p:txBody>
      </p:sp>
    </p:spTree>
    <p:extLst>
      <p:ext uri="{BB962C8B-B14F-4D97-AF65-F5344CB8AC3E}">
        <p14:creationId xmlns:p14="http://schemas.microsoft.com/office/powerpoint/2010/main" val="2649863390"/>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71600" y="1143000"/>
            <a:ext cx="4114800" cy="3086100"/>
          </a:xfrm>
        </p:spPr>
      </p:sp>
      <p:sp>
        <p:nvSpPr>
          <p:cNvPr id="3" name="备注占位符 2"/>
          <p:cNvSpPr>
            <a:spLocks noGrp="1"/>
          </p:cNvSpPr>
          <p:nvPr>
            <p:ph type="body" idx="1"/>
          </p:nvPr>
        </p:nvSpPr>
        <p:spPr/>
        <p:txBody>
          <a:bodyPr/>
          <a:lstStyle/>
          <a:p>
            <a:pPr eaLnBrk="1" hangingPunct="1"/>
            <a:endParaRPr lang="zh-CN" altLang="zh-CN" dirty="0" smtClean="0">
              <a:latin typeface="Arial" panose="020B0604020202020204" pitchFamily="34" charset="0"/>
            </a:endParaRPr>
          </a:p>
        </p:txBody>
      </p:sp>
      <p:sp>
        <p:nvSpPr>
          <p:cNvPr id="4" name="幻灯片编号占位符 3"/>
          <p:cNvSpPr>
            <a:spLocks noGrp="1"/>
          </p:cNvSpPr>
          <p:nvPr>
            <p:ph type="sldNum" sz="quarter" idx="10"/>
          </p:nvPr>
        </p:nvSpPr>
        <p:spPr/>
        <p:txBody>
          <a:bodyPr/>
          <a:lstStyle/>
          <a:p>
            <a:fld id="{82869989-EB00-4EE7-BCB5-25BDC5BB29F8}" type="slidenum">
              <a:rPr lang="en-US" altLang="zh-CN" smtClean="0"/>
              <a:pPr/>
              <a:t>59</a:t>
            </a:fld>
            <a:endParaRPr lang="zh-CN"/>
          </a:p>
        </p:txBody>
      </p:sp>
    </p:spTree>
    <p:extLst>
      <p:ext uri="{BB962C8B-B14F-4D97-AF65-F5344CB8AC3E}">
        <p14:creationId xmlns:p14="http://schemas.microsoft.com/office/powerpoint/2010/main" val="1004850245"/>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71600" y="1143000"/>
            <a:ext cx="4114800" cy="3086100"/>
          </a:xfrm>
        </p:spPr>
      </p:sp>
      <p:sp>
        <p:nvSpPr>
          <p:cNvPr id="3" name="备注占位符 2"/>
          <p:cNvSpPr>
            <a:spLocks noGrp="1"/>
          </p:cNvSpPr>
          <p:nvPr>
            <p:ph type="body" idx="1"/>
          </p:nvPr>
        </p:nvSpPr>
        <p:spPr/>
        <p:txBody>
          <a:bodyPr/>
          <a:lstStyle/>
          <a:p>
            <a:pPr eaLnBrk="1" hangingPunct="1"/>
            <a:endParaRPr lang="zh-CN" altLang="zh-CN" dirty="0" smtClean="0">
              <a:latin typeface="Arial" panose="020B0604020202020204" pitchFamily="34" charset="0"/>
            </a:endParaRPr>
          </a:p>
        </p:txBody>
      </p:sp>
      <p:sp>
        <p:nvSpPr>
          <p:cNvPr id="4" name="幻灯片编号占位符 3"/>
          <p:cNvSpPr>
            <a:spLocks noGrp="1"/>
          </p:cNvSpPr>
          <p:nvPr>
            <p:ph type="sldNum" sz="quarter" idx="10"/>
          </p:nvPr>
        </p:nvSpPr>
        <p:spPr/>
        <p:txBody>
          <a:bodyPr/>
          <a:lstStyle/>
          <a:p>
            <a:fld id="{82869989-EB00-4EE7-BCB5-25BDC5BB29F8}" type="slidenum">
              <a:rPr lang="en-US" altLang="zh-CN" smtClean="0"/>
              <a:pPr/>
              <a:t>60</a:t>
            </a:fld>
            <a:endParaRPr lang="zh-CN"/>
          </a:p>
        </p:txBody>
      </p:sp>
    </p:spTree>
    <p:extLst>
      <p:ext uri="{BB962C8B-B14F-4D97-AF65-F5344CB8AC3E}">
        <p14:creationId xmlns:p14="http://schemas.microsoft.com/office/powerpoint/2010/main" val="2669053002"/>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71600" y="1143000"/>
            <a:ext cx="4114800" cy="3086100"/>
          </a:xfrm>
        </p:spPr>
      </p:sp>
      <p:sp>
        <p:nvSpPr>
          <p:cNvPr id="3" name="备注占位符 2"/>
          <p:cNvSpPr>
            <a:spLocks noGrp="1"/>
          </p:cNvSpPr>
          <p:nvPr>
            <p:ph type="body" idx="1"/>
          </p:nvPr>
        </p:nvSpPr>
        <p:spPr/>
        <p:txBody>
          <a:bodyPr/>
          <a:lstStyle/>
          <a:p>
            <a:pPr eaLnBrk="1" hangingPunct="1"/>
            <a:endParaRPr lang="zh-CN" altLang="en-US" dirty="0" smtClean="0">
              <a:latin typeface="Arial" panose="020B0604020202020204" pitchFamily="34" charset="0"/>
            </a:endParaRPr>
          </a:p>
        </p:txBody>
      </p:sp>
      <p:sp>
        <p:nvSpPr>
          <p:cNvPr id="4" name="幻灯片编号占位符 3"/>
          <p:cNvSpPr>
            <a:spLocks noGrp="1"/>
          </p:cNvSpPr>
          <p:nvPr>
            <p:ph type="sldNum" sz="quarter" idx="10"/>
          </p:nvPr>
        </p:nvSpPr>
        <p:spPr/>
        <p:txBody>
          <a:bodyPr/>
          <a:lstStyle/>
          <a:p>
            <a:fld id="{82869989-EB00-4EE7-BCB5-25BDC5BB29F8}" type="slidenum">
              <a:rPr lang="en-US" altLang="zh-CN" smtClean="0"/>
              <a:pPr/>
              <a:t>61</a:t>
            </a:fld>
            <a:endParaRPr lang="zh-CN"/>
          </a:p>
        </p:txBody>
      </p:sp>
    </p:spTree>
    <p:extLst>
      <p:ext uri="{BB962C8B-B14F-4D97-AF65-F5344CB8AC3E}">
        <p14:creationId xmlns:p14="http://schemas.microsoft.com/office/powerpoint/2010/main" val="1922336734"/>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71600" y="1143000"/>
            <a:ext cx="4114800" cy="3086100"/>
          </a:xfrm>
        </p:spPr>
      </p:sp>
      <p:sp>
        <p:nvSpPr>
          <p:cNvPr id="3" name="备注占位符 2"/>
          <p:cNvSpPr>
            <a:spLocks noGrp="1"/>
          </p:cNvSpPr>
          <p:nvPr>
            <p:ph type="body" idx="1"/>
          </p:nvPr>
        </p:nvSpPr>
        <p:spPr/>
        <p:txBody>
          <a:bodyPr/>
          <a:lstStyle/>
          <a:p>
            <a:pPr eaLnBrk="1" hangingPunct="1"/>
            <a:endParaRPr lang="zh-CN" altLang="en-US" dirty="0" smtClean="0">
              <a:latin typeface="Arial" panose="020B0604020202020204" pitchFamily="34" charset="0"/>
            </a:endParaRPr>
          </a:p>
        </p:txBody>
      </p:sp>
      <p:sp>
        <p:nvSpPr>
          <p:cNvPr id="4" name="幻灯片编号占位符 3"/>
          <p:cNvSpPr>
            <a:spLocks noGrp="1"/>
          </p:cNvSpPr>
          <p:nvPr>
            <p:ph type="sldNum" sz="quarter" idx="10"/>
          </p:nvPr>
        </p:nvSpPr>
        <p:spPr/>
        <p:txBody>
          <a:bodyPr/>
          <a:lstStyle/>
          <a:p>
            <a:fld id="{82869989-EB00-4EE7-BCB5-25BDC5BB29F8}" type="slidenum">
              <a:rPr lang="en-US" altLang="zh-CN" smtClean="0"/>
              <a:pPr/>
              <a:t>62</a:t>
            </a:fld>
            <a:endParaRPr lang="zh-CN"/>
          </a:p>
        </p:txBody>
      </p:sp>
    </p:spTree>
    <p:extLst>
      <p:ext uri="{BB962C8B-B14F-4D97-AF65-F5344CB8AC3E}">
        <p14:creationId xmlns:p14="http://schemas.microsoft.com/office/powerpoint/2010/main" val="1174271417"/>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71600" y="1143000"/>
            <a:ext cx="4114800" cy="3086100"/>
          </a:xfrm>
        </p:spPr>
      </p:sp>
      <p:sp>
        <p:nvSpPr>
          <p:cNvPr id="3" name="备注占位符 2"/>
          <p:cNvSpPr>
            <a:spLocks noGrp="1"/>
          </p:cNvSpPr>
          <p:nvPr>
            <p:ph type="body" idx="1"/>
          </p:nvPr>
        </p:nvSpPr>
        <p:spPr/>
        <p:txBody>
          <a:bodyPr/>
          <a:lstStyle/>
          <a:p>
            <a:pPr eaLnBrk="1" hangingPunct="1"/>
            <a:endParaRPr lang="zh-CN" altLang="en-US" dirty="0" smtClean="0">
              <a:latin typeface="Arial" panose="020B0604020202020204" pitchFamily="34" charset="0"/>
            </a:endParaRPr>
          </a:p>
        </p:txBody>
      </p:sp>
      <p:sp>
        <p:nvSpPr>
          <p:cNvPr id="4" name="幻灯片编号占位符 3"/>
          <p:cNvSpPr>
            <a:spLocks noGrp="1"/>
          </p:cNvSpPr>
          <p:nvPr>
            <p:ph type="sldNum" sz="quarter" idx="10"/>
          </p:nvPr>
        </p:nvSpPr>
        <p:spPr/>
        <p:txBody>
          <a:bodyPr/>
          <a:lstStyle/>
          <a:p>
            <a:fld id="{82869989-EB00-4EE7-BCB5-25BDC5BB29F8}" type="slidenum">
              <a:rPr lang="en-US" altLang="zh-CN" smtClean="0"/>
              <a:pPr/>
              <a:t>63</a:t>
            </a:fld>
            <a:endParaRPr lang="zh-CN"/>
          </a:p>
        </p:txBody>
      </p:sp>
    </p:spTree>
    <p:extLst>
      <p:ext uri="{BB962C8B-B14F-4D97-AF65-F5344CB8AC3E}">
        <p14:creationId xmlns:p14="http://schemas.microsoft.com/office/powerpoint/2010/main" val="1719001028"/>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71600" y="1143000"/>
            <a:ext cx="4114800" cy="3086100"/>
          </a:xfrm>
        </p:spPr>
      </p:sp>
      <p:sp>
        <p:nvSpPr>
          <p:cNvPr id="3" name="备注占位符 2"/>
          <p:cNvSpPr>
            <a:spLocks noGrp="1"/>
          </p:cNvSpPr>
          <p:nvPr>
            <p:ph type="body" idx="1"/>
          </p:nvPr>
        </p:nvSpPr>
        <p:spPr/>
        <p:txBody>
          <a:bodyPr/>
          <a:lstStyle/>
          <a:p>
            <a:pPr eaLnBrk="1" hangingPunct="1"/>
            <a:endParaRPr lang="zh-CN" altLang="en-US" dirty="0" smtClean="0">
              <a:latin typeface="Arial" panose="020B0604020202020204" pitchFamily="34" charset="0"/>
            </a:endParaRPr>
          </a:p>
        </p:txBody>
      </p:sp>
      <p:sp>
        <p:nvSpPr>
          <p:cNvPr id="4" name="幻灯片编号占位符 3"/>
          <p:cNvSpPr>
            <a:spLocks noGrp="1"/>
          </p:cNvSpPr>
          <p:nvPr>
            <p:ph type="sldNum" sz="quarter" idx="10"/>
          </p:nvPr>
        </p:nvSpPr>
        <p:spPr/>
        <p:txBody>
          <a:bodyPr/>
          <a:lstStyle/>
          <a:p>
            <a:fld id="{82869989-EB00-4EE7-BCB5-25BDC5BB29F8}" type="slidenum">
              <a:rPr lang="en-US" altLang="zh-CN" smtClean="0"/>
              <a:pPr/>
              <a:t>64</a:t>
            </a:fld>
            <a:endParaRPr lang="zh-CN"/>
          </a:p>
        </p:txBody>
      </p:sp>
    </p:spTree>
    <p:extLst>
      <p:ext uri="{BB962C8B-B14F-4D97-AF65-F5344CB8AC3E}">
        <p14:creationId xmlns:p14="http://schemas.microsoft.com/office/powerpoint/2010/main" val="28444270"/>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71600" y="1143000"/>
            <a:ext cx="4114800" cy="3086100"/>
          </a:xfrm>
        </p:spPr>
      </p:sp>
      <p:sp>
        <p:nvSpPr>
          <p:cNvPr id="3" name="备注占位符 2"/>
          <p:cNvSpPr>
            <a:spLocks noGrp="1"/>
          </p:cNvSpPr>
          <p:nvPr>
            <p:ph type="body" idx="1"/>
          </p:nvPr>
        </p:nvSpPr>
        <p:spPr/>
        <p:txBody>
          <a:bodyPr/>
          <a:lstStyle/>
          <a:p>
            <a:pPr eaLnBrk="1" hangingPunct="1"/>
            <a:endParaRPr lang="zh-CN" altLang="en-US" dirty="0" smtClean="0">
              <a:latin typeface="Arial" panose="020B0604020202020204" pitchFamily="34" charset="0"/>
            </a:endParaRPr>
          </a:p>
        </p:txBody>
      </p:sp>
      <p:sp>
        <p:nvSpPr>
          <p:cNvPr id="4" name="幻灯片编号占位符 3"/>
          <p:cNvSpPr>
            <a:spLocks noGrp="1"/>
          </p:cNvSpPr>
          <p:nvPr>
            <p:ph type="sldNum" sz="quarter" idx="10"/>
          </p:nvPr>
        </p:nvSpPr>
        <p:spPr/>
        <p:txBody>
          <a:bodyPr/>
          <a:lstStyle/>
          <a:p>
            <a:fld id="{82869989-EB00-4EE7-BCB5-25BDC5BB29F8}" type="slidenum">
              <a:rPr lang="en-US" altLang="zh-CN" smtClean="0"/>
              <a:pPr/>
              <a:t>67</a:t>
            </a:fld>
            <a:endParaRPr lang="zh-CN"/>
          </a:p>
        </p:txBody>
      </p:sp>
    </p:spTree>
    <p:extLst>
      <p:ext uri="{BB962C8B-B14F-4D97-AF65-F5344CB8AC3E}">
        <p14:creationId xmlns:p14="http://schemas.microsoft.com/office/powerpoint/2010/main" val="3571122636"/>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71600" y="1143000"/>
            <a:ext cx="4114800" cy="3086100"/>
          </a:xfrm>
        </p:spPr>
      </p:sp>
      <p:sp>
        <p:nvSpPr>
          <p:cNvPr id="3" name="备注占位符 2"/>
          <p:cNvSpPr>
            <a:spLocks noGrp="1"/>
          </p:cNvSpPr>
          <p:nvPr>
            <p:ph type="body" idx="1"/>
          </p:nvPr>
        </p:nvSpPr>
        <p:spPr/>
        <p:txBody>
          <a:bodyPr/>
          <a:lstStyle/>
          <a:p>
            <a:pPr eaLnBrk="1" hangingPunct="1"/>
            <a:endParaRPr lang="zh-CN" altLang="en-US" dirty="0" smtClean="0">
              <a:latin typeface="Arial" panose="020B0604020202020204" pitchFamily="34" charset="0"/>
            </a:endParaRPr>
          </a:p>
        </p:txBody>
      </p:sp>
      <p:sp>
        <p:nvSpPr>
          <p:cNvPr id="4" name="幻灯片编号占位符 3"/>
          <p:cNvSpPr>
            <a:spLocks noGrp="1"/>
          </p:cNvSpPr>
          <p:nvPr>
            <p:ph type="sldNum" sz="quarter" idx="10"/>
          </p:nvPr>
        </p:nvSpPr>
        <p:spPr/>
        <p:txBody>
          <a:bodyPr/>
          <a:lstStyle/>
          <a:p>
            <a:fld id="{82869989-EB00-4EE7-BCB5-25BDC5BB29F8}" type="slidenum">
              <a:rPr lang="en-US" altLang="zh-CN" smtClean="0"/>
              <a:pPr/>
              <a:t>68</a:t>
            </a:fld>
            <a:endParaRPr lang="zh-CN"/>
          </a:p>
        </p:txBody>
      </p:sp>
    </p:spTree>
    <p:extLst>
      <p:ext uri="{BB962C8B-B14F-4D97-AF65-F5344CB8AC3E}">
        <p14:creationId xmlns:p14="http://schemas.microsoft.com/office/powerpoint/2010/main" val="2468494234"/>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71600" y="1143000"/>
            <a:ext cx="4114800" cy="3086100"/>
          </a:xfrm>
        </p:spPr>
      </p:sp>
      <p:sp>
        <p:nvSpPr>
          <p:cNvPr id="3" name="备注占位符 2"/>
          <p:cNvSpPr>
            <a:spLocks noGrp="1"/>
          </p:cNvSpPr>
          <p:nvPr>
            <p:ph type="body" idx="1"/>
          </p:nvPr>
        </p:nvSpPr>
        <p:spPr/>
        <p:txBody>
          <a:bodyPr/>
          <a:lstStyle/>
          <a:p>
            <a:pPr eaLnBrk="1" hangingPunct="1"/>
            <a:endParaRPr lang="zh-CN" altLang="en-US" dirty="0" smtClean="0">
              <a:latin typeface="Arial" panose="020B0604020202020204" pitchFamily="34" charset="0"/>
            </a:endParaRPr>
          </a:p>
        </p:txBody>
      </p:sp>
      <p:sp>
        <p:nvSpPr>
          <p:cNvPr id="4" name="幻灯片编号占位符 3"/>
          <p:cNvSpPr>
            <a:spLocks noGrp="1"/>
          </p:cNvSpPr>
          <p:nvPr>
            <p:ph type="sldNum" sz="quarter" idx="10"/>
          </p:nvPr>
        </p:nvSpPr>
        <p:spPr/>
        <p:txBody>
          <a:bodyPr/>
          <a:lstStyle/>
          <a:p>
            <a:fld id="{82869989-EB00-4EE7-BCB5-25BDC5BB29F8}" type="slidenum">
              <a:rPr lang="en-US" altLang="zh-CN" smtClean="0"/>
              <a:pPr/>
              <a:t>69</a:t>
            </a:fld>
            <a:endParaRPr lang="zh-CN"/>
          </a:p>
        </p:txBody>
      </p:sp>
    </p:spTree>
    <p:extLst>
      <p:ext uri="{BB962C8B-B14F-4D97-AF65-F5344CB8AC3E}">
        <p14:creationId xmlns:p14="http://schemas.microsoft.com/office/powerpoint/2010/main" val="1518145249"/>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71600" y="1143000"/>
            <a:ext cx="4114800" cy="3086100"/>
          </a:xfrm>
        </p:spPr>
      </p:sp>
      <p:sp>
        <p:nvSpPr>
          <p:cNvPr id="3" name="备注占位符 2"/>
          <p:cNvSpPr>
            <a:spLocks noGrp="1"/>
          </p:cNvSpPr>
          <p:nvPr>
            <p:ph type="body" idx="1"/>
          </p:nvPr>
        </p:nvSpPr>
        <p:spPr/>
        <p:txBody>
          <a:bodyPr/>
          <a:lstStyle/>
          <a:p>
            <a:pPr eaLnBrk="1" hangingPunct="1"/>
            <a:endParaRPr lang="zh-CN" altLang="en-US" dirty="0" smtClean="0">
              <a:latin typeface="Arial" panose="020B0604020202020204" pitchFamily="34" charset="0"/>
            </a:endParaRPr>
          </a:p>
        </p:txBody>
      </p:sp>
      <p:sp>
        <p:nvSpPr>
          <p:cNvPr id="4" name="幻灯片编号占位符 3"/>
          <p:cNvSpPr>
            <a:spLocks noGrp="1"/>
          </p:cNvSpPr>
          <p:nvPr>
            <p:ph type="sldNum" sz="quarter" idx="10"/>
          </p:nvPr>
        </p:nvSpPr>
        <p:spPr/>
        <p:txBody>
          <a:bodyPr/>
          <a:lstStyle/>
          <a:p>
            <a:fld id="{82869989-EB00-4EE7-BCB5-25BDC5BB29F8}" type="slidenum">
              <a:rPr lang="en-US" altLang="zh-CN" smtClean="0"/>
              <a:pPr/>
              <a:t>70</a:t>
            </a:fld>
            <a:endParaRPr lang="zh-CN"/>
          </a:p>
        </p:txBody>
      </p:sp>
    </p:spTree>
    <p:extLst>
      <p:ext uri="{BB962C8B-B14F-4D97-AF65-F5344CB8AC3E}">
        <p14:creationId xmlns:p14="http://schemas.microsoft.com/office/powerpoint/2010/main" val="1006207921"/>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71600" y="1143000"/>
            <a:ext cx="4114800" cy="3086100"/>
          </a:xfrm>
        </p:spPr>
      </p:sp>
      <p:sp>
        <p:nvSpPr>
          <p:cNvPr id="3" name="备注占位符 2"/>
          <p:cNvSpPr>
            <a:spLocks noGrp="1"/>
          </p:cNvSpPr>
          <p:nvPr>
            <p:ph type="body" idx="1"/>
          </p:nvPr>
        </p:nvSpPr>
        <p:spPr/>
        <p:txBody>
          <a:bodyPr/>
          <a:lstStyle/>
          <a:p>
            <a:pPr eaLnBrk="1" hangingPunct="1"/>
            <a:endParaRPr lang="zh-CN" altLang="en-US" dirty="0" smtClean="0">
              <a:latin typeface="Arial" panose="020B0604020202020204" pitchFamily="34" charset="0"/>
            </a:endParaRPr>
          </a:p>
        </p:txBody>
      </p:sp>
      <p:sp>
        <p:nvSpPr>
          <p:cNvPr id="4" name="幻灯片编号占位符 3"/>
          <p:cNvSpPr>
            <a:spLocks noGrp="1"/>
          </p:cNvSpPr>
          <p:nvPr>
            <p:ph type="sldNum" sz="quarter" idx="10"/>
          </p:nvPr>
        </p:nvSpPr>
        <p:spPr/>
        <p:txBody>
          <a:bodyPr/>
          <a:lstStyle/>
          <a:p>
            <a:fld id="{82869989-EB00-4EE7-BCB5-25BDC5BB29F8}" type="slidenum">
              <a:rPr lang="en-US" altLang="zh-CN" smtClean="0"/>
              <a:pPr/>
              <a:t>71</a:t>
            </a:fld>
            <a:endParaRPr lang="zh-CN"/>
          </a:p>
        </p:txBody>
      </p:sp>
    </p:spTree>
    <p:extLst>
      <p:ext uri="{BB962C8B-B14F-4D97-AF65-F5344CB8AC3E}">
        <p14:creationId xmlns:p14="http://schemas.microsoft.com/office/powerpoint/2010/main" val="1006207921"/>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71600" y="1143000"/>
            <a:ext cx="4114800" cy="3086100"/>
          </a:xfrm>
        </p:spPr>
      </p:sp>
      <p:sp>
        <p:nvSpPr>
          <p:cNvPr id="3" name="备注占位符 2"/>
          <p:cNvSpPr>
            <a:spLocks noGrp="1"/>
          </p:cNvSpPr>
          <p:nvPr>
            <p:ph type="body" idx="1"/>
          </p:nvPr>
        </p:nvSpPr>
        <p:spPr/>
        <p:txBody>
          <a:bodyPr/>
          <a:lstStyle/>
          <a:p>
            <a:pPr eaLnBrk="1" hangingPunct="1"/>
            <a:endParaRPr lang="zh-CN" altLang="en-US" dirty="0" smtClean="0">
              <a:latin typeface="Arial" panose="020B0604020202020204" pitchFamily="34" charset="0"/>
            </a:endParaRPr>
          </a:p>
        </p:txBody>
      </p:sp>
      <p:sp>
        <p:nvSpPr>
          <p:cNvPr id="4" name="幻灯片编号占位符 3"/>
          <p:cNvSpPr>
            <a:spLocks noGrp="1"/>
          </p:cNvSpPr>
          <p:nvPr>
            <p:ph type="sldNum" sz="quarter" idx="10"/>
          </p:nvPr>
        </p:nvSpPr>
        <p:spPr/>
        <p:txBody>
          <a:bodyPr/>
          <a:lstStyle/>
          <a:p>
            <a:fld id="{82869989-EB00-4EE7-BCB5-25BDC5BB29F8}" type="slidenum">
              <a:rPr lang="en-US" altLang="zh-CN" smtClean="0"/>
              <a:pPr/>
              <a:t>72</a:t>
            </a:fld>
            <a:endParaRPr lang="zh-CN"/>
          </a:p>
        </p:txBody>
      </p:sp>
    </p:spTree>
    <p:extLst>
      <p:ext uri="{BB962C8B-B14F-4D97-AF65-F5344CB8AC3E}">
        <p14:creationId xmlns:p14="http://schemas.microsoft.com/office/powerpoint/2010/main" val="848582820"/>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71600" y="1143000"/>
            <a:ext cx="4114800" cy="3086100"/>
          </a:xfrm>
        </p:spPr>
      </p:sp>
      <p:sp>
        <p:nvSpPr>
          <p:cNvPr id="3" name="备注占位符 2"/>
          <p:cNvSpPr>
            <a:spLocks noGrp="1"/>
          </p:cNvSpPr>
          <p:nvPr>
            <p:ph type="body" idx="1"/>
          </p:nvPr>
        </p:nvSpPr>
        <p:spPr/>
        <p:txBody>
          <a:bodyPr/>
          <a:lstStyle/>
          <a:p>
            <a:pPr eaLnBrk="1" hangingPunct="1"/>
            <a:endParaRPr lang="zh-CN" altLang="en-US" dirty="0" smtClean="0">
              <a:latin typeface="Arial" panose="020B0604020202020204" pitchFamily="34" charset="0"/>
            </a:endParaRPr>
          </a:p>
        </p:txBody>
      </p:sp>
      <p:sp>
        <p:nvSpPr>
          <p:cNvPr id="4" name="幻灯片编号占位符 3"/>
          <p:cNvSpPr>
            <a:spLocks noGrp="1"/>
          </p:cNvSpPr>
          <p:nvPr>
            <p:ph type="sldNum" sz="quarter" idx="10"/>
          </p:nvPr>
        </p:nvSpPr>
        <p:spPr/>
        <p:txBody>
          <a:bodyPr/>
          <a:lstStyle/>
          <a:p>
            <a:fld id="{82869989-EB00-4EE7-BCB5-25BDC5BB29F8}" type="slidenum">
              <a:rPr lang="en-US" altLang="zh-CN" smtClean="0"/>
              <a:pPr/>
              <a:t>73</a:t>
            </a:fld>
            <a:endParaRPr lang="zh-CN"/>
          </a:p>
        </p:txBody>
      </p:sp>
    </p:spTree>
    <p:extLst>
      <p:ext uri="{BB962C8B-B14F-4D97-AF65-F5344CB8AC3E}">
        <p14:creationId xmlns:p14="http://schemas.microsoft.com/office/powerpoint/2010/main" val="1897031910"/>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71600" y="1143000"/>
            <a:ext cx="4114800" cy="3086100"/>
          </a:xfrm>
        </p:spPr>
      </p:sp>
      <p:sp>
        <p:nvSpPr>
          <p:cNvPr id="3" name="备注占位符 2"/>
          <p:cNvSpPr>
            <a:spLocks noGrp="1"/>
          </p:cNvSpPr>
          <p:nvPr>
            <p:ph type="body" idx="1"/>
          </p:nvPr>
        </p:nvSpPr>
        <p:spPr/>
        <p:txBody>
          <a:bodyPr/>
          <a:lstStyle/>
          <a:p>
            <a:pPr eaLnBrk="1" hangingPunct="1"/>
            <a:endParaRPr lang="zh-CN" altLang="en-US" dirty="0" smtClean="0">
              <a:latin typeface="Arial" panose="020B0604020202020204" pitchFamily="34" charset="0"/>
            </a:endParaRPr>
          </a:p>
        </p:txBody>
      </p:sp>
      <p:sp>
        <p:nvSpPr>
          <p:cNvPr id="4" name="幻灯片编号占位符 3"/>
          <p:cNvSpPr>
            <a:spLocks noGrp="1"/>
          </p:cNvSpPr>
          <p:nvPr>
            <p:ph type="sldNum" sz="quarter" idx="10"/>
          </p:nvPr>
        </p:nvSpPr>
        <p:spPr/>
        <p:txBody>
          <a:bodyPr/>
          <a:lstStyle/>
          <a:p>
            <a:fld id="{82869989-EB00-4EE7-BCB5-25BDC5BB29F8}" type="slidenum">
              <a:rPr lang="en-US" altLang="zh-CN" smtClean="0"/>
              <a:pPr/>
              <a:t>74</a:t>
            </a:fld>
            <a:endParaRPr lang="zh-CN"/>
          </a:p>
        </p:txBody>
      </p:sp>
    </p:spTree>
    <p:extLst>
      <p:ext uri="{BB962C8B-B14F-4D97-AF65-F5344CB8AC3E}">
        <p14:creationId xmlns:p14="http://schemas.microsoft.com/office/powerpoint/2010/main" val="1649471687"/>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71600" y="1143000"/>
            <a:ext cx="4114800" cy="3086100"/>
          </a:xfrm>
        </p:spPr>
      </p:sp>
      <p:sp>
        <p:nvSpPr>
          <p:cNvPr id="3" name="备注占位符 2"/>
          <p:cNvSpPr>
            <a:spLocks noGrp="1"/>
          </p:cNvSpPr>
          <p:nvPr>
            <p:ph type="body" idx="1"/>
          </p:nvPr>
        </p:nvSpPr>
        <p:spPr/>
        <p:txBody>
          <a:bodyPr/>
          <a:lstStyle/>
          <a:p>
            <a:pPr eaLnBrk="1" hangingPunct="1"/>
            <a:endParaRPr lang="zh-CN" altLang="en-US" dirty="0" smtClean="0">
              <a:latin typeface="Arial" panose="020B0604020202020204" pitchFamily="34" charset="0"/>
            </a:endParaRPr>
          </a:p>
        </p:txBody>
      </p:sp>
      <p:sp>
        <p:nvSpPr>
          <p:cNvPr id="4" name="幻灯片编号占位符 3"/>
          <p:cNvSpPr>
            <a:spLocks noGrp="1"/>
          </p:cNvSpPr>
          <p:nvPr>
            <p:ph type="sldNum" sz="quarter" idx="10"/>
          </p:nvPr>
        </p:nvSpPr>
        <p:spPr/>
        <p:txBody>
          <a:bodyPr/>
          <a:lstStyle/>
          <a:p>
            <a:fld id="{82869989-EB00-4EE7-BCB5-25BDC5BB29F8}" type="slidenum">
              <a:rPr lang="en-US" altLang="zh-CN" smtClean="0"/>
              <a:pPr/>
              <a:t>75</a:t>
            </a:fld>
            <a:endParaRPr lang="zh-CN"/>
          </a:p>
        </p:txBody>
      </p:sp>
    </p:spTree>
    <p:extLst>
      <p:ext uri="{BB962C8B-B14F-4D97-AF65-F5344CB8AC3E}">
        <p14:creationId xmlns:p14="http://schemas.microsoft.com/office/powerpoint/2010/main" val="3962403214"/>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71600" y="1143000"/>
            <a:ext cx="4114800" cy="3086100"/>
          </a:xfrm>
        </p:spPr>
      </p:sp>
      <p:sp>
        <p:nvSpPr>
          <p:cNvPr id="3" name="备注占位符 2"/>
          <p:cNvSpPr>
            <a:spLocks noGrp="1"/>
          </p:cNvSpPr>
          <p:nvPr>
            <p:ph type="body" idx="1"/>
          </p:nvPr>
        </p:nvSpPr>
        <p:spPr/>
        <p:txBody>
          <a:bodyPr/>
          <a:lstStyle/>
          <a:p>
            <a:pPr eaLnBrk="1" hangingPunct="1"/>
            <a:endParaRPr lang="zh-CN" altLang="en-US" dirty="0" smtClean="0">
              <a:latin typeface="Arial" panose="020B0604020202020204" pitchFamily="34" charset="0"/>
            </a:endParaRPr>
          </a:p>
        </p:txBody>
      </p:sp>
      <p:sp>
        <p:nvSpPr>
          <p:cNvPr id="4" name="幻灯片编号占位符 3"/>
          <p:cNvSpPr>
            <a:spLocks noGrp="1"/>
          </p:cNvSpPr>
          <p:nvPr>
            <p:ph type="sldNum" sz="quarter" idx="10"/>
          </p:nvPr>
        </p:nvSpPr>
        <p:spPr/>
        <p:txBody>
          <a:bodyPr/>
          <a:lstStyle/>
          <a:p>
            <a:fld id="{82869989-EB00-4EE7-BCB5-25BDC5BB29F8}" type="slidenum">
              <a:rPr lang="en-US" altLang="zh-CN" smtClean="0"/>
              <a:pPr/>
              <a:t>76</a:t>
            </a:fld>
            <a:endParaRPr lang="zh-CN"/>
          </a:p>
        </p:txBody>
      </p:sp>
    </p:spTree>
    <p:extLst>
      <p:ext uri="{BB962C8B-B14F-4D97-AF65-F5344CB8AC3E}">
        <p14:creationId xmlns:p14="http://schemas.microsoft.com/office/powerpoint/2010/main" val="1910991404"/>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71600" y="1143000"/>
            <a:ext cx="4114800" cy="3086100"/>
          </a:xfrm>
        </p:spPr>
      </p:sp>
      <p:sp>
        <p:nvSpPr>
          <p:cNvPr id="3" name="备注占位符 2"/>
          <p:cNvSpPr>
            <a:spLocks noGrp="1"/>
          </p:cNvSpPr>
          <p:nvPr>
            <p:ph type="body" idx="1"/>
          </p:nvPr>
        </p:nvSpPr>
        <p:spPr/>
        <p:txBody>
          <a:bodyPr/>
          <a:lstStyle/>
          <a:p>
            <a:pPr eaLnBrk="1" hangingPunct="1"/>
            <a:endParaRPr lang="zh-CN" altLang="en-US" dirty="0" smtClean="0">
              <a:latin typeface="Arial" panose="020B0604020202020204" pitchFamily="34" charset="0"/>
            </a:endParaRPr>
          </a:p>
        </p:txBody>
      </p:sp>
      <p:sp>
        <p:nvSpPr>
          <p:cNvPr id="4" name="幻灯片编号占位符 3"/>
          <p:cNvSpPr>
            <a:spLocks noGrp="1"/>
          </p:cNvSpPr>
          <p:nvPr>
            <p:ph type="sldNum" sz="quarter" idx="10"/>
          </p:nvPr>
        </p:nvSpPr>
        <p:spPr/>
        <p:txBody>
          <a:bodyPr/>
          <a:lstStyle/>
          <a:p>
            <a:fld id="{82869989-EB00-4EE7-BCB5-25BDC5BB29F8}" type="slidenum">
              <a:rPr lang="en-US" altLang="zh-CN" smtClean="0"/>
              <a:pPr/>
              <a:t>77</a:t>
            </a:fld>
            <a:endParaRPr lang="zh-CN"/>
          </a:p>
        </p:txBody>
      </p:sp>
    </p:spTree>
    <p:extLst>
      <p:ext uri="{BB962C8B-B14F-4D97-AF65-F5344CB8AC3E}">
        <p14:creationId xmlns:p14="http://schemas.microsoft.com/office/powerpoint/2010/main" val="2136382121"/>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71600" y="1143000"/>
            <a:ext cx="4114800" cy="3086100"/>
          </a:xfrm>
        </p:spPr>
      </p:sp>
      <p:sp>
        <p:nvSpPr>
          <p:cNvPr id="3" name="备注占位符 2"/>
          <p:cNvSpPr>
            <a:spLocks noGrp="1"/>
          </p:cNvSpPr>
          <p:nvPr>
            <p:ph type="body" idx="1"/>
          </p:nvPr>
        </p:nvSpPr>
        <p:spPr/>
        <p:txBody>
          <a:bodyPr/>
          <a:lstStyle/>
          <a:p>
            <a:pPr eaLnBrk="1" hangingPunct="1"/>
            <a:endParaRPr lang="zh-CN" altLang="en-US" dirty="0" smtClean="0">
              <a:latin typeface="Arial" panose="020B0604020202020204" pitchFamily="34" charset="0"/>
            </a:endParaRPr>
          </a:p>
        </p:txBody>
      </p:sp>
      <p:sp>
        <p:nvSpPr>
          <p:cNvPr id="4" name="幻灯片编号占位符 3"/>
          <p:cNvSpPr>
            <a:spLocks noGrp="1"/>
          </p:cNvSpPr>
          <p:nvPr>
            <p:ph type="sldNum" sz="quarter" idx="10"/>
          </p:nvPr>
        </p:nvSpPr>
        <p:spPr/>
        <p:txBody>
          <a:bodyPr/>
          <a:lstStyle/>
          <a:p>
            <a:fld id="{82869989-EB00-4EE7-BCB5-25BDC5BB29F8}" type="slidenum">
              <a:rPr lang="en-US" altLang="zh-CN" smtClean="0"/>
              <a:pPr/>
              <a:t>78</a:t>
            </a:fld>
            <a:endParaRPr lang="zh-CN"/>
          </a:p>
        </p:txBody>
      </p:sp>
    </p:spTree>
    <p:extLst>
      <p:ext uri="{BB962C8B-B14F-4D97-AF65-F5344CB8AC3E}">
        <p14:creationId xmlns:p14="http://schemas.microsoft.com/office/powerpoint/2010/main" val="2789625985"/>
      </p:ext>
    </p:extLst>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71600" y="1143000"/>
            <a:ext cx="4114800" cy="3086100"/>
          </a:xfrm>
        </p:spPr>
      </p:sp>
      <p:sp>
        <p:nvSpPr>
          <p:cNvPr id="3" name="备注占位符 2"/>
          <p:cNvSpPr>
            <a:spLocks noGrp="1"/>
          </p:cNvSpPr>
          <p:nvPr>
            <p:ph type="body" idx="1"/>
          </p:nvPr>
        </p:nvSpPr>
        <p:spPr/>
        <p:txBody>
          <a:bodyPr/>
          <a:lstStyle/>
          <a:p>
            <a:pPr eaLnBrk="1" hangingPunct="1"/>
            <a:endParaRPr lang="zh-CN" altLang="en-US" dirty="0" smtClean="0">
              <a:latin typeface="Arial" panose="020B0604020202020204" pitchFamily="34" charset="0"/>
            </a:endParaRPr>
          </a:p>
        </p:txBody>
      </p:sp>
      <p:sp>
        <p:nvSpPr>
          <p:cNvPr id="4" name="幻灯片编号占位符 3"/>
          <p:cNvSpPr>
            <a:spLocks noGrp="1"/>
          </p:cNvSpPr>
          <p:nvPr>
            <p:ph type="sldNum" sz="quarter" idx="10"/>
          </p:nvPr>
        </p:nvSpPr>
        <p:spPr/>
        <p:txBody>
          <a:bodyPr/>
          <a:lstStyle/>
          <a:p>
            <a:fld id="{82869989-EB00-4EE7-BCB5-25BDC5BB29F8}" type="slidenum">
              <a:rPr lang="en-US" altLang="zh-CN" smtClean="0"/>
              <a:pPr/>
              <a:t>79</a:t>
            </a:fld>
            <a:endParaRPr lang="zh-CN"/>
          </a:p>
        </p:txBody>
      </p:sp>
    </p:spTree>
    <p:extLst>
      <p:ext uri="{BB962C8B-B14F-4D97-AF65-F5344CB8AC3E}">
        <p14:creationId xmlns:p14="http://schemas.microsoft.com/office/powerpoint/2010/main" val="2273679013"/>
      </p:ext>
    </p:extLst>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71600" y="1143000"/>
            <a:ext cx="4114800" cy="3086100"/>
          </a:xfrm>
        </p:spPr>
      </p:sp>
      <p:sp>
        <p:nvSpPr>
          <p:cNvPr id="3" name="备注占位符 2"/>
          <p:cNvSpPr>
            <a:spLocks noGrp="1"/>
          </p:cNvSpPr>
          <p:nvPr>
            <p:ph type="body" idx="1"/>
          </p:nvPr>
        </p:nvSpPr>
        <p:spPr/>
        <p:txBody>
          <a:bodyPr/>
          <a:lstStyle/>
          <a:p>
            <a:pPr eaLnBrk="1" hangingPunct="1"/>
            <a:endParaRPr lang="zh-CN" altLang="en-US" dirty="0" smtClean="0">
              <a:latin typeface="Arial" panose="020B0604020202020204" pitchFamily="34" charset="0"/>
            </a:endParaRPr>
          </a:p>
        </p:txBody>
      </p:sp>
      <p:sp>
        <p:nvSpPr>
          <p:cNvPr id="4" name="幻灯片编号占位符 3"/>
          <p:cNvSpPr>
            <a:spLocks noGrp="1"/>
          </p:cNvSpPr>
          <p:nvPr>
            <p:ph type="sldNum" sz="quarter" idx="10"/>
          </p:nvPr>
        </p:nvSpPr>
        <p:spPr/>
        <p:txBody>
          <a:bodyPr/>
          <a:lstStyle/>
          <a:p>
            <a:fld id="{82869989-EB00-4EE7-BCB5-25BDC5BB29F8}" type="slidenum">
              <a:rPr lang="en-US" altLang="zh-CN" smtClean="0"/>
              <a:pPr/>
              <a:t>80</a:t>
            </a:fld>
            <a:endParaRPr lang="zh-CN"/>
          </a:p>
        </p:txBody>
      </p:sp>
    </p:spTree>
    <p:extLst>
      <p:ext uri="{BB962C8B-B14F-4D97-AF65-F5344CB8AC3E}">
        <p14:creationId xmlns:p14="http://schemas.microsoft.com/office/powerpoint/2010/main" val="732234081"/>
      </p:ext>
    </p:extLst>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71600" y="1143000"/>
            <a:ext cx="4114800" cy="3086100"/>
          </a:xfrm>
        </p:spPr>
      </p:sp>
      <p:sp>
        <p:nvSpPr>
          <p:cNvPr id="3" name="备注占位符 2"/>
          <p:cNvSpPr>
            <a:spLocks noGrp="1"/>
          </p:cNvSpPr>
          <p:nvPr>
            <p:ph type="body" idx="1"/>
          </p:nvPr>
        </p:nvSpPr>
        <p:spPr/>
        <p:txBody>
          <a:bodyPr/>
          <a:lstStyle/>
          <a:p>
            <a:pPr eaLnBrk="1" hangingPunct="1"/>
            <a:endParaRPr lang="zh-CN" altLang="en-US" dirty="0" smtClean="0">
              <a:latin typeface="Arial" panose="020B0604020202020204" pitchFamily="34" charset="0"/>
            </a:endParaRPr>
          </a:p>
        </p:txBody>
      </p:sp>
      <p:sp>
        <p:nvSpPr>
          <p:cNvPr id="4" name="幻灯片编号占位符 3"/>
          <p:cNvSpPr>
            <a:spLocks noGrp="1"/>
          </p:cNvSpPr>
          <p:nvPr>
            <p:ph type="sldNum" sz="quarter" idx="10"/>
          </p:nvPr>
        </p:nvSpPr>
        <p:spPr/>
        <p:txBody>
          <a:bodyPr/>
          <a:lstStyle/>
          <a:p>
            <a:fld id="{82869989-EB00-4EE7-BCB5-25BDC5BB29F8}" type="slidenum">
              <a:rPr lang="en-US" altLang="zh-CN" smtClean="0"/>
              <a:pPr/>
              <a:t>81</a:t>
            </a:fld>
            <a:endParaRPr lang="zh-CN"/>
          </a:p>
        </p:txBody>
      </p:sp>
    </p:spTree>
    <p:extLst>
      <p:ext uri="{BB962C8B-B14F-4D97-AF65-F5344CB8AC3E}">
        <p14:creationId xmlns:p14="http://schemas.microsoft.com/office/powerpoint/2010/main" val="3015154095"/>
      </p:ext>
    </p:extLst>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71600" y="1143000"/>
            <a:ext cx="4114800" cy="3086100"/>
          </a:xfrm>
        </p:spPr>
      </p:sp>
      <p:sp>
        <p:nvSpPr>
          <p:cNvPr id="3" name="备注占位符 2"/>
          <p:cNvSpPr>
            <a:spLocks noGrp="1"/>
          </p:cNvSpPr>
          <p:nvPr>
            <p:ph type="body" idx="1"/>
          </p:nvPr>
        </p:nvSpPr>
        <p:spPr/>
        <p:txBody>
          <a:bodyPr/>
          <a:lstStyle/>
          <a:p>
            <a:pPr eaLnBrk="1" hangingPunct="1"/>
            <a:endParaRPr lang="zh-CN" altLang="en-US" dirty="0" smtClean="0">
              <a:latin typeface="Arial" panose="020B0604020202020204" pitchFamily="34" charset="0"/>
            </a:endParaRPr>
          </a:p>
        </p:txBody>
      </p:sp>
      <p:sp>
        <p:nvSpPr>
          <p:cNvPr id="4" name="幻灯片编号占位符 3"/>
          <p:cNvSpPr>
            <a:spLocks noGrp="1"/>
          </p:cNvSpPr>
          <p:nvPr>
            <p:ph type="sldNum" sz="quarter" idx="10"/>
          </p:nvPr>
        </p:nvSpPr>
        <p:spPr/>
        <p:txBody>
          <a:bodyPr/>
          <a:lstStyle/>
          <a:p>
            <a:fld id="{82869989-EB00-4EE7-BCB5-25BDC5BB29F8}" type="slidenum">
              <a:rPr lang="en-US" altLang="zh-CN" smtClean="0"/>
              <a:pPr/>
              <a:t>82</a:t>
            </a:fld>
            <a:endParaRPr lang="zh-CN"/>
          </a:p>
        </p:txBody>
      </p:sp>
    </p:spTree>
    <p:extLst>
      <p:ext uri="{BB962C8B-B14F-4D97-AF65-F5344CB8AC3E}">
        <p14:creationId xmlns:p14="http://schemas.microsoft.com/office/powerpoint/2010/main" val="523154218"/>
      </p:ext>
    </p:extLst>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71600" y="1143000"/>
            <a:ext cx="4114800" cy="3086100"/>
          </a:xfrm>
        </p:spPr>
      </p:sp>
      <p:sp>
        <p:nvSpPr>
          <p:cNvPr id="3" name="备注占位符 2"/>
          <p:cNvSpPr>
            <a:spLocks noGrp="1"/>
          </p:cNvSpPr>
          <p:nvPr>
            <p:ph type="body" idx="1"/>
          </p:nvPr>
        </p:nvSpPr>
        <p:spPr/>
        <p:txBody>
          <a:bodyPr/>
          <a:lstStyle/>
          <a:p>
            <a:pPr eaLnBrk="1" hangingPunct="1"/>
            <a:endParaRPr lang="zh-CN" altLang="en-US" dirty="0" smtClean="0">
              <a:latin typeface="Arial" panose="020B0604020202020204" pitchFamily="34" charset="0"/>
            </a:endParaRPr>
          </a:p>
        </p:txBody>
      </p:sp>
      <p:sp>
        <p:nvSpPr>
          <p:cNvPr id="4" name="幻灯片编号占位符 3"/>
          <p:cNvSpPr>
            <a:spLocks noGrp="1"/>
          </p:cNvSpPr>
          <p:nvPr>
            <p:ph type="sldNum" sz="quarter" idx="10"/>
          </p:nvPr>
        </p:nvSpPr>
        <p:spPr/>
        <p:txBody>
          <a:bodyPr/>
          <a:lstStyle/>
          <a:p>
            <a:fld id="{82869989-EB00-4EE7-BCB5-25BDC5BB29F8}" type="slidenum">
              <a:rPr lang="en-US" altLang="zh-CN" smtClean="0"/>
              <a:pPr/>
              <a:t>83</a:t>
            </a:fld>
            <a:endParaRPr lang="zh-CN"/>
          </a:p>
        </p:txBody>
      </p:sp>
    </p:spTree>
    <p:extLst>
      <p:ext uri="{BB962C8B-B14F-4D97-AF65-F5344CB8AC3E}">
        <p14:creationId xmlns:p14="http://schemas.microsoft.com/office/powerpoint/2010/main" val="4092662758"/>
      </p:ext>
    </p:extLst>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71600" y="1143000"/>
            <a:ext cx="4114800" cy="3086100"/>
          </a:xfrm>
        </p:spPr>
      </p:sp>
      <p:sp>
        <p:nvSpPr>
          <p:cNvPr id="3" name="备注占位符 2"/>
          <p:cNvSpPr>
            <a:spLocks noGrp="1"/>
          </p:cNvSpPr>
          <p:nvPr>
            <p:ph type="body" idx="1"/>
          </p:nvPr>
        </p:nvSpPr>
        <p:spPr/>
        <p:txBody>
          <a:bodyPr/>
          <a:lstStyle/>
          <a:p>
            <a:pPr eaLnBrk="1" hangingPunct="1"/>
            <a:endParaRPr lang="zh-CN" altLang="en-US" dirty="0" smtClean="0">
              <a:latin typeface="Arial" panose="020B0604020202020204" pitchFamily="34" charset="0"/>
            </a:endParaRPr>
          </a:p>
        </p:txBody>
      </p:sp>
      <p:sp>
        <p:nvSpPr>
          <p:cNvPr id="4" name="幻灯片编号占位符 3"/>
          <p:cNvSpPr>
            <a:spLocks noGrp="1"/>
          </p:cNvSpPr>
          <p:nvPr>
            <p:ph type="sldNum" sz="quarter" idx="10"/>
          </p:nvPr>
        </p:nvSpPr>
        <p:spPr/>
        <p:txBody>
          <a:bodyPr/>
          <a:lstStyle/>
          <a:p>
            <a:fld id="{82869989-EB00-4EE7-BCB5-25BDC5BB29F8}" type="slidenum">
              <a:rPr lang="en-US" altLang="zh-CN" smtClean="0"/>
              <a:pPr/>
              <a:t>84</a:t>
            </a:fld>
            <a:endParaRPr lang="zh-CN"/>
          </a:p>
        </p:txBody>
      </p:sp>
    </p:spTree>
    <p:extLst>
      <p:ext uri="{BB962C8B-B14F-4D97-AF65-F5344CB8AC3E}">
        <p14:creationId xmlns:p14="http://schemas.microsoft.com/office/powerpoint/2010/main" val="448478674"/>
      </p:ext>
    </p:extLst>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71600" y="1143000"/>
            <a:ext cx="4114800" cy="3086100"/>
          </a:xfrm>
        </p:spPr>
      </p:sp>
      <p:sp>
        <p:nvSpPr>
          <p:cNvPr id="3" name="备注占位符 2"/>
          <p:cNvSpPr>
            <a:spLocks noGrp="1"/>
          </p:cNvSpPr>
          <p:nvPr>
            <p:ph type="body" idx="1"/>
          </p:nvPr>
        </p:nvSpPr>
        <p:spPr/>
        <p:txBody>
          <a:bodyPr/>
          <a:lstStyle/>
          <a:p>
            <a:pPr eaLnBrk="1" hangingPunct="1"/>
            <a:endParaRPr lang="zh-CN" altLang="en-US" dirty="0" smtClean="0">
              <a:latin typeface="Arial" panose="020B0604020202020204" pitchFamily="34" charset="0"/>
            </a:endParaRPr>
          </a:p>
        </p:txBody>
      </p:sp>
      <p:sp>
        <p:nvSpPr>
          <p:cNvPr id="4" name="幻灯片编号占位符 3"/>
          <p:cNvSpPr>
            <a:spLocks noGrp="1"/>
          </p:cNvSpPr>
          <p:nvPr>
            <p:ph type="sldNum" sz="quarter" idx="10"/>
          </p:nvPr>
        </p:nvSpPr>
        <p:spPr/>
        <p:txBody>
          <a:bodyPr/>
          <a:lstStyle/>
          <a:p>
            <a:fld id="{82869989-EB00-4EE7-BCB5-25BDC5BB29F8}" type="slidenum">
              <a:rPr lang="en-US" altLang="zh-CN" smtClean="0"/>
              <a:pPr/>
              <a:t>85</a:t>
            </a:fld>
            <a:endParaRPr lang="zh-CN"/>
          </a:p>
        </p:txBody>
      </p:sp>
    </p:spTree>
    <p:extLst>
      <p:ext uri="{BB962C8B-B14F-4D97-AF65-F5344CB8AC3E}">
        <p14:creationId xmlns:p14="http://schemas.microsoft.com/office/powerpoint/2010/main" val="235012355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970384" y="1909346"/>
            <a:ext cx="7203233" cy="3383280"/>
          </a:xfrm>
        </p:spPr>
        <p:txBody>
          <a:bodyPr anchor="b">
            <a:normAutofit/>
          </a:bodyPr>
          <a:lstStyle>
            <a:lvl1pPr algn="l" latinLnBrk="0">
              <a:lnSpc>
                <a:spcPct val="76000"/>
              </a:lnSpc>
              <a:defRPr lang="zh-CN" sz="8000" cap="none" baseline="0">
                <a:solidFill>
                  <a:schemeClr val="tx1"/>
                </a:solidFill>
              </a:defRPr>
            </a:lvl1pPr>
          </a:lstStyle>
          <a:p>
            <a:r>
              <a:rPr lang="zh-CN" altLang="en-US" smtClean="0"/>
              <a:t>单击此处编辑母版标题样式</a:t>
            </a:r>
            <a:endParaRPr lang="zh-CN" dirty="0"/>
          </a:p>
        </p:txBody>
      </p:sp>
      <p:sp>
        <p:nvSpPr>
          <p:cNvPr id="3" name="副标题 2"/>
          <p:cNvSpPr>
            <a:spLocks noGrp="1"/>
          </p:cNvSpPr>
          <p:nvPr>
            <p:ph type="subTitle" idx="1"/>
          </p:nvPr>
        </p:nvSpPr>
        <p:spPr>
          <a:xfrm>
            <a:off x="970384" y="5432564"/>
            <a:ext cx="7203233" cy="457200"/>
          </a:xfrm>
        </p:spPr>
        <p:txBody>
          <a:bodyPr>
            <a:normAutofit/>
          </a:bodyPr>
          <a:lstStyle>
            <a:lvl1pPr marL="0" indent="0" algn="l" latinLnBrk="0">
              <a:spcBef>
                <a:spcPts val="0"/>
              </a:spcBef>
              <a:buNone/>
              <a:defRPr lang="zh-CN" sz="2000" b="0">
                <a:solidFill>
                  <a:schemeClr val="accent1"/>
                </a:solidFill>
              </a:defRPr>
            </a:lvl1pPr>
            <a:lvl2pPr marL="457200" indent="0" algn="ctr" latinLnBrk="0">
              <a:buNone/>
              <a:defRPr lang="zh-CN" sz="2000"/>
            </a:lvl2pPr>
            <a:lvl3pPr marL="914400" indent="0" algn="ctr" latinLnBrk="0">
              <a:buNone/>
              <a:defRPr lang="zh-CN" sz="1800"/>
            </a:lvl3pPr>
            <a:lvl4pPr marL="1371600" indent="0" algn="ctr" latinLnBrk="0">
              <a:buNone/>
              <a:defRPr lang="zh-CN" sz="1600"/>
            </a:lvl4pPr>
            <a:lvl5pPr marL="1828800" indent="0" algn="ctr" latinLnBrk="0">
              <a:buNone/>
              <a:defRPr lang="zh-CN" sz="1600"/>
            </a:lvl5pPr>
            <a:lvl6pPr marL="2286000" indent="0" algn="ctr" latinLnBrk="0">
              <a:buNone/>
              <a:defRPr lang="zh-CN" sz="1600"/>
            </a:lvl6pPr>
            <a:lvl7pPr marL="2743200" indent="0" algn="ctr" latinLnBrk="0">
              <a:buNone/>
              <a:defRPr lang="zh-CN" sz="1600"/>
            </a:lvl7pPr>
            <a:lvl8pPr marL="3200400" indent="0" algn="ctr" latinLnBrk="0">
              <a:buNone/>
              <a:defRPr lang="zh-CN" sz="1600"/>
            </a:lvl8pPr>
            <a:lvl9pPr marL="3657600" indent="0" algn="ctr" latinLnBrk="0">
              <a:buNone/>
              <a:defRPr lang="zh-CN" sz="1600"/>
            </a:lvl9pPr>
          </a:lstStyle>
          <a:p>
            <a:r>
              <a:rPr lang="zh-CN" altLang="en-US" smtClean="0"/>
              <a:t>单击此处编辑母版副标题样式</a:t>
            </a:r>
            <a:endParaRPr lang="zh-CN"/>
          </a:p>
        </p:txBody>
      </p:sp>
      <p:cxnSp>
        <p:nvCxnSpPr>
          <p:cNvPr id="58" name="直线连接线 57"/>
          <p:cNvCxnSpPr/>
          <p:nvPr userDrawn="1"/>
        </p:nvCxnSpPr>
        <p:spPr>
          <a:xfrm>
            <a:off x="971550" y="5294175"/>
            <a:ext cx="7200900" cy="0"/>
          </a:xfrm>
          <a:prstGeom prst="line">
            <a:avLst/>
          </a:prstGeom>
          <a:ln w="12700"/>
        </p:spPr>
        <p:style>
          <a:lnRef idx="1">
            <a:schemeClr val="accent1"/>
          </a:lnRef>
          <a:fillRef idx="0">
            <a:schemeClr val="accent1"/>
          </a:fillRef>
          <a:effectRef idx="0">
            <a:schemeClr val="accent1"/>
          </a:effectRef>
          <a:fontRef idx="minor">
            <a:schemeClr val="tx1"/>
          </a:fontRef>
        </p:style>
      </p:cxnSp>
      <p:cxnSp>
        <p:nvCxnSpPr>
          <p:cNvPr id="8" name="直接连接符 7"/>
          <p:cNvCxnSpPr>
            <a:endCxn id="3" idx="3"/>
          </p:cNvCxnSpPr>
          <p:nvPr userDrawn="1"/>
        </p:nvCxnSpPr>
        <p:spPr>
          <a:xfrm>
            <a:off x="8172450" y="1143000"/>
            <a:ext cx="1167" cy="4518164"/>
          </a:xfrm>
          <a:prstGeom prst="line">
            <a:avLst/>
          </a:prstGeom>
          <a:ln w="190500" cmpd="sng"/>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79886275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971550" y="18386"/>
            <a:ext cx="7200900" cy="1142385"/>
          </a:xfrm>
        </p:spPr>
        <p:txBody>
          <a:bodyPr/>
          <a:lstStyle/>
          <a:p>
            <a:r>
              <a:rPr lang="zh-CN" altLang="en-US" dirty="0" smtClean="0"/>
              <a:t>单击此处编辑母版标题样式</a:t>
            </a:r>
            <a:endParaRPr lang="zh-CN" dirty="0"/>
          </a:p>
        </p:txBody>
      </p:sp>
      <p:sp>
        <p:nvSpPr>
          <p:cNvPr id="3" name="内容占位符 2"/>
          <p:cNvSpPr>
            <a:spLocks noGrp="1"/>
          </p:cNvSpPr>
          <p:nvPr>
            <p:ph idx="1"/>
          </p:nvPr>
        </p:nvSpPr>
        <p:spPr>
          <a:xfrm>
            <a:off x="971550" y="1447800"/>
            <a:ext cx="7200900" cy="4559300"/>
          </a:xfrm>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dirty="0"/>
          </a:p>
        </p:txBody>
      </p:sp>
      <p:sp>
        <p:nvSpPr>
          <p:cNvPr id="4" name="日期占位符 3"/>
          <p:cNvSpPr>
            <a:spLocks noGrp="1"/>
          </p:cNvSpPr>
          <p:nvPr>
            <p:ph type="dt" sz="half" idx="10"/>
          </p:nvPr>
        </p:nvSpPr>
        <p:spPr/>
        <p:txBody>
          <a:bodyPr/>
          <a:lstStyle/>
          <a:p>
            <a:fld id="{955AE237-00C5-49C3-9620-3A7E1C66D777}" type="datetime1">
              <a:rPr lang="zh-CN" altLang="en-US" smtClean="0"/>
              <a:pPr/>
              <a:t>2022/5/23</a:t>
            </a:fld>
            <a:endParaRPr lang="zh-CN"/>
          </a:p>
        </p:txBody>
      </p:sp>
      <p:sp>
        <p:nvSpPr>
          <p:cNvPr id="5" name="页脚占位符 4"/>
          <p:cNvSpPr>
            <a:spLocks noGrp="1"/>
          </p:cNvSpPr>
          <p:nvPr>
            <p:ph type="ftr" sz="quarter" idx="11"/>
          </p:nvPr>
        </p:nvSpPr>
        <p:spPr/>
        <p:txBody>
          <a:bodyPr/>
          <a:lstStyle>
            <a:lvl1pPr>
              <a:defRPr sz="1600">
                <a:solidFill>
                  <a:schemeClr val="accent1"/>
                </a:solidFill>
                <a:latin typeface="微软雅黑" panose="020B0503020204020204" pitchFamily="34" charset="-122"/>
                <a:ea typeface="微软雅黑" panose="020B0503020204020204" pitchFamily="34" charset="-122"/>
              </a:defRPr>
            </a:lvl1pPr>
          </a:lstStyle>
          <a:p>
            <a:r>
              <a:rPr lang="zh-CN" altLang="en-US" dirty="0" smtClean="0"/>
              <a:t>国际金融学 范小云</a:t>
            </a:r>
            <a:endParaRPr lang="zh-CN" altLang="en-US" dirty="0"/>
          </a:p>
        </p:txBody>
      </p:sp>
      <p:sp>
        <p:nvSpPr>
          <p:cNvPr id="6" name="幻灯片编号占位符 5"/>
          <p:cNvSpPr>
            <a:spLocks noGrp="1"/>
          </p:cNvSpPr>
          <p:nvPr>
            <p:ph type="sldNum" sz="quarter" idx="12"/>
          </p:nvPr>
        </p:nvSpPr>
        <p:spPr/>
        <p:txBody>
          <a:bodyPr/>
          <a:lstStyle/>
          <a:p>
            <a:fld id="{E31375A4-56A4-47D6-9801-1991572033F7}" type="slidenum">
              <a:rPr/>
              <a:pPr/>
              <a:t>‹#›</a:t>
            </a:fld>
            <a:endParaRPr lang="zh-CN"/>
          </a:p>
        </p:txBody>
      </p:sp>
    </p:spTree>
    <p:extLst>
      <p:ext uri="{BB962C8B-B14F-4D97-AF65-F5344CB8AC3E}">
        <p14:creationId xmlns:p14="http://schemas.microsoft.com/office/powerpoint/2010/main" val="311244411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节标题">
    <p:bg>
      <p:bgPr>
        <a:gradFill flip="none" rotWithShape="1">
          <a:gsLst>
            <a:gs pos="0">
              <a:schemeClr val="accent1"/>
            </a:gs>
            <a:gs pos="97000">
              <a:schemeClr val="accent1">
                <a:lumMod val="80000"/>
              </a:schemeClr>
            </a:gs>
          </a:gsLst>
          <a:path path="circle">
            <a:fillToRect l="50000" t="50000" r="50000" b="50000"/>
          </a:path>
          <a:tileRect/>
        </a:gradFill>
        <a:effectLst/>
      </p:bgPr>
    </p:bg>
    <p:spTree>
      <p:nvGrpSpPr>
        <p:cNvPr id="1" name=""/>
        <p:cNvGrpSpPr/>
        <p:nvPr/>
      </p:nvGrpSpPr>
      <p:grpSpPr>
        <a:xfrm>
          <a:off x="0" y="0"/>
          <a:ext cx="0" cy="0"/>
          <a:chOff x="0" y="0"/>
          <a:chExt cx="0" cy="0"/>
        </a:xfrm>
      </p:grpSpPr>
      <p:grpSp>
        <p:nvGrpSpPr>
          <p:cNvPr id="7" name="组 6"/>
          <p:cNvGrpSpPr/>
          <p:nvPr userDrawn="1"/>
        </p:nvGrpSpPr>
        <p:grpSpPr bwMode="hidden">
          <a:xfrm>
            <a:off x="-1" y="0"/>
            <a:ext cx="9144002" cy="6858000"/>
            <a:chOff x="-1" y="0"/>
            <a:chExt cx="12192002" cy="6858000"/>
          </a:xfrm>
        </p:grpSpPr>
        <p:cxnSp>
          <p:nvCxnSpPr>
            <p:cNvPr id="8" name="直线连接线 7"/>
            <p:cNvCxnSpPr/>
            <p:nvPr/>
          </p:nvCxnSpPr>
          <p:spPr bwMode="hidden">
            <a:xfrm>
              <a:off x="610194" y="0"/>
              <a:ext cx="0"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9" name="直线连接线 8"/>
            <p:cNvCxnSpPr/>
            <p:nvPr/>
          </p:nvCxnSpPr>
          <p:spPr bwMode="hidden">
            <a:xfrm>
              <a:off x="1829332" y="0"/>
              <a:ext cx="0"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0" name="直线连接线 9"/>
            <p:cNvCxnSpPr/>
            <p:nvPr/>
          </p:nvCxnSpPr>
          <p:spPr bwMode="hidden">
            <a:xfrm>
              <a:off x="3048470" y="0"/>
              <a:ext cx="0"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1" name="直线连接线 10"/>
            <p:cNvCxnSpPr/>
            <p:nvPr/>
          </p:nvCxnSpPr>
          <p:spPr bwMode="hidden">
            <a:xfrm>
              <a:off x="4267608" y="0"/>
              <a:ext cx="0"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2" name="直线连接线 11"/>
            <p:cNvCxnSpPr/>
            <p:nvPr/>
          </p:nvCxnSpPr>
          <p:spPr bwMode="hidden">
            <a:xfrm>
              <a:off x="5486746" y="0"/>
              <a:ext cx="0"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3" name="直线连接线 12"/>
            <p:cNvCxnSpPr/>
            <p:nvPr/>
          </p:nvCxnSpPr>
          <p:spPr bwMode="hidden">
            <a:xfrm>
              <a:off x="6705884" y="0"/>
              <a:ext cx="0"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4" name="直线连接线 13"/>
            <p:cNvCxnSpPr/>
            <p:nvPr/>
          </p:nvCxnSpPr>
          <p:spPr bwMode="hidden">
            <a:xfrm>
              <a:off x="7925022" y="0"/>
              <a:ext cx="0"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5" name="直线连接线 14"/>
            <p:cNvCxnSpPr/>
            <p:nvPr/>
          </p:nvCxnSpPr>
          <p:spPr bwMode="hidden">
            <a:xfrm>
              <a:off x="9144160" y="0"/>
              <a:ext cx="0"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6" name="直线连接线 15"/>
            <p:cNvCxnSpPr/>
            <p:nvPr/>
          </p:nvCxnSpPr>
          <p:spPr bwMode="hidden">
            <a:xfrm>
              <a:off x="10363298" y="0"/>
              <a:ext cx="0"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7" name="直线连接线 16"/>
            <p:cNvCxnSpPr/>
            <p:nvPr/>
          </p:nvCxnSpPr>
          <p:spPr bwMode="hidden">
            <a:xfrm>
              <a:off x="11582436" y="0"/>
              <a:ext cx="0"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8" name="直线连接线 17"/>
            <p:cNvCxnSpPr/>
            <p:nvPr/>
          </p:nvCxnSpPr>
          <p:spPr bwMode="hidden">
            <a:xfrm>
              <a:off x="2819" y="386485"/>
              <a:ext cx="12188952" cy="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9" name="直线连接线 18"/>
            <p:cNvCxnSpPr/>
            <p:nvPr/>
          </p:nvCxnSpPr>
          <p:spPr bwMode="hidden">
            <a:xfrm>
              <a:off x="2819" y="1611181"/>
              <a:ext cx="12188952" cy="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20" name="直线连接线 19"/>
            <p:cNvCxnSpPr/>
            <p:nvPr/>
          </p:nvCxnSpPr>
          <p:spPr bwMode="hidden">
            <a:xfrm>
              <a:off x="2819" y="2835877"/>
              <a:ext cx="12188952" cy="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21" name="直线连接线 20"/>
            <p:cNvCxnSpPr/>
            <p:nvPr/>
          </p:nvCxnSpPr>
          <p:spPr bwMode="hidden">
            <a:xfrm>
              <a:off x="2819" y="4060573"/>
              <a:ext cx="12188952" cy="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22" name="直线连接线 21"/>
            <p:cNvCxnSpPr/>
            <p:nvPr/>
          </p:nvCxnSpPr>
          <p:spPr bwMode="hidden">
            <a:xfrm>
              <a:off x="2819" y="5285269"/>
              <a:ext cx="12188952" cy="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23" name="直线连接线 22"/>
            <p:cNvCxnSpPr/>
            <p:nvPr/>
          </p:nvCxnSpPr>
          <p:spPr bwMode="hidden">
            <a:xfrm>
              <a:off x="2819" y="6509965"/>
              <a:ext cx="12188952" cy="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grpSp>
          <p:nvGrpSpPr>
            <p:cNvPr id="24" name="组 23"/>
            <p:cNvGrpSpPr/>
            <p:nvPr userDrawn="1"/>
          </p:nvGrpSpPr>
          <p:grpSpPr bwMode="hidden">
            <a:xfrm>
              <a:off x="-1" y="0"/>
              <a:ext cx="12192001" cy="6858000"/>
              <a:chOff x="-1" y="0"/>
              <a:chExt cx="12192001" cy="6858000"/>
            </a:xfrm>
          </p:grpSpPr>
          <p:cxnSp>
            <p:nvCxnSpPr>
              <p:cNvPr id="42" name="直线连接线 41"/>
              <p:cNvCxnSpPr/>
              <p:nvPr/>
            </p:nvCxnSpPr>
            <p:spPr bwMode="hidden">
              <a:xfrm>
                <a:off x="225425" y="0"/>
                <a:ext cx="6815931"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43" name="直线连接线 42"/>
              <p:cNvCxnSpPr/>
              <p:nvPr/>
            </p:nvCxnSpPr>
            <p:spPr bwMode="hidden">
              <a:xfrm>
                <a:off x="1449154" y="0"/>
                <a:ext cx="6815931"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44" name="直线连接线 43"/>
              <p:cNvCxnSpPr/>
              <p:nvPr/>
            </p:nvCxnSpPr>
            <p:spPr bwMode="hidden">
              <a:xfrm>
                <a:off x="2665982" y="0"/>
                <a:ext cx="6815931"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45" name="直线连接线 44"/>
              <p:cNvCxnSpPr/>
              <p:nvPr/>
            </p:nvCxnSpPr>
            <p:spPr bwMode="hidden">
              <a:xfrm>
                <a:off x="3885119" y="0"/>
                <a:ext cx="6815931"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46" name="直线连接线 45"/>
              <p:cNvCxnSpPr/>
              <p:nvPr/>
            </p:nvCxnSpPr>
            <p:spPr bwMode="hidden">
              <a:xfrm>
                <a:off x="5106502" y="0"/>
                <a:ext cx="6815931"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grpSp>
            <p:nvGrpSpPr>
              <p:cNvPr id="47" name="组 46"/>
              <p:cNvGrpSpPr/>
              <p:nvPr/>
            </p:nvGrpSpPr>
            <p:grpSpPr bwMode="hidden">
              <a:xfrm>
                <a:off x="6327885" y="0"/>
                <a:ext cx="5864115" cy="5898673"/>
                <a:chOff x="6327885" y="0"/>
                <a:chExt cx="5864115" cy="5898673"/>
              </a:xfrm>
            </p:grpSpPr>
            <p:cxnSp>
              <p:nvCxnSpPr>
                <p:cNvPr id="53" name="直线连接线 52"/>
                <p:cNvCxnSpPr/>
                <p:nvPr/>
              </p:nvCxnSpPr>
              <p:spPr bwMode="hidden">
                <a:xfrm>
                  <a:off x="6327885" y="0"/>
                  <a:ext cx="5864115" cy="5898673"/>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54" name="直线连接线 53"/>
                <p:cNvCxnSpPr/>
                <p:nvPr/>
              </p:nvCxnSpPr>
              <p:spPr bwMode="hidden">
                <a:xfrm>
                  <a:off x="7549268" y="0"/>
                  <a:ext cx="4642732" cy="4672425"/>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55" name="直线连接线 54"/>
                <p:cNvCxnSpPr/>
                <p:nvPr/>
              </p:nvCxnSpPr>
              <p:spPr bwMode="hidden">
                <a:xfrm>
                  <a:off x="8772997" y="0"/>
                  <a:ext cx="3419003" cy="3456749"/>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56" name="直线连接线 55"/>
                <p:cNvCxnSpPr/>
                <p:nvPr/>
              </p:nvCxnSpPr>
              <p:spPr bwMode="hidden">
                <a:xfrm>
                  <a:off x="9982200" y="0"/>
                  <a:ext cx="2209800" cy="2226469"/>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57" name="直线连接线 56"/>
                <p:cNvCxnSpPr/>
                <p:nvPr/>
              </p:nvCxnSpPr>
              <p:spPr bwMode="hidden">
                <a:xfrm>
                  <a:off x="11199019" y="0"/>
                  <a:ext cx="992981" cy="1002506"/>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grpSp>
          <p:cxnSp>
            <p:nvCxnSpPr>
              <p:cNvPr id="48" name="直线连接线 47"/>
              <p:cNvCxnSpPr/>
              <p:nvPr/>
            </p:nvCxnSpPr>
            <p:spPr bwMode="hidden">
              <a:xfrm flipH="1" flipV="1">
                <a:off x="-1" y="1012053"/>
                <a:ext cx="5828811" cy="5845945"/>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49" name="直线连接线 48"/>
              <p:cNvCxnSpPr/>
              <p:nvPr/>
            </p:nvCxnSpPr>
            <p:spPr bwMode="hidden">
              <a:xfrm flipH="1" flipV="1">
                <a:off x="-1" y="2227340"/>
                <a:ext cx="4614781" cy="4630658"/>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50" name="直线连接线 49"/>
              <p:cNvCxnSpPr/>
              <p:nvPr/>
            </p:nvCxnSpPr>
            <p:spPr bwMode="hidden">
              <a:xfrm flipH="1" flipV="1">
                <a:off x="-1" y="3432149"/>
                <a:ext cx="3398419" cy="3425849"/>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51" name="直线连接线 50"/>
              <p:cNvCxnSpPr/>
              <p:nvPr/>
            </p:nvCxnSpPr>
            <p:spPr bwMode="hidden">
              <a:xfrm flipH="1" flipV="1">
                <a:off x="-1" y="4651431"/>
                <a:ext cx="2196496" cy="2206567"/>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52" name="直线连接线 51"/>
              <p:cNvCxnSpPr/>
              <p:nvPr/>
            </p:nvCxnSpPr>
            <p:spPr bwMode="hidden">
              <a:xfrm flipH="1" flipV="1">
                <a:off x="-1" y="5864453"/>
                <a:ext cx="987003" cy="993545"/>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grpSp>
        <p:grpSp>
          <p:nvGrpSpPr>
            <p:cNvPr id="25" name="组 24"/>
            <p:cNvGrpSpPr/>
            <p:nvPr userDrawn="1"/>
          </p:nvGrpSpPr>
          <p:grpSpPr bwMode="hidden">
            <a:xfrm flipH="1">
              <a:off x="0" y="0"/>
              <a:ext cx="12192001" cy="6858000"/>
              <a:chOff x="-1" y="0"/>
              <a:chExt cx="12192001" cy="6858000"/>
            </a:xfrm>
          </p:grpSpPr>
          <p:cxnSp>
            <p:nvCxnSpPr>
              <p:cNvPr id="26" name="直线连接线 25"/>
              <p:cNvCxnSpPr/>
              <p:nvPr/>
            </p:nvCxnSpPr>
            <p:spPr bwMode="hidden">
              <a:xfrm>
                <a:off x="225425" y="0"/>
                <a:ext cx="6815931"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27" name="直线连接线 26"/>
              <p:cNvCxnSpPr/>
              <p:nvPr/>
            </p:nvCxnSpPr>
            <p:spPr bwMode="hidden">
              <a:xfrm>
                <a:off x="1449154" y="0"/>
                <a:ext cx="6815931"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28" name="直线连接线 27"/>
              <p:cNvCxnSpPr/>
              <p:nvPr/>
            </p:nvCxnSpPr>
            <p:spPr bwMode="hidden">
              <a:xfrm>
                <a:off x="2665982" y="0"/>
                <a:ext cx="6815931"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29" name="直线连接线 28"/>
              <p:cNvCxnSpPr/>
              <p:nvPr/>
            </p:nvCxnSpPr>
            <p:spPr bwMode="hidden">
              <a:xfrm>
                <a:off x="3885119" y="0"/>
                <a:ext cx="6815931"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30" name="直线连接线 29"/>
              <p:cNvCxnSpPr/>
              <p:nvPr/>
            </p:nvCxnSpPr>
            <p:spPr bwMode="hidden">
              <a:xfrm>
                <a:off x="5150644" y="0"/>
                <a:ext cx="6815931"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grpSp>
            <p:nvGrpSpPr>
              <p:cNvPr id="31" name="组 30"/>
              <p:cNvGrpSpPr/>
              <p:nvPr/>
            </p:nvGrpSpPr>
            <p:grpSpPr bwMode="hidden">
              <a:xfrm>
                <a:off x="6327885" y="0"/>
                <a:ext cx="5864115" cy="5898673"/>
                <a:chOff x="6327885" y="0"/>
                <a:chExt cx="5864115" cy="5898673"/>
              </a:xfrm>
            </p:grpSpPr>
            <p:cxnSp>
              <p:nvCxnSpPr>
                <p:cNvPr id="37" name="直线连接线 36"/>
                <p:cNvCxnSpPr/>
                <p:nvPr/>
              </p:nvCxnSpPr>
              <p:spPr bwMode="hidden">
                <a:xfrm>
                  <a:off x="6327885" y="0"/>
                  <a:ext cx="5864115" cy="5898673"/>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38" name="直线连接线 37"/>
                <p:cNvCxnSpPr/>
                <p:nvPr/>
              </p:nvCxnSpPr>
              <p:spPr bwMode="hidden">
                <a:xfrm>
                  <a:off x="7549268" y="0"/>
                  <a:ext cx="4642732" cy="4672425"/>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39" name="直线连接线 38"/>
                <p:cNvCxnSpPr/>
                <p:nvPr/>
              </p:nvCxnSpPr>
              <p:spPr bwMode="hidden">
                <a:xfrm>
                  <a:off x="8772997" y="0"/>
                  <a:ext cx="3419003" cy="3456749"/>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40" name="直线连接线 39"/>
                <p:cNvCxnSpPr/>
                <p:nvPr/>
              </p:nvCxnSpPr>
              <p:spPr bwMode="hidden">
                <a:xfrm>
                  <a:off x="9982200" y="0"/>
                  <a:ext cx="2209800" cy="2226469"/>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41" name="直线连接线 40"/>
                <p:cNvCxnSpPr/>
                <p:nvPr/>
              </p:nvCxnSpPr>
              <p:spPr bwMode="hidden">
                <a:xfrm>
                  <a:off x="11199019" y="0"/>
                  <a:ext cx="992981" cy="1002506"/>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grpSp>
          <p:cxnSp>
            <p:nvCxnSpPr>
              <p:cNvPr id="32" name="直线连接线 31"/>
              <p:cNvCxnSpPr/>
              <p:nvPr/>
            </p:nvCxnSpPr>
            <p:spPr bwMode="hidden">
              <a:xfrm flipH="1" flipV="1">
                <a:off x="-1" y="1012053"/>
                <a:ext cx="5828811" cy="5845945"/>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33" name="直线连接线 32"/>
              <p:cNvCxnSpPr/>
              <p:nvPr/>
            </p:nvCxnSpPr>
            <p:spPr bwMode="hidden">
              <a:xfrm flipH="1" flipV="1">
                <a:off x="-1" y="2227340"/>
                <a:ext cx="4614781" cy="4630658"/>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34" name="直线连接线 33"/>
              <p:cNvCxnSpPr/>
              <p:nvPr/>
            </p:nvCxnSpPr>
            <p:spPr bwMode="hidden">
              <a:xfrm flipH="1" flipV="1">
                <a:off x="-1" y="3432149"/>
                <a:ext cx="3398419" cy="3425849"/>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35" name="直线连接线 34"/>
              <p:cNvCxnSpPr/>
              <p:nvPr/>
            </p:nvCxnSpPr>
            <p:spPr bwMode="hidden">
              <a:xfrm flipH="1" flipV="1">
                <a:off x="-1" y="4651431"/>
                <a:ext cx="2196496" cy="2206567"/>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36" name="直线连接线 35"/>
              <p:cNvCxnSpPr/>
              <p:nvPr/>
            </p:nvCxnSpPr>
            <p:spPr bwMode="hidden">
              <a:xfrm flipH="1" flipV="1">
                <a:off x="-1" y="5864453"/>
                <a:ext cx="987003" cy="993545"/>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grpSp>
      </p:grpSp>
      <p:sp>
        <p:nvSpPr>
          <p:cNvPr id="2" name="标题 1"/>
          <p:cNvSpPr>
            <a:spLocks noGrp="1"/>
          </p:cNvSpPr>
          <p:nvPr>
            <p:ph type="title"/>
          </p:nvPr>
        </p:nvSpPr>
        <p:spPr>
          <a:xfrm>
            <a:off x="971550" y="2541573"/>
            <a:ext cx="7200900" cy="2743200"/>
          </a:xfrm>
        </p:spPr>
        <p:txBody>
          <a:bodyPr anchor="b">
            <a:normAutofit/>
          </a:bodyPr>
          <a:lstStyle>
            <a:lvl1pPr latinLnBrk="0">
              <a:lnSpc>
                <a:spcPct val="85000"/>
              </a:lnSpc>
              <a:defRPr lang="zh-CN" sz="6000" cap="none" baseline="0">
                <a:solidFill>
                  <a:schemeClr val="tx1"/>
                </a:solidFill>
              </a:defRPr>
            </a:lvl1pPr>
          </a:lstStyle>
          <a:p>
            <a:r>
              <a:rPr lang="zh-CN" altLang="en-US" smtClean="0"/>
              <a:t>单击此处编辑母版标题样式</a:t>
            </a:r>
            <a:endParaRPr lang="zh-CN" dirty="0"/>
          </a:p>
        </p:txBody>
      </p:sp>
      <p:sp>
        <p:nvSpPr>
          <p:cNvPr id="3" name="文本占位符 2"/>
          <p:cNvSpPr>
            <a:spLocks noGrp="1"/>
          </p:cNvSpPr>
          <p:nvPr>
            <p:ph type="body" idx="1"/>
          </p:nvPr>
        </p:nvSpPr>
        <p:spPr>
          <a:xfrm>
            <a:off x="971550" y="5431536"/>
            <a:ext cx="7200900" cy="457200"/>
          </a:xfrm>
        </p:spPr>
        <p:txBody>
          <a:bodyPr>
            <a:normAutofit/>
          </a:bodyPr>
          <a:lstStyle>
            <a:lvl1pPr marL="0" indent="0" latinLnBrk="0">
              <a:spcBef>
                <a:spcPts val="0"/>
              </a:spcBef>
              <a:buNone/>
              <a:defRPr lang="zh-CN" sz="2000" b="0">
                <a:solidFill>
                  <a:schemeClr val="tx1"/>
                </a:solidFill>
              </a:defRPr>
            </a:lvl1pPr>
            <a:lvl2pPr marL="457200" indent="0" latinLnBrk="0">
              <a:buNone/>
              <a:defRPr lang="zh-CN" sz="2000"/>
            </a:lvl2pPr>
            <a:lvl3pPr marL="914400" indent="0" latinLnBrk="0">
              <a:buNone/>
              <a:defRPr lang="zh-CN" sz="1800"/>
            </a:lvl3pPr>
            <a:lvl4pPr marL="1371600" indent="0" latinLnBrk="0">
              <a:buNone/>
              <a:defRPr lang="zh-CN" sz="1600"/>
            </a:lvl4pPr>
            <a:lvl5pPr marL="1828800" indent="0" latinLnBrk="0">
              <a:buNone/>
              <a:defRPr lang="zh-CN" sz="1600"/>
            </a:lvl5pPr>
            <a:lvl6pPr marL="2286000" indent="0" latinLnBrk="0">
              <a:buNone/>
              <a:defRPr lang="zh-CN" sz="1600"/>
            </a:lvl6pPr>
            <a:lvl7pPr marL="2743200" indent="0" latinLnBrk="0">
              <a:buNone/>
              <a:defRPr lang="zh-CN" sz="1600"/>
            </a:lvl7pPr>
            <a:lvl8pPr marL="3200400" indent="0" latinLnBrk="0">
              <a:buNone/>
              <a:defRPr lang="zh-CN" sz="1600"/>
            </a:lvl8pPr>
            <a:lvl9pPr marL="3657600" indent="0" latinLnBrk="0">
              <a:buNone/>
              <a:defRPr lang="zh-CN" sz="1600"/>
            </a:lvl9pPr>
          </a:lstStyle>
          <a:p>
            <a:pPr lvl="0"/>
            <a:r>
              <a:rPr lang="zh-CN" altLang="en-US" smtClean="0"/>
              <a:t>单击此处编辑母版文本样式</a:t>
            </a:r>
          </a:p>
        </p:txBody>
      </p:sp>
      <p:cxnSp>
        <p:nvCxnSpPr>
          <p:cNvPr id="58" name="直线连接线 57"/>
          <p:cNvCxnSpPr/>
          <p:nvPr userDrawn="1"/>
        </p:nvCxnSpPr>
        <p:spPr>
          <a:xfrm>
            <a:off x="971550" y="5294175"/>
            <a:ext cx="7200900"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506778040"/>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p>
        </p:txBody>
      </p:sp>
      <p:sp>
        <p:nvSpPr>
          <p:cNvPr id="3" name="内容占位符 2"/>
          <p:cNvSpPr>
            <a:spLocks noGrp="1"/>
          </p:cNvSpPr>
          <p:nvPr>
            <p:ph sz="half" idx="1"/>
          </p:nvPr>
        </p:nvSpPr>
        <p:spPr>
          <a:xfrm>
            <a:off x="971550" y="1981200"/>
            <a:ext cx="3429000" cy="3810001"/>
          </a:xfrm>
        </p:spPr>
        <p:txBody>
          <a:bodyPr>
            <a:normAutofit/>
          </a:bodyPr>
          <a:lstStyle>
            <a:lvl1pPr latinLnBrk="0">
              <a:defRPr lang="zh-CN" sz="2000"/>
            </a:lvl1pPr>
            <a:lvl2pPr latinLnBrk="0">
              <a:defRPr lang="zh-CN" sz="1800"/>
            </a:lvl2pPr>
            <a:lvl3pPr latinLnBrk="0">
              <a:defRPr lang="zh-CN" sz="1600"/>
            </a:lvl3pPr>
            <a:lvl4pPr latinLnBrk="0">
              <a:defRPr lang="zh-CN" sz="1400"/>
            </a:lvl4pPr>
            <a:lvl5pPr latinLnBrk="0">
              <a:defRPr lang="zh-CN" sz="1400"/>
            </a:lvl5pPr>
            <a:lvl6pPr latinLnBrk="0">
              <a:defRPr lang="zh-CN" sz="1800"/>
            </a:lvl6pPr>
            <a:lvl7pPr latinLnBrk="0">
              <a:defRPr lang="zh-CN" sz="1800"/>
            </a:lvl7pPr>
            <a:lvl8pPr latinLnBrk="0">
              <a:defRPr lang="zh-CN" sz="1800"/>
            </a:lvl8pPr>
            <a:lvl9pPr latinLnBrk="0">
              <a:defRPr lang="zh-CN" sz="18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dirty="0"/>
          </a:p>
        </p:txBody>
      </p:sp>
      <p:sp>
        <p:nvSpPr>
          <p:cNvPr id="4" name="内容占位符 3"/>
          <p:cNvSpPr>
            <a:spLocks noGrp="1"/>
          </p:cNvSpPr>
          <p:nvPr>
            <p:ph sz="half" idx="2"/>
          </p:nvPr>
        </p:nvSpPr>
        <p:spPr>
          <a:xfrm>
            <a:off x="4743450" y="1981200"/>
            <a:ext cx="3429000" cy="3810001"/>
          </a:xfrm>
        </p:spPr>
        <p:txBody>
          <a:bodyPr>
            <a:normAutofit/>
          </a:bodyPr>
          <a:lstStyle>
            <a:lvl1pPr latinLnBrk="0">
              <a:defRPr lang="zh-CN" sz="2000"/>
            </a:lvl1pPr>
            <a:lvl2pPr latinLnBrk="0">
              <a:defRPr lang="zh-CN" sz="1800"/>
            </a:lvl2pPr>
            <a:lvl3pPr latinLnBrk="0">
              <a:defRPr lang="zh-CN" sz="1600"/>
            </a:lvl3pPr>
            <a:lvl4pPr latinLnBrk="0">
              <a:defRPr lang="zh-CN" sz="1400"/>
            </a:lvl4pPr>
            <a:lvl5pPr latinLnBrk="0">
              <a:defRPr lang="zh-CN" sz="1400"/>
            </a:lvl5pPr>
            <a:lvl6pPr latinLnBrk="0">
              <a:defRPr lang="zh-CN" sz="1800"/>
            </a:lvl6pPr>
            <a:lvl7pPr latinLnBrk="0">
              <a:defRPr lang="zh-CN" sz="1800"/>
            </a:lvl7pPr>
            <a:lvl8pPr latinLnBrk="0">
              <a:defRPr lang="zh-CN" sz="1800"/>
            </a:lvl8pPr>
            <a:lvl9pPr latinLnBrk="0">
              <a:defRPr lang="zh-CN" sz="18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p>
        </p:txBody>
      </p:sp>
      <p:sp>
        <p:nvSpPr>
          <p:cNvPr id="5" name="日期占位符 4"/>
          <p:cNvSpPr>
            <a:spLocks noGrp="1"/>
          </p:cNvSpPr>
          <p:nvPr>
            <p:ph type="dt" sz="half" idx="10"/>
          </p:nvPr>
        </p:nvSpPr>
        <p:spPr/>
        <p:txBody>
          <a:bodyPr/>
          <a:lstStyle/>
          <a:p>
            <a:fld id="{4563F93A-6675-49B1-B272-AB78494A47C1}" type="datetime1">
              <a:rPr lang="zh-CN" altLang="en-US" smtClean="0"/>
              <a:pPr/>
              <a:t>2022/5/23</a:t>
            </a:fld>
            <a:endParaRPr lang="zh-CN"/>
          </a:p>
        </p:txBody>
      </p:sp>
      <p:sp>
        <p:nvSpPr>
          <p:cNvPr id="6" name="页脚占位符 5"/>
          <p:cNvSpPr>
            <a:spLocks noGrp="1"/>
          </p:cNvSpPr>
          <p:nvPr>
            <p:ph type="ftr" sz="quarter" idx="11"/>
          </p:nvPr>
        </p:nvSpPr>
        <p:spPr/>
        <p:txBody>
          <a:bodyPr/>
          <a:lstStyle/>
          <a:p>
            <a:r>
              <a:rPr lang="zh-CN" altLang="en-US" smtClean="0"/>
              <a:t>国际金融学 范小云</a:t>
            </a:r>
            <a:endParaRPr lang="zh-CN"/>
          </a:p>
        </p:txBody>
      </p:sp>
      <p:sp>
        <p:nvSpPr>
          <p:cNvPr id="7" name="幻灯片编号占位符 6"/>
          <p:cNvSpPr>
            <a:spLocks noGrp="1"/>
          </p:cNvSpPr>
          <p:nvPr>
            <p:ph type="sldNum" sz="quarter" idx="12"/>
          </p:nvPr>
        </p:nvSpPr>
        <p:spPr/>
        <p:txBody>
          <a:bodyPr/>
          <a:lstStyle/>
          <a:p>
            <a:fld id="{E31375A4-56A4-47D6-9801-1991572033F7}" type="slidenum">
              <a:rPr/>
              <a:pPr/>
              <a:t>‹#›</a:t>
            </a:fld>
            <a:endParaRPr lang="zh-CN"/>
          </a:p>
        </p:txBody>
      </p:sp>
    </p:spTree>
    <p:extLst>
      <p:ext uri="{BB962C8B-B14F-4D97-AF65-F5344CB8AC3E}">
        <p14:creationId xmlns:p14="http://schemas.microsoft.com/office/powerpoint/2010/main" val="404456794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p>
        </p:txBody>
      </p:sp>
      <p:sp>
        <p:nvSpPr>
          <p:cNvPr id="3" name="文本占位符 2"/>
          <p:cNvSpPr>
            <a:spLocks noGrp="1"/>
          </p:cNvSpPr>
          <p:nvPr>
            <p:ph type="body" idx="1"/>
          </p:nvPr>
        </p:nvSpPr>
        <p:spPr>
          <a:xfrm>
            <a:off x="971550" y="1818322"/>
            <a:ext cx="3429000" cy="641350"/>
          </a:xfrm>
        </p:spPr>
        <p:txBody>
          <a:bodyPr anchor="ctr">
            <a:normAutofit/>
          </a:bodyPr>
          <a:lstStyle>
            <a:lvl1pPr marL="0" indent="0" latinLnBrk="0">
              <a:spcBef>
                <a:spcPts val="0"/>
              </a:spcBef>
              <a:buNone/>
              <a:defRPr lang="zh-CN" sz="2000" b="0">
                <a:solidFill>
                  <a:schemeClr val="accent1"/>
                </a:solidFill>
              </a:defRPr>
            </a:lvl1pPr>
            <a:lvl2pPr marL="457200" indent="0" latinLnBrk="0">
              <a:buNone/>
              <a:defRPr lang="zh-CN" sz="2000" b="1"/>
            </a:lvl2pPr>
            <a:lvl3pPr marL="914400" indent="0" latinLnBrk="0">
              <a:buNone/>
              <a:defRPr lang="zh-CN" sz="1800" b="1"/>
            </a:lvl3pPr>
            <a:lvl4pPr marL="1371600" indent="0" latinLnBrk="0">
              <a:buNone/>
              <a:defRPr lang="zh-CN" sz="1600" b="1"/>
            </a:lvl4pPr>
            <a:lvl5pPr marL="1828800" indent="0" latinLnBrk="0">
              <a:buNone/>
              <a:defRPr lang="zh-CN" sz="1600" b="1"/>
            </a:lvl5pPr>
            <a:lvl6pPr marL="2286000" indent="0" latinLnBrk="0">
              <a:buNone/>
              <a:defRPr lang="zh-CN" sz="1600" b="1"/>
            </a:lvl6pPr>
            <a:lvl7pPr marL="2743200" indent="0" latinLnBrk="0">
              <a:buNone/>
              <a:defRPr lang="zh-CN" sz="1600" b="1"/>
            </a:lvl7pPr>
            <a:lvl8pPr marL="3200400" indent="0" latinLnBrk="0">
              <a:buNone/>
              <a:defRPr lang="zh-CN" sz="1600" b="1"/>
            </a:lvl8pPr>
            <a:lvl9pPr marL="3657600" indent="0" latinLnBrk="0">
              <a:buNone/>
              <a:defRPr lang="zh-CN" sz="1600" b="1"/>
            </a:lvl9pPr>
          </a:lstStyle>
          <a:p>
            <a:pPr lvl="0"/>
            <a:r>
              <a:rPr lang="zh-CN" altLang="en-US" smtClean="0"/>
              <a:t>单击此处编辑母版文本样式</a:t>
            </a:r>
          </a:p>
        </p:txBody>
      </p:sp>
      <p:sp>
        <p:nvSpPr>
          <p:cNvPr id="4" name="内容占位符 3"/>
          <p:cNvSpPr>
            <a:spLocks noGrp="1"/>
          </p:cNvSpPr>
          <p:nvPr>
            <p:ph sz="half" idx="2"/>
          </p:nvPr>
        </p:nvSpPr>
        <p:spPr>
          <a:xfrm>
            <a:off x="971550" y="2503714"/>
            <a:ext cx="3429000" cy="3287487"/>
          </a:xfrm>
        </p:spPr>
        <p:txBody>
          <a:bodyPr>
            <a:normAutofit/>
          </a:bodyPr>
          <a:lstStyle>
            <a:lvl1pPr latinLnBrk="0">
              <a:defRPr lang="zh-CN" sz="2000"/>
            </a:lvl1pPr>
            <a:lvl2pPr latinLnBrk="0">
              <a:defRPr lang="zh-CN" sz="1800"/>
            </a:lvl2pPr>
            <a:lvl3pPr latinLnBrk="0">
              <a:defRPr lang="zh-CN" sz="1600"/>
            </a:lvl3pPr>
            <a:lvl4pPr latinLnBrk="0">
              <a:defRPr lang="zh-CN" sz="1400"/>
            </a:lvl4pPr>
            <a:lvl5pPr latinLnBrk="0">
              <a:defRPr lang="zh-CN" sz="1400"/>
            </a:lvl5pPr>
            <a:lvl6pPr latinLnBrk="0">
              <a:defRPr lang="zh-CN" sz="1600"/>
            </a:lvl6pPr>
            <a:lvl7pPr latinLnBrk="0">
              <a:defRPr lang="zh-CN" sz="1600"/>
            </a:lvl7pPr>
            <a:lvl8pPr latinLnBrk="0">
              <a:defRPr lang="zh-CN" sz="1600"/>
            </a:lvl8pPr>
            <a:lvl9pPr latinLnBrk="0">
              <a:defRPr lang="zh-CN" sz="16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dirty="0"/>
          </a:p>
        </p:txBody>
      </p:sp>
      <p:sp>
        <p:nvSpPr>
          <p:cNvPr id="5" name="文本占位符 4"/>
          <p:cNvSpPr>
            <a:spLocks noGrp="1"/>
          </p:cNvSpPr>
          <p:nvPr>
            <p:ph type="body" sz="quarter" idx="3"/>
          </p:nvPr>
        </p:nvSpPr>
        <p:spPr>
          <a:xfrm>
            <a:off x="4743450" y="1818322"/>
            <a:ext cx="3429000" cy="641350"/>
          </a:xfrm>
        </p:spPr>
        <p:txBody>
          <a:bodyPr anchor="ctr">
            <a:normAutofit/>
          </a:bodyPr>
          <a:lstStyle>
            <a:lvl1pPr marL="0" indent="0" latinLnBrk="0">
              <a:spcBef>
                <a:spcPts val="0"/>
              </a:spcBef>
              <a:buNone/>
              <a:defRPr lang="zh-CN" sz="2000" b="0">
                <a:solidFill>
                  <a:schemeClr val="accent1"/>
                </a:solidFill>
              </a:defRPr>
            </a:lvl1pPr>
            <a:lvl2pPr marL="457200" indent="0" latinLnBrk="0">
              <a:buNone/>
              <a:defRPr lang="zh-CN" sz="2000" b="1"/>
            </a:lvl2pPr>
            <a:lvl3pPr marL="914400" indent="0" latinLnBrk="0">
              <a:buNone/>
              <a:defRPr lang="zh-CN" sz="1800" b="1"/>
            </a:lvl3pPr>
            <a:lvl4pPr marL="1371600" indent="0" latinLnBrk="0">
              <a:buNone/>
              <a:defRPr lang="zh-CN" sz="1600" b="1"/>
            </a:lvl4pPr>
            <a:lvl5pPr marL="1828800" indent="0" latinLnBrk="0">
              <a:buNone/>
              <a:defRPr lang="zh-CN" sz="1600" b="1"/>
            </a:lvl5pPr>
            <a:lvl6pPr marL="2286000" indent="0" latinLnBrk="0">
              <a:buNone/>
              <a:defRPr lang="zh-CN" sz="1600" b="1"/>
            </a:lvl6pPr>
            <a:lvl7pPr marL="2743200" indent="0" latinLnBrk="0">
              <a:buNone/>
              <a:defRPr lang="zh-CN" sz="1600" b="1"/>
            </a:lvl7pPr>
            <a:lvl8pPr marL="3200400" indent="0" latinLnBrk="0">
              <a:buNone/>
              <a:defRPr lang="zh-CN" sz="1600" b="1"/>
            </a:lvl8pPr>
            <a:lvl9pPr marL="3657600" indent="0" latinLnBrk="0">
              <a:buNone/>
              <a:defRPr lang="zh-CN" sz="1600" b="1"/>
            </a:lvl9pPr>
          </a:lstStyle>
          <a:p>
            <a:pPr lvl="0"/>
            <a:r>
              <a:rPr lang="zh-CN" altLang="en-US" smtClean="0"/>
              <a:t>单击此处编辑母版文本样式</a:t>
            </a:r>
          </a:p>
        </p:txBody>
      </p:sp>
      <p:sp>
        <p:nvSpPr>
          <p:cNvPr id="6" name="内容占位符 5"/>
          <p:cNvSpPr>
            <a:spLocks noGrp="1"/>
          </p:cNvSpPr>
          <p:nvPr>
            <p:ph sz="quarter" idx="4"/>
          </p:nvPr>
        </p:nvSpPr>
        <p:spPr>
          <a:xfrm>
            <a:off x="4743450" y="2503714"/>
            <a:ext cx="3429000" cy="3287487"/>
          </a:xfrm>
        </p:spPr>
        <p:txBody>
          <a:bodyPr>
            <a:normAutofit/>
          </a:bodyPr>
          <a:lstStyle>
            <a:lvl1pPr latinLnBrk="0">
              <a:defRPr lang="zh-CN" sz="2000"/>
            </a:lvl1pPr>
            <a:lvl2pPr latinLnBrk="0">
              <a:defRPr lang="zh-CN" sz="1800"/>
            </a:lvl2pPr>
            <a:lvl3pPr latinLnBrk="0">
              <a:defRPr lang="zh-CN" sz="1600"/>
            </a:lvl3pPr>
            <a:lvl4pPr latinLnBrk="0">
              <a:defRPr lang="zh-CN" sz="1400"/>
            </a:lvl4pPr>
            <a:lvl5pPr latinLnBrk="0">
              <a:defRPr lang="zh-CN" sz="1400"/>
            </a:lvl5pPr>
            <a:lvl6pPr latinLnBrk="0">
              <a:defRPr lang="zh-CN" sz="1600"/>
            </a:lvl6pPr>
            <a:lvl7pPr latinLnBrk="0">
              <a:defRPr lang="zh-CN" sz="1600"/>
            </a:lvl7pPr>
            <a:lvl8pPr latinLnBrk="0">
              <a:defRPr lang="zh-CN" sz="1600"/>
            </a:lvl8pPr>
            <a:lvl9pPr latinLnBrk="0">
              <a:defRPr lang="zh-CN" sz="16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p>
        </p:txBody>
      </p:sp>
      <p:sp>
        <p:nvSpPr>
          <p:cNvPr id="7" name="日期占位符 6"/>
          <p:cNvSpPr>
            <a:spLocks noGrp="1"/>
          </p:cNvSpPr>
          <p:nvPr>
            <p:ph type="dt" sz="half" idx="10"/>
          </p:nvPr>
        </p:nvSpPr>
        <p:spPr/>
        <p:txBody>
          <a:bodyPr/>
          <a:lstStyle/>
          <a:p>
            <a:fld id="{EFE3F164-49FE-47CA-AD0E-694FC8244535}" type="datetime1">
              <a:rPr lang="zh-CN" altLang="en-US" smtClean="0"/>
              <a:pPr/>
              <a:t>2022/5/23</a:t>
            </a:fld>
            <a:endParaRPr lang="zh-CN"/>
          </a:p>
        </p:txBody>
      </p:sp>
      <p:sp>
        <p:nvSpPr>
          <p:cNvPr id="8" name="页脚占位符 7"/>
          <p:cNvSpPr>
            <a:spLocks noGrp="1"/>
          </p:cNvSpPr>
          <p:nvPr>
            <p:ph type="ftr" sz="quarter" idx="11"/>
          </p:nvPr>
        </p:nvSpPr>
        <p:spPr/>
        <p:txBody>
          <a:bodyPr/>
          <a:lstStyle/>
          <a:p>
            <a:r>
              <a:rPr lang="zh-CN" altLang="en-US" smtClean="0"/>
              <a:t>国际金融学 范小云</a:t>
            </a:r>
            <a:endParaRPr lang="zh-CN"/>
          </a:p>
        </p:txBody>
      </p:sp>
      <p:sp>
        <p:nvSpPr>
          <p:cNvPr id="9" name="幻灯片编号占位符 8"/>
          <p:cNvSpPr>
            <a:spLocks noGrp="1"/>
          </p:cNvSpPr>
          <p:nvPr>
            <p:ph type="sldNum" sz="quarter" idx="12"/>
          </p:nvPr>
        </p:nvSpPr>
        <p:spPr/>
        <p:txBody>
          <a:bodyPr/>
          <a:lstStyle/>
          <a:p>
            <a:fld id="{E31375A4-56A4-47D6-9801-1991572033F7}" type="slidenum">
              <a:rPr/>
              <a:pPr/>
              <a:t>‹#›</a:t>
            </a:fld>
            <a:endParaRPr lang="zh-CN"/>
          </a:p>
        </p:txBody>
      </p:sp>
    </p:spTree>
    <p:extLst>
      <p:ext uri="{BB962C8B-B14F-4D97-AF65-F5344CB8AC3E}">
        <p14:creationId xmlns:p14="http://schemas.microsoft.com/office/powerpoint/2010/main" val="339790656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dirty="0"/>
          </a:p>
        </p:txBody>
      </p:sp>
      <p:sp>
        <p:nvSpPr>
          <p:cNvPr id="3" name="日期占位符 2"/>
          <p:cNvSpPr>
            <a:spLocks noGrp="1"/>
          </p:cNvSpPr>
          <p:nvPr>
            <p:ph type="dt" sz="half" idx="10"/>
          </p:nvPr>
        </p:nvSpPr>
        <p:spPr/>
        <p:txBody>
          <a:bodyPr/>
          <a:lstStyle/>
          <a:p>
            <a:fld id="{CBD9AAED-D86B-4435-A478-E7982A9F3D12}" type="datetime1">
              <a:rPr lang="zh-CN" altLang="en-US" smtClean="0"/>
              <a:pPr/>
              <a:t>2022/5/23</a:t>
            </a:fld>
            <a:endParaRPr lang="zh-CN"/>
          </a:p>
        </p:txBody>
      </p:sp>
      <p:sp>
        <p:nvSpPr>
          <p:cNvPr id="4" name="页脚占位符 3"/>
          <p:cNvSpPr>
            <a:spLocks noGrp="1"/>
          </p:cNvSpPr>
          <p:nvPr>
            <p:ph type="ftr" sz="quarter" idx="11"/>
          </p:nvPr>
        </p:nvSpPr>
        <p:spPr/>
        <p:txBody>
          <a:bodyPr/>
          <a:lstStyle>
            <a:lvl1pPr marL="0" marR="0" indent="0" algn="l" defTabSz="914400" rtl="0" eaLnBrk="1" fontAlgn="auto" latinLnBrk="0" hangingPunct="1">
              <a:lnSpc>
                <a:spcPct val="100000"/>
              </a:lnSpc>
              <a:spcBef>
                <a:spcPts val="0"/>
              </a:spcBef>
              <a:spcAft>
                <a:spcPts val="0"/>
              </a:spcAft>
              <a:buClrTx/>
              <a:buSzTx/>
              <a:buFontTx/>
              <a:buNone/>
              <a:tabLst/>
              <a:defRPr/>
            </a:lvl1pPr>
          </a:lstStyle>
          <a:p>
            <a:r>
              <a:rPr lang="zh-CN" altLang="en-US" sz="1600" dirty="0" smtClean="0">
                <a:solidFill>
                  <a:srgbClr val="1CADE4"/>
                </a:solidFill>
                <a:latin typeface="微软雅黑" panose="020B0503020204020204" pitchFamily="34" charset="-122"/>
                <a:ea typeface="微软雅黑" panose="020B0503020204020204" pitchFamily="34" charset="-122"/>
              </a:rPr>
              <a:t>国际金融学 范小云</a:t>
            </a:r>
            <a:endParaRPr lang="zh-CN" altLang="en-US" sz="1600" dirty="0">
              <a:solidFill>
                <a:srgbClr val="1CADE4"/>
              </a:solidFill>
              <a:latin typeface="微软雅黑" panose="020B0503020204020204" pitchFamily="34" charset="-122"/>
              <a:ea typeface="微软雅黑" panose="020B0503020204020204" pitchFamily="34" charset="-122"/>
            </a:endParaRPr>
          </a:p>
        </p:txBody>
      </p:sp>
      <p:sp>
        <p:nvSpPr>
          <p:cNvPr id="5" name="幻灯片编号占位符 4"/>
          <p:cNvSpPr>
            <a:spLocks noGrp="1"/>
          </p:cNvSpPr>
          <p:nvPr>
            <p:ph type="sldNum" sz="quarter" idx="12"/>
          </p:nvPr>
        </p:nvSpPr>
        <p:spPr/>
        <p:txBody>
          <a:bodyPr/>
          <a:lstStyle/>
          <a:p>
            <a:fld id="{E31375A4-56A4-47D6-9801-1991572033F7}" type="slidenum">
              <a:rPr/>
              <a:pPr/>
              <a:t>‹#›</a:t>
            </a:fld>
            <a:endParaRPr lang="zh-CN"/>
          </a:p>
        </p:txBody>
      </p:sp>
    </p:spTree>
    <p:extLst>
      <p:ext uri="{BB962C8B-B14F-4D97-AF65-F5344CB8AC3E}">
        <p14:creationId xmlns:p14="http://schemas.microsoft.com/office/powerpoint/2010/main" val="323897671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空白">
    <p:spTree>
      <p:nvGrpSpPr>
        <p:cNvPr id="1" name=""/>
        <p:cNvGrpSpPr/>
        <p:nvPr/>
      </p:nvGrpSpPr>
      <p:grpSpPr>
        <a:xfrm>
          <a:off x="0" y="0"/>
          <a:ext cx="0" cy="0"/>
          <a:chOff x="0" y="0"/>
          <a:chExt cx="0" cy="0"/>
        </a:xfrm>
      </p:grpSpPr>
      <p:sp>
        <p:nvSpPr>
          <p:cNvPr id="212" name="日期占位符 211"/>
          <p:cNvSpPr>
            <a:spLocks noGrp="1"/>
          </p:cNvSpPr>
          <p:nvPr>
            <p:ph type="dt" sz="half" idx="10"/>
          </p:nvPr>
        </p:nvSpPr>
        <p:spPr/>
        <p:txBody>
          <a:bodyPr/>
          <a:lstStyle/>
          <a:p>
            <a:fld id="{8FD5366B-5DD5-4ECC-82BD-E5089146864D}" type="datetime1">
              <a:rPr lang="zh-CN" altLang="en-US" smtClean="0"/>
              <a:pPr/>
              <a:t>2022/5/23</a:t>
            </a:fld>
            <a:endParaRPr lang="zh-CN"/>
          </a:p>
        </p:txBody>
      </p:sp>
      <p:sp>
        <p:nvSpPr>
          <p:cNvPr id="213" name="页脚占位符 212"/>
          <p:cNvSpPr>
            <a:spLocks noGrp="1"/>
          </p:cNvSpPr>
          <p:nvPr>
            <p:ph type="ftr" sz="quarter" idx="11"/>
          </p:nvPr>
        </p:nvSpPr>
        <p:spPr/>
        <p:txBody>
          <a:bodyPr/>
          <a:lstStyle/>
          <a:p>
            <a:r>
              <a:rPr lang="zh-CN" altLang="en-US" smtClean="0"/>
              <a:t>国际金融学 范小云</a:t>
            </a:r>
            <a:endParaRPr lang="zh-CN"/>
          </a:p>
        </p:txBody>
      </p:sp>
      <p:sp>
        <p:nvSpPr>
          <p:cNvPr id="214" name="幻灯片编号占位符 213"/>
          <p:cNvSpPr>
            <a:spLocks noGrp="1"/>
          </p:cNvSpPr>
          <p:nvPr>
            <p:ph type="sldNum" sz="quarter" idx="12"/>
          </p:nvPr>
        </p:nvSpPr>
        <p:spPr/>
        <p:txBody>
          <a:bodyPr/>
          <a:lstStyle/>
          <a:p>
            <a:fld id="{E31375A4-56A4-47D6-9801-1991572033F7}" type="slidenum">
              <a:rPr/>
              <a:pPr/>
              <a:t>‹#›</a:t>
            </a:fld>
            <a:endParaRPr lang="zh-CN"/>
          </a:p>
        </p:txBody>
      </p:sp>
    </p:spTree>
    <p:extLst>
      <p:ext uri="{BB962C8B-B14F-4D97-AF65-F5344CB8AC3E}">
        <p14:creationId xmlns:p14="http://schemas.microsoft.com/office/powerpoint/2010/main" val="214681722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内容与题注">
    <p:bg>
      <p:bgPr>
        <a:gradFill flip="none" rotWithShape="1">
          <a:gsLst>
            <a:gs pos="0">
              <a:schemeClr val="accent1"/>
            </a:gs>
            <a:gs pos="100000">
              <a:schemeClr val="accent1">
                <a:lumMod val="80000"/>
              </a:schemeClr>
            </a:gs>
          </a:gsLst>
          <a:path path="circle">
            <a:fillToRect l="50000" t="50000" r="50000" b="50000"/>
          </a:path>
          <a:tileRect/>
        </a:gradFill>
        <a:effectLst/>
      </p:bgPr>
    </p:bg>
    <p:spTree>
      <p:nvGrpSpPr>
        <p:cNvPr id="1" name=""/>
        <p:cNvGrpSpPr/>
        <p:nvPr/>
      </p:nvGrpSpPr>
      <p:grpSpPr>
        <a:xfrm>
          <a:off x="0" y="0"/>
          <a:ext cx="0" cy="0"/>
          <a:chOff x="0" y="0"/>
          <a:chExt cx="0" cy="0"/>
        </a:xfrm>
      </p:grpSpPr>
      <p:grpSp>
        <p:nvGrpSpPr>
          <p:cNvPr id="9" name="组 8"/>
          <p:cNvGrpSpPr/>
          <p:nvPr userDrawn="1"/>
        </p:nvGrpSpPr>
        <p:grpSpPr bwMode="hidden">
          <a:xfrm>
            <a:off x="-1" y="0"/>
            <a:ext cx="9144002" cy="6858000"/>
            <a:chOff x="-1" y="0"/>
            <a:chExt cx="12192002" cy="6858000"/>
          </a:xfrm>
        </p:grpSpPr>
        <p:cxnSp>
          <p:nvCxnSpPr>
            <p:cNvPr id="10" name="直线连接线 9"/>
            <p:cNvCxnSpPr/>
            <p:nvPr/>
          </p:nvCxnSpPr>
          <p:spPr bwMode="hidden">
            <a:xfrm>
              <a:off x="610194" y="0"/>
              <a:ext cx="0"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1" name="直线连接线 10"/>
            <p:cNvCxnSpPr/>
            <p:nvPr/>
          </p:nvCxnSpPr>
          <p:spPr bwMode="hidden">
            <a:xfrm>
              <a:off x="1829332" y="0"/>
              <a:ext cx="0"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2" name="直线连接线 11"/>
            <p:cNvCxnSpPr/>
            <p:nvPr/>
          </p:nvCxnSpPr>
          <p:spPr bwMode="hidden">
            <a:xfrm>
              <a:off x="3048470" y="0"/>
              <a:ext cx="0"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3" name="直线连接线 12"/>
            <p:cNvCxnSpPr/>
            <p:nvPr/>
          </p:nvCxnSpPr>
          <p:spPr bwMode="hidden">
            <a:xfrm>
              <a:off x="4267608" y="0"/>
              <a:ext cx="0"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4" name="直线连接线 13"/>
            <p:cNvCxnSpPr/>
            <p:nvPr/>
          </p:nvCxnSpPr>
          <p:spPr bwMode="hidden">
            <a:xfrm>
              <a:off x="5486746" y="0"/>
              <a:ext cx="0"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5" name="直线连接线 14"/>
            <p:cNvCxnSpPr/>
            <p:nvPr/>
          </p:nvCxnSpPr>
          <p:spPr bwMode="hidden">
            <a:xfrm>
              <a:off x="6705884" y="0"/>
              <a:ext cx="0"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6" name="直线连接线 15"/>
            <p:cNvCxnSpPr/>
            <p:nvPr/>
          </p:nvCxnSpPr>
          <p:spPr bwMode="hidden">
            <a:xfrm>
              <a:off x="7925022" y="0"/>
              <a:ext cx="0"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7" name="直线连接线 16"/>
            <p:cNvCxnSpPr/>
            <p:nvPr/>
          </p:nvCxnSpPr>
          <p:spPr bwMode="hidden">
            <a:xfrm>
              <a:off x="9144160" y="0"/>
              <a:ext cx="0"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8" name="直线连接线 17"/>
            <p:cNvCxnSpPr/>
            <p:nvPr/>
          </p:nvCxnSpPr>
          <p:spPr bwMode="hidden">
            <a:xfrm>
              <a:off x="10363298" y="0"/>
              <a:ext cx="0"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9" name="直线连接线 18"/>
            <p:cNvCxnSpPr/>
            <p:nvPr/>
          </p:nvCxnSpPr>
          <p:spPr bwMode="hidden">
            <a:xfrm>
              <a:off x="11582436" y="0"/>
              <a:ext cx="0"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20" name="直线连接线 19"/>
            <p:cNvCxnSpPr/>
            <p:nvPr/>
          </p:nvCxnSpPr>
          <p:spPr bwMode="hidden">
            <a:xfrm>
              <a:off x="2819" y="386485"/>
              <a:ext cx="12188952" cy="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21" name="直线连接线 20"/>
            <p:cNvCxnSpPr/>
            <p:nvPr/>
          </p:nvCxnSpPr>
          <p:spPr bwMode="hidden">
            <a:xfrm>
              <a:off x="2819" y="1611181"/>
              <a:ext cx="12188952" cy="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22" name="直线连接线 21"/>
            <p:cNvCxnSpPr/>
            <p:nvPr/>
          </p:nvCxnSpPr>
          <p:spPr bwMode="hidden">
            <a:xfrm>
              <a:off x="2819" y="2835877"/>
              <a:ext cx="12188952" cy="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23" name="直线连接线 22"/>
            <p:cNvCxnSpPr/>
            <p:nvPr/>
          </p:nvCxnSpPr>
          <p:spPr bwMode="hidden">
            <a:xfrm>
              <a:off x="2819" y="4060573"/>
              <a:ext cx="12188952" cy="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24" name="直线连接线 23"/>
            <p:cNvCxnSpPr/>
            <p:nvPr/>
          </p:nvCxnSpPr>
          <p:spPr bwMode="hidden">
            <a:xfrm>
              <a:off x="2819" y="5285269"/>
              <a:ext cx="12188952" cy="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25" name="直线连接线 24"/>
            <p:cNvCxnSpPr/>
            <p:nvPr/>
          </p:nvCxnSpPr>
          <p:spPr bwMode="hidden">
            <a:xfrm>
              <a:off x="2819" y="6509965"/>
              <a:ext cx="12188952" cy="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grpSp>
          <p:nvGrpSpPr>
            <p:cNvPr id="26" name="组 25"/>
            <p:cNvGrpSpPr/>
            <p:nvPr userDrawn="1"/>
          </p:nvGrpSpPr>
          <p:grpSpPr bwMode="hidden">
            <a:xfrm>
              <a:off x="-1" y="0"/>
              <a:ext cx="12192001" cy="6858000"/>
              <a:chOff x="-1" y="0"/>
              <a:chExt cx="12192001" cy="6858000"/>
            </a:xfrm>
          </p:grpSpPr>
          <p:cxnSp>
            <p:nvCxnSpPr>
              <p:cNvPr id="44" name="直线连接线 43"/>
              <p:cNvCxnSpPr/>
              <p:nvPr/>
            </p:nvCxnSpPr>
            <p:spPr bwMode="hidden">
              <a:xfrm>
                <a:off x="225425" y="0"/>
                <a:ext cx="6815931"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45" name="直线连接线 44"/>
              <p:cNvCxnSpPr/>
              <p:nvPr/>
            </p:nvCxnSpPr>
            <p:spPr bwMode="hidden">
              <a:xfrm>
                <a:off x="1449154" y="0"/>
                <a:ext cx="6815931"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46" name="直线连接线 45"/>
              <p:cNvCxnSpPr/>
              <p:nvPr/>
            </p:nvCxnSpPr>
            <p:spPr bwMode="hidden">
              <a:xfrm>
                <a:off x="2665982" y="0"/>
                <a:ext cx="6815931"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47" name="直线连接线 46"/>
              <p:cNvCxnSpPr/>
              <p:nvPr/>
            </p:nvCxnSpPr>
            <p:spPr bwMode="hidden">
              <a:xfrm>
                <a:off x="3885119" y="0"/>
                <a:ext cx="6815931"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48" name="直线连接线 47"/>
              <p:cNvCxnSpPr/>
              <p:nvPr/>
            </p:nvCxnSpPr>
            <p:spPr bwMode="hidden">
              <a:xfrm>
                <a:off x="5106502" y="0"/>
                <a:ext cx="6815931"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grpSp>
            <p:nvGrpSpPr>
              <p:cNvPr id="49" name="组 48"/>
              <p:cNvGrpSpPr/>
              <p:nvPr/>
            </p:nvGrpSpPr>
            <p:grpSpPr bwMode="hidden">
              <a:xfrm>
                <a:off x="6327885" y="0"/>
                <a:ext cx="5864115" cy="5898673"/>
                <a:chOff x="6327885" y="0"/>
                <a:chExt cx="5864115" cy="5898673"/>
              </a:xfrm>
            </p:grpSpPr>
            <p:cxnSp>
              <p:nvCxnSpPr>
                <p:cNvPr id="55" name="直线连接线 54"/>
                <p:cNvCxnSpPr/>
                <p:nvPr/>
              </p:nvCxnSpPr>
              <p:spPr bwMode="hidden">
                <a:xfrm>
                  <a:off x="6327885" y="0"/>
                  <a:ext cx="5864115" cy="5898673"/>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56" name="直线连接线 55"/>
                <p:cNvCxnSpPr/>
                <p:nvPr/>
              </p:nvCxnSpPr>
              <p:spPr bwMode="hidden">
                <a:xfrm>
                  <a:off x="7549268" y="0"/>
                  <a:ext cx="4642732" cy="4672425"/>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57" name="直线连接线 56"/>
                <p:cNvCxnSpPr/>
                <p:nvPr/>
              </p:nvCxnSpPr>
              <p:spPr bwMode="hidden">
                <a:xfrm>
                  <a:off x="8772997" y="0"/>
                  <a:ext cx="3419003" cy="3456749"/>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58" name="直线连接线 57"/>
                <p:cNvCxnSpPr/>
                <p:nvPr/>
              </p:nvCxnSpPr>
              <p:spPr bwMode="hidden">
                <a:xfrm>
                  <a:off x="9982200" y="0"/>
                  <a:ext cx="2209800" cy="2226469"/>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59" name="直线连接线 58"/>
                <p:cNvCxnSpPr/>
                <p:nvPr/>
              </p:nvCxnSpPr>
              <p:spPr bwMode="hidden">
                <a:xfrm>
                  <a:off x="11199019" y="0"/>
                  <a:ext cx="992981" cy="1002506"/>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grpSp>
          <p:cxnSp>
            <p:nvCxnSpPr>
              <p:cNvPr id="50" name="直线连接线 49"/>
              <p:cNvCxnSpPr/>
              <p:nvPr/>
            </p:nvCxnSpPr>
            <p:spPr bwMode="hidden">
              <a:xfrm flipH="1" flipV="1">
                <a:off x="-1" y="1012053"/>
                <a:ext cx="5828811" cy="5845945"/>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51" name="直线连接线 50"/>
              <p:cNvCxnSpPr/>
              <p:nvPr/>
            </p:nvCxnSpPr>
            <p:spPr bwMode="hidden">
              <a:xfrm flipH="1" flipV="1">
                <a:off x="-1" y="2227340"/>
                <a:ext cx="4614781" cy="4630658"/>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52" name="直线连接线 51"/>
              <p:cNvCxnSpPr/>
              <p:nvPr/>
            </p:nvCxnSpPr>
            <p:spPr bwMode="hidden">
              <a:xfrm flipH="1" flipV="1">
                <a:off x="-1" y="3432149"/>
                <a:ext cx="3398419" cy="3425849"/>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53" name="直线连接线 52"/>
              <p:cNvCxnSpPr/>
              <p:nvPr/>
            </p:nvCxnSpPr>
            <p:spPr bwMode="hidden">
              <a:xfrm flipH="1" flipV="1">
                <a:off x="-1" y="4651431"/>
                <a:ext cx="2196496" cy="2206567"/>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54" name="直线连接线 53"/>
              <p:cNvCxnSpPr/>
              <p:nvPr/>
            </p:nvCxnSpPr>
            <p:spPr bwMode="hidden">
              <a:xfrm flipH="1" flipV="1">
                <a:off x="-1" y="5864453"/>
                <a:ext cx="987003" cy="993545"/>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grpSp>
        <p:grpSp>
          <p:nvGrpSpPr>
            <p:cNvPr id="27" name="组 26"/>
            <p:cNvGrpSpPr/>
            <p:nvPr userDrawn="1"/>
          </p:nvGrpSpPr>
          <p:grpSpPr bwMode="hidden">
            <a:xfrm flipH="1">
              <a:off x="0" y="0"/>
              <a:ext cx="12192001" cy="6858000"/>
              <a:chOff x="-1" y="0"/>
              <a:chExt cx="12192001" cy="6858000"/>
            </a:xfrm>
          </p:grpSpPr>
          <p:cxnSp>
            <p:nvCxnSpPr>
              <p:cNvPr id="28" name="直线连接线 27"/>
              <p:cNvCxnSpPr/>
              <p:nvPr/>
            </p:nvCxnSpPr>
            <p:spPr bwMode="hidden">
              <a:xfrm>
                <a:off x="225425" y="0"/>
                <a:ext cx="6815931"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29" name="直线连接线 28"/>
              <p:cNvCxnSpPr/>
              <p:nvPr/>
            </p:nvCxnSpPr>
            <p:spPr bwMode="hidden">
              <a:xfrm>
                <a:off x="1449154" y="0"/>
                <a:ext cx="6815931"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30" name="直线连接线 29"/>
              <p:cNvCxnSpPr/>
              <p:nvPr/>
            </p:nvCxnSpPr>
            <p:spPr bwMode="hidden">
              <a:xfrm>
                <a:off x="2665982" y="0"/>
                <a:ext cx="6815931"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31" name="直线连接线 30"/>
              <p:cNvCxnSpPr/>
              <p:nvPr/>
            </p:nvCxnSpPr>
            <p:spPr bwMode="hidden">
              <a:xfrm>
                <a:off x="3885119" y="0"/>
                <a:ext cx="6815931"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32" name="直线连接线 31"/>
              <p:cNvCxnSpPr/>
              <p:nvPr/>
            </p:nvCxnSpPr>
            <p:spPr bwMode="hidden">
              <a:xfrm>
                <a:off x="5150644" y="0"/>
                <a:ext cx="6815931"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grpSp>
            <p:nvGrpSpPr>
              <p:cNvPr id="33" name="组 32"/>
              <p:cNvGrpSpPr/>
              <p:nvPr/>
            </p:nvGrpSpPr>
            <p:grpSpPr bwMode="hidden">
              <a:xfrm>
                <a:off x="6327885" y="0"/>
                <a:ext cx="5864115" cy="5898673"/>
                <a:chOff x="6327885" y="0"/>
                <a:chExt cx="5864115" cy="5898673"/>
              </a:xfrm>
            </p:grpSpPr>
            <p:cxnSp>
              <p:nvCxnSpPr>
                <p:cNvPr id="39" name="直线连接线 38"/>
                <p:cNvCxnSpPr/>
                <p:nvPr/>
              </p:nvCxnSpPr>
              <p:spPr bwMode="hidden">
                <a:xfrm>
                  <a:off x="6327885" y="0"/>
                  <a:ext cx="5864115" cy="5898673"/>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40" name="直线连接线 39"/>
                <p:cNvCxnSpPr/>
                <p:nvPr/>
              </p:nvCxnSpPr>
              <p:spPr bwMode="hidden">
                <a:xfrm>
                  <a:off x="7549268" y="0"/>
                  <a:ext cx="4642732" cy="4672425"/>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41" name="直线连接线 40"/>
                <p:cNvCxnSpPr/>
                <p:nvPr/>
              </p:nvCxnSpPr>
              <p:spPr bwMode="hidden">
                <a:xfrm>
                  <a:off x="8772997" y="0"/>
                  <a:ext cx="3419003" cy="3456749"/>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42" name="直线连接线 41"/>
                <p:cNvCxnSpPr/>
                <p:nvPr/>
              </p:nvCxnSpPr>
              <p:spPr bwMode="hidden">
                <a:xfrm>
                  <a:off x="9982200" y="0"/>
                  <a:ext cx="2209800" cy="2226469"/>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43" name="直线连接线 42"/>
                <p:cNvCxnSpPr/>
                <p:nvPr/>
              </p:nvCxnSpPr>
              <p:spPr bwMode="hidden">
                <a:xfrm>
                  <a:off x="11199019" y="0"/>
                  <a:ext cx="992981" cy="1002506"/>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grpSp>
          <p:cxnSp>
            <p:nvCxnSpPr>
              <p:cNvPr id="34" name="直线连接线 33"/>
              <p:cNvCxnSpPr/>
              <p:nvPr/>
            </p:nvCxnSpPr>
            <p:spPr bwMode="hidden">
              <a:xfrm flipH="1" flipV="1">
                <a:off x="-1" y="1012053"/>
                <a:ext cx="5828811" cy="5845945"/>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35" name="直线连接线 34"/>
              <p:cNvCxnSpPr/>
              <p:nvPr/>
            </p:nvCxnSpPr>
            <p:spPr bwMode="hidden">
              <a:xfrm flipH="1" flipV="1">
                <a:off x="-1" y="2227340"/>
                <a:ext cx="4614781" cy="4630658"/>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36" name="直线连接线 35"/>
              <p:cNvCxnSpPr/>
              <p:nvPr/>
            </p:nvCxnSpPr>
            <p:spPr bwMode="hidden">
              <a:xfrm flipH="1" flipV="1">
                <a:off x="-1" y="3432149"/>
                <a:ext cx="3398419" cy="3425849"/>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37" name="直线连接线 36"/>
              <p:cNvCxnSpPr/>
              <p:nvPr/>
            </p:nvCxnSpPr>
            <p:spPr bwMode="hidden">
              <a:xfrm flipH="1" flipV="1">
                <a:off x="-1" y="4651431"/>
                <a:ext cx="2196496" cy="2206567"/>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38" name="直线连接线 37"/>
              <p:cNvCxnSpPr/>
              <p:nvPr/>
            </p:nvCxnSpPr>
            <p:spPr bwMode="hidden">
              <a:xfrm flipH="1" flipV="1">
                <a:off x="-1" y="5864453"/>
                <a:ext cx="987003" cy="993545"/>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grpSp>
      </p:grpSp>
      <p:sp>
        <p:nvSpPr>
          <p:cNvPr id="7" name="矩形 6"/>
          <p:cNvSpPr/>
          <p:nvPr userDrawn="1"/>
        </p:nvSpPr>
        <p:spPr>
          <a:xfrm>
            <a:off x="0" y="0"/>
            <a:ext cx="5486400" cy="6858000"/>
          </a:xfrm>
          <a:prstGeom prst="rect">
            <a:avLst/>
          </a:prstGeom>
          <a:gradFill>
            <a:gsLst>
              <a:gs pos="69000">
                <a:schemeClr val="bg1"/>
              </a:gs>
              <a:gs pos="0">
                <a:schemeClr val="bg1"/>
              </a:gs>
              <a:gs pos="100000">
                <a:schemeClr val="bg1">
                  <a:lumMod val="95000"/>
                </a:schemeClr>
              </a:gs>
            </a:gsLst>
            <a:path path="circle">
              <a:fillToRect l="50000" t="50000" r="50000" b="50000"/>
            </a:path>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00" dirty="0">
              <a:ea typeface="Microsoft YaHei UI" panose="020B0503020204020204" pitchFamily="34" charset="-122"/>
            </a:endParaRPr>
          </a:p>
        </p:txBody>
      </p:sp>
      <p:sp>
        <p:nvSpPr>
          <p:cNvPr id="2" name="标题 1"/>
          <p:cNvSpPr>
            <a:spLocks noGrp="1"/>
          </p:cNvSpPr>
          <p:nvPr>
            <p:ph type="title"/>
          </p:nvPr>
        </p:nvSpPr>
        <p:spPr>
          <a:xfrm>
            <a:off x="5934864" y="571500"/>
            <a:ext cx="2743200" cy="2197100"/>
          </a:xfrm>
        </p:spPr>
        <p:txBody>
          <a:bodyPr anchor="b">
            <a:normAutofit/>
          </a:bodyPr>
          <a:lstStyle>
            <a:lvl1pPr latinLnBrk="0">
              <a:defRPr lang="zh-CN" sz="2600">
                <a:solidFill>
                  <a:schemeClr val="bg1"/>
                </a:solidFill>
              </a:defRPr>
            </a:lvl1pPr>
          </a:lstStyle>
          <a:p>
            <a:r>
              <a:rPr lang="zh-CN" altLang="en-US" smtClean="0"/>
              <a:t>单击此处编辑母版标题样式</a:t>
            </a:r>
            <a:endParaRPr lang="zh-CN" dirty="0"/>
          </a:p>
        </p:txBody>
      </p:sp>
      <p:sp>
        <p:nvSpPr>
          <p:cNvPr id="3" name="内容占位符 2"/>
          <p:cNvSpPr>
            <a:spLocks noGrp="1"/>
          </p:cNvSpPr>
          <p:nvPr>
            <p:ph idx="1"/>
          </p:nvPr>
        </p:nvSpPr>
        <p:spPr>
          <a:xfrm>
            <a:off x="407398" y="571500"/>
            <a:ext cx="4663440" cy="5715000"/>
          </a:xfrm>
        </p:spPr>
        <p:txBody>
          <a:bodyPr>
            <a:normAutofit/>
          </a:bodyPr>
          <a:lstStyle>
            <a:lvl1pPr latinLnBrk="0">
              <a:defRPr lang="zh-CN" sz="2000"/>
            </a:lvl1pPr>
            <a:lvl2pPr latinLnBrk="0">
              <a:defRPr lang="zh-CN" sz="1800"/>
            </a:lvl2pPr>
            <a:lvl3pPr latinLnBrk="0">
              <a:defRPr lang="zh-CN" sz="1600"/>
            </a:lvl3pPr>
            <a:lvl4pPr latinLnBrk="0">
              <a:defRPr lang="zh-CN" sz="1400"/>
            </a:lvl4pPr>
            <a:lvl5pPr latinLnBrk="0">
              <a:defRPr lang="zh-CN" sz="1400"/>
            </a:lvl5pPr>
            <a:lvl6pPr latinLnBrk="0">
              <a:defRPr lang="zh-CN" sz="2000"/>
            </a:lvl6pPr>
            <a:lvl7pPr latinLnBrk="0">
              <a:defRPr lang="zh-CN" sz="2000"/>
            </a:lvl7pPr>
            <a:lvl8pPr latinLnBrk="0">
              <a:defRPr lang="zh-CN" sz="2000"/>
            </a:lvl8pPr>
            <a:lvl9pPr latinLnBrk="0">
              <a:defRPr lang="zh-CN" sz="20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dirty="0"/>
          </a:p>
        </p:txBody>
      </p:sp>
      <p:sp>
        <p:nvSpPr>
          <p:cNvPr id="4" name="文本占位符 3"/>
          <p:cNvSpPr>
            <a:spLocks noGrp="1"/>
          </p:cNvSpPr>
          <p:nvPr>
            <p:ph type="body" sz="half" idx="2"/>
          </p:nvPr>
        </p:nvSpPr>
        <p:spPr>
          <a:xfrm>
            <a:off x="5934864" y="2995012"/>
            <a:ext cx="2743200" cy="2285950"/>
          </a:xfrm>
        </p:spPr>
        <p:txBody>
          <a:bodyPr>
            <a:normAutofit/>
          </a:bodyPr>
          <a:lstStyle>
            <a:lvl1pPr marL="0" indent="0" latinLnBrk="0">
              <a:spcBef>
                <a:spcPts val="1200"/>
              </a:spcBef>
              <a:buNone/>
              <a:defRPr lang="zh-CN" sz="1600">
                <a:solidFill>
                  <a:schemeClr val="bg1"/>
                </a:solidFill>
              </a:defRPr>
            </a:lvl1pPr>
            <a:lvl2pPr marL="457200" indent="0" latinLnBrk="0">
              <a:buNone/>
              <a:defRPr lang="zh-CN" sz="1400"/>
            </a:lvl2pPr>
            <a:lvl3pPr marL="914400" indent="0" latinLnBrk="0">
              <a:buNone/>
              <a:defRPr lang="zh-CN" sz="1200"/>
            </a:lvl3pPr>
            <a:lvl4pPr marL="1371600" indent="0" latinLnBrk="0">
              <a:buNone/>
              <a:defRPr lang="zh-CN" sz="1000"/>
            </a:lvl4pPr>
            <a:lvl5pPr marL="1828800" indent="0" latinLnBrk="0">
              <a:buNone/>
              <a:defRPr lang="zh-CN" sz="1000"/>
            </a:lvl5pPr>
            <a:lvl6pPr marL="2286000" indent="0" latinLnBrk="0">
              <a:buNone/>
              <a:defRPr lang="zh-CN" sz="1000"/>
            </a:lvl6pPr>
            <a:lvl7pPr marL="2743200" indent="0" latinLnBrk="0">
              <a:buNone/>
              <a:defRPr lang="zh-CN" sz="1000"/>
            </a:lvl7pPr>
            <a:lvl8pPr marL="3200400" indent="0" latinLnBrk="0">
              <a:buNone/>
              <a:defRPr lang="zh-CN" sz="1000"/>
            </a:lvl8pPr>
            <a:lvl9pPr marL="3657600" indent="0" latinLnBrk="0">
              <a:buNone/>
              <a:defRPr lang="zh-CN" sz="1000"/>
            </a:lvl9pPr>
          </a:lstStyle>
          <a:p>
            <a:pPr lvl="0"/>
            <a:r>
              <a:rPr lang="zh-CN" altLang="en-US" smtClean="0"/>
              <a:t>单击此处编辑母版文本样式</a:t>
            </a:r>
          </a:p>
        </p:txBody>
      </p:sp>
      <p:cxnSp>
        <p:nvCxnSpPr>
          <p:cNvPr id="60" name="直线连接线 59"/>
          <p:cNvCxnSpPr/>
          <p:nvPr userDrawn="1"/>
        </p:nvCxnSpPr>
        <p:spPr>
          <a:xfrm>
            <a:off x="5942317" y="2895600"/>
            <a:ext cx="2744483" cy="0"/>
          </a:xfrm>
          <a:prstGeom prst="line">
            <a:avLst/>
          </a:prstGeom>
          <a:ln w="19050">
            <a:solidFill>
              <a:schemeClr val="bg1"/>
            </a:solidFill>
          </a:ln>
        </p:spPr>
        <p:style>
          <a:lnRef idx="1">
            <a:schemeClr val="accent1"/>
          </a:lnRef>
          <a:fillRef idx="0">
            <a:schemeClr val="accent1"/>
          </a:fillRef>
          <a:effectRef idx="0">
            <a:schemeClr val="accent1"/>
          </a:effectRef>
          <a:fontRef idx="minor">
            <a:schemeClr val="tx1"/>
          </a:fontRef>
        </p:style>
      </p:cxnSp>
      <p:sp>
        <p:nvSpPr>
          <p:cNvPr id="5" name="日期占位符 4"/>
          <p:cNvSpPr>
            <a:spLocks noGrp="1"/>
          </p:cNvSpPr>
          <p:nvPr>
            <p:ph type="dt" sz="half" idx="10"/>
          </p:nvPr>
        </p:nvSpPr>
        <p:spPr/>
        <p:txBody>
          <a:bodyPr/>
          <a:lstStyle/>
          <a:p>
            <a:fld id="{4E4E324D-2A43-40A1-B3DC-C387EAFC4699}" type="datetime1">
              <a:rPr lang="zh-CN" altLang="en-US" smtClean="0"/>
              <a:pPr/>
              <a:t>2022/5/23</a:t>
            </a:fld>
            <a:endParaRPr lang="zh-CN"/>
          </a:p>
        </p:txBody>
      </p:sp>
      <p:sp>
        <p:nvSpPr>
          <p:cNvPr id="6" name="页脚占位符 5"/>
          <p:cNvSpPr>
            <a:spLocks noGrp="1"/>
          </p:cNvSpPr>
          <p:nvPr>
            <p:ph type="ftr" sz="quarter" idx="11"/>
          </p:nvPr>
        </p:nvSpPr>
        <p:spPr/>
        <p:txBody>
          <a:bodyPr/>
          <a:lstStyle/>
          <a:p>
            <a:r>
              <a:rPr lang="zh-CN" altLang="en-US" smtClean="0"/>
              <a:t>国际金融学 范小云</a:t>
            </a:r>
            <a:endParaRPr lang="zh-CN"/>
          </a:p>
        </p:txBody>
      </p:sp>
      <p:sp>
        <p:nvSpPr>
          <p:cNvPr id="8" name="幻灯片编号占位符 7"/>
          <p:cNvSpPr>
            <a:spLocks noGrp="1"/>
          </p:cNvSpPr>
          <p:nvPr>
            <p:ph type="sldNum" sz="quarter" idx="12"/>
          </p:nvPr>
        </p:nvSpPr>
        <p:spPr/>
        <p:txBody>
          <a:bodyPr/>
          <a:lstStyle/>
          <a:p>
            <a:fld id="{E31375A4-56A4-47D6-9801-1991572033F7}" type="slidenum">
              <a:rPr/>
              <a:pPr/>
              <a:t>‹#›</a:t>
            </a:fld>
            <a:endParaRPr lang="zh-CN"/>
          </a:p>
        </p:txBody>
      </p:sp>
    </p:spTree>
    <p:extLst>
      <p:ext uri="{BB962C8B-B14F-4D97-AF65-F5344CB8AC3E}">
        <p14:creationId xmlns:p14="http://schemas.microsoft.com/office/powerpoint/2010/main" val="166737413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图片与题注">
    <p:bg>
      <p:bgPr>
        <a:gradFill flip="none" rotWithShape="1">
          <a:gsLst>
            <a:gs pos="0">
              <a:schemeClr val="accent1"/>
            </a:gs>
            <a:gs pos="100000">
              <a:schemeClr val="accent1">
                <a:lumMod val="80000"/>
              </a:schemeClr>
            </a:gs>
          </a:gsLst>
          <a:path path="circle">
            <a:fillToRect l="50000" t="50000" r="50000" b="50000"/>
          </a:path>
          <a:tileRect/>
        </a:gradFill>
        <a:effectLst/>
      </p:bgPr>
    </p:bg>
    <p:spTree>
      <p:nvGrpSpPr>
        <p:cNvPr id="1" name=""/>
        <p:cNvGrpSpPr/>
        <p:nvPr/>
      </p:nvGrpSpPr>
      <p:grpSpPr>
        <a:xfrm>
          <a:off x="0" y="0"/>
          <a:ext cx="0" cy="0"/>
          <a:chOff x="0" y="0"/>
          <a:chExt cx="0" cy="0"/>
        </a:xfrm>
      </p:grpSpPr>
      <p:grpSp>
        <p:nvGrpSpPr>
          <p:cNvPr id="8" name="组 7"/>
          <p:cNvGrpSpPr/>
          <p:nvPr/>
        </p:nvGrpSpPr>
        <p:grpSpPr bwMode="hidden">
          <a:xfrm>
            <a:off x="-1" y="0"/>
            <a:ext cx="9144002" cy="6858000"/>
            <a:chOff x="-1" y="0"/>
            <a:chExt cx="12192002" cy="6858000"/>
          </a:xfrm>
        </p:grpSpPr>
        <p:cxnSp>
          <p:nvCxnSpPr>
            <p:cNvPr id="9" name="直线连接线 8"/>
            <p:cNvCxnSpPr/>
            <p:nvPr/>
          </p:nvCxnSpPr>
          <p:spPr bwMode="hidden">
            <a:xfrm>
              <a:off x="610194" y="0"/>
              <a:ext cx="0"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0" name="直线连接线 9"/>
            <p:cNvCxnSpPr/>
            <p:nvPr/>
          </p:nvCxnSpPr>
          <p:spPr bwMode="hidden">
            <a:xfrm>
              <a:off x="1829332" y="0"/>
              <a:ext cx="0"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1" name="直线连接线 10"/>
            <p:cNvCxnSpPr/>
            <p:nvPr/>
          </p:nvCxnSpPr>
          <p:spPr bwMode="hidden">
            <a:xfrm>
              <a:off x="3048470" y="0"/>
              <a:ext cx="0"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2" name="直线连接线 11"/>
            <p:cNvCxnSpPr/>
            <p:nvPr/>
          </p:nvCxnSpPr>
          <p:spPr bwMode="hidden">
            <a:xfrm>
              <a:off x="4267608" y="0"/>
              <a:ext cx="0"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3" name="直线连接线 12"/>
            <p:cNvCxnSpPr/>
            <p:nvPr/>
          </p:nvCxnSpPr>
          <p:spPr bwMode="hidden">
            <a:xfrm>
              <a:off x="5486746" y="0"/>
              <a:ext cx="0"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4" name="直线连接线 13"/>
            <p:cNvCxnSpPr/>
            <p:nvPr/>
          </p:nvCxnSpPr>
          <p:spPr bwMode="hidden">
            <a:xfrm>
              <a:off x="6705884" y="0"/>
              <a:ext cx="0"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5" name="直线连接线 14"/>
            <p:cNvCxnSpPr/>
            <p:nvPr/>
          </p:nvCxnSpPr>
          <p:spPr bwMode="hidden">
            <a:xfrm>
              <a:off x="7925022" y="0"/>
              <a:ext cx="0"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6" name="直线连接线 15"/>
            <p:cNvCxnSpPr/>
            <p:nvPr/>
          </p:nvCxnSpPr>
          <p:spPr bwMode="hidden">
            <a:xfrm>
              <a:off x="9144160" y="0"/>
              <a:ext cx="0"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7" name="直线连接线 16"/>
            <p:cNvCxnSpPr/>
            <p:nvPr/>
          </p:nvCxnSpPr>
          <p:spPr bwMode="hidden">
            <a:xfrm>
              <a:off x="10363298" y="0"/>
              <a:ext cx="0"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8" name="直线连接线 17"/>
            <p:cNvCxnSpPr/>
            <p:nvPr/>
          </p:nvCxnSpPr>
          <p:spPr bwMode="hidden">
            <a:xfrm>
              <a:off x="11582436" y="0"/>
              <a:ext cx="0"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9" name="直线连接线 18"/>
            <p:cNvCxnSpPr/>
            <p:nvPr/>
          </p:nvCxnSpPr>
          <p:spPr bwMode="hidden">
            <a:xfrm>
              <a:off x="2819" y="386485"/>
              <a:ext cx="12188952" cy="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20" name="直线连接线 19"/>
            <p:cNvCxnSpPr/>
            <p:nvPr/>
          </p:nvCxnSpPr>
          <p:spPr bwMode="hidden">
            <a:xfrm>
              <a:off x="2819" y="1611181"/>
              <a:ext cx="12188952" cy="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21" name="直线连接线 20"/>
            <p:cNvCxnSpPr/>
            <p:nvPr/>
          </p:nvCxnSpPr>
          <p:spPr bwMode="hidden">
            <a:xfrm>
              <a:off x="2819" y="2835877"/>
              <a:ext cx="12188952" cy="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22" name="直线连接线 21"/>
            <p:cNvCxnSpPr/>
            <p:nvPr/>
          </p:nvCxnSpPr>
          <p:spPr bwMode="hidden">
            <a:xfrm>
              <a:off x="2819" y="4060573"/>
              <a:ext cx="12188952" cy="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23" name="直线连接线 22"/>
            <p:cNvCxnSpPr/>
            <p:nvPr/>
          </p:nvCxnSpPr>
          <p:spPr bwMode="hidden">
            <a:xfrm>
              <a:off x="2819" y="5285269"/>
              <a:ext cx="12188952" cy="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24" name="直线连接线 23"/>
            <p:cNvCxnSpPr/>
            <p:nvPr/>
          </p:nvCxnSpPr>
          <p:spPr bwMode="hidden">
            <a:xfrm>
              <a:off x="2819" y="6509965"/>
              <a:ext cx="12188952" cy="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grpSp>
          <p:nvGrpSpPr>
            <p:cNvPr id="25" name="组 24"/>
            <p:cNvGrpSpPr/>
            <p:nvPr/>
          </p:nvGrpSpPr>
          <p:grpSpPr bwMode="hidden">
            <a:xfrm>
              <a:off x="-1" y="0"/>
              <a:ext cx="12192001" cy="6858000"/>
              <a:chOff x="-1" y="0"/>
              <a:chExt cx="12192001" cy="6858000"/>
            </a:xfrm>
          </p:grpSpPr>
          <p:cxnSp>
            <p:nvCxnSpPr>
              <p:cNvPr id="43" name="直线连接线 42"/>
              <p:cNvCxnSpPr/>
              <p:nvPr/>
            </p:nvCxnSpPr>
            <p:spPr bwMode="hidden">
              <a:xfrm>
                <a:off x="225425" y="0"/>
                <a:ext cx="6815931"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44" name="直线连接线 43"/>
              <p:cNvCxnSpPr/>
              <p:nvPr/>
            </p:nvCxnSpPr>
            <p:spPr bwMode="hidden">
              <a:xfrm>
                <a:off x="1449154" y="0"/>
                <a:ext cx="6815931"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45" name="直线连接线 44"/>
              <p:cNvCxnSpPr/>
              <p:nvPr/>
            </p:nvCxnSpPr>
            <p:spPr bwMode="hidden">
              <a:xfrm>
                <a:off x="2665982" y="0"/>
                <a:ext cx="6815931"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46" name="直线连接线 45"/>
              <p:cNvCxnSpPr/>
              <p:nvPr/>
            </p:nvCxnSpPr>
            <p:spPr bwMode="hidden">
              <a:xfrm>
                <a:off x="3885119" y="0"/>
                <a:ext cx="6815931"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47" name="直线连接线 46"/>
              <p:cNvCxnSpPr/>
              <p:nvPr/>
            </p:nvCxnSpPr>
            <p:spPr bwMode="hidden">
              <a:xfrm>
                <a:off x="5106502" y="0"/>
                <a:ext cx="6815931"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grpSp>
            <p:nvGrpSpPr>
              <p:cNvPr id="48" name="组 47"/>
              <p:cNvGrpSpPr/>
              <p:nvPr/>
            </p:nvGrpSpPr>
            <p:grpSpPr bwMode="hidden">
              <a:xfrm>
                <a:off x="6327885" y="0"/>
                <a:ext cx="5864115" cy="5898673"/>
                <a:chOff x="6327885" y="0"/>
                <a:chExt cx="5864115" cy="5898673"/>
              </a:xfrm>
            </p:grpSpPr>
            <p:cxnSp>
              <p:nvCxnSpPr>
                <p:cNvPr id="54" name="直线连接线 53"/>
                <p:cNvCxnSpPr/>
                <p:nvPr/>
              </p:nvCxnSpPr>
              <p:spPr bwMode="hidden">
                <a:xfrm>
                  <a:off x="6327885" y="0"/>
                  <a:ext cx="5864115" cy="5898673"/>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55" name="直线连接线 54"/>
                <p:cNvCxnSpPr/>
                <p:nvPr/>
              </p:nvCxnSpPr>
              <p:spPr bwMode="hidden">
                <a:xfrm>
                  <a:off x="7549268" y="0"/>
                  <a:ext cx="4642732" cy="4672425"/>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56" name="直线连接线 55"/>
                <p:cNvCxnSpPr/>
                <p:nvPr/>
              </p:nvCxnSpPr>
              <p:spPr bwMode="hidden">
                <a:xfrm>
                  <a:off x="8772997" y="0"/>
                  <a:ext cx="3419003" cy="3456749"/>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57" name="直线连接线 56"/>
                <p:cNvCxnSpPr/>
                <p:nvPr/>
              </p:nvCxnSpPr>
              <p:spPr bwMode="hidden">
                <a:xfrm>
                  <a:off x="9982200" y="0"/>
                  <a:ext cx="2209800" cy="2226469"/>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58" name="直线连接线 57"/>
                <p:cNvCxnSpPr/>
                <p:nvPr/>
              </p:nvCxnSpPr>
              <p:spPr bwMode="hidden">
                <a:xfrm>
                  <a:off x="11199019" y="0"/>
                  <a:ext cx="992981" cy="1002506"/>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grpSp>
          <p:cxnSp>
            <p:nvCxnSpPr>
              <p:cNvPr id="49" name="直线连接线 48"/>
              <p:cNvCxnSpPr/>
              <p:nvPr/>
            </p:nvCxnSpPr>
            <p:spPr bwMode="hidden">
              <a:xfrm flipH="1" flipV="1">
                <a:off x="-1" y="1012053"/>
                <a:ext cx="5828811" cy="5845945"/>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50" name="直线连接线 49"/>
              <p:cNvCxnSpPr/>
              <p:nvPr/>
            </p:nvCxnSpPr>
            <p:spPr bwMode="hidden">
              <a:xfrm flipH="1" flipV="1">
                <a:off x="-1" y="2227340"/>
                <a:ext cx="4614781" cy="4630658"/>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51" name="直线连接线 50"/>
              <p:cNvCxnSpPr/>
              <p:nvPr/>
            </p:nvCxnSpPr>
            <p:spPr bwMode="hidden">
              <a:xfrm flipH="1" flipV="1">
                <a:off x="-1" y="3432149"/>
                <a:ext cx="3398419" cy="3425849"/>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52" name="直线连接线 51"/>
              <p:cNvCxnSpPr/>
              <p:nvPr/>
            </p:nvCxnSpPr>
            <p:spPr bwMode="hidden">
              <a:xfrm flipH="1" flipV="1">
                <a:off x="-1" y="4651431"/>
                <a:ext cx="2196496" cy="2206567"/>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53" name="直线连接线 52"/>
              <p:cNvCxnSpPr/>
              <p:nvPr/>
            </p:nvCxnSpPr>
            <p:spPr bwMode="hidden">
              <a:xfrm flipH="1" flipV="1">
                <a:off x="-1" y="5864453"/>
                <a:ext cx="987003" cy="993545"/>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grpSp>
        <p:grpSp>
          <p:nvGrpSpPr>
            <p:cNvPr id="26" name="组 25"/>
            <p:cNvGrpSpPr/>
            <p:nvPr/>
          </p:nvGrpSpPr>
          <p:grpSpPr bwMode="hidden">
            <a:xfrm flipH="1">
              <a:off x="0" y="0"/>
              <a:ext cx="12192001" cy="6858000"/>
              <a:chOff x="-1" y="0"/>
              <a:chExt cx="12192001" cy="6858000"/>
            </a:xfrm>
          </p:grpSpPr>
          <p:cxnSp>
            <p:nvCxnSpPr>
              <p:cNvPr id="27" name="直线连接线 26"/>
              <p:cNvCxnSpPr/>
              <p:nvPr/>
            </p:nvCxnSpPr>
            <p:spPr bwMode="hidden">
              <a:xfrm>
                <a:off x="225425" y="0"/>
                <a:ext cx="6815931"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28" name="直线连接线 27"/>
              <p:cNvCxnSpPr/>
              <p:nvPr/>
            </p:nvCxnSpPr>
            <p:spPr bwMode="hidden">
              <a:xfrm>
                <a:off x="1449154" y="0"/>
                <a:ext cx="6815931"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29" name="直线连接线 28"/>
              <p:cNvCxnSpPr/>
              <p:nvPr/>
            </p:nvCxnSpPr>
            <p:spPr bwMode="hidden">
              <a:xfrm>
                <a:off x="2665982" y="0"/>
                <a:ext cx="6815931"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30" name="直线连接线 29"/>
              <p:cNvCxnSpPr/>
              <p:nvPr/>
            </p:nvCxnSpPr>
            <p:spPr bwMode="hidden">
              <a:xfrm>
                <a:off x="3885119" y="0"/>
                <a:ext cx="6815931"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31" name="直线连接线 30"/>
              <p:cNvCxnSpPr/>
              <p:nvPr/>
            </p:nvCxnSpPr>
            <p:spPr bwMode="hidden">
              <a:xfrm>
                <a:off x="5150644" y="0"/>
                <a:ext cx="6815931"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grpSp>
            <p:nvGrpSpPr>
              <p:cNvPr id="32" name="组 31"/>
              <p:cNvGrpSpPr/>
              <p:nvPr/>
            </p:nvGrpSpPr>
            <p:grpSpPr bwMode="hidden">
              <a:xfrm>
                <a:off x="6327885" y="0"/>
                <a:ext cx="5864115" cy="5898673"/>
                <a:chOff x="6327885" y="0"/>
                <a:chExt cx="5864115" cy="5898673"/>
              </a:xfrm>
            </p:grpSpPr>
            <p:cxnSp>
              <p:nvCxnSpPr>
                <p:cNvPr id="38" name="直线连接线 37"/>
                <p:cNvCxnSpPr/>
                <p:nvPr/>
              </p:nvCxnSpPr>
              <p:spPr bwMode="hidden">
                <a:xfrm>
                  <a:off x="6327885" y="0"/>
                  <a:ext cx="5864115" cy="5898673"/>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39" name="直线连接线 38"/>
                <p:cNvCxnSpPr/>
                <p:nvPr/>
              </p:nvCxnSpPr>
              <p:spPr bwMode="hidden">
                <a:xfrm>
                  <a:off x="7549268" y="0"/>
                  <a:ext cx="4642732" cy="4672425"/>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40" name="直线连接线 39"/>
                <p:cNvCxnSpPr/>
                <p:nvPr/>
              </p:nvCxnSpPr>
              <p:spPr bwMode="hidden">
                <a:xfrm>
                  <a:off x="8772997" y="0"/>
                  <a:ext cx="3419003" cy="3456749"/>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41" name="直线连接线 40"/>
                <p:cNvCxnSpPr/>
                <p:nvPr/>
              </p:nvCxnSpPr>
              <p:spPr bwMode="hidden">
                <a:xfrm>
                  <a:off x="9982200" y="0"/>
                  <a:ext cx="2209800" cy="2226469"/>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42" name="直线连接线 41"/>
                <p:cNvCxnSpPr/>
                <p:nvPr/>
              </p:nvCxnSpPr>
              <p:spPr bwMode="hidden">
                <a:xfrm>
                  <a:off x="11199019" y="0"/>
                  <a:ext cx="992981" cy="1002506"/>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grpSp>
          <p:cxnSp>
            <p:nvCxnSpPr>
              <p:cNvPr id="33" name="直线连接线 32"/>
              <p:cNvCxnSpPr/>
              <p:nvPr/>
            </p:nvCxnSpPr>
            <p:spPr bwMode="hidden">
              <a:xfrm flipH="1" flipV="1">
                <a:off x="-1" y="1012053"/>
                <a:ext cx="5828811" cy="5845945"/>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34" name="直线连接线 33"/>
              <p:cNvCxnSpPr/>
              <p:nvPr/>
            </p:nvCxnSpPr>
            <p:spPr bwMode="hidden">
              <a:xfrm flipH="1" flipV="1">
                <a:off x="-1" y="2227340"/>
                <a:ext cx="4614781" cy="4630658"/>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35" name="直线连接线 34"/>
              <p:cNvCxnSpPr/>
              <p:nvPr/>
            </p:nvCxnSpPr>
            <p:spPr bwMode="hidden">
              <a:xfrm flipH="1" flipV="1">
                <a:off x="-1" y="3432149"/>
                <a:ext cx="3398419" cy="3425849"/>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36" name="直线连接线 35"/>
              <p:cNvCxnSpPr/>
              <p:nvPr/>
            </p:nvCxnSpPr>
            <p:spPr bwMode="hidden">
              <a:xfrm flipH="1" flipV="1">
                <a:off x="-1" y="4651431"/>
                <a:ext cx="2196496" cy="2206567"/>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37" name="直线连接线 36"/>
              <p:cNvCxnSpPr/>
              <p:nvPr/>
            </p:nvCxnSpPr>
            <p:spPr bwMode="hidden">
              <a:xfrm flipH="1" flipV="1">
                <a:off x="-1" y="5864453"/>
                <a:ext cx="987003" cy="993545"/>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grpSp>
      </p:grpSp>
      <p:sp>
        <p:nvSpPr>
          <p:cNvPr id="60" name="矩形 59"/>
          <p:cNvSpPr/>
          <p:nvPr/>
        </p:nvSpPr>
        <p:spPr>
          <a:xfrm>
            <a:off x="0" y="0"/>
            <a:ext cx="5486400" cy="6858000"/>
          </a:xfrm>
          <a:prstGeom prst="rect">
            <a:avLst/>
          </a:prstGeom>
          <a:gradFill>
            <a:gsLst>
              <a:gs pos="69000">
                <a:schemeClr val="bg1"/>
              </a:gs>
              <a:gs pos="0">
                <a:schemeClr val="bg1"/>
              </a:gs>
              <a:gs pos="100000">
                <a:schemeClr val="bg1">
                  <a:lumMod val="95000"/>
                </a:schemeClr>
              </a:gs>
            </a:gsLst>
            <a:path path="circle">
              <a:fillToRect l="50000" t="50000" r="50000" b="50000"/>
            </a:path>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00" dirty="0">
              <a:ea typeface="Microsoft YaHei UI" panose="020B0503020204020204" pitchFamily="34" charset="-122"/>
            </a:endParaRPr>
          </a:p>
        </p:txBody>
      </p:sp>
      <p:sp>
        <p:nvSpPr>
          <p:cNvPr id="3" name="图片占位符 2"/>
          <p:cNvSpPr>
            <a:spLocks noGrp="1"/>
          </p:cNvSpPr>
          <p:nvPr>
            <p:ph type="pic" idx="1"/>
          </p:nvPr>
        </p:nvSpPr>
        <p:spPr>
          <a:xfrm>
            <a:off x="3309" y="-159"/>
            <a:ext cx="5486400" cy="6858000"/>
          </a:xfrm>
        </p:spPr>
        <p:txBody>
          <a:bodyPr tIns="457200">
            <a:normAutofit/>
          </a:bodyPr>
          <a:lstStyle>
            <a:lvl1pPr marL="0" indent="0" algn="ctr" latinLnBrk="0">
              <a:buNone/>
              <a:defRPr lang="zh-CN" sz="2000"/>
            </a:lvl1pPr>
            <a:lvl2pPr marL="457200" indent="0" latinLnBrk="0">
              <a:buNone/>
              <a:defRPr lang="zh-CN" sz="2800"/>
            </a:lvl2pPr>
            <a:lvl3pPr marL="914400" indent="0" latinLnBrk="0">
              <a:buNone/>
              <a:defRPr lang="zh-CN" sz="2400"/>
            </a:lvl3pPr>
            <a:lvl4pPr marL="1371600" indent="0" latinLnBrk="0">
              <a:buNone/>
              <a:defRPr lang="zh-CN" sz="2000"/>
            </a:lvl4pPr>
            <a:lvl5pPr marL="1828800" indent="0" latinLnBrk="0">
              <a:buNone/>
              <a:defRPr lang="zh-CN" sz="2000"/>
            </a:lvl5pPr>
            <a:lvl6pPr marL="2286000" indent="0" latinLnBrk="0">
              <a:buNone/>
              <a:defRPr lang="zh-CN" sz="2000"/>
            </a:lvl6pPr>
            <a:lvl7pPr marL="2743200" indent="0" latinLnBrk="0">
              <a:buNone/>
              <a:defRPr lang="zh-CN" sz="2000"/>
            </a:lvl7pPr>
            <a:lvl8pPr marL="3200400" indent="0" latinLnBrk="0">
              <a:buNone/>
              <a:defRPr lang="zh-CN" sz="2000"/>
            </a:lvl8pPr>
            <a:lvl9pPr marL="3657600" indent="0" latinLnBrk="0">
              <a:buNone/>
              <a:defRPr lang="zh-CN" sz="2000"/>
            </a:lvl9pPr>
          </a:lstStyle>
          <a:p>
            <a:r>
              <a:rPr lang="zh-CN" altLang="en-US" smtClean="0"/>
              <a:t>单击图标添加图片</a:t>
            </a:r>
            <a:endParaRPr lang="zh-CN" dirty="0"/>
          </a:p>
        </p:txBody>
      </p:sp>
      <p:cxnSp>
        <p:nvCxnSpPr>
          <p:cNvPr id="59" name="直线连接线 58"/>
          <p:cNvCxnSpPr/>
          <p:nvPr/>
        </p:nvCxnSpPr>
        <p:spPr>
          <a:xfrm>
            <a:off x="5942317" y="2895600"/>
            <a:ext cx="2744483" cy="0"/>
          </a:xfrm>
          <a:prstGeom prst="line">
            <a:avLst/>
          </a:prstGeom>
          <a:ln w="19050">
            <a:solidFill>
              <a:schemeClr val="bg1"/>
            </a:solidFill>
          </a:ln>
        </p:spPr>
        <p:style>
          <a:lnRef idx="1">
            <a:schemeClr val="accent1"/>
          </a:lnRef>
          <a:fillRef idx="0">
            <a:schemeClr val="accent1"/>
          </a:fillRef>
          <a:effectRef idx="0">
            <a:schemeClr val="accent1"/>
          </a:effectRef>
          <a:fontRef idx="minor">
            <a:schemeClr val="tx1"/>
          </a:fontRef>
        </p:style>
      </p:cxnSp>
      <p:sp>
        <p:nvSpPr>
          <p:cNvPr id="2" name="标题 1"/>
          <p:cNvSpPr>
            <a:spLocks noGrp="1"/>
          </p:cNvSpPr>
          <p:nvPr>
            <p:ph type="title"/>
          </p:nvPr>
        </p:nvSpPr>
        <p:spPr>
          <a:xfrm>
            <a:off x="5932170" y="576072"/>
            <a:ext cx="2743200" cy="2194560"/>
          </a:xfrm>
        </p:spPr>
        <p:txBody>
          <a:bodyPr anchor="b">
            <a:normAutofit/>
          </a:bodyPr>
          <a:lstStyle>
            <a:lvl1pPr latinLnBrk="0">
              <a:defRPr lang="zh-CN" sz="2600">
                <a:solidFill>
                  <a:schemeClr val="bg1"/>
                </a:solidFill>
              </a:defRPr>
            </a:lvl1pPr>
          </a:lstStyle>
          <a:p>
            <a:r>
              <a:rPr lang="zh-CN" altLang="en-US" smtClean="0"/>
              <a:t>单击此处编辑母版标题样式</a:t>
            </a:r>
            <a:endParaRPr lang="zh-CN" dirty="0"/>
          </a:p>
        </p:txBody>
      </p:sp>
      <p:sp>
        <p:nvSpPr>
          <p:cNvPr id="4" name="文本占位符 3"/>
          <p:cNvSpPr>
            <a:spLocks noGrp="1"/>
          </p:cNvSpPr>
          <p:nvPr>
            <p:ph type="body" sz="half" idx="2"/>
          </p:nvPr>
        </p:nvSpPr>
        <p:spPr>
          <a:xfrm>
            <a:off x="5932170" y="2999232"/>
            <a:ext cx="2743200" cy="2286000"/>
          </a:xfrm>
        </p:spPr>
        <p:txBody>
          <a:bodyPr/>
          <a:lstStyle>
            <a:lvl1pPr marL="0" indent="0" latinLnBrk="0">
              <a:spcBef>
                <a:spcPts val="1200"/>
              </a:spcBef>
              <a:buNone/>
              <a:defRPr lang="zh-CN" sz="1600">
                <a:solidFill>
                  <a:schemeClr val="bg1"/>
                </a:solidFill>
              </a:defRPr>
            </a:lvl1pPr>
            <a:lvl2pPr marL="457200" indent="0" latinLnBrk="0">
              <a:buNone/>
              <a:defRPr lang="zh-CN" sz="1400"/>
            </a:lvl2pPr>
            <a:lvl3pPr marL="914400" indent="0" latinLnBrk="0">
              <a:buNone/>
              <a:defRPr lang="zh-CN" sz="1200"/>
            </a:lvl3pPr>
            <a:lvl4pPr marL="1371600" indent="0" latinLnBrk="0">
              <a:buNone/>
              <a:defRPr lang="zh-CN" sz="1000"/>
            </a:lvl4pPr>
            <a:lvl5pPr marL="1828800" indent="0" latinLnBrk="0">
              <a:buNone/>
              <a:defRPr lang="zh-CN" sz="1000"/>
            </a:lvl5pPr>
            <a:lvl6pPr marL="2286000" indent="0" latinLnBrk="0">
              <a:buNone/>
              <a:defRPr lang="zh-CN" sz="1000"/>
            </a:lvl6pPr>
            <a:lvl7pPr marL="2743200" indent="0" latinLnBrk="0">
              <a:buNone/>
              <a:defRPr lang="zh-CN" sz="1000"/>
            </a:lvl7pPr>
            <a:lvl8pPr marL="3200400" indent="0" latinLnBrk="0">
              <a:buNone/>
              <a:defRPr lang="zh-CN" sz="1000"/>
            </a:lvl8pPr>
            <a:lvl9pPr marL="3657600" indent="0" latinLnBrk="0">
              <a:buNone/>
              <a:defRPr lang="zh-CN" sz="1000"/>
            </a:lvl9pPr>
          </a:lstStyle>
          <a:p>
            <a:pPr lvl="0"/>
            <a:r>
              <a:rPr lang="zh-CN" altLang="en-US" smtClean="0"/>
              <a:t>单击此处编辑母版文本样式</a:t>
            </a:r>
          </a:p>
        </p:txBody>
      </p:sp>
    </p:spTree>
    <p:extLst>
      <p:ext uri="{BB962C8B-B14F-4D97-AF65-F5344CB8AC3E}">
        <p14:creationId xmlns:p14="http://schemas.microsoft.com/office/powerpoint/2010/main" val="62031800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dirty="0"/>
          </a:p>
        </p:txBody>
      </p:sp>
      <p:sp>
        <p:nvSpPr>
          <p:cNvPr id="3" name="竖排文字占位符 2"/>
          <p:cNvSpPr>
            <a:spLocks noGrp="1"/>
          </p:cNvSpPr>
          <p:nvPr>
            <p:ph type="body" orient="vert" idx="1"/>
          </p:nvPr>
        </p:nvSpPr>
        <p:spPr/>
        <p:txBody>
          <a:bodyPr vert="eaVert"/>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dirty="0"/>
          </a:p>
        </p:txBody>
      </p:sp>
      <p:sp>
        <p:nvSpPr>
          <p:cNvPr id="4" name="日期占位符 3"/>
          <p:cNvSpPr>
            <a:spLocks noGrp="1"/>
          </p:cNvSpPr>
          <p:nvPr>
            <p:ph type="dt" sz="half" idx="10"/>
          </p:nvPr>
        </p:nvSpPr>
        <p:spPr/>
        <p:txBody>
          <a:bodyPr/>
          <a:lstStyle/>
          <a:p>
            <a:fld id="{3B70A53E-5BDE-449A-8325-0FD352C24776}" type="datetime1">
              <a:rPr lang="zh-CN" altLang="en-US" smtClean="0"/>
              <a:pPr/>
              <a:t>2022/5/23</a:t>
            </a:fld>
            <a:endParaRPr lang="zh-CN"/>
          </a:p>
        </p:txBody>
      </p:sp>
      <p:sp>
        <p:nvSpPr>
          <p:cNvPr id="5" name="页脚占位符 4"/>
          <p:cNvSpPr>
            <a:spLocks noGrp="1"/>
          </p:cNvSpPr>
          <p:nvPr>
            <p:ph type="ftr" sz="quarter" idx="11"/>
          </p:nvPr>
        </p:nvSpPr>
        <p:spPr/>
        <p:txBody>
          <a:bodyPr/>
          <a:lstStyle/>
          <a:p>
            <a:r>
              <a:rPr lang="zh-CN" altLang="en-US" smtClean="0"/>
              <a:t>国际金融学 范小云</a:t>
            </a:r>
            <a:endParaRPr lang="zh-CN"/>
          </a:p>
        </p:txBody>
      </p:sp>
      <p:sp>
        <p:nvSpPr>
          <p:cNvPr id="6" name="幻灯片编号占位符 5"/>
          <p:cNvSpPr>
            <a:spLocks noGrp="1"/>
          </p:cNvSpPr>
          <p:nvPr>
            <p:ph type="sldNum" sz="quarter" idx="12"/>
          </p:nvPr>
        </p:nvSpPr>
        <p:spPr/>
        <p:txBody>
          <a:bodyPr/>
          <a:lstStyle/>
          <a:p>
            <a:fld id="{E31375A4-56A4-47D6-9801-1991572033F7}" type="slidenum">
              <a:rPr/>
              <a:pPr/>
              <a:t>‹#›</a:t>
            </a:fld>
            <a:endParaRPr lang="zh-CN"/>
          </a:p>
        </p:txBody>
      </p:sp>
    </p:spTree>
    <p:extLst>
      <p:ext uri="{BB962C8B-B14F-4D97-AF65-F5344CB8AC3E}">
        <p14:creationId xmlns:p14="http://schemas.microsoft.com/office/powerpoint/2010/main" val="247715422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和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906985" y="489857"/>
            <a:ext cx="1265465" cy="5301343"/>
          </a:xfrm>
        </p:spPr>
        <p:txBody>
          <a:bodyPr vert="eaVert"/>
          <a:lstStyle/>
          <a:p>
            <a:r>
              <a:rPr lang="zh-CN" altLang="en-US" smtClean="0"/>
              <a:t>单击此处编辑母版标题样式</a:t>
            </a:r>
            <a:endParaRPr lang="zh-CN" dirty="0"/>
          </a:p>
        </p:txBody>
      </p:sp>
      <p:sp>
        <p:nvSpPr>
          <p:cNvPr id="3" name="竖排文字占位符 2"/>
          <p:cNvSpPr>
            <a:spLocks noGrp="1"/>
          </p:cNvSpPr>
          <p:nvPr>
            <p:ph type="body" orient="vert" idx="1"/>
          </p:nvPr>
        </p:nvSpPr>
        <p:spPr>
          <a:xfrm>
            <a:off x="971549" y="489857"/>
            <a:ext cx="5690508" cy="5301343"/>
          </a:xfrm>
        </p:spPr>
        <p:txBody>
          <a:bodyPr vert="eaVert"/>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dirty="0"/>
          </a:p>
        </p:txBody>
      </p:sp>
      <p:sp>
        <p:nvSpPr>
          <p:cNvPr id="4" name="日期占位符 3"/>
          <p:cNvSpPr>
            <a:spLocks noGrp="1"/>
          </p:cNvSpPr>
          <p:nvPr>
            <p:ph type="dt" sz="half" idx="10"/>
          </p:nvPr>
        </p:nvSpPr>
        <p:spPr/>
        <p:txBody>
          <a:bodyPr/>
          <a:lstStyle/>
          <a:p>
            <a:fld id="{27B70614-4D03-45B4-BA67-24D892EC8565}" type="datetime1">
              <a:rPr lang="zh-CN" altLang="en-US" smtClean="0"/>
              <a:pPr/>
              <a:t>2022/5/23</a:t>
            </a:fld>
            <a:endParaRPr lang="zh-CN"/>
          </a:p>
        </p:txBody>
      </p:sp>
      <p:sp>
        <p:nvSpPr>
          <p:cNvPr id="5" name="页脚占位符 4"/>
          <p:cNvSpPr>
            <a:spLocks noGrp="1"/>
          </p:cNvSpPr>
          <p:nvPr>
            <p:ph type="ftr" sz="quarter" idx="11"/>
          </p:nvPr>
        </p:nvSpPr>
        <p:spPr/>
        <p:txBody>
          <a:bodyPr/>
          <a:lstStyle/>
          <a:p>
            <a:r>
              <a:rPr lang="zh-CN" altLang="en-US" smtClean="0"/>
              <a:t>国际金融学 范小云</a:t>
            </a:r>
            <a:endParaRPr lang="zh-CN"/>
          </a:p>
        </p:txBody>
      </p:sp>
      <p:sp>
        <p:nvSpPr>
          <p:cNvPr id="6" name="幻灯片编号占位符 5"/>
          <p:cNvSpPr>
            <a:spLocks noGrp="1"/>
          </p:cNvSpPr>
          <p:nvPr>
            <p:ph type="sldNum" sz="quarter" idx="12"/>
          </p:nvPr>
        </p:nvSpPr>
        <p:spPr/>
        <p:txBody>
          <a:bodyPr/>
          <a:lstStyle/>
          <a:p>
            <a:fld id="{E31375A4-56A4-47D6-9801-1991572033F7}" type="slidenum">
              <a:rPr/>
              <a:pPr/>
              <a:t>‹#›</a:t>
            </a:fld>
            <a:endParaRPr lang="zh-CN"/>
          </a:p>
        </p:txBody>
      </p:sp>
    </p:spTree>
    <p:extLst>
      <p:ext uri="{BB962C8B-B14F-4D97-AF65-F5344CB8AC3E}">
        <p14:creationId xmlns:p14="http://schemas.microsoft.com/office/powerpoint/2010/main" val="252463502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gradFill flip="none" rotWithShape="1">
          <a:gsLst>
            <a:gs pos="53000">
              <a:schemeClr val="bg1"/>
            </a:gs>
            <a:gs pos="0">
              <a:schemeClr val="bg1">
                <a:lumMod val="100000"/>
              </a:schemeClr>
            </a:gs>
            <a:gs pos="100000">
              <a:schemeClr val="bg1">
                <a:lumMod val="95000"/>
                <a:alpha val="65000"/>
              </a:schemeClr>
            </a:gs>
          </a:gsLst>
          <a:lin ang="5400000" scaled="1"/>
          <a:tileRect/>
        </a:gradFill>
        <a:effectLst/>
      </p:bgPr>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971550" y="503854"/>
            <a:ext cx="7200900" cy="1142385"/>
          </a:xfrm>
          <a:prstGeom prst="rect">
            <a:avLst/>
          </a:prstGeom>
        </p:spPr>
        <p:txBody>
          <a:bodyPr vert="horz" lIns="91440" tIns="45720" rIns="91440" bIns="45720" rtlCol="0" anchor="b">
            <a:normAutofit/>
          </a:bodyPr>
          <a:lstStyle/>
          <a:p>
            <a:r>
              <a:rPr lang="zh-CN" dirty="0"/>
              <a:t>单击此处编辑母版标题样式</a:t>
            </a:r>
          </a:p>
        </p:txBody>
      </p:sp>
      <p:sp>
        <p:nvSpPr>
          <p:cNvPr id="3" name="文本占位符 2"/>
          <p:cNvSpPr>
            <a:spLocks noGrp="1"/>
          </p:cNvSpPr>
          <p:nvPr>
            <p:ph type="body" idx="1"/>
          </p:nvPr>
        </p:nvSpPr>
        <p:spPr>
          <a:xfrm>
            <a:off x="971550" y="1981202"/>
            <a:ext cx="7200900" cy="3809999"/>
          </a:xfrm>
          <a:prstGeom prst="rect">
            <a:avLst/>
          </a:prstGeom>
        </p:spPr>
        <p:txBody>
          <a:bodyPr vert="horz" lIns="91440" tIns="45720" rIns="91440" bIns="45720" rtlCol="0">
            <a:normAutofit/>
          </a:bodyPr>
          <a:lstStyle/>
          <a:p>
            <a:pPr lvl="0"/>
            <a:r>
              <a:rPr lang="zh-CN" dirty="0"/>
              <a:t>单击此处编辑母版文本样式</a:t>
            </a:r>
          </a:p>
          <a:p>
            <a:pPr lvl="1"/>
            <a:r>
              <a:rPr lang="zh-CN" dirty="0"/>
              <a:t>第二级</a:t>
            </a:r>
          </a:p>
          <a:p>
            <a:pPr lvl="2"/>
            <a:r>
              <a:rPr lang="zh-CN" dirty="0"/>
              <a:t>第三级</a:t>
            </a:r>
          </a:p>
          <a:p>
            <a:pPr lvl="3"/>
            <a:r>
              <a:rPr lang="zh-CN" dirty="0"/>
              <a:t>第四级</a:t>
            </a:r>
          </a:p>
          <a:p>
            <a:pPr lvl="4"/>
            <a:r>
              <a:rPr lang="zh-CN" dirty="0"/>
              <a:t>第五级</a:t>
            </a:r>
          </a:p>
        </p:txBody>
      </p:sp>
      <p:sp>
        <p:nvSpPr>
          <p:cNvPr id="4" name="日期占位符 3"/>
          <p:cNvSpPr>
            <a:spLocks noGrp="1"/>
          </p:cNvSpPr>
          <p:nvPr>
            <p:ph type="dt" sz="half" idx="2"/>
          </p:nvPr>
        </p:nvSpPr>
        <p:spPr>
          <a:xfrm>
            <a:off x="6970531" y="6289679"/>
            <a:ext cx="724460" cy="222436"/>
          </a:xfrm>
          <a:prstGeom prst="rect">
            <a:avLst/>
          </a:prstGeom>
        </p:spPr>
        <p:txBody>
          <a:bodyPr vert="horz" lIns="91440" tIns="45720" rIns="91440" bIns="45720" rtlCol="0" anchor="ctr"/>
          <a:lstStyle>
            <a:lvl1pPr algn="r" latinLnBrk="0">
              <a:defRPr lang="zh-CN" sz="800">
                <a:solidFill>
                  <a:schemeClr val="tx1">
                    <a:lumMod val="50000"/>
                    <a:lumOff val="50000"/>
                  </a:schemeClr>
                </a:solidFill>
                <a:ea typeface="Microsoft YaHei UI" panose="020B0503020204020204" pitchFamily="34" charset="-122"/>
              </a:defRPr>
            </a:lvl1pPr>
          </a:lstStyle>
          <a:p>
            <a:fld id="{27321F5A-E3A2-4B01-A540-357B93D3E2B1}" type="datetime1">
              <a:rPr lang="zh-CN" altLang="en-US" smtClean="0"/>
              <a:pPr/>
              <a:t>2022/5/23</a:t>
            </a:fld>
            <a:endParaRPr lang="zh-CN" altLang="en-US" dirty="0"/>
          </a:p>
        </p:txBody>
      </p:sp>
      <p:sp>
        <p:nvSpPr>
          <p:cNvPr id="5" name="页脚占位符 4"/>
          <p:cNvSpPr>
            <a:spLocks noGrp="1"/>
          </p:cNvSpPr>
          <p:nvPr>
            <p:ph type="ftr" sz="quarter" idx="3"/>
          </p:nvPr>
        </p:nvSpPr>
        <p:spPr>
          <a:xfrm>
            <a:off x="457201" y="6289679"/>
            <a:ext cx="4596023" cy="222436"/>
          </a:xfrm>
          <a:prstGeom prst="rect">
            <a:avLst/>
          </a:prstGeom>
        </p:spPr>
        <p:txBody>
          <a:bodyPr vert="horz" lIns="91440" tIns="45720" rIns="91440" bIns="45720" rtlCol="0" anchor="ctr"/>
          <a:lstStyle>
            <a:lvl1pPr algn="l" latinLnBrk="0">
              <a:defRPr lang="zh-CN" sz="800">
                <a:solidFill>
                  <a:schemeClr val="tx1">
                    <a:lumMod val="50000"/>
                    <a:lumOff val="50000"/>
                  </a:schemeClr>
                </a:solidFill>
                <a:ea typeface="Microsoft YaHei UI" panose="020B0503020204020204" pitchFamily="34" charset="-122"/>
              </a:defRPr>
            </a:lvl1pPr>
          </a:lstStyle>
          <a:p>
            <a:r>
              <a:rPr lang="zh-CN" altLang="en-US" smtClean="0"/>
              <a:t>国际金融学 范小云</a:t>
            </a:r>
            <a:endParaRPr lang="zh-CN" altLang="en-US" dirty="0"/>
          </a:p>
        </p:txBody>
      </p:sp>
      <p:sp>
        <p:nvSpPr>
          <p:cNvPr id="6" name="幻灯片编号占位符 5"/>
          <p:cNvSpPr>
            <a:spLocks noGrp="1"/>
          </p:cNvSpPr>
          <p:nvPr>
            <p:ph type="sldNum" sz="quarter" idx="4"/>
          </p:nvPr>
        </p:nvSpPr>
        <p:spPr>
          <a:xfrm>
            <a:off x="7998983" y="6289679"/>
            <a:ext cx="689162" cy="222436"/>
          </a:xfrm>
          <a:prstGeom prst="rect">
            <a:avLst/>
          </a:prstGeom>
        </p:spPr>
        <p:txBody>
          <a:bodyPr vert="horz" lIns="91440" tIns="45720" rIns="91440" bIns="45720" rtlCol="0" anchor="ctr"/>
          <a:lstStyle>
            <a:lvl1pPr algn="r" latinLnBrk="0">
              <a:defRPr lang="zh-CN" sz="800">
                <a:solidFill>
                  <a:schemeClr val="tx1">
                    <a:lumMod val="50000"/>
                    <a:lumOff val="50000"/>
                  </a:schemeClr>
                </a:solidFill>
                <a:ea typeface="Microsoft YaHei UI" panose="020B0503020204020204" pitchFamily="34" charset="-122"/>
              </a:defRPr>
            </a:lvl1pPr>
          </a:lstStyle>
          <a:p>
            <a:fld id="{E31375A4-56A4-47D6-9801-1991572033F7}" type="slidenum">
              <a:rPr lang="en-US" altLang="zh-CN" smtClean="0"/>
              <a:pPr/>
              <a:t>‹#›</a:t>
            </a:fld>
            <a:endParaRPr lang="en-US" altLang="zh-CN" dirty="0"/>
          </a:p>
        </p:txBody>
      </p:sp>
      <p:cxnSp>
        <p:nvCxnSpPr>
          <p:cNvPr id="148" name="直线连接线 147"/>
          <p:cNvCxnSpPr/>
          <p:nvPr userDrawn="1"/>
        </p:nvCxnSpPr>
        <p:spPr>
          <a:xfrm>
            <a:off x="457200" y="6172200"/>
            <a:ext cx="8229600" cy="0"/>
          </a:xfrm>
          <a:prstGeom prst="line">
            <a:avLst/>
          </a:prstGeom>
          <a:ln w="12700"/>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94325986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69" r:id="rId9"/>
    <p:sldLayoutId id="2147483658" r:id="rId10"/>
    <p:sldLayoutId id="2147483659" r:id="rId11"/>
  </p:sldLayoutIdLst>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hf sldNum="0" hdr="0" dt="0"/>
  <p:txStyles>
    <p:titleStyle>
      <a:lvl1pPr algn="l" defTabSz="914400" rtl="0" eaLnBrk="1" latinLnBrk="0" hangingPunct="1">
        <a:lnSpc>
          <a:spcPct val="90000"/>
        </a:lnSpc>
        <a:spcBef>
          <a:spcPct val="0"/>
        </a:spcBef>
        <a:buNone/>
        <a:defRPr lang="zh-CN" sz="3200" b="1" kern="1200">
          <a:solidFill>
            <a:schemeClr val="accent1"/>
          </a:solidFill>
          <a:latin typeface="+mj-lt"/>
          <a:ea typeface="Microsoft YaHei UI" panose="020B0503020204020204" pitchFamily="34" charset="-122"/>
          <a:cs typeface="+mj-cs"/>
        </a:defRPr>
      </a:lvl1pPr>
    </p:titleStyle>
    <p:bodyStyle>
      <a:lvl1pPr marL="228600" indent="-228600" algn="l" defTabSz="914400" rtl="0" eaLnBrk="1" latinLnBrk="0" hangingPunct="1">
        <a:lnSpc>
          <a:spcPct val="90000"/>
        </a:lnSpc>
        <a:spcBef>
          <a:spcPts val="1800"/>
        </a:spcBef>
        <a:buClr>
          <a:schemeClr val="accent1"/>
        </a:buClr>
        <a:buSzPct val="100000"/>
        <a:buFont typeface="Arial" pitchFamily="34" charset="0"/>
        <a:buChar char="▪"/>
        <a:defRPr lang="zh-CN" sz="2000" kern="1200">
          <a:solidFill>
            <a:schemeClr val="tx1"/>
          </a:solidFill>
          <a:latin typeface="+mn-lt"/>
          <a:ea typeface="Microsoft YaHei UI" panose="020B0503020204020204" pitchFamily="34" charset="-122"/>
          <a:cs typeface="+mn-cs"/>
        </a:defRPr>
      </a:lvl1pPr>
      <a:lvl2pPr marL="457200" indent="-182880" algn="l" defTabSz="914400" rtl="0" eaLnBrk="1" latinLnBrk="0" hangingPunct="1">
        <a:lnSpc>
          <a:spcPct val="90000"/>
        </a:lnSpc>
        <a:spcBef>
          <a:spcPts val="1200"/>
        </a:spcBef>
        <a:buClr>
          <a:schemeClr val="accent1"/>
        </a:buClr>
        <a:buSzPct val="100000"/>
        <a:buFont typeface="Arial" pitchFamily="34" charset="0"/>
        <a:buChar char="▪"/>
        <a:defRPr lang="zh-CN" sz="1800" kern="1200">
          <a:solidFill>
            <a:schemeClr val="tx1"/>
          </a:solidFill>
          <a:latin typeface="+mn-lt"/>
          <a:ea typeface="Microsoft YaHei UI" panose="020B0503020204020204" pitchFamily="34" charset="-122"/>
          <a:cs typeface="+mn-cs"/>
        </a:defRPr>
      </a:lvl2pPr>
      <a:lvl3pPr marL="685800" indent="-179388" algn="l" defTabSz="914400" rtl="0" eaLnBrk="1" latinLnBrk="0" hangingPunct="1">
        <a:lnSpc>
          <a:spcPct val="90000"/>
        </a:lnSpc>
        <a:spcBef>
          <a:spcPts val="800"/>
        </a:spcBef>
        <a:buClr>
          <a:schemeClr val="accent1"/>
        </a:buClr>
        <a:buSzPct val="100000"/>
        <a:buFont typeface="Arial" pitchFamily="34" charset="0"/>
        <a:buChar char="▪"/>
        <a:defRPr lang="zh-CN" sz="1600" kern="1200">
          <a:solidFill>
            <a:schemeClr val="tx1"/>
          </a:solidFill>
          <a:latin typeface="+mn-lt"/>
          <a:ea typeface="Microsoft YaHei UI" panose="020B0503020204020204" pitchFamily="34" charset="-122"/>
          <a:cs typeface="+mn-cs"/>
        </a:defRPr>
      </a:lvl3pPr>
      <a:lvl4pPr marL="914400" indent="-182880" algn="l" defTabSz="914400" rtl="0" eaLnBrk="1" latinLnBrk="0" hangingPunct="1">
        <a:lnSpc>
          <a:spcPct val="90000"/>
        </a:lnSpc>
        <a:spcBef>
          <a:spcPts val="800"/>
        </a:spcBef>
        <a:buClr>
          <a:schemeClr val="accent1"/>
        </a:buClr>
        <a:buSzPct val="100000"/>
        <a:buFont typeface="Arial" pitchFamily="34" charset="0"/>
        <a:buChar char="▪"/>
        <a:defRPr lang="zh-CN" sz="1400" kern="1200">
          <a:solidFill>
            <a:schemeClr val="tx1"/>
          </a:solidFill>
          <a:latin typeface="+mn-lt"/>
          <a:ea typeface="Microsoft YaHei UI" panose="020B0503020204020204" pitchFamily="34" charset="-122"/>
          <a:cs typeface="+mn-cs"/>
        </a:defRPr>
      </a:lvl4pPr>
      <a:lvl5pPr marL="1143000" indent="-179388" algn="l" defTabSz="914400" rtl="0" eaLnBrk="1" latinLnBrk="0" hangingPunct="1">
        <a:lnSpc>
          <a:spcPct val="90000"/>
        </a:lnSpc>
        <a:spcBef>
          <a:spcPts val="600"/>
        </a:spcBef>
        <a:buClr>
          <a:schemeClr val="accent1"/>
        </a:buClr>
        <a:buSzPct val="100000"/>
        <a:buFont typeface="Arial" pitchFamily="34" charset="0"/>
        <a:buChar char="▪"/>
        <a:defRPr lang="zh-CN" sz="1400" kern="1200">
          <a:solidFill>
            <a:schemeClr val="tx1"/>
          </a:solidFill>
          <a:latin typeface="+mn-lt"/>
          <a:ea typeface="Microsoft YaHei UI" panose="020B0503020204020204" pitchFamily="34" charset="-122"/>
          <a:cs typeface="+mn-cs"/>
        </a:defRPr>
      </a:lvl5pPr>
      <a:lvl6pPr marL="1371600" indent="-182880" algn="l" defTabSz="914400" rtl="0" eaLnBrk="1" latinLnBrk="0" hangingPunct="1">
        <a:lnSpc>
          <a:spcPct val="90000"/>
        </a:lnSpc>
        <a:spcBef>
          <a:spcPts val="600"/>
        </a:spcBef>
        <a:buClr>
          <a:schemeClr val="accent1"/>
        </a:buClr>
        <a:buSzPct val="100000"/>
        <a:buFont typeface="Arial" pitchFamily="34" charset="0"/>
        <a:buChar char="▪"/>
        <a:defRPr lang="zh-CN" sz="1400" kern="1200">
          <a:solidFill>
            <a:schemeClr val="tx1"/>
          </a:solidFill>
          <a:latin typeface="+mn-lt"/>
          <a:ea typeface="+mn-ea"/>
          <a:cs typeface="+mn-cs"/>
        </a:defRPr>
      </a:lvl6pPr>
      <a:lvl7pPr marL="1600200" indent="-179388" algn="l" defTabSz="914400" rtl="0" eaLnBrk="1" latinLnBrk="0" hangingPunct="1">
        <a:lnSpc>
          <a:spcPct val="90000"/>
        </a:lnSpc>
        <a:spcBef>
          <a:spcPts val="600"/>
        </a:spcBef>
        <a:buClr>
          <a:schemeClr val="accent1"/>
        </a:buClr>
        <a:buSzPct val="100000"/>
        <a:buFont typeface="Arial" pitchFamily="34" charset="0"/>
        <a:buChar char="▪"/>
        <a:defRPr lang="zh-CN" sz="1400" kern="1200">
          <a:solidFill>
            <a:schemeClr val="tx1"/>
          </a:solidFill>
          <a:latin typeface="+mn-lt"/>
          <a:ea typeface="+mn-ea"/>
          <a:cs typeface="+mn-cs"/>
        </a:defRPr>
      </a:lvl7pPr>
      <a:lvl8pPr marL="1828800" indent="-182880" algn="l" defTabSz="914400" rtl="0" eaLnBrk="1" latinLnBrk="0" hangingPunct="1">
        <a:lnSpc>
          <a:spcPct val="90000"/>
        </a:lnSpc>
        <a:spcBef>
          <a:spcPts val="600"/>
        </a:spcBef>
        <a:buClr>
          <a:schemeClr val="accent1"/>
        </a:buClr>
        <a:buSzPct val="100000"/>
        <a:buFont typeface="Arial" pitchFamily="34" charset="0"/>
        <a:buChar char="▪"/>
        <a:defRPr lang="zh-CN" sz="1400" kern="1200">
          <a:solidFill>
            <a:schemeClr val="tx1"/>
          </a:solidFill>
          <a:latin typeface="+mn-lt"/>
          <a:ea typeface="+mn-ea"/>
          <a:cs typeface="+mn-cs"/>
        </a:defRPr>
      </a:lvl8pPr>
      <a:lvl9pPr marL="2057400" indent="-179388" algn="l" defTabSz="914400" rtl="0" eaLnBrk="1" latinLnBrk="0" hangingPunct="1">
        <a:lnSpc>
          <a:spcPct val="90000"/>
        </a:lnSpc>
        <a:spcBef>
          <a:spcPts val="600"/>
        </a:spcBef>
        <a:buClr>
          <a:schemeClr val="accent1"/>
        </a:buClr>
        <a:buSzPct val="100000"/>
        <a:buFont typeface="Arial" pitchFamily="34" charset="0"/>
        <a:buChar char="▪"/>
        <a:defRPr lang="zh-CN" sz="1400" kern="1200">
          <a:solidFill>
            <a:schemeClr val="tx1"/>
          </a:solidFill>
          <a:latin typeface="+mn-lt"/>
          <a:ea typeface="+mn-ea"/>
          <a:cs typeface="+mn-cs"/>
        </a:defRPr>
      </a:lvl9pPr>
    </p:bodyStyle>
    <p:otherStyle>
      <a:defPPr>
        <a:defRPr lang="zh-CN"/>
      </a:defPPr>
      <a:lvl1pPr marL="0" algn="l" defTabSz="914400" rtl="0" eaLnBrk="1" latinLnBrk="0" hangingPunct="1">
        <a:defRPr lang="zh-CN" sz="1800" kern="1200">
          <a:solidFill>
            <a:schemeClr val="tx1"/>
          </a:solidFill>
          <a:latin typeface="+mn-lt"/>
          <a:ea typeface="+mn-ea"/>
          <a:cs typeface="+mn-cs"/>
        </a:defRPr>
      </a:lvl1pPr>
      <a:lvl2pPr marL="457200" algn="l" defTabSz="914400" rtl="0" eaLnBrk="1" latinLnBrk="0" hangingPunct="1">
        <a:defRPr lang="zh-CN" sz="1800" kern="1200">
          <a:solidFill>
            <a:schemeClr val="tx1"/>
          </a:solidFill>
          <a:latin typeface="+mn-lt"/>
          <a:ea typeface="+mn-ea"/>
          <a:cs typeface="+mn-cs"/>
        </a:defRPr>
      </a:lvl2pPr>
      <a:lvl3pPr marL="914400" algn="l" defTabSz="914400" rtl="0" eaLnBrk="1" latinLnBrk="0" hangingPunct="1">
        <a:defRPr lang="zh-CN" sz="1800" kern="1200">
          <a:solidFill>
            <a:schemeClr val="tx1"/>
          </a:solidFill>
          <a:latin typeface="+mn-lt"/>
          <a:ea typeface="+mn-ea"/>
          <a:cs typeface="+mn-cs"/>
        </a:defRPr>
      </a:lvl3pPr>
      <a:lvl4pPr marL="1371600" algn="l" defTabSz="914400" rtl="0" eaLnBrk="1" latinLnBrk="0" hangingPunct="1">
        <a:defRPr lang="zh-CN" sz="1800" kern="1200">
          <a:solidFill>
            <a:schemeClr val="tx1"/>
          </a:solidFill>
          <a:latin typeface="+mn-lt"/>
          <a:ea typeface="+mn-ea"/>
          <a:cs typeface="+mn-cs"/>
        </a:defRPr>
      </a:lvl4pPr>
      <a:lvl5pPr marL="1828800" algn="l" defTabSz="914400" rtl="0" eaLnBrk="1" latinLnBrk="0" hangingPunct="1">
        <a:defRPr lang="zh-CN" sz="1800" kern="1200">
          <a:solidFill>
            <a:schemeClr val="tx1"/>
          </a:solidFill>
          <a:latin typeface="+mn-lt"/>
          <a:ea typeface="+mn-ea"/>
          <a:cs typeface="+mn-cs"/>
        </a:defRPr>
      </a:lvl5pPr>
      <a:lvl6pPr marL="2286000" algn="l" defTabSz="914400" rtl="0" eaLnBrk="1" latinLnBrk="0" hangingPunct="1">
        <a:defRPr lang="zh-CN" sz="1800" kern="1200">
          <a:solidFill>
            <a:schemeClr val="tx1"/>
          </a:solidFill>
          <a:latin typeface="+mn-lt"/>
          <a:ea typeface="+mn-ea"/>
          <a:cs typeface="+mn-cs"/>
        </a:defRPr>
      </a:lvl6pPr>
      <a:lvl7pPr marL="2743200" algn="l" defTabSz="914400" rtl="0" eaLnBrk="1" latinLnBrk="0" hangingPunct="1">
        <a:defRPr lang="zh-CN" sz="1800" kern="1200">
          <a:solidFill>
            <a:schemeClr val="tx1"/>
          </a:solidFill>
          <a:latin typeface="+mn-lt"/>
          <a:ea typeface="+mn-ea"/>
          <a:cs typeface="+mn-cs"/>
        </a:defRPr>
      </a:lvl7pPr>
      <a:lvl8pPr marL="3200400" algn="l" defTabSz="914400" rtl="0" eaLnBrk="1" latinLnBrk="0" hangingPunct="1">
        <a:defRPr lang="zh-CN" sz="1800" kern="1200">
          <a:solidFill>
            <a:schemeClr val="tx1"/>
          </a:solidFill>
          <a:latin typeface="+mn-lt"/>
          <a:ea typeface="+mn-ea"/>
          <a:cs typeface="+mn-cs"/>
        </a:defRPr>
      </a:lvl8pPr>
      <a:lvl9pPr marL="3657600" algn="l" defTabSz="914400" rtl="0" eaLnBrk="1" latinLnBrk="0" hangingPunct="1">
        <a:defRPr lang="zh-CN" sz="1800" kern="1200">
          <a:solidFill>
            <a:schemeClr val="tx1"/>
          </a:solidFill>
          <a:latin typeface="+mn-lt"/>
          <a:ea typeface="+mn-ea"/>
          <a:cs typeface="+mn-cs"/>
        </a:defRPr>
      </a:lvl9pPr>
    </p:otherStyle>
  </p:txStyles>
  <p:extLst mod="1">
    <p:ext uri="{27BBF7A9-308A-43DC-89C8-2F10F3537804}">
      <p15:sldGuideLst xmlns:p15="http://schemas.microsoft.com/office/powerpoint/2012/main">
        <p15:guide id="1" orient="horz" pos="2160" userDrawn="1">
          <p15:clr>
            <a:srgbClr val="F26B43"/>
          </p15:clr>
        </p15:guide>
        <p15:guide id="2" pos="2880" userDrawn="1">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hyperlink" Target="mailto:fanxiaoyun@163.com" TargetMode="External"/><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5.emf"/><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2" Type="http://schemas.openxmlformats.org/officeDocument/2006/relationships/notesSlide" Target="../notesSlides/notesSlide53.xml"/><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2" Type="http://schemas.openxmlformats.org/officeDocument/2006/relationships/notesSlide" Target="../notesSlides/notesSlide54.xml"/><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2" Type="http://schemas.openxmlformats.org/officeDocument/2006/relationships/notesSlide" Target="../notesSlides/notesSlide55.xml"/><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2" Type="http://schemas.openxmlformats.org/officeDocument/2006/relationships/notesSlide" Target="../notesSlides/notesSlide56.xml"/><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2" Type="http://schemas.openxmlformats.org/officeDocument/2006/relationships/notesSlide" Target="../notesSlides/notesSlide57.xml"/><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2" Type="http://schemas.openxmlformats.org/officeDocument/2006/relationships/notesSlide" Target="../notesSlides/notesSlide58.xml"/><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2" Type="http://schemas.openxmlformats.org/officeDocument/2006/relationships/notesSlide" Target="../notesSlides/notesSlide59.xml"/><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2" Type="http://schemas.openxmlformats.org/officeDocument/2006/relationships/notesSlide" Target="../notesSlides/notesSlide60.xml"/><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2" Type="http://schemas.openxmlformats.org/officeDocument/2006/relationships/notesSlide" Target="../notesSlides/notesSlide61.xml"/><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2" Type="http://schemas.openxmlformats.org/officeDocument/2006/relationships/notesSlide" Target="../notesSlides/notesSlide62.xml"/><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2" Type="http://schemas.openxmlformats.org/officeDocument/2006/relationships/notesSlide" Target="../notesSlides/notesSlide63.xml"/><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2" Type="http://schemas.openxmlformats.org/officeDocument/2006/relationships/notesSlide" Target="../notesSlides/notesSlide64.xml"/><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2" Type="http://schemas.openxmlformats.org/officeDocument/2006/relationships/notesSlide" Target="../notesSlides/notesSlide65.xml"/><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2" Type="http://schemas.openxmlformats.org/officeDocument/2006/relationships/notesSlide" Target="../notesSlides/notesSlide66.xml"/><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2" Type="http://schemas.openxmlformats.org/officeDocument/2006/relationships/notesSlide" Target="../notesSlides/notesSlide67.xml"/><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2" Type="http://schemas.openxmlformats.org/officeDocument/2006/relationships/notesSlide" Target="../notesSlides/notesSlide68.xml"/><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2" Type="http://schemas.openxmlformats.org/officeDocument/2006/relationships/notesSlide" Target="../notesSlides/notesSlide69.xml"/><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2" Type="http://schemas.openxmlformats.org/officeDocument/2006/relationships/notesSlide" Target="../notesSlides/notesSlide70.xml"/><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2" Type="http://schemas.openxmlformats.org/officeDocument/2006/relationships/notesSlide" Target="../notesSlides/notesSlide71.xml"/><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2" Type="http://schemas.openxmlformats.org/officeDocument/2006/relationships/notesSlide" Target="../notesSlides/notesSlide72.xml"/><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2" Type="http://schemas.openxmlformats.org/officeDocument/2006/relationships/notesSlide" Target="../notesSlides/notesSlide73.xml"/><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2" Type="http://schemas.openxmlformats.org/officeDocument/2006/relationships/notesSlide" Target="../notesSlides/notesSlide74.xml"/><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2" Type="http://schemas.openxmlformats.org/officeDocument/2006/relationships/notesSlide" Target="../notesSlides/notesSlide75.xml"/><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2" Type="http://schemas.openxmlformats.org/officeDocument/2006/relationships/notesSlide" Target="../notesSlides/notesSlide76.xml"/><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2" Type="http://schemas.openxmlformats.org/officeDocument/2006/relationships/notesSlide" Target="../notesSlides/notesSlide77.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ctrTitle"/>
          </p:nvPr>
        </p:nvSpPr>
        <p:spPr/>
        <p:txBody>
          <a:bodyPr/>
          <a:lstStyle/>
          <a:p>
            <a:r>
              <a:rPr lang="zh-CN" altLang="en-US" dirty="0"/>
              <a:t>国际金融学</a:t>
            </a:r>
            <a:endParaRPr lang="zh-CN" dirty="0"/>
          </a:p>
        </p:txBody>
      </p:sp>
      <p:sp>
        <p:nvSpPr>
          <p:cNvPr id="3" name="副标题 2"/>
          <p:cNvSpPr>
            <a:spLocks noGrp="1"/>
          </p:cNvSpPr>
          <p:nvPr>
            <p:ph type="subTitle" idx="1"/>
          </p:nvPr>
        </p:nvSpPr>
        <p:spPr/>
        <p:txBody>
          <a:bodyPr>
            <a:normAutofit/>
          </a:bodyPr>
          <a:lstStyle/>
          <a:p>
            <a:r>
              <a:rPr lang="zh-CN" altLang="en-US" sz="1800" dirty="0"/>
              <a:t>主讲人 范小云  </a:t>
            </a:r>
            <a:r>
              <a:rPr lang="en-US" altLang="zh-CN" sz="1800" dirty="0"/>
              <a:t>E-mail: </a:t>
            </a:r>
            <a:r>
              <a:rPr lang="en-US" altLang="zh-CN" sz="1800" dirty="0" smtClean="0">
                <a:hlinkClick r:id="rId3"/>
              </a:rPr>
              <a:t>fanxiaoyun@vip.sina.com</a:t>
            </a:r>
            <a:r>
              <a:rPr lang="en-US" altLang="zh-CN" sz="1800" dirty="0" smtClean="0"/>
              <a:t>  </a:t>
            </a:r>
            <a:r>
              <a:rPr lang="en-US" altLang="zh-CN" sz="1800" dirty="0"/>
              <a:t>Tel.: </a:t>
            </a:r>
            <a:r>
              <a:rPr lang="en-US" altLang="zh-CN" sz="1800" dirty="0" smtClean="0"/>
              <a:t>13032213932</a:t>
            </a:r>
            <a:endParaRPr lang="en-US" altLang="zh-CN" sz="1800" dirty="0"/>
          </a:p>
        </p:txBody>
      </p:sp>
    </p:spTree>
    <p:extLst>
      <p:ext uri="{BB962C8B-B14F-4D97-AF65-F5344CB8AC3E}">
        <p14:creationId xmlns:p14="http://schemas.microsoft.com/office/powerpoint/2010/main" val="10690491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4"/>
          <p:cNvSpPr>
            <a:spLocks noGrp="1"/>
          </p:cNvSpPr>
          <p:nvPr>
            <p:ph type="title"/>
          </p:nvPr>
        </p:nvSpPr>
        <p:spPr>
          <a:xfrm>
            <a:off x="1016155" y="1639229"/>
            <a:ext cx="7200900" cy="2538633"/>
          </a:xfrm>
        </p:spPr>
        <p:txBody>
          <a:bodyPr>
            <a:noAutofit/>
          </a:bodyPr>
          <a:lstStyle/>
          <a:p>
            <a:pPr algn="ctr">
              <a:lnSpc>
                <a:spcPct val="100000"/>
              </a:lnSpc>
            </a:pPr>
            <a:r>
              <a:rPr lang="zh-CN" altLang="en-US" sz="4000" dirty="0">
                <a:latin typeface="微软雅黑" panose="020B0503020204020204" pitchFamily="34" charset="-122"/>
                <a:ea typeface="微软雅黑" panose="020B0503020204020204" pitchFamily="34" charset="-122"/>
              </a:rPr>
              <a:t>第六章</a:t>
            </a:r>
            <a:br>
              <a:rPr lang="zh-CN" altLang="en-US" sz="4000" dirty="0">
                <a:latin typeface="微软雅黑" panose="020B0503020204020204" pitchFamily="34" charset="-122"/>
                <a:ea typeface="微软雅黑" panose="020B0503020204020204" pitchFamily="34" charset="-122"/>
              </a:rPr>
            </a:br>
            <a:r>
              <a:rPr lang="zh-CN" altLang="en-US" sz="4000" dirty="0">
                <a:latin typeface="微软雅黑" panose="020B0503020204020204" pitchFamily="34" charset="-122"/>
                <a:ea typeface="微软雅黑" panose="020B0503020204020204" pitchFamily="34" charset="-122"/>
              </a:rPr>
              <a:t>		</a:t>
            </a:r>
            <a:br>
              <a:rPr lang="zh-CN" altLang="en-US" sz="4000" dirty="0">
                <a:latin typeface="微软雅黑" panose="020B0503020204020204" pitchFamily="34" charset="-122"/>
                <a:ea typeface="微软雅黑" panose="020B0503020204020204" pitchFamily="34" charset="-122"/>
              </a:rPr>
            </a:br>
            <a:r>
              <a:rPr lang="zh-CN" altLang="en-US" sz="4000" dirty="0">
                <a:latin typeface="微软雅黑" panose="020B0503020204020204" pitchFamily="34" charset="-122"/>
                <a:ea typeface="微软雅黑" panose="020B0503020204020204" pitchFamily="34" charset="-122"/>
              </a:rPr>
              <a:t>国际资本流动</a:t>
            </a:r>
            <a:br>
              <a:rPr lang="zh-CN" altLang="en-US" sz="4000" dirty="0">
                <a:latin typeface="微软雅黑" panose="020B0503020204020204" pitchFamily="34" charset="-122"/>
                <a:ea typeface="微软雅黑" panose="020B0503020204020204" pitchFamily="34" charset="-122"/>
              </a:rPr>
            </a:br>
            <a:r>
              <a:rPr lang="zh-CN" altLang="en-US" sz="4000" dirty="0">
                <a:latin typeface="微软雅黑" panose="020B0503020204020204" pitchFamily="34" charset="-122"/>
                <a:ea typeface="微软雅黑" panose="020B0503020204020204" pitchFamily="34" charset="-122"/>
              </a:rPr>
              <a:t>与国际金融危机</a:t>
            </a:r>
          </a:p>
        </p:txBody>
      </p:sp>
      <p:sp>
        <p:nvSpPr>
          <p:cNvPr id="4" name="页脚占位符 3"/>
          <p:cNvSpPr>
            <a:spLocks noGrp="1"/>
          </p:cNvSpPr>
          <p:nvPr>
            <p:ph type="ftr" sz="quarter" idx="11"/>
          </p:nvPr>
        </p:nvSpPr>
        <p:spPr/>
        <p:txBody>
          <a:bodyPr/>
          <a:lstStyle/>
          <a:p>
            <a:pPr lvl="0"/>
            <a:r>
              <a:rPr lang="zh-CN" altLang="en-US" sz="1600" dirty="0">
                <a:solidFill>
                  <a:srgbClr val="1CADE4"/>
                </a:solidFill>
                <a:latin typeface="微软雅黑" panose="020B0503020204020204" pitchFamily="34" charset="-122"/>
                <a:ea typeface="微软雅黑" panose="020B0503020204020204" pitchFamily="34" charset="-122"/>
              </a:rPr>
              <a:t>国际金融学 范小云</a:t>
            </a:r>
          </a:p>
        </p:txBody>
      </p:sp>
    </p:spTree>
    <p:extLst>
      <p:ext uri="{BB962C8B-B14F-4D97-AF65-F5344CB8AC3E}">
        <p14:creationId xmlns:p14="http://schemas.microsoft.com/office/powerpoint/2010/main" val="51034506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第一节	国际资本流动概述</a:t>
            </a:r>
            <a:endParaRPr lang="zh-CN" dirty="0"/>
          </a:p>
        </p:txBody>
      </p:sp>
      <p:sp>
        <p:nvSpPr>
          <p:cNvPr id="3" name="内容占位符 2"/>
          <p:cNvSpPr>
            <a:spLocks noGrp="1"/>
          </p:cNvSpPr>
          <p:nvPr>
            <p:ph idx="1"/>
          </p:nvPr>
        </p:nvSpPr>
        <p:spPr>
          <a:xfrm>
            <a:off x="971550" y="1447799"/>
            <a:ext cx="7200900" cy="4841880"/>
          </a:xfrm>
        </p:spPr>
        <p:txBody>
          <a:bodyPr>
            <a:normAutofit fontScale="47500" lnSpcReduction="20000"/>
          </a:bodyPr>
          <a:lstStyle/>
          <a:p>
            <a:pPr marL="0" indent="457200">
              <a:lnSpc>
                <a:spcPct val="120000"/>
              </a:lnSpc>
              <a:buNone/>
            </a:pPr>
            <a:r>
              <a:rPr lang="zh-CN" altLang="en-US" sz="3800" dirty="0" smtClean="0">
                <a:solidFill>
                  <a:schemeClr val="accent1"/>
                </a:solidFill>
                <a:latin typeface="微软雅黑" panose="020B0503020204020204" pitchFamily="34" charset="-122"/>
                <a:ea typeface="微软雅黑" panose="020B0503020204020204" pitchFamily="34" charset="-122"/>
              </a:rPr>
              <a:t>国际</a:t>
            </a:r>
            <a:r>
              <a:rPr lang="zh-CN" altLang="en-US" sz="3800" dirty="0">
                <a:solidFill>
                  <a:schemeClr val="accent1"/>
                </a:solidFill>
                <a:latin typeface="微软雅黑" panose="020B0503020204020204" pitchFamily="34" charset="-122"/>
                <a:ea typeface="微软雅黑" panose="020B0503020204020204" pitchFamily="34" charset="-122"/>
              </a:rPr>
              <a:t>资本流动是指资本从一个国家或地区转移到另一个国家或地区，它主要反映在一个国家国际收支平衡表的资本与金融账户中</a:t>
            </a:r>
            <a:r>
              <a:rPr lang="zh-CN" altLang="en-US" sz="3800" dirty="0" smtClean="0">
                <a:solidFill>
                  <a:schemeClr val="accent1"/>
                </a:solidFill>
                <a:latin typeface="微软雅黑" panose="020B0503020204020204" pitchFamily="34" charset="-122"/>
                <a:ea typeface="微软雅黑" panose="020B0503020204020204" pitchFamily="34" charset="-122"/>
              </a:rPr>
              <a:t>。</a:t>
            </a:r>
            <a:endParaRPr lang="en-US" altLang="zh-CN" sz="3800" dirty="0" smtClean="0">
              <a:solidFill>
                <a:schemeClr val="accent1"/>
              </a:solidFill>
              <a:latin typeface="微软雅黑" panose="020B0503020204020204" pitchFamily="34" charset="-122"/>
              <a:ea typeface="微软雅黑" panose="020B0503020204020204" pitchFamily="34" charset="-122"/>
            </a:endParaRPr>
          </a:p>
          <a:p>
            <a:pPr marL="0" indent="457200">
              <a:lnSpc>
                <a:spcPct val="110000"/>
              </a:lnSpc>
              <a:buNone/>
            </a:pPr>
            <a:r>
              <a:rPr lang="zh-CN" altLang="en-US" sz="4400" dirty="0">
                <a:latin typeface="微软雅黑" panose="020B0503020204020204" pitchFamily="34" charset="-122"/>
                <a:ea typeface="微软雅黑" panose="020B0503020204020204" pitchFamily="34" charset="-122"/>
              </a:rPr>
              <a:t>自</a:t>
            </a:r>
            <a:r>
              <a:rPr lang="en-US" altLang="zh-CN" sz="4400" dirty="0">
                <a:latin typeface="微软雅黑" panose="020B0503020204020204" pitchFamily="34" charset="-122"/>
                <a:ea typeface="微软雅黑" panose="020B0503020204020204" pitchFamily="34" charset="-122"/>
              </a:rPr>
              <a:t>20</a:t>
            </a:r>
            <a:r>
              <a:rPr lang="zh-CN" altLang="en-US" sz="4400" dirty="0">
                <a:latin typeface="微软雅黑" panose="020B0503020204020204" pitchFamily="34" charset="-122"/>
                <a:ea typeface="微软雅黑" panose="020B0503020204020204" pitchFamily="34" charset="-122"/>
              </a:rPr>
              <a:t>世纪</a:t>
            </a:r>
            <a:r>
              <a:rPr lang="en-US" altLang="zh-CN" sz="4400" dirty="0">
                <a:latin typeface="微软雅黑" panose="020B0503020204020204" pitchFamily="34" charset="-122"/>
                <a:ea typeface="微软雅黑" panose="020B0503020204020204" pitchFamily="34" charset="-122"/>
              </a:rPr>
              <a:t>90</a:t>
            </a:r>
            <a:r>
              <a:rPr lang="zh-CN" altLang="en-US" sz="4400" dirty="0">
                <a:latin typeface="微软雅黑" panose="020B0503020204020204" pitchFamily="34" charset="-122"/>
                <a:ea typeface="微软雅黑" panose="020B0503020204020204" pitchFamily="34" charset="-122"/>
              </a:rPr>
              <a:t>年代以来，国际资本流动的总规模不断扩大，虽在</a:t>
            </a:r>
            <a:r>
              <a:rPr lang="en-US" altLang="zh-CN" sz="4400" dirty="0">
                <a:latin typeface="微软雅黑" panose="020B0503020204020204" pitchFamily="34" charset="-122"/>
                <a:ea typeface="微软雅黑" panose="020B0503020204020204" pitchFamily="34" charset="-122"/>
              </a:rPr>
              <a:t>2001</a:t>
            </a:r>
            <a:r>
              <a:rPr lang="zh-CN" altLang="en-US" sz="4400" dirty="0">
                <a:latin typeface="微软雅黑" panose="020B0503020204020204" pitchFamily="34" charset="-122"/>
                <a:ea typeface="微软雅黑" panose="020B0503020204020204" pitchFamily="34" charset="-122"/>
              </a:rPr>
              <a:t>年随全球经济下滑有所回落，但</a:t>
            </a:r>
            <a:r>
              <a:rPr lang="en-US" altLang="zh-CN" sz="4400" dirty="0">
                <a:latin typeface="微软雅黑" panose="020B0503020204020204" pitchFamily="34" charset="-122"/>
                <a:ea typeface="微软雅黑" panose="020B0503020204020204" pitchFamily="34" charset="-122"/>
              </a:rPr>
              <a:t>2002</a:t>
            </a:r>
            <a:r>
              <a:rPr lang="zh-CN" altLang="en-US" sz="4400" dirty="0">
                <a:latin typeface="微软雅黑" panose="020B0503020204020204" pitchFamily="34" charset="-122"/>
                <a:ea typeface="微软雅黑" panose="020B0503020204020204" pitchFamily="34" charset="-122"/>
              </a:rPr>
              <a:t>年又恢复了增长的趋势。至</a:t>
            </a:r>
            <a:r>
              <a:rPr lang="en-US" altLang="zh-CN" sz="4400" dirty="0">
                <a:latin typeface="微软雅黑" panose="020B0503020204020204" pitchFamily="34" charset="-122"/>
                <a:ea typeface="微软雅黑" panose="020B0503020204020204" pitchFamily="34" charset="-122"/>
              </a:rPr>
              <a:t>2007</a:t>
            </a:r>
            <a:r>
              <a:rPr lang="zh-CN" altLang="en-US" sz="4400" dirty="0">
                <a:latin typeface="微软雅黑" panose="020B0503020204020204" pitchFamily="34" charset="-122"/>
                <a:ea typeface="微软雅黑" panose="020B0503020204020204" pitchFamily="34" charset="-122"/>
              </a:rPr>
              <a:t>年达到</a:t>
            </a:r>
            <a:r>
              <a:rPr lang="zh-CN" altLang="en-US" sz="4400" dirty="0" smtClean="0">
                <a:latin typeface="微软雅黑" panose="020B0503020204020204" pitchFamily="34" charset="-122"/>
                <a:ea typeface="微软雅黑" panose="020B0503020204020204" pitchFamily="34" charset="-122"/>
              </a:rPr>
              <a:t>顶峰（</a:t>
            </a:r>
            <a:r>
              <a:rPr lang="en-US" altLang="zh-CN" sz="4400" dirty="0" smtClean="0">
                <a:latin typeface="微软雅黑" panose="020B0503020204020204" pitchFamily="34" charset="-122"/>
                <a:ea typeface="微软雅黑" panose="020B0503020204020204" pitchFamily="34" charset="-122"/>
              </a:rPr>
              <a:t>12.4</a:t>
            </a:r>
            <a:r>
              <a:rPr lang="zh-CN" altLang="en-US" sz="4400" dirty="0" smtClean="0">
                <a:latin typeface="微软雅黑" panose="020B0503020204020204" pitchFamily="34" charset="-122"/>
                <a:ea typeface="微软雅黑" panose="020B0503020204020204" pitchFamily="34" charset="-122"/>
              </a:rPr>
              <a:t>万亿美元）后</a:t>
            </a:r>
            <a:r>
              <a:rPr lang="zh-CN" altLang="en-US" sz="4400" dirty="0">
                <a:latin typeface="微软雅黑" panose="020B0503020204020204" pitchFamily="34" charset="-122"/>
                <a:ea typeface="微软雅黑" panose="020B0503020204020204" pitchFamily="34" charset="-122"/>
              </a:rPr>
              <a:t>，</a:t>
            </a:r>
            <a:r>
              <a:rPr lang="en-US" altLang="zh-CN" sz="4400" dirty="0">
                <a:latin typeface="微软雅黑" panose="020B0503020204020204" pitchFamily="34" charset="-122"/>
                <a:ea typeface="微软雅黑" panose="020B0503020204020204" pitchFamily="34" charset="-122"/>
              </a:rPr>
              <a:t>2008</a:t>
            </a:r>
            <a:r>
              <a:rPr lang="zh-CN" altLang="en-US" sz="4400" dirty="0">
                <a:latin typeface="微软雅黑" panose="020B0503020204020204" pitchFamily="34" charset="-122"/>
                <a:ea typeface="微软雅黑" panose="020B0503020204020204" pitchFamily="34" charset="-122"/>
              </a:rPr>
              <a:t>年迅速跌入</a:t>
            </a:r>
            <a:r>
              <a:rPr lang="zh-CN" altLang="en-US" sz="4400" dirty="0" smtClean="0">
                <a:latin typeface="微软雅黑" panose="020B0503020204020204" pitchFamily="34" charset="-122"/>
                <a:ea typeface="微软雅黑" panose="020B0503020204020204" pitchFamily="34" charset="-122"/>
              </a:rPr>
              <a:t>低谷（</a:t>
            </a:r>
            <a:r>
              <a:rPr lang="en-US" altLang="zh-CN" sz="4400" dirty="0" smtClean="0">
                <a:latin typeface="微软雅黑" panose="020B0503020204020204" pitchFamily="34" charset="-122"/>
                <a:ea typeface="微软雅黑" panose="020B0503020204020204" pitchFamily="34" charset="-122"/>
              </a:rPr>
              <a:t>2009</a:t>
            </a:r>
            <a:r>
              <a:rPr lang="zh-CN" altLang="en-US" sz="4400" dirty="0" smtClean="0">
                <a:latin typeface="微软雅黑" panose="020B0503020204020204" pitchFamily="34" charset="-122"/>
                <a:ea typeface="微软雅黑" panose="020B0503020204020204" pitchFamily="34" charset="-122"/>
              </a:rPr>
              <a:t>年略超</a:t>
            </a:r>
            <a:r>
              <a:rPr lang="en-US" altLang="zh-CN" sz="4400" dirty="0" smtClean="0">
                <a:latin typeface="微软雅黑" panose="020B0503020204020204" pitchFamily="34" charset="-122"/>
                <a:ea typeface="微软雅黑" panose="020B0503020204020204" pitchFamily="34" charset="-122"/>
              </a:rPr>
              <a:t>2</a:t>
            </a:r>
            <a:r>
              <a:rPr lang="zh-CN" altLang="en-US" sz="4400" dirty="0" smtClean="0">
                <a:latin typeface="微软雅黑" panose="020B0503020204020204" pitchFamily="34" charset="-122"/>
                <a:ea typeface="微软雅黑" panose="020B0503020204020204" pitchFamily="34" charset="-122"/>
              </a:rPr>
              <a:t>万亿），</a:t>
            </a:r>
            <a:r>
              <a:rPr lang="zh-CN" altLang="en-US" sz="4400" dirty="0">
                <a:latin typeface="微软雅黑" panose="020B0503020204020204" pitchFamily="34" charset="-122"/>
                <a:ea typeface="微软雅黑" panose="020B0503020204020204" pitchFamily="34" charset="-122"/>
              </a:rPr>
              <a:t>然后又开始反弹。 （金融自由化和全球化的推动）</a:t>
            </a:r>
          </a:p>
          <a:p>
            <a:pPr marL="0" indent="457200">
              <a:lnSpc>
                <a:spcPct val="110000"/>
              </a:lnSpc>
              <a:buNone/>
            </a:pPr>
            <a:r>
              <a:rPr lang="zh-CN" altLang="en-US" sz="4400" dirty="0">
                <a:latin typeface="微软雅黑" panose="020B0503020204020204" pitchFamily="34" charset="-122"/>
                <a:ea typeface="微软雅黑" panose="020B0503020204020204" pitchFamily="34" charset="-122"/>
              </a:rPr>
              <a:t>过去的</a:t>
            </a:r>
            <a:r>
              <a:rPr lang="en-US" altLang="zh-CN" sz="4400" dirty="0">
                <a:latin typeface="微软雅黑" panose="020B0503020204020204" pitchFamily="34" charset="-122"/>
                <a:ea typeface="微软雅黑" panose="020B0503020204020204" pitchFamily="34" charset="-122"/>
              </a:rPr>
              <a:t>30</a:t>
            </a:r>
            <a:r>
              <a:rPr lang="zh-CN" altLang="en-US" sz="4400" dirty="0">
                <a:latin typeface="微软雅黑" panose="020B0503020204020204" pitchFamily="34" charset="-122"/>
                <a:ea typeface="微软雅黑" panose="020B0503020204020204" pitchFamily="34" charset="-122"/>
              </a:rPr>
              <a:t>年间，私人资本向新兴市场国家的流动经历了两次高潮。第一次开始于上世纪</a:t>
            </a:r>
            <a:r>
              <a:rPr lang="en-US" altLang="zh-CN" sz="4400" dirty="0">
                <a:latin typeface="微软雅黑" panose="020B0503020204020204" pitchFamily="34" charset="-122"/>
                <a:ea typeface="微软雅黑" panose="020B0503020204020204" pitchFamily="34" charset="-122"/>
              </a:rPr>
              <a:t>90</a:t>
            </a:r>
            <a:r>
              <a:rPr lang="zh-CN" altLang="en-US" sz="4400" dirty="0">
                <a:latin typeface="微软雅黑" panose="020B0503020204020204" pitchFamily="34" charset="-122"/>
                <a:ea typeface="微软雅黑" panose="020B0503020204020204" pitchFamily="34" charset="-122"/>
              </a:rPr>
              <a:t>年代早期，在</a:t>
            </a:r>
            <a:r>
              <a:rPr lang="en-US" altLang="zh-CN" sz="4400" dirty="0">
                <a:latin typeface="微软雅黑" panose="020B0503020204020204" pitchFamily="34" charset="-122"/>
                <a:ea typeface="微软雅黑" panose="020B0503020204020204" pitchFamily="34" charset="-122"/>
              </a:rPr>
              <a:t>1997-1998</a:t>
            </a:r>
            <a:r>
              <a:rPr lang="zh-CN" altLang="en-US" sz="4400" dirty="0">
                <a:latin typeface="微软雅黑" panose="020B0503020204020204" pitchFamily="34" charset="-122"/>
                <a:ea typeface="微软雅黑" panose="020B0503020204020204" pitchFamily="34" charset="-122"/>
              </a:rPr>
              <a:t>年亚洲金融危机发生时突然停止。第二次高潮从</a:t>
            </a:r>
            <a:r>
              <a:rPr lang="en-US" altLang="zh-CN" sz="4400" dirty="0">
                <a:latin typeface="微软雅黑" panose="020B0503020204020204" pitchFamily="34" charset="-122"/>
                <a:ea typeface="微软雅黑" panose="020B0503020204020204" pitchFamily="34" charset="-122"/>
              </a:rPr>
              <a:t>2002</a:t>
            </a:r>
            <a:r>
              <a:rPr lang="zh-CN" altLang="en-US" sz="4400" dirty="0">
                <a:latin typeface="微软雅黑" panose="020B0503020204020204" pitchFamily="34" charset="-122"/>
                <a:ea typeface="微软雅黑" panose="020B0503020204020204" pitchFamily="34" charset="-122"/>
              </a:rPr>
              <a:t>年开始，在</a:t>
            </a:r>
            <a:r>
              <a:rPr lang="en-US" altLang="zh-CN" sz="4400" dirty="0">
                <a:latin typeface="微软雅黑" panose="020B0503020204020204" pitchFamily="34" charset="-122"/>
                <a:ea typeface="微软雅黑" panose="020B0503020204020204" pitchFamily="34" charset="-122"/>
              </a:rPr>
              <a:t>2007</a:t>
            </a:r>
            <a:r>
              <a:rPr lang="zh-CN" altLang="en-US" sz="4400" dirty="0">
                <a:latin typeface="微软雅黑" panose="020B0503020204020204" pitchFamily="34" charset="-122"/>
                <a:ea typeface="微软雅黑" panose="020B0503020204020204" pitchFamily="34" charset="-122"/>
              </a:rPr>
              <a:t>年达到高峰后，又因次贷危机而停止。</a:t>
            </a:r>
          </a:p>
        </p:txBody>
      </p:sp>
      <p:sp>
        <p:nvSpPr>
          <p:cNvPr id="5" name="页脚占位符 4"/>
          <p:cNvSpPr>
            <a:spLocks noGrp="1"/>
          </p:cNvSpPr>
          <p:nvPr>
            <p:ph type="ftr" sz="quarter" idx="11"/>
          </p:nvPr>
        </p:nvSpPr>
        <p:spPr/>
        <p:txBody>
          <a:bodyPr/>
          <a:lstStyle/>
          <a:p>
            <a:r>
              <a:rPr lang="zh-CN" altLang="en-US" smtClean="0"/>
              <a:t>国际金融学 范小云</a:t>
            </a:r>
            <a:endParaRPr lang="zh-CN" altLang="en-US" dirty="0"/>
          </a:p>
        </p:txBody>
      </p:sp>
    </p:spTree>
    <p:extLst>
      <p:ext uri="{BB962C8B-B14F-4D97-AF65-F5344CB8AC3E}">
        <p14:creationId xmlns:p14="http://schemas.microsoft.com/office/powerpoint/2010/main" val="385840679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500"/>
                                        <p:tgtEl>
                                          <p:spTgt spid="3">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页脚占位符 3"/>
          <p:cNvSpPr>
            <a:spLocks noGrp="1"/>
          </p:cNvSpPr>
          <p:nvPr>
            <p:ph type="ftr" sz="quarter" idx="11"/>
          </p:nvPr>
        </p:nvSpPr>
        <p:spPr/>
        <p:txBody>
          <a:bodyPr/>
          <a:lstStyle/>
          <a:p>
            <a:r>
              <a:rPr lang="zh-CN" altLang="en-US" smtClean="0"/>
              <a:t>国际金融学 范小云</a:t>
            </a:r>
            <a:endParaRPr lang="zh-CN" altLang="en-US" dirty="0"/>
          </a:p>
        </p:txBody>
      </p:sp>
      <p:pic>
        <p:nvPicPr>
          <p:cNvPr id="5" name="图片 4"/>
          <p:cNvPicPr>
            <a:picLocks noChangeAspect="1"/>
          </p:cNvPicPr>
          <p:nvPr/>
        </p:nvPicPr>
        <p:blipFill>
          <a:blip r:embed="rId2"/>
          <a:stretch>
            <a:fillRect/>
          </a:stretch>
        </p:blipFill>
        <p:spPr>
          <a:xfrm>
            <a:off x="357191" y="701749"/>
            <a:ext cx="8688457" cy="5172850"/>
          </a:xfrm>
          <a:prstGeom prst="rect">
            <a:avLst/>
          </a:prstGeom>
        </p:spPr>
      </p:pic>
      <p:sp>
        <p:nvSpPr>
          <p:cNvPr id="6" name="矩形 5"/>
          <p:cNvSpPr/>
          <p:nvPr/>
        </p:nvSpPr>
        <p:spPr>
          <a:xfrm>
            <a:off x="223284" y="903767"/>
            <a:ext cx="701749" cy="47846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427363970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页脚占位符 3"/>
          <p:cNvSpPr>
            <a:spLocks noGrp="1"/>
          </p:cNvSpPr>
          <p:nvPr>
            <p:ph type="ftr" sz="quarter" idx="11"/>
          </p:nvPr>
        </p:nvSpPr>
        <p:spPr/>
        <p:txBody>
          <a:bodyPr/>
          <a:lstStyle/>
          <a:p>
            <a:r>
              <a:rPr lang="zh-CN" altLang="en-US" smtClean="0"/>
              <a:t>国际金融学 范小云</a:t>
            </a:r>
            <a:endParaRPr lang="zh-CN" altLang="en-US" dirty="0"/>
          </a:p>
        </p:txBody>
      </p:sp>
      <p:pic>
        <p:nvPicPr>
          <p:cNvPr id="5" name="图片 4"/>
          <p:cNvPicPr>
            <a:picLocks noChangeAspect="1"/>
          </p:cNvPicPr>
          <p:nvPr/>
        </p:nvPicPr>
        <p:blipFill>
          <a:blip r:embed="rId2"/>
          <a:stretch>
            <a:fillRect/>
          </a:stretch>
        </p:blipFill>
        <p:spPr>
          <a:xfrm>
            <a:off x="457201" y="871870"/>
            <a:ext cx="8321717" cy="5128769"/>
          </a:xfrm>
          <a:prstGeom prst="rect">
            <a:avLst/>
          </a:prstGeom>
        </p:spPr>
      </p:pic>
      <p:sp>
        <p:nvSpPr>
          <p:cNvPr id="6" name="矩形 5"/>
          <p:cNvSpPr/>
          <p:nvPr/>
        </p:nvSpPr>
        <p:spPr>
          <a:xfrm>
            <a:off x="457201" y="850605"/>
            <a:ext cx="691115" cy="41466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202215916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页脚占位符 3"/>
          <p:cNvSpPr>
            <a:spLocks noGrp="1"/>
          </p:cNvSpPr>
          <p:nvPr>
            <p:ph type="ftr" sz="quarter" idx="11"/>
          </p:nvPr>
        </p:nvSpPr>
        <p:spPr/>
        <p:txBody>
          <a:bodyPr/>
          <a:lstStyle/>
          <a:p>
            <a:r>
              <a:rPr lang="zh-CN" altLang="en-US" smtClean="0"/>
              <a:t>国际金融学 范小云</a:t>
            </a:r>
            <a:endParaRPr lang="zh-CN" altLang="en-US" dirty="0"/>
          </a:p>
        </p:txBody>
      </p:sp>
      <p:pic>
        <p:nvPicPr>
          <p:cNvPr id="5" name="图片 4"/>
          <p:cNvPicPr>
            <a:picLocks noChangeAspect="1"/>
          </p:cNvPicPr>
          <p:nvPr/>
        </p:nvPicPr>
        <p:blipFill>
          <a:blip r:embed="rId2"/>
          <a:stretch>
            <a:fillRect/>
          </a:stretch>
        </p:blipFill>
        <p:spPr>
          <a:xfrm>
            <a:off x="202019" y="1058443"/>
            <a:ext cx="8798995" cy="5154293"/>
          </a:xfrm>
          <a:prstGeom prst="rect">
            <a:avLst/>
          </a:prstGeom>
        </p:spPr>
      </p:pic>
      <p:sp>
        <p:nvSpPr>
          <p:cNvPr id="6" name="矩形 5"/>
          <p:cNvSpPr/>
          <p:nvPr/>
        </p:nvSpPr>
        <p:spPr>
          <a:xfrm>
            <a:off x="202019" y="1158949"/>
            <a:ext cx="616688" cy="457200"/>
          </a:xfrm>
          <a:prstGeom prst="rect">
            <a:avLst/>
          </a:prstGeom>
          <a:solidFill>
            <a:srgbClr val="F6F6F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208736722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第一节	国际资本流动概述</a:t>
            </a:r>
            <a:endParaRPr lang="zh-CN" dirty="0"/>
          </a:p>
        </p:txBody>
      </p:sp>
      <p:sp>
        <p:nvSpPr>
          <p:cNvPr id="3" name="内容占位符 2"/>
          <p:cNvSpPr>
            <a:spLocks noGrp="1"/>
          </p:cNvSpPr>
          <p:nvPr>
            <p:ph idx="1"/>
          </p:nvPr>
        </p:nvSpPr>
        <p:spPr>
          <a:xfrm>
            <a:off x="971550" y="1447799"/>
            <a:ext cx="7200900" cy="4841880"/>
          </a:xfrm>
        </p:spPr>
        <p:txBody>
          <a:bodyPr>
            <a:normAutofit fontScale="92500" lnSpcReduction="20000"/>
          </a:bodyPr>
          <a:lstStyle/>
          <a:p>
            <a:pPr marL="0" indent="457200">
              <a:lnSpc>
                <a:spcPct val="120000"/>
              </a:lnSpc>
              <a:buNone/>
            </a:pPr>
            <a:r>
              <a:rPr lang="zh-CN" altLang="en-US" sz="2400" b="1" dirty="0" smtClean="0">
                <a:solidFill>
                  <a:schemeClr val="accent1">
                    <a:lumMod val="75000"/>
                  </a:schemeClr>
                </a:solidFill>
                <a:latin typeface="微软雅黑" panose="020B0503020204020204" pitchFamily="34" charset="-122"/>
                <a:ea typeface="微软雅黑" panose="020B0503020204020204" pitchFamily="34" charset="-122"/>
              </a:rPr>
              <a:t>次贷危机以来，</a:t>
            </a:r>
            <a:endParaRPr lang="en-US" altLang="zh-CN" sz="2400" b="1" dirty="0" smtClean="0">
              <a:solidFill>
                <a:schemeClr val="accent1">
                  <a:lumMod val="75000"/>
                </a:schemeClr>
              </a:solidFill>
              <a:latin typeface="微软雅黑" panose="020B0503020204020204" pitchFamily="34" charset="-122"/>
              <a:ea typeface="微软雅黑" panose="020B0503020204020204" pitchFamily="34" charset="-122"/>
            </a:endParaRPr>
          </a:p>
          <a:p>
            <a:pPr marL="0" indent="457200">
              <a:lnSpc>
                <a:spcPct val="120000"/>
              </a:lnSpc>
              <a:buNone/>
            </a:pPr>
            <a:r>
              <a:rPr lang="en-US" altLang="zh-CN" sz="2400" b="1" dirty="0" smtClean="0"/>
              <a:t>1</a:t>
            </a:r>
            <a:r>
              <a:rPr lang="zh-CN" altLang="en-US" sz="2400" b="1" dirty="0" smtClean="0"/>
              <a:t>、欧洲商业银行</a:t>
            </a:r>
            <a:r>
              <a:rPr lang="zh-CN" altLang="en-US" sz="2400" b="1" dirty="0"/>
              <a:t>是国际资本撤回的最主要源头</a:t>
            </a:r>
            <a:r>
              <a:rPr lang="zh-CN" altLang="en-US" sz="2400" b="1" dirty="0" smtClean="0"/>
              <a:t>。</a:t>
            </a:r>
            <a:r>
              <a:rPr lang="zh-CN" altLang="en-US" sz="2400" dirty="0" smtClean="0">
                <a:solidFill>
                  <a:schemeClr val="accent1">
                    <a:lumMod val="75000"/>
                  </a:schemeClr>
                </a:solidFill>
              </a:rPr>
              <a:t>根据</a:t>
            </a:r>
            <a:r>
              <a:rPr lang="en-US" altLang="zh-CN" sz="2400" dirty="0" smtClean="0">
                <a:solidFill>
                  <a:schemeClr val="accent1">
                    <a:lumMod val="75000"/>
                  </a:schemeClr>
                </a:solidFill>
              </a:rPr>
              <a:t>IBS</a:t>
            </a:r>
            <a:r>
              <a:rPr lang="zh-CN" altLang="en-US" sz="2400" dirty="0" smtClean="0">
                <a:solidFill>
                  <a:schemeClr val="accent1">
                    <a:lumMod val="75000"/>
                  </a:schemeClr>
                </a:solidFill>
              </a:rPr>
              <a:t>统计</a:t>
            </a:r>
            <a:r>
              <a:rPr lang="zh-CN" altLang="en-US" sz="2400" dirty="0">
                <a:solidFill>
                  <a:schemeClr val="accent1">
                    <a:lumMod val="75000"/>
                  </a:schemeClr>
                </a:solidFill>
              </a:rPr>
              <a:t>，欧洲商业银行对外发放的信贷余额由</a:t>
            </a:r>
            <a:r>
              <a:rPr lang="en-US" altLang="zh-CN" sz="2400" dirty="0">
                <a:solidFill>
                  <a:schemeClr val="accent1">
                    <a:lumMod val="75000"/>
                  </a:schemeClr>
                </a:solidFill>
              </a:rPr>
              <a:t>2007</a:t>
            </a:r>
            <a:r>
              <a:rPr lang="zh-CN" altLang="en-US" sz="2400" dirty="0">
                <a:solidFill>
                  <a:schemeClr val="accent1">
                    <a:lumMod val="75000"/>
                  </a:schemeClr>
                </a:solidFill>
              </a:rPr>
              <a:t>年的</a:t>
            </a:r>
            <a:r>
              <a:rPr lang="en-US" altLang="zh-CN" sz="2400" dirty="0">
                <a:solidFill>
                  <a:schemeClr val="accent1">
                    <a:lumMod val="75000"/>
                  </a:schemeClr>
                </a:solidFill>
              </a:rPr>
              <a:t>23.4</a:t>
            </a:r>
            <a:r>
              <a:rPr lang="zh-CN" altLang="en-US" sz="2400" dirty="0">
                <a:solidFill>
                  <a:schemeClr val="accent1">
                    <a:lumMod val="75000"/>
                  </a:schemeClr>
                </a:solidFill>
              </a:rPr>
              <a:t>万亿美元下降到</a:t>
            </a:r>
            <a:r>
              <a:rPr lang="en-US" altLang="zh-CN" sz="2400" dirty="0">
                <a:solidFill>
                  <a:schemeClr val="accent1">
                    <a:lumMod val="75000"/>
                  </a:schemeClr>
                </a:solidFill>
              </a:rPr>
              <a:t>2016</a:t>
            </a:r>
            <a:r>
              <a:rPr lang="zh-CN" altLang="en-US" sz="2400" dirty="0">
                <a:solidFill>
                  <a:schemeClr val="accent1">
                    <a:lumMod val="75000"/>
                  </a:schemeClr>
                </a:solidFill>
              </a:rPr>
              <a:t>年的</a:t>
            </a:r>
            <a:r>
              <a:rPr lang="en-US" altLang="zh-CN" sz="2400" dirty="0">
                <a:solidFill>
                  <a:schemeClr val="accent1">
                    <a:lumMod val="75000"/>
                  </a:schemeClr>
                </a:solidFill>
              </a:rPr>
              <a:t>13.9</a:t>
            </a:r>
            <a:r>
              <a:rPr lang="zh-CN" altLang="en-US" sz="2400" dirty="0">
                <a:solidFill>
                  <a:schemeClr val="accent1">
                    <a:lumMod val="75000"/>
                  </a:schemeClr>
                </a:solidFill>
              </a:rPr>
              <a:t>万亿</a:t>
            </a:r>
            <a:r>
              <a:rPr lang="zh-CN" altLang="en-US" sz="2400" dirty="0" smtClean="0">
                <a:solidFill>
                  <a:schemeClr val="accent1">
                    <a:lumMod val="75000"/>
                  </a:schemeClr>
                </a:solidFill>
              </a:rPr>
              <a:t>美元。同期</a:t>
            </a:r>
            <a:r>
              <a:rPr lang="zh-CN" altLang="en-US" sz="2400" dirty="0">
                <a:solidFill>
                  <a:schemeClr val="accent1">
                    <a:lumMod val="75000"/>
                  </a:schemeClr>
                </a:solidFill>
              </a:rPr>
              <a:t>，日本商业银行发放的国际信贷余额由</a:t>
            </a:r>
            <a:r>
              <a:rPr lang="en-US" altLang="zh-CN" sz="2400" dirty="0">
                <a:solidFill>
                  <a:schemeClr val="accent1">
                    <a:lumMod val="75000"/>
                  </a:schemeClr>
                </a:solidFill>
              </a:rPr>
              <a:t>2.3</a:t>
            </a:r>
            <a:r>
              <a:rPr lang="zh-CN" altLang="en-US" sz="2400" dirty="0">
                <a:solidFill>
                  <a:schemeClr val="accent1">
                    <a:lumMod val="75000"/>
                  </a:schemeClr>
                </a:solidFill>
              </a:rPr>
              <a:t>万亿上升到</a:t>
            </a:r>
            <a:r>
              <a:rPr lang="en-US" altLang="zh-CN" sz="2400" dirty="0">
                <a:solidFill>
                  <a:schemeClr val="accent1">
                    <a:lumMod val="75000"/>
                  </a:schemeClr>
                </a:solidFill>
              </a:rPr>
              <a:t>3.9</a:t>
            </a:r>
            <a:r>
              <a:rPr lang="zh-CN" altLang="en-US" sz="2400" dirty="0">
                <a:solidFill>
                  <a:schemeClr val="accent1">
                    <a:lumMod val="75000"/>
                  </a:schemeClr>
                </a:solidFill>
              </a:rPr>
              <a:t>万亿</a:t>
            </a:r>
            <a:r>
              <a:rPr lang="zh-CN" altLang="en-US" sz="2400" dirty="0" smtClean="0">
                <a:solidFill>
                  <a:schemeClr val="accent1">
                    <a:lumMod val="75000"/>
                  </a:schemeClr>
                </a:solidFill>
              </a:rPr>
              <a:t>美元；</a:t>
            </a:r>
            <a:r>
              <a:rPr lang="zh-CN" altLang="en-US" sz="2400" dirty="0">
                <a:solidFill>
                  <a:schemeClr val="accent1">
                    <a:lumMod val="75000"/>
                  </a:schemeClr>
                </a:solidFill>
              </a:rPr>
              <a:t>美国商业银行发放的国际信贷余额一直在</a:t>
            </a:r>
            <a:r>
              <a:rPr lang="en-US" altLang="zh-CN" sz="2400" dirty="0">
                <a:solidFill>
                  <a:schemeClr val="accent1">
                    <a:lumMod val="75000"/>
                  </a:schemeClr>
                </a:solidFill>
              </a:rPr>
              <a:t>3</a:t>
            </a:r>
            <a:r>
              <a:rPr lang="zh-CN" altLang="en-US" sz="2400" dirty="0">
                <a:solidFill>
                  <a:schemeClr val="accent1">
                    <a:lumMod val="75000"/>
                  </a:schemeClr>
                </a:solidFill>
              </a:rPr>
              <a:t>万亿美元，保持不变</a:t>
            </a:r>
            <a:r>
              <a:rPr lang="zh-CN" altLang="en-US" sz="2400" dirty="0" smtClean="0">
                <a:solidFill>
                  <a:schemeClr val="accent1">
                    <a:lumMod val="75000"/>
                  </a:schemeClr>
                </a:solidFill>
              </a:rPr>
              <a:t>。</a:t>
            </a:r>
            <a:endParaRPr lang="en-US" altLang="zh-CN" sz="2400" dirty="0" smtClean="0">
              <a:solidFill>
                <a:schemeClr val="accent1">
                  <a:lumMod val="75000"/>
                </a:schemeClr>
              </a:solidFill>
            </a:endParaRPr>
          </a:p>
          <a:p>
            <a:pPr marL="0" indent="457200">
              <a:lnSpc>
                <a:spcPct val="120000"/>
              </a:lnSpc>
              <a:buNone/>
            </a:pPr>
            <a:r>
              <a:rPr lang="en-US" altLang="zh-CN" sz="2400" b="1" dirty="0"/>
              <a:t>2</a:t>
            </a:r>
            <a:r>
              <a:rPr lang="zh-CN" altLang="en-US" sz="2400" b="1" dirty="0"/>
              <a:t>、新兴市场受到冲击，部分国家出现净流出</a:t>
            </a:r>
            <a:r>
              <a:rPr lang="zh-CN" altLang="en-US" sz="2400" b="1" dirty="0" smtClean="0"/>
              <a:t>。</a:t>
            </a:r>
            <a:r>
              <a:rPr lang="en-US" altLang="zh-CN" sz="2400" dirty="0" smtClean="0">
                <a:solidFill>
                  <a:schemeClr val="accent1">
                    <a:lumMod val="75000"/>
                  </a:schemeClr>
                </a:solidFill>
              </a:rPr>
              <a:t>76</a:t>
            </a:r>
            <a:r>
              <a:rPr lang="en-US" altLang="zh-CN" sz="2400" dirty="0">
                <a:solidFill>
                  <a:schemeClr val="accent1">
                    <a:lumMod val="75000"/>
                  </a:schemeClr>
                </a:solidFill>
              </a:rPr>
              <a:t>%</a:t>
            </a:r>
            <a:r>
              <a:rPr lang="zh-CN" altLang="en-US" sz="2400" dirty="0" smtClean="0">
                <a:solidFill>
                  <a:schemeClr val="accent1">
                    <a:lumMod val="75000"/>
                  </a:schemeClr>
                </a:solidFill>
              </a:rPr>
              <a:t>的新兴经济体国际</a:t>
            </a:r>
            <a:r>
              <a:rPr lang="zh-CN" altLang="en-US" sz="2400" dirty="0">
                <a:solidFill>
                  <a:schemeClr val="accent1">
                    <a:lumMod val="75000"/>
                  </a:schemeClr>
                </a:solidFill>
              </a:rPr>
              <a:t>资本净</a:t>
            </a:r>
            <a:r>
              <a:rPr lang="zh-CN" altLang="en-US" sz="2400" dirty="0" smtClean="0">
                <a:solidFill>
                  <a:schemeClr val="accent1">
                    <a:lumMod val="75000"/>
                  </a:schemeClr>
                </a:solidFill>
              </a:rPr>
              <a:t>流入规模显著</a:t>
            </a:r>
            <a:r>
              <a:rPr lang="zh-CN" altLang="en-US" sz="2400" dirty="0">
                <a:solidFill>
                  <a:schemeClr val="accent1">
                    <a:lumMod val="75000"/>
                  </a:schemeClr>
                </a:solidFill>
              </a:rPr>
              <a:t>下降</a:t>
            </a:r>
            <a:r>
              <a:rPr lang="zh-CN" altLang="en-US" sz="2400" dirty="0" smtClean="0">
                <a:solidFill>
                  <a:schemeClr val="accent1">
                    <a:lumMod val="75000"/>
                  </a:schemeClr>
                </a:solidFill>
              </a:rPr>
              <a:t>，部分</a:t>
            </a:r>
            <a:r>
              <a:rPr lang="zh-CN" altLang="en-US" sz="2400" dirty="0">
                <a:solidFill>
                  <a:schemeClr val="accent1">
                    <a:lumMod val="75000"/>
                  </a:schemeClr>
                </a:solidFill>
              </a:rPr>
              <a:t>新兴经济体从过去的国际资本净流入国转为国际资本净流出</a:t>
            </a:r>
            <a:r>
              <a:rPr lang="zh-CN" altLang="en-US" sz="2400" dirty="0" smtClean="0">
                <a:solidFill>
                  <a:schemeClr val="accent1">
                    <a:lumMod val="75000"/>
                  </a:schemeClr>
                </a:solidFill>
              </a:rPr>
              <a:t>国。如果将</a:t>
            </a:r>
            <a:r>
              <a:rPr lang="zh-CN" altLang="en-US" sz="2400" dirty="0">
                <a:solidFill>
                  <a:schemeClr val="accent1">
                    <a:lumMod val="75000"/>
                  </a:schemeClr>
                </a:solidFill>
              </a:rPr>
              <a:t>非储备性质的金融账户逆差视为国际资本净</a:t>
            </a:r>
            <a:r>
              <a:rPr lang="zh-CN" altLang="en-US" sz="2400" dirty="0" smtClean="0">
                <a:solidFill>
                  <a:schemeClr val="accent1">
                    <a:lumMod val="75000"/>
                  </a:schemeClr>
                </a:solidFill>
              </a:rPr>
              <a:t>流出，部分</a:t>
            </a:r>
            <a:r>
              <a:rPr lang="zh-CN" altLang="en-US" sz="2400" dirty="0">
                <a:solidFill>
                  <a:schemeClr val="accent1">
                    <a:lumMod val="75000"/>
                  </a:schemeClr>
                </a:solidFill>
              </a:rPr>
              <a:t>东欧</a:t>
            </a:r>
            <a:r>
              <a:rPr lang="zh-CN" altLang="en-US" sz="2400" dirty="0" smtClean="0">
                <a:solidFill>
                  <a:schemeClr val="accent1">
                    <a:lumMod val="75000"/>
                  </a:schemeClr>
                </a:solidFill>
              </a:rPr>
              <a:t>国家、</a:t>
            </a:r>
            <a:r>
              <a:rPr lang="zh-CN" altLang="en-US" sz="2400" dirty="0">
                <a:solidFill>
                  <a:schemeClr val="accent1">
                    <a:lumMod val="75000"/>
                  </a:schemeClr>
                </a:solidFill>
              </a:rPr>
              <a:t>俄罗斯和</a:t>
            </a:r>
            <a:r>
              <a:rPr lang="zh-CN" altLang="en-US" sz="2400" dirty="0" smtClean="0">
                <a:solidFill>
                  <a:schemeClr val="accent1">
                    <a:lumMod val="75000"/>
                  </a:schemeClr>
                </a:solidFill>
              </a:rPr>
              <a:t>中国都出现了净流出。</a:t>
            </a:r>
            <a:endParaRPr lang="zh-CN" altLang="en-US" sz="2400" dirty="0">
              <a:solidFill>
                <a:schemeClr val="accent1">
                  <a:lumMod val="75000"/>
                </a:schemeClr>
              </a:solidFill>
              <a:latin typeface="微软雅黑" panose="020B0503020204020204" pitchFamily="34" charset="-122"/>
              <a:ea typeface="微软雅黑" panose="020B0503020204020204" pitchFamily="34" charset="-122"/>
            </a:endParaRPr>
          </a:p>
        </p:txBody>
      </p:sp>
      <p:sp>
        <p:nvSpPr>
          <p:cNvPr id="5" name="页脚占位符 4"/>
          <p:cNvSpPr>
            <a:spLocks noGrp="1"/>
          </p:cNvSpPr>
          <p:nvPr>
            <p:ph type="ftr" sz="quarter" idx="11"/>
          </p:nvPr>
        </p:nvSpPr>
        <p:spPr/>
        <p:txBody>
          <a:bodyPr/>
          <a:lstStyle/>
          <a:p>
            <a:r>
              <a:rPr altLang="en-US" smtClean="0">
                <a:solidFill>
                  <a:srgbClr val="1CADE4"/>
                </a:solidFill>
              </a:rPr>
              <a:t>国际金融学 范小云</a:t>
            </a:r>
            <a:endParaRPr altLang="en-US" dirty="0">
              <a:solidFill>
                <a:srgbClr val="1CADE4"/>
              </a:solidFill>
            </a:endParaRPr>
          </a:p>
        </p:txBody>
      </p:sp>
    </p:spTree>
    <p:extLst>
      <p:ext uri="{BB962C8B-B14F-4D97-AF65-F5344CB8AC3E}">
        <p14:creationId xmlns:p14="http://schemas.microsoft.com/office/powerpoint/2010/main" val="125108974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500"/>
                                        <p:tgtEl>
                                          <p:spTgt spid="3">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第一节	国际资本流动概述</a:t>
            </a:r>
            <a:endParaRPr lang="zh-CN" dirty="0"/>
          </a:p>
        </p:txBody>
      </p:sp>
      <p:sp>
        <p:nvSpPr>
          <p:cNvPr id="5" name="页脚占位符 4"/>
          <p:cNvSpPr>
            <a:spLocks noGrp="1"/>
          </p:cNvSpPr>
          <p:nvPr>
            <p:ph type="ftr" sz="quarter" idx="11"/>
          </p:nvPr>
        </p:nvSpPr>
        <p:spPr/>
        <p:txBody>
          <a:bodyPr/>
          <a:lstStyle/>
          <a:p>
            <a:r>
              <a:rPr altLang="en-US" smtClean="0">
                <a:solidFill>
                  <a:srgbClr val="1CADE4"/>
                </a:solidFill>
              </a:rPr>
              <a:t>国际金融学 范小云</a:t>
            </a:r>
            <a:endParaRPr altLang="en-US" dirty="0">
              <a:solidFill>
                <a:srgbClr val="1CADE4"/>
              </a:solidFill>
            </a:endParaRPr>
          </a:p>
        </p:txBody>
      </p:sp>
      <p:pic>
        <p:nvPicPr>
          <p:cNvPr id="4" name="图片 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5060" y="1487456"/>
            <a:ext cx="9058940" cy="5250830"/>
          </a:xfrm>
          <a:prstGeom prst="rect">
            <a:avLst/>
          </a:prstGeom>
        </p:spPr>
      </p:pic>
      <p:sp>
        <p:nvSpPr>
          <p:cNvPr id="7" name="矩形 6"/>
          <p:cNvSpPr/>
          <p:nvPr/>
        </p:nvSpPr>
        <p:spPr>
          <a:xfrm>
            <a:off x="191386" y="1339702"/>
            <a:ext cx="648586" cy="499731"/>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290846463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第一节	国际资本流动概述</a:t>
            </a:r>
            <a:endParaRPr lang="zh-CN" dirty="0"/>
          </a:p>
        </p:txBody>
      </p:sp>
      <p:sp>
        <p:nvSpPr>
          <p:cNvPr id="3" name="内容占位符 2"/>
          <p:cNvSpPr>
            <a:spLocks noGrp="1"/>
          </p:cNvSpPr>
          <p:nvPr>
            <p:ph idx="1"/>
          </p:nvPr>
        </p:nvSpPr>
        <p:spPr>
          <a:xfrm>
            <a:off x="971550" y="1447799"/>
            <a:ext cx="7200900" cy="4841879"/>
          </a:xfrm>
        </p:spPr>
        <p:txBody>
          <a:bodyPr>
            <a:normAutofit/>
          </a:bodyPr>
          <a:lstStyle/>
          <a:p>
            <a:pPr marL="0" indent="0">
              <a:lnSpc>
                <a:spcPct val="110000"/>
              </a:lnSpc>
              <a:buNone/>
            </a:pPr>
            <a:r>
              <a:rPr lang="zh-CN" altLang="en-US" sz="2800" dirty="0">
                <a:solidFill>
                  <a:schemeClr val="accent1"/>
                </a:solidFill>
                <a:latin typeface="微软雅黑" panose="020B0503020204020204" pitchFamily="34" charset="-122"/>
                <a:ea typeface="微软雅黑" panose="020B0503020204020204" pitchFamily="34" charset="-122"/>
              </a:rPr>
              <a:t>一、国际资本流动的类型</a:t>
            </a:r>
          </a:p>
          <a:p>
            <a:pPr marL="514350" indent="-514350">
              <a:lnSpc>
                <a:spcPct val="110000"/>
              </a:lnSpc>
              <a:buFont typeface="+mj-lt"/>
              <a:buAutoNum type="arabicPeriod"/>
            </a:pPr>
            <a:r>
              <a:rPr lang="zh-CN" altLang="en-US" sz="2600" dirty="0" smtClean="0">
                <a:latin typeface="微软雅黑" panose="020B0503020204020204" pitchFamily="34" charset="-122"/>
                <a:ea typeface="微软雅黑" panose="020B0503020204020204" pitchFamily="34" charset="-122"/>
              </a:rPr>
              <a:t>长期</a:t>
            </a:r>
            <a:r>
              <a:rPr lang="zh-CN" altLang="en-US" sz="2600" dirty="0">
                <a:latin typeface="微软雅黑" panose="020B0503020204020204" pitchFamily="34" charset="-122"/>
                <a:ea typeface="微软雅黑" panose="020B0503020204020204" pitchFamily="34" charset="-122"/>
              </a:rPr>
              <a:t>资本流动</a:t>
            </a:r>
          </a:p>
          <a:p>
            <a:pPr marL="0" indent="457200">
              <a:lnSpc>
                <a:spcPct val="110000"/>
              </a:lnSpc>
              <a:buNone/>
            </a:pPr>
            <a:r>
              <a:rPr lang="zh-CN" altLang="en-US" sz="2600" dirty="0" smtClean="0">
                <a:latin typeface="微软雅黑" panose="020B0503020204020204" pitchFamily="34" charset="-122"/>
                <a:ea typeface="微软雅黑" panose="020B0503020204020204" pitchFamily="34" charset="-122"/>
              </a:rPr>
              <a:t>期限</a:t>
            </a:r>
            <a:r>
              <a:rPr lang="zh-CN" altLang="en-US" sz="2600" dirty="0">
                <a:latin typeface="微软雅黑" panose="020B0503020204020204" pitchFamily="34" charset="-122"/>
                <a:ea typeface="微软雅黑" panose="020B0503020204020204" pitchFamily="34" charset="-122"/>
              </a:rPr>
              <a:t>在一年以上的资本流动是长期资本流动。</a:t>
            </a:r>
          </a:p>
          <a:p>
            <a:pPr lvl="1">
              <a:lnSpc>
                <a:spcPct val="110000"/>
              </a:lnSpc>
              <a:buFont typeface="Wingdings" panose="05000000000000000000" pitchFamily="2" charset="2"/>
              <a:buChar char="Ø"/>
            </a:pPr>
            <a:r>
              <a:rPr lang="zh-CN" altLang="en-US" sz="2400" dirty="0">
                <a:latin typeface="微软雅黑" panose="020B0503020204020204" pitchFamily="34" charset="-122"/>
                <a:ea typeface="微软雅黑" panose="020B0503020204020204" pitchFamily="34" charset="-122"/>
              </a:rPr>
              <a:t>直接</a:t>
            </a:r>
            <a:r>
              <a:rPr lang="zh-CN" altLang="en-US" sz="2400" dirty="0" smtClean="0">
                <a:latin typeface="微软雅黑" panose="020B0503020204020204" pitchFamily="34" charset="-122"/>
                <a:ea typeface="微软雅黑" panose="020B0503020204020204" pitchFamily="34" charset="-122"/>
              </a:rPr>
              <a:t>投资</a:t>
            </a:r>
            <a:endParaRPr lang="zh-CN" altLang="en-US" sz="2400" dirty="0">
              <a:latin typeface="微软雅黑" panose="020B0503020204020204" pitchFamily="34" charset="-122"/>
              <a:ea typeface="微软雅黑" panose="020B0503020204020204" pitchFamily="34" charset="-122"/>
            </a:endParaRPr>
          </a:p>
        </p:txBody>
      </p:sp>
      <p:sp>
        <p:nvSpPr>
          <p:cNvPr id="5" name="页脚占位符 4"/>
          <p:cNvSpPr>
            <a:spLocks noGrp="1"/>
          </p:cNvSpPr>
          <p:nvPr>
            <p:ph type="ftr" sz="quarter" idx="11"/>
          </p:nvPr>
        </p:nvSpPr>
        <p:spPr/>
        <p:txBody>
          <a:bodyPr/>
          <a:lstStyle/>
          <a:p>
            <a:r>
              <a:rPr lang="zh-CN" altLang="en-US" smtClean="0"/>
              <a:t>国际金融学 范小云</a:t>
            </a:r>
            <a:endParaRPr lang="zh-CN" altLang="en-US" dirty="0"/>
          </a:p>
        </p:txBody>
      </p:sp>
      <p:sp>
        <p:nvSpPr>
          <p:cNvPr id="4" name="文本框 3"/>
          <p:cNvSpPr txBox="1"/>
          <p:nvPr/>
        </p:nvSpPr>
        <p:spPr>
          <a:xfrm>
            <a:off x="2755212" y="3392070"/>
            <a:ext cx="5044966" cy="2585323"/>
          </a:xfrm>
          <a:prstGeom prst="rect">
            <a:avLst/>
          </a:prstGeom>
          <a:noFill/>
        </p:spPr>
        <p:txBody>
          <a:bodyPr wrap="square" rtlCol="0">
            <a:spAutoFit/>
          </a:bodyPr>
          <a:lstStyle/>
          <a:p>
            <a:pPr marL="274320" lvl="1">
              <a:lnSpc>
                <a:spcPct val="110000"/>
              </a:lnSpc>
              <a:spcBef>
                <a:spcPts val="1200"/>
              </a:spcBef>
              <a:buClr>
                <a:schemeClr val="accent1"/>
              </a:buClr>
              <a:buSzPct val="100000"/>
            </a:pPr>
            <a:r>
              <a:rPr lang="zh-CN" altLang="en-US" sz="2400" dirty="0">
                <a:latin typeface="微软雅黑" panose="020B0503020204020204" pitchFamily="34" charset="-122"/>
                <a:ea typeface="微软雅黑" panose="020B0503020204020204" pitchFamily="34" charset="-122"/>
              </a:rPr>
              <a:t>直接投资有三种类型：</a:t>
            </a:r>
          </a:p>
          <a:p>
            <a:pPr marL="617220" lvl="1" indent="-342900">
              <a:lnSpc>
                <a:spcPct val="110000"/>
              </a:lnSpc>
              <a:spcBef>
                <a:spcPts val="1200"/>
              </a:spcBef>
              <a:buClr>
                <a:schemeClr val="accent1"/>
              </a:buClr>
              <a:buSzPct val="100000"/>
              <a:buFont typeface="Wingdings" panose="05000000000000000000" pitchFamily="2" charset="2"/>
              <a:buChar char="ü"/>
            </a:pPr>
            <a:r>
              <a:rPr lang="zh-CN" altLang="en-US" sz="2400" dirty="0">
                <a:latin typeface="微软雅黑" panose="020B0503020204020204" pitchFamily="34" charset="-122"/>
                <a:ea typeface="微软雅黑" panose="020B0503020204020204" pitchFamily="34" charset="-122"/>
              </a:rPr>
              <a:t>创办新企业</a:t>
            </a:r>
          </a:p>
          <a:p>
            <a:pPr marL="617220" lvl="1" indent="-342900">
              <a:lnSpc>
                <a:spcPct val="110000"/>
              </a:lnSpc>
              <a:spcBef>
                <a:spcPts val="1200"/>
              </a:spcBef>
              <a:buClr>
                <a:schemeClr val="accent1"/>
              </a:buClr>
              <a:buSzPct val="100000"/>
              <a:buFont typeface="Wingdings" panose="05000000000000000000" pitchFamily="2" charset="2"/>
              <a:buChar char="ü"/>
            </a:pPr>
            <a:r>
              <a:rPr lang="zh-CN" altLang="en-US" sz="2400" dirty="0">
                <a:latin typeface="微软雅黑" panose="020B0503020204020204" pitchFamily="34" charset="-122"/>
                <a:ea typeface="微软雅黑" panose="020B0503020204020204" pitchFamily="34" charset="-122"/>
              </a:rPr>
              <a:t>收购国外企业的股权</a:t>
            </a:r>
            <a:r>
              <a:rPr lang="zh-CN" altLang="en-US" sz="2400" dirty="0" smtClean="0">
                <a:latin typeface="微软雅黑" panose="020B0503020204020204" pitchFamily="34" charset="-122"/>
                <a:ea typeface="微软雅黑" panose="020B0503020204020204" pitchFamily="34" charset="-122"/>
              </a:rPr>
              <a:t>达到</a:t>
            </a:r>
            <a:r>
              <a:rPr lang="zh-CN" altLang="en-US" sz="2400" dirty="0">
                <a:latin typeface="微软雅黑" panose="020B0503020204020204" pitchFamily="34" charset="-122"/>
                <a:ea typeface="微软雅黑" panose="020B0503020204020204" pitchFamily="34" charset="-122"/>
              </a:rPr>
              <a:t>一定比例以上（</a:t>
            </a:r>
            <a:r>
              <a:rPr lang="en-US" altLang="zh-CN" sz="2400" dirty="0">
                <a:latin typeface="微软雅黑" panose="020B0503020204020204" pitchFamily="34" charset="-122"/>
                <a:ea typeface="微软雅黑" panose="020B0503020204020204" pitchFamily="34" charset="-122"/>
              </a:rPr>
              <a:t>10</a:t>
            </a:r>
            <a:r>
              <a:rPr lang="zh-CN" altLang="en-US" sz="2400" dirty="0">
                <a:latin typeface="微软雅黑" panose="020B0503020204020204" pitchFamily="34" charset="-122"/>
                <a:ea typeface="微软雅黑" panose="020B0503020204020204" pitchFamily="34" charset="-122"/>
              </a:rPr>
              <a:t>％）</a:t>
            </a:r>
          </a:p>
          <a:p>
            <a:pPr marL="617220" lvl="1" indent="-342900">
              <a:lnSpc>
                <a:spcPct val="110000"/>
              </a:lnSpc>
              <a:spcBef>
                <a:spcPts val="1200"/>
              </a:spcBef>
              <a:buClr>
                <a:schemeClr val="accent1"/>
              </a:buClr>
              <a:buSzPct val="100000"/>
              <a:buFont typeface="Wingdings" panose="05000000000000000000" pitchFamily="2" charset="2"/>
              <a:buChar char="ü"/>
            </a:pPr>
            <a:r>
              <a:rPr lang="zh-CN" altLang="en-US" sz="2400" dirty="0">
                <a:latin typeface="微软雅黑" panose="020B0503020204020204" pitchFamily="34" charset="-122"/>
                <a:ea typeface="微软雅黑" panose="020B0503020204020204" pitchFamily="34" charset="-122"/>
              </a:rPr>
              <a:t>利润再投资</a:t>
            </a:r>
          </a:p>
        </p:txBody>
      </p:sp>
    </p:spTree>
    <p:extLst>
      <p:ext uri="{BB962C8B-B14F-4D97-AF65-F5344CB8AC3E}">
        <p14:creationId xmlns:p14="http://schemas.microsoft.com/office/powerpoint/2010/main" val="101052513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Effect transition="in" filter="fade">
                                      <p:cBhvr>
                                        <p:cTn id="7" dur="500"/>
                                        <p:tgtEl>
                                          <p:spTgt spid="3">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2" end="2"/>
                                            </p:txEl>
                                          </p:spTgt>
                                        </p:tgtEl>
                                        <p:attrNameLst>
                                          <p:attrName>style.visibility</p:attrName>
                                        </p:attrNameLst>
                                      </p:cBhvr>
                                      <p:to>
                                        <p:strVal val="visible"/>
                                      </p:to>
                                    </p:set>
                                    <p:animEffect transition="in" filter="fade">
                                      <p:cBhvr>
                                        <p:cTn id="12" dur="500"/>
                                        <p:tgtEl>
                                          <p:spTgt spid="3">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
                                            <p:txEl>
                                              <p:pRg st="3" end="3"/>
                                            </p:txEl>
                                          </p:spTgt>
                                        </p:tgtEl>
                                        <p:attrNameLst>
                                          <p:attrName>style.visibility</p:attrName>
                                        </p:attrNameLst>
                                      </p:cBhvr>
                                      <p:to>
                                        <p:strVal val="visible"/>
                                      </p:to>
                                    </p:set>
                                    <p:animEffect transition="in" filter="fade">
                                      <p:cBhvr>
                                        <p:cTn id="17" dur="500"/>
                                        <p:tgtEl>
                                          <p:spTgt spid="3">
                                            <p:txEl>
                                              <p:pRg st="3" end="3"/>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4"/>
                                        </p:tgtEl>
                                        <p:attrNameLst>
                                          <p:attrName>style.visibility</p:attrName>
                                        </p:attrNameLst>
                                      </p:cBhvr>
                                      <p:to>
                                        <p:strVal val="visible"/>
                                      </p:to>
                                    </p:set>
                                    <p:animEffect transition="in" filter="fade">
                                      <p:cBhvr>
                                        <p:cTn id="22"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第一节	国际资本流动概述</a:t>
            </a:r>
            <a:endParaRPr lang="zh-CN" dirty="0"/>
          </a:p>
        </p:txBody>
      </p:sp>
      <p:sp>
        <p:nvSpPr>
          <p:cNvPr id="3" name="内容占位符 2"/>
          <p:cNvSpPr>
            <a:spLocks noGrp="1"/>
          </p:cNvSpPr>
          <p:nvPr>
            <p:ph idx="1"/>
          </p:nvPr>
        </p:nvSpPr>
        <p:spPr>
          <a:xfrm>
            <a:off x="971550" y="1447799"/>
            <a:ext cx="7200900" cy="4841879"/>
          </a:xfrm>
        </p:spPr>
        <p:txBody>
          <a:bodyPr>
            <a:normAutofit/>
          </a:bodyPr>
          <a:lstStyle/>
          <a:p>
            <a:pPr marL="0" indent="0">
              <a:lnSpc>
                <a:spcPct val="110000"/>
              </a:lnSpc>
              <a:buNone/>
            </a:pPr>
            <a:r>
              <a:rPr lang="zh-CN" altLang="en-US" sz="2800" dirty="0">
                <a:solidFill>
                  <a:schemeClr val="accent1"/>
                </a:solidFill>
                <a:latin typeface="微软雅黑" panose="020B0503020204020204" pitchFamily="34" charset="-122"/>
                <a:ea typeface="微软雅黑" panose="020B0503020204020204" pitchFamily="34" charset="-122"/>
              </a:rPr>
              <a:t>一、国际资本流动的类型</a:t>
            </a:r>
          </a:p>
          <a:p>
            <a:pPr marL="514350" indent="-514350">
              <a:lnSpc>
                <a:spcPct val="110000"/>
              </a:lnSpc>
              <a:buFont typeface="+mj-lt"/>
              <a:buAutoNum type="arabicPeriod"/>
            </a:pPr>
            <a:r>
              <a:rPr lang="zh-CN" altLang="en-US" sz="2600" dirty="0" smtClean="0">
                <a:latin typeface="微软雅黑" panose="020B0503020204020204" pitchFamily="34" charset="-122"/>
                <a:ea typeface="微软雅黑" panose="020B0503020204020204" pitchFamily="34" charset="-122"/>
              </a:rPr>
              <a:t>长期</a:t>
            </a:r>
            <a:r>
              <a:rPr lang="zh-CN" altLang="en-US" sz="2600" dirty="0">
                <a:latin typeface="微软雅黑" panose="020B0503020204020204" pitchFamily="34" charset="-122"/>
                <a:ea typeface="微软雅黑" panose="020B0503020204020204" pitchFamily="34" charset="-122"/>
              </a:rPr>
              <a:t>资本流动</a:t>
            </a:r>
          </a:p>
          <a:p>
            <a:pPr marL="0" indent="457200">
              <a:lnSpc>
                <a:spcPct val="110000"/>
              </a:lnSpc>
              <a:buNone/>
            </a:pPr>
            <a:r>
              <a:rPr lang="zh-CN" altLang="en-US" sz="2600" dirty="0" smtClean="0">
                <a:latin typeface="微软雅黑" panose="020B0503020204020204" pitchFamily="34" charset="-122"/>
                <a:ea typeface="微软雅黑" panose="020B0503020204020204" pitchFamily="34" charset="-122"/>
              </a:rPr>
              <a:t>期限</a:t>
            </a:r>
            <a:r>
              <a:rPr lang="zh-CN" altLang="en-US" sz="2600" dirty="0">
                <a:latin typeface="微软雅黑" panose="020B0503020204020204" pitchFamily="34" charset="-122"/>
                <a:ea typeface="微软雅黑" panose="020B0503020204020204" pitchFamily="34" charset="-122"/>
              </a:rPr>
              <a:t>在一年以上的资本流动是长期资本流动。</a:t>
            </a:r>
          </a:p>
          <a:p>
            <a:pPr lvl="1">
              <a:lnSpc>
                <a:spcPct val="110000"/>
              </a:lnSpc>
              <a:buFont typeface="Wingdings" panose="05000000000000000000" pitchFamily="2" charset="2"/>
              <a:buChar char="Ø"/>
            </a:pPr>
            <a:r>
              <a:rPr lang="zh-CN" altLang="en-US" sz="2400" dirty="0">
                <a:latin typeface="微软雅黑" panose="020B0503020204020204" pitchFamily="34" charset="-122"/>
                <a:ea typeface="微软雅黑" panose="020B0503020204020204" pitchFamily="34" charset="-122"/>
              </a:rPr>
              <a:t>直接投资</a:t>
            </a:r>
          </a:p>
          <a:p>
            <a:pPr lvl="1">
              <a:lnSpc>
                <a:spcPct val="110000"/>
              </a:lnSpc>
              <a:buFont typeface="Wingdings" panose="05000000000000000000" pitchFamily="2" charset="2"/>
              <a:buChar char="Ø"/>
            </a:pPr>
            <a:r>
              <a:rPr lang="zh-CN" altLang="en-US" sz="2400" dirty="0" smtClean="0">
                <a:latin typeface="微软雅黑" panose="020B0503020204020204" pitchFamily="34" charset="-122"/>
                <a:ea typeface="微软雅黑" panose="020B0503020204020204" pitchFamily="34" charset="-122"/>
              </a:rPr>
              <a:t>证券投资</a:t>
            </a:r>
            <a:endParaRPr lang="zh-CN" altLang="en-US" sz="2400" dirty="0">
              <a:latin typeface="微软雅黑" panose="020B0503020204020204" pitchFamily="34" charset="-122"/>
              <a:ea typeface="微软雅黑" panose="020B0503020204020204" pitchFamily="34" charset="-122"/>
            </a:endParaRPr>
          </a:p>
        </p:txBody>
      </p:sp>
      <p:sp>
        <p:nvSpPr>
          <p:cNvPr id="5" name="页脚占位符 4"/>
          <p:cNvSpPr>
            <a:spLocks noGrp="1"/>
          </p:cNvSpPr>
          <p:nvPr>
            <p:ph type="ftr" sz="quarter" idx="11"/>
          </p:nvPr>
        </p:nvSpPr>
        <p:spPr/>
        <p:txBody>
          <a:bodyPr/>
          <a:lstStyle/>
          <a:p>
            <a:r>
              <a:rPr lang="zh-CN" altLang="en-US" smtClean="0"/>
              <a:t>国际金融学 范小云</a:t>
            </a:r>
            <a:endParaRPr lang="zh-CN" altLang="en-US" dirty="0"/>
          </a:p>
        </p:txBody>
      </p:sp>
      <p:sp>
        <p:nvSpPr>
          <p:cNvPr id="4" name="文本框 3"/>
          <p:cNvSpPr txBox="1"/>
          <p:nvPr/>
        </p:nvSpPr>
        <p:spPr>
          <a:xfrm>
            <a:off x="2755212" y="3392070"/>
            <a:ext cx="5044966" cy="2655471"/>
          </a:xfrm>
          <a:prstGeom prst="rect">
            <a:avLst/>
          </a:prstGeom>
          <a:noFill/>
        </p:spPr>
        <p:txBody>
          <a:bodyPr wrap="square" rtlCol="0">
            <a:spAutoFit/>
          </a:bodyPr>
          <a:lstStyle/>
          <a:p>
            <a:pPr marL="274320" lvl="1">
              <a:lnSpc>
                <a:spcPct val="110000"/>
              </a:lnSpc>
              <a:spcBef>
                <a:spcPts val="1200"/>
              </a:spcBef>
              <a:buClr>
                <a:schemeClr val="accent1"/>
              </a:buClr>
              <a:buSzPct val="100000"/>
            </a:pPr>
            <a:r>
              <a:rPr lang="zh-CN" altLang="en-US" sz="2400" dirty="0">
                <a:latin typeface="微软雅黑" panose="020B0503020204020204" pitchFamily="34" charset="-122"/>
                <a:ea typeface="微软雅黑" panose="020B0503020204020204" pitchFamily="34" charset="-122"/>
              </a:rPr>
              <a:t>证券投资与直接投资的区别在于，证券投资者对于投资对象企业并无实际控制和管理权。</a:t>
            </a:r>
          </a:p>
          <a:p>
            <a:pPr marL="274320" lvl="1">
              <a:lnSpc>
                <a:spcPct val="110000"/>
              </a:lnSpc>
              <a:spcBef>
                <a:spcPts val="1200"/>
              </a:spcBef>
              <a:buClr>
                <a:schemeClr val="accent1"/>
              </a:buClr>
              <a:buSzPct val="100000"/>
            </a:pPr>
            <a:r>
              <a:rPr lang="zh-CN" altLang="en-US" sz="2400" dirty="0">
                <a:latin typeface="微软雅黑" panose="020B0503020204020204" pitchFamily="34" charset="-122"/>
                <a:ea typeface="微软雅黑" panose="020B0503020204020204" pitchFamily="34" charset="-122"/>
              </a:rPr>
              <a:t>证券投资在国际资本流动中的作用有加强的趋势，国际金融市场上出现了融资手段证券化的趋势。</a:t>
            </a:r>
          </a:p>
        </p:txBody>
      </p:sp>
    </p:spTree>
    <p:extLst>
      <p:ext uri="{BB962C8B-B14F-4D97-AF65-F5344CB8AC3E}">
        <p14:creationId xmlns:p14="http://schemas.microsoft.com/office/powerpoint/2010/main" val="320940140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第一节	国际资本流动概述</a:t>
            </a:r>
            <a:endParaRPr lang="zh-CN" dirty="0"/>
          </a:p>
        </p:txBody>
      </p:sp>
      <p:sp>
        <p:nvSpPr>
          <p:cNvPr id="3" name="内容占位符 2"/>
          <p:cNvSpPr>
            <a:spLocks noGrp="1"/>
          </p:cNvSpPr>
          <p:nvPr>
            <p:ph idx="1"/>
          </p:nvPr>
        </p:nvSpPr>
        <p:spPr>
          <a:xfrm>
            <a:off x="971550" y="1447799"/>
            <a:ext cx="7200900" cy="4841879"/>
          </a:xfrm>
        </p:spPr>
        <p:txBody>
          <a:bodyPr>
            <a:normAutofit/>
          </a:bodyPr>
          <a:lstStyle/>
          <a:p>
            <a:pPr marL="0" indent="0">
              <a:lnSpc>
                <a:spcPct val="110000"/>
              </a:lnSpc>
              <a:buNone/>
            </a:pPr>
            <a:r>
              <a:rPr lang="zh-CN" altLang="en-US" sz="2800" dirty="0">
                <a:solidFill>
                  <a:schemeClr val="accent1"/>
                </a:solidFill>
                <a:latin typeface="微软雅黑" panose="020B0503020204020204" pitchFamily="34" charset="-122"/>
                <a:ea typeface="微软雅黑" panose="020B0503020204020204" pitchFamily="34" charset="-122"/>
              </a:rPr>
              <a:t>一、国际资本流动的类型</a:t>
            </a:r>
          </a:p>
          <a:p>
            <a:pPr marL="514350" indent="-514350">
              <a:lnSpc>
                <a:spcPct val="110000"/>
              </a:lnSpc>
              <a:buFont typeface="+mj-lt"/>
              <a:buAutoNum type="arabicPeriod"/>
            </a:pPr>
            <a:r>
              <a:rPr lang="zh-CN" altLang="en-US" sz="2600" dirty="0" smtClean="0">
                <a:latin typeface="微软雅黑" panose="020B0503020204020204" pitchFamily="34" charset="-122"/>
                <a:ea typeface="微软雅黑" panose="020B0503020204020204" pitchFamily="34" charset="-122"/>
              </a:rPr>
              <a:t>长期</a:t>
            </a:r>
            <a:r>
              <a:rPr lang="zh-CN" altLang="en-US" sz="2600" dirty="0">
                <a:latin typeface="微软雅黑" panose="020B0503020204020204" pitchFamily="34" charset="-122"/>
                <a:ea typeface="微软雅黑" panose="020B0503020204020204" pitchFamily="34" charset="-122"/>
              </a:rPr>
              <a:t>资本流动</a:t>
            </a:r>
          </a:p>
          <a:p>
            <a:pPr marL="0" indent="457200">
              <a:lnSpc>
                <a:spcPct val="110000"/>
              </a:lnSpc>
              <a:buNone/>
            </a:pPr>
            <a:r>
              <a:rPr lang="zh-CN" altLang="en-US" sz="2600" dirty="0" smtClean="0">
                <a:latin typeface="微软雅黑" panose="020B0503020204020204" pitchFamily="34" charset="-122"/>
                <a:ea typeface="微软雅黑" panose="020B0503020204020204" pitchFamily="34" charset="-122"/>
              </a:rPr>
              <a:t>期限</a:t>
            </a:r>
            <a:r>
              <a:rPr lang="zh-CN" altLang="en-US" sz="2600" dirty="0">
                <a:latin typeface="微软雅黑" panose="020B0503020204020204" pitchFamily="34" charset="-122"/>
                <a:ea typeface="微软雅黑" panose="020B0503020204020204" pitchFamily="34" charset="-122"/>
              </a:rPr>
              <a:t>在一年以上的资本流动是长期资本流动。</a:t>
            </a:r>
          </a:p>
          <a:p>
            <a:pPr lvl="1">
              <a:lnSpc>
                <a:spcPct val="110000"/>
              </a:lnSpc>
              <a:buFont typeface="Wingdings" panose="05000000000000000000" pitchFamily="2" charset="2"/>
              <a:buChar char="Ø"/>
            </a:pPr>
            <a:r>
              <a:rPr lang="zh-CN" altLang="en-US" sz="2400" dirty="0">
                <a:latin typeface="微软雅黑" panose="020B0503020204020204" pitchFamily="34" charset="-122"/>
                <a:ea typeface="微软雅黑" panose="020B0503020204020204" pitchFamily="34" charset="-122"/>
              </a:rPr>
              <a:t>直接投资</a:t>
            </a:r>
          </a:p>
          <a:p>
            <a:pPr lvl="1">
              <a:lnSpc>
                <a:spcPct val="110000"/>
              </a:lnSpc>
              <a:buFont typeface="Wingdings" panose="05000000000000000000" pitchFamily="2" charset="2"/>
              <a:buChar char="Ø"/>
            </a:pPr>
            <a:r>
              <a:rPr lang="zh-CN" altLang="en-US" sz="2400" dirty="0" smtClean="0">
                <a:latin typeface="微软雅黑" panose="020B0503020204020204" pitchFamily="34" charset="-122"/>
                <a:ea typeface="微软雅黑" panose="020B0503020204020204" pitchFamily="34" charset="-122"/>
              </a:rPr>
              <a:t>证券投资</a:t>
            </a:r>
            <a:endParaRPr lang="zh-CN" altLang="en-US" sz="2400" dirty="0">
              <a:latin typeface="微软雅黑" panose="020B0503020204020204" pitchFamily="34" charset="-122"/>
              <a:ea typeface="微软雅黑" panose="020B0503020204020204" pitchFamily="34" charset="-122"/>
            </a:endParaRPr>
          </a:p>
          <a:p>
            <a:pPr lvl="1">
              <a:lnSpc>
                <a:spcPct val="110000"/>
              </a:lnSpc>
              <a:buFont typeface="Wingdings" panose="05000000000000000000" pitchFamily="2" charset="2"/>
              <a:buChar char="Ø"/>
            </a:pPr>
            <a:r>
              <a:rPr lang="zh-CN" altLang="en-US" sz="2400" dirty="0" smtClean="0">
                <a:latin typeface="微软雅黑" panose="020B0503020204020204" pitchFamily="34" charset="-122"/>
                <a:ea typeface="微软雅黑" panose="020B0503020204020204" pitchFamily="34" charset="-122"/>
              </a:rPr>
              <a:t>国际</a:t>
            </a:r>
            <a:r>
              <a:rPr lang="zh-CN" altLang="en-US" sz="2400" dirty="0">
                <a:latin typeface="微软雅黑" panose="020B0503020204020204" pitchFamily="34" charset="-122"/>
                <a:ea typeface="微软雅黑" panose="020B0503020204020204" pitchFamily="34" charset="-122"/>
              </a:rPr>
              <a:t>贷款</a:t>
            </a:r>
          </a:p>
        </p:txBody>
      </p:sp>
      <p:sp>
        <p:nvSpPr>
          <p:cNvPr id="5" name="页脚占位符 4"/>
          <p:cNvSpPr>
            <a:spLocks noGrp="1"/>
          </p:cNvSpPr>
          <p:nvPr>
            <p:ph type="ftr" sz="quarter" idx="11"/>
          </p:nvPr>
        </p:nvSpPr>
        <p:spPr/>
        <p:txBody>
          <a:bodyPr/>
          <a:lstStyle/>
          <a:p>
            <a:r>
              <a:rPr lang="zh-CN" altLang="en-US" smtClean="0"/>
              <a:t>国际金融学 范小云</a:t>
            </a:r>
            <a:endParaRPr lang="zh-CN" altLang="en-US" dirty="0"/>
          </a:p>
        </p:txBody>
      </p:sp>
      <p:sp>
        <p:nvSpPr>
          <p:cNvPr id="4" name="文本框 3"/>
          <p:cNvSpPr txBox="1"/>
          <p:nvPr/>
        </p:nvSpPr>
        <p:spPr>
          <a:xfrm>
            <a:off x="2755212" y="4511421"/>
            <a:ext cx="5044966" cy="876522"/>
          </a:xfrm>
          <a:prstGeom prst="rect">
            <a:avLst/>
          </a:prstGeom>
          <a:noFill/>
        </p:spPr>
        <p:txBody>
          <a:bodyPr wrap="square" rtlCol="0">
            <a:spAutoFit/>
          </a:bodyPr>
          <a:lstStyle/>
          <a:p>
            <a:pPr marL="274320" lvl="1">
              <a:lnSpc>
                <a:spcPct val="110000"/>
              </a:lnSpc>
              <a:spcBef>
                <a:spcPts val="1200"/>
              </a:spcBef>
              <a:buClr>
                <a:schemeClr val="accent1"/>
              </a:buClr>
              <a:buSzPct val="100000"/>
            </a:pPr>
            <a:r>
              <a:rPr lang="zh-CN" altLang="en-US" sz="2400" dirty="0">
                <a:latin typeface="微软雅黑" panose="020B0503020204020204" pitchFamily="34" charset="-122"/>
                <a:ea typeface="微软雅黑" panose="020B0503020204020204" pitchFamily="34" charset="-122"/>
              </a:rPr>
              <a:t>主要有政府贷款、国际金融机构贷款和国际银行业贷款等。</a:t>
            </a:r>
          </a:p>
        </p:txBody>
      </p:sp>
    </p:spTree>
    <p:extLst>
      <p:ext uri="{BB962C8B-B14F-4D97-AF65-F5344CB8AC3E}">
        <p14:creationId xmlns:p14="http://schemas.microsoft.com/office/powerpoint/2010/main" val="230213479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第一节	国际资本流动概述</a:t>
            </a:r>
            <a:endParaRPr lang="zh-CN" dirty="0"/>
          </a:p>
        </p:txBody>
      </p:sp>
      <p:sp>
        <p:nvSpPr>
          <p:cNvPr id="3" name="内容占位符 2"/>
          <p:cNvSpPr>
            <a:spLocks noGrp="1"/>
          </p:cNvSpPr>
          <p:nvPr>
            <p:ph idx="1"/>
          </p:nvPr>
        </p:nvSpPr>
        <p:spPr>
          <a:xfrm>
            <a:off x="556591" y="1245704"/>
            <a:ext cx="8587409" cy="5406887"/>
          </a:xfrm>
        </p:spPr>
        <p:txBody>
          <a:bodyPr>
            <a:normAutofit/>
          </a:bodyPr>
          <a:lstStyle/>
          <a:p>
            <a:pPr marL="0" indent="0">
              <a:lnSpc>
                <a:spcPct val="110000"/>
              </a:lnSpc>
              <a:buNone/>
            </a:pPr>
            <a:r>
              <a:rPr lang="zh-CN" altLang="en-US" sz="2800" dirty="0">
                <a:solidFill>
                  <a:schemeClr val="accent1"/>
                </a:solidFill>
                <a:latin typeface="微软雅黑" panose="020B0503020204020204" pitchFamily="34" charset="-122"/>
                <a:ea typeface="微软雅黑" panose="020B0503020204020204" pitchFamily="34" charset="-122"/>
              </a:rPr>
              <a:t>一、国际资本流动的类型</a:t>
            </a:r>
          </a:p>
          <a:p>
            <a:pPr marL="514350" indent="-514350">
              <a:lnSpc>
                <a:spcPct val="110000"/>
              </a:lnSpc>
              <a:buFont typeface="+mj-lt"/>
              <a:buAutoNum type="arabicPeriod" startAt="2"/>
            </a:pPr>
            <a:r>
              <a:rPr lang="zh-CN" altLang="en-US" sz="2600" dirty="0">
                <a:latin typeface="微软雅黑" panose="020B0503020204020204" pitchFamily="34" charset="-122"/>
                <a:ea typeface="微软雅黑" panose="020B0503020204020204" pitchFamily="34" charset="-122"/>
              </a:rPr>
              <a:t>短期</a:t>
            </a:r>
            <a:r>
              <a:rPr lang="zh-CN" altLang="en-US" sz="2600" dirty="0" smtClean="0">
                <a:latin typeface="微软雅黑" panose="020B0503020204020204" pitchFamily="34" charset="-122"/>
                <a:ea typeface="微软雅黑" panose="020B0503020204020204" pitchFamily="34" charset="-122"/>
              </a:rPr>
              <a:t>资本</a:t>
            </a:r>
            <a:r>
              <a:rPr lang="zh-CN" altLang="en-US" sz="2600" dirty="0">
                <a:latin typeface="微软雅黑" panose="020B0503020204020204" pitchFamily="34" charset="-122"/>
                <a:ea typeface="微软雅黑" panose="020B0503020204020204" pitchFamily="34" charset="-122"/>
              </a:rPr>
              <a:t>流动</a:t>
            </a:r>
          </a:p>
          <a:p>
            <a:pPr marL="0" indent="457200">
              <a:lnSpc>
                <a:spcPct val="110000"/>
              </a:lnSpc>
              <a:buNone/>
            </a:pPr>
            <a:r>
              <a:rPr lang="zh-CN" altLang="en-US" sz="2400" dirty="0">
                <a:latin typeface="微软雅黑" panose="020B0503020204020204" pitchFamily="34" charset="-122"/>
                <a:ea typeface="微软雅黑" panose="020B0503020204020204" pitchFamily="34" charset="-122"/>
              </a:rPr>
              <a:t>短期资本指一年或一年以下的各种金融资产。</a:t>
            </a:r>
          </a:p>
          <a:p>
            <a:pPr marL="1371600" lvl="2" indent="-457200">
              <a:buFont typeface="Wingdings" pitchFamily="2" charset="2"/>
              <a:buChar char="l"/>
            </a:pPr>
            <a:r>
              <a:rPr altLang="en-US" sz="2800" dirty="0" smtClean="0">
                <a:solidFill>
                  <a:srgbClr val="000066"/>
                </a:solidFill>
                <a:ea typeface="隶书" pitchFamily="49" charset="-122"/>
              </a:rPr>
              <a:t>套利性资本流动</a:t>
            </a:r>
          </a:p>
          <a:p>
            <a:pPr marL="1752600" lvl="3" indent="-381000">
              <a:buFont typeface="Wingdings" pitchFamily="2" charset="2"/>
              <a:buChar char="l"/>
            </a:pPr>
            <a:r>
              <a:rPr altLang="en-US" sz="2000" dirty="0" smtClean="0"/>
              <a:t>套利性资金流动一般是为了利用各国金融市场上利率与汇率的差异而赚取差价，它可以分为套汇与套利两种操作手段。 </a:t>
            </a:r>
            <a:endParaRPr altLang="en-US" sz="2000" dirty="0" smtClean="0">
              <a:solidFill>
                <a:srgbClr val="000066"/>
              </a:solidFill>
              <a:ea typeface="隶书" pitchFamily="49" charset="-122"/>
            </a:endParaRPr>
          </a:p>
          <a:p>
            <a:pPr marL="1371600" lvl="2" indent="-457200">
              <a:buFont typeface="Wingdings" pitchFamily="2" charset="2"/>
              <a:buChar char="l"/>
            </a:pPr>
            <a:r>
              <a:rPr altLang="en-US" sz="2800" dirty="0" smtClean="0">
                <a:solidFill>
                  <a:srgbClr val="000066"/>
                </a:solidFill>
                <a:ea typeface="隶书" pitchFamily="49" charset="-122"/>
              </a:rPr>
              <a:t>避险性资本流动</a:t>
            </a:r>
          </a:p>
          <a:p>
            <a:pPr marL="1752600" lvl="3" indent="-381000">
              <a:buFont typeface="Wingdings" pitchFamily="2" charset="2"/>
              <a:buChar char="l"/>
            </a:pPr>
            <a:r>
              <a:rPr altLang="en-US" sz="2000" dirty="0" smtClean="0"/>
              <a:t>避险性资金流动又称资本外逃，它是指金融资产的持有者为了资金安全而进行资金调拨所形成的短期资金流动。 </a:t>
            </a:r>
            <a:endParaRPr altLang="en-US" sz="2000" dirty="0" smtClean="0">
              <a:solidFill>
                <a:srgbClr val="000066"/>
              </a:solidFill>
              <a:ea typeface="隶书" pitchFamily="49" charset="-122"/>
            </a:endParaRPr>
          </a:p>
          <a:p>
            <a:pPr marL="1371600" lvl="2" indent="-457200">
              <a:buFont typeface="Wingdings" pitchFamily="2" charset="2"/>
              <a:buChar char="l"/>
            </a:pPr>
            <a:r>
              <a:rPr altLang="en-US" sz="2800" dirty="0" smtClean="0">
                <a:solidFill>
                  <a:srgbClr val="000066"/>
                </a:solidFill>
                <a:ea typeface="隶书" pitchFamily="49" charset="-122"/>
              </a:rPr>
              <a:t>投机性资本流动</a:t>
            </a:r>
          </a:p>
          <a:p>
            <a:pPr marL="1752600" lvl="3" indent="-381000">
              <a:buFont typeface="Wingdings" pitchFamily="2" charset="2"/>
              <a:buChar char="l"/>
            </a:pPr>
            <a:r>
              <a:rPr altLang="en-US" sz="2000" dirty="0" smtClean="0"/>
              <a:t>投机性资金流动是指投资者利用国际市场上的汇率、金融资产或商品的价格波动，从中谋取利润而引起的短期资金流动。 </a:t>
            </a:r>
            <a:endParaRPr altLang="en-US" sz="2000" dirty="0"/>
          </a:p>
        </p:txBody>
      </p:sp>
      <p:sp>
        <p:nvSpPr>
          <p:cNvPr id="5" name="页脚占位符 4"/>
          <p:cNvSpPr>
            <a:spLocks noGrp="1"/>
          </p:cNvSpPr>
          <p:nvPr>
            <p:ph type="ftr" sz="quarter" idx="11"/>
          </p:nvPr>
        </p:nvSpPr>
        <p:spPr/>
        <p:txBody>
          <a:bodyPr/>
          <a:lstStyle/>
          <a:p>
            <a:r>
              <a:rPr lang="zh-CN" altLang="en-US" smtClean="0"/>
              <a:t>国际金融学 范小云</a:t>
            </a:r>
            <a:endParaRPr lang="zh-CN" altLang="en-US" dirty="0"/>
          </a:p>
        </p:txBody>
      </p:sp>
    </p:spTree>
    <p:extLst>
      <p:ext uri="{BB962C8B-B14F-4D97-AF65-F5344CB8AC3E}">
        <p14:creationId xmlns:p14="http://schemas.microsoft.com/office/powerpoint/2010/main" val="389055728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Effect transition="in" filter="fade">
                                      <p:cBhvr>
                                        <p:cTn id="7" dur="500"/>
                                        <p:tgtEl>
                                          <p:spTgt spid="3">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2" end="2"/>
                                            </p:txEl>
                                          </p:spTgt>
                                        </p:tgtEl>
                                        <p:attrNameLst>
                                          <p:attrName>style.visibility</p:attrName>
                                        </p:attrNameLst>
                                      </p:cBhvr>
                                      <p:to>
                                        <p:strVal val="visible"/>
                                      </p:to>
                                    </p:set>
                                    <p:animEffect transition="in" filter="fade">
                                      <p:cBhvr>
                                        <p:cTn id="12" dur="500"/>
                                        <p:tgtEl>
                                          <p:spTgt spid="3">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第一节	国际资本流动概述</a:t>
            </a:r>
            <a:endParaRPr lang="zh-CN" dirty="0"/>
          </a:p>
        </p:txBody>
      </p:sp>
      <p:sp>
        <p:nvSpPr>
          <p:cNvPr id="3" name="内容占位符 2"/>
          <p:cNvSpPr>
            <a:spLocks noGrp="1"/>
          </p:cNvSpPr>
          <p:nvPr>
            <p:ph idx="1"/>
          </p:nvPr>
        </p:nvSpPr>
        <p:spPr>
          <a:xfrm>
            <a:off x="971550" y="1447799"/>
            <a:ext cx="7200900" cy="4841879"/>
          </a:xfrm>
        </p:spPr>
        <p:txBody>
          <a:bodyPr>
            <a:normAutofit fontScale="92500" lnSpcReduction="10000"/>
          </a:bodyPr>
          <a:lstStyle/>
          <a:p>
            <a:pPr marL="0" indent="0">
              <a:lnSpc>
                <a:spcPct val="110000"/>
              </a:lnSpc>
              <a:buNone/>
            </a:pPr>
            <a:r>
              <a:rPr lang="zh-CN" altLang="en-US" sz="2800" dirty="0">
                <a:solidFill>
                  <a:schemeClr val="accent1"/>
                </a:solidFill>
                <a:latin typeface="微软雅黑" panose="020B0503020204020204" pitchFamily="34" charset="-122"/>
                <a:ea typeface="微软雅黑" panose="020B0503020204020204" pitchFamily="34" charset="-122"/>
              </a:rPr>
              <a:t>一、国际资本流动的类型</a:t>
            </a:r>
          </a:p>
          <a:p>
            <a:pPr marL="0" indent="457200">
              <a:lnSpc>
                <a:spcPct val="100000"/>
              </a:lnSpc>
              <a:buNone/>
            </a:pPr>
            <a:r>
              <a:rPr lang="zh-CN" altLang="en-US" sz="2600" dirty="0">
                <a:latin typeface="微软雅黑" panose="020B0503020204020204" pitchFamily="34" charset="-122"/>
                <a:ea typeface="微软雅黑" panose="020B0503020204020204" pitchFamily="34" charset="-122"/>
              </a:rPr>
              <a:t>国际资本流动类型划分的困难：</a:t>
            </a:r>
          </a:p>
          <a:p>
            <a:pPr marL="0" indent="457200">
              <a:lnSpc>
                <a:spcPct val="100000"/>
              </a:lnSpc>
              <a:buNone/>
            </a:pPr>
            <a:r>
              <a:rPr lang="zh-CN" altLang="en-US" sz="2600" dirty="0" smtClean="0">
                <a:latin typeface="微软雅黑" panose="020B0503020204020204" pitchFamily="34" charset="-122"/>
                <a:ea typeface="微软雅黑" panose="020B0503020204020204" pitchFamily="34" charset="-122"/>
              </a:rPr>
              <a:t>根据</a:t>
            </a:r>
            <a:r>
              <a:rPr lang="zh-CN" altLang="en-US" sz="2600" dirty="0">
                <a:latin typeface="微软雅黑" panose="020B0503020204020204" pitchFamily="34" charset="-122"/>
                <a:ea typeface="微软雅黑" panose="020B0503020204020204" pitchFamily="34" charset="-122"/>
              </a:rPr>
              <a:t>到期时间长短？（界限模糊：长期投资可以在到期日前出售，短期投资也可以通过展期变成长期投资）</a:t>
            </a:r>
          </a:p>
          <a:p>
            <a:pPr marL="0" indent="457200">
              <a:lnSpc>
                <a:spcPct val="100000"/>
              </a:lnSpc>
              <a:buNone/>
            </a:pPr>
            <a:r>
              <a:rPr lang="zh-CN" altLang="en-US" sz="2600" dirty="0" smtClean="0">
                <a:latin typeface="微软雅黑" panose="020B0503020204020204" pitchFamily="34" charset="-122"/>
                <a:ea typeface="微软雅黑" panose="020B0503020204020204" pitchFamily="34" charset="-122"/>
              </a:rPr>
              <a:t>根据</a:t>
            </a:r>
            <a:r>
              <a:rPr lang="zh-CN" altLang="en-US" sz="2600" dirty="0">
                <a:latin typeface="微软雅黑" panose="020B0503020204020204" pitchFamily="34" charset="-122"/>
                <a:ea typeface="微软雅黑" panose="020B0503020204020204" pitchFamily="34" charset="-122"/>
              </a:rPr>
              <a:t>投资者的基本行为动机？（测算困难</a:t>
            </a:r>
            <a:r>
              <a:rPr lang="zh-CN" altLang="en-US" sz="2600" dirty="0" smtClean="0">
                <a:latin typeface="微软雅黑" panose="020B0503020204020204" pitchFamily="34" charset="-122"/>
                <a:ea typeface="微软雅黑" panose="020B0503020204020204" pitchFamily="34" charset="-122"/>
              </a:rPr>
              <a:t>）</a:t>
            </a:r>
            <a:endParaRPr lang="en-US" altLang="zh-CN" sz="2600" dirty="0" smtClean="0">
              <a:latin typeface="微软雅黑" panose="020B0503020204020204" pitchFamily="34" charset="-122"/>
              <a:ea typeface="微软雅黑" panose="020B0503020204020204" pitchFamily="34" charset="-122"/>
            </a:endParaRPr>
          </a:p>
          <a:p>
            <a:pPr marL="0" indent="457200">
              <a:lnSpc>
                <a:spcPct val="100000"/>
              </a:lnSpc>
              <a:buNone/>
            </a:pPr>
            <a:r>
              <a:rPr lang="zh-CN" altLang="en-US" sz="2600" dirty="0">
                <a:solidFill>
                  <a:schemeClr val="accent1"/>
                </a:solidFill>
                <a:latin typeface="微软雅黑" panose="020B0503020204020204" pitchFamily="34" charset="-122"/>
                <a:ea typeface="微软雅黑" panose="020B0503020204020204" pitchFamily="34" charset="-122"/>
              </a:rPr>
              <a:t>近期对国际资本流动的研究中，一般将国际资本流动划分为三个主要的类型：外国直接投资（</a:t>
            </a:r>
            <a:r>
              <a:rPr lang="en-US" altLang="zh-CN" sz="2600" dirty="0">
                <a:solidFill>
                  <a:schemeClr val="accent1"/>
                </a:solidFill>
                <a:latin typeface="微软雅黑" panose="020B0503020204020204" pitchFamily="34" charset="-122"/>
                <a:ea typeface="微软雅黑" panose="020B0503020204020204" pitchFamily="34" charset="-122"/>
              </a:rPr>
              <a:t>Foreign Direct Investment, FDI</a:t>
            </a:r>
            <a:r>
              <a:rPr lang="zh-CN" altLang="en-US" sz="2600" dirty="0">
                <a:solidFill>
                  <a:schemeClr val="accent1"/>
                </a:solidFill>
                <a:latin typeface="微软雅黑" panose="020B0503020204020204" pitchFamily="34" charset="-122"/>
                <a:ea typeface="微软雅黑" panose="020B0503020204020204" pitchFamily="34" charset="-122"/>
              </a:rPr>
              <a:t>）、外国组合投资（</a:t>
            </a:r>
            <a:r>
              <a:rPr lang="en-US" altLang="zh-CN" sz="2600" dirty="0">
                <a:solidFill>
                  <a:schemeClr val="accent1"/>
                </a:solidFill>
                <a:latin typeface="微软雅黑" panose="020B0503020204020204" pitchFamily="34" charset="-122"/>
                <a:ea typeface="微软雅黑" panose="020B0503020204020204" pitchFamily="34" charset="-122"/>
              </a:rPr>
              <a:t>Foreign Portfolio Investment, FPI</a:t>
            </a:r>
            <a:r>
              <a:rPr lang="zh-CN" altLang="en-US" sz="2600" dirty="0">
                <a:solidFill>
                  <a:schemeClr val="accent1"/>
                </a:solidFill>
                <a:latin typeface="微软雅黑" panose="020B0503020204020204" pitchFamily="34" charset="-122"/>
                <a:ea typeface="微软雅黑" panose="020B0503020204020204" pitchFamily="34" charset="-122"/>
              </a:rPr>
              <a:t>）、债务流动（</a:t>
            </a:r>
            <a:r>
              <a:rPr lang="en-US" altLang="zh-CN" sz="2600" dirty="0">
                <a:solidFill>
                  <a:schemeClr val="accent1"/>
                </a:solidFill>
                <a:latin typeface="微软雅黑" panose="020B0503020204020204" pitchFamily="34" charset="-122"/>
                <a:ea typeface="微软雅黑" panose="020B0503020204020204" pitchFamily="34" charset="-122"/>
              </a:rPr>
              <a:t>Debt flows</a:t>
            </a:r>
            <a:r>
              <a:rPr lang="zh-CN" altLang="en-US" sz="2600" dirty="0">
                <a:solidFill>
                  <a:schemeClr val="accent1"/>
                </a:solidFill>
                <a:latin typeface="微软雅黑" panose="020B0503020204020204" pitchFamily="34" charset="-122"/>
                <a:ea typeface="微软雅黑" panose="020B0503020204020204" pitchFamily="34" charset="-122"/>
              </a:rPr>
              <a:t>，包括银行贷款和债券） </a:t>
            </a:r>
          </a:p>
          <a:p>
            <a:pPr marL="0" indent="457200">
              <a:lnSpc>
                <a:spcPct val="100000"/>
              </a:lnSpc>
              <a:buNone/>
            </a:pPr>
            <a:endParaRPr lang="zh-CN" altLang="en-US" sz="2600" dirty="0">
              <a:latin typeface="微软雅黑" panose="020B0503020204020204" pitchFamily="34" charset="-122"/>
              <a:ea typeface="微软雅黑" panose="020B0503020204020204" pitchFamily="34" charset="-122"/>
            </a:endParaRPr>
          </a:p>
        </p:txBody>
      </p:sp>
      <p:sp>
        <p:nvSpPr>
          <p:cNvPr id="5" name="页脚占位符 4"/>
          <p:cNvSpPr>
            <a:spLocks noGrp="1"/>
          </p:cNvSpPr>
          <p:nvPr>
            <p:ph type="ftr" sz="quarter" idx="11"/>
          </p:nvPr>
        </p:nvSpPr>
        <p:spPr/>
        <p:txBody>
          <a:bodyPr/>
          <a:lstStyle/>
          <a:p>
            <a:r>
              <a:rPr lang="zh-CN" altLang="en-US" smtClean="0"/>
              <a:t>国际金融学 范小云</a:t>
            </a:r>
            <a:endParaRPr lang="zh-CN" altLang="en-US" dirty="0"/>
          </a:p>
        </p:txBody>
      </p:sp>
    </p:spTree>
    <p:extLst>
      <p:ext uri="{BB962C8B-B14F-4D97-AF65-F5344CB8AC3E}">
        <p14:creationId xmlns:p14="http://schemas.microsoft.com/office/powerpoint/2010/main" val="168116298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Effect transition="in" filter="fade">
                                      <p:cBhvr>
                                        <p:cTn id="7" dur="500"/>
                                        <p:tgtEl>
                                          <p:spTgt spid="3">
                                            <p:txEl>
                                              <p:pRg st="1" end="1"/>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3">
                                            <p:txEl>
                                              <p:pRg st="2" end="2"/>
                                            </p:txEl>
                                          </p:spTgt>
                                        </p:tgtEl>
                                        <p:attrNameLst>
                                          <p:attrName>style.visibility</p:attrName>
                                        </p:attrNameLst>
                                      </p:cBhvr>
                                      <p:to>
                                        <p:strVal val="visible"/>
                                      </p:to>
                                    </p:set>
                                    <p:animEffect transition="in" filter="fade">
                                      <p:cBhvr>
                                        <p:cTn id="10" dur="500"/>
                                        <p:tgtEl>
                                          <p:spTgt spid="3">
                                            <p:txEl>
                                              <p:pRg st="2" end="2"/>
                                            </p:txEl>
                                          </p:spTgt>
                                        </p:tgtEl>
                                      </p:cBhvr>
                                    </p:animEffect>
                                  </p:childTnLst>
                                </p:cTn>
                              </p:par>
                              <p:par>
                                <p:cTn id="11" presetID="10" presetClass="entr" presetSubtype="0" fill="hold" nodeType="withEffect">
                                  <p:stCondLst>
                                    <p:cond delay="0"/>
                                  </p:stCondLst>
                                  <p:childTnLst>
                                    <p:set>
                                      <p:cBhvr>
                                        <p:cTn id="12" dur="1" fill="hold">
                                          <p:stCondLst>
                                            <p:cond delay="0"/>
                                          </p:stCondLst>
                                        </p:cTn>
                                        <p:tgtEl>
                                          <p:spTgt spid="3">
                                            <p:txEl>
                                              <p:pRg st="3" end="3"/>
                                            </p:txEl>
                                          </p:spTgt>
                                        </p:tgtEl>
                                        <p:attrNameLst>
                                          <p:attrName>style.visibility</p:attrName>
                                        </p:attrNameLst>
                                      </p:cBhvr>
                                      <p:to>
                                        <p:strVal val="visible"/>
                                      </p:to>
                                    </p:set>
                                    <p:animEffect transition="in" filter="fade">
                                      <p:cBhvr>
                                        <p:cTn id="13" dur="500"/>
                                        <p:tgtEl>
                                          <p:spTgt spid="3">
                                            <p:txEl>
                                              <p:pRg st="3" end="3"/>
                                            </p:txEl>
                                          </p:spTgt>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nodeType="clickEffect">
                                  <p:stCondLst>
                                    <p:cond delay="0"/>
                                  </p:stCondLst>
                                  <p:childTnLst>
                                    <p:set>
                                      <p:cBhvr>
                                        <p:cTn id="17" dur="1" fill="hold">
                                          <p:stCondLst>
                                            <p:cond delay="0"/>
                                          </p:stCondLst>
                                        </p:cTn>
                                        <p:tgtEl>
                                          <p:spTgt spid="3">
                                            <p:txEl>
                                              <p:pRg st="4" end="4"/>
                                            </p:txEl>
                                          </p:spTgt>
                                        </p:tgtEl>
                                        <p:attrNameLst>
                                          <p:attrName>style.visibility</p:attrName>
                                        </p:attrNameLst>
                                      </p:cBhvr>
                                      <p:to>
                                        <p:strVal val="visible"/>
                                      </p:to>
                                    </p:set>
                                    <p:animEffect transition="in" filter="fade">
                                      <p:cBhvr>
                                        <p:cTn id="18" dur="500"/>
                                        <p:tgtEl>
                                          <p:spTgt spid="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第一节	国际资本流动概述</a:t>
            </a:r>
            <a:endParaRPr lang="zh-CN" dirty="0"/>
          </a:p>
        </p:txBody>
      </p:sp>
      <p:sp>
        <p:nvSpPr>
          <p:cNvPr id="3" name="内容占位符 2"/>
          <p:cNvSpPr>
            <a:spLocks noGrp="1"/>
          </p:cNvSpPr>
          <p:nvPr>
            <p:ph idx="1"/>
          </p:nvPr>
        </p:nvSpPr>
        <p:spPr>
          <a:xfrm>
            <a:off x="971550" y="1447799"/>
            <a:ext cx="7200900" cy="4841879"/>
          </a:xfrm>
        </p:spPr>
        <p:txBody>
          <a:bodyPr>
            <a:normAutofit/>
          </a:bodyPr>
          <a:lstStyle/>
          <a:p>
            <a:pPr marL="0" indent="0">
              <a:lnSpc>
                <a:spcPct val="110000"/>
              </a:lnSpc>
              <a:buNone/>
            </a:pPr>
            <a:r>
              <a:rPr lang="zh-CN" altLang="en-US" sz="2800" dirty="0">
                <a:solidFill>
                  <a:schemeClr val="accent1"/>
                </a:solidFill>
                <a:latin typeface="微软雅黑" panose="020B0503020204020204" pitchFamily="34" charset="-122"/>
                <a:ea typeface="微软雅黑" panose="020B0503020204020204" pitchFamily="34" charset="-122"/>
              </a:rPr>
              <a:t>二、国际资本流动的动因</a:t>
            </a:r>
          </a:p>
          <a:p>
            <a:pPr marL="514350" indent="-514350">
              <a:lnSpc>
                <a:spcPct val="110000"/>
              </a:lnSpc>
              <a:buFont typeface="+mj-lt"/>
              <a:buAutoNum type="arabicPeriod"/>
            </a:pPr>
            <a:r>
              <a:rPr lang="zh-CN" altLang="en-US" sz="2600" dirty="0" smtClean="0">
                <a:latin typeface="微软雅黑" panose="020B0503020204020204" pitchFamily="34" charset="-122"/>
                <a:ea typeface="微软雅黑" panose="020B0503020204020204" pitchFamily="34" charset="-122"/>
              </a:rPr>
              <a:t>国际</a:t>
            </a:r>
            <a:r>
              <a:rPr lang="zh-CN" altLang="en-US" sz="2600" dirty="0">
                <a:latin typeface="微软雅黑" panose="020B0503020204020204" pitchFamily="34" charset="-122"/>
                <a:ea typeface="微软雅黑" panose="020B0503020204020204" pitchFamily="34" charset="-122"/>
              </a:rPr>
              <a:t>资本流动的一般原因</a:t>
            </a:r>
          </a:p>
          <a:p>
            <a:pPr marL="0" indent="457200">
              <a:lnSpc>
                <a:spcPct val="100000"/>
              </a:lnSpc>
              <a:buNone/>
            </a:pPr>
            <a:r>
              <a:rPr lang="zh-CN" altLang="en-US" sz="2600" dirty="0" smtClean="0">
                <a:latin typeface="微软雅黑" panose="020B0503020204020204" pitchFamily="34" charset="-122"/>
                <a:ea typeface="微软雅黑" panose="020B0503020204020204" pitchFamily="34" charset="-122"/>
              </a:rPr>
              <a:t>国际</a:t>
            </a:r>
            <a:r>
              <a:rPr lang="zh-CN" altLang="en-US" sz="2600" dirty="0">
                <a:latin typeface="微软雅黑" panose="020B0503020204020204" pitchFamily="34" charset="-122"/>
                <a:ea typeface="微软雅黑" panose="020B0503020204020204" pitchFamily="34" charset="-122"/>
              </a:rPr>
              <a:t>资本流动是一种生产要素在国际间的转移，与国际贸易类似，国际间的要素报酬差异将造成生产要素在国际间的流动。</a:t>
            </a:r>
          </a:p>
          <a:p>
            <a:pPr marL="0" indent="457200">
              <a:lnSpc>
                <a:spcPct val="100000"/>
              </a:lnSpc>
              <a:buNone/>
            </a:pPr>
            <a:r>
              <a:rPr lang="zh-CN" altLang="en-US" sz="2600" dirty="0" smtClean="0">
                <a:latin typeface="微软雅黑" panose="020B0503020204020204" pitchFamily="34" charset="-122"/>
                <a:ea typeface="微软雅黑" panose="020B0503020204020204" pitchFamily="34" charset="-122"/>
              </a:rPr>
              <a:t>如果</a:t>
            </a:r>
            <a:r>
              <a:rPr lang="zh-CN" altLang="en-US" sz="2600" dirty="0">
                <a:latin typeface="微软雅黑" panose="020B0503020204020204" pitchFamily="34" charset="-122"/>
                <a:ea typeface="微软雅黑" panose="020B0503020204020204" pitchFamily="34" charset="-122"/>
              </a:rPr>
              <a:t>一国的资本相对丰裕，则该国作为资本报酬的利率就会较国外利率低，由此资本就会由该国流向他国。</a:t>
            </a:r>
          </a:p>
          <a:p>
            <a:pPr marL="0" indent="457200">
              <a:lnSpc>
                <a:spcPct val="100000"/>
              </a:lnSpc>
              <a:buNone/>
            </a:pPr>
            <a:endParaRPr lang="zh-CN" altLang="en-US" sz="2600" dirty="0">
              <a:latin typeface="微软雅黑" panose="020B0503020204020204" pitchFamily="34" charset="-122"/>
              <a:ea typeface="微软雅黑" panose="020B0503020204020204" pitchFamily="34" charset="-122"/>
            </a:endParaRPr>
          </a:p>
        </p:txBody>
      </p:sp>
      <p:sp>
        <p:nvSpPr>
          <p:cNvPr id="5" name="页脚占位符 4"/>
          <p:cNvSpPr>
            <a:spLocks noGrp="1"/>
          </p:cNvSpPr>
          <p:nvPr>
            <p:ph type="ftr" sz="quarter" idx="11"/>
          </p:nvPr>
        </p:nvSpPr>
        <p:spPr/>
        <p:txBody>
          <a:bodyPr/>
          <a:lstStyle/>
          <a:p>
            <a:r>
              <a:rPr lang="zh-CN" altLang="en-US" smtClean="0"/>
              <a:t>国际金融学 范小云</a:t>
            </a:r>
            <a:endParaRPr lang="zh-CN" altLang="en-US" dirty="0"/>
          </a:p>
        </p:txBody>
      </p:sp>
    </p:spTree>
    <p:extLst>
      <p:ext uri="{BB962C8B-B14F-4D97-AF65-F5344CB8AC3E}">
        <p14:creationId xmlns:p14="http://schemas.microsoft.com/office/powerpoint/2010/main" val="116560049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Effect transition="in" filter="fade">
                                      <p:cBhvr>
                                        <p:cTn id="7" dur="500"/>
                                        <p:tgtEl>
                                          <p:spTgt spid="3">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2" end="2"/>
                                            </p:txEl>
                                          </p:spTgt>
                                        </p:tgtEl>
                                        <p:attrNameLst>
                                          <p:attrName>style.visibility</p:attrName>
                                        </p:attrNameLst>
                                      </p:cBhvr>
                                      <p:to>
                                        <p:strVal val="visible"/>
                                      </p:to>
                                    </p:set>
                                    <p:animEffect transition="in" filter="fade">
                                      <p:cBhvr>
                                        <p:cTn id="12" dur="500"/>
                                        <p:tgtEl>
                                          <p:spTgt spid="3">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
                                            <p:txEl>
                                              <p:pRg st="3" end="3"/>
                                            </p:txEl>
                                          </p:spTgt>
                                        </p:tgtEl>
                                        <p:attrNameLst>
                                          <p:attrName>style.visibility</p:attrName>
                                        </p:attrNameLst>
                                      </p:cBhvr>
                                      <p:to>
                                        <p:strVal val="visible"/>
                                      </p:to>
                                    </p:set>
                                    <p:animEffect transition="in" filter="fade">
                                      <p:cBhvr>
                                        <p:cTn id="17" dur="500"/>
                                        <p:tgtEl>
                                          <p:spTgt spid="3">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第一节	国际资本流动概述</a:t>
            </a:r>
            <a:endParaRPr lang="zh-CN" dirty="0"/>
          </a:p>
        </p:txBody>
      </p:sp>
      <p:sp>
        <p:nvSpPr>
          <p:cNvPr id="3" name="内容占位符 2"/>
          <p:cNvSpPr>
            <a:spLocks noGrp="1"/>
          </p:cNvSpPr>
          <p:nvPr>
            <p:ph idx="1"/>
          </p:nvPr>
        </p:nvSpPr>
        <p:spPr>
          <a:xfrm>
            <a:off x="971550" y="1447799"/>
            <a:ext cx="7200900" cy="4841879"/>
          </a:xfrm>
        </p:spPr>
        <p:txBody>
          <a:bodyPr>
            <a:normAutofit/>
          </a:bodyPr>
          <a:lstStyle/>
          <a:p>
            <a:pPr marL="0" indent="0">
              <a:lnSpc>
                <a:spcPct val="110000"/>
              </a:lnSpc>
              <a:buNone/>
            </a:pPr>
            <a:r>
              <a:rPr lang="zh-CN" altLang="en-US" sz="2800" dirty="0">
                <a:solidFill>
                  <a:schemeClr val="accent1"/>
                </a:solidFill>
                <a:latin typeface="微软雅黑" panose="020B0503020204020204" pitchFamily="34" charset="-122"/>
                <a:ea typeface="微软雅黑" panose="020B0503020204020204" pitchFamily="34" charset="-122"/>
              </a:rPr>
              <a:t>二、国际资本流动的动因</a:t>
            </a:r>
          </a:p>
          <a:p>
            <a:pPr marL="514350" indent="-514350">
              <a:lnSpc>
                <a:spcPct val="110000"/>
              </a:lnSpc>
              <a:buFont typeface="+mj-lt"/>
              <a:buAutoNum type="arabicPeriod" startAt="2"/>
            </a:pPr>
            <a:r>
              <a:rPr lang="zh-CN" altLang="en-US" sz="2600" dirty="0">
                <a:latin typeface="微软雅黑" panose="020B0503020204020204" pitchFamily="34" charset="-122"/>
                <a:ea typeface="微软雅黑" panose="020B0503020204020204" pitchFamily="34" charset="-122"/>
              </a:rPr>
              <a:t>证券投资国际分散化的动因</a:t>
            </a:r>
          </a:p>
          <a:p>
            <a:pPr marL="0" indent="457200">
              <a:lnSpc>
                <a:spcPct val="100000"/>
              </a:lnSpc>
              <a:buNone/>
            </a:pPr>
            <a:r>
              <a:rPr lang="zh-CN" altLang="en-US" sz="2600" dirty="0">
                <a:latin typeface="微软雅黑" panose="020B0503020204020204" pitchFamily="34" charset="-122"/>
                <a:ea typeface="微软雅黑" panose="020B0503020204020204" pitchFamily="34" charset="-122"/>
              </a:rPr>
              <a:t>要素报酬差异只能说明资本从低利率国流向高利率国的单向流动，而现实中，资本在多数国家之间是相互或双项流动的。</a:t>
            </a:r>
          </a:p>
          <a:p>
            <a:pPr marL="0" indent="457200">
              <a:lnSpc>
                <a:spcPct val="100000"/>
              </a:lnSpc>
              <a:buNone/>
            </a:pPr>
            <a:r>
              <a:rPr lang="zh-CN" altLang="en-US" sz="2600" dirty="0">
                <a:latin typeface="微软雅黑" panose="020B0503020204020204" pitchFamily="34" charset="-122"/>
                <a:ea typeface="微软雅黑" panose="020B0503020204020204" pitchFamily="34" charset="-122"/>
              </a:rPr>
              <a:t>投资者除了关心投资收益外，也注重投资收益的稳定性。证券投资国际分散化将更利于改善风险管理和提高收益。</a:t>
            </a:r>
          </a:p>
          <a:p>
            <a:pPr marL="0" indent="457200">
              <a:lnSpc>
                <a:spcPct val="100000"/>
              </a:lnSpc>
              <a:buNone/>
            </a:pPr>
            <a:endParaRPr lang="zh-CN" altLang="en-US" sz="2600" dirty="0">
              <a:latin typeface="微软雅黑" panose="020B0503020204020204" pitchFamily="34" charset="-122"/>
              <a:ea typeface="微软雅黑" panose="020B0503020204020204" pitchFamily="34" charset="-122"/>
            </a:endParaRPr>
          </a:p>
        </p:txBody>
      </p:sp>
      <p:sp>
        <p:nvSpPr>
          <p:cNvPr id="5" name="页脚占位符 4"/>
          <p:cNvSpPr>
            <a:spLocks noGrp="1"/>
          </p:cNvSpPr>
          <p:nvPr>
            <p:ph type="ftr" sz="quarter" idx="11"/>
          </p:nvPr>
        </p:nvSpPr>
        <p:spPr/>
        <p:txBody>
          <a:bodyPr/>
          <a:lstStyle/>
          <a:p>
            <a:r>
              <a:rPr lang="zh-CN" altLang="en-US" smtClean="0"/>
              <a:t>国际金融学 范小云</a:t>
            </a:r>
            <a:endParaRPr lang="zh-CN" altLang="en-US" dirty="0"/>
          </a:p>
        </p:txBody>
      </p:sp>
    </p:spTree>
    <p:extLst>
      <p:ext uri="{BB962C8B-B14F-4D97-AF65-F5344CB8AC3E}">
        <p14:creationId xmlns:p14="http://schemas.microsoft.com/office/powerpoint/2010/main" val="188137502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Effect transition="in" filter="fade">
                                      <p:cBhvr>
                                        <p:cTn id="7" dur="500"/>
                                        <p:tgtEl>
                                          <p:spTgt spid="3">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2" end="2"/>
                                            </p:txEl>
                                          </p:spTgt>
                                        </p:tgtEl>
                                        <p:attrNameLst>
                                          <p:attrName>style.visibility</p:attrName>
                                        </p:attrNameLst>
                                      </p:cBhvr>
                                      <p:to>
                                        <p:strVal val="visible"/>
                                      </p:to>
                                    </p:set>
                                    <p:animEffect transition="in" filter="fade">
                                      <p:cBhvr>
                                        <p:cTn id="12" dur="500"/>
                                        <p:tgtEl>
                                          <p:spTgt spid="3">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
                                            <p:txEl>
                                              <p:pRg st="3" end="3"/>
                                            </p:txEl>
                                          </p:spTgt>
                                        </p:tgtEl>
                                        <p:attrNameLst>
                                          <p:attrName>style.visibility</p:attrName>
                                        </p:attrNameLst>
                                      </p:cBhvr>
                                      <p:to>
                                        <p:strVal val="visible"/>
                                      </p:to>
                                    </p:set>
                                    <p:animEffect transition="in" filter="fade">
                                      <p:cBhvr>
                                        <p:cTn id="17" dur="500"/>
                                        <p:tgtEl>
                                          <p:spTgt spid="3">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第一节	国际资本流动概述</a:t>
            </a:r>
            <a:endParaRPr lang="zh-CN" dirty="0"/>
          </a:p>
        </p:txBody>
      </p:sp>
      <p:sp>
        <p:nvSpPr>
          <p:cNvPr id="3" name="内容占位符 2"/>
          <p:cNvSpPr>
            <a:spLocks noGrp="1"/>
          </p:cNvSpPr>
          <p:nvPr>
            <p:ph idx="1"/>
          </p:nvPr>
        </p:nvSpPr>
        <p:spPr>
          <a:xfrm>
            <a:off x="971550" y="1447799"/>
            <a:ext cx="7200900" cy="4841879"/>
          </a:xfrm>
        </p:spPr>
        <p:txBody>
          <a:bodyPr>
            <a:normAutofit/>
          </a:bodyPr>
          <a:lstStyle/>
          <a:p>
            <a:pPr marL="0" indent="0">
              <a:lnSpc>
                <a:spcPct val="110000"/>
              </a:lnSpc>
              <a:buNone/>
            </a:pPr>
            <a:r>
              <a:rPr lang="zh-CN" altLang="en-US" sz="2800" dirty="0">
                <a:solidFill>
                  <a:schemeClr val="accent1"/>
                </a:solidFill>
                <a:latin typeface="微软雅黑" panose="020B0503020204020204" pitchFamily="34" charset="-122"/>
                <a:ea typeface="微软雅黑" panose="020B0503020204020204" pitchFamily="34" charset="-122"/>
              </a:rPr>
              <a:t>三、国际资本流动之谜</a:t>
            </a:r>
          </a:p>
          <a:p>
            <a:pPr marL="0" indent="457200">
              <a:lnSpc>
                <a:spcPct val="100000"/>
              </a:lnSpc>
              <a:buNone/>
            </a:pPr>
            <a:r>
              <a:rPr lang="zh-CN" altLang="en-US" sz="2600" dirty="0" smtClean="0">
                <a:latin typeface="微软雅黑" panose="020B0503020204020204" pitchFamily="34" charset="-122"/>
                <a:ea typeface="微软雅黑" panose="020B0503020204020204" pitchFamily="34" charset="-122"/>
              </a:rPr>
              <a:t>根据</a:t>
            </a:r>
            <a:r>
              <a:rPr lang="zh-CN" altLang="en-US" sz="2600" dirty="0">
                <a:latin typeface="微软雅黑" panose="020B0503020204020204" pitchFamily="34" charset="-122"/>
                <a:ea typeface="微软雅黑" panose="020B0503020204020204" pitchFamily="34" charset="-122"/>
              </a:rPr>
              <a:t>新古典理论，资本的边际报酬率是递减的。因此在资本自由流动的条件下，资本应该由人均资本存量较多、资本边际生产力较低的国家流向资本存量较少、资本边际生产力较高的国家，即由富国流向穷国。</a:t>
            </a:r>
          </a:p>
          <a:p>
            <a:pPr marL="0" indent="457200">
              <a:lnSpc>
                <a:spcPct val="100000"/>
              </a:lnSpc>
              <a:buNone/>
            </a:pPr>
            <a:r>
              <a:rPr lang="zh-CN" altLang="en-US" sz="2600" dirty="0" smtClean="0">
                <a:latin typeface="微软雅黑" panose="020B0503020204020204" pitchFamily="34" charset="-122"/>
                <a:ea typeface="微软雅黑" panose="020B0503020204020204" pitchFamily="34" charset="-122"/>
              </a:rPr>
              <a:t>但是</a:t>
            </a:r>
            <a:r>
              <a:rPr lang="zh-CN" altLang="en-US" sz="2600" dirty="0">
                <a:latin typeface="微软雅黑" panose="020B0503020204020204" pitchFamily="34" charset="-122"/>
                <a:ea typeface="微软雅黑" panose="020B0503020204020204" pitchFamily="34" charset="-122"/>
              </a:rPr>
              <a:t>，基于以下现象，推动了国际资本流动研究的发展</a:t>
            </a:r>
          </a:p>
          <a:p>
            <a:pPr marL="0" indent="457200">
              <a:lnSpc>
                <a:spcPct val="100000"/>
              </a:lnSpc>
              <a:buNone/>
            </a:pPr>
            <a:endParaRPr lang="zh-CN" altLang="en-US" sz="2600" dirty="0">
              <a:latin typeface="微软雅黑" panose="020B0503020204020204" pitchFamily="34" charset="-122"/>
              <a:ea typeface="微软雅黑" panose="020B0503020204020204" pitchFamily="34" charset="-122"/>
            </a:endParaRPr>
          </a:p>
        </p:txBody>
      </p:sp>
      <p:sp>
        <p:nvSpPr>
          <p:cNvPr id="5" name="页脚占位符 4"/>
          <p:cNvSpPr>
            <a:spLocks noGrp="1"/>
          </p:cNvSpPr>
          <p:nvPr>
            <p:ph type="ftr" sz="quarter" idx="11"/>
          </p:nvPr>
        </p:nvSpPr>
        <p:spPr/>
        <p:txBody>
          <a:bodyPr/>
          <a:lstStyle/>
          <a:p>
            <a:r>
              <a:rPr lang="zh-CN" altLang="en-US" smtClean="0"/>
              <a:t>国际金融学 范小云</a:t>
            </a:r>
            <a:endParaRPr lang="zh-CN" altLang="en-US" dirty="0"/>
          </a:p>
        </p:txBody>
      </p:sp>
    </p:spTree>
    <p:extLst>
      <p:ext uri="{BB962C8B-B14F-4D97-AF65-F5344CB8AC3E}">
        <p14:creationId xmlns:p14="http://schemas.microsoft.com/office/powerpoint/2010/main" val="339592621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第一节	国际资本流动概述</a:t>
            </a:r>
            <a:endParaRPr lang="zh-CN" dirty="0"/>
          </a:p>
        </p:txBody>
      </p:sp>
      <p:sp>
        <p:nvSpPr>
          <p:cNvPr id="3" name="内容占位符 2"/>
          <p:cNvSpPr>
            <a:spLocks noGrp="1"/>
          </p:cNvSpPr>
          <p:nvPr>
            <p:ph idx="1"/>
          </p:nvPr>
        </p:nvSpPr>
        <p:spPr>
          <a:xfrm>
            <a:off x="971550" y="1447799"/>
            <a:ext cx="7200900" cy="4841879"/>
          </a:xfrm>
        </p:spPr>
        <p:txBody>
          <a:bodyPr>
            <a:normAutofit fontScale="92500" lnSpcReduction="10000"/>
          </a:bodyPr>
          <a:lstStyle/>
          <a:p>
            <a:pPr marL="0" indent="0">
              <a:lnSpc>
                <a:spcPct val="110000"/>
              </a:lnSpc>
              <a:buNone/>
            </a:pPr>
            <a:r>
              <a:rPr lang="zh-CN" altLang="en-US" sz="2800" dirty="0">
                <a:solidFill>
                  <a:schemeClr val="accent1"/>
                </a:solidFill>
                <a:latin typeface="微软雅黑" panose="020B0503020204020204" pitchFamily="34" charset="-122"/>
                <a:ea typeface="微软雅黑" panose="020B0503020204020204" pitchFamily="34" charset="-122"/>
              </a:rPr>
              <a:t>三、国际资本流动之谜</a:t>
            </a:r>
          </a:p>
          <a:p>
            <a:pPr marL="514350" indent="-514350">
              <a:lnSpc>
                <a:spcPct val="120000"/>
              </a:lnSpc>
              <a:buFont typeface="+mj-lt"/>
              <a:buAutoNum type="arabicPeriod"/>
            </a:pPr>
            <a:r>
              <a:rPr lang="zh-CN" altLang="en-US" sz="2600" dirty="0" smtClean="0">
                <a:solidFill>
                  <a:schemeClr val="accent1"/>
                </a:solidFill>
                <a:latin typeface="微软雅黑" panose="020B0503020204020204" pitchFamily="34" charset="-122"/>
                <a:ea typeface="微软雅黑" panose="020B0503020204020204" pitchFamily="34" charset="-122"/>
              </a:rPr>
              <a:t>卢卡斯之谜（</a:t>
            </a:r>
            <a:r>
              <a:rPr lang="en-US" altLang="zh-CN" sz="2600" dirty="0" smtClean="0">
                <a:solidFill>
                  <a:schemeClr val="accent1"/>
                </a:solidFill>
                <a:latin typeface="微软雅黑" panose="020B0503020204020204" pitchFamily="34" charset="-122"/>
                <a:ea typeface="微软雅黑" panose="020B0503020204020204" pitchFamily="34" charset="-122"/>
              </a:rPr>
              <a:t>Lucas,1990</a:t>
            </a:r>
            <a:r>
              <a:rPr lang="zh-CN" altLang="en-US" sz="2600" dirty="0" smtClean="0">
                <a:solidFill>
                  <a:schemeClr val="accent1"/>
                </a:solidFill>
                <a:latin typeface="微软雅黑" panose="020B0503020204020204" pitchFamily="34" charset="-122"/>
                <a:ea typeface="微软雅黑" panose="020B0503020204020204" pitchFamily="34" charset="-122"/>
              </a:rPr>
              <a:t>）</a:t>
            </a:r>
          </a:p>
          <a:p>
            <a:pPr marL="0" indent="457200">
              <a:lnSpc>
                <a:spcPct val="100000"/>
              </a:lnSpc>
              <a:buNone/>
            </a:pPr>
            <a:r>
              <a:rPr lang="zh-CN" altLang="en-US" sz="2600" dirty="0" smtClean="0">
                <a:latin typeface="微软雅黑" panose="020B0503020204020204" pitchFamily="34" charset="-122"/>
                <a:ea typeface="微软雅黑" panose="020B0503020204020204" pitchFamily="34" charset="-122"/>
              </a:rPr>
              <a:t>富国向穷国投资的资本规模远远没有达到新古典理论预测的水平，富国没有向穷国输出稀缺资本的现象被称为“卢卡斯之谜”。</a:t>
            </a:r>
          </a:p>
          <a:p>
            <a:pPr marL="514350" indent="-514350">
              <a:lnSpc>
                <a:spcPct val="120000"/>
              </a:lnSpc>
              <a:buFont typeface="+mj-lt"/>
              <a:buAutoNum type="arabicPeriod" startAt="2"/>
            </a:pPr>
            <a:r>
              <a:rPr lang="zh-CN" altLang="en-US" sz="2600" dirty="0" smtClean="0">
                <a:solidFill>
                  <a:schemeClr val="accent1"/>
                </a:solidFill>
                <a:latin typeface="微软雅黑" panose="020B0503020204020204" pitchFamily="34" charset="-122"/>
                <a:ea typeface="微软雅黑" panose="020B0503020204020204" pitchFamily="34" charset="-122"/>
              </a:rPr>
              <a:t>两个新现象</a:t>
            </a:r>
          </a:p>
          <a:p>
            <a:pPr marL="0" indent="457200">
              <a:lnSpc>
                <a:spcPct val="100000"/>
              </a:lnSpc>
              <a:buNone/>
            </a:pPr>
            <a:r>
              <a:rPr lang="zh-CN" altLang="en-US" sz="2600" dirty="0" smtClean="0">
                <a:latin typeface="微软雅黑" panose="020B0503020204020204" pitchFamily="34" charset="-122"/>
                <a:ea typeface="微软雅黑" panose="020B0503020204020204" pitchFamily="34" charset="-122"/>
              </a:rPr>
              <a:t>第一、资本不仅没有从富国流向穷国，反而出现了逆转的现象</a:t>
            </a:r>
            <a:r>
              <a:rPr lang="en-US" altLang="zh-CN" sz="2600" dirty="0" smtClean="0">
                <a:latin typeface="微软雅黑" panose="020B0503020204020204" pitchFamily="34" charset="-122"/>
                <a:ea typeface="微软雅黑" panose="020B0503020204020204" pitchFamily="34" charset="-122"/>
              </a:rPr>
              <a:t>——</a:t>
            </a:r>
            <a:r>
              <a:rPr lang="zh-CN" altLang="en-US" sz="2600" dirty="0" smtClean="0">
                <a:latin typeface="微软雅黑" panose="020B0503020204020204" pitchFamily="34" charset="-122"/>
                <a:ea typeface="微软雅黑" panose="020B0503020204020204" pitchFamily="34" charset="-122"/>
              </a:rPr>
              <a:t>大量资本从发展中国家流向发达国家的股票市场和债券市场。第二、对于发展中国家而言，资本大量从增长较快的新兴市场国家流出，却流入增长较慢的其他发展中国家。 </a:t>
            </a:r>
          </a:p>
          <a:p>
            <a:pPr marL="0" indent="457200">
              <a:lnSpc>
                <a:spcPct val="100000"/>
              </a:lnSpc>
              <a:buNone/>
            </a:pPr>
            <a:endParaRPr lang="zh-CN" altLang="en-US" sz="2600" dirty="0">
              <a:latin typeface="微软雅黑" panose="020B0503020204020204" pitchFamily="34" charset="-122"/>
              <a:ea typeface="微软雅黑" panose="020B0503020204020204" pitchFamily="34" charset="-122"/>
            </a:endParaRPr>
          </a:p>
        </p:txBody>
      </p:sp>
      <p:sp>
        <p:nvSpPr>
          <p:cNvPr id="5" name="页脚占位符 4"/>
          <p:cNvSpPr>
            <a:spLocks noGrp="1"/>
          </p:cNvSpPr>
          <p:nvPr>
            <p:ph type="ftr" sz="quarter" idx="11"/>
          </p:nvPr>
        </p:nvSpPr>
        <p:spPr/>
        <p:txBody>
          <a:bodyPr/>
          <a:lstStyle/>
          <a:p>
            <a:r>
              <a:rPr lang="zh-CN" altLang="en-US" smtClean="0"/>
              <a:t>国际金融学 范小云</a:t>
            </a:r>
            <a:endParaRPr lang="zh-CN" altLang="en-US" dirty="0"/>
          </a:p>
        </p:txBody>
      </p:sp>
    </p:spTree>
    <p:extLst>
      <p:ext uri="{BB962C8B-B14F-4D97-AF65-F5344CB8AC3E}">
        <p14:creationId xmlns:p14="http://schemas.microsoft.com/office/powerpoint/2010/main" val="175503199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第一节	国际资本流动概述</a:t>
            </a:r>
            <a:endParaRPr lang="zh-CN" dirty="0"/>
          </a:p>
        </p:txBody>
      </p:sp>
      <p:sp>
        <p:nvSpPr>
          <p:cNvPr id="3" name="内容占位符 2"/>
          <p:cNvSpPr>
            <a:spLocks noGrp="1"/>
          </p:cNvSpPr>
          <p:nvPr>
            <p:ph idx="1"/>
          </p:nvPr>
        </p:nvSpPr>
        <p:spPr>
          <a:xfrm>
            <a:off x="971550" y="1447799"/>
            <a:ext cx="7200900" cy="4841879"/>
          </a:xfrm>
        </p:spPr>
        <p:txBody>
          <a:bodyPr>
            <a:normAutofit/>
          </a:bodyPr>
          <a:lstStyle/>
          <a:p>
            <a:pPr marL="0" indent="0">
              <a:lnSpc>
                <a:spcPct val="110000"/>
              </a:lnSpc>
              <a:buNone/>
            </a:pPr>
            <a:r>
              <a:rPr lang="zh-CN" altLang="en-US" sz="2800" dirty="0">
                <a:solidFill>
                  <a:schemeClr val="accent1"/>
                </a:solidFill>
                <a:latin typeface="微软雅黑" panose="020B0503020204020204" pitchFamily="34" charset="-122"/>
                <a:ea typeface="微软雅黑" panose="020B0503020204020204" pitchFamily="34" charset="-122"/>
              </a:rPr>
              <a:t>三、国际资本流动之谜</a:t>
            </a:r>
          </a:p>
          <a:p>
            <a:pPr marL="0" indent="457200">
              <a:lnSpc>
                <a:spcPct val="100000"/>
              </a:lnSpc>
              <a:buNone/>
            </a:pPr>
            <a:r>
              <a:rPr lang="en-US" altLang="zh-CN" sz="2600" dirty="0" smtClean="0">
                <a:latin typeface="微软雅黑" panose="020B0503020204020204" pitchFamily="34" charset="-122"/>
                <a:ea typeface="微软雅黑" panose="020B0503020204020204" pitchFamily="34" charset="-122"/>
              </a:rPr>
              <a:t>Prasad</a:t>
            </a:r>
            <a:r>
              <a:rPr lang="zh-CN" altLang="en-US" sz="2600" dirty="0">
                <a:latin typeface="微软雅黑" panose="020B0503020204020204" pitchFamily="34" charset="-122"/>
                <a:ea typeface="微软雅黑" panose="020B0503020204020204" pitchFamily="34" charset="-122"/>
              </a:rPr>
              <a:t>等（</a:t>
            </a:r>
            <a:r>
              <a:rPr lang="en-US" altLang="zh-CN" sz="2600" dirty="0">
                <a:latin typeface="微软雅黑" panose="020B0503020204020204" pitchFamily="34" charset="-122"/>
                <a:ea typeface="微软雅黑" panose="020B0503020204020204" pitchFamily="34" charset="-122"/>
              </a:rPr>
              <a:t>2006</a:t>
            </a:r>
            <a:r>
              <a:rPr lang="zh-CN" altLang="en-US" sz="2600" dirty="0">
                <a:latin typeface="微软雅黑" panose="020B0503020204020204" pitchFamily="34" charset="-122"/>
                <a:ea typeface="微软雅黑" panose="020B0503020204020204" pitchFamily="34" charset="-122"/>
              </a:rPr>
              <a:t>）区分了资本流动中的直接投资（</a:t>
            </a:r>
            <a:r>
              <a:rPr lang="en-US" altLang="zh-CN" sz="2600" dirty="0">
                <a:latin typeface="微软雅黑" panose="020B0503020204020204" pitchFamily="34" charset="-122"/>
                <a:ea typeface="微软雅黑" panose="020B0503020204020204" pitchFamily="34" charset="-122"/>
              </a:rPr>
              <a:t>FDI</a:t>
            </a:r>
            <a:r>
              <a:rPr lang="zh-CN" altLang="en-US" sz="2600" dirty="0">
                <a:latin typeface="微软雅黑" panose="020B0503020204020204" pitchFamily="34" charset="-122"/>
                <a:ea typeface="微软雅黑" panose="020B0503020204020204" pitchFamily="34" charset="-122"/>
              </a:rPr>
              <a:t>）和权益投资，发现一国净直接投资资本的流动方向和新古典增长模型预测的方向是一致的，而权益类投资的方向却是逆向流动的。</a:t>
            </a:r>
          </a:p>
          <a:p>
            <a:pPr marL="0" indent="457200">
              <a:lnSpc>
                <a:spcPct val="100000"/>
              </a:lnSpc>
              <a:buNone/>
            </a:pPr>
            <a:r>
              <a:rPr lang="en-US" altLang="zh-CN" sz="2600" dirty="0" err="1" smtClean="0">
                <a:latin typeface="微软雅黑" panose="020B0503020204020204" pitchFamily="34" charset="-122"/>
                <a:ea typeface="微软雅黑" panose="020B0503020204020204" pitchFamily="34" charset="-122"/>
              </a:rPr>
              <a:t>Ju</a:t>
            </a:r>
            <a:r>
              <a:rPr lang="zh-CN" altLang="en-US" sz="2600" dirty="0">
                <a:latin typeface="微软雅黑" panose="020B0503020204020204" pitchFamily="34" charset="-122"/>
                <a:ea typeface="微软雅黑" panose="020B0503020204020204" pitchFamily="34" charset="-122"/>
              </a:rPr>
              <a:t>和</a:t>
            </a:r>
            <a:r>
              <a:rPr lang="en-US" altLang="zh-CN" sz="2600" dirty="0">
                <a:latin typeface="微软雅黑" panose="020B0503020204020204" pitchFamily="34" charset="-122"/>
                <a:ea typeface="微软雅黑" panose="020B0503020204020204" pitchFamily="34" charset="-122"/>
              </a:rPr>
              <a:t>Wei</a:t>
            </a:r>
            <a:r>
              <a:rPr lang="zh-CN" altLang="en-US" sz="2600" dirty="0">
                <a:latin typeface="微软雅黑" panose="020B0503020204020204" pitchFamily="34" charset="-122"/>
                <a:ea typeface="微软雅黑" panose="020B0503020204020204" pitchFamily="34" charset="-122"/>
              </a:rPr>
              <a:t>（</a:t>
            </a:r>
            <a:r>
              <a:rPr lang="en-US" altLang="zh-CN" sz="2600" dirty="0">
                <a:latin typeface="微软雅黑" panose="020B0503020204020204" pitchFamily="34" charset="-122"/>
                <a:ea typeface="微软雅黑" panose="020B0503020204020204" pitchFamily="34" charset="-122"/>
              </a:rPr>
              <a:t>2007</a:t>
            </a:r>
            <a:r>
              <a:rPr lang="zh-CN" altLang="en-US" sz="2600" dirty="0">
                <a:latin typeface="微软雅黑" panose="020B0503020204020204" pitchFamily="34" charset="-122"/>
                <a:ea typeface="微软雅黑" panose="020B0503020204020204" pitchFamily="34" charset="-122"/>
              </a:rPr>
              <a:t>）进一步指出，发达国家实际上是一个</a:t>
            </a:r>
            <a:r>
              <a:rPr lang="en-US" altLang="zh-CN" sz="2600" dirty="0">
                <a:latin typeface="微软雅黑" panose="020B0503020204020204" pitchFamily="34" charset="-122"/>
                <a:ea typeface="微软雅黑" panose="020B0503020204020204" pitchFamily="34" charset="-122"/>
              </a:rPr>
              <a:t>FDI</a:t>
            </a:r>
            <a:r>
              <a:rPr lang="zh-CN" altLang="en-US" sz="2600" dirty="0">
                <a:latin typeface="微软雅黑" panose="020B0503020204020204" pitchFamily="34" charset="-122"/>
                <a:ea typeface="微软雅黑" panose="020B0503020204020204" pitchFamily="34" charset="-122"/>
              </a:rPr>
              <a:t>的出口国，金融资本的进口国，发展中国家则起着配合作用</a:t>
            </a:r>
            <a:r>
              <a:rPr lang="zh-CN" altLang="en-US" sz="2600" dirty="0" smtClean="0">
                <a:latin typeface="微软雅黑" panose="020B0503020204020204" pitchFamily="34" charset="-122"/>
                <a:ea typeface="微软雅黑" panose="020B0503020204020204" pitchFamily="34" charset="-122"/>
              </a:rPr>
              <a:t>。</a:t>
            </a:r>
            <a:endParaRPr lang="zh-CN" altLang="en-US" sz="2600" dirty="0">
              <a:latin typeface="微软雅黑" panose="020B0503020204020204" pitchFamily="34" charset="-122"/>
              <a:ea typeface="微软雅黑" panose="020B0503020204020204" pitchFamily="34" charset="-122"/>
            </a:endParaRPr>
          </a:p>
        </p:txBody>
      </p:sp>
      <p:sp>
        <p:nvSpPr>
          <p:cNvPr id="5" name="页脚占位符 4"/>
          <p:cNvSpPr>
            <a:spLocks noGrp="1"/>
          </p:cNvSpPr>
          <p:nvPr>
            <p:ph type="ftr" sz="quarter" idx="11"/>
          </p:nvPr>
        </p:nvSpPr>
        <p:spPr/>
        <p:txBody>
          <a:bodyPr/>
          <a:lstStyle/>
          <a:p>
            <a:r>
              <a:rPr lang="zh-CN" altLang="en-US" smtClean="0"/>
              <a:t>国际金融学 范小云</a:t>
            </a:r>
            <a:endParaRPr lang="zh-CN" altLang="en-US" dirty="0"/>
          </a:p>
        </p:txBody>
      </p:sp>
    </p:spTree>
    <p:extLst>
      <p:ext uri="{BB962C8B-B14F-4D97-AF65-F5344CB8AC3E}">
        <p14:creationId xmlns:p14="http://schemas.microsoft.com/office/powerpoint/2010/main" val="123846189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第一节	国际资本流动概述</a:t>
            </a:r>
            <a:endParaRPr lang="zh-CN" dirty="0"/>
          </a:p>
        </p:txBody>
      </p:sp>
      <p:sp>
        <p:nvSpPr>
          <p:cNvPr id="3" name="内容占位符 2"/>
          <p:cNvSpPr>
            <a:spLocks noGrp="1"/>
          </p:cNvSpPr>
          <p:nvPr>
            <p:ph idx="1"/>
          </p:nvPr>
        </p:nvSpPr>
        <p:spPr>
          <a:xfrm>
            <a:off x="971550" y="1447799"/>
            <a:ext cx="7200900" cy="4841879"/>
          </a:xfrm>
        </p:spPr>
        <p:txBody>
          <a:bodyPr>
            <a:normAutofit/>
          </a:bodyPr>
          <a:lstStyle/>
          <a:p>
            <a:pPr marL="0" indent="0">
              <a:lnSpc>
                <a:spcPct val="110000"/>
              </a:lnSpc>
              <a:buNone/>
            </a:pPr>
            <a:r>
              <a:rPr lang="zh-CN" altLang="en-US" sz="2800" dirty="0">
                <a:solidFill>
                  <a:schemeClr val="accent1"/>
                </a:solidFill>
                <a:latin typeface="微软雅黑" panose="020B0503020204020204" pitchFamily="34" charset="-122"/>
                <a:ea typeface="微软雅黑" panose="020B0503020204020204" pitchFamily="34" charset="-122"/>
              </a:rPr>
              <a:t>三、国际资本流动之谜</a:t>
            </a:r>
          </a:p>
          <a:p>
            <a:pPr marL="0" indent="457200">
              <a:lnSpc>
                <a:spcPct val="100000"/>
              </a:lnSpc>
              <a:buNone/>
            </a:pPr>
            <a:r>
              <a:rPr lang="en-US" altLang="zh-CN" sz="2600" dirty="0">
                <a:latin typeface="微软雅黑" panose="020B0503020204020204" pitchFamily="34" charset="-122"/>
                <a:ea typeface="微软雅黑" panose="020B0503020204020204" pitchFamily="34" charset="-122"/>
              </a:rPr>
              <a:t>Caballero</a:t>
            </a:r>
            <a:r>
              <a:rPr lang="zh-CN" altLang="en-US" sz="2600" dirty="0">
                <a:latin typeface="微软雅黑" panose="020B0503020204020204" pitchFamily="34" charset="-122"/>
                <a:ea typeface="微软雅黑" panose="020B0503020204020204" pitchFamily="34" charset="-122"/>
              </a:rPr>
              <a:t>等（</a:t>
            </a:r>
            <a:r>
              <a:rPr lang="en-US" altLang="zh-CN" sz="2600" dirty="0">
                <a:latin typeface="微软雅黑" panose="020B0503020204020204" pitchFamily="34" charset="-122"/>
                <a:ea typeface="微软雅黑" panose="020B0503020204020204" pitchFamily="34" charset="-122"/>
              </a:rPr>
              <a:t>2008</a:t>
            </a:r>
            <a:r>
              <a:rPr lang="zh-CN" altLang="en-US" sz="2600" dirty="0">
                <a:latin typeface="微软雅黑" panose="020B0503020204020204" pitchFamily="34" charset="-122"/>
                <a:ea typeface="微软雅黑" panose="020B0503020204020204" pitchFamily="34" charset="-122"/>
              </a:rPr>
              <a:t>）指出发达国家一般具备良好的金融制度环境，能够提供新兴市场国家所不具备的优质金融资产，从而吸引外部资本流入，其中金融市场最强大的美国吸引了新兴市场大量的官方储备流入。 </a:t>
            </a:r>
          </a:p>
          <a:p>
            <a:pPr marL="0" indent="457200">
              <a:lnSpc>
                <a:spcPct val="100000"/>
              </a:lnSpc>
              <a:buNone/>
            </a:pPr>
            <a:r>
              <a:rPr lang="en-US" altLang="zh-CN" sz="2600" dirty="0" smtClean="0">
                <a:latin typeface="微软雅黑" panose="020B0503020204020204" pitchFamily="34" charset="-122"/>
                <a:ea typeface="微软雅黑" panose="020B0503020204020204" pitchFamily="34" charset="-122"/>
              </a:rPr>
              <a:t>Mendoza</a:t>
            </a:r>
            <a:r>
              <a:rPr lang="zh-CN" altLang="en-US" sz="2600" dirty="0">
                <a:latin typeface="微软雅黑" panose="020B0503020204020204" pitchFamily="34" charset="-122"/>
                <a:ea typeface="微软雅黑" panose="020B0503020204020204" pitchFamily="34" charset="-122"/>
              </a:rPr>
              <a:t>等（</a:t>
            </a:r>
            <a:r>
              <a:rPr lang="en-US" altLang="zh-CN" sz="2600" dirty="0">
                <a:latin typeface="微软雅黑" panose="020B0503020204020204" pitchFamily="34" charset="-122"/>
                <a:ea typeface="微软雅黑" panose="020B0503020204020204" pitchFamily="34" charset="-122"/>
              </a:rPr>
              <a:t>2009</a:t>
            </a:r>
            <a:r>
              <a:rPr lang="zh-CN" altLang="en-US" sz="2600" dirty="0">
                <a:latin typeface="微软雅黑" panose="020B0503020204020204" pitchFamily="34" charset="-122"/>
                <a:ea typeface="微软雅黑" panose="020B0503020204020204" pitchFamily="34" charset="-122"/>
              </a:rPr>
              <a:t>）从金融全球化的迅速蔓延和各国金融发展水平差异性相对稳定的现象出发，解释了发达国家出口</a:t>
            </a:r>
            <a:r>
              <a:rPr lang="en-US" altLang="zh-CN" sz="2600" dirty="0">
                <a:latin typeface="微软雅黑" panose="020B0503020204020204" pitchFamily="34" charset="-122"/>
                <a:ea typeface="微软雅黑" panose="020B0503020204020204" pitchFamily="34" charset="-122"/>
              </a:rPr>
              <a:t>FDI</a:t>
            </a:r>
            <a:r>
              <a:rPr lang="zh-CN" altLang="en-US" sz="2600" dirty="0">
                <a:latin typeface="微软雅黑" panose="020B0503020204020204" pitchFamily="34" charset="-122"/>
                <a:ea typeface="微软雅黑" panose="020B0503020204020204" pitchFamily="34" charset="-122"/>
              </a:rPr>
              <a:t>，进口金融资本的现象。  </a:t>
            </a:r>
          </a:p>
        </p:txBody>
      </p:sp>
      <p:sp>
        <p:nvSpPr>
          <p:cNvPr id="5" name="页脚占位符 4"/>
          <p:cNvSpPr>
            <a:spLocks noGrp="1"/>
          </p:cNvSpPr>
          <p:nvPr>
            <p:ph type="ftr" sz="quarter" idx="11"/>
          </p:nvPr>
        </p:nvSpPr>
        <p:spPr/>
        <p:txBody>
          <a:bodyPr/>
          <a:lstStyle/>
          <a:p>
            <a:r>
              <a:rPr lang="zh-CN" altLang="en-US" smtClean="0"/>
              <a:t>国际金融学 范小云</a:t>
            </a:r>
            <a:endParaRPr lang="zh-CN" altLang="en-US" dirty="0"/>
          </a:p>
        </p:txBody>
      </p:sp>
    </p:spTree>
    <p:extLst>
      <p:ext uri="{BB962C8B-B14F-4D97-AF65-F5344CB8AC3E}">
        <p14:creationId xmlns:p14="http://schemas.microsoft.com/office/powerpoint/2010/main" val="9831968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第一节	国际资本流动概述</a:t>
            </a:r>
            <a:endParaRPr lang="zh-CN" dirty="0"/>
          </a:p>
        </p:txBody>
      </p:sp>
      <p:sp>
        <p:nvSpPr>
          <p:cNvPr id="3" name="内容占位符 2"/>
          <p:cNvSpPr>
            <a:spLocks noGrp="1"/>
          </p:cNvSpPr>
          <p:nvPr>
            <p:ph idx="1"/>
          </p:nvPr>
        </p:nvSpPr>
        <p:spPr>
          <a:xfrm>
            <a:off x="971550" y="1447799"/>
            <a:ext cx="7200900" cy="4841879"/>
          </a:xfrm>
        </p:spPr>
        <p:txBody>
          <a:bodyPr>
            <a:normAutofit/>
          </a:bodyPr>
          <a:lstStyle/>
          <a:p>
            <a:pPr marL="0" indent="0">
              <a:lnSpc>
                <a:spcPct val="110000"/>
              </a:lnSpc>
              <a:buNone/>
            </a:pPr>
            <a:r>
              <a:rPr lang="zh-CN" altLang="en-US" sz="2800" dirty="0">
                <a:solidFill>
                  <a:schemeClr val="accent1"/>
                </a:solidFill>
                <a:latin typeface="微软雅黑" panose="020B0503020204020204" pitchFamily="34" charset="-122"/>
                <a:ea typeface="微软雅黑" panose="020B0503020204020204" pitchFamily="34" charset="-122"/>
              </a:rPr>
              <a:t>四、关于国际资本流动的新争论</a:t>
            </a:r>
          </a:p>
          <a:p>
            <a:pPr marL="0" indent="457200">
              <a:lnSpc>
                <a:spcPct val="100000"/>
              </a:lnSpc>
              <a:buNone/>
            </a:pPr>
            <a:r>
              <a:rPr lang="zh-CN" altLang="en-US" sz="2600" dirty="0">
                <a:solidFill>
                  <a:schemeClr val="accent1"/>
                </a:solidFill>
                <a:latin typeface="微软雅黑" panose="020B0503020204020204" pitchFamily="34" charset="-122"/>
                <a:ea typeface="微软雅黑" panose="020B0503020204020204" pitchFamily="34" charset="-122"/>
              </a:rPr>
              <a:t>第一</a:t>
            </a:r>
            <a:r>
              <a:rPr lang="zh-CN" altLang="en-US" sz="2600" dirty="0">
                <a:latin typeface="微软雅黑" panose="020B0503020204020204" pitchFamily="34" charset="-122"/>
                <a:ea typeface="微软雅黑" panose="020B0503020204020204" pitchFamily="34" charset="-122"/>
              </a:rPr>
              <a:t>，在各类资本流动中，哪一类型的资本流动最值得关注呢？是股权资本还是债权资本？从经验上来看，巨大的资本流动变化均与债权资本流动相关。但与股权资本相比，前者的数据更难获得；</a:t>
            </a:r>
          </a:p>
        </p:txBody>
      </p:sp>
      <p:sp>
        <p:nvSpPr>
          <p:cNvPr id="5" name="页脚占位符 4"/>
          <p:cNvSpPr>
            <a:spLocks noGrp="1"/>
          </p:cNvSpPr>
          <p:nvPr>
            <p:ph type="ftr" sz="quarter" idx="11"/>
          </p:nvPr>
        </p:nvSpPr>
        <p:spPr/>
        <p:txBody>
          <a:bodyPr/>
          <a:lstStyle/>
          <a:p>
            <a:r>
              <a:rPr lang="zh-CN" altLang="en-US" smtClean="0"/>
              <a:t>国际金融学 范小云</a:t>
            </a:r>
            <a:endParaRPr lang="zh-CN" altLang="en-US" dirty="0"/>
          </a:p>
        </p:txBody>
      </p:sp>
    </p:spTree>
    <p:extLst>
      <p:ext uri="{BB962C8B-B14F-4D97-AF65-F5344CB8AC3E}">
        <p14:creationId xmlns:p14="http://schemas.microsoft.com/office/powerpoint/2010/main" val="413176257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第一节	国际资本流动概述</a:t>
            </a:r>
            <a:endParaRPr lang="zh-CN" dirty="0"/>
          </a:p>
        </p:txBody>
      </p:sp>
      <p:sp>
        <p:nvSpPr>
          <p:cNvPr id="3" name="内容占位符 2"/>
          <p:cNvSpPr>
            <a:spLocks noGrp="1"/>
          </p:cNvSpPr>
          <p:nvPr>
            <p:ph idx="1"/>
          </p:nvPr>
        </p:nvSpPr>
        <p:spPr>
          <a:xfrm>
            <a:off x="971550" y="1447799"/>
            <a:ext cx="7200900" cy="4841879"/>
          </a:xfrm>
        </p:spPr>
        <p:txBody>
          <a:bodyPr>
            <a:normAutofit/>
          </a:bodyPr>
          <a:lstStyle/>
          <a:p>
            <a:pPr marL="0" indent="0">
              <a:lnSpc>
                <a:spcPct val="110000"/>
              </a:lnSpc>
              <a:buNone/>
            </a:pPr>
            <a:r>
              <a:rPr lang="zh-CN" altLang="en-US" sz="2800" dirty="0">
                <a:solidFill>
                  <a:schemeClr val="accent1"/>
                </a:solidFill>
                <a:latin typeface="微软雅黑" panose="020B0503020204020204" pitchFamily="34" charset="-122"/>
                <a:ea typeface="微软雅黑" panose="020B0503020204020204" pitchFamily="34" charset="-122"/>
              </a:rPr>
              <a:t>四、关于国际资本流动的新争论</a:t>
            </a:r>
          </a:p>
          <a:p>
            <a:pPr marL="0" indent="457200">
              <a:lnSpc>
                <a:spcPct val="100000"/>
              </a:lnSpc>
              <a:buNone/>
            </a:pPr>
            <a:r>
              <a:rPr lang="zh-CN" altLang="en-US" sz="2600" dirty="0">
                <a:solidFill>
                  <a:schemeClr val="accent1"/>
                </a:solidFill>
                <a:latin typeface="微软雅黑" panose="020B0503020204020204" pitchFamily="34" charset="-122"/>
                <a:ea typeface="微软雅黑" panose="020B0503020204020204" pitchFamily="34" charset="-122"/>
              </a:rPr>
              <a:t>第二</a:t>
            </a:r>
            <a:r>
              <a:rPr lang="zh-CN" altLang="en-US" sz="2600" dirty="0">
                <a:latin typeface="微软雅黑" panose="020B0503020204020204" pitchFamily="34" charset="-122"/>
                <a:ea typeface="微软雅黑" panose="020B0503020204020204" pitchFamily="34" charset="-122"/>
              </a:rPr>
              <a:t>，我们是应该关注总资本流动还是净资本流动呢？如果你关注汇率，那么应该看净流动；如果你关注金融稳定，那么应该看总流动。例如，资本流动的</a:t>
            </a:r>
            <a:r>
              <a:rPr lang="en-US" altLang="zh-CN" sz="2600" dirty="0">
                <a:latin typeface="微软雅黑" panose="020B0503020204020204" pitchFamily="34" charset="-122"/>
                <a:ea typeface="微软雅黑" panose="020B0503020204020204" pitchFamily="34" charset="-122"/>
              </a:rPr>
              <a:t>sudden stop</a:t>
            </a:r>
            <a:r>
              <a:rPr lang="zh-CN" altLang="en-US" sz="2600" dirty="0">
                <a:latin typeface="微软雅黑" panose="020B0503020204020204" pitchFamily="34" charset="-122"/>
                <a:ea typeface="微软雅黑" panose="020B0503020204020204" pitchFamily="34" charset="-122"/>
              </a:rPr>
              <a:t>通常是指总流动。此外，如果你想弄清楚特定资本流动背后的主体是谁，那么就必须看总流动。在过去</a:t>
            </a:r>
            <a:r>
              <a:rPr lang="en-US" altLang="zh-CN" sz="2600" dirty="0">
                <a:latin typeface="微软雅黑" panose="020B0503020204020204" pitchFamily="34" charset="-122"/>
                <a:ea typeface="微软雅黑" panose="020B0503020204020204" pitchFamily="34" charset="-122"/>
              </a:rPr>
              <a:t>47</a:t>
            </a:r>
            <a:r>
              <a:rPr lang="zh-CN" altLang="en-US" sz="2600" dirty="0">
                <a:latin typeface="微软雅黑" panose="020B0503020204020204" pitchFamily="34" charset="-122"/>
                <a:ea typeface="微软雅黑" panose="020B0503020204020204" pitchFamily="34" charset="-122"/>
              </a:rPr>
              <a:t>次资本流入的突然停止中，有</a:t>
            </a:r>
            <a:r>
              <a:rPr lang="en-US" altLang="zh-CN" sz="2600" dirty="0">
                <a:latin typeface="微软雅黑" panose="020B0503020204020204" pitchFamily="34" charset="-122"/>
                <a:ea typeface="微软雅黑" panose="020B0503020204020204" pitchFamily="34" charset="-122"/>
              </a:rPr>
              <a:t>20</a:t>
            </a:r>
            <a:r>
              <a:rPr lang="zh-CN" altLang="en-US" sz="2600" dirty="0">
                <a:latin typeface="微软雅黑" panose="020B0503020204020204" pitchFamily="34" charset="-122"/>
                <a:ea typeface="微软雅黑" panose="020B0503020204020204" pitchFamily="34" charset="-122"/>
              </a:rPr>
              <a:t>次其实是本国居民的资本外逃；</a:t>
            </a:r>
          </a:p>
        </p:txBody>
      </p:sp>
      <p:sp>
        <p:nvSpPr>
          <p:cNvPr id="5" name="页脚占位符 4"/>
          <p:cNvSpPr>
            <a:spLocks noGrp="1"/>
          </p:cNvSpPr>
          <p:nvPr>
            <p:ph type="ftr" sz="quarter" idx="11"/>
          </p:nvPr>
        </p:nvSpPr>
        <p:spPr/>
        <p:txBody>
          <a:bodyPr/>
          <a:lstStyle/>
          <a:p>
            <a:r>
              <a:rPr lang="zh-CN" altLang="en-US" smtClean="0"/>
              <a:t>国际金融学 范小云</a:t>
            </a:r>
            <a:endParaRPr lang="zh-CN" altLang="en-US" dirty="0"/>
          </a:p>
        </p:txBody>
      </p:sp>
    </p:spTree>
    <p:extLst>
      <p:ext uri="{BB962C8B-B14F-4D97-AF65-F5344CB8AC3E}">
        <p14:creationId xmlns:p14="http://schemas.microsoft.com/office/powerpoint/2010/main" val="139147314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第一节	国际资本流动概述</a:t>
            </a:r>
            <a:endParaRPr lang="zh-CN" dirty="0"/>
          </a:p>
        </p:txBody>
      </p:sp>
      <p:sp>
        <p:nvSpPr>
          <p:cNvPr id="3" name="内容占位符 2"/>
          <p:cNvSpPr>
            <a:spLocks noGrp="1"/>
          </p:cNvSpPr>
          <p:nvPr>
            <p:ph idx="1"/>
          </p:nvPr>
        </p:nvSpPr>
        <p:spPr>
          <a:xfrm>
            <a:off x="971550" y="1447799"/>
            <a:ext cx="7200900" cy="4841879"/>
          </a:xfrm>
        </p:spPr>
        <p:txBody>
          <a:bodyPr>
            <a:normAutofit/>
          </a:bodyPr>
          <a:lstStyle/>
          <a:p>
            <a:pPr marL="0" indent="0">
              <a:lnSpc>
                <a:spcPct val="110000"/>
              </a:lnSpc>
              <a:buNone/>
            </a:pPr>
            <a:r>
              <a:rPr lang="zh-CN" altLang="en-US" sz="2800" dirty="0">
                <a:solidFill>
                  <a:schemeClr val="accent1"/>
                </a:solidFill>
                <a:latin typeface="微软雅黑" panose="020B0503020204020204" pitchFamily="34" charset="-122"/>
                <a:ea typeface="微软雅黑" panose="020B0503020204020204" pitchFamily="34" charset="-122"/>
              </a:rPr>
              <a:t>四、关于国际资本流动的新争论</a:t>
            </a:r>
          </a:p>
          <a:p>
            <a:pPr marL="0" indent="457200">
              <a:lnSpc>
                <a:spcPct val="100000"/>
              </a:lnSpc>
              <a:buNone/>
            </a:pPr>
            <a:r>
              <a:rPr lang="zh-CN" altLang="en-US" sz="2600" dirty="0">
                <a:solidFill>
                  <a:schemeClr val="accent1"/>
                </a:solidFill>
                <a:latin typeface="微软雅黑" panose="020B0503020204020204" pitchFamily="34" charset="-122"/>
                <a:ea typeface="微软雅黑" panose="020B0503020204020204" pitchFamily="34" charset="-122"/>
              </a:rPr>
              <a:t>第三</a:t>
            </a:r>
            <a:r>
              <a:rPr lang="zh-CN" altLang="en-US" sz="2600" dirty="0">
                <a:latin typeface="微软雅黑" panose="020B0503020204020204" pitchFamily="34" charset="-122"/>
                <a:ea typeface="微软雅黑" panose="020B0503020204020204" pitchFamily="34" charset="-122"/>
              </a:rPr>
              <a:t>，组合投资者究竟是逐利型还是平衡型投资者？在高频数据中，投资者通常表现为逐利性投资者，而在日常用到的宏观数据（月度或季度）中，投资者通常表现为平衡型投资者。例如，美国投资者总是喜欢从获得更高收益的国家中撤出；</a:t>
            </a:r>
          </a:p>
        </p:txBody>
      </p:sp>
      <p:sp>
        <p:nvSpPr>
          <p:cNvPr id="5" name="页脚占位符 4"/>
          <p:cNvSpPr>
            <a:spLocks noGrp="1"/>
          </p:cNvSpPr>
          <p:nvPr>
            <p:ph type="ftr" sz="quarter" idx="11"/>
          </p:nvPr>
        </p:nvSpPr>
        <p:spPr/>
        <p:txBody>
          <a:bodyPr/>
          <a:lstStyle/>
          <a:p>
            <a:r>
              <a:rPr lang="zh-CN" altLang="en-US" smtClean="0"/>
              <a:t>国际金融学 范小云</a:t>
            </a:r>
            <a:endParaRPr lang="zh-CN" altLang="en-US" dirty="0"/>
          </a:p>
        </p:txBody>
      </p:sp>
    </p:spTree>
    <p:extLst>
      <p:ext uri="{BB962C8B-B14F-4D97-AF65-F5344CB8AC3E}">
        <p14:creationId xmlns:p14="http://schemas.microsoft.com/office/powerpoint/2010/main" val="251533169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第二节	国际金融危机的一般理论</a:t>
            </a:r>
            <a:endParaRPr lang="zh-CN" dirty="0"/>
          </a:p>
        </p:txBody>
      </p:sp>
      <p:sp>
        <p:nvSpPr>
          <p:cNvPr id="3" name="内容占位符 2"/>
          <p:cNvSpPr>
            <a:spLocks noGrp="1"/>
          </p:cNvSpPr>
          <p:nvPr>
            <p:ph idx="1"/>
          </p:nvPr>
        </p:nvSpPr>
        <p:spPr>
          <a:xfrm>
            <a:off x="971550" y="1447799"/>
            <a:ext cx="7200900" cy="4841879"/>
          </a:xfrm>
        </p:spPr>
        <p:txBody>
          <a:bodyPr>
            <a:normAutofit/>
          </a:bodyPr>
          <a:lstStyle/>
          <a:p>
            <a:pPr marL="0" indent="0">
              <a:lnSpc>
                <a:spcPct val="110000"/>
              </a:lnSpc>
              <a:buNone/>
            </a:pPr>
            <a:r>
              <a:rPr lang="zh-CN" altLang="en-US" sz="2800" dirty="0">
                <a:solidFill>
                  <a:schemeClr val="accent1"/>
                </a:solidFill>
                <a:latin typeface="微软雅黑" panose="020B0503020204020204" pitchFamily="34" charset="-122"/>
                <a:ea typeface="微软雅黑" panose="020B0503020204020204" pitchFamily="34" charset="-122"/>
              </a:rPr>
              <a:t>国际金融体系越来越频繁地发生着危机：</a:t>
            </a:r>
          </a:p>
          <a:p>
            <a:pPr lvl="1">
              <a:lnSpc>
                <a:spcPct val="100000"/>
              </a:lnSpc>
              <a:buFont typeface="Wingdings" panose="05000000000000000000" pitchFamily="2" charset="2"/>
              <a:buChar char="Ø"/>
            </a:pPr>
            <a:r>
              <a:rPr lang="zh-CN" altLang="en-US" sz="2400" dirty="0" smtClean="0">
                <a:latin typeface="微软雅黑" panose="020B0503020204020204" pitchFamily="34" charset="-122"/>
                <a:ea typeface="微软雅黑" panose="020B0503020204020204" pitchFamily="34" charset="-122"/>
              </a:rPr>
              <a:t>金本位制</a:t>
            </a:r>
            <a:r>
              <a:rPr lang="zh-CN" altLang="en-US" sz="2400" dirty="0">
                <a:latin typeface="微软雅黑" panose="020B0503020204020204" pitchFamily="34" charset="-122"/>
                <a:ea typeface="微软雅黑" panose="020B0503020204020204" pitchFamily="34" charset="-122"/>
              </a:rPr>
              <a:t>崩溃（</a:t>
            </a:r>
            <a:r>
              <a:rPr lang="en-US" altLang="zh-CN" sz="2400" dirty="0">
                <a:latin typeface="微软雅黑" panose="020B0503020204020204" pitchFamily="34" charset="-122"/>
                <a:ea typeface="微软雅黑" panose="020B0503020204020204" pitchFamily="34" charset="-122"/>
              </a:rPr>
              <a:t>1920s</a:t>
            </a:r>
            <a:r>
              <a:rPr lang="zh-CN" altLang="en-US" sz="2400" dirty="0">
                <a:latin typeface="微软雅黑" panose="020B0503020204020204" pitchFamily="34" charset="-122"/>
                <a:ea typeface="微软雅黑" panose="020B0503020204020204" pitchFamily="34" charset="-122"/>
              </a:rPr>
              <a:t>）</a:t>
            </a:r>
          </a:p>
          <a:p>
            <a:pPr lvl="1">
              <a:lnSpc>
                <a:spcPct val="100000"/>
              </a:lnSpc>
              <a:buFont typeface="Wingdings" panose="05000000000000000000" pitchFamily="2" charset="2"/>
              <a:buChar char="Ø"/>
            </a:pPr>
            <a:r>
              <a:rPr lang="zh-CN" altLang="en-US" sz="2400" dirty="0" smtClean="0">
                <a:latin typeface="微软雅黑" panose="020B0503020204020204" pitchFamily="34" charset="-122"/>
                <a:ea typeface="微软雅黑" panose="020B0503020204020204" pitchFamily="34" charset="-122"/>
              </a:rPr>
              <a:t>华尔街</a:t>
            </a:r>
            <a:r>
              <a:rPr lang="zh-CN" altLang="en-US" sz="2400" dirty="0">
                <a:latin typeface="微软雅黑" panose="020B0503020204020204" pitchFamily="34" charset="-122"/>
                <a:ea typeface="微软雅黑" panose="020B0503020204020204" pitchFamily="34" charset="-122"/>
              </a:rPr>
              <a:t>危机和经济大萧条（</a:t>
            </a:r>
            <a:r>
              <a:rPr lang="en-US" altLang="zh-CN" sz="2400" dirty="0">
                <a:latin typeface="微软雅黑" panose="020B0503020204020204" pitchFamily="34" charset="-122"/>
                <a:ea typeface="微软雅黑" panose="020B0503020204020204" pitchFamily="34" charset="-122"/>
              </a:rPr>
              <a:t>1929-39</a:t>
            </a:r>
            <a:r>
              <a:rPr lang="zh-CN" altLang="en-US" sz="2400" dirty="0">
                <a:latin typeface="微软雅黑" panose="020B0503020204020204" pitchFamily="34" charset="-122"/>
                <a:ea typeface="微软雅黑" panose="020B0503020204020204" pitchFamily="34" charset="-122"/>
              </a:rPr>
              <a:t>）</a:t>
            </a:r>
          </a:p>
          <a:p>
            <a:pPr lvl="1">
              <a:lnSpc>
                <a:spcPct val="100000"/>
              </a:lnSpc>
              <a:buFont typeface="Wingdings" panose="05000000000000000000" pitchFamily="2" charset="2"/>
              <a:buChar char="Ø"/>
            </a:pPr>
            <a:r>
              <a:rPr lang="zh-CN" altLang="en-US" sz="2400" dirty="0" smtClean="0">
                <a:latin typeface="微软雅黑" panose="020B0503020204020204" pitchFamily="34" charset="-122"/>
                <a:ea typeface="微软雅黑" panose="020B0503020204020204" pitchFamily="34" charset="-122"/>
              </a:rPr>
              <a:t>美元</a:t>
            </a:r>
            <a:r>
              <a:rPr lang="zh-CN" altLang="en-US" sz="2400" dirty="0">
                <a:latin typeface="微软雅黑" panose="020B0503020204020204" pitchFamily="34" charset="-122"/>
                <a:ea typeface="微软雅黑" panose="020B0503020204020204" pitchFamily="34" charset="-122"/>
              </a:rPr>
              <a:t>违约（</a:t>
            </a:r>
            <a:r>
              <a:rPr lang="en-US" altLang="zh-CN" sz="2400" dirty="0">
                <a:latin typeface="微软雅黑" panose="020B0503020204020204" pitchFamily="34" charset="-122"/>
                <a:ea typeface="微软雅黑" panose="020B0503020204020204" pitchFamily="34" charset="-122"/>
              </a:rPr>
              <a:t>1971</a:t>
            </a:r>
            <a:r>
              <a:rPr lang="zh-CN" altLang="en-US" sz="2400" dirty="0">
                <a:latin typeface="微软雅黑" panose="020B0503020204020204" pitchFamily="34" charset="-122"/>
                <a:ea typeface="微软雅黑" panose="020B0503020204020204" pitchFamily="34" charset="-122"/>
              </a:rPr>
              <a:t>）和全球通胀（</a:t>
            </a:r>
            <a:r>
              <a:rPr lang="en-US" altLang="zh-CN" sz="2400" dirty="0">
                <a:latin typeface="微软雅黑" panose="020B0503020204020204" pitchFamily="34" charset="-122"/>
                <a:ea typeface="微软雅黑" panose="020B0503020204020204" pitchFamily="34" charset="-122"/>
              </a:rPr>
              <a:t>1970s</a:t>
            </a:r>
            <a:r>
              <a:rPr lang="zh-CN" altLang="en-US" sz="2400" dirty="0">
                <a:latin typeface="微软雅黑" panose="020B0503020204020204" pitchFamily="34" charset="-122"/>
                <a:ea typeface="微软雅黑" panose="020B0503020204020204" pitchFamily="34" charset="-122"/>
              </a:rPr>
              <a:t>）</a:t>
            </a:r>
          </a:p>
          <a:p>
            <a:pPr lvl="1">
              <a:lnSpc>
                <a:spcPct val="100000"/>
              </a:lnSpc>
              <a:buFont typeface="Wingdings" panose="05000000000000000000" pitchFamily="2" charset="2"/>
              <a:buChar char="Ø"/>
            </a:pPr>
            <a:r>
              <a:rPr lang="zh-CN" altLang="en-US" sz="2400" dirty="0" smtClean="0">
                <a:latin typeface="微软雅黑" panose="020B0503020204020204" pitchFamily="34" charset="-122"/>
                <a:ea typeface="微软雅黑" panose="020B0503020204020204" pitchFamily="34" charset="-122"/>
              </a:rPr>
              <a:t>拉美</a:t>
            </a:r>
            <a:r>
              <a:rPr lang="zh-CN" altLang="en-US" sz="2400" dirty="0">
                <a:latin typeface="微软雅黑" panose="020B0503020204020204" pitchFamily="34" charset="-122"/>
                <a:ea typeface="微软雅黑" panose="020B0503020204020204" pitchFamily="34" charset="-122"/>
              </a:rPr>
              <a:t>债务危机（</a:t>
            </a:r>
            <a:r>
              <a:rPr lang="en-US" altLang="zh-CN" sz="2400" dirty="0">
                <a:latin typeface="微软雅黑" panose="020B0503020204020204" pitchFamily="34" charset="-122"/>
                <a:ea typeface="微软雅黑" panose="020B0503020204020204" pitchFamily="34" charset="-122"/>
              </a:rPr>
              <a:t>1980s</a:t>
            </a:r>
            <a:r>
              <a:rPr lang="zh-CN" altLang="en-US" sz="2400" dirty="0">
                <a:latin typeface="微软雅黑" panose="020B0503020204020204" pitchFamily="34" charset="-122"/>
                <a:ea typeface="微软雅黑" panose="020B0503020204020204" pitchFamily="34" charset="-122"/>
              </a:rPr>
              <a:t>）</a:t>
            </a:r>
          </a:p>
          <a:p>
            <a:pPr lvl="1">
              <a:lnSpc>
                <a:spcPct val="100000"/>
              </a:lnSpc>
              <a:buFont typeface="Wingdings" panose="05000000000000000000" pitchFamily="2" charset="2"/>
              <a:buChar char="Ø"/>
            </a:pPr>
            <a:r>
              <a:rPr lang="zh-CN" altLang="en-US" sz="2400" dirty="0" smtClean="0">
                <a:latin typeface="微软雅黑" panose="020B0503020204020204" pitchFamily="34" charset="-122"/>
                <a:ea typeface="微软雅黑" panose="020B0503020204020204" pitchFamily="34" charset="-122"/>
              </a:rPr>
              <a:t>全球</a:t>
            </a:r>
            <a:r>
              <a:rPr lang="zh-CN" altLang="en-US" sz="2400" dirty="0">
                <a:latin typeface="微软雅黑" panose="020B0503020204020204" pitchFamily="34" charset="-122"/>
                <a:ea typeface="微软雅黑" panose="020B0503020204020204" pitchFamily="34" charset="-122"/>
              </a:rPr>
              <a:t>股市危机（</a:t>
            </a:r>
            <a:r>
              <a:rPr lang="en-US" altLang="zh-CN" sz="2400" dirty="0">
                <a:latin typeface="微软雅黑" panose="020B0503020204020204" pitchFamily="34" charset="-122"/>
                <a:ea typeface="微软雅黑" panose="020B0503020204020204" pitchFamily="34" charset="-122"/>
              </a:rPr>
              <a:t>1987</a:t>
            </a:r>
            <a:r>
              <a:rPr lang="zh-CN" altLang="en-US" sz="2400" dirty="0">
                <a:latin typeface="微软雅黑" panose="020B0503020204020204" pitchFamily="34" charset="-122"/>
                <a:ea typeface="微软雅黑" panose="020B0503020204020204" pitchFamily="34" charset="-122"/>
              </a:rPr>
              <a:t>）</a:t>
            </a:r>
          </a:p>
          <a:p>
            <a:pPr lvl="1">
              <a:lnSpc>
                <a:spcPct val="100000"/>
              </a:lnSpc>
              <a:buFont typeface="Wingdings" panose="05000000000000000000" pitchFamily="2" charset="2"/>
              <a:buChar char="Ø"/>
            </a:pPr>
            <a:r>
              <a:rPr lang="zh-CN" altLang="en-US" sz="2400" dirty="0" smtClean="0">
                <a:latin typeface="微软雅黑" panose="020B0503020204020204" pitchFamily="34" charset="-122"/>
                <a:ea typeface="微软雅黑" panose="020B0503020204020204" pitchFamily="34" charset="-122"/>
              </a:rPr>
              <a:t>日本</a:t>
            </a:r>
            <a:r>
              <a:rPr lang="zh-CN" altLang="en-US" sz="2400" dirty="0">
                <a:latin typeface="微软雅黑" panose="020B0503020204020204" pitchFamily="34" charset="-122"/>
                <a:ea typeface="微软雅黑" panose="020B0503020204020204" pitchFamily="34" charset="-122"/>
              </a:rPr>
              <a:t>金融危机（</a:t>
            </a:r>
            <a:r>
              <a:rPr lang="en-US" altLang="zh-CN" sz="2400" dirty="0">
                <a:latin typeface="微软雅黑" panose="020B0503020204020204" pitchFamily="34" charset="-122"/>
                <a:ea typeface="微软雅黑" panose="020B0503020204020204" pitchFamily="34" charset="-122"/>
              </a:rPr>
              <a:t>1991</a:t>
            </a:r>
            <a:r>
              <a:rPr lang="zh-CN" altLang="en-US" sz="2400" dirty="0">
                <a:latin typeface="微软雅黑" panose="020B0503020204020204" pitchFamily="34" charset="-122"/>
                <a:ea typeface="微软雅黑" panose="020B0503020204020204" pitchFamily="34" charset="-122"/>
              </a:rPr>
              <a:t>－</a:t>
            </a:r>
            <a:r>
              <a:rPr lang="en-US" altLang="zh-CN" sz="2400" dirty="0">
                <a:latin typeface="微软雅黑" panose="020B0503020204020204" pitchFamily="34" charset="-122"/>
                <a:ea typeface="微软雅黑" panose="020B0503020204020204" pitchFamily="34" charset="-122"/>
              </a:rPr>
              <a:t>2003</a:t>
            </a:r>
            <a:r>
              <a:rPr lang="zh-CN" altLang="en-US" sz="2400" dirty="0">
                <a:latin typeface="微软雅黑" panose="020B0503020204020204" pitchFamily="34" charset="-122"/>
                <a:ea typeface="微软雅黑" panose="020B0503020204020204" pitchFamily="34" charset="-122"/>
              </a:rPr>
              <a:t>）</a:t>
            </a:r>
          </a:p>
          <a:p>
            <a:pPr lvl="1">
              <a:lnSpc>
                <a:spcPct val="100000"/>
              </a:lnSpc>
              <a:buFont typeface="Wingdings" panose="05000000000000000000" pitchFamily="2" charset="2"/>
              <a:buChar char="Ø"/>
            </a:pPr>
            <a:r>
              <a:rPr lang="zh-CN" altLang="en-US" sz="2400" dirty="0" smtClean="0">
                <a:latin typeface="微软雅黑" panose="020B0503020204020204" pitchFamily="34" charset="-122"/>
                <a:ea typeface="微软雅黑" panose="020B0503020204020204" pitchFamily="34" charset="-122"/>
              </a:rPr>
              <a:t>欧洲</a:t>
            </a:r>
            <a:r>
              <a:rPr lang="zh-CN" altLang="en-US" sz="2400" dirty="0">
                <a:latin typeface="微软雅黑" panose="020B0503020204020204" pitchFamily="34" charset="-122"/>
                <a:ea typeface="微软雅黑" panose="020B0503020204020204" pitchFamily="34" charset="-122"/>
              </a:rPr>
              <a:t>汇率机制危机（</a:t>
            </a:r>
            <a:r>
              <a:rPr lang="en-US" altLang="zh-CN" sz="2400" dirty="0">
                <a:latin typeface="微软雅黑" panose="020B0503020204020204" pitchFamily="34" charset="-122"/>
                <a:ea typeface="微软雅黑" panose="020B0503020204020204" pitchFamily="34" charset="-122"/>
              </a:rPr>
              <a:t>1992</a:t>
            </a:r>
            <a:r>
              <a:rPr lang="zh-CN" altLang="en-US" sz="2400" dirty="0">
                <a:latin typeface="微软雅黑" panose="020B0503020204020204" pitchFamily="34" charset="-122"/>
                <a:ea typeface="微软雅黑" panose="020B0503020204020204" pitchFamily="34" charset="-122"/>
              </a:rPr>
              <a:t>－</a:t>
            </a:r>
            <a:r>
              <a:rPr lang="en-US" altLang="zh-CN" sz="2400" dirty="0">
                <a:latin typeface="微软雅黑" panose="020B0503020204020204" pitchFamily="34" charset="-122"/>
                <a:ea typeface="微软雅黑" panose="020B0503020204020204" pitchFamily="34" charset="-122"/>
              </a:rPr>
              <a:t>93</a:t>
            </a:r>
            <a:r>
              <a:rPr lang="zh-CN" altLang="en-US" sz="2400" dirty="0">
                <a:latin typeface="微软雅黑" panose="020B0503020204020204" pitchFamily="34" charset="-122"/>
                <a:ea typeface="微软雅黑" panose="020B0503020204020204" pitchFamily="34" charset="-122"/>
              </a:rPr>
              <a:t>）</a:t>
            </a:r>
          </a:p>
          <a:p>
            <a:pPr lvl="1">
              <a:lnSpc>
                <a:spcPct val="100000"/>
              </a:lnSpc>
              <a:buFont typeface="Wingdings" panose="05000000000000000000" pitchFamily="2" charset="2"/>
              <a:buChar char="Ø"/>
            </a:pPr>
            <a:r>
              <a:rPr lang="zh-CN" altLang="en-US" sz="2400" dirty="0" smtClean="0">
                <a:latin typeface="微软雅黑" panose="020B0503020204020204" pitchFamily="34" charset="-122"/>
                <a:ea typeface="微软雅黑" panose="020B0503020204020204" pitchFamily="34" charset="-122"/>
              </a:rPr>
              <a:t>墨西哥</a:t>
            </a:r>
            <a:r>
              <a:rPr lang="zh-CN" altLang="en-US" sz="2400" dirty="0">
                <a:latin typeface="微软雅黑" panose="020B0503020204020204" pitchFamily="34" charset="-122"/>
                <a:ea typeface="微软雅黑" panose="020B0503020204020204" pitchFamily="34" charset="-122"/>
              </a:rPr>
              <a:t>金融危机（</a:t>
            </a:r>
            <a:r>
              <a:rPr lang="en-US" altLang="zh-CN" sz="2400" dirty="0">
                <a:latin typeface="微软雅黑" panose="020B0503020204020204" pitchFamily="34" charset="-122"/>
                <a:ea typeface="微软雅黑" panose="020B0503020204020204" pitchFamily="34" charset="-122"/>
              </a:rPr>
              <a:t>1994</a:t>
            </a:r>
            <a:r>
              <a:rPr lang="zh-CN" altLang="en-US" sz="2400" dirty="0">
                <a:latin typeface="微软雅黑" panose="020B0503020204020204" pitchFamily="34" charset="-122"/>
                <a:ea typeface="微软雅黑" panose="020B0503020204020204" pitchFamily="34" charset="-122"/>
              </a:rPr>
              <a:t>－</a:t>
            </a:r>
            <a:r>
              <a:rPr lang="en-US" altLang="zh-CN" sz="2400" dirty="0">
                <a:latin typeface="微软雅黑" panose="020B0503020204020204" pitchFamily="34" charset="-122"/>
                <a:ea typeface="微软雅黑" panose="020B0503020204020204" pitchFamily="34" charset="-122"/>
              </a:rPr>
              <a:t>95</a:t>
            </a:r>
            <a:r>
              <a:rPr lang="zh-CN" altLang="en-US" sz="2400" dirty="0">
                <a:latin typeface="微软雅黑" panose="020B0503020204020204" pitchFamily="34" charset="-122"/>
                <a:ea typeface="微软雅黑" panose="020B0503020204020204" pitchFamily="34" charset="-122"/>
              </a:rPr>
              <a:t>）</a:t>
            </a:r>
          </a:p>
        </p:txBody>
      </p:sp>
      <p:sp>
        <p:nvSpPr>
          <p:cNvPr id="5" name="页脚占位符 4"/>
          <p:cNvSpPr>
            <a:spLocks noGrp="1"/>
          </p:cNvSpPr>
          <p:nvPr>
            <p:ph type="ftr" sz="quarter" idx="11"/>
          </p:nvPr>
        </p:nvSpPr>
        <p:spPr/>
        <p:txBody>
          <a:bodyPr/>
          <a:lstStyle/>
          <a:p>
            <a:r>
              <a:rPr lang="zh-CN" altLang="en-US" smtClean="0"/>
              <a:t>国际金融学 范小云</a:t>
            </a:r>
            <a:endParaRPr lang="zh-CN" altLang="en-US" dirty="0"/>
          </a:p>
        </p:txBody>
      </p:sp>
    </p:spTree>
    <p:extLst>
      <p:ext uri="{BB962C8B-B14F-4D97-AF65-F5344CB8AC3E}">
        <p14:creationId xmlns:p14="http://schemas.microsoft.com/office/powerpoint/2010/main" val="31003030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Effect transition="in" filter="fade">
                                      <p:cBhvr>
                                        <p:cTn id="7" dur="500"/>
                                        <p:tgtEl>
                                          <p:spTgt spid="3">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2" end="2"/>
                                            </p:txEl>
                                          </p:spTgt>
                                        </p:tgtEl>
                                        <p:attrNameLst>
                                          <p:attrName>style.visibility</p:attrName>
                                        </p:attrNameLst>
                                      </p:cBhvr>
                                      <p:to>
                                        <p:strVal val="visible"/>
                                      </p:to>
                                    </p:set>
                                    <p:animEffect transition="in" filter="fade">
                                      <p:cBhvr>
                                        <p:cTn id="12" dur="500"/>
                                        <p:tgtEl>
                                          <p:spTgt spid="3">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
                                            <p:txEl>
                                              <p:pRg st="3" end="3"/>
                                            </p:txEl>
                                          </p:spTgt>
                                        </p:tgtEl>
                                        <p:attrNameLst>
                                          <p:attrName>style.visibility</p:attrName>
                                        </p:attrNameLst>
                                      </p:cBhvr>
                                      <p:to>
                                        <p:strVal val="visible"/>
                                      </p:to>
                                    </p:set>
                                    <p:animEffect transition="in" filter="fade">
                                      <p:cBhvr>
                                        <p:cTn id="17" dur="500"/>
                                        <p:tgtEl>
                                          <p:spTgt spid="3">
                                            <p:txEl>
                                              <p:pRg st="3" end="3"/>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3">
                                            <p:txEl>
                                              <p:pRg st="4" end="4"/>
                                            </p:txEl>
                                          </p:spTgt>
                                        </p:tgtEl>
                                        <p:attrNameLst>
                                          <p:attrName>style.visibility</p:attrName>
                                        </p:attrNameLst>
                                      </p:cBhvr>
                                      <p:to>
                                        <p:strVal val="visible"/>
                                      </p:to>
                                    </p:set>
                                    <p:animEffect transition="in" filter="fade">
                                      <p:cBhvr>
                                        <p:cTn id="22" dur="500"/>
                                        <p:tgtEl>
                                          <p:spTgt spid="3">
                                            <p:txEl>
                                              <p:pRg st="4" end="4"/>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animEffect transition="in" filter="fade">
                                      <p:cBhvr>
                                        <p:cTn id="27" dur="500"/>
                                        <p:tgtEl>
                                          <p:spTgt spid="3">
                                            <p:txEl>
                                              <p:pRg st="5" end="5"/>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3">
                                            <p:txEl>
                                              <p:pRg st="6" end="6"/>
                                            </p:txEl>
                                          </p:spTgt>
                                        </p:tgtEl>
                                        <p:attrNameLst>
                                          <p:attrName>style.visibility</p:attrName>
                                        </p:attrNameLst>
                                      </p:cBhvr>
                                      <p:to>
                                        <p:strVal val="visible"/>
                                      </p:to>
                                    </p:set>
                                    <p:animEffect transition="in" filter="fade">
                                      <p:cBhvr>
                                        <p:cTn id="32" dur="500"/>
                                        <p:tgtEl>
                                          <p:spTgt spid="3">
                                            <p:txEl>
                                              <p:pRg st="6" end="6"/>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nodeType="clickEffect">
                                  <p:stCondLst>
                                    <p:cond delay="0"/>
                                  </p:stCondLst>
                                  <p:childTnLst>
                                    <p:set>
                                      <p:cBhvr>
                                        <p:cTn id="36" dur="1" fill="hold">
                                          <p:stCondLst>
                                            <p:cond delay="0"/>
                                          </p:stCondLst>
                                        </p:cTn>
                                        <p:tgtEl>
                                          <p:spTgt spid="3">
                                            <p:txEl>
                                              <p:pRg st="7" end="7"/>
                                            </p:txEl>
                                          </p:spTgt>
                                        </p:tgtEl>
                                        <p:attrNameLst>
                                          <p:attrName>style.visibility</p:attrName>
                                        </p:attrNameLst>
                                      </p:cBhvr>
                                      <p:to>
                                        <p:strVal val="visible"/>
                                      </p:to>
                                    </p:set>
                                    <p:animEffect transition="in" filter="fade">
                                      <p:cBhvr>
                                        <p:cTn id="37" dur="500"/>
                                        <p:tgtEl>
                                          <p:spTgt spid="3">
                                            <p:txEl>
                                              <p:pRg st="7" end="7"/>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nodeType="clickEffect">
                                  <p:stCondLst>
                                    <p:cond delay="0"/>
                                  </p:stCondLst>
                                  <p:childTnLst>
                                    <p:set>
                                      <p:cBhvr>
                                        <p:cTn id="41" dur="1" fill="hold">
                                          <p:stCondLst>
                                            <p:cond delay="0"/>
                                          </p:stCondLst>
                                        </p:cTn>
                                        <p:tgtEl>
                                          <p:spTgt spid="3">
                                            <p:txEl>
                                              <p:pRg st="8" end="8"/>
                                            </p:txEl>
                                          </p:spTgt>
                                        </p:tgtEl>
                                        <p:attrNameLst>
                                          <p:attrName>style.visibility</p:attrName>
                                        </p:attrNameLst>
                                      </p:cBhvr>
                                      <p:to>
                                        <p:strVal val="visible"/>
                                      </p:to>
                                    </p:set>
                                    <p:animEffect transition="in" filter="fade">
                                      <p:cBhvr>
                                        <p:cTn id="42" dur="500"/>
                                        <p:tgtEl>
                                          <p:spTgt spid="3">
                                            <p:txEl>
                                              <p:pRg st="8" end="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第二节	国际金融危机的一般理论</a:t>
            </a:r>
            <a:endParaRPr lang="zh-CN" dirty="0"/>
          </a:p>
        </p:txBody>
      </p:sp>
      <p:sp>
        <p:nvSpPr>
          <p:cNvPr id="3" name="内容占位符 2"/>
          <p:cNvSpPr>
            <a:spLocks noGrp="1"/>
          </p:cNvSpPr>
          <p:nvPr>
            <p:ph idx="1"/>
          </p:nvPr>
        </p:nvSpPr>
        <p:spPr>
          <a:xfrm>
            <a:off x="971550" y="1447799"/>
            <a:ext cx="7200900" cy="4841879"/>
          </a:xfrm>
        </p:spPr>
        <p:txBody>
          <a:bodyPr>
            <a:normAutofit/>
          </a:bodyPr>
          <a:lstStyle/>
          <a:p>
            <a:pPr marL="0" indent="0">
              <a:lnSpc>
                <a:spcPct val="110000"/>
              </a:lnSpc>
              <a:buNone/>
            </a:pPr>
            <a:r>
              <a:rPr lang="zh-CN" altLang="en-US" sz="2800" dirty="0">
                <a:solidFill>
                  <a:schemeClr val="accent1"/>
                </a:solidFill>
                <a:latin typeface="微软雅黑" panose="020B0503020204020204" pitchFamily="34" charset="-122"/>
                <a:ea typeface="微软雅黑" panose="020B0503020204020204" pitchFamily="34" charset="-122"/>
              </a:rPr>
              <a:t>国际金融体系越来越频繁地发生着危机：</a:t>
            </a:r>
          </a:p>
          <a:p>
            <a:pPr lvl="1">
              <a:lnSpc>
                <a:spcPct val="100000"/>
              </a:lnSpc>
              <a:buFont typeface="Wingdings" panose="05000000000000000000" pitchFamily="2" charset="2"/>
              <a:buChar char="Ø"/>
            </a:pPr>
            <a:r>
              <a:rPr lang="zh-CN" altLang="en-US" sz="2400" dirty="0" smtClean="0">
                <a:latin typeface="微软雅黑" panose="020B0503020204020204" pitchFamily="34" charset="-122"/>
                <a:ea typeface="微软雅黑" panose="020B0503020204020204" pitchFamily="34" charset="-122"/>
              </a:rPr>
              <a:t>亚洲</a:t>
            </a:r>
            <a:r>
              <a:rPr lang="zh-CN" altLang="en-US" sz="2400" dirty="0">
                <a:latin typeface="微软雅黑" panose="020B0503020204020204" pitchFamily="34" charset="-122"/>
                <a:ea typeface="微软雅黑" panose="020B0503020204020204" pitchFamily="34" charset="-122"/>
              </a:rPr>
              <a:t>金融危机（</a:t>
            </a:r>
            <a:r>
              <a:rPr lang="en-US" altLang="zh-CN" sz="2400" dirty="0">
                <a:latin typeface="微软雅黑" panose="020B0503020204020204" pitchFamily="34" charset="-122"/>
                <a:ea typeface="微软雅黑" panose="020B0503020204020204" pitchFamily="34" charset="-122"/>
              </a:rPr>
              <a:t>1997</a:t>
            </a:r>
            <a:r>
              <a:rPr lang="zh-CN" altLang="en-US" sz="2400" dirty="0">
                <a:latin typeface="微软雅黑" panose="020B0503020204020204" pitchFamily="34" charset="-122"/>
                <a:ea typeface="微软雅黑" panose="020B0503020204020204" pitchFamily="34" charset="-122"/>
              </a:rPr>
              <a:t>－</a:t>
            </a:r>
            <a:r>
              <a:rPr lang="en-US" altLang="zh-CN" sz="2400" dirty="0">
                <a:latin typeface="微软雅黑" panose="020B0503020204020204" pitchFamily="34" charset="-122"/>
                <a:ea typeface="微软雅黑" panose="020B0503020204020204" pitchFamily="34" charset="-122"/>
              </a:rPr>
              <a:t>99</a:t>
            </a:r>
            <a:r>
              <a:rPr lang="zh-CN" altLang="en-US" sz="2400" dirty="0">
                <a:latin typeface="微软雅黑" panose="020B0503020204020204" pitchFamily="34" charset="-122"/>
                <a:ea typeface="微软雅黑" panose="020B0503020204020204" pitchFamily="34" charset="-122"/>
              </a:rPr>
              <a:t>？）</a:t>
            </a:r>
          </a:p>
          <a:p>
            <a:pPr lvl="1">
              <a:lnSpc>
                <a:spcPct val="100000"/>
              </a:lnSpc>
              <a:buFont typeface="Wingdings" panose="05000000000000000000" pitchFamily="2" charset="2"/>
              <a:buChar char="Ø"/>
            </a:pPr>
            <a:r>
              <a:rPr lang="zh-CN" altLang="en-US" sz="2400" dirty="0" smtClean="0">
                <a:latin typeface="微软雅黑" panose="020B0503020204020204" pitchFamily="34" charset="-122"/>
                <a:ea typeface="微软雅黑" panose="020B0503020204020204" pitchFamily="34" charset="-122"/>
              </a:rPr>
              <a:t>俄罗斯</a:t>
            </a:r>
            <a:r>
              <a:rPr lang="zh-CN" altLang="en-US" sz="2400" dirty="0">
                <a:latin typeface="微软雅黑" panose="020B0503020204020204" pitchFamily="34" charset="-122"/>
                <a:ea typeface="微软雅黑" panose="020B0503020204020204" pitchFamily="34" charset="-122"/>
              </a:rPr>
              <a:t>金融危机和</a:t>
            </a:r>
            <a:r>
              <a:rPr lang="en-US" altLang="zh-CN" sz="2400" dirty="0">
                <a:latin typeface="微软雅黑" panose="020B0503020204020204" pitchFamily="34" charset="-122"/>
                <a:ea typeface="微软雅黑" panose="020B0503020204020204" pitchFamily="34" charset="-122"/>
              </a:rPr>
              <a:t>LTCM</a:t>
            </a:r>
            <a:r>
              <a:rPr lang="zh-CN" altLang="en-US" sz="2400" dirty="0">
                <a:latin typeface="微软雅黑" panose="020B0503020204020204" pitchFamily="34" charset="-122"/>
                <a:ea typeface="微软雅黑" panose="020B0503020204020204" pitchFamily="34" charset="-122"/>
              </a:rPr>
              <a:t>危机（</a:t>
            </a:r>
            <a:r>
              <a:rPr lang="en-US" altLang="zh-CN" sz="2400" dirty="0">
                <a:latin typeface="微软雅黑" panose="020B0503020204020204" pitchFamily="34" charset="-122"/>
                <a:ea typeface="微软雅黑" panose="020B0503020204020204" pitchFamily="34" charset="-122"/>
              </a:rPr>
              <a:t>1998</a:t>
            </a:r>
            <a:r>
              <a:rPr lang="zh-CN" altLang="en-US" sz="2400" dirty="0">
                <a:latin typeface="微软雅黑" panose="020B0503020204020204" pitchFamily="34" charset="-122"/>
                <a:ea typeface="微软雅黑" panose="020B0503020204020204" pitchFamily="34" charset="-122"/>
              </a:rPr>
              <a:t>）</a:t>
            </a:r>
          </a:p>
          <a:p>
            <a:pPr lvl="1">
              <a:lnSpc>
                <a:spcPct val="100000"/>
              </a:lnSpc>
              <a:buFont typeface="Wingdings" panose="05000000000000000000" pitchFamily="2" charset="2"/>
              <a:buChar char="Ø"/>
            </a:pPr>
            <a:r>
              <a:rPr lang="zh-CN" altLang="en-US" sz="2400" dirty="0" smtClean="0">
                <a:latin typeface="微软雅黑" panose="020B0503020204020204" pitchFamily="34" charset="-122"/>
                <a:ea typeface="微软雅黑" panose="020B0503020204020204" pitchFamily="34" charset="-122"/>
              </a:rPr>
              <a:t>巴西</a:t>
            </a:r>
            <a:r>
              <a:rPr lang="zh-CN" altLang="en-US" sz="2400" dirty="0">
                <a:latin typeface="微软雅黑" panose="020B0503020204020204" pitchFamily="34" charset="-122"/>
                <a:ea typeface="微软雅黑" panose="020B0503020204020204" pitchFamily="34" charset="-122"/>
              </a:rPr>
              <a:t>货币危机（</a:t>
            </a:r>
            <a:r>
              <a:rPr lang="en-US" altLang="zh-CN" sz="2400" dirty="0">
                <a:latin typeface="微软雅黑" panose="020B0503020204020204" pitchFamily="34" charset="-122"/>
                <a:ea typeface="微软雅黑" panose="020B0503020204020204" pitchFamily="34" charset="-122"/>
              </a:rPr>
              <a:t>1999</a:t>
            </a:r>
            <a:r>
              <a:rPr lang="zh-CN" altLang="en-US" sz="2400" dirty="0">
                <a:latin typeface="微软雅黑" panose="020B0503020204020204" pitchFamily="34" charset="-122"/>
                <a:ea typeface="微软雅黑" panose="020B0503020204020204" pitchFamily="34" charset="-122"/>
              </a:rPr>
              <a:t>）</a:t>
            </a:r>
          </a:p>
          <a:p>
            <a:pPr lvl="1">
              <a:lnSpc>
                <a:spcPct val="100000"/>
              </a:lnSpc>
              <a:buFont typeface="Wingdings" panose="05000000000000000000" pitchFamily="2" charset="2"/>
              <a:buChar char="Ø"/>
            </a:pPr>
            <a:r>
              <a:rPr lang="zh-CN" altLang="en-US" sz="2400" dirty="0" smtClean="0">
                <a:latin typeface="微软雅黑" panose="020B0503020204020204" pitchFamily="34" charset="-122"/>
                <a:ea typeface="微软雅黑" panose="020B0503020204020204" pitchFamily="34" charset="-122"/>
              </a:rPr>
              <a:t>美国</a:t>
            </a:r>
            <a:r>
              <a:rPr lang="en-US" altLang="zh-CN" sz="2400" dirty="0">
                <a:latin typeface="微软雅黑" panose="020B0503020204020204" pitchFamily="34" charset="-122"/>
                <a:ea typeface="微软雅黑" panose="020B0503020204020204" pitchFamily="34" charset="-122"/>
              </a:rPr>
              <a:t>Dot.com</a:t>
            </a:r>
            <a:r>
              <a:rPr lang="zh-CN" altLang="en-US" sz="2400" dirty="0">
                <a:latin typeface="微软雅黑" panose="020B0503020204020204" pitchFamily="34" charset="-122"/>
                <a:ea typeface="微软雅黑" panose="020B0503020204020204" pitchFamily="34" charset="-122"/>
              </a:rPr>
              <a:t>倒闭和财务丑闻（</a:t>
            </a:r>
            <a:r>
              <a:rPr lang="en-US" altLang="zh-CN" sz="2400" dirty="0">
                <a:latin typeface="微软雅黑" panose="020B0503020204020204" pitchFamily="34" charset="-122"/>
                <a:ea typeface="微软雅黑" panose="020B0503020204020204" pitchFamily="34" charset="-122"/>
              </a:rPr>
              <a:t>2000</a:t>
            </a:r>
            <a:r>
              <a:rPr lang="zh-CN" altLang="en-US" sz="2400" dirty="0" smtClean="0">
                <a:latin typeface="微软雅黑" panose="020B0503020204020204" pitchFamily="34" charset="-122"/>
                <a:ea typeface="微软雅黑" panose="020B0503020204020204" pitchFamily="34" charset="-122"/>
              </a:rPr>
              <a:t>－</a:t>
            </a:r>
            <a:r>
              <a:rPr lang="en-US" altLang="zh-CN" sz="2400" dirty="0" smtClean="0">
                <a:latin typeface="微软雅黑" panose="020B0503020204020204" pitchFamily="34" charset="-122"/>
                <a:ea typeface="微软雅黑" panose="020B0503020204020204" pitchFamily="34" charset="-122"/>
              </a:rPr>
              <a:t>2003</a:t>
            </a:r>
            <a:r>
              <a:rPr lang="zh-CN" altLang="en-US" sz="2400" dirty="0">
                <a:latin typeface="微软雅黑" panose="020B0503020204020204" pitchFamily="34" charset="-122"/>
                <a:ea typeface="微软雅黑" panose="020B0503020204020204" pitchFamily="34" charset="-122"/>
              </a:rPr>
              <a:t>）</a:t>
            </a:r>
          </a:p>
          <a:p>
            <a:pPr lvl="1">
              <a:lnSpc>
                <a:spcPct val="100000"/>
              </a:lnSpc>
              <a:buFont typeface="Wingdings" panose="05000000000000000000" pitchFamily="2" charset="2"/>
              <a:buChar char="Ø"/>
            </a:pPr>
            <a:r>
              <a:rPr lang="zh-CN" altLang="en-US" sz="2400" dirty="0" smtClean="0">
                <a:latin typeface="微软雅黑" panose="020B0503020204020204" pitchFamily="34" charset="-122"/>
                <a:ea typeface="微软雅黑" panose="020B0503020204020204" pitchFamily="34" charset="-122"/>
              </a:rPr>
              <a:t>阿根廷</a:t>
            </a:r>
            <a:r>
              <a:rPr lang="zh-CN" altLang="en-US" sz="2400" dirty="0">
                <a:latin typeface="微软雅黑" panose="020B0503020204020204" pitchFamily="34" charset="-122"/>
                <a:ea typeface="微软雅黑" panose="020B0503020204020204" pitchFamily="34" charset="-122"/>
              </a:rPr>
              <a:t>危机（</a:t>
            </a:r>
            <a:r>
              <a:rPr lang="en-US" altLang="zh-CN" sz="2400" dirty="0">
                <a:latin typeface="微软雅黑" panose="020B0503020204020204" pitchFamily="34" charset="-122"/>
                <a:ea typeface="微软雅黑" panose="020B0503020204020204" pitchFamily="34" charset="-122"/>
              </a:rPr>
              <a:t>2001</a:t>
            </a:r>
            <a:r>
              <a:rPr lang="zh-CN" altLang="en-US" sz="2400" dirty="0">
                <a:latin typeface="微软雅黑" panose="020B0503020204020204" pitchFamily="34" charset="-122"/>
                <a:ea typeface="微软雅黑" panose="020B0503020204020204" pitchFamily="34" charset="-122"/>
              </a:rPr>
              <a:t>）</a:t>
            </a:r>
          </a:p>
          <a:p>
            <a:pPr lvl="1">
              <a:lnSpc>
                <a:spcPct val="100000"/>
              </a:lnSpc>
              <a:buFont typeface="Wingdings" panose="05000000000000000000" pitchFamily="2" charset="2"/>
              <a:buChar char="Ø"/>
            </a:pPr>
            <a:r>
              <a:rPr lang="zh-CN" altLang="en-US" sz="2400" dirty="0" smtClean="0">
                <a:latin typeface="微软雅黑" panose="020B0503020204020204" pitchFamily="34" charset="-122"/>
                <a:ea typeface="微软雅黑" panose="020B0503020204020204" pitchFamily="34" charset="-122"/>
              </a:rPr>
              <a:t>印尼</a:t>
            </a:r>
            <a:r>
              <a:rPr lang="zh-CN" altLang="en-US" sz="2400" dirty="0">
                <a:latin typeface="微软雅黑" panose="020B0503020204020204" pitchFamily="34" charset="-122"/>
                <a:ea typeface="微软雅黑" panose="020B0503020204020204" pitchFamily="34" charset="-122"/>
              </a:rPr>
              <a:t>危机（</a:t>
            </a:r>
            <a:r>
              <a:rPr lang="en-US" altLang="zh-CN" sz="2400" dirty="0">
                <a:latin typeface="微软雅黑" panose="020B0503020204020204" pitchFamily="34" charset="-122"/>
                <a:ea typeface="微软雅黑" panose="020B0503020204020204" pitchFamily="34" charset="-122"/>
              </a:rPr>
              <a:t>2005</a:t>
            </a:r>
            <a:r>
              <a:rPr lang="zh-CN" altLang="en-US" sz="2400" dirty="0">
                <a:latin typeface="微软雅黑" panose="020B0503020204020204" pitchFamily="34" charset="-122"/>
                <a:ea typeface="微软雅黑" panose="020B0503020204020204" pitchFamily="34" charset="-122"/>
              </a:rPr>
              <a:t>）</a:t>
            </a:r>
          </a:p>
          <a:p>
            <a:pPr lvl="1">
              <a:lnSpc>
                <a:spcPct val="100000"/>
              </a:lnSpc>
              <a:buFont typeface="Wingdings" panose="05000000000000000000" pitchFamily="2" charset="2"/>
              <a:buChar char="Ø"/>
            </a:pPr>
            <a:r>
              <a:rPr lang="zh-CN" altLang="en-US" sz="2400" dirty="0">
                <a:latin typeface="微软雅黑" panose="020B0503020204020204" pitchFamily="34" charset="-122"/>
                <a:ea typeface="微软雅黑" panose="020B0503020204020204" pitchFamily="34" charset="-122"/>
              </a:rPr>
              <a:t> 美国次贷危机（</a:t>
            </a:r>
            <a:r>
              <a:rPr lang="en-US" altLang="zh-CN" sz="2400" dirty="0">
                <a:latin typeface="微软雅黑" panose="020B0503020204020204" pitchFamily="34" charset="-122"/>
                <a:ea typeface="微软雅黑" panose="020B0503020204020204" pitchFamily="34" charset="-122"/>
              </a:rPr>
              <a:t>2007—</a:t>
            </a:r>
            <a:r>
              <a:rPr lang="zh-CN" altLang="en-US" sz="2400" dirty="0">
                <a:latin typeface="微软雅黑" panose="020B0503020204020204" pitchFamily="34" charset="-122"/>
                <a:ea typeface="微软雅黑" panose="020B0503020204020204" pitchFamily="34" charset="-122"/>
              </a:rPr>
              <a:t>？）	</a:t>
            </a:r>
          </a:p>
          <a:p>
            <a:pPr lvl="1">
              <a:lnSpc>
                <a:spcPct val="100000"/>
              </a:lnSpc>
              <a:buFont typeface="Wingdings" panose="05000000000000000000" pitchFamily="2" charset="2"/>
              <a:buChar char="Ø"/>
            </a:pPr>
            <a:r>
              <a:rPr lang="zh-CN" altLang="en-US" sz="2400" dirty="0">
                <a:latin typeface="微软雅黑" panose="020B0503020204020204" pitchFamily="34" charset="-122"/>
                <a:ea typeface="微软雅黑" panose="020B0503020204020204" pitchFamily="34" charset="-122"/>
              </a:rPr>
              <a:t> 欧债危机（</a:t>
            </a:r>
            <a:r>
              <a:rPr lang="en-US" altLang="zh-CN" sz="2400" dirty="0">
                <a:latin typeface="微软雅黑" panose="020B0503020204020204" pitchFamily="34" charset="-122"/>
                <a:ea typeface="微软雅黑" panose="020B0503020204020204" pitchFamily="34" charset="-122"/>
              </a:rPr>
              <a:t>2009-</a:t>
            </a:r>
            <a:r>
              <a:rPr lang="zh-CN" altLang="en-US" sz="2400" dirty="0">
                <a:latin typeface="微软雅黑" panose="020B0503020204020204" pitchFamily="34" charset="-122"/>
                <a:ea typeface="微软雅黑" panose="020B0503020204020204" pitchFamily="34" charset="-122"/>
              </a:rPr>
              <a:t>？）</a:t>
            </a:r>
          </a:p>
        </p:txBody>
      </p:sp>
      <p:sp>
        <p:nvSpPr>
          <p:cNvPr id="5" name="页脚占位符 4"/>
          <p:cNvSpPr>
            <a:spLocks noGrp="1"/>
          </p:cNvSpPr>
          <p:nvPr>
            <p:ph type="ftr" sz="quarter" idx="11"/>
          </p:nvPr>
        </p:nvSpPr>
        <p:spPr/>
        <p:txBody>
          <a:bodyPr/>
          <a:lstStyle/>
          <a:p>
            <a:r>
              <a:rPr lang="zh-CN" altLang="en-US" smtClean="0"/>
              <a:t>国际金融学 范小云</a:t>
            </a:r>
            <a:endParaRPr lang="zh-CN" altLang="en-US" dirty="0"/>
          </a:p>
        </p:txBody>
      </p:sp>
    </p:spTree>
    <p:extLst>
      <p:ext uri="{BB962C8B-B14F-4D97-AF65-F5344CB8AC3E}">
        <p14:creationId xmlns:p14="http://schemas.microsoft.com/office/powerpoint/2010/main" val="415298010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Effect transition="in" filter="fade">
                                      <p:cBhvr>
                                        <p:cTn id="7" dur="500"/>
                                        <p:tgtEl>
                                          <p:spTgt spid="3">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2" end="2"/>
                                            </p:txEl>
                                          </p:spTgt>
                                        </p:tgtEl>
                                        <p:attrNameLst>
                                          <p:attrName>style.visibility</p:attrName>
                                        </p:attrNameLst>
                                      </p:cBhvr>
                                      <p:to>
                                        <p:strVal val="visible"/>
                                      </p:to>
                                    </p:set>
                                    <p:animEffect transition="in" filter="fade">
                                      <p:cBhvr>
                                        <p:cTn id="12" dur="500"/>
                                        <p:tgtEl>
                                          <p:spTgt spid="3">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
                                            <p:txEl>
                                              <p:pRg st="3" end="3"/>
                                            </p:txEl>
                                          </p:spTgt>
                                        </p:tgtEl>
                                        <p:attrNameLst>
                                          <p:attrName>style.visibility</p:attrName>
                                        </p:attrNameLst>
                                      </p:cBhvr>
                                      <p:to>
                                        <p:strVal val="visible"/>
                                      </p:to>
                                    </p:set>
                                    <p:animEffect transition="in" filter="fade">
                                      <p:cBhvr>
                                        <p:cTn id="17" dur="500"/>
                                        <p:tgtEl>
                                          <p:spTgt spid="3">
                                            <p:txEl>
                                              <p:pRg st="3" end="3"/>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3">
                                            <p:txEl>
                                              <p:pRg st="4" end="4"/>
                                            </p:txEl>
                                          </p:spTgt>
                                        </p:tgtEl>
                                        <p:attrNameLst>
                                          <p:attrName>style.visibility</p:attrName>
                                        </p:attrNameLst>
                                      </p:cBhvr>
                                      <p:to>
                                        <p:strVal val="visible"/>
                                      </p:to>
                                    </p:set>
                                    <p:animEffect transition="in" filter="fade">
                                      <p:cBhvr>
                                        <p:cTn id="22" dur="500"/>
                                        <p:tgtEl>
                                          <p:spTgt spid="3">
                                            <p:txEl>
                                              <p:pRg st="4" end="4"/>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animEffect transition="in" filter="fade">
                                      <p:cBhvr>
                                        <p:cTn id="27" dur="500"/>
                                        <p:tgtEl>
                                          <p:spTgt spid="3">
                                            <p:txEl>
                                              <p:pRg st="5" end="5"/>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3">
                                            <p:txEl>
                                              <p:pRg st="6" end="6"/>
                                            </p:txEl>
                                          </p:spTgt>
                                        </p:tgtEl>
                                        <p:attrNameLst>
                                          <p:attrName>style.visibility</p:attrName>
                                        </p:attrNameLst>
                                      </p:cBhvr>
                                      <p:to>
                                        <p:strVal val="visible"/>
                                      </p:to>
                                    </p:set>
                                    <p:animEffect transition="in" filter="fade">
                                      <p:cBhvr>
                                        <p:cTn id="32" dur="500"/>
                                        <p:tgtEl>
                                          <p:spTgt spid="3">
                                            <p:txEl>
                                              <p:pRg st="6" end="6"/>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nodeType="clickEffect">
                                  <p:stCondLst>
                                    <p:cond delay="0"/>
                                  </p:stCondLst>
                                  <p:childTnLst>
                                    <p:set>
                                      <p:cBhvr>
                                        <p:cTn id="36" dur="1" fill="hold">
                                          <p:stCondLst>
                                            <p:cond delay="0"/>
                                          </p:stCondLst>
                                        </p:cTn>
                                        <p:tgtEl>
                                          <p:spTgt spid="3">
                                            <p:txEl>
                                              <p:pRg st="7" end="7"/>
                                            </p:txEl>
                                          </p:spTgt>
                                        </p:tgtEl>
                                        <p:attrNameLst>
                                          <p:attrName>style.visibility</p:attrName>
                                        </p:attrNameLst>
                                      </p:cBhvr>
                                      <p:to>
                                        <p:strVal val="visible"/>
                                      </p:to>
                                    </p:set>
                                    <p:animEffect transition="in" filter="fade">
                                      <p:cBhvr>
                                        <p:cTn id="37" dur="500"/>
                                        <p:tgtEl>
                                          <p:spTgt spid="3">
                                            <p:txEl>
                                              <p:pRg st="7" end="7"/>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nodeType="clickEffect">
                                  <p:stCondLst>
                                    <p:cond delay="0"/>
                                  </p:stCondLst>
                                  <p:childTnLst>
                                    <p:set>
                                      <p:cBhvr>
                                        <p:cTn id="41" dur="1" fill="hold">
                                          <p:stCondLst>
                                            <p:cond delay="0"/>
                                          </p:stCondLst>
                                        </p:cTn>
                                        <p:tgtEl>
                                          <p:spTgt spid="3">
                                            <p:txEl>
                                              <p:pRg st="8" end="8"/>
                                            </p:txEl>
                                          </p:spTgt>
                                        </p:tgtEl>
                                        <p:attrNameLst>
                                          <p:attrName>style.visibility</p:attrName>
                                        </p:attrNameLst>
                                      </p:cBhvr>
                                      <p:to>
                                        <p:strVal val="visible"/>
                                      </p:to>
                                    </p:set>
                                    <p:animEffect transition="in" filter="fade">
                                      <p:cBhvr>
                                        <p:cTn id="42" dur="500"/>
                                        <p:tgtEl>
                                          <p:spTgt spid="3">
                                            <p:txEl>
                                              <p:pRg st="8" end="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第二节	国际金融危机的一般理论</a:t>
            </a:r>
            <a:endParaRPr lang="zh-CN" dirty="0"/>
          </a:p>
        </p:txBody>
      </p:sp>
      <p:sp>
        <p:nvSpPr>
          <p:cNvPr id="5" name="页脚占位符 4"/>
          <p:cNvSpPr>
            <a:spLocks noGrp="1"/>
          </p:cNvSpPr>
          <p:nvPr>
            <p:ph type="ftr" sz="quarter" idx="11"/>
          </p:nvPr>
        </p:nvSpPr>
        <p:spPr/>
        <p:txBody>
          <a:bodyPr/>
          <a:lstStyle/>
          <a:p>
            <a:r>
              <a:rPr lang="zh-CN" altLang="en-US" smtClean="0"/>
              <a:t>国际金融学 范小云</a:t>
            </a:r>
            <a:endParaRPr lang="zh-CN" altLang="en-US" dirty="0"/>
          </a:p>
        </p:txBody>
      </p:sp>
      <p:pic>
        <p:nvPicPr>
          <p:cNvPr id="6" name="Picture 2"/>
          <p:cNvPicPr>
            <a:picLocks noGrp="1" noChangeAspect="1" noChangeArrowheads="1"/>
          </p:cNvPicPr>
          <p:nvPr>
            <p:ph/>
          </p:nvPr>
        </p:nvPicPr>
        <p:blipFill rotWithShape="1">
          <a:blip r:embed="rId3">
            <a:extLst>
              <a:ext uri="{28A0092B-C50C-407E-A947-70E740481C1C}">
                <a14:useLocalDpi xmlns:a14="http://schemas.microsoft.com/office/drawing/2010/main" val="0"/>
              </a:ext>
            </a:extLst>
          </a:blip>
          <a:srcRect t="3436" b="4528"/>
          <a:stretch/>
        </p:blipFill>
        <p:spPr>
          <a:xfrm>
            <a:off x="0" y="1160771"/>
            <a:ext cx="9144000" cy="5013435"/>
          </a:xfrm>
          <a:noFill/>
        </p:spPr>
      </p:pic>
    </p:spTree>
    <p:extLst>
      <p:ext uri="{BB962C8B-B14F-4D97-AF65-F5344CB8AC3E}">
        <p14:creationId xmlns:p14="http://schemas.microsoft.com/office/powerpoint/2010/main" val="277517505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第二节	国际金融危机的一般理论</a:t>
            </a:r>
            <a:endParaRPr lang="zh-CN" dirty="0"/>
          </a:p>
        </p:txBody>
      </p:sp>
      <p:sp>
        <p:nvSpPr>
          <p:cNvPr id="3" name="内容占位符 2"/>
          <p:cNvSpPr>
            <a:spLocks noGrp="1"/>
          </p:cNvSpPr>
          <p:nvPr>
            <p:ph idx="1"/>
          </p:nvPr>
        </p:nvSpPr>
        <p:spPr>
          <a:xfrm>
            <a:off x="971550" y="1447799"/>
            <a:ext cx="7200900" cy="4841879"/>
          </a:xfrm>
        </p:spPr>
        <p:txBody>
          <a:bodyPr>
            <a:normAutofit/>
          </a:bodyPr>
          <a:lstStyle/>
          <a:p>
            <a:pPr marL="0" lvl="1" indent="457200">
              <a:lnSpc>
                <a:spcPct val="100000"/>
              </a:lnSpc>
              <a:spcBef>
                <a:spcPts val="1800"/>
              </a:spcBef>
              <a:buNone/>
            </a:pPr>
            <a:r>
              <a:rPr lang="en-US" altLang="zh-CN" sz="2600" dirty="0">
                <a:solidFill>
                  <a:schemeClr val="accent1"/>
                </a:solidFill>
                <a:latin typeface="微软雅黑" panose="020B0503020204020204" pitchFamily="34" charset="-122"/>
                <a:ea typeface="微软雅黑" panose="020B0503020204020204" pitchFamily="34" charset="-122"/>
              </a:rPr>
              <a:t>For historians every event is unique. Economics, however, maintains that forces in society and nature behave in repetitive ways. History is particular, economics is general.</a:t>
            </a:r>
          </a:p>
          <a:p>
            <a:pPr marL="0" lvl="1" indent="457200">
              <a:lnSpc>
                <a:spcPct val="100000"/>
              </a:lnSpc>
              <a:spcBef>
                <a:spcPts val="1800"/>
              </a:spcBef>
              <a:buNone/>
            </a:pPr>
            <a:r>
              <a:rPr lang="zh-CN" altLang="en-US" sz="2600" dirty="0">
                <a:latin typeface="微软雅黑" panose="020B0503020204020204" pitchFamily="34" charset="-122"/>
                <a:ea typeface="微软雅黑" panose="020B0503020204020204" pitchFamily="34" charset="-122"/>
              </a:rPr>
              <a:t>对于历史学家来说，每一事件都是独一无二的。但经济学在社会与自然中却反复重复。历史具有独特性，经济学则具有一般性。</a:t>
            </a:r>
          </a:p>
        </p:txBody>
      </p:sp>
      <p:sp>
        <p:nvSpPr>
          <p:cNvPr id="5" name="页脚占位符 4"/>
          <p:cNvSpPr>
            <a:spLocks noGrp="1"/>
          </p:cNvSpPr>
          <p:nvPr>
            <p:ph type="ftr" sz="quarter" idx="11"/>
          </p:nvPr>
        </p:nvSpPr>
        <p:spPr/>
        <p:txBody>
          <a:bodyPr/>
          <a:lstStyle/>
          <a:p>
            <a:r>
              <a:rPr lang="zh-CN" altLang="en-US" smtClean="0"/>
              <a:t>国际金融学 范小云</a:t>
            </a:r>
            <a:endParaRPr lang="zh-CN" altLang="en-US" dirty="0"/>
          </a:p>
        </p:txBody>
      </p:sp>
    </p:spTree>
    <p:extLst>
      <p:ext uri="{BB962C8B-B14F-4D97-AF65-F5344CB8AC3E}">
        <p14:creationId xmlns:p14="http://schemas.microsoft.com/office/powerpoint/2010/main" val="100178715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第二节	国际金融危机的一般理论</a:t>
            </a:r>
            <a:endParaRPr lang="zh-CN" dirty="0"/>
          </a:p>
        </p:txBody>
      </p:sp>
      <p:sp>
        <p:nvSpPr>
          <p:cNvPr id="3" name="内容占位符 2"/>
          <p:cNvSpPr>
            <a:spLocks noGrp="1"/>
          </p:cNvSpPr>
          <p:nvPr>
            <p:ph idx="1"/>
          </p:nvPr>
        </p:nvSpPr>
        <p:spPr>
          <a:xfrm>
            <a:off x="971550" y="1447799"/>
            <a:ext cx="7200900" cy="4841879"/>
          </a:xfrm>
        </p:spPr>
        <p:txBody>
          <a:bodyPr>
            <a:normAutofit/>
          </a:bodyPr>
          <a:lstStyle/>
          <a:p>
            <a:pPr marL="0" indent="0">
              <a:lnSpc>
                <a:spcPct val="110000"/>
              </a:lnSpc>
              <a:buNone/>
            </a:pPr>
            <a:r>
              <a:rPr lang="zh-CN" altLang="en-US" sz="2800" dirty="0">
                <a:solidFill>
                  <a:schemeClr val="accent1"/>
                </a:solidFill>
                <a:latin typeface="微软雅黑" panose="020B0503020204020204" pitchFamily="34" charset="-122"/>
                <a:ea typeface="微软雅黑" panose="020B0503020204020204" pitchFamily="34" charset="-122"/>
              </a:rPr>
              <a:t>一、国际金融危机的一般理论</a:t>
            </a:r>
          </a:p>
          <a:p>
            <a:pPr marL="514350" indent="-514350">
              <a:lnSpc>
                <a:spcPct val="100000"/>
              </a:lnSpc>
              <a:buFont typeface="+mj-lt"/>
              <a:buAutoNum type="arabicPeriod"/>
            </a:pPr>
            <a:r>
              <a:rPr lang="zh-CN" altLang="en-US" sz="2600" dirty="0" smtClean="0">
                <a:latin typeface="微软雅黑" panose="020B0503020204020204" pitchFamily="34" charset="-122"/>
                <a:ea typeface="微软雅黑" panose="020B0503020204020204" pitchFamily="34" charset="-122"/>
              </a:rPr>
              <a:t>海</a:t>
            </a:r>
            <a:r>
              <a:rPr lang="zh-CN" altLang="en-US" sz="2600" dirty="0">
                <a:latin typeface="微软雅黑" panose="020B0503020204020204" pitchFamily="34" charset="-122"/>
                <a:ea typeface="微软雅黑" panose="020B0503020204020204" pitchFamily="34" charset="-122"/>
              </a:rPr>
              <a:t>曼</a:t>
            </a:r>
            <a:r>
              <a:rPr lang="en-US" altLang="zh-CN" sz="2600" dirty="0">
                <a:latin typeface="微软雅黑" panose="020B0503020204020204" pitchFamily="34" charset="-122"/>
                <a:ea typeface="微软雅黑" panose="020B0503020204020204" pitchFamily="34" charset="-122"/>
              </a:rPr>
              <a:t>·</a:t>
            </a:r>
            <a:r>
              <a:rPr lang="zh-CN" altLang="en-US" sz="2600" dirty="0">
                <a:latin typeface="微软雅黑" panose="020B0503020204020204" pitchFamily="34" charset="-122"/>
                <a:ea typeface="微软雅黑" panose="020B0503020204020204" pitchFamily="34" charset="-122"/>
              </a:rPr>
              <a:t>明斯基（</a:t>
            </a:r>
            <a:r>
              <a:rPr lang="en-US" altLang="zh-CN" sz="2600" dirty="0">
                <a:latin typeface="微软雅黑" panose="020B0503020204020204" pitchFamily="34" charset="-122"/>
                <a:ea typeface="微软雅黑" panose="020B0503020204020204" pitchFamily="34" charset="-122"/>
              </a:rPr>
              <a:t>Hyman Minsky</a:t>
            </a:r>
            <a:r>
              <a:rPr lang="zh-CN" altLang="en-US" sz="2600" dirty="0">
                <a:latin typeface="微软雅黑" panose="020B0503020204020204" pitchFamily="34" charset="-122"/>
                <a:ea typeface="微软雅黑" panose="020B0503020204020204" pitchFamily="34" charset="-122"/>
              </a:rPr>
              <a:t>）</a:t>
            </a:r>
          </a:p>
          <a:p>
            <a:pPr marL="0" indent="457200">
              <a:lnSpc>
                <a:spcPct val="100000"/>
              </a:lnSpc>
              <a:buNone/>
            </a:pPr>
            <a:r>
              <a:rPr lang="zh-CN" altLang="en-US" sz="2600" dirty="0" smtClean="0">
                <a:latin typeface="微软雅黑" panose="020B0503020204020204" pitchFamily="34" charset="-122"/>
                <a:ea typeface="微软雅黑" panose="020B0503020204020204" pitchFamily="34" charset="-122"/>
              </a:rPr>
              <a:t>货币</a:t>
            </a:r>
            <a:r>
              <a:rPr lang="zh-CN" altLang="en-US" sz="2600" dirty="0">
                <a:latin typeface="微软雅黑" panose="020B0503020204020204" pitchFamily="34" charset="-122"/>
                <a:ea typeface="微软雅黑" panose="020B0503020204020204" pitchFamily="34" charset="-122"/>
              </a:rPr>
              <a:t>主义理论家中享有极度悲观的声誉，他十分悲哀地强调货币体系的脆弱性及其导致灾难的可能性，强调信用体系的不稳定是危机发生的一般原因。危机是在外部冲击使</a:t>
            </a:r>
            <a:r>
              <a:rPr lang="en-US" altLang="zh-CN" sz="2600" dirty="0">
                <a:latin typeface="微软雅黑" panose="020B0503020204020204" pitchFamily="34" charset="-122"/>
                <a:ea typeface="微软雅黑" panose="020B0503020204020204" pitchFamily="34" charset="-122"/>
              </a:rPr>
              <a:t>boom</a:t>
            </a:r>
            <a:r>
              <a:rPr lang="zh-CN" altLang="en-US" sz="2600" dirty="0">
                <a:latin typeface="微软雅黑" panose="020B0503020204020204" pitchFamily="34" charset="-122"/>
                <a:ea typeface="微软雅黑" panose="020B0503020204020204" pitchFamily="34" charset="-122"/>
              </a:rPr>
              <a:t>－</a:t>
            </a:r>
            <a:r>
              <a:rPr lang="en-US" altLang="zh-CN" sz="2600" dirty="0">
                <a:latin typeface="微软雅黑" panose="020B0503020204020204" pitchFamily="34" charset="-122"/>
                <a:ea typeface="微软雅黑" panose="020B0503020204020204" pitchFamily="34" charset="-122"/>
              </a:rPr>
              <a:t>bust</a:t>
            </a:r>
            <a:r>
              <a:rPr lang="zh-CN" altLang="en-US" sz="2600" dirty="0">
                <a:latin typeface="微软雅黑" panose="020B0503020204020204" pitchFamily="34" charset="-122"/>
                <a:ea typeface="微软雅黑" panose="020B0503020204020204" pitchFamily="34" charset="-122"/>
              </a:rPr>
              <a:t>时产生的。</a:t>
            </a:r>
          </a:p>
          <a:p>
            <a:pPr marL="0" indent="457200">
              <a:lnSpc>
                <a:spcPct val="100000"/>
              </a:lnSpc>
              <a:buNone/>
            </a:pPr>
            <a:r>
              <a:rPr lang="zh-CN" altLang="en-US" sz="2600" dirty="0" smtClean="0">
                <a:latin typeface="微软雅黑" panose="020B0503020204020204" pitchFamily="34" charset="-122"/>
                <a:ea typeface="微软雅黑" panose="020B0503020204020204" pitchFamily="34" charset="-122"/>
              </a:rPr>
              <a:t>为什么</a:t>
            </a:r>
            <a:r>
              <a:rPr lang="zh-CN" altLang="en-US" sz="2600" dirty="0">
                <a:latin typeface="微软雅黑" panose="020B0503020204020204" pitchFamily="34" charset="-122"/>
                <a:ea typeface="微软雅黑" panose="020B0503020204020204" pitchFamily="34" charset="-122"/>
              </a:rPr>
              <a:t>危机发生得如此频繁呢？</a:t>
            </a:r>
          </a:p>
        </p:txBody>
      </p:sp>
      <p:sp>
        <p:nvSpPr>
          <p:cNvPr id="5" name="页脚占位符 4"/>
          <p:cNvSpPr>
            <a:spLocks noGrp="1"/>
          </p:cNvSpPr>
          <p:nvPr>
            <p:ph type="ftr" sz="quarter" idx="11"/>
          </p:nvPr>
        </p:nvSpPr>
        <p:spPr/>
        <p:txBody>
          <a:bodyPr/>
          <a:lstStyle/>
          <a:p>
            <a:r>
              <a:rPr lang="zh-CN" altLang="en-US" smtClean="0"/>
              <a:t>国际金融学 范小云</a:t>
            </a:r>
            <a:endParaRPr lang="zh-CN" altLang="en-US" dirty="0"/>
          </a:p>
        </p:txBody>
      </p:sp>
    </p:spTree>
    <p:extLst>
      <p:ext uri="{BB962C8B-B14F-4D97-AF65-F5344CB8AC3E}">
        <p14:creationId xmlns:p14="http://schemas.microsoft.com/office/powerpoint/2010/main" val="103783293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Effect transition="in" filter="fade">
                                      <p:cBhvr>
                                        <p:cTn id="7" dur="500"/>
                                        <p:tgtEl>
                                          <p:spTgt spid="3">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2" end="2"/>
                                            </p:txEl>
                                          </p:spTgt>
                                        </p:tgtEl>
                                        <p:attrNameLst>
                                          <p:attrName>style.visibility</p:attrName>
                                        </p:attrNameLst>
                                      </p:cBhvr>
                                      <p:to>
                                        <p:strVal val="visible"/>
                                      </p:to>
                                    </p:set>
                                    <p:animEffect transition="in" filter="fade">
                                      <p:cBhvr>
                                        <p:cTn id="12" dur="500"/>
                                        <p:tgtEl>
                                          <p:spTgt spid="3">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
                                            <p:txEl>
                                              <p:pRg st="3" end="3"/>
                                            </p:txEl>
                                          </p:spTgt>
                                        </p:tgtEl>
                                        <p:attrNameLst>
                                          <p:attrName>style.visibility</p:attrName>
                                        </p:attrNameLst>
                                      </p:cBhvr>
                                      <p:to>
                                        <p:strVal val="visible"/>
                                      </p:to>
                                    </p:set>
                                    <p:animEffect transition="in" filter="fade">
                                      <p:cBhvr>
                                        <p:cTn id="17" dur="500"/>
                                        <p:tgtEl>
                                          <p:spTgt spid="3">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第二节	国际金融危机的一般理论</a:t>
            </a:r>
            <a:endParaRPr lang="zh-CN" dirty="0"/>
          </a:p>
        </p:txBody>
      </p:sp>
      <p:sp>
        <p:nvSpPr>
          <p:cNvPr id="3" name="内容占位符 2"/>
          <p:cNvSpPr>
            <a:spLocks noGrp="1"/>
          </p:cNvSpPr>
          <p:nvPr>
            <p:ph idx="1"/>
          </p:nvPr>
        </p:nvSpPr>
        <p:spPr>
          <a:xfrm>
            <a:off x="971550" y="1447799"/>
            <a:ext cx="7200900" cy="4841879"/>
          </a:xfrm>
        </p:spPr>
        <p:txBody>
          <a:bodyPr>
            <a:normAutofit/>
          </a:bodyPr>
          <a:lstStyle/>
          <a:p>
            <a:pPr marL="0" indent="0">
              <a:lnSpc>
                <a:spcPct val="110000"/>
              </a:lnSpc>
              <a:buNone/>
            </a:pPr>
            <a:r>
              <a:rPr lang="zh-CN" altLang="en-US" sz="2800" dirty="0">
                <a:solidFill>
                  <a:schemeClr val="accent1"/>
                </a:solidFill>
                <a:latin typeface="微软雅黑" panose="020B0503020204020204" pitchFamily="34" charset="-122"/>
                <a:ea typeface="微软雅黑" panose="020B0503020204020204" pitchFamily="34" charset="-122"/>
              </a:rPr>
              <a:t>一、国际金融危机的一般理论</a:t>
            </a:r>
          </a:p>
          <a:p>
            <a:pPr marL="514350" indent="-514350">
              <a:lnSpc>
                <a:spcPct val="100000"/>
              </a:lnSpc>
              <a:buFont typeface="+mj-lt"/>
              <a:buAutoNum type="arabicPeriod"/>
            </a:pPr>
            <a:r>
              <a:rPr lang="zh-CN" altLang="en-US" sz="2600" dirty="0" smtClean="0">
                <a:latin typeface="微软雅黑" panose="020B0503020204020204" pitchFamily="34" charset="-122"/>
                <a:ea typeface="微软雅黑" panose="020B0503020204020204" pitchFamily="34" charset="-122"/>
              </a:rPr>
              <a:t>海</a:t>
            </a:r>
            <a:r>
              <a:rPr lang="zh-CN" altLang="en-US" sz="2600" dirty="0">
                <a:latin typeface="微软雅黑" panose="020B0503020204020204" pitchFamily="34" charset="-122"/>
                <a:ea typeface="微软雅黑" panose="020B0503020204020204" pitchFamily="34" charset="-122"/>
              </a:rPr>
              <a:t>曼</a:t>
            </a:r>
            <a:r>
              <a:rPr lang="en-US" altLang="zh-CN" sz="2600" dirty="0">
                <a:latin typeface="微软雅黑" panose="020B0503020204020204" pitchFamily="34" charset="-122"/>
                <a:ea typeface="微软雅黑" panose="020B0503020204020204" pitchFamily="34" charset="-122"/>
              </a:rPr>
              <a:t>·</a:t>
            </a:r>
            <a:r>
              <a:rPr lang="zh-CN" altLang="en-US" sz="2600" dirty="0">
                <a:latin typeface="微软雅黑" panose="020B0503020204020204" pitchFamily="34" charset="-122"/>
                <a:ea typeface="微软雅黑" panose="020B0503020204020204" pitchFamily="34" charset="-122"/>
              </a:rPr>
              <a:t>明斯基（</a:t>
            </a:r>
            <a:r>
              <a:rPr lang="en-US" altLang="zh-CN" sz="2600" dirty="0">
                <a:latin typeface="微软雅黑" panose="020B0503020204020204" pitchFamily="34" charset="-122"/>
                <a:ea typeface="微软雅黑" panose="020B0503020204020204" pitchFamily="34" charset="-122"/>
              </a:rPr>
              <a:t>Hyman Minsky</a:t>
            </a:r>
            <a:r>
              <a:rPr lang="zh-CN" altLang="en-US" sz="2600" dirty="0">
                <a:latin typeface="微软雅黑" panose="020B0503020204020204" pitchFamily="34" charset="-122"/>
                <a:ea typeface="微软雅黑" panose="020B0503020204020204" pitchFamily="34" charset="-122"/>
              </a:rPr>
              <a:t>）</a:t>
            </a:r>
          </a:p>
          <a:p>
            <a:pPr marL="0" indent="457200">
              <a:lnSpc>
                <a:spcPct val="100000"/>
              </a:lnSpc>
              <a:buNone/>
            </a:pPr>
            <a:r>
              <a:rPr lang="zh-CN" altLang="en-US" sz="2600" dirty="0" smtClean="0">
                <a:latin typeface="微软雅黑" panose="020B0503020204020204" pitchFamily="34" charset="-122"/>
                <a:ea typeface="微软雅黑" panose="020B0503020204020204" pitchFamily="34" charset="-122"/>
              </a:rPr>
              <a:t>正常</a:t>
            </a:r>
            <a:r>
              <a:rPr lang="zh-CN" altLang="en-US" sz="2600" dirty="0">
                <a:latin typeface="微软雅黑" panose="020B0503020204020204" pitchFamily="34" charset="-122"/>
                <a:ea typeface="微软雅黑" panose="020B0503020204020204" pitchFamily="34" charset="-122"/>
              </a:rPr>
              <a:t>情况下，快速的经济增长需要相应的快速的银行信贷增长的支持。但是，当对资产价格投机需求增加并迅速取代生产性投资需求、人们“买只是为了卖”时，就会出现过度交易，投资者大量购买的结果是银行信贷增加，而抵押（质押）品的价格是越来越通胀的，于是实现了泡沫的加速成长。</a:t>
            </a:r>
          </a:p>
        </p:txBody>
      </p:sp>
      <p:sp>
        <p:nvSpPr>
          <p:cNvPr id="5" name="页脚占位符 4"/>
          <p:cNvSpPr>
            <a:spLocks noGrp="1"/>
          </p:cNvSpPr>
          <p:nvPr>
            <p:ph type="ftr" sz="quarter" idx="11"/>
          </p:nvPr>
        </p:nvSpPr>
        <p:spPr/>
        <p:txBody>
          <a:bodyPr/>
          <a:lstStyle/>
          <a:p>
            <a:r>
              <a:rPr lang="zh-CN" altLang="en-US" smtClean="0"/>
              <a:t>国际金融学 范小云</a:t>
            </a:r>
            <a:endParaRPr lang="zh-CN" altLang="en-US" dirty="0"/>
          </a:p>
        </p:txBody>
      </p:sp>
    </p:spTree>
    <p:extLst>
      <p:ext uri="{BB962C8B-B14F-4D97-AF65-F5344CB8AC3E}">
        <p14:creationId xmlns:p14="http://schemas.microsoft.com/office/powerpoint/2010/main" val="103004316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animEffect transition="in" filter="fade">
                                      <p:cBhvr>
                                        <p:cTn id="7" dur="500"/>
                                        <p:tgtEl>
                                          <p:spTgt spid="3">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第二节	国际金融危机的一般理论</a:t>
            </a:r>
            <a:endParaRPr lang="zh-CN" dirty="0"/>
          </a:p>
        </p:txBody>
      </p:sp>
      <p:sp>
        <p:nvSpPr>
          <p:cNvPr id="3" name="内容占位符 2"/>
          <p:cNvSpPr>
            <a:spLocks noGrp="1"/>
          </p:cNvSpPr>
          <p:nvPr>
            <p:ph idx="1"/>
          </p:nvPr>
        </p:nvSpPr>
        <p:spPr>
          <a:xfrm>
            <a:off x="971550" y="1447799"/>
            <a:ext cx="7200900" cy="4841879"/>
          </a:xfrm>
        </p:spPr>
        <p:txBody>
          <a:bodyPr>
            <a:normAutofit/>
          </a:bodyPr>
          <a:lstStyle/>
          <a:p>
            <a:pPr marL="0" indent="0">
              <a:lnSpc>
                <a:spcPct val="110000"/>
              </a:lnSpc>
              <a:buNone/>
            </a:pPr>
            <a:r>
              <a:rPr lang="zh-CN" altLang="en-US" sz="2800" dirty="0">
                <a:solidFill>
                  <a:schemeClr val="accent1"/>
                </a:solidFill>
                <a:latin typeface="微软雅黑" panose="020B0503020204020204" pitchFamily="34" charset="-122"/>
                <a:ea typeface="微软雅黑" panose="020B0503020204020204" pitchFamily="34" charset="-122"/>
              </a:rPr>
              <a:t>一、国际金融危机的一般理论</a:t>
            </a:r>
          </a:p>
          <a:p>
            <a:pPr marL="514350" indent="-514350">
              <a:lnSpc>
                <a:spcPct val="100000"/>
              </a:lnSpc>
              <a:buFont typeface="+mj-lt"/>
              <a:buAutoNum type="arabicPeriod"/>
            </a:pPr>
            <a:r>
              <a:rPr lang="zh-CN" altLang="en-US" sz="2600" dirty="0" smtClean="0">
                <a:latin typeface="微软雅黑" panose="020B0503020204020204" pitchFamily="34" charset="-122"/>
                <a:ea typeface="微软雅黑" panose="020B0503020204020204" pitchFamily="34" charset="-122"/>
              </a:rPr>
              <a:t>海</a:t>
            </a:r>
            <a:r>
              <a:rPr lang="zh-CN" altLang="en-US" sz="2600" dirty="0">
                <a:latin typeface="微软雅黑" panose="020B0503020204020204" pitchFamily="34" charset="-122"/>
                <a:ea typeface="微软雅黑" panose="020B0503020204020204" pitchFamily="34" charset="-122"/>
              </a:rPr>
              <a:t>曼</a:t>
            </a:r>
            <a:r>
              <a:rPr lang="en-US" altLang="zh-CN" sz="2600" dirty="0">
                <a:latin typeface="微软雅黑" panose="020B0503020204020204" pitchFamily="34" charset="-122"/>
                <a:ea typeface="微软雅黑" panose="020B0503020204020204" pitchFamily="34" charset="-122"/>
              </a:rPr>
              <a:t>·</a:t>
            </a:r>
            <a:r>
              <a:rPr lang="zh-CN" altLang="en-US" sz="2600" dirty="0">
                <a:latin typeface="微软雅黑" panose="020B0503020204020204" pitchFamily="34" charset="-122"/>
                <a:ea typeface="微软雅黑" panose="020B0503020204020204" pitchFamily="34" charset="-122"/>
              </a:rPr>
              <a:t>明斯基（</a:t>
            </a:r>
            <a:r>
              <a:rPr lang="en-US" altLang="zh-CN" sz="2600" dirty="0">
                <a:latin typeface="微软雅黑" panose="020B0503020204020204" pitchFamily="34" charset="-122"/>
                <a:ea typeface="微软雅黑" panose="020B0503020204020204" pitchFamily="34" charset="-122"/>
              </a:rPr>
              <a:t>Hyman Minsky</a:t>
            </a:r>
            <a:r>
              <a:rPr lang="zh-CN" altLang="en-US" sz="2600" dirty="0">
                <a:latin typeface="微软雅黑" panose="020B0503020204020204" pitchFamily="34" charset="-122"/>
                <a:ea typeface="微软雅黑" panose="020B0503020204020204" pitchFamily="34" charset="-122"/>
              </a:rPr>
              <a:t>）</a:t>
            </a:r>
          </a:p>
          <a:p>
            <a:pPr marL="0" indent="457200">
              <a:lnSpc>
                <a:spcPct val="100000"/>
              </a:lnSpc>
              <a:buNone/>
            </a:pPr>
            <a:r>
              <a:rPr lang="zh-CN" altLang="en-US" sz="2600" dirty="0" smtClean="0">
                <a:latin typeface="微软雅黑" panose="020B0503020204020204" pitchFamily="34" charset="-122"/>
                <a:ea typeface="微软雅黑" panose="020B0503020204020204" pitchFamily="34" charset="-122"/>
              </a:rPr>
              <a:t>任何</a:t>
            </a:r>
            <a:r>
              <a:rPr lang="zh-CN" altLang="en-US" sz="2600" dirty="0">
                <a:latin typeface="微软雅黑" panose="020B0503020204020204" pitchFamily="34" charset="-122"/>
                <a:ea typeface="微软雅黑" panose="020B0503020204020204" pitchFamily="34" charset="-122"/>
              </a:rPr>
              <a:t>事件都可能引致泡沫的破裂，此时，市场突然只有恐慌性抛售，资产价格急速下跌，投资者或者抛售资产遭受巨大损失，或者变现不成功，最后出现违约或破产。而银行发现贷款人不能偿还债务，而原来的贷款抵押（质押）品大幅贬值，于是出现了信用枯竭（</a:t>
            </a:r>
            <a:r>
              <a:rPr lang="en-US" altLang="zh-CN" sz="2600" dirty="0">
                <a:latin typeface="微软雅黑" panose="020B0503020204020204" pitchFamily="34" charset="-122"/>
                <a:ea typeface="微软雅黑" panose="020B0503020204020204" pitchFamily="34" charset="-122"/>
              </a:rPr>
              <a:t>Credit dry up</a:t>
            </a:r>
            <a:r>
              <a:rPr lang="zh-CN" altLang="en-US" sz="2600" dirty="0">
                <a:latin typeface="微软雅黑" panose="020B0503020204020204" pitchFamily="34" charset="-122"/>
                <a:ea typeface="微软雅黑" panose="020B0503020204020204" pitchFamily="34" charset="-122"/>
              </a:rPr>
              <a:t>）。好公司也得不到贷款，或优良贷款也被要求提前偿还，以确保银行的资本充足率。</a:t>
            </a:r>
          </a:p>
        </p:txBody>
      </p:sp>
      <p:sp>
        <p:nvSpPr>
          <p:cNvPr id="5" name="页脚占位符 4"/>
          <p:cNvSpPr>
            <a:spLocks noGrp="1"/>
          </p:cNvSpPr>
          <p:nvPr>
            <p:ph type="ftr" sz="quarter" idx="11"/>
          </p:nvPr>
        </p:nvSpPr>
        <p:spPr/>
        <p:txBody>
          <a:bodyPr/>
          <a:lstStyle/>
          <a:p>
            <a:r>
              <a:rPr lang="zh-CN" altLang="en-US" smtClean="0"/>
              <a:t>国际金融学 范小云</a:t>
            </a:r>
            <a:endParaRPr lang="zh-CN" altLang="en-US" dirty="0"/>
          </a:p>
        </p:txBody>
      </p:sp>
    </p:spTree>
    <p:extLst>
      <p:ext uri="{BB962C8B-B14F-4D97-AF65-F5344CB8AC3E}">
        <p14:creationId xmlns:p14="http://schemas.microsoft.com/office/powerpoint/2010/main" val="98185308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animEffect transition="in" filter="fade">
                                      <p:cBhvr>
                                        <p:cTn id="7" dur="500"/>
                                        <p:tgtEl>
                                          <p:spTgt spid="3">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第二节	国际金融危机的一般理论</a:t>
            </a:r>
            <a:endParaRPr lang="zh-CN" dirty="0"/>
          </a:p>
        </p:txBody>
      </p:sp>
      <p:sp>
        <p:nvSpPr>
          <p:cNvPr id="3" name="内容占位符 2"/>
          <p:cNvSpPr>
            <a:spLocks noGrp="1"/>
          </p:cNvSpPr>
          <p:nvPr>
            <p:ph idx="1"/>
          </p:nvPr>
        </p:nvSpPr>
        <p:spPr>
          <a:xfrm>
            <a:off x="971550" y="1447799"/>
            <a:ext cx="7200900" cy="4841879"/>
          </a:xfrm>
        </p:spPr>
        <p:txBody>
          <a:bodyPr>
            <a:normAutofit/>
          </a:bodyPr>
          <a:lstStyle/>
          <a:p>
            <a:pPr marL="0" indent="0">
              <a:lnSpc>
                <a:spcPct val="110000"/>
              </a:lnSpc>
              <a:buNone/>
            </a:pPr>
            <a:r>
              <a:rPr lang="zh-CN" altLang="en-US" sz="2800" dirty="0">
                <a:solidFill>
                  <a:schemeClr val="accent1"/>
                </a:solidFill>
                <a:latin typeface="微软雅黑" panose="020B0503020204020204" pitchFamily="34" charset="-122"/>
                <a:ea typeface="微软雅黑" panose="020B0503020204020204" pitchFamily="34" charset="-122"/>
              </a:rPr>
              <a:t>一、国际金融危机的一般理论</a:t>
            </a:r>
          </a:p>
          <a:p>
            <a:pPr marL="514350" indent="-514350">
              <a:lnSpc>
                <a:spcPct val="100000"/>
              </a:lnSpc>
              <a:buFont typeface="+mj-lt"/>
              <a:buAutoNum type="arabicPeriod" startAt="2"/>
            </a:pPr>
            <a:r>
              <a:rPr lang="zh-CN" altLang="en-US" sz="2600" dirty="0">
                <a:latin typeface="微软雅黑" panose="020B0503020204020204" pitchFamily="34" charset="-122"/>
                <a:ea typeface="微软雅黑" panose="020B0503020204020204" pitchFamily="34" charset="-122"/>
              </a:rPr>
              <a:t>凯恩斯（</a:t>
            </a:r>
            <a:r>
              <a:rPr lang="en-US" altLang="zh-CN" sz="2600" dirty="0">
                <a:latin typeface="微软雅黑" panose="020B0503020204020204" pitchFamily="34" charset="-122"/>
                <a:ea typeface="微软雅黑" panose="020B0503020204020204" pitchFamily="34" charset="-122"/>
              </a:rPr>
              <a:t>John Maynard Keynes</a:t>
            </a:r>
            <a:r>
              <a:rPr lang="zh-CN" altLang="en-US" sz="2600" dirty="0">
                <a:latin typeface="微软雅黑" panose="020B0503020204020204" pitchFamily="34" charset="-122"/>
                <a:ea typeface="微软雅黑" panose="020B0503020204020204" pitchFamily="34" charset="-122"/>
              </a:rPr>
              <a:t>）</a:t>
            </a:r>
          </a:p>
          <a:p>
            <a:pPr marL="0" indent="457200">
              <a:lnSpc>
                <a:spcPct val="100000"/>
              </a:lnSpc>
              <a:buNone/>
            </a:pPr>
            <a:r>
              <a:rPr lang="zh-CN" altLang="en-US" sz="2600" dirty="0" smtClean="0">
                <a:latin typeface="微软雅黑" panose="020B0503020204020204" pitchFamily="34" charset="-122"/>
                <a:ea typeface="微软雅黑" panose="020B0503020204020204" pitchFamily="34" charset="-122"/>
              </a:rPr>
              <a:t>凯恩斯</a:t>
            </a:r>
            <a:r>
              <a:rPr lang="zh-CN" altLang="en-US" sz="2600" dirty="0">
                <a:latin typeface="微软雅黑" panose="020B0503020204020204" pitchFamily="34" charset="-122"/>
                <a:ea typeface="微软雅黑" panose="020B0503020204020204" pitchFamily="34" charset="-122"/>
              </a:rPr>
              <a:t>将资本分为善意资本（</a:t>
            </a:r>
            <a:r>
              <a:rPr lang="en-US" altLang="zh-CN" sz="2600" dirty="0">
                <a:latin typeface="微软雅黑" panose="020B0503020204020204" pitchFamily="34" charset="-122"/>
                <a:ea typeface="微软雅黑" panose="020B0503020204020204" pitchFamily="34" charset="-122"/>
              </a:rPr>
              <a:t>virtuous capital</a:t>
            </a:r>
            <a:r>
              <a:rPr lang="zh-CN" altLang="en-US" sz="2600" dirty="0">
                <a:latin typeface="微软雅黑" panose="020B0503020204020204" pitchFamily="34" charset="-122"/>
                <a:ea typeface="微软雅黑" panose="020B0503020204020204" pitchFamily="34" charset="-122"/>
              </a:rPr>
              <a:t>，投资于生产、基建和服务的资本）和恶意资本（</a:t>
            </a:r>
            <a:r>
              <a:rPr lang="en-US" altLang="zh-CN" sz="2600" dirty="0">
                <a:latin typeface="微软雅黑" panose="020B0503020204020204" pitchFamily="34" charset="-122"/>
                <a:ea typeface="微软雅黑" panose="020B0503020204020204" pitchFamily="34" charset="-122"/>
              </a:rPr>
              <a:t>vicious capital</a:t>
            </a:r>
            <a:r>
              <a:rPr lang="zh-CN" altLang="en-US" sz="2600" dirty="0">
                <a:latin typeface="微软雅黑" panose="020B0503020204020204" pitchFamily="34" charset="-122"/>
                <a:ea typeface="微软雅黑" panose="020B0503020204020204" pitchFamily="34" charset="-122"/>
              </a:rPr>
              <a:t>，纯粹为投机目的）。正是恶意资本和错误的政府政策导致</a:t>
            </a:r>
            <a:r>
              <a:rPr lang="en-US" altLang="zh-CN" sz="2600" dirty="0">
                <a:latin typeface="微软雅黑" panose="020B0503020204020204" pitchFamily="34" charset="-122"/>
                <a:ea typeface="微软雅黑" panose="020B0503020204020204" pitchFamily="34" charset="-122"/>
              </a:rPr>
              <a:t>1930</a:t>
            </a:r>
            <a:r>
              <a:rPr lang="zh-CN" altLang="en-US" sz="2600" dirty="0">
                <a:latin typeface="微软雅黑" panose="020B0503020204020204" pitchFamily="34" charset="-122"/>
                <a:ea typeface="微软雅黑" panose="020B0503020204020204" pitchFamily="34" charset="-122"/>
              </a:rPr>
              <a:t>年代的大萧条。</a:t>
            </a:r>
          </a:p>
          <a:p>
            <a:pPr marL="0" indent="457200">
              <a:lnSpc>
                <a:spcPct val="100000"/>
              </a:lnSpc>
              <a:buNone/>
            </a:pPr>
            <a:r>
              <a:rPr lang="zh-CN" altLang="en-US" sz="2600" dirty="0" smtClean="0">
                <a:latin typeface="微软雅黑" panose="020B0503020204020204" pitchFamily="34" charset="-122"/>
                <a:ea typeface="微软雅黑" panose="020B0503020204020204" pitchFamily="34" charset="-122"/>
              </a:rPr>
              <a:t>凯恩斯</a:t>
            </a:r>
            <a:r>
              <a:rPr lang="zh-CN" altLang="en-US" sz="2600" dirty="0">
                <a:latin typeface="微软雅黑" panose="020B0503020204020204" pitchFamily="34" charset="-122"/>
                <a:ea typeface="微软雅黑" panose="020B0503020204020204" pitchFamily="34" charset="-122"/>
              </a:rPr>
              <a:t>否定了萨伊定律，提出了需求经济学，认为政府部门有义务进行需求管理来弥补危机时期私人部门需求的不足。</a:t>
            </a:r>
          </a:p>
        </p:txBody>
      </p:sp>
      <p:sp>
        <p:nvSpPr>
          <p:cNvPr id="5" name="页脚占位符 4"/>
          <p:cNvSpPr>
            <a:spLocks noGrp="1"/>
          </p:cNvSpPr>
          <p:nvPr>
            <p:ph type="ftr" sz="quarter" idx="11"/>
          </p:nvPr>
        </p:nvSpPr>
        <p:spPr/>
        <p:txBody>
          <a:bodyPr/>
          <a:lstStyle/>
          <a:p>
            <a:r>
              <a:rPr lang="zh-CN" altLang="en-US" smtClean="0"/>
              <a:t>国际金融学 范小云</a:t>
            </a:r>
            <a:endParaRPr lang="zh-CN" altLang="en-US" dirty="0"/>
          </a:p>
        </p:txBody>
      </p:sp>
    </p:spTree>
    <p:extLst>
      <p:ext uri="{BB962C8B-B14F-4D97-AF65-F5344CB8AC3E}">
        <p14:creationId xmlns:p14="http://schemas.microsoft.com/office/powerpoint/2010/main" val="179209785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Effect transition="in" filter="fade">
                                      <p:cBhvr>
                                        <p:cTn id="7" dur="500"/>
                                        <p:tgtEl>
                                          <p:spTgt spid="3">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2" end="2"/>
                                            </p:txEl>
                                          </p:spTgt>
                                        </p:tgtEl>
                                        <p:attrNameLst>
                                          <p:attrName>style.visibility</p:attrName>
                                        </p:attrNameLst>
                                      </p:cBhvr>
                                      <p:to>
                                        <p:strVal val="visible"/>
                                      </p:to>
                                    </p:set>
                                    <p:animEffect transition="in" filter="fade">
                                      <p:cBhvr>
                                        <p:cTn id="12" dur="500"/>
                                        <p:tgtEl>
                                          <p:spTgt spid="3">
                                            <p:txEl>
                                              <p:pRg st="2" end="2"/>
                                            </p:txEl>
                                          </p:spTgt>
                                        </p:tgtEl>
                                      </p:cBhvr>
                                    </p:animEffect>
                                  </p:childTnLst>
                                </p:cTn>
                              </p:par>
                              <p:par>
                                <p:cTn id="13" presetID="10" presetClass="entr" presetSubtype="0" fill="hold" nodeType="with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animEffect transition="in" filter="fade">
                                      <p:cBhvr>
                                        <p:cTn id="15" dur="500"/>
                                        <p:tgtEl>
                                          <p:spTgt spid="3">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第二节	国际金融危机的一般理论</a:t>
            </a:r>
            <a:endParaRPr lang="zh-CN" dirty="0"/>
          </a:p>
        </p:txBody>
      </p:sp>
      <p:sp>
        <p:nvSpPr>
          <p:cNvPr id="3" name="内容占位符 2"/>
          <p:cNvSpPr>
            <a:spLocks noGrp="1"/>
          </p:cNvSpPr>
          <p:nvPr>
            <p:ph idx="1"/>
          </p:nvPr>
        </p:nvSpPr>
        <p:spPr>
          <a:xfrm>
            <a:off x="971550" y="1447799"/>
            <a:ext cx="7200900" cy="4841879"/>
          </a:xfrm>
        </p:spPr>
        <p:txBody>
          <a:bodyPr>
            <a:normAutofit/>
          </a:bodyPr>
          <a:lstStyle/>
          <a:p>
            <a:pPr marL="0" indent="0">
              <a:lnSpc>
                <a:spcPct val="110000"/>
              </a:lnSpc>
              <a:buNone/>
            </a:pPr>
            <a:r>
              <a:rPr lang="zh-CN" altLang="en-US" sz="2800" dirty="0">
                <a:solidFill>
                  <a:schemeClr val="accent1"/>
                </a:solidFill>
                <a:latin typeface="微软雅黑" panose="020B0503020204020204" pitchFamily="34" charset="-122"/>
                <a:ea typeface="微软雅黑" panose="020B0503020204020204" pitchFamily="34" charset="-122"/>
              </a:rPr>
              <a:t>一、国际金融危机的一般理论</a:t>
            </a:r>
          </a:p>
          <a:p>
            <a:pPr marL="514350" indent="-514350">
              <a:lnSpc>
                <a:spcPct val="100000"/>
              </a:lnSpc>
              <a:buFont typeface="+mj-lt"/>
              <a:buAutoNum type="arabicPeriod" startAt="3"/>
            </a:pPr>
            <a:r>
              <a:rPr lang="zh-CN" altLang="en-US" sz="2600" dirty="0">
                <a:latin typeface="微软雅黑" panose="020B0503020204020204" pitchFamily="34" charset="-122"/>
                <a:ea typeface="微软雅黑" panose="020B0503020204020204" pitchFamily="34" charset="-122"/>
              </a:rPr>
              <a:t>金德尔伯格（</a:t>
            </a:r>
            <a:r>
              <a:rPr lang="en-US" altLang="zh-CN" sz="2600" dirty="0">
                <a:latin typeface="微软雅黑" panose="020B0503020204020204" pitchFamily="34" charset="-122"/>
                <a:ea typeface="微软雅黑" panose="020B0503020204020204" pitchFamily="34" charset="-122"/>
              </a:rPr>
              <a:t>Charles </a:t>
            </a:r>
            <a:r>
              <a:rPr lang="en-US" altLang="zh-CN" sz="2600" dirty="0" err="1">
                <a:latin typeface="微软雅黑" panose="020B0503020204020204" pitchFamily="34" charset="-122"/>
                <a:ea typeface="微软雅黑" panose="020B0503020204020204" pitchFamily="34" charset="-122"/>
              </a:rPr>
              <a:t>Kindleberger</a:t>
            </a:r>
            <a:r>
              <a:rPr lang="zh-CN" altLang="en-US" sz="2600" dirty="0">
                <a:latin typeface="微软雅黑" panose="020B0503020204020204" pitchFamily="34" charset="-122"/>
                <a:ea typeface="微软雅黑" panose="020B0503020204020204" pitchFamily="34" charset="-122"/>
              </a:rPr>
              <a:t>）</a:t>
            </a:r>
          </a:p>
          <a:p>
            <a:pPr marL="0" indent="457200">
              <a:lnSpc>
                <a:spcPct val="100000"/>
              </a:lnSpc>
              <a:buNone/>
            </a:pPr>
            <a:r>
              <a:rPr lang="zh-CN" altLang="en-US" sz="2600" dirty="0" smtClean="0">
                <a:latin typeface="微软雅黑" panose="020B0503020204020204" pitchFamily="34" charset="-122"/>
                <a:ea typeface="微软雅黑" panose="020B0503020204020204" pitchFamily="34" charset="-122"/>
              </a:rPr>
              <a:t>金德尔伯格</a:t>
            </a:r>
            <a:r>
              <a:rPr lang="zh-CN" altLang="en-US" sz="2600" dirty="0">
                <a:latin typeface="微软雅黑" panose="020B0503020204020204" pitchFamily="34" charset="-122"/>
                <a:ea typeface="微软雅黑" panose="020B0503020204020204" pitchFamily="34" charset="-122"/>
              </a:rPr>
              <a:t>特别关注为什么金融危机往往比最初的错误本身更严重、更持久？他指出一国国内和国际范围内具有超然地位或“盟主”地位的最后贷款人的重要性。不仅最后贷款人在恐慌发生前的救助是重要的，而且最后贷款人存在本身就能一定程度上避免金融恐慌。</a:t>
            </a:r>
          </a:p>
          <a:p>
            <a:pPr marL="0" indent="457200">
              <a:lnSpc>
                <a:spcPct val="100000"/>
              </a:lnSpc>
              <a:buNone/>
            </a:pPr>
            <a:r>
              <a:rPr lang="zh-CN" altLang="en-US" sz="2600" dirty="0" smtClean="0">
                <a:latin typeface="微软雅黑" panose="020B0503020204020204" pitchFamily="34" charset="-122"/>
                <a:ea typeface="微软雅黑" panose="020B0503020204020204" pitchFamily="34" charset="-122"/>
              </a:rPr>
              <a:t>大</a:t>
            </a:r>
            <a:r>
              <a:rPr lang="zh-CN" altLang="en-US" sz="2600" dirty="0">
                <a:latin typeface="微软雅黑" panose="020B0503020204020204" pitchFamily="34" charset="-122"/>
                <a:ea typeface="微软雅黑" panose="020B0503020204020204" pitchFamily="34" charset="-122"/>
              </a:rPr>
              <a:t>萧条持续时间长的原因就是缺乏国际最后贷款人，导致各国政府纷纷采取以邻为壑政策。</a:t>
            </a:r>
          </a:p>
        </p:txBody>
      </p:sp>
      <p:sp>
        <p:nvSpPr>
          <p:cNvPr id="5" name="页脚占位符 4"/>
          <p:cNvSpPr>
            <a:spLocks noGrp="1"/>
          </p:cNvSpPr>
          <p:nvPr>
            <p:ph type="ftr" sz="quarter" idx="11"/>
          </p:nvPr>
        </p:nvSpPr>
        <p:spPr/>
        <p:txBody>
          <a:bodyPr/>
          <a:lstStyle/>
          <a:p>
            <a:r>
              <a:rPr lang="zh-CN" altLang="en-US" smtClean="0"/>
              <a:t>国际金融学 范小云</a:t>
            </a:r>
            <a:endParaRPr lang="zh-CN" altLang="en-US" dirty="0"/>
          </a:p>
        </p:txBody>
      </p:sp>
    </p:spTree>
    <p:extLst>
      <p:ext uri="{BB962C8B-B14F-4D97-AF65-F5344CB8AC3E}">
        <p14:creationId xmlns:p14="http://schemas.microsoft.com/office/powerpoint/2010/main" val="163955095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Effect transition="in" filter="fade">
                                      <p:cBhvr>
                                        <p:cTn id="7" dur="500"/>
                                        <p:tgtEl>
                                          <p:spTgt spid="3">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2" end="2"/>
                                            </p:txEl>
                                          </p:spTgt>
                                        </p:tgtEl>
                                        <p:attrNameLst>
                                          <p:attrName>style.visibility</p:attrName>
                                        </p:attrNameLst>
                                      </p:cBhvr>
                                      <p:to>
                                        <p:strVal val="visible"/>
                                      </p:to>
                                    </p:set>
                                    <p:animEffect transition="in" filter="fade">
                                      <p:cBhvr>
                                        <p:cTn id="12" dur="500"/>
                                        <p:tgtEl>
                                          <p:spTgt spid="3">
                                            <p:txEl>
                                              <p:pRg st="2" end="2"/>
                                            </p:txEl>
                                          </p:spTgt>
                                        </p:tgtEl>
                                      </p:cBhvr>
                                    </p:animEffect>
                                  </p:childTnLst>
                                </p:cTn>
                              </p:par>
                              <p:par>
                                <p:cTn id="13" presetID="10" presetClass="entr" presetSubtype="0" fill="hold" nodeType="with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animEffect transition="in" filter="fade">
                                      <p:cBhvr>
                                        <p:cTn id="15" dur="500"/>
                                        <p:tgtEl>
                                          <p:spTgt spid="3">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第二节	国际金融危机的一般理论</a:t>
            </a:r>
            <a:endParaRPr lang="zh-CN" dirty="0"/>
          </a:p>
        </p:txBody>
      </p:sp>
      <p:sp>
        <p:nvSpPr>
          <p:cNvPr id="3" name="内容占位符 2"/>
          <p:cNvSpPr>
            <a:spLocks noGrp="1"/>
          </p:cNvSpPr>
          <p:nvPr>
            <p:ph idx="1"/>
          </p:nvPr>
        </p:nvSpPr>
        <p:spPr>
          <a:xfrm>
            <a:off x="971550" y="1447799"/>
            <a:ext cx="7200900" cy="4841879"/>
          </a:xfrm>
        </p:spPr>
        <p:txBody>
          <a:bodyPr>
            <a:normAutofit fontScale="92500"/>
          </a:bodyPr>
          <a:lstStyle/>
          <a:p>
            <a:pPr marL="0" indent="0">
              <a:lnSpc>
                <a:spcPct val="110000"/>
              </a:lnSpc>
              <a:buNone/>
            </a:pPr>
            <a:r>
              <a:rPr lang="zh-CN" altLang="en-US" sz="2800" dirty="0">
                <a:solidFill>
                  <a:schemeClr val="accent1"/>
                </a:solidFill>
                <a:latin typeface="微软雅黑" panose="020B0503020204020204" pitchFamily="34" charset="-122"/>
                <a:ea typeface="微软雅黑" panose="020B0503020204020204" pitchFamily="34" charset="-122"/>
              </a:rPr>
              <a:t>一、国际金融危机的一般理论</a:t>
            </a:r>
          </a:p>
          <a:p>
            <a:pPr marL="514350" indent="-514350">
              <a:lnSpc>
                <a:spcPct val="100000"/>
              </a:lnSpc>
              <a:buFont typeface="+mj-lt"/>
              <a:buAutoNum type="arabicPeriod" startAt="4"/>
            </a:pPr>
            <a:r>
              <a:rPr lang="zh-CN" altLang="en-US" sz="2600" dirty="0">
                <a:latin typeface="微软雅黑" panose="020B0503020204020204" pitchFamily="34" charset="-122"/>
                <a:ea typeface="微软雅黑" panose="020B0503020204020204" pitchFamily="34" charset="-122"/>
              </a:rPr>
              <a:t>熊彼特（</a:t>
            </a:r>
            <a:r>
              <a:rPr lang="en-US" altLang="zh-CN" sz="2600" dirty="0">
                <a:latin typeface="微软雅黑" panose="020B0503020204020204" pitchFamily="34" charset="-122"/>
                <a:ea typeface="微软雅黑" panose="020B0503020204020204" pitchFamily="34" charset="-122"/>
              </a:rPr>
              <a:t>Joseph Schumpeter</a:t>
            </a:r>
            <a:r>
              <a:rPr lang="zh-CN" altLang="en-US" sz="2600" dirty="0">
                <a:latin typeface="微软雅黑" panose="020B0503020204020204" pitchFamily="34" charset="-122"/>
                <a:ea typeface="微软雅黑" panose="020B0503020204020204" pitchFamily="34" charset="-122"/>
              </a:rPr>
              <a:t>）</a:t>
            </a:r>
          </a:p>
          <a:p>
            <a:pPr marL="0" indent="457200">
              <a:lnSpc>
                <a:spcPct val="100000"/>
              </a:lnSpc>
              <a:buNone/>
            </a:pPr>
            <a:r>
              <a:rPr lang="zh-CN" altLang="en-US" sz="2600" dirty="0" smtClean="0">
                <a:latin typeface="微软雅黑" panose="020B0503020204020204" pitchFamily="34" charset="-122"/>
                <a:ea typeface="微软雅黑" panose="020B0503020204020204" pitchFamily="34" charset="-122"/>
              </a:rPr>
              <a:t>熊</a:t>
            </a:r>
            <a:r>
              <a:rPr lang="zh-CN" altLang="en-US" sz="2600" dirty="0">
                <a:latin typeface="微软雅黑" panose="020B0503020204020204" pitchFamily="34" charset="-122"/>
                <a:ea typeface="微软雅黑" panose="020B0503020204020204" pitchFamily="34" charset="-122"/>
              </a:rPr>
              <a:t>彼特关注繁荣－崩溃周期背后的根本原因。</a:t>
            </a:r>
          </a:p>
          <a:p>
            <a:pPr marL="0" indent="457200">
              <a:lnSpc>
                <a:spcPct val="100000"/>
              </a:lnSpc>
              <a:buNone/>
            </a:pPr>
            <a:r>
              <a:rPr lang="zh-CN" altLang="en-US" sz="2600" dirty="0" smtClean="0">
                <a:latin typeface="微软雅黑" panose="020B0503020204020204" pitchFamily="34" charset="-122"/>
                <a:ea typeface="微软雅黑" panose="020B0503020204020204" pitchFamily="34" charset="-122"/>
              </a:rPr>
              <a:t>他</a:t>
            </a:r>
            <a:r>
              <a:rPr lang="zh-CN" altLang="en-US" sz="2600" dirty="0">
                <a:latin typeface="微软雅黑" panose="020B0503020204020204" pitchFamily="34" charset="-122"/>
                <a:ea typeface="微软雅黑" panose="020B0503020204020204" pitchFamily="34" charset="-122"/>
              </a:rPr>
              <a:t>认为是企业家而不是企业是资本主义经济的基石，是创新和企业家愿意引入创新构成了资本主义经济发展的强大动力。这样，创新成为了体系进步和不稳定的原因。“创造性地破坏”的体系发展迫使旧的技术、产品、经济金融体系快速适应或被淘汰。当创新步伐突然加快，就有可能发生严重的危机。</a:t>
            </a:r>
          </a:p>
          <a:p>
            <a:pPr marL="0" indent="457200">
              <a:lnSpc>
                <a:spcPct val="100000"/>
              </a:lnSpc>
              <a:buNone/>
            </a:pPr>
            <a:r>
              <a:rPr lang="zh-CN" altLang="en-US" sz="2600" dirty="0" smtClean="0">
                <a:latin typeface="微软雅黑" panose="020B0503020204020204" pitchFamily="34" charset="-122"/>
                <a:ea typeface="微软雅黑" panose="020B0503020204020204" pitchFamily="34" charset="-122"/>
              </a:rPr>
              <a:t>这</a:t>
            </a:r>
            <a:r>
              <a:rPr lang="zh-CN" altLang="en-US" sz="2600" dirty="0">
                <a:latin typeface="微软雅黑" panose="020B0503020204020204" pitchFamily="34" charset="-122"/>
                <a:ea typeface="微软雅黑" panose="020B0503020204020204" pitchFamily="34" charset="-122"/>
              </a:rPr>
              <a:t>是否意味着危机是好的、必要的？</a:t>
            </a:r>
          </a:p>
        </p:txBody>
      </p:sp>
      <p:sp>
        <p:nvSpPr>
          <p:cNvPr id="5" name="页脚占位符 4"/>
          <p:cNvSpPr>
            <a:spLocks noGrp="1"/>
          </p:cNvSpPr>
          <p:nvPr>
            <p:ph type="ftr" sz="quarter" idx="11"/>
          </p:nvPr>
        </p:nvSpPr>
        <p:spPr/>
        <p:txBody>
          <a:bodyPr/>
          <a:lstStyle/>
          <a:p>
            <a:r>
              <a:rPr lang="zh-CN" altLang="en-US" smtClean="0"/>
              <a:t>国际金融学 范小云</a:t>
            </a:r>
            <a:endParaRPr lang="zh-CN" altLang="en-US" dirty="0"/>
          </a:p>
        </p:txBody>
      </p:sp>
    </p:spTree>
    <p:extLst>
      <p:ext uri="{BB962C8B-B14F-4D97-AF65-F5344CB8AC3E}">
        <p14:creationId xmlns:p14="http://schemas.microsoft.com/office/powerpoint/2010/main" val="307485990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Effect transition="in" filter="fade">
                                      <p:cBhvr>
                                        <p:cTn id="7" dur="500"/>
                                        <p:tgtEl>
                                          <p:spTgt spid="3">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2" end="2"/>
                                            </p:txEl>
                                          </p:spTgt>
                                        </p:tgtEl>
                                        <p:attrNameLst>
                                          <p:attrName>style.visibility</p:attrName>
                                        </p:attrNameLst>
                                      </p:cBhvr>
                                      <p:to>
                                        <p:strVal val="visible"/>
                                      </p:to>
                                    </p:set>
                                    <p:animEffect transition="in" filter="fade">
                                      <p:cBhvr>
                                        <p:cTn id="12" dur="500"/>
                                        <p:tgtEl>
                                          <p:spTgt spid="3">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
                                            <p:txEl>
                                              <p:pRg st="3" end="3"/>
                                            </p:txEl>
                                          </p:spTgt>
                                        </p:tgtEl>
                                        <p:attrNameLst>
                                          <p:attrName>style.visibility</p:attrName>
                                        </p:attrNameLst>
                                      </p:cBhvr>
                                      <p:to>
                                        <p:strVal val="visible"/>
                                      </p:to>
                                    </p:set>
                                    <p:animEffect transition="in" filter="fade">
                                      <p:cBhvr>
                                        <p:cTn id="17" dur="500"/>
                                        <p:tgtEl>
                                          <p:spTgt spid="3">
                                            <p:txEl>
                                              <p:pRg st="3" end="3"/>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3">
                                            <p:txEl>
                                              <p:pRg st="4" end="4"/>
                                            </p:txEl>
                                          </p:spTgt>
                                        </p:tgtEl>
                                        <p:attrNameLst>
                                          <p:attrName>style.visibility</p:attrName>
                                        </p:attrNameLst>
                                      </p:cBhvr>
                                      <p:to>
                                        <p:strVal val="visible"/>
                                      </p:to>
                                    </p:set>
                                    <p:animEffect transition="in" filter="fade">
                                      <p:cBhvr>
                                        <p:cTn id="22" dur="500"/>
                                        <p:tgtEl>
                                          <p:spTgt spid="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第二节	国际金融危机的一般理论</a:t>
            </a:r>
            <a:endParaRPr lang="zh-CN" dirty="0"/>
          </a:p>
        </p:txBody>
      </p:sp>
      <p:sp>
        <p:nvSpPr>
          <p:cNvPr id="3" name="内容占位符 2"/>
          <p:cNvSpPr>
            <a:spLocks noGrp="1"/>
          </p:cNvSpPr>
          <p:nvPr>
            <p:ph idx="1"/>
          </p:nvPr>
        </p:nvSpPr>
        <p:spPr>
          <a:xfrm>
            <a:off x="503583" y="1447799"/>
            <a:ext cx="7668867" cy="4841879"/>
          </a:xfrm>
        </p:spPr>
        <p:txBody>
          <a:bodyPr>
            <a:normAutofit/>
          </a:bodyPr>
          <a:lstStyle/>
          <a:p>
            <a:pPr marL="0" indent="0">
              <a:lnSpc>
                <a:spcPct val="110000"/>
              </a:lnSpc>
              <a:buNone/>
            </a:pPr>
            <a:r>
              <a:rPr lang="zh-CN" altLang="en-US" sz="2800" dirty="0">
                <a:solidFill>
                  <a:schemeClr val="accent1"/>
                </a:solidFill>
                <a:latin typeface="微软雅黑" panose="020B0503020204020204" pitchFamily="34" charset="-122"/>
                <a:ea typeface="微软雅黑" panose="020B0503020204020204" pitchFamily="34" charset="-122"/>
              </a:rPr>
              <a:t>二、国际金融危机的案例分析</a:t>
            </a:r>
          </a:p>
          <a:p>
            <a:pPr marL="514350" indent="-514350">
              <a:lnSpc>
                <a:spcPct val="100000"/>
              </a:lnSpc>
              <a:buFont typeface="+mj-lt"/>
              <a:buAutoNum type="arabicPeriod"/>
            </a:pPr>
            <a:r>
              <a:rPr lang="en-US" altLang="zh-CN" sz="2400" dirty="0">
                <a:latin typeface="微软雅黑" panose="020B0503020204020204" pitchFamily="34" charset="-122"/>
                <a:ea typeface="微软雅黑" panose="020B0503020204020204" pitchFamily="34" charset="-122"/>
              </a:rPr>
              <a:t>The Great Depression</a:t>
            </a:r>
          </a:p>
          <a:p>
            <a:pPr marL="0" indent="457200">
              <a:lnSpc>
                <a:spcPct val="100000"/>
              </a:lnSpc>
              <a:buNone/>
            </a:pPr>
            <a:r>
              <a:rPr lang="zh-CN" altLang="en-US" sz="2400" dirty="0">
                <a:latin typeface="微软雅黑" panose="020B0503020204020204" pitchFamily="34" charset="-122"/>
                <a:ea typeface="微软雅黑" panose="020B0503020204020204" pitchFamily="34" charset="-122"/>
              </a:rPr>
              <a:t>大萧条导致了：工业产出减半、失业率最高达</a:t>
            </a:r>
            <a:r>
              <a:rPr lang="en-US" altLang="zh-CN" sz="2400" dirty="0">
                <a:latin typeface="微软雅黑" panose="020B0503020204020204" pitchFamily="34" charset="-122"/>
                <a:ea typeface="微软雅黑" panose="020B0503020204020204" pitchFamily="34" charset="-122"/>
              </a:rPr>
              <a:t>25</a:t>
            </a:r>
            <a:r>
              <a:rPr lang="zh-CN" altLang="en-US" sz="2400" dirty="0">
                <a:latin typeface="微软雅黑" panose="020B0503020204020204" pitchFamily="34" charset="-122"/>
                <a:ea typeface="微软雅黑" panose="020B0503020204020204" pitchFamily="34" charset="-122"/>
              </a:rPr>
              <a:t>％、世界贸易下降了三分之二、出口国家贫穷。</a:t>
            </a:r>
          </a:p>
          <a:p>
            <a:pPr marL="742950" lvl="1" indent="-514350">
              <a:lnSpc>
                <a:spcPct val="100000"/>
              </a:lnSpc>
              <a:buFont typeface="+mj-ea"/>
              <a:buAutoNum type="circleNumDbPlain"/>
            </a:pPr>
            <a:r>
              <a:rPr lang="zh-CN" altLang="en-US" sz="2400" dirty="0" smtClean="0">
                <a:latin typeface="微软雅黑" panose="020B0503020204020204" pitchFamily="34" charset="-122"/>
                <a:ea typeface="微软雅黑" panose="020B0503020204020204" pitchFamily="34" charset="-122"/>
              </a:rPr>
              <a:t>根本性</a:t>
            </a:r>
            <a:r>
              <a:rPr lang="zh-CN" altLang="en-US" sz="2400" dirty="0">
                <a:latin typeface="微软雅黑" panose="020B0503020204020204" pitchFamily="34" charset="-122"/>
                <a:ea typeface="微软雅黑" panose="020B0503020204020204" pitchFamily="34" charset="-122"/>
              </a:rPr>
              <a:t>原因：</a:t>
            </a:r>
          </a:p>
          <a:p>
            <a:pPr lvl="2">
              <a:lnSpc>
                <a:spcPct val="100000"/>
              </a:lnSpc>
              <a:buFont typeface="Wingdings" panose="05000000000000000000" pitchFamily="2" charset="2"/>
              <a:buChar char="Ø"/>
            </a:pPr>
            <a:r>
              <a:rPr lang="zh-CN" altLang="en-US" sz="2000" dirty="0">
                <a:latin typeface="微软雅黑" panose="020B0503020204020204" pitchFamily="34" charset="-122"/>
                <a:ea typeface="微软雅黑" panose="020B0503020204020204" pitchFamily="34" charset="-122"/>
              </a:rPr>
              <a:t>农产品过剩</a:t>
            </a:r>
          </a:p>
          <a:p>
            <a:pPr lvl="2">
              <a:lnSpc>
                <a:spcPct val="100000"/>
              </a:lnSpc>
              <a:buFont typeface="Wingdings" panose="05000000000000000000" pitchFamily="2" charset="2"/>
              <a:buChar char="Ø"/>
            </a:pPr>
            <a:r>
              <a:rPr lang="en-US" altLang="zh-CN" sz="2000" dirty="0">
                <a:latin typeface="微软雅黑" panose="020B0503020204020204" pitchFamily="34" charset="-122"/>
                <a:ea typeface="微软雅黑" panose="020B0503020204020204" pitchFamily="34" charset="-122"/>
              </a:rPr>
              <a:t>1920</a:t>
            </a:r>
            <a:r>
              <a:rPr lang="zh-CN" altLang="en-US" sz="2000" dirty="0">
                <a:latin typeface="微软雅黑" panose="020B0503020204020204" pitchFamily="34" charset="-122"/>
                <a:ea typeface="微软雅黑" panose="020B0503020204020204" pitchFamily="34" charset="-122"/>
              </a:rPr>
              <a:t>年代资本品的过度投资</a:t>
            </a:r>
          </a:p>
          <a:p>
            <a:pPr lvl="2">
              <a:lnSpc>
                <a:spcPct val="100000"/>
              </a:lnSpc>
              <a:buFont typeface="Wingdings" panose="05000000000000000000" pitchFamily="2" charset="2"/>
              <a:buChar char="Ø"/>
            </a:pPr>
            <a:r>
              <a:rPr lang="zh-CN" altLang="en-US" sz="2000" dirty="0">
                <a:latin typeface="微软雅黑" panose="020B0503020204020204" pitchFamily="34" charset="-122"/>
                <a:ea typeface="微软雅黑" panose="020B0503020204020204" pitchFamily="34" charset="-122"/>
              </a:rPr>
              <a:t>凡尔赛合约</a:t>
            </a:r>
          </a:p>
          <a:p>
            <a:pPr lvl="2">
              <a:lnSpc>
                <a:spcPct val="100000"/>
              </a:lnSpc>
              <a:buFont typeface="Wingdings" panose="05000000000000000000" pitchFamily="2" charset="2"/>
              <a:buChar char="Ø"/>
            </a:pPr>
            <a:r>
              <a:rPr lang="zh-CN" altLang="en-US" sz="2000" dirty="0">
                <a:latin typeface="微软雅黑" panose="020B0503020204020204" pitchFamily="34" charset="-122"/>
                <a:ea typeface="微软雅黑" panose="020B0503020204020204" pitchFamily="34" charset="-122"/>
              </a:rPr>
              <a:t>美国经济</a:t>
            </a:r>
            <a:r>
              <a:rPr lang="zh-CN" altLang="en-US" sz="2000" dirty="0" smtClean="0">
                <a:latin typeface="微软雅黑" panose="020B0503020204020204" pitchFamily="34" charset="-122"/>
                <a:ea typeface="微软雅黑" panose="020B0503020204020204" pitchFamily="34" charset="-122"/>
              </a:rPr>
              <a:t>脆弱</a:t>
            </a:r>
            <a:endParaRPr lang="en-US" altLang="zh-CN" sz="2000" dirty="0" smtClean="0">
              <a:latin typeface="微软雅黑" panose="020B0503020204020204" pitchFamily="34" charset="-122"/>
              <a:ea typeface="微软雅黑" panose="020B0503020204020204" pitchFamily="34" charset="-122"/>
            </a:endParaRPr>
          </a:p>
          <a:p>
            <a:pPr lvl="2">
              <a:lnSpc>
                <a:spcPct val="100000"/>
              </a:lnSpc>
              <a:buNone/>
            </a:pPr>
            <a:r>
              <a:rPr lang="en-US" altLang="zh-CN" sz="2000" dirty="0" smtClean="0">
                <a:latin typeface="微软雅黑" panose="020B0503020204020204" pitchFamily="34" charset="-122"/>
                <a:ea typeface="微软雅黑" panose="020B0503020204020204" pitchFamily="34" charset="-122"/>
              </a:rPr>
              <a:t>			</a:t>
            </a:r>
            <a:r>
              <a:rPr lang="zh-CN" altLang="en-US" sz="2000" dirty="0" smtClean="0">
                <a:latin typeface="微软雅黑" panose="020B0503020204020204" pitchFamily="34" charset="-122"/>
                <a:ea typeface="微软雅黑" panose="020B0503020204020204" pitchFamily="34" charset="-122"/>
              </a:rPr>
              <a:t>（</a:t>
            </a:r>
            <a:r>
              <a:rPr lang="zh-CN" altLang="en-US" sz="2000" dirty="0">
                <a:latin typeface="微软雅黑" panose="020B0503020204020204" pitchFamily="34" charset="-122"/>
                <a:ea typeface="微软雅黑" panose="020B0503020204020204" pitchFamily="34" charset="-122"/>
              </a:rPr>
              <a:t>收入分配不均、银行业问题）</a:t>
            </a:r>
          </a:p>
        </p:txBody>
      </p:sp>
      <p:sp>
        <p:nvSpPr>
          <p:cNvPr id="5" name="页脚占位符 4"/>
          <p:cNvSpPr>
            <a:spLocks noGrp="1"/>
          </p:cNvSpPr>
          <p:nvPr>
            <p:ph type="ftr" sz="quarter" idx="11"/>
          </p:nvPr>
        </p:nvSpPr>
        <p:spPr/>
        <p:txBody>
          <a:bodyPr/>
          <a:lstStyle/>
          <a:p>
            <a:r>
              <a:rPr lang="zh-CN" altLang="en-US" smtClean="0"/>
              <a:t>国际金融学 范小云</a:t>
            </a:r>
            <a:endParaRPr lang="zh-CN" altLang="en-US" dirty="0"/>
          </a:p>
        </p:txBody>
      </p:sp>
      <p:pic>
        <p:nvPicPr>
          <p:cNvPr id="6" name="Picture 6" descr="1929年危机倒牛奶"/>
          <p:cNvPicPr>
            <a:picLocks noChangeAspect="1" noChangeArrowheads="1"/>
          </p:cNvPicPr>
          <p:nvPr/>
        </p:nvPicPr>
        <p:blipFill>
          <a:blip r:embed="rId3"/>
          <a:srcRect/>
          <a:stretch>
            <a:fillRect/>
          </a:stretch>
        </p:blipFill>
        <p:spPr bwMode="auto">
          <a:xfrm>
            <a:off x="6161088" y="3547027"/>
            <a:ext cx="2982912" cy="2797175"/>
          </a:xfrm>
          <a:prstGeom prst="rect">
            <a:avLst/>
          </a:prstGeom>
          <a:noFill/>
          <a:ln w="9525">
            <a:noFill/>
            <a:miter lim="800000"/>
            <a:headEnd/>
            <a:tailEnd/>
          </a:ln>
        </p:spPr>
      </p:pic>
    </p:spTree>
    <p:extLst>
      <p:ext uri="{BB962C8B-B14F-4D97-AF65-F5344CB8AC3E}">
        <p14:creationId xmlns:p14="http://schemas.microsoft.com/office/powerpoint/2010/main" val="54605590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Effect transition="in" filter="fade">
                                      <p:cBhvr>
                                        <p:cTn id="7" dur="500"/>
                                        <p:tgtEl>
                                          <p:spTgt spid="3">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2" end="2"/>
                                            </p:txEl>
                                          </p:spTgt>
                                        </p:tgtEl>
                                        <p:attrNameLst>
                                          <p:attrName>style.visibility</p:attrName>
                                        </p:attrNameLst>
                                      </p:cBhvr>
                                      <p:to>
                                        <p:strVal val="visible"/>
                                      </p:to>
                                    </p:set>
                                    <p:animEffect transition="in" filter="fade">
                                      <p:cBhvr>
                                        <p:cTn id="12" dur="500"/>
                                        <p:tgtEl>
                                          <p:spTgt spid="3">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
                                            <p:txEl>
                                              <p:pRg st="3" end="3"/>
                                            </p:txEl>
                                          </p:spTgt>
                                        </p:tgtEl>
                                        <p:attrNameLst>
                                          <p:attrName>style.visibility</p:attrName>
                                        </p:attrNameLst>
                                      </p:cBhvr>
                                      <p:to>
                                        <p:strVal val="visible"/>
                                      </p:to>
                                    </p:set>
                                    <p:animEffect transition="in" filter="fade">
                                      <p:cBhvr>
                                        <p:cTn id="17" dur="500"/>
                                        <p:tgtEl>
                                          <p:spTgt spid="3">
                                            <p:txEl>
                                              <p:pRg st="3" end="3"/>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3">
                                            <p:txEl>
                                              <p:pRg st="4" end="4"/>
                                            </p:txEl>
                                          </p:spTgt>
                                        </p:tgtEl>
                                        <p:attrNameLst>
                                          <p:attrName>style.visibility</p:attrName>
                                        </p:attrNameLst>
                                      </p:cBhvr>
                                      <p:to>
                                        <p:strVal val="visible"/>
                                      </p:to>
                                    </p:set>
                                    <p:animEffect transition="in" filter="fade">
                                      <p:cBhvr>
                                        <p:cTn id="22" dur="500"/>
                                        <p:tgtEl>
                                          <p:spTgt spid="3">
                                            <p:txEl>
                                              <p:pRg st="4" end="4"/>
                                            </p:txEl>
                                          </p:spTgt>
                                        </p:tgtEl>
                                      </p:cBhvr>
                                    </p:animEffect>
                                  </p:childTnLst>
                                </p:cTn>
                              </p:par>
                              <p:par>
                                <p:cTn id="23" presetID="10" presetClass="entr" presetSubtype="0" fill="hold" nodeType="withEffect">
                                  <p:stCondLst>
                                    <p:cond delay="0"/>
                                  </p:stCondLst>
                                  <p:childTnLst>
                                    <p:set>
                                      <p:cBhvr>
                                        <p:cTn id="24" dur="1" fill="hold">
                                          <p:stCondLst>
                                            <p:cond delay="0"/>
                                          </p:stCondLst>
                                        </p:cTn>
                                        <p:tgtEl>
                                          <p:spTgt spid="3">
                                            <p:txEl>
                                              <p:pRg st="5" end="5"/>
                                            </p:txEl>
                                          </p:spTgt>
                                        </p:tgtEl>
                                        <p:attrNameLst>
                                          <p:attrName>style.visibility</p:attrName>
                                        </p:attrNameLst>
                                      </p:cBhvr>
                                      <p:to>
                                        <p:strVal val="visible"/>
                                      </p:to>
                                    </p:set>
                                    <p:animEffect transition="in" filter="fade">
                                      <p:cBhvr>
                                        <p:cTn id="25" dur="500"/>
                                        <p:tgtEl>
                                          <p:spTgt spid="3">
                                            <p:txEl>
                                              <p:pRg st="5" end="5"/>
                                            </p:txEl>
                                          </p:spTgt>
                                        </p:tgtEl>
                                      </p:cBhvr>
                                    </p:animEffect>
                                  </p:childTnLst>
                                </p:cTn>
                              </p:par>
                              <p:par>
                                <p:cTn id="26" presetID="10" presetClass="entr" presetSubtype="0" fill="hold" nodeType="withEffect">
                                  <p:stCondLst>
                                    <p:cond delay="0"/>
                                  </p:stCondLst>
                                  <p:childTnLst>
                                    <p:set>
                                      <p:cBhvr>
                                        <p:cTn id="27" dur="1" fill="hold">
                                          <p:stCondLst>
                                            <p:cond delay="0"/>
                                          </p:stCondLst>
                                        </p:cTn>
                                        <p:tgtEl>
                                          <p:spTgt spid="3">
                                            <p:txEl>
                                              <p:pRg st="6" end="6"/>
                                            </p:txEl>
                                          </p:spTgt>
                                        </p:tgtEl>
                                        <p:attrNameLst>
                                          <p:attrName>style.visibility</p:attrName>
                                        </p:attrNameLst>
                                      </p:cBhvr>
                                      <p:to>
                                        <p:strVal val="visible"/>
                                      </p:to>
                                    </p:set>
                                    <p:animEffect transition="in" filter="fade">
                                      <p:cBhvr>
                                        <p:cTn id="28" dur="500"/>
                                        <p:tgtEl>
                                          <p:spTgt spid="3">
                                            <p:txEl>
                                              <p:pRg st="6" end="6"/>
                                            </p:txEl>
                                          </p:spTgt>
                                        </p:tgtEl>
                                      </p:cBhvr>
                                    </p:animEffect>
                                  </p:childTnLst>
                                </p:cTn>
                              </p:par>
                              <p:par>
                                <p:cTn id="29" presetID="10" presetClass="entr" presetSubtype="0" fill="hold" nodeType="withEffect">
                                  <p:stCondLst>
                                    <p:cond delay="0"/>
                                  </p:stCondLst>
                                  <p:childTnLst>
                                    <p:set>
                                      <p:cBhvr>
                                        <p:cTn id="30" dur="1" fill="hold">
                                          <p:stCondLst>
                                            <p:cond delay="0"/>
                                          </p:stCondLst>
                                        </p:cTn>
                                        <p:tgtEl>
                                          <p:spTgt spid="3">
                                            <p:txEl>
                                              <p:pRg st="7" end="7"/>
                                            </p:txEl>
                                          </p:spTgt>
                                        </p:tgtEl>
                                        <p:attrNameLst>
                                          <p:attrName>style.visibility</p:attrName>
                                        </p:attrNameLst>
                                      </p:cBhvr>
                                      <p:to>
                                        <p:strVal val="visible"/>
                                      </p:to>
                                    </p:set>
                                    <p:animEffect transition="in" filter="fade">
                                      <p:cBhvr>
                                        <p:cTn id="31" dur="500"/>
                                        <p:tgtEl>
                                          <p:spTgt spid="3">
                                            <p:txEl>
                                              <p:pRg st="7" end="7"/>
                                            </p:txEl>
                                          </p:spTgt>
                                        </p:tgtEl>
                                      </p:cBhvr>
                                    </p:animEffect>
                                  </p:childTnLst>
                                </p:cTn>
                              </p:par>
                              <p:par>
                                <p:cTn id="32" presetID="10" presetClass="entr" presetSubtype="0" fill="hold" nodeType="withEffect">
                                  <p:stCondLst>
                                    <p:cond delay="0"/>
                                  </p:stCondLst>
                                  <p:childTnLst>
                                    <p:set>
                                      <p:cBhvr>
                                        <p:cTn id="33" dur="1" fill="hold">
                                          <p:stCondLst>
                                            <p:cond delay="0"/>
                                          </p:stCondLst>
                                        </p:cTn>
                                        <p:tgtEl>
                                          <p:spTgt spid="3">
                                            <p:txEl>
                                              <p:pRg st="8" end="8"/>
                                            </p:txEl>
                                          </p:spTgt>
                                        </p:tgtEl>
                                        <p:attrNameLst>
                                          <p:attrName>style.visibility</p:attrName>
                                        </p:attrNameLst>
                                      </p:cBhvr>
                                      <p:to>
                                        <p:strVal val="visible"/>
                                      </p:to>
                                    </p:set>
                                    <p:animEffect transition="in" filter="fade">
                                      <p:cBhvr>
                                        <p:cTn id="34" dur="500"/>
                                        <p:tgtEl>
                                          <p:spTgt spid="3">
                                            <p:txEl>
                                              <p:pRg st="8" end="8"/>
                                            </p:txEl>
                                          </p:spTgt>
                                        </p:tgtEl>
                                      </p:cBhvr>
                                    </p:animEffec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6"/>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2" presetClass="exit" presetSubtype="4" fill="hold" nodeType="clickEffect">
                                  <p:stCondLst>
                                    <p:cond delay="0"/>
                                  </p:stCondLst>
                                  <p:childTnLst>
                                    <p:anim calcmode="lin" valueType="num">
                                      <p:cBhvr additive="base">
                                        <p:cTn id="42" dur="500"/>
                                        <p:tgtEl>
                                          <p:spTgt spid="6"/>
                                        </p:tgtEl>
                                        <p:attrNameLst>
                                          <p:attrName>ppt_x</p:attrName>
                                        </p:attrNameLst>
                                      </p:cBhvr>
                                      <p:tavLst>
                                        <p:tav tm="0">
                                          <p:val>
                                            <p:strVal val="ppt_x"/>
                                          </p:val>
                                        </p:tav>
                                        <p:tav tm="100000">
                                          <p:val>
                                            <p:strVal val="ppt_x"/>
                                          </p:val>
                                        </p:tav>
                                      </p:tavLst>
                                    </p:anim>
                                    <p:anim calcmode="lin" valueType="num">
                                      <p:cBhvr additive="base">
                                        <p:cTn id="43" dur="500"/>
                                        <p:tgtEl>
                                          <p:spTgt spid="6"/>
                                        </p:tgtEl>
                                        <p:attrNameLst>
                                          <p:attrName>ppt_y</p:attrName>
                                        </p:attrNameLst>
                                      </p:cBhvr>
                                      <p:tavLst>
                                        <p:tav tm="0">
                                          <p:val>
                                            <p:strVal val="ppt_y"/>
                                          </p:val>
                                        </p:tav>
                                        <p:tav tm="100000">
                                          <p:val>
                                            <p:strVal val="1+ppt_h/2"/>
                                          </p:val>
                                        </p:tav>
                                      </p:tavLst>
                                    </p:anim>
                                    <p:set>
                                      <p:cBhvr>
                                        <p:cTn id="44" dur="1" fill="hold">
                                          <p:stCondLst>
                                            <p:cond delay="499"/>
                                          </p:stCondLst>
                                        </p:cTn>
                                        <p:tgtEl>
                                          <p:spTgt spid="6"/>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第二节	国际金融危机的一般理论</a:t>
            </a:r>
            <a:endParaRPr lang="zh-CN" dirty="0"/>
          </a:p>
        </p:txBody>
      </p:sp>
      <p:sp>
        <p:nvSpPr>
          <p:cNvPr id="3" name="内容占位符 2"/>
          <p:cNvSpPr>
            <a:spLocks noGrp="1"/>
          </p:cNvSpPr>
          <p:nvPr>
            <p:ph idx="1"/>
          </p:nvPr>
        </p:nvSpPr>
        <p:spPr>
          <a:xfrm>
            <a:off x="971550" y="1447799"/>
            <a:ext cx="7200900" cy="4841879"/>
          </a:xfrm>
        </p:spPr>
        <p:txBody>
          <a:bodyPr>
            <a:normAutofit/>
          </a:bodyPr>
          <a:lstStyle/>
          <a:p>
            <a:pPr marL="0" indent="0">
              <a:lnSpc>
                <a:spcPct val="110000"/>
              </a:lnSpc>
              <a:buNone/>
            </a:pPr>
            <a:r>
              <a:rPr lang="zh-CN" altLang="en-US" sz="2800" dirty="0">
                <a:solidFill>
                  <a:schemeClr val="accent1"/>
                </a:solidFill>
                <a:latin typeface="微软雅黑" panose="020B0503020204020204" pitchFamily="34" charset="-122"/>
                <a:ea typeface="微软雅黑" panose="020B0503020204020204" pitchFamily="34" charset="-122"/>
              </a:rPr>
              <a:t>二、国际金融危机的案例分析</a:t>
            </a:r>
          </a:p>
          <a:p>
            <a:pPr marL="514350" indent="-514350">
              <a:lnSpc>
                <a:spcPct val="100000"/>
              </a:lnSpc>
              <a:buFont typeface="+mj-lt"/>
              <a:buAutoNum type="arabicPeriod"/>
            </a:pPr>
            <a:r>
              <a:rPr lang="en-US" altLang="zh-CN" sz="2600" dirty="0">
                <a:latin typeface="微软雅黑" panose="020B0503020204020204" pitchFamily="34" charset="-122"/>
                <a:ea typeface="微软雅黑" panose="020B0503020204020204" pitchFamily="34" charset="-122"/>
              </a:rPr>
              <a:t>The Great Depression</a:t>
            </a:r>
          </a:p>
          <a:p>
            <a:pPr marL="742950" lvl="1" indent="-514350">
              <a:lnSpc>
                <a:spcPct val="100000"/>
              </a:lnSpc>
              <a:buFont typeface="+mj-ea"/>
              <a:buAutoNum type="circleNumDbPlain" startAt="2"/>
            </a:pPr>
            <a:r>
              <a:rPr lang="zh-CN" altLang="en-US" sz="2400" dirty="0">
                <a:latin typeface="微软雅黑" panose="020B0503020204020204" pitchFamily="34" charset="-122"/>
                <a:ea typeface="微软雅黑" panose="020B0503020204020204" pitchFamily="34" charset="-122"/>
              </a:rPr>
              <a:t>诱发性原因：</a:t>
            </a:r>
            <a:endParaRPr lang="zh-CN" altLang="en-US" sz="2400" dirty="0" smtClean="0">
              <a:latin typeface="微软雅黑" panose="020B0503020204020204" pitchFamily="34" charset="-122"/>
              <a:ea typeface="微软雅黑" panose="020B0503020204020204" pitchFamily="34" charset="-122"/>
            </a:endParaRPr>
          </a:p>
          <a:p>
            <a:pPr lvl="2">
              <a:lnSpc>
                <a:spcPct val="100000"/>
              </a:lnSpc>
              <a:buFont typeface="Wingdings" panose="05000000000000000000" pitchFamily="2" charset="2"/>
              <a:buChar char="Ø"/>
            </a:pPr>
            <a:r>
              <a:rPr lang="en-US" altLang="zh-CN" sz="2400" dirty="0">
                <a:latin typeface="微软雅黑" panose="020B0503020204020204" pitchFamily="34" charset="-122"/>
                <a:ea typeface="微软雅黑" panose="020B0503020204020204" pitchFamily="34" charset="-122"/>
              </a:rPr>
              <a:t>NYSE1929</a:t>
            </a:r>
            <a:r>
              <a:rPr lang="zh-CN" altLang="en-US" sz="2400" dirty="0">
                <a:latin typeface="微软雅黑" panose="020B0503020204020204" pitchFamily="34" charset="-122"/>
                <a:ea typeface="微软雅黑" panose="020B0503020204020204" pitchFamily="34" charset="-122"/>
              </a:rPr>
              <a:t>年</a:t>
            </a:r>
            <a:r>
              <a:rPr lang="en-US" altLang="zh-CN" sz="2400" dirty="0">
                <a:latin typeface="微软雅黑" panose="020B0503020204020204" pitchFamily="34" charset="-122"/>
                <a:ea typeface="微软雅黑" panose="020B0503020204020204" pitchFamily="34" charset="-122"/>
              </a:rPr>
              <a:t>11</a:t>
            </a:r>
            <a:r>
              <a:rPr lang="zh-CN" altLang="en-US" sz="2400" dirty="0">
                <a:latin typeface="微软雅黑" panose="020B0503020204020204" pitchFamily="34" charset="-122"/>
                <a:ea typeface="微软雅黑" panose="020B0503020204020204" pitchFamily="34" charset="-122"/>
              </a:rPr>
              <a:t>月崩盘</a:t>
            </a:r>
          </a:p>
          <a:p>
            <a:pPr lvl="2">
              <a:lnSpc>
                <a:spcPct val="100000"/>
              </a:lnSpc>
              <a:buFont typeface="Wingdings" panose="05000000000000000000" pitchFamily="2" charset="2"/>
              <a:buChar char="Ø"/>
            </a:pPr>
            <a:r>
              <a:rPr lang="zh-CN" altLang="en-US" sz="2400" dirty="0">
                <a:latin typeface="微软雅黑" panose="020B0503020204020204" pitchFamily="34" charset="-122"/>
                <a:ea typeface="微软雅黑" panose="020B0503020204020204" pitchFamily="34" charset="-122"/>
              </a:rPr>
              <a:t>美国银行失败（资产价格下降导致贷款违约和银行破产、</a:t>
            </a:r>
            <a:r>
              <a:rPr lang="en-US" altLang="zh-CN" sz="2400" dirty="0">
                <a:latin typeface="微软雅黑" panose="020B0503020204020204" pitchFamily="34" charset="-122"/>
                <a:ea typeface="微软雅黑" panose="020B0503020204020204" pitchFamily="34" charset="-122"/>
              </a:rPr>
              <a:t>1920</a:t>
            </a:r>
            <a:r>
              <a:rPr lang="zh-CN" altLang="en-US" sz="2400" dirty="0">
                <a:latin typeface="微软雅黑" panose="020B0503020204020204" pitchFamily="34" charset="-122"/>
                <a:ea typeface="微软雅黑" panose="020B0503020204020204" pitchFamily="34" charset="-122"/>
              </a:rPr>
              <a:t>年代在信贷支撑基础上的过度投机、过度借贷）</a:t>
            </a:r>
          </a:p>
        </p:txBody>
      </p:sp>
      <p:sp>
        <p:nvSpPr>
          <p:cNvPr id="5" name="页脚占位符 4"/>
          <p:cNvSpPr>
            <a:spLocks noGrp="1"/>
          </p:cNvSpPr>
          <p:nvPr>
            <p:ph type="ftr" sz="quarter" idx="11"/>
          </p:nvPr>
        </p:nvSpPr>
        <p:spPr/>
        <p:txBody>
          <a:bodyPr/>
          <a:lstStyle/>
          <a:p>
            <a:r>
              <a:rPr lang="zh-CN" altLang="en-US" smtClean="0"/>
              <a:t>国际金融学 范小云</a:t>
            </a:r>
            <a:endParaRPr lang="zh-CN" altLang="en-US" dirty="0"/>
          </a:p>
        </p:txBody>
      </p:sp>
    </p:spTree>
    <p:extLst>
      <p:ext uri="{BB962C8B-B14F-4D97-AF65-F5344CB8AC3E}">
        <p14:creationId xmlns:p14="http://schemas.microsoft.com/office/powerpoint/2010/main" val="372447174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animEffect transition="in" filter="fade">
                                      <p:cBhvr>
                                        <p:cTn id="7" dur="500"/>
                                        <p:tgtEl>
                                          <p:spTgt spid="3">
                                            <p:txEl>
                                              <p:pRg st="2" end="2"/>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3" end="3"/>
                                            </p:txEl>
                                          </p:spTgt>
                                        </p:tgtEl>
                                        <p:attrNameLst>
                                          <p:attrName>style.visibility</p:attrName>
                                        </p:attrNameLst>
                                      </p:cBhvr>
                                      <p:to>
                                        <p:strVal val="visible"/>
                                      </p:to>
                                    </p:set>
                                    <p:animEffect transition="in" filter="fade">
                                      <p:cBhvr>
                                        <p:cTn id="12" dur="500"/>
                                        <p:tgtEl>
                                          <p:spTgt spid="3">
                                            <p:txEl>
                                              <p:pRg st="3" end="3"/>
                                            </p:txEl>
                                          </p:spTgt>
                                        </p:tgtEl>
                                      </p:cBhvr>
                                    </p:animEffect>
                                  </p:childTnLst>
                                </p:cTn>
                              </p:par>
                              <p:par>
                                <p:cTn id="13" presetID="10" presetClass="entr" presetSubtype="0" fill="hold" nodeType="with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animEffect transition="in" filter="fade">
                                      <p:cBhvr>
                                        <p:cTn id="15" dur="500"/>
                                        <p:tgtEl>
                                          <p:spTgt spid="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p:txBody>
          <a:bodyPr/>
          <a:lstStyle/>
          <a:p>
            <a:endParaRPr lang="zh-CN" altLang="en-US"/>
          </a:p>
        </p:txBody>
      </p:sp>
      <p:sp>
        <p:nvSpPr>
          <p:cNvPr id="4" name="页脚占位符 3"/>
          <p:cNvSpPr>
            <a:spLocks noGrp="1"/>
          </p:cNvSpPr>
          <p:nvPr>
            <p:ph type="ftr" sz="quarter" idx="11"/>
          </p:nvPr>
        </p:nvSpPr>
        <p:spPr/>
        <p:txBody>
          <a:bodyPr/>
          <a:lstStyle/>
          <a:p>
            <a:r>
              <a:rPr lang="zh-CN" altLang="en-US" smtClean="0"/>
              <a:t>国际金融学 范小云</a:t>
            </a:r>
            <a:endParaRPr lang="zh-CN" altLang="en-US" dirty="0"/>
          </a:p>
        </p:txBody>
      </p:sp>
      <p:pic>
        <p:nvPicPr>
          <p:cNvPr id="5" name="Picture 4" descr="1929-1933"/>
          <p:cNvPicPr>
            <a:picLocks noChangeAspect="1" noChangeArrowheads="1"/>
          </p:cNvPicPr>
          <p:nvPr/>
        </p:nvPicPr>
        <p:blipFill>
          <a:blip r:embed="rId2"/>
          <a:srcRect/>
          <a:stretch>
            <a:fillRect/>
          </a:stretch>
        </p:blipFill>
        <p:spPr bwMode="auto">
          <a:xfrm>
            <a:off x="0" y="905427"/>
            <a:ext cx="9144000" cy="5472113"/>
          </a:xfrm>
          <a:prstGeom prst="rect">
            <a:avLst/>
          </a:prstGeom>
          <a:noFill/>
          <a:ln w="9525">
            <a:noFill/>
            <a:miter lim="800000"/>
            <a:headEnd/>
            <a:tailEnd/>
          </a:ln>
        </p:spPr>
      </p:pic>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第二节	国际金融危机的一般理论</a:t>
            </a:r>
            <a:endParaRPr lang="zh-CN" dirty="0"/>
          </a:p>
        </p:txBody>
      </p:sp>
      <p:sp>
        <p:nvSpPr>
          <p:cNvPr id="3" name="内容占位符 2"/>
          <p:cNvSpPr>
            <a:spLocks noGrp="1"/>
          </p:cNvSpPr>
          <p:nvPr>
            <p:ph idx="1"/>
          </p:nvPr>
        </p:nvSpPr>
        <p:spPr>
          <a:xfrm>
            <a:off x="971550" y="1447799"/>
            <a:ext cx="7200900" cy="4841879"/>
          </a:xfrm>
        </p:spPr>
        <p:txBody>
          <a:bodyPr>
            <a:normAutofit fontScale="92500"/>
          </a:bodyPr>
          <a:lstStyle/>
          <a:p>
            <a:pPr marL="0" indent="0">
              <a:lnSpc>
                <a:spcPct val="110000"/>
              </a:lnSpc>
              <a:buNone/>
            </a:pPr>
            <a:r>
              <a:rPr lang="zh-CN" altLang="en-US" sz="2800" dirty="0">
                <a:solidFill>
                  <a:schemeClr val="accent1"/>
                </a:solidFill>
                <a:latin typeface="微软雅黑" panose="020B0503020204020204" pitchFamily="34" charset="-122"/>
                <a:ea typeface="微软雅黑" panose="020B0503020204020204" pitchFamily="34" charset="-122"/>
              </a:rPr>
              <a:t>二、国际金融危机的案例分析</a:t>
            </a:r>
          </a:p>
          <a:p>
            <a:pPr marL="514350" indent="-514350">
              <a:lnSpc>
                <a:spcPct val="100000"/>
              </a:lnSpc>
              <a:buFont typeface="+mj-lt"/>
              <a:buAutoNum type="arabicPeriod"/>
            </a:pPr>
            <a:r>
              <a:rPr lang="en-US" altLang="zh-CN" sz="2600" dirty="0">
                <a:latin typeface="微软雅黑" panose="020B0503020204020204" pitchFamily="34" charset="-122"/>
                <a:ea typeface="微软雅黑" panose="020B0503020204020204" pitchFamily="34" charset="-122"/>
              </a:rPr>
              <a:t>The Great Depression</a:t>
            </a:r>
          </a:p>
          <a:p>
            <a:pPr marL="742950" lvl="1" indent="-514350">
              <a:lnSpc>
                <a:spcPct val="100000"/>
              </a:lnSpc>
              <a:buFont typeface="+mj-ea"/>
              <a:buAutoNum type="circleNumDbPlain" startAt="3"/>
            </a:pPr>
            <a:r>
              <a:rPr lang="zh-CN" altLang="en-US" sz="2400" dirty="0">
                <a:latin typeface="微软雅黑" panose="020B0503020204020204" pitchFamily="34" charset="-122"/>
                <a:ea typeface="微软雅黑" panose="020B0503020204020204" pitchFamily="34" charset="-122"/>
              </a:rPr>
              <a:t>危机持续、严重的原因：</a:t>
            </a:r>
            <a:endParaRPr lang="zh-CN" altLang="en-US" sz="2400" dirty="0" smtClean="0">
              <a:latin typeface="微软雅黑" panose="020B0503020204020204" pitchFamily="34" charset="-122"/>
              <a:ea typeface="微软雅黑" panose="020B0503020204020204" pitchFamily="34" charset="-122"/>
            </a:endParaRPr>
          </a:p>
          <a:p>
            <a:pPr lvl="2">
              <a:lnSpc>
                <a:spcPct val="100000"/>
              </a:lnSpc>
              <a:buFont typeface="Wingdings" panose="05000000000000000000" pitchFamily="2" charset="2"/>
              <a:buChar char="Ø"/>
            </a:pPr>
            <a:r>
              <a:rPr lang="zh-CN" altLang="en-US" sz="2400" dirty="0">
                <a:latin typeface="微软雅黑" panose="020B0503020204020204" pitchFamily="34" charset="-122"/>
                <a:ea typeface="微软雅黑" panose="020B0503020204020204" pitchFamily="34" charset="-122"/>
              </a:rPr>
              <a:t>政府错误的财政货币政策（平衡预算政策、紧缩货币政策、加税、减少福利支出）</a:t>
            </a:r>
          </a:p>
          <a:p>
            <a:pPr lvl="2">
              <a:lnSpc>
                <a:spcPct val="100000"/>
              </a:lnSpc>
              <a:buFont typeface="Wingdings" panose="05000000000000000000" pitchFamily="2" charset="2"/>
              <a:buChar char="Ø"/>
            </a:pPr>
            <a:r>
              <a:rPr lang="zh-CN" altLang="en-US" sz="2400" dirty="0">
                <a:latin typeface="微软雅黑" panose="020B0503020204020204" pitchFamily="34" charset="-122"/>
                <a:ea typeface="微软雅黑" panose="020B0503020204020204" pitchFamily="34" charset="-122"/>
              </a:rPr>
              <a:t>对德、奥的赔款要求</a:t>
            </a:r>
          </a:p>
          <a:p>
            <a:pPr lvl="2">
              <a:lnSpc>
                <a:spcPct val="100000"/>
              </a:lnSpc>
              <a:buFont typeface="Wingdings" panose="05000000000000000000" pitchFamily="2" charset="2"/>
              <a:buChar char="Ø"/>
            </a:pPr>
            <a:r>
              <a:rPr lang="zh-CN" altLang="en-US" sz="2400" dirty="0">
                <a:latin typeface="微软雅黑" panose="020B0503020204020204" pitchFamily="34" charset="-122"/>
                <a:ea typeface="微软雅黑" panose="020B0503020204020204" pitchFamily="34" charset="-122"/>
              </a:rPr>
              <a:t>“以邻为壑”政策（贸易保护主义、竞争性贬值等）</a:t>
            </a:r>
          </a:p>
          <a:p>
            <a:pPr lvl="2">
              <a:lnSpc>
                <a:spcPct val="100000"/>
              </a:lnSpc>
              <a:buFont typeface="Wingdings" panose="05000000000000000000" pitchFamily="2" charset="2"/>
              <a:buChar char="Ø"/>
            </a:pPr>
            <a:r>
              <a:rPr lang="zh-CN" altLang="en-US" sz="2400" dirty="0">
                <a:latin typeface="微软雅黑" panose="020B0503020204020204" pitchFamily="34" charset="-122"/>
                <a:ea typeface="微软雅黑" panose="020B0503020204020204" pitchFamily="34" charset="-122"/>
              </a:rPr>
              <a:t>缺少最后贷款人或领导地位的强势角色（美国的消极退出导致了</a:t>
            </a:r>
            <a:r>
              <a:rPr lang="en-US" altLang="zh-CN" sz="2400" dirty="0">
                <a:latin typeface="微软雅黑" panose="020B0503020204020204" pitchFamily="34" charset="-122"/>
                <a:ea typeface="微软雅黑" panose="020B0503020204020204" pitchFamily="34" charset="-122"/>
              </a:rPr>
              <a:t>1933</a:t>
            </a:r>
            <a:r>
              <a:rPr lang="zh-CN" altLang="en-US" sz="2400" dirty="0">
                <a:latin typeface="微软雅黑" panose="020B0503020204020204" pitchFamily="34" charset="-122"/>
                <a:ea typeface="微软雅黑" panose="020B0503020204020204" pitchFamily="34" charset="-122"/>
              </a:rPr>
              <a:t>年</a:t>
            </a:r>
            <a:r>
              <a:rPr lang="en-US" altLang="zh-CN" sz="2400" dirty="0">
                <a:latin typeface="微软雅黑" panose="020B0503020204020204" pitchFamily="34" charset="-122"/>
                <a:ea typeface="微软雅黑" panose="020B0503020204020204" pitchFamily="34" charset="-122"/>
              </a:rPr>
              <a:t>World Economic Conference</a:t>
            </a:r>
            <a:r>
              <a:rPr lang="zh-CN" altLang="en-US" sz="2400" dirty="0">
                <a:latin typeface="微软雅黑" panose="020B0503020204020204" pitchFamily="34" charset="-122"/>
                <a:ea typeface="微软雅黑" panose="020B0503020204020204" pitchFamily="34" charset="-122"/>
              </a:rPr>
              <a:t>寻求采取统一行动恢复世界经济的努力失败</a:t>
            </a:r>
            <a:r>
              <a:rPr lang="zh-CN" altLang="en-US" sz="2400" dirty="0" smtClean="0">
                <a:latin typeface="微软雅黑" panose="020B0503020204020204" pitchFamily="34" charset="-122"/>
                <a:ea typeface="微软雅黑" panose="020B0503020204020204" pitchFamily="34" charset="-122"/>
              </a:rPr>
              <a:t>）</a:t>
            </a:r>
            <a:endParaRPr lang="zh-CN" altLang="en-US" sz="2400" dirty="0">
              <a:latin typeface="微软雅黑" panose="020B0503020204020204" pitchFamily="34" charset="-122"/>
              <a:ea typeface="微软雅黑" panose="020B0503020204020204" pitchFamily="34" charset="-122"/>
            </a:endParaRPr>
          </a:p>
        </p:txBody>
      </p:sp>
      <p:sp>
        <p:nvSpPr>
          <p:cNvPr id="5" name="页脚占位符 4"/>
          <p:cNvSpPr>
            <a:spLocks noGrp="1"/>
          </p:cNvSpPr>
          <p:nvPr>
            <p:ph type="ftr" sz="quarter" idx="11"/>
          </p:nvPr>
        </p:nvSpPr>
        <p:spPr/>
        <p:txBody>
          <a:bodyPr/>
          <a:lstStyle/>
          <a:p>
            <a:r>
              <a:rPr lang="zh-CN" altLang="en-US" smtClean="0"/>
              <a:t>国际金融学 范小云</a:t>
            </a:r>
            <a:endParaRPr lang="zh-CN" altLang="en-US" dirty="0"/>
          </a:p>
        </p:txBody>
      </p:sp>
    </p:spTree>
    <p:extLst>
      <p:ext uri="{BB962C8B-B14F-4D97-AF65-F5344CB8AC3E}">
        <p14:creationId xmlns:p14="http://schemas.microsoft.com/office/powerpoint/2010/main" val="208302377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animEffect transition="in" filter="fade">
                                      <p:cBhvr>
                                        <p:cTn id="7" dur="500"/>
                                        <p:tgtEl>
                                          <p:spTgt spid="3">
                                            <p:txEl>
                                              <p:pRg st="2" end="2"/>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3" end="3"/>
                                            </p:txEl>
                                          </p:spTgt>
                                        </p:tgtEl>
                                        <p:attrNameLst>
                                          <p:attrName>style.visibility</p:attrName>
                                        </p:attrNameLst>
                                      </p:cBhvr>
                                      <p:to>
                                        <p:strVal val="visible"/>
                                      </p:to>
                                    </p:set>
                                    <p:animEffect transition="in" filter="fade">
                                      <p:cBhvr>
                                        <p:cTn id="12" dur="500"/>
                                        <p:tgtEl>
                                          <p:spTgt spid="3">
                                            <p:txEl>
                                              <p:pRg st="3" end="3"/>
                                            </p:txEl>
                                          </p:spTgt>
                                        </p:tgtEl>
                                      </p:cBhvr>
                                    </p:animEffect>
                                  </p:childTnLst>
                                </p:cTn>
                              </p:par>
                              <p:par>
                                <p:cTn id="13" presetID="10" presetClass="entr" presetSubtype="0" fill="hold" nodeType="with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animEffect transition="in" filter="fade">
                                      <p:cBhvr>
                                        <p:cTn id="15" dur="500"/>
                                        <p:tgtEl>
                                          <p:spTgt spid="3">
                                            <p:txEl>
                                              <p:pRg st="4" end="4"/>
                                            </p:txEl>
                                          </p:spTgt>
                                        </p:tgtEl>
                                      </p:cBhvr>
                                    </p:animEffect>
                                  </p:childTnLst>
                                </p:cTn>
                              </p:par>
                              <p:par>
                                <p:cTn id="16" presetID="10" presetClass="entr" presetSubtype="0" fill="hold" nodeType="withEffect">
                                  <p:stCondLst>
                                    <p:cond delay="0"/>
                                  </p:stCondLst>
                                  <p:childTnLst>
                                    <p:set>
                                      <p:cBhvr>
                                        <p:cTn id="17" dur="1" fill="hold">
                                          <p:stCondLst>
                                            <p:cond delay="0"/>
                                          </p:stCondLst>
                                        </p:cTn>
                                        <p:tgtEl>
                                          <p:spTgt spid="3">
                                            <p:txEl>
                                              <p:pRg st="5" end="5"/>
                                            </p:txEl>
                                          </p:spTgt>
                                        </p:tgtEl>
                                        <p:attrNameLst>
                                          <p:attrName>style.visibility</p:attrName>
                                        </p:attrNameLst>
                                      </p:cBhvr>
                                      <p:to>
                                        <p:strVal val="visible"/>
                                      </p:to>
                                    </p:set>
                                    <p:animEffect transition="in" filter="fade">
                                      <p:cBhvr>
                                        <p:cTn id="18" dur="500"/>
                                        <p:tgtEl>
                                          <p:spTgt spid="3">
                                            <p:txEl>
                                              <p:pRg st="5" end="5"/>
                                            </p:txEl>
                                          </p:spTgt>
                                        </p:tgtEl>
                                      </p:cBhvr>
                                    </p:animEffect>
                                  </p:childTnLst>
                                </p:cTn>
                              </p:par>
                              <p:par>
                                <p:cTn id="19" presetID="10" presetClass="entr" presetSubtype="0" fill="hold" nodeType="withEffect">
                                  <p:stCondLst>
                                    <p:cond delay="0"/>
                                  </p:stCondLst>
                                  <p:childTnLst>
                                    <p:set>
                                      <p:cBhvr>
                                        <p:cTn id="20" dur="1" fill="hold">
                                          <p:stCondLst>
                                            <p:cond delay="0"/>
                                          </p:stCondLst>
                                        </p:cTn>
                                        <p:tgtEl>
                                          <p:spTgt spid="3">
                                            <p:txEl>
                                              <p:pRg st="6" end="6"/>
                                            </p:txEl>
                                          </p:spTgt>
                                        </p:tgtEl>
                                        <p:attrNameLst>
                                          <p:attrName>style.visibility</p:attrName>
                                        </p:attrNameLst>
                                      </p:cBhvr>
                                      <p:to>
                                        <p:strVal val="visible"/>
                                      </p:to>
                                    </p:set>
                                    <p:animEffect transition="in" filter="fade">
                                      <p:cBhvr>
                                        <p:cTn id="21" dur="500"/>
                                        <p:tgtEl>
                                          <p:spTgt spid="3">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第二节	国际金融危机的一般理论</a:t>
            </a:r>
            <a:endParaRPr lang="zh-CN" dirty="0"/>
          </a:p>
        </p:txBody>
      </p:sp>
      <p:sp>
        <p:nvSpPr>
          <p:cNvPr id="3" name="内容占位符 2"/>
          <p:cNvSpPr>
            <a:spLocks noGrp="1"/>
          </p:cNvSpPr>
          <p:nvPr>
            <p:ph idx="1"/>
          </p:nvPr>
        </p:nvSpPr>
        <p:spPr>
          <a:xfrm>
            <a:off x="971550" y="1447799"/>
            <a:ext cx="7200900" cy="4841879"/>
          </a:xfrm>
        </p:spPr>
        <p:txBody>
          <a:bodyPr>
            <a:normAutofit fontScale="92500" lnSpcReduction="20000"/>
          </a:bodyPr>
          <a:lstStyle/>
          <a:p>
            <a:pPr marL="0" indent="0">
              <a:lnSpc>
                <a:spcPct val="110000"/>
              </a:lnSpc>
              <a:buNone/>
            </a:pPr>
            <a:r>
              <a:rPr lang="zh-CN" altLang="en-US" sz="2800" dirty="0">
                <a:solidFill>
                  <a:schemeClr val="accent1"/>
                </a:solidFill>
                <a:latin typeface="微软雅黑" panose="020B0503020204020204" pitchFamily="34" charset="-122"/>
                <a:ea typeface="微软雅黑" panose="020B0503020204020204" pitchFamily="34" charset="-122"/>
              </a:rPr>
              <a:t>二、国际金融危机的案例分析</a:t>
            </a:r>
          </a:p>
          <a:p>
            <a:pPr marL="514350" indent="-514350">
              <a:lnSpc>
                <a:spcPct val="100000"/>
              </a:lnSpc>
              <a:buFont typeface="+mj-lt"/>
              <a:buAutoNum type="arabicPeriod"/>
            </a:pPr>
            <a:r>
              <a:rPr lang="en-US" altLang="zh-CN" sz="2600" dirty="0">
                <a:latin typeface="微软雅黑" panose="020B0503020204020204" pitchFamily="34" charset="-122"/>
                <a:ea typeface="微软雅黑" panose="020B0503020204020204" pitchFamily="34" charset="-122"/>
              </a:rPr>
              <a:t>The Great Depression</a:t>
            </a:r>
          </a:p>
          <a:p>
            <a:pPr marL="742950" lvl="1" indent="-514350">
              <a:lnSpc>
                <a:spcPct val="100000"/>
              </a:lnSpc>
              <a:buFont typeface="+mj-ea"/>
              <a:buAutoNum type="circleNumDbPlain" startAt="4"/>
            </a:pPr>
            <a:r>
              <a:rPr lang="zh-CN" altLang="en-US" sz="2400" dirty="0">
                <a:latin typeface="微软雅黑" panose="020B0503020204020204" pitchFamily="34" charset="-122"/>
                <a:ea typeface="微软雅黑" panose="020B0503020204020204" pitchFamily="34" charset="-122"/>
              </a:rPr>
              <a:t>大萧条对美国的</a:t>
            </a:r>
            <a:r>
              <a:rPr lang="zh-CN" altLang="en-US" sz="2400" dirty="0" smtClean="0">
                <a:latin typeface="微软雅黑" panose="020B0503020204020204" pitchFamily="34" charset="-122"/>
                <a:ea typeface="微软雅黑" panose="020B0503020204020204" pitchFamily="34" charset="-122"/>
              </a:rPr>
              <a:t>影响：</a:t>
            </a:r>
          </a:p>
          <a:p>
            <a:pPr marL="0" lvl="2" indent="457200">
              <a:lnSpc>
                <a:spcPct val="110000"/>
              </a:lnSpc>
              <a:spcBef>
                <a:spcPts val="1800"/>
              </a:spcBef>
              <a:buNone/>
            </a:pPr>
            <a:r>
              <a:rPr lang="zh-CN" altLang="en-US" sz="2400" dirty="0" smtClean="0">
                <a:latin typeface="微软雅黑" panose="020B0503020204020204" pitchFamily="34" charset="-122"/>
                <a:ea typeface="微软雅黑" panose="020B0503020204020204" pitchFamily="34" charset="-122"/>
              </a:rPr>
              <a:t>大</a:t>
            </a:r>
            <a:r>
              <a:rPr lang="zh-CN" altLang="en-US" sz="2400" dirty="0">
                <a:latin typeface="微软雅黑" panose="020B0503020204020204" pitchFamily="34" charset="-122"/>
                <a:ea typeface="微软雅黑" panose="020B0503020204020204" pitchFamily="34" charset="-122"/>
              </a:rPr>
              <a:t>萧条中，美国经济受影响最严重（工业产出、老工业的衰落、东北工业中心的衰落）。但是，美国也孕育着积极的变化：</a:t>
            </a:r>
          </a:p>
          <a:p>
            <a:pPr lvl="2">
              <a:lnSpc>
                <a:spcPct val="100000"/>
              </a:lnSpc>
              <a:buFont typeface="Wingdings" panose="05000000000000000000" pitchFamily="2" charset="2"/>
              <a:buChar char="Ø"/>
            </a:pPr>
            <a:r>
              <a:rPr lang="zh-CN" altLang="en-US" sz="2400" dirty="0">
                <a:latin typeface="微软雅黑" panose="020B0503020204020204" pitchFamily="34" charset="-122"/>
                <a:ea typeface="微软雅黑" panose="020B0503020204020204" pitchFamily="34" charset="-122"/>
              </a:rPr>
              <a:t>人口西移</a:t>
            </a:r>
          </a:p>
          <a:p>
            <a:pPr lvl="2">
              <a:lnSpc>
                <a:spcPct val="100000"/>
              </a:lnSpc>
              <a:buFont typeface="Wingdings" panose="05000000000000000000" pitchFamily="2" charset="2"/>
              <a:buChar char="Ø"/>
            </a:pPr>
            <a:r>
              <a:rPr lang="zh-CN" altLang="en-US" sz="2400" dirty="0">
                <a:latin typeface="微软雅黑" panose="020B0503020204020204" pitchFamily="34" charset="-122"/>
                <a:ea typeface="微软雅黑" panose="020B0503020204020204" pitchFamily="34" charset="-122"/>
              </a:rPr>
              <a:t>西部崛起新产业（主要有石油化工、新的消费产品、耐用消费品、新品牌、国内经济的商业化、飞机、好莱坞等）</a:t>
            </a:r>
          </a:p>
          <a:p>
            <a:pPr lvl="2">
              <a:lnSpc>
                <a:spcPct val="100000"/>
              </a:lnSpc>
              <a:buFont typeface="Wingdings" panose="05000000000000000000" pitchFamily="2" charset="2"/>
              <a:buChar char="Ø"/>
            </a:pPr>
            <a:r>
              <a:rPr lang="zh-CN" altLang="en-US" sz="2400" dirty="0">
                <a:latin typeface="微软雅黑" panose="020B0503020204020204" pitchFamily="34" charset="-122"/>
                <a:ea typeface="微软雅黑" panose="020B0503020204020204" pitchFamily="34" charset="-122"/>
              </a:rPr>
              <a:t>西海岸成为新的增长区（加州人口</a:t>
            </a:r>
            <a:r>
              <a:rPr lang="en-US" altLang="zh-CN" sz="2400" dirty="0">
                <a:latin typeface="微软雅黑" panose="020B0503020204020204" pitchFamily="34" charset="-122"/>
                <a:ea typeface="微软雅黑" panose="020B0503020204020204" pitchFamily="34" charset="-122"/>
              </a:rPr>
              <a:t>1940</a:t>
            </a:r>
            <a:r>
              <a:rPr lang="zh-CN" altLang="en-US" sz="2400" dirty="0">
                <a:latin typeface="微软雅黑" panose="020B0503020204020204" pitchFamily="34" charset="-122"/>
                <a:ea typeface="微软雅黑" panose="020B0503020204020204" pitchFamily="34" charset="-122"/>
              </a:rPr>
              <a:t>年代末成为人口最多的州、洛杉矶成为美国人心中理想的城市）</a:t>
            </a:r>
          </a:p>
        </p:txBody>
      </p:sp>
      <p:sp>
        <p:nvSpPr>
          <p:cNvPr id="5" name="页脚占位符 4"/>
          <p:cNvSpPr>
            <a:spLocks noGrp="1"/>
          </p:cNvSpPr>
          <p:nvPr>
            <p:ph type="ftr" sz="quarter" idx="11"/>
          </p:nvPr>
        </p:nvSpPr>
        <p:spPr/>
        <p:txBody>
          <a:bodyPr/>
          <a:lstStyle/>
          <a:p>
            <a:r>
              <a:rPr lang="zh-CN" altLang="en-US" smtClean="0"/>
              <a:t>国际金融学 范小云</a:t>
            </a:r>
            <a:endParaRPr lang="zh-CN" altLang="en-US" dirty="0"/>
          </a:p>
        </p:txBody>
      </p:sp>
    </p:spTree>
    <p:extLst>
      <p:ext uri="{BB962C8B-B14F-4D97-AF65-F5344CB8AC3E}">
        <p14:creationId xmlns:p14="http://schemas.microsoft.com/office/powerpoint/2010/main" val="61588280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animEffect transition="in" filter="fade">
                                      <p:cBhvr>
                                        <p:cTn id="7" dur="500"/>
                                        <p:tgtEl>
                                          <p:spTgt spid="3">
                                            <p:txEl>
                                              <p:pRg st="2" end="2"/>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3" end="3"/>
                                            </p:txEl>
                                          </p:spTgt>
                                        </p:tgtEl>
                                        <p:attrNameLst>
                                          <p:attrName>style.visibility</p:attrName>
                                        </p:attrNameLst>
                                      </p:cBhvr>
                                      <p:to>
                                        <p:strVal val="visible"/>
                                      </p:to>
                                    </p:set>
                                    <p:animEffect transition="in" filter="fade">
                                      <p:cBhvr>
                                        <p:cTn id="12" dur="500"/>
                                        <p:tgtEl>
                                          <p:spTgt spid="3">
                                            <p:txEl>
                                              <p:pRg st="3" end="3"/>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
                                            <p:txEl>
                                              <p:pRg st="4" end="4"/>
                                            </p:txEl>
                                          </p:spTgt>
                                        </p:tgtEl>
                                        <p:attrNameLst>
                                          <p:attrName>style.visibility</p:attrName>
                                        </p:attrNameLst>
                                      </p:cBhvr>
                                      <p:to>
                                        <p:strVal val="visible"/>
                                      </p:to>
                                    </p:set>
                                    <p:animEffect transition="in" filter="fade">
                                      <p:cBhvr>
                                        <p:cTn id="17" dur="500"/>
                                        <p:tgtEl>
                                          <p:spTgt spid="3">
                                            <p:txEl>
                                              <p:pRg st="4" end="4"/>
                                            </p:txEl>
                                          </p:spTgt>
                                        </p:tgtEl>
                                      </p:cBhvr>
                                    </p:animEffect>
                                  </p:childTnLst>
                                </p:cTn>
                              </p:par>
                              <p:par>
                                <p:cTn id="18" presetID="10" presetClass="entr" presetSubtype="0" fill="hold" nodeType="withEffect">
                                  <p:stCondLst>
                                    <p:cond delay="0"/>
                                  </p:stCondLst>
                                  <p:childTnLst>
                                    <p:set>
                                      <p:cBhvr>
                                        <p:cTn id="19" dur="1" fill="hold">
                                          <p:stCondLst>
                                            <p:cond delay="0"/>
                                          </p:stCondLst>
                                        </p:cTn>
                                        <p:tgtEl>
                                          <p:spTgt spid="3">
                                            <p:txEl>
                                              <p:pRg st="5" end="5"/>
                                            </p:txEl>
                                          </p:spTgt>
                                        </p:tgtEl>
                                        <p:attrNameLst>
                                          <p:attrName>style.visibility</p:attrName>
                                        </p:attrNameLst>
                                      </p:cBhvr>
                                      <p:to>
                                        <p:strVal val="visible"/>
                                      </p:to>
                                    </p:set>
                                    <p:animEffect transition="in" filter="fade">
                                      <p:cBhvr>
                                        <p:cTn id="20" dur="500"/>
                                        <p:tgtEl>
                                          <p:spTgt spid="3">
                                            <p:txEl>
                                              <p:pRg st="5" end="5"/>
                                            </p:txEl>
                                          </p:spTgt>
                                        </p:tgtEl>
                                      </p:cBhvr>
                                    </p:animEffect>
                                  </p:childTnLst>
                                </p:cTn>
                              </p:par>
                              <p:par>
                                <p:cTn id="21" presetID="10" presetClass="entr" presetSubtype="0" fill="hold" nodeType="withEffect">
                                  <p:stCondLst>
                                    <p:cond delay="0"/>
                                  </p:stCondLst>
                                  <p:childTnLst>
                                    <p:set>
                                      <p:cBhvr>
                                        <p:cTn id="22" dur="1" fill="hold">
                                          <p:stCondLst>
                                            <p:cond delay="0"/>
                                          </p:stCondLst>
                                        </p:cTn>
                                        <p:tgtEl>
                                          <p:spTgt spid="3">
                                            <p:txEl>
                                              <p:pRg st="6" end="6"/>
                                            </p:txEl>
                                          </p:spTgt>
                                        </p:tgtEl>
                                        <p:attrNameLst>
                                          <p:attrName>style.visibility</p:attrName>
                                        </p:attrNameLst>
                                      </p:cBhvr>
                                      <p:to>
                                        <p:strVal val="visible"/>
                                      </p:to>
                                    </p:set>
                                    <p:animEffect transition="in" filter="fade">
                                      <p:cBhvr>
                                        <p:cTn id="23" dur="500"/>
                                        <p:tgtEl>
                                          <p:spTgt spid="3">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第二节	国际金融危机的一般理论</a:t>
            </a:r>
            <a:endParaRPr lang="zh-CN" dirty="0"/>
          </a:p>
        </p:txBody>
      </p:sp>
      <p:sp>
        <p:nvSpPr>
          <p:cNvPr id="3" name="内容占位符 2"/>
          <p:cNvSpPr>
            <a:spLocks noGrp="1"/>
          </p:cNvSpPr>
          <p:nvPr>
            <p:ph idx="1"/>
          </p:nvPr>
        </p:nvSpPr>
        <p:spPr>
          <a:xfrm>
            <a:off x="971550" y="1447799"/>
            <a:ext cx="7200900" cy="4841879"/>
          </a:xfrm>
        </p:spPr>
        <p:txBody>
          <a:bodyPr>
            <a:normAutofit/>
          </a:bodyPr>
          <a:lstStyle/>
          <a:p>
            <a:pPr marL="0" indent="0">
              <a:lnSpc>
                <a:spcPct val="110000"/>
              </a:lnSpc>
              <a:buNone/>
            </a:pPr>
            <a:r>
              <a:rPr lang="zh-CN" altLang="en-US" sz="2800" dirty="0">
                <a:solidFill>
                  <a:schemeClr val="accent1"/>
                </a:solidFill>
                <a:latin typeface="微软雅黑" panose="020B0503020204020204" pitchFamily="34" charset="-122"/>
                <a:ea typeface="微软雅黑" panose="020B0503020204020204" pitchFamily="34" charset="-122"/>
              </a:rPr>
              <a:t>二、国际金融危机的案例分析</a:t>
            </a:r>
          </a:p>
          <a:p>
            <a:pPr marL="514350" indent="-514350">
              <a:lnSpc>
                <a:spcPct val="100000"/>
              </a:lnSpc>
              <a:buFont typeface="+mj-lt"/>
              <a:buAutoNum type="arabicPeriod"/>
            </a:pPr>
            <a:r>
              <a:rPr lang="en-US" altLang="zh-CN" sz="2600" dirty="0">
                <a:latin typeface="微软雅黑" panose="020B0503020204020204" pitchFamily="34" charset="-122"/>
                <a:ea typeface="微软雅黑" panose="020B0503020204020204" pitchFamily="34" charset="-122"/>
              </a:rPr>
              <a:t>The Great Depression</a:t>
            </a:r>
          </a:p>
          <a:p>
            <a:pPr marL="742950" lvl="1" indent="-514350">
              <a:lnSpc>
                <a:spcPct val="100000"/>
              </a:lnSpc>
              <a:buFont typeface="+mj-ea"/>
              <a:buAutoNum type="circleNumDbPlain" startAt="4"/>
            </a:pPr>
            <a:r>
              <a:rPr lang="zh-CN" altLang="en-US" sz="2400" dirty="0">
                <a:latin typeface="微软雅黑" panose="020B0503020204020204" pitchFamily="34" charset="-122"/>
                <a:ea typeface="微软雅黑" panose="020B0503020204020204" pitchFamily="34" charset="-122"/>
              </a:rPr>
              <a:t>大萧条对美国的</a:t>
            </a:r>
            <a:r>
              <a:rPr lang="zh-CN" altLang="en-US" sz="2400" dirty="0" smtClean="0">
                <a:latin typeface="微软雅黑" panose="020B0503020204020204" pitchFamily="34" charset="-122"/>
                <a:ea typeface="微软雅黑" panose="020B0503020204020204" pitchFamily="34" charset="-122"/>
              </a:rPr>
              <a:t>影响：</a:t>
            </a:r>
          </a:p>
          <a:p>
            <a:pPr marL="0" lvl="2" indent="457200">
              <a:lnSpc>
                <a:spcPct val="110000"/>
              </a:lnSpc>
              <a:spcBef>
                <a:spcPts val="1800"/>
              </a:spcBef>
              <a:buNone/>
            </a:pPr>
            <a:r>
              <a:rPr lang="zh-CN" altLang="en-US" sz="2400" dirty="0" smtClean="0">
                <a:latin typeface="微软雅黑" panose="020B0503020204020204" pitchFamily="34" charset="-122"/>
                <a:ea typeface="微软雅黑" panose="020B0503020204020204" pitchFamily="34" charset="-122"/>
              </a:rPr>
              <a:t>到</a:t>
            </a:r>
            <a:r>
              <a:rPr lang="en-US" altLang="zh-CN" sz="2400" dirty="0">
                <a:latin typeface="微软雅黑" panose="020B0503020204020204" pitchFamily="34" charset="-122"/>
                <a:ea typeface="微软雅黑" panose="020B0503020204020204" pitchFamily="34" charset="-122"/>
              </a:rPr>
              <a:t>1945</a:t>
            </a:r>
            <a:r>
              <a:rPr lang="zh-CN" altLang="en-US" sz="2400" dirty="0">
                <a:latin typeface="微软雅黑" panose="020B0503020204020204" pitchFamily="34" charset="-122"/>
                <a:ea typeface="微软雅黑" panose="020B0503020204020204" pitchFamily="34" charset="-122"/>
              </a:rPr>
              <a:t>年二战结束时，美国占有一半的世界工业产出，一半的世界贸易，近三分之二的黄金储备。</a:t>
            </a:r>
          </a:p>
        </p:txBody>
      </p:sp>
      <p:sp>
        <p:nvSpPr>
          <p:cNvPr id="5" name="页脚占位符 4"/>
          <p:cNvSpPr>
            <a:spLocks noGrp="1"/>
          </p:cNvSpPr>
          <p:nvPr>
            <p:ph type="ftr" sz="quarter" idx="11"/>
          </p:nvPr>
        </p:nvSpPr>
        <p:spPr/>
        <p:txBody>
          <a:bodyPr/>
          <a:lstStyle/>
          <a:p>
            <a:r>
              <a:rPr lang="zh-CN" altLang="en-US" smtClean="0"/>
              <a:t>国际金融学 范小云</a:t>
            </a:r>
            <a:endParaRPr lang="zh-CN" altLang="en-US" dirty="0"/>
          </a:p>
        </p:txBody>
      </p:sp>
    </p:spTree>
    <p:extLst>
      <p:ext uri="{BB962C8B-B14F-4D97-AF65-F5344CB8AC3E}">
        <p14:creationId xmlns:p14="http://schemas.microsoft.com/office/powerpoint/2010/main" val="344893572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3" end="3"/>
                                            </p:txEl>
                                          </p:spTgt>
                                        </p:tgtEl>
                                        <p:attrNameLst>
                                          <p:attrName>style.visibility</p:attrName>
                                        </p:attrNameLst>
                                      </p:cBhvr>
                                      <p:to>
                                        <p:strVal val="visible"/>
                                      </p:to>
                                    </p:set>
                                    <p:animEffect transition="in" filter="fade">
                                      <p:cBhvr>
                                        <p:cTn id="7" dur="500"/>
                                        <p:tgtEl>
                                          <p:spTgt spid="3">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页脚占位符 4"/>
          <p:cNvSpPr>
            <a:spLocks noGrp="1"/>
          </p:cNvSpPr>
          <p:nvPr>
            <p:ph type="ftr" sz="quarter" idx="11"/>
          </p:nvPr>
        </p:nvSpPr>
        <p:spPr/>
        <p:txBody>
          <a:bodyPr/>
          <a:lstStyle/>
          <a:p>
            <a:r>
              <a:rPr lang="zh-CN" altLang="en-US" smtClean="0"/>
              <a:t>国际金融学 范小云</a:t>
            </a:r>
            <a:endParaRPr lang="zh-CN" altLang="en-US" dirty="0"/>
          </a:p>
        </p:txBody>
      </p:sp>
      <p:sp>
        <p:nvSpPr>
          <p:cNvPr id="9" name="Rectangle 4"/>
          <p:cNvSpPr>
            <a:spLocks noChangeArrowheads="1"/>
          </p:cNvSpPr>
          <p:nvPr/>
        </p:nvSpPr>
        <p:spPr bwMode="auto">
          <a:xfrm>
            <a:off x="1245695" y="272880"/>
            <a:ext cx="6857781" cy="8002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nchor="ct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sz="2800" b="1" dirty="0">
                <a:latin typeface="微软雅黑" panose="020B0503020204020204" pitchFamily="34" charset="-122"/>
                <a:ea typeface="微软雅黑" panose="020B0503020204020204" pitchFamily="34" charset="-122"/>
                <a:cs typeface="Times New Roman" panose="02020603050405020304" pitchFamily="18" charset="0"/>
              </a:rPr>
              <a:t>Growth of Sun Belt Cities, 1920-1980</a:t>
            </a:r>
          </a:p>
          <a:p>
            <a:endParaRPr lang="en-US" altLang="zh-CN" dirty="0">
              <a:latin typeface="微软雅黑" panose="020B0503020204020204" pitchFamily="34" charset="-122"/>
              <a:ea typeface="微软雅黑" panose="020B0503020204020204" pitchFamily="34" charset="-122"/>
              <a:cs typeface="Times New Roman" panose="02020603050405020304" pitchFamily="18" charset="0"/>
            </a:endParaRPr>
          </a:p>
        </p:txBody>
      </p:sp>
      <p:graphicFrame>
        <p:nvGraphicFramePr>
          <p:cNvPr id="10" name="Group 357"/>
          <p:cNvGraphicFramePr>
            <a:graphicFrameLocks noGrp="1"/>
          </p:cNvGraphicFramePr>
          <p:nvPr>
            <p:extLst>
              <p:ext uri="{D42A27DB-BD31-4B8C-83A1-F6EECF244321}">
                <p14:modId xmlns:p14="http://schemas.microsoft.com/office/powerpoint/2010/main" val="270739875"/>
              </p:ext>
            </p:extLst>
          </p:nvPr>
        </p:nvGraphicFramePr>
        <p:xfrm>
          <a:off x="323850" y="836613"/>
          <a:ext cx="8496300" cy="4664075"/>
        </p:xfrm>
        <a:graphic>
          <a:graphicData uri="http://schemas.openxmlformats.org/drawingml/2006/table">
            <a:tbl>
              <a:tblPr/>
              <a:tblGrid>
                <a:gridCol w="2227263">
                  <a:extLst>
                    <a:ext uri="{9D8B030D-6E8A-4147-A177-3AD203B41FA5}">
                      <a16:colId xmlns:a16="http://schemas.microsoft.com/office/drawing/2014/main" val="20000"/>
                    </a:ext>
                  </a:extLst>
                </a:gridCol>
                <a:gridCol w="1566862">
                  <a:extLst>
                    <a:ext uri="{9D8B030D-6E8A-4147-A177-3AD203B41FA5}">
                      <a16:colId xmlns:a16="http://schemas.microsoft.com/office/drawing/2014/main" val="20001"/>
                    </a:ext>
                  </a:extLst>
                </a:gridCol>
                <a:gridCol w="1568450">
                  <a:extLst>
                    <a:ext uri="{9D8B030D-6E8A-4147-A177-3AD203B41FA5}">
                      <a16:colId xmlns:a16="http://schemas.microsoft.com/office/drawing/2014/main" val="20002"/>
                    </a:ext>
                  </a:extLst>
                </a:gridCol>
                <a:gridCol w="1566863">
                  <a:extLst>
                    <a:ext uri="{9D8B030D-6E8A-4147-A177-3AD203B41FA5}">
                      <a16:colId xmlns:a16="http://schemas.microsoft.com/office/drawing/2014/main" val="20003"/>
                    </a:ext>
                  </a:extLst>
                </a:gridCol>
                <a:gridCol w="1566862">
                  <a:extLst>
                    <a:ext uri="{9D8B030D-6E8A-4147-A177-3AD203B41FA5}">
                      <a16:colId xmlns:a16="http://schemas.microsoft.com/office/drawing/2014/main" val="20004"/>
                    </a:ext>
                  </a:extLst>
                </a:gridCol>
              </a:tblGrid>
              <a:tr h="701135">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2000" b="1" i="0" u="none" strike="noStrike" cap="none" normalizeH="0" baseline="0" dirty="0" smtClean="0">
                          <a:ln>
                            <a:noFill/>
                          </a:ln>
                          <a:solidFill>
                            <a:schemeClr val="bg1"/>
                          </a:solidFill>
                          <a:effectLst/>
                          <a:latin typeface="微软雅黑" panose="020B0503020204020204" pitchFamily="34" charset="-122"/>
                          <a:ea typeface="微软雅黑" panose="020B0503020204020204" pitchFamily="34" charset="-122"/>
                          <a:cs typeface="Times New Roman" pitchFamily="18" charset="0"/>
                        </a:rPr>
                        <a:t>Metropolitan</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zh-CN" sz="2000" b="1" i="0" u="none" strike="noStrike" cap="none" normalizeH="0" baseline="0" dirty="0" smtClean="0">
                          <a:ln>
                            <a:noFill/>
                          </a:ln>
                          <a:solidFill>
                            <a:schemeClr val="bg1"/>
                          </a:solidFill>
                          <a:effectLst/>
                          <a:latin typeface="微软雅黑" panose="020B0503020204020204" pitchFamily="34" charset="-122"/>
                          <a:ea typeface="微软雅黑" panose="020B0503020204020204" pitchFamily="34" charset="-122"/>
                          <a:cs typeface="Times New Roman" pitchFamily="18" charset="0"/>
                        </a:rPr>
                        <a:t>Areas</a:t>
                      </a:r>
                      <a:endParaRPr kumimoji="0" lang="en-US" altLang="zh-CN" sz="2000" b="1" i="0" u="none" strike="noStrike" cap="none" normalizeH="0" baseline="0" dirty="0" smtClean="0">
                        <a:ln>
                          <a:noFill/>
                        </a:ln>
                        <a:solidFill>
                          <a:schemeClr val="bg1"/>
                        </a:solidFill>
                        <a:effectLst/>
                        <a:latin typeface="微软雅黑" panose="020B0503020204020204" pitchFamily="34" charset="-122"/>
                        <a:ea typeface="微软雅黑" panose="020B0503020204020204" pitchFamily="34" charset="-122"/>
                      </a:endParaRPr>
                    </a:p>
                  </a:txBody>
                  <a:tcPr marT="45726" marB="45726"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1" i="0" u="none" strike="noStrike" cap="none" normalizeH="0" baseline="0" smtClean="0">
                          <a:ln>
                            <a:noFill/>
                          </a:ln>
                          <a:solidFill>
                            <a:schemeClr val="bg1"/>
                          </a:solidFill>
                          <a:effectLst/>
                          <a:latin typeface="微软雅黑" panose="020B0503020204020204" pitchFamily="34" charset="-122"/>
                          <a:ea typeface="微软雅黑" panose="020B0503020204020204" pitchFamily="34" charset="-122"/>
                          <a:cs typeface="Times New Roman" pitchFamily="18" charset="0"/>
                        </a:rPr>
                        <a:t>Year</a:t>
                      </a:r>
                    </a:p>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zh-CN" sz="2000" b="1" i="0" u="none" strike="noStrike" cap="none" normalizeH="0" baseline="0" smtClean="0">
                          <a:ln>
                            <a:noFill/>
                          </a:ln>
                          <a:solidFill>
                            <a:schemeClr val="bg1"/>
                          </a:solidFill>
                          <a:effectLst/>
                          <a:latin typeface="微软雅黑" panose="020B0503020204020204" pitchFamily="34" charset="-122"/>
                          <a:ea typeface="微软雅黑" panose="020B0503020204020204" pitchFamily="34" charset="-122"/>
                          <a:cs typeface="Times New Roman" pitchFamily="18" charset="0"/>
                        </a:rPr>
                        <a:t>1920</a:t>
                      </a:r>
                      <a:endParaRPr kumimoji="0" lang="en-US" altLang="zh-CN" sz="2000" b="1" i="0" u="none" strike="noStrike" cap="none" normalizeH="0" baseline="0" smtClean="0">
                        <a:ln>
                          <a:noFill/>
                        </a:ln>
                        <a:solidFill>
                          <a:schemeClr val="bg1"/>
                        </a:solidFill>
                        <a:effectLst/>
                        <a:latin typeface="微软雅黑" panose="020B0503020204020204" pitchFamily="34" charset="-122"/>
                        <a:ea typeface="微软雅黑" panose="020B0503020204020204" pitchFamily="34" charset="-122"/>
                      </a:endParaRPr>
                    </a:p>
                  </a:txBody>
                  <a:tcPr marT="45726" marB="45726"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00B0F0"/>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tab pos="717550" algn="r"/>
                        </a:tabLst>
                      </a:pPr>
                      <a:r>
                        <a:rPr kumimoji="0" lang="en-US" altLang="zh-CN" sz="2000" b="1" i="0" u="none" strike="noStrike" cap="none" normalizeH="0" baseline="0" smtClean="0">
                          <a:ln>
                            <a:noFill/>
                          </a:ln>
                          <a:solidFill>
                            <a:schemeClr val="bg1"/>
                          </a:solidFill>
                          <a:effectLst/>
                          <a:latin typeface="微软雅黑" panose="020B0503020204020204" pitchFamily="34" charset="-122"/>
                          <a:ea typeface="微软雅黑" panose="020B0503020204020204" pitchFamily="34" charset="-122"/>
                          <a:cs typeface="Times New Roman" pitchFamily="18" charset="0"/>
                        </a:rPr>
                        <a:t>1940</a:t>
                      </a:r>
                      <a:endParaRPr kumimoji="0" lang="en-US" altLang="zh-CN" sz="2000" b="1" i="0" u="none" strike="noStrike" cap="none" normalizeH="0" baseline="0" smtClean="0">
                        <a:ln>
                          <a:noFill/>
                        </a:ln>
                        <a:solidFill>
                          <a:schemeClr val="bg1"/>
                        </a:solidFill>
                        <a:effectLst/>
                        <a:latin typeface="微软雅黑" panose="020B0503020204020204" pitchFamily="34" charset="-122"/>
                        <a:ea typeface="微软雅黑" panose="020B0503020204020204" pitchFamily="34" charset="-122"/>
                      </a:endParaRPr>
                    </a:p>
                  </a:txBody>
                  <a:tcPr marT="45726" marB="45726"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00B0F0"/>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tab pos="717550" algn="r"/>
                        </a:tabLst>
                      </a:pPr>
                      <a:r>
                        <a:rPr kumimoji="0" lang="en-US" altLang="zh-CN" sz="2000" b="1" i="0" u="none" strike="noStrike" cap="none" normalizeH="0" baseline="0" smtClean="0">
                          <a:ln>
                            <a:noFill/>
                          </a:ln>
                          <a:solidFill>
                            <a:schemeClr val="bg1"/>
                          </a:solidFill>
                          <a:effectLst/>
                          <a:latin typeface="微软雅黑" panose="020B0503020204020204" pitchFamily="34" charset="-122"/>
                          <a:ea typeface="微软雅黑" panose="020B0503020204020204" pitchFamily="34" charset="-122"/>
                          <a:cs typeface="Times New Roman" pitchFamily="18" charset="0"/>
                        </a:rPr>
                        <a:t>1960</a:t>
                      </a:r>
                      <a:endParaRPr kumimoji="0" lang="en-US" altLang="zh-CN" sz="2000" b="1" i="0" u="none" strike="noStrike" cap="none" normalizeH="0" baseline="0" smtClean="0">
                        <a:ln>
                          <a:noFill/>
                        </a:ln>
                        <a:solidFill>
                          <a:schemeClr val="bg1"/>
                        </a:solidFill>
                        <a:effectLst/>
                        <a:latin typeface="微软雅黑" panose="020B0503020204020204" pitchFamily="34" charset="-122"/>
                        <a:ea typeface="微软雅黑" panose="020B0503020204020204" pitchFamily="34" charset="-122"/>
                      </a:endParaRPr>
                    </a:p>
                  </a:txBody>
                  <a:tcPr marT="45726" marB="45726"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00B0F0"/>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tab pos="717550" algn="r"/>
                        </a:tabLst>
                      </a:pPr>
                      <a:r>
                        <a:rPr kumimoji="0" lang="en-US" altLang="zh-CN" sz="2000" b="1" i="0" u="none" strike="noStrike" cap="none" normalizeH="0" baseline="0" dirty="0" smtClean="0">
                          <a:ln>
                            <a:noFill/>
                          </a:ln>
                          <a:solidFill>
                            <a:schemeClr val="bg1"/>
                          </a:solidFill>
                          <a:effectLst/>
                          <a:latin typeface="微软雅黑" panose="020B0503020204020204" pitchFamily="34" charset="-122"/>
                          <a:ea typeface="微软雅黑" panose="020B0503020204020204" pitchFamily="34" charset="-122"/>
                          <a:cs typeface="Times New Roman" pitchFamily="18" charset="0"/>
                        </a:rPr>
                        <a:t>1980</a:t>
                      </a:r>
                      <a:endParaRPr kumimoji="0" lang="en-US" altLang="zh-CN" sz="2000" b="1" i="0" u="none" strike="noStrike" cap="none" normalizeH="0" baseline="0" dirty="0" smtClean="0">
                        <a:ln>
                          <a:noFill/>
                        </a:ln>
                        <a:solidFill>
                          <a:schemeClr val="bg1"/>
                        </a:solidFill>
                        <a:effectLst/>
                        <a:latin typeface="微软雅黑" panose="020B0503020204020204" pitchFamily="34" charset="-122"/>
                        <a:ea typeface="微软雅黑" panose="020B0503020204020204" pitchFamily="34" charset="-122"/>
                      </a:endParaRPr>
                    </a:p>
                  </a:txBody>
                  <a:tcPr marT="45726" marB="45726"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00B0F0"/>
                    </a:solidFill>
                  </a:tcPr>
                </a:tc>
                <a:extLst>
                  <a:ext uri="{0D108BD9-81ED-4DB2-BD59-A6C34878D82A}">
                    <a16:rowId xmlns:a16="http://schemas.microsoft.com/office/drawing/2014/main" val="10000"/>
                  </a:ext>
                </a:extLst>
              </a:tr>
              <a:tr h="396294">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2000" b="1" i="0" u="none" strike="noStrike" cap="none" normalizeH="0" baseline="0" dirty="0" smtClean="0">
                          <a:ln>
                            <a:noFill/>
                          </a:ln>
                          <a:solidFill>
                            <a:schemeClr val="tx1"/>
                          </a:solidFill>
                          <a:effectLst/>
                          <a:latin typeface="微软雅黑" panose="020B0503020204020204" pitchFamily="34" charset="-122"/>
                          <a:ea typeface="微软雅黑" panose="020B0503020204020204" pitchFamily="34" charset="-122"/>
                          <a:cs typeface="Times New Roman" pitchFamily="18" charset="0"/>
                        </a:rPr>
                        <a:t>Los Angeles</a:t>
                      </a:r>
                      <a:endParaRPr kumimoji="0" lang="en-US" altLang="zh-CN" sz="2000" b="1" i="0" u="none" strike="noStrike" cap="none" normalizeH="0" baseline="0" dirty="0" smtClean="0">
                        <a:ln>
                          <a:noFill/>
                        </a:ln>
                        <a:solidFill>
                          <a:schemeClr val="tx1"/>
                        </a:solidFill>
                        <a:effectLst/>
                        <a:latin typeface="微软雅黑" panose="020B0503020204020204" pitchFamily="34" charset="-122"/>
                        <a:ea typeface="微软雅黑" panose="020B0503020204020204" pitchFamily="34" charset="-122"/>
                      </a:endParaRPr>
                    </a:p>
                  </a:txBody>
                  <a:tcPr marT="45726" marB="45726"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1" i="0" u="none" strike="noStrike" cap="none" normalizeH="0" baseline="0" smtClean="0">
                          <a:ln>
                            <a:noFill/>
                          </a:ln>
                          <a:solidFill>
                            <a:schemeClr val="tx1"/>
                          </a:solidFill>
                          <a:effectLst/>
                          <a:latin typeface="微软雅黑" panose="020B0503020204020204" pitchFamily="34" charset="-122"/>
                          <a:ea typeface="微软雅黑" panose="020B0503020204020204" pitchFamily="34" charset="-122"/>
                          <a:cs typeface="Times New Roman" pitchFamily="18" charset="0"/>
                        </a:rPr>
                        <a:t>879</a:t>
                      </a:r>
                      <a:endParaRPr kumimoji="0" lang="en-US" altLang="zh-CN" sz="2000" b="1" i="0" u="none" strike="noStrike" cap="none" normalizeH="0" baseline="0" smtClean="0">
                        <a:ln>
                          <a:noFill/>
                        </a:ln>
                        <a:solidFill>
                          <a:schemeClr val="tx1"/>
                        </a:solidFill>
                        <a:effectLst/>
                        <a:latin typeface="微软雅黑" panose="020B0503020204020204" pitchFamily="34" charset="-122"/>
                        <a:ea typeface="微软雅黑" panose="020B0503020204020204" pitchFamily="34" charset="-122"/>
                      </a:endParaRPr>
                    </a:p>
                  </a:txBody>
                  <a:tcPr marT="45726" marB="45726"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0C0C0"/>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tab pos="717550" algn="r"/>
                        </a:tabLst>
                      </a:pPr>
                      <a:r>
                        <a:rPr kumimoji="0" lang="en-US" altLang="zh-CN" sz="2000" b="1" i="0" u="none" strike="noStrike" cap="none" normalizeH="0" baseline="0" smtClean="0">
                          <a:ln>
                            <a:noFill/>
                          </a:ln>
                          <a:solidFill>
                            <a:schemeClr val="tx1"/>
                          </a:solidFill>
                          <a:effectLst/>
                          <a:latin typeface="微软雅黑" panose="020B0503020204020204" pitchFamily="34" charset="-122"/>
                          <a:ea typeface="微软雅黑" panose="020B0503020204020204" pitchFamily="34" charset="-122"/>
                          <a:cs typeface="Times New Roman" pitchFamily="18" charset="0"/>
                        </a:rPr>
                        <a:t>2,916</a:t>
                      </a:r>
                      <a:endParaRPr kumimoji="0" lang="en-US" altLang="zh-CN" sz="2000" b="1" i="0" u="none" strike="noStrike" cap="none" normalizeH="0" baseline="0" smtClean="0">
                        <a:ln>
                          <a:noFill/>
                        </a:ln>
                        <a:solidFill>
                          <a:schemeClr val="tx1"/>
                        </a:solidFill>
                        <a:effectLst/>
                        <a:latin typeface="微软雅黑" panose="020B0503020204020204" pitchFamily="34" charset="-122"/>
                        <a:ea typeface="微软雅黑" panose="020B0503020204020204" pitchFamily="34" charset="-122"/>
                      </a:endParaRPr>
                    </a:p>
                  </a:txBody>
                  <a:tcPr marT="45726" marB="45726"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00"/>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tab pos="717550" algn="r"/>
                        </a:tabLst>
                      </a:pPr>
                      <a:r>
                        <a:rPr kumimoji="0" lang="en-US" altLang="zh-CN" sz="2000" b="1" i="0" u="none" strike="noStrike" cap="none" normalizeH="0" baseline="0" smtClean="0">
                          <a:ln>
                            <a:noFill/>
                          </a:ln>
                          <a:solidFill>
                            <a:schemeClr val="tx1"/>
                          </a:solidFill>
                          <a:effectLst/>
                          <a:latin typeface="微软雅黑" panose="020B0503020204020204" pitchFamily="34" charset="-122"/>
                          <a:ea typeface="微软雅黑" panose="020B0503020204020204" pitchFamily="34" charset="-122"/>
                          <a:cs typeface="Times New Roman" pitchFamily="18" charset="0"/>
                        </a:rPr>
                        <a:t>6,039</a:t>
                      </a:r>
                      <a:endParaRPr kumimoji="0" lang="en-US" altLang="zh-CN" sz="2000" b="1" i="0" u="none" strike="noStrike" cap="none" normalizeH="0" baseline="0" smtClean="0">
                        <a:ln>
                          <a:noFill/>
                        </a:ln>
                        <a:solidFill>
                          <a:schemeClr val="tx1"/>
                        </a:solidFill>
                        <a:effectLst/>
                        <a:latin typeface="微软雅黑" panose="020B0503020204020204" pitchFamily="34" charset="-122"/>
                        <a:ea typeface="微软雅黑" panose="020B0503020204020204" pitchFamily="34" charset="-122"/>
                      </a:endParaRPr>
                    </a:p>
                  </a:txBody>
                  <a:tcPr marT="45726" marB="45726"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00FFFF"/>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tab pos="717550" algn="r"/>
                        </a:tabLst>
                      </a:pPr>
                      <a:r>
                        <a:rPr kumimoji="0" lang="en-US" altLang="zh-CN" sz="2000" b="1" i="0" u="none" strike="noStrike" cap="none" normalizeH="0" baseline="0" smtClean="0">
                          <a:ln>
                            <a:noFill/>
                          </a:ln>
                          <a:solidFill>
                            <a:schemeClr val="tx1"/>
                          </a:solidFill>
                          <a:effectLst/>
                          <a:latin typeface="微软雅黑" panose="020B0503020204020204" pitchFamily="34" charset="-122"/>
                          <a:ea typeface="微软雅黑" panose="020B0503020204020204" pitchFamily="34" charset="-122"/>
                          <a:cs typeface="Times New Roman" pitchFamily="18" charset="0"/>
                        </a:rPr>
                        <a:t>7,478</a:t>
                      </a:r>
                      <a:endParaRPr kumimoji="0" lang="en-US" altLang="zh-CN" sz="2000" b="1" i="0" u="none" strike="noStrike" cap="none" normalizeH="0" baseline="0" smtClean="0">
                        <a:ln>
                          <a:noFill/>
                        </a:ln>
                        <a:solidFill>
                          <a:schemeClr val="tx1"/>
                        </a:solidFill>
                        <a:effectLst/>
                        <a:latin typeface="微软雅黑" panose="020B0503020204020204" pitchFamily="34" charset="-122"/>
                        <a:ea typeface="微软雅黑" panose="020B0503020204020204" pitchFamily="34" charset="-122"/>
                      </a:endParaRPr>
                    </a:p>
                  </a:txBody>
                  <a:tcPr marT="45726" marB="45726"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00FFFF"/>
                    </a:solidFill>
                  </a:tcPr>
                </a:tc>
                <a:extLst>
                  <a:ext uri="{0D108BD9-81ED-4DB2-BD59-A6C34878D82A}">
                    <a16:rowId xmlns:a16="http://schemas.microsoft.com/office/drawing/2014/main" val="10001"/>
                  </a:ext>
                </a:extLst>
              </a:tr>
              <a:tr h="396294">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2000" b="1" i="0" u="none" strike="noStrike" cap="none" normalizeH="0" baseline="0" smtClean="0">
                          <a:ln>
                            <a:noFill/>
                          </a:ln>
                          <a:solidFill>
                            <a:schemeClr val="tx1"/>
                          </a:solidFill>
                          <a:effectLst/>
                          <a:latin typeface="微软雅黑" panose="020B0503020204020204" pitchFamily="34" charset="-122"/>
                          <a:ea typeface="微软雅黑" panose="020B0503020204020204" pitchFamily="34" charset="-122"/>
                          <a:cs typeface="Times New Roman" pitchFamily="18" charset="0"/>
                        </a:rPr>
                        <a:t>San Diego</a:t>
                      </a:r>
                    </a:p>
                  </a:txBody>
                  <a:tcPr marT="45726" marB="45726"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1" i="0" u="none" strike="noStrike" cap="none" normalizeH="0" baseline="0" smtClean="0">
                          <a:ln>
                            <a:noFill/>
                          </a:ln>
                          <a:solidFill>
                            <a:schemeClr val="tx1"/>
                          </a:solidFill>
                          <a:effectLst/>
                          <a:latin typeface="微软雅黑" panose="020B0503020204020204" pitchFamily="34" charset="-122"/>
                          <a:ea typeface="微软雅黑" panose="020B0503020204020204" pitchFamily="34" charset="-122"/>
                          <a:cs typeface="Times New Roman" pitchFamily="18" charset="0"/>
                        </a:rPr>
                        <a:t>74</a:t>
                      </a:r>
                      <a:endParaRPr kumimoji="0" lang="en-US" altLang="zh-CN" sz="2000" b="1" i="0" u="none" strike="noStrike" cap="none" normalizeH="0" baseline="0" smtClean="0">
                        <a:ln>
                          <a:noFill/>
                        </a:ln>
                        <a:solidFill>
                          <a:schemeClr val="tx1"/>
                        </a:solidFill>
                        <a:effectLst/>
                        <a:latin typeface="微软雅黑" panose="020B0503020204020204" pitchFamily="34" charset="-122"/>
                        <a:ea typeface="微软雅黑" panose="020B0503020204020204" pitchFamily="34" charset="-122"/>
                      </a:endParaRPr>
                    </a:p>
                  </a:txBody>
                  <a:tcPr marT="45726" marB="45726"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00FF"/>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tab pos="717550" algn="r"/>
                        </a:tabLst>
                      </a:pPr>
                      <a:r>
                        <a:rPr kumimoji="0" lang="en-US" altLang="zh-CN" sz="2000" b="1" i="0" u="none" strike="noStrike" cap="none" normalizeH="0" baseline="0" smtClean="0">
                          <a:ln>
                            <a:noFill/>
                          </a:ln>
                          <a:solidFill>
                            <a:schemeClr val="tx1"/>
                          </a:solidFill>
                          <a:effectLst/>
                          <a:latin typeface="微软雅黑" panose="020B0503020204020204" pitchFamily="34" charset="-122"/>
                          <a:ea typeface="微软雅黑" panose="020B0503020204020204" pitchFamily="34" charset="-122"/>
                          <a:cs typeface="Times New Roman" pitchFamily="18" charset="0"/>
                        </a:rPr>
                        <a:t>289</a:t>
                      </a:r>
                      <a:endParaRPr kumimoji="0" lang="en-US" altLang="zh-CN" sz="2000" b="1" i="0" u="none" strike="noStrike" cap="none" normalizeH="0" baseline="0" smtClean="0">
                        <a:ln>
                          <a:noFill/>
                        </a:ln>
                        <a:solidFill>
                          <a:schemeClr val="tx1"/>
                        </a:solidFill>
                        <a:effectLst/>
                        <a:latin typeface="微软雅黑" panose="020B0503020204020204" pitchFamily="34" charset="-122"/>
                        <a:ea typeface="微软雅黑" panose="020B0503020204020204" pitchFamily="34" charset="-122"/>
                      </a:endParaRPr>
                    </a:p>
                  </a:txBody>
                  <a:tcPr marT="45726" marB="45726"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0C0C0"/>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tab pos="717550" algn="r"/>
                        </a:tabLst>
                      </a:pPr>
                      <a:r>
                        <a:rPr kumimoji="0" lang="en-US" altLang="zh-CN" sz="2000" b="1" i="0" u="none" strike="noStrike" cap="none" normalizeH="0" baseline="0" smtClean="0">
                          <a:ln>
                            <a:noFill/>
                          </a:ln>
                          <a:solidFill>
                            <a:schemeClr val="tx1"/>
                          </a:solidFill>
                          <a:effectLst/>
                          <a:latin typeface="微软雅黑" panose="020B0503020204020204" pitchFamily="34" charset="-122"/>
                          <a:ea typeface="微软雅黑" panose="020B0503020204020204" pitchFamily="34" charset="-122"/>
                          <a:cs typeface="Times New Roman" pitchFamily="18" charset="0"/>
                        </a:rPr>
                        <a:t>1,033</a:t>
                      </a:r>
                      <a:endParaRPr kumimoji="0" lang="en-US" altLang="zh-CN" sz="2000" b="1" i="0" u="none" strike="noStrike" cap="none" normalizeH="0" baseline="0" smtClean="0">
                        <a:ln>
                          <a:noFill/>
                        </a:ln>
                        <a:solidFill>
                          <a:schemeClr val="tx1"/>
                        </a:solidFill>
                        <a:effectLst/>
                        <a:latin typeface="微软雅黑" panose="020B0503020204020204" pitchFamily="34" charset="-122"/>
                        <a:ea typeface="微软雅黑" panose="020B0503020204020204" pitchFamily="34" charset="-122"/>
                      </a:endParaRPr>
                    </a:p>
                  </a:txBody>
                  <a:tcPr marT="45726" marB="45726" horzOverflow="overflow">
                    <a:lnL w="12700"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00"/>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tab pos="717550" algn="r"/>
                        </a:tabLst>
                      </a:pPr>
                      <a:r>
                        <a:rPr kumimoji="0" lang="en-US" altLang="zh-CN" sz="2000" b="1" i="0" u="none" strike="noStrike" cap="none" normalizeH="0" baseline="0" smtClean="0">
                          <a:ln>
                            <a:noFill/>
                          </a:ln>
                          <a:solidFill>
                            <a:schemeClr val="tx1"/>
                          </a:solidFill>
                          <a:effectLst/>
                          <a:latin typeface="微软雅黑" panose="020B0503020204020204" pitchFamily="34" charset="-122"/>
                          <a:ea typeface="微软雅黑" panose="020B0503020204020204" pitchFamily="34" charset="-122"/>
                          <a:cs typeface="Times New Roman" pitchFamily="18" charset="0"/>
                        </a:rPr>
                        <a:t>1,862</a:t>
                      </a:r>
                      <a:endParaRPr kumimoji="0" lang="en-US" altLang="zh-CN" sz="2000" b="1" i="0" u="none" strike="noStrike" cap="none" normalizeH="0" baseline="0" smtClean="0">
                        <a:ln>
                          <a:noFill/>
                        </a:ln>
                        <a:solidFill>
                          <a:schemeClr val="tx1"/>
                        </a:solidFill>
                        <a:effectLst/>
                        <a:latin typeface="微软雅黑" panose="020B0503020204020204" pitchFamily="34" charset="-122"/>
                        <a:ea typeface="微软雅黑" panose="020B0503020204020204" pitchFamily="34" charset="-122"/>
                      </a:endParaRPr>
                    </a:p>
                  </a:txBody>
                  <a:tcPr marT="45726" marB="45726" horzOverflow="overflow">
                    <a:lnL w="952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00"/>
                    </a:solidFill>
                  </a:tcPr>
                </a:tc>
                <a:extLst>
                  <a:ext uri="{0D108BD9-81ED-4DB2-BD59-A6C34878D82A}">
                    <a16:rowId xmlns:a16="http://schemas.microsoft.com/office/drawing/2014/main" val="10002"/>
                  </a:ext>
                </a:extLst>
              </a:tr>
              <a:tr h="396294">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2000" b="1" i="0" u="none" strike="noStrike" cap="none" normalizeH="0" baseline="0" smtClean="0">
                          <a:ln>
                            <a:noFill/>
                          </a:ln>
                          <a:solidFill>
                            <a:schemeClr val="tx1"/>
                          </a:solidFill>
                          <a:effectLst/>
                          <a:latin typeface="微软雅黑" panose="020B0503020204020204" pitchFamily="34" charset="-122"/>
                          <a:ea typeface="微软雅黑" panose="020B0503020204020204" pitchFamily="34" charset="-122"/>
                          <a:cs typeface="Times New Roman" pitchFamily="18" charset="0"/>
                        </a:rPr>
                        <a:t>Phoenix</a:t>
                      </a:r>
                      <a:endParaRPr kumimoji="0" lang="en-US" altLang="zh-CN" sz="2000" b="1" i="0" u="none" strike="noStrike" cap="none" normalizeH="0" baseline="0" smtClean="0">
                        <a:ln>
                          <a:noFill/>
                        </a:ln>
                        <a:solidFill>
                          <a:schemeClr val="tx1"/>
                        </a:solidFill>
                        <a:effectLst/>
                        <a:latin typeface="微软雅黑" panose="020B0503020204020204" pitchFamily="34" charset="-122"/>
                        <a:ea typeface="微软雅黑" panose="020B0503020204020204" pitchFamily="34" charset="-122"/>
                      </a:endParaRPr>
                    </a:p>
                  </a:txBody>
                  <a:tcPr marT="45726" marB="45726"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1" i="0" u="none" strike="noStrike" cap="none" normalizeH="0" baseline="0" smtClean="0">
                          <a:ln>
                            <a:noFill/>
                          </a:ln>
                          <a:solidFill>
                            <a:schemeClr val="tx1"/>
                          </a:solidFill>
                          <a:effectLst/>
                          <a:latin typeface="微软雅黑" panose="020B0503020204020204" pitchFamily="34" charset="-122"/>
                          <a:ea typeface="微软雅黑" panose="020B0503020204020204" pitchFamily="34" charset="-122"/>
                          <a:cs typeface="Times New Roman" pitchFamily="18" charset="0"/>
                        </a:rPr>
                        <a:t>29</a:t>
                      </a:r>
                      <a:endParaRPr kumimoji="0" lang="en-US" altLang="zh-CN" sz="2000" b="1" i="0" u="none" strike="noStrike" cap="none" normalizeH="0" baseline="0" smtClean="0">
                        <a:ln>
                          <a:noFill/>
                        </a:ln>
                        <a:solidFill>
                          <a:schemeClr val="tx1"/>
                        </a:solidFill>
                        <a:effectLst/>
                        <a:latin typeface="微软雅黑" panose="020B0503020204020204" pitchFamily="34" charset="-122"/>
                        <a:ea typeface="微软雅黑" panose="020B0503020204020204" pitchFamily="34" charset="-122"/>
                      </a:endParaRPr>
                    </a:p>
                  </a:txBody>
                  <a:tcPr marT="45726" marB="45726" horzOverflow="overflow">
                    <a:lnL w="12700"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solidFill>
                      <a:srgbClr val="FF00FF"/>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tab pos="717550" algn="r"/>
                        </a:tabLst>
                      </a:pPr>
                      <a:r>
                        <a:rPr kumimoji="0" lang="en-US" altLang="zh-CN" sz="2000" b="1" i="0" u="none" strike="noStrike" cap="none" normalizeH="0" baseline="0" smtClean="0">
                          <a:ln>
                            <a:noFill/>
                          </a:ln>
                          <a:solidFill>
                            <a:schemeClr val="tx1"/>
                          </a:solidFill>
                          <a:effectLst/>
                          <a:latin typeface="微软雅黑" panose="020B0503020204020204" pitchFamily="34" charset="-122"/>
                          <a:ea typeface="微软雅黑" panose="020B0503020204020204" pitchFamily="34" charset="-122"/>
                          <a:cs typeface="Times New Roman" pitchFamily="18" charset="0"/>
                        </a:rPr>
                        <a:t>186</a:t>
                      </a:r>
                      <a:endParaRPr kumimoji="0" lang="en-US" altLang="zh-CN" sz="2000" b="1" i="0" u="none" strike="noStrike" cap="none" normalizeH="0" baseline="0" smtClean="0">
                        <a:ln>
                          <a:noFill/>
                        </a:ln>
                        <a:solidFill>
                          <a:schemeClr val="tx1"/>
                        </a:solidFill>
                        <a:effectLst/>
                        <a:latin typeface="微软雅黑" panose="020B0503020204020204" pitchFamily="34" charset="-122"/>
                        <a:ea typeface="微软雅黑" panose="020B0503020204020204" pitchFamily="34" charset="-122"/>
                      </a:endParaRPr>
                    </a:p>
                  </a:txBody>
                  <a:tcPr marT="45726" marB="45726" horzOverflow="overflow">
                    <a:lnL w="952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solidFill>
                      <a:srgbClr val="FF00FF"/>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tab pos="717550" algn="r"/>
                        </a:tabLst>
                      </a:pPr>
                      <a:r>
                        <a:rPr kumimoji="0" lang="en-US" altLang="zh-CN" sz="2000" b="1" i="0" u="none" strike="noStrike" cap="none" normalizeH="0" baseline="0" smtClean="0">
                          <a:ln>
                            <a:noFill/>
                          </a:ln>
                          <a:solidFill>
                            <a:schemeClr val="tx1"/>
                          </a:solidFill>
                          <a:effectLst/>
                          <a:latin typeface="微软雅黑" panose="020B0503020204020204" pitchFamily="34" charset="-122"/>
                          <a:ea typeface="微软雅黑" panose="020B0503020204020204" pitchFamily="34" charset="-122"/>
                          <a:cs typeface="Times New Roman" pitchFamily="18" charset="0"/>
                        </a:rPr>
                        <a:t>664</a:t>
                      </a:r>
                      <a:endParaRPr kumimoji="0" lang="en-US" altLang="zh-CN" sz="2000" b="1" i="0" u="none" strike="noStrike" cap="none" normalizeH="0" baseline="0" smtClean="0">
                        <a:ln>
                          <a:noFill/>
                        </a:ln>
                        <a:solidFill>
                          <a:schemeClr val="tx1"/>
                        </a:solidFill>
                        <a:effectLst/>
                        <a:latin typeface="微软雅黑" panose="020B0503020204020204" pitchFamily="34" charset="-122"/>
                        <a:ea typeface="微软雅黑" panose="020B0503020204020204" pitchFamily="34" charset="-122"/>
                      </a:endParaRPr>
                    </a:p>
                  </a:txBody>
                  <a:tcPr marT="45726" marB="45726"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0C0C0"/>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tab pos="717550" algn="r"/>
                        </a:tabLst>
                      </a:pPr>
                      <a:r>
                        <a:rPr kumimoji="0" lang="en-US" altLang="zh-CN" sz="2000" b="1" i="0" u="none" strike="noStrike" cap="none" normalizeH="0" baseline="0" smtClean="0">
                          <a:ln>
                            <a:noFill/>
                          </a:ln>
                          <a:solidFill>
                            <a:schemeClr val="tx1"/>
                          </a:solidFill>
                          <a:effectLst/>
                          <a:latin typeface="微软雅黑" panose="020B0503020204020204" pitchFamily="34" charset="-122"/>
                          <a:ea typeface="微软雅黑" panose="020B0503020204020204" pitchFamily="34" charset="-122"/>
                          <a:cs typeface="Times New Roman" pitchFamily="18" charset="0"/>
                        </a:rPr>
                        <a:t>1,509</a:t>
                      </a:r>
                      <a:endParaRPr kumimoji="0" lang="en-US" altLang="zh-CN" sz="2000" b="1" i="0" u="none" strike="noStrike" cap="none" normalizeH="0" baseline="0" smtClean="0">
                        <a:ln>
                          <a:noFill/>
                        </a:ln>
                        <a:solidFill>
                          <a:schemeClr val="tx1"/>
                        </a:solidFill>
                        <a:effectLst/>
                        <a:latin typeface="微软雅黑" panose="020B0503020204020204" pitchFamily="34" charset="-122"/>
                        <a:ea typeface="微软雅黑" panose="020B0503020204020204" pitchFamily="34" charset="-122"/>
                      </a:endParaRPr>
                    </a:p>
                  </a:txBody>
                  <a:tcPr marT="45726" marB="45726"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00"/>
                    </a:solidFill>
                  </a:tcPr>
                </a:tc>
                <a:extLst>
                  <a:ext uri="{0D108BD9-81ED-4DB2-BD59-A6C34878D82A}">
                    <a16:rowId xmlns:a16="http://schemas.microsoft.com/office/drawing/2014/main" val="10003"/>
                  </a:ext>
                </a:extLst>
              </a:tr>
              <a:tr h="396294">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2000" b="1" i="0" u="none" strike="noStrike" cap="none" normalizeH="0" baseline="0" smtClean="0">
                          <a:ln>
                            <a:noFill/>
                          </a:ln>
                          <a:solidFill>
                            <a:schemeClr val="tx1"/>
                          </a:solidFill>
                          <a:effectLst/>
                          <a:latin typeface="微软雅黑" panose="020B0503020204020204" pitchFamily="34" charset="-122"/>
                          <a:ea typeface="微软雅黑" panose="020B0503020204020204" pitchFamily="34" charset="-122"/>
                          <a:cs typeface="Times New Roman" pitchFamily="18" charset="0"/>
                        </a:rPr>
                        <a:t>Tuscon</a:t>
                      </a:r>
                      <a:endParaRPr kumimoji="0" lang="en-US" altLang="zh-CN" sz="2000" b="1" i="0" u="none" strike="noStrike" cap="none" normalizeH="0" baseline="0" smtClean="0">
                        <a:ln>
                          <a:noFill/>
                        </a:ln>
                        <a:solidFill>
                          <a:schemeClr val="tx1"/>
                        </a:solidFill>
                        <a:effectLst/>
                        <a:latin typeface="微软雅黑" panose="020B0503020204020204" pitchFamily="34" charset="-122"/>
                        <a:ea typeface="微软雅黑" panose="020B0503020204020204" pitchFamily="34" charset="-122"/>
                      </a:endParaRPr>
                    </a:p>
                  </a:txBody>
                  <a:tcPr marT="45726" marB="45726"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1" i="0" u="none" strike="noStrike" cap="none" normalizeH="0" baseline="0" smtClean="0">
                          <a:ln>
                            <a:noFill/>
                          </a:ln>
                          <a:solidFill>
                            <a:schemeClr val="tx1"/>
                          </a:solidFill>
                          <a:effectLst/>
                          <a:latin typeface="微软雅黑" panose="020B0503020204020204" pitchFamily="34" charset="-122"/>
                          <a:ea typeface="微软雅黑" panose="020B0503020204020204" pitchFamily="34" charset="-122"/>
                          <a:cs typeface="Times New Roman" pitchFamily="18" charset="0"/>
                        </a:rPr>
                        <a:t>20</a:t>
                      </a:r>
                      <a:endParaRPr kumimoji="0" lang="en-US" altLang="zh-CN" sz="2000" b="1" i="0" u="none" strike="noStrike" cap="none" normalizeH="0" baseline="0" smtClean="0">
                        <a:ln>
                          <a:noFill/>
                        </a:ln>
                        <a:solidFill>
                          <a:schemeClr val="tx1"/>
                        </a:solidFill>
                        <a:effectLst/>
                        <a:latin typeface="微软雅黑" panose="020B0503020204020204" pitchFamily="34" charset="-122"/>
                        <a:ea typeface="微软雅黑" panose="020B0503020204020204" pitchFamily="34" charset="-122"/>
                      </a:endParaRPr>
                    </a:p>
                  </a:txBody>
                  <a:tcPr marT="45726" marB="45726" horzOverflow="overflow">
                    <a:lnL w="12700"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00FF"/>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tab pos="717550" algn="r"/>
                        </a:tabLst>
                      </a:pPr>
                      <a:r>
                        <a:rPr kumimoji="0" lang="en-US" altLang="zh-CN" sz="2000" b="1" i="0" u="none" strike="noStrike" cap="none" normalizeH="0" baseline="0" smtClean="0">
                          <a:ln>
                            <a:noFill/>
                          </a:ln>
                          <a:solidFill>
                            <a:schemeClr val="tx1"/>
                          </a:solidFill>
                          <a:effectLst/>
                          <a:latin typeface="微软雅黑" panose="020B0503020204020204" pitchFamily="34" charset="-122"/>
                          <a:ea typeface="微软雅黑" panose="020B0503020204020204" pitchFamily="34" charset="-122"/>
                          <a:cs typeface="Times New Roman" pitchFamily="18" charset="0"/>
                        </a:rPr>
                        <a:t>37</a:t>
                      </a:r>
                      <a:endParaRPr kumimoji="0" lang="en-US" altLang="zh-CN" sz="2000" b="1" i="0" u="none" strike="noStrike" cap="none" normalizeH="0" baseline="0" smtClean="0">
                        <a:ln>
                          <a:noFill/>
                        </a:ln>
                        <a:solidFill>
                          <a:schemeClr val="tx1"/>
                        </a:solidFill>
                        <a:effectLst/>
                        <a:latin typeface="微软雅黑" panose="020B0503020204020204" pitchFamily="34" charset="-122"/>
                        <a:ea typeface="微软雅黑" panose="020B0503020204020204" pitchFamily="34" charset="-122"/>
                      </a:endParaRPr>
                    </a:p>
                  </a:txBody>
                  <a:tcPr marT="45726" marB="45726" horzOverflow="overflow">
                    <a:lnL w="952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00FF"/>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tab pos="717550" algn="r"/>
                        </a:tabLst>
                      </a:pPr>
                      <a:r>
                        <a:rPr kumimoji="0" lang="en-US" altLang="zh-CN" sz="2000" b="1" i="0" u="none" strike="noStrike" cap="none" normalizeH="0" baseline="0" smtClean="0">
                          <a:ln>
                            <a:noFill/>
                          </a:ln>
                          <a:solidFill>
                            <a:schemeClr val="tx1"/>
                          </a:solidFill>
                          <a:effectLst/>
                          <a:latin typeface="微软雅黑" panose="020B0503020204020204" pitchFamily="34" charset="-122"/>
                          <a:ea typeface="微软雅黑" panose="020B0503020204020204" pitchFamily="34" charset="-122"/>
                          <a:cs typeface="Times New Roman" pitchFamily="18" charset="0"/>
                        </a:rPr>
                        <a:t>266</a:t>
                      </a:r>
                      <a:endParaRPr kumimoji="0" lang="en-US" altLang="zh-CN" sz="2000" b="1" i="0" u="none" strike="noStrike" cap="none" normalizeH="0" baseline="0" smtClean="0">
                        <a:ln>
                          <a:noFill/>
                        </a:ln>
                        <a:solidFill>
                          <a:schemeClr val="tx1"/>
                        </a:solidFill>
                        <a:effectLst/>
                        <a:latin typeface="微软雅黑" panose="020B0503020204020204" pitchFamily="34" charset="-122"/>
                        <a:ea typeface="微软雅黑" panose="020B0503020204020204" pitchFamily="34" charset="-122"/>
                      </a:endParaRPr>
                    </a:p>
                  </a:txBody>
                  <a:tcPr marT="45726" marB="45726"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0C0C0"/>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tab pos="717550" algn="r"/>
                        </a:tabLst>
                      </a:pPr>
                      <a:r>
                        <a:rPr kumimoji="0" lang="en-US" altLang="zh-CN" sz="2000" b="1" i="0" u="none" strike="noStrike" cap="none" normalizeH="0" baseline="0" smtClean="0">
                          <a:ln>
                            <a:noFill/>
                          </a:ln>
                          <a:solidFill>
                            <a:schemeClr val="tx1"/>
                          </a:solidFill>
                          <a:effectLst/>
                          <a:latin typeface="微软雅黑" panose="020B0503020204020204" pitchFamily="34" charset="-122"/>
                          <a:ea typeface="微软雅黑" panose="020B0503020204020204" pitchFamily="34" charset="-122"/>
                          <a:cs typeface="Times New Roman" pitchFamily="18" charset="0"/>
                        </a:rPr>
                        <a:t>531</a:t>
                      </a:r>
                      <a:endParaRPr kumimoji="0" lang="en-US" altLang="zh-CN" sz="2000" b="1" i="0" u="none" strike="noStrike" cap="none" normalizeH="0" baseline="0" smtClean="0">
                        <a:ln>
                          <a:noFill/>
                        </a:ln>
                        <a:solidFill>
                          <a:schemeClr val="tx1"/>
                        </a:solidFill>
                        <a:effectLst/>
                        <a:latin typeface="微软雅黑" panose="020B0503020204020204" pitchFamily="34" charset="-122"/>
                        <a:ea typeface="微软雅黑" panose="020B0503020204020204" pitchFamily="34" charset="-122"/>
                      </a:endParaRPr>
                    </a:p>
                  </a:txBody>
                  <a:tcPr marT="45726" marB="45726"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0C0C0"/>
                    </a:solidFill>
                  </a:tcPr>
                </a:tc>
                <a:extLst>
                  <a:ext uri="{0D108BD9-81ED-4DB2-BD59-A6C34878D82A}">
                    <a16:rowId xmlns:a16="http://schemas.microsoft.com/office/drawing/2014/main" val="10004"/>
                  </a:ext>
                </a:extLst>
              </a:tr>
              <a:tr h="396294">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2000" b="1" i="0" u="none" strike="noStrike" cap="none" normalizeH="0" baseline="0" smtClean="0">
                          <a:ln>
                            <a:noFill/>
                          </a:ln>
                          <a:solidFill>
                            <a:schemeClr val="tx1"/>
                          </a:solidFill>
                          <a:effectLst/>
                          <a:latin typeface="微软雅黑" panose="020B0503020204020204" pitchFamily="34" charset="-122"/>
                          <a:ea typeface="微软雅黑" panose="020B0503020204020204" pitchFamily="34" charset="-122"/>
                          <a:cs typeface="Times New Roman" pitchFamily="18" charset="0"/>
                        </a:rPr>
                        <a:t>Dallas</a:t>
                      </a:r>
                      <a:endParaRPr kumimoji="0" lang="en-US" altLang="zh-CN" sz="2000" b="1" i="0" u="none" strike="noStrike" cap="none" normalizeH="0" baseline="0" smtClean="0">
                        <a:ln>
                          <a:noFill/>
                        </a:ln>
                        <a:solidFill>
                          <a:schemeClr val="tx1"/>
                        </a:solidFill>
                        <a:effectLst/>
                        <a:latin typeface="微软雅黑" panose="020B0503020204020204" pitchFamily="34" charset="-122"/>
                        <a:ea typeface="微软雅黑" panose="020B0503020204020204" pitchFamily="34" charset="-122"/>
                      </a:endParaRPr>
                    </a:p>
                  </a:txBody>
                  <a:tcPr marT="45726" marB="45726"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1" i="0" u="none" strike="noStrike" cap="none" normalizeH="0" baseline="0" smtClean="0">
                          <a:ln>
                            <a:noFill/>
                          </a:ln>
                          <a:solidFill>
                            <a:schemeClr val="tx1"/>
                          </a:solidFill>
                          <a:effectLst/>
                          <a:latin typeface="微软雅黑" panose="020B0503020204020204" pitchFamily="34" charset="-122"/>
                          <a:ea typeface="微软雅黑" panose="020B0503020204020204" pitchFamily="34" charset="-122"/>
                          <a:cs typeface="Times New Roman" pitchFamily="18" charset="0"/>
                        </a:rPr>
                        <a:t>185</a:t>
                      </a:r>
                      <a:endParaRPr kumimoji="0" lang="en-US" altLang="zh-CN" sz="2000" b="1" i="0" u="none" strike="noStrike" cap="none" normalizeH="0" baseline="0" smtClean="0">
                        <a:ln>
                          <a:noFill/>
                        </a:ln>
                        <a:solidFill>
                          <a:schemeClr val="tx1"/>
                        </a:solidFill>
                        <a:effectLst/>
                        <a:latin typeface="微软雅黑" panose="020B0503020204020204" pitchFamily="34" charset="-122"/>
                        <a:ea typeface="微软雅黑" panose="020B0503020204020204" pitchFamily="34" charset="-122"/>
                      </a:endParaRPr>
                    </a:p>
                  </a:txBody>
                  <a:tcPr marT="45726" marB="45726"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solidFill>
                      <a:srgbClr val="FF00FF"/>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tab pos="717550" algn="r"/>
                        </a:tabLst>
                      </a:pPr>
                      <a:r>
                        <a:rPr kumimoji="0" lang="en-US" altLang="zh-CN" sz="2000" b="1" i="0" u="none" strike="noStrike" cap="none" normalizeH="0" baseline="0" smtClean="0">
                          <a:ln>
                            <a:noFill/>
                          </a:ln>
                          <a:solidFill>
                            <a:schemeClr val="tx1"/>
                          </a:solidFill>
                          <a:effectLst/>
                          <a:latin typeface="微软雅黑" panose="020B0503020204020204" pitchFamily="34" charset="-122"/>
                          <a:ea typeface="微软雅黑" panose="020B0503020204020204" pitchFamily="34" charset="-122"/>
                          <a:cs typeface="Times New Roman" pitchFamily="18" charset="0"/>
                        </a:rPr>
                        <a:t>527</a:t>
                      </a:r>
                      <a:endParaRPr kumimoji="0" lang="en-US" altLang="zh-CN" sz="2000" b="1" i="0" u="none" strike="noStrike" cap="none" normalizeH="0" baseline="0" smtClean="0">
                        <a:ln>
                          <a:noFill/>
                        </a:ln>
                        <a:solidFill>
                          <a:schemeClr val="tx1"/>
                        </a:solidFill>
                        <a:effectLst/>
                        <a:latin typeface="微软雅黑" panose="020B0503020204020204" pitchFamily="34" charset="-122"/>
                        <a:ea typeface="微软雅黑" panose="020B0503020204020204" pitchFamily="34" charset="-122"/>
                      </a:endParaRPr>
                    </a:p>
                  </a:txBody>
                  <a:tcPr marT="45726" marB="45726"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solidFill>
                      <a:srgbClr val="C0C0C0"/>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tab pos="717550" algn="r"/>
                        </a:tabLst>
                      </a:pPr>
                      <a:r>
                        <a:rPr kumimoji="0" lang="en-US" altLang="zh-CN" sz="2000" b="1" i="0" u="none" strike="noStrike" cap="none" normalizeH="0" baseline="0" smtClean="0">
                          <a:ln>
                            <a:noFill/>
                          </a:ln>
                          <a:solidFill>
                            <a:schemeClr val="tx1"/>
                          </a:solidFill>
                          <a:effectLst/>
                          <a:latin typeface="微软雅黑" panose="020B0503020204020204" pitchFamily="34" charset="-122"/>
                          <a:ea typeface="微软雅黑" panose="020B0503020204020204" pitchFamily="34" charset="-122"/>
                          <a:cs typeface="Times New Roman" pitchFamily="18" charset="0"/>
                        </a:rPr>
                        <a:t>1,084</a:t>
                      </a:r>
                      <a:endParaRPr kumimoji="0" lang="en-US" altLang="zh-CN" sz="2000" b="1" i="0" u="none" strike="noStrike" cap="none" normalizeH="0" baseline="0" smtClean="0">
                        <a:ln>
                          <a:noFill/>
                        </a:ln>
                        <a:solidFill>
                          <a:schemeClr val="tx1"/>
                        </a:solidFill>
                        <a:effectLst/>
                        <a:latin typeface="微软雅黑" panose="020B0503020204020204" pitchFamily="34" charset="-122"/>
                        <a:ea typeface="微软雅黑" panose="020B0503020204020204" pitchFamily="34" charset="-122"/>
                      </a:endParaRPr>
                    </a:p>
                  </a:txBody>
                  <a:tcPr marT="45726" marB="45726" horzOverflow="overflow">
                    <a:lnL w="12700"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solidFill>
                      <a:srgbClr val="FFFF00"/>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tab pos="717550" algn="r"/>
                        </a:tabLst>
                      </a:pPr>
                      <a:r>
                        <a:rPr kumimoji="0" lang="en-US" altLang="zh-CN" sz="2000" b="1" i="0" u="none" strike="noStrike" cap="none" normalizeH="0" baseline="0" smtClean="0">
                          <a:ln>
                            <a:noFill/>
                          </a:ln>
                          <a:solidFill>
                            <a:schemeClr val="tx1"/>
                          </a:solidFill>
                          <a:effectLst/>
                          <a:latin typeface="微软雅黑" panose="020B0503020204020204" pitchFamily="34" charset="-122"/>
                          <a:ea typeface="微软雅黑" panose="020B0503020204020204" pitchFamily="34" charset="-122"/>
                          <a:cs typeface="Times New Roman" pitchFamily="18" charset="0"/>
                        </a:rPr>
                        <a:t>2,430</a:t>
                      </a:r>
                      <a:endParaRPr kumimoji="0" lang="en-US" altLang="zh-CN" sz="2000" b="1" i="0" u="none" strike="noStrike" cap="none" normalizeH="0" baseline="0" smtClean="0">
                        <a:ln>
                          <a:noFill/>
                        </a:ln>
                        <a:solidFill>
                          <a:schemeClr val="tx1"/>
                        </a:solidFill>
                        <a:effectLst/>
                        <a:latin typeface="微软雅黑" panose="020B0503020204020204" pitchFamily="34" charset="-122"/>
                        <a:ea typeface="微软雅黑" panose="020B0503020204020204" pitchFamily="34" charset="-122"/>
                      </a:endParaRPr>
                    </a:p>
                  </a:txBody>
                  <a:tcPr marT="45726" marB="45726" horzOverflow="overflow">
                    <a:lnL w="952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solidFill>
                      <a:srgbClr val="FFFF00"/>
                    </a:solidFill>
                  </a:tcPr>
                </a:tc>
                <a:extLst>
                  <a:ext uri="{0D108BD9-81ED-4DB2-BD59-A6C34878D82A}">
                    <a16:rowId xmlns:a16="http://schemas.microsoft.com/office/drawing/2014/main" val="10005"/>
                  </a:ext>
                </a:extLst>
              </a:tr>
              <a:tr h="396294">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2000" b="1" i="0" u="none" strike="noStrike" cap="none" normalizeH="0" baseline="0" smtClean="0">
                          <a:ln>
                            <a:noFill/>
                          </a:ln>
                          <a:solidFill>
                            <a:schemeClr val="tx1"/>
                          </a:solidFill>
                          <a:effectLst/>
                          <a:latin typeface="微软雅黑" panose="020B0503020204020204" pitchFamily="34" charset="-122"/>
                          <a:ea typeface="微软雅黑" panose="020B0503020204020204" pitchFamily="34" charset="-122"/>
                          <a:cs typeface="Times New Roman" pitchFamily="18" charset="0"/>
                        </a:rPr>
                        <a:t>Houston</a:t>
                      </a:r>
                      <a:endParaRPr kumimoji="0" lang="en-US" altLang="zh-CN" sz="2000" b="1" i="0" u="none" strike="noStrike" cap="none" normalizeH="0" baseline="0" smtClean="0">
                        <a:ln>
                          <a:noFill/>
                        </a:ln>
                        <a:solidFill>
                          <a:schemeClr val="tx1"/>
                        </a:solidFill>
                        <a:effectLst/>
                        <a:latin typeface="微软雅黑" panose="020B0503020204020204" pitchFamily="34" charset="-122"/>
                        <a:ea typeface="微软雅黑" panose="020B0503020204020204" pitchFamily="34" charset="-122"/>
                      </a:endParaRPr>
                    </a:p>
                  </a:txBody>
                  <a:tcPr marT="45726" marB="45726"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1" i="0" u="none" strike="noStrike" cap="none" normalizeH="0" baseline="0" smtClean="0">
                          <a:ln>
                            <a:noFill/>
                          </a:ln>
                          <a:solidFill>
                            <a:schemeClr val="tx1"/>
                          </a:solidFill>
                          <a:effectLst/>
                          <a:latin typeface="微软雅黑" panose="020B0503020204020204" pitchFamily="34" charset="-122"/>
                          <a:ea typeface="微软雅黑" panose="020B0503020204020204" pitchFamily="34" charset="-122"/>
                          <a:cs typeface="Times New Roman" pitchFamily="18" charset="0"/>
                        </a:rPr>
                        <a:t>168</a:t>
                      </a:r>
                      <a:endParaRPr kumimoji="0" lang="en-US" altLang="zh-CN" sz="2000" b="1" i="0" u="none" strike="noStrike" cap="none" normalizeH="0" baseline="0" smtClean="0">
                        <a:ln>
                          <a:noFill/>
                        </a:ln>
                        <a:solidFill>
                          <a:schemeClr val="tx1"/>
                        </a:solidFill>
                        <a:effectLst/>
                        <a:latin typeface="微软雅黑" panose="020B0503020204020204" pitchFamily="34" charset="-122"/>
                        <a:ea typeface="微软雅黑" panose="020B0503020204020204" pitchFamily="34" charset="-122"/>
                      </a:endParaRPr>
                    </a:p>
                  </a:txBody>
                  <a:tcPr marT="45726" marB="45726"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solidFill>
                      <a:srgbClr val="FF00FF"/>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tab pos="717550" algn="r"/>
                        </a:tabLst>
                      </a:pPr>
                      <a:r>
                        <a:rPr kumimoji="0" lang="en-US" altLang="zh-CN" sz="2000" b="1" i="0" u="none" strike="noStrike" cap="none" normalizeH="0" baseline="0" smtClean="0">
                          <a:ln>
                            <a:noFill/>
                          </a:ln>
                          <a:solidFill>
                            <a:schemeClr val="tx1"/>
                          </a:solidFill>
                          <a:effectLst/>
                          <a:latin typeface="微软雅黑" panose="020B0503020204020204" pitchFamily="34" charset="-122"/>
                          <a:ea typeface="微软雅黑" panose="020B0503020204020204" pitchFamily="34" charset="-122"/>
                          <a:cs typeface="Times New Roman" pitchFamily="18" charset="0"/>
                        </a:rPr>
                        <a:t>529</a:t>
                      </a:r>
                      <a:endParaRPr kumimoji="0" lang="en-US" altLang="zh-CN" sz="2000" b="1" i="0" u="none" strike="noStrike" cap="none" normalizeH="0" baseline="0" smtClean="0">
                        <a:ln>
                          <a:noFill/>
                        </a:ln>
                        <a:solidFill>
                          <a:schemeClr val="tx1"/>
                        </a:solidFill>
                        <a:effectLst/>
                        <a:latin typeface="微软雅黑" panose="020B0503020204020204" pitchFamily="34" charset="-122"/>
                        <a:ea typeface="微软雅黑" panose="020B0503020204020204" pitchFamily="34" charset="-122"/>
                      </a:endParaRPr>
                    </a:p>
                  </a:txBody>
                  <a:tcPr marT="45726" marB="45726"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solidFill>
                      <a:srgbClr val="C0C0C0"/>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tab pos="717550" algn="r"/>
                        </a:tabLst>
                      </a:pPr>
                      <a:r>
                        <a:rPr kumimoji="0" lang="en-US" altLang="zh-CN" sz="2000" b="1" i="0" u="none" strike="noStrike" cap="none" normalizeH="0" baseline="0" smtClean="0">
                          <a:ln>
                            <a:noFill/>
                          </a:ln>
                          <a:solidFill>
                            <a:schemeClr val="tx1"/>
                          </a:solidFill>
                          <a:effectLst/>
                          <a:latin typeface="微软雅黑" panose="020B0503020204020204" pitchFamily="34" charset="-122"/>
                          <a:ea typeface="微软雅黑" panose="020B0503020204020204" pitchFamily="34" charset="-122"/>
                          <a:cs typeface="Times New Roman" pitchFamily="18" charset="0"/>
                        </a:rPr>
                        <a:t>1,418</a:t>
                      </a:r>
                      <a:endParaRPr kumimoji="0" lang="en-US" altLang="zh-CN" sz="2000" b="1" i="0" u="none" strike="noStrike" cap="none" normalizeH="0" baseline="0" smtClean="0">
                        <a:ln>
                          <a:noFill/>
                        </a:ln>
                        <a:solidFill>
                          <a:schemeClr val="tx1"/>
                        </a:solidFill>
                        <a:effectLst/>
                        <a:latin typeface="微软雅黑" panose="020B0503020204020204" pitchFamily="34" charset="-122"/>
                        <a:ea typeface="微软雅黑" panose="020B0503020204020204" pitchFamily="34" charset="-122"/>
                      </a:endParaRPr>
                    </a:p>
                  </a:txBody>
                  <a:tcPr marT="45726" marB="45726" horzOverflow="overflow">
                    <a:lnL w="12700"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00"/>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tab pos="717550" algn="r"/>
                        </a:tabLst>
                      </a:pPr>
                      <a:r>
                        <a:rPr kumimoji="0" lang="en-US" altLang="zh-CN" sz="2000" b="1" i="0" u="none" strike="noStrike" cap="none" normalizeH="0" baseline="0" smtClean="0">
                          <a:ln>
                            <a:noFill/>
                          </a:ln>
                          <a:solidFill>
                            <a:schemeClr val="tx1"/>
                          </a:solidFill>
                          <a:effectLst/>
                          <a:latin typeface="微软雅黑" panose="020B0503020204020204" pitchFamily="34" charset="-122"/>
                          <a:ea typeface="微软雅黑" panose="020B0503020204020204" pitchFamily="34" charset="-122"/>
                          <a:cs typeface="Times New Roman" pitchFamily="18" charset="0"/>
                        </a:rPr>
                        <a:t>2,905</a:t>
                      </a:r>
                      <a:endParaRPr kumimoji="0" lang="en-US" altLang="zh-CN" sz="2000" b="1" i="0" u="none" strike="noStrike" cap="none" normalizeH="0" baseline="0" smtClean="0">
                        <a:ln>
                          <a:noFill/>
                        </a:ln>
                        <a:solidFill>
                          <a:schemeClr val="tx1"/>
                        </a:solidFill>
                        <a:effectLst/>
                        <a:latin typeface="微软雅黑" panose="020B0503020204020204" pitchFamily="34" charset="-122"/>
                        <a:ea typeface="微软雅黑" panose="020B0503020204020204" pitchFamily="34" charset="-122"/>
                      </a:endParaRPr>
                    </a:p>
                  </a:txBody>
                  <a:tcPr marT="45726" marB="45726" horzOverflow="overflow">
                    <a:lnL w="952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00"/>
                    </a:solidFill>
                  </a:tcPr>
                </a:tc>
                <a:extLst>
                  <a:ext uri="{0D108BD9-81ED-4DB2-BD59-A6C34878D82A}">
                    <a16:rowId xmlns:a16="http://schemas.microsoft.com/office/drawing/2014/main" val="10006"/>
                  </a:ext>
                </a:extLst>
              </a:tr>
              <a:tr h="396294">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2000" b="1" i="0" u="none" strike="noStrike" cap="none" normalizeH="0" baseline="0" smtClean="0">
                          <a:ln>
                            <a:noFill/>
                          </a:ln>
                          <a:solidFill>
                            <a:schemeClr val="tx1"/>
                          </a:solidFill>
                          <a:effectLst/>
                          <a:latin typeface="微软雅黑" panose="020B0503020204020204" pitchFamily="34" charset="-122"/>
                          <a:ea typeface="微软雅黑" panose="020B0503020204020204" pitchFamily="34" charset="-122"/>
                          <a:cs typeface="Times New Roman" pitchFamily="18" charset="0"/>
                        </a:rPr>
                        <a:t>San Antonio</a:t>
                      </a:r>
                      <a:endParaRPr kumimoji="0" lang="en-US" altLang="zh-CN" sz="2000" b="1" i="0" u="none" strike="noStrike" cap="none" normalizeH="0" baseline="0" smtClean="0">
                        <a:ln>
                          <a:noFill/>
                        </a:ln>
                        <a:solidFill>
                          <a:schemeClr val="tx1"/>
                        </a:solidFill>
                        <a:effectLst/>
                        <a:latin typeface="微软雅黑" panose="020B0503020204020204" pitchFamily="34" charset="-122"/>
                        <a:ea typeface="微软雅黑" panose="020B0503020204020204" pitchFamily="34" charset="-122"/>
                      </a:endParaRPr>
                    </a:p>
                  </a:txBody>
                  <a:tcPr marT="45726" marB="45726"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1" i="0" u="none" strike="noStrike" cap="none" normalizeH="0" baseline="0" smtClean="0">
                          <a:ln>
                            <a:noFill/>
                          </a:ln>
                          <a:solidFill>
                            <a:schemeClr val="tx1"/>
                          </a:solidFill>
                          <a:effectLst/>
                          <a:latin typeface="微软雅黑" panose="020B0503020204020204" pitchFamily="34" charset="-122"/>
                          <a:ea typeface="微软雅黑" panose="020B0503020204020204" pitchFamily="34" charset="-122"/>
                          <a:cs typeface="Times New Roman" pitchFamily="18" charset="0"/>
                        </a:rPr>
                        <a:t>191</a:t>
                      </a:r>
                      <a:endParaRPr kumimoji="0" lang="en-US" altLang="zh-CN" sz="2000" b="1" i="0" u="none" strike="noStrike" cap="none" normalizeH="0" baseline="0" smtClean="0">
                        <a:ln>
                          <a:noFill/>
                        </a:ln>
                        <a:solidFill>
                          <a:schemeClr val="tx1"/>
                        </a:solidFill>
                        <a:effectLst/>
                        <a:latin typeface="微软雅黑" panose="020B0503020204020204" pitchFamily="34" charset="-122"/>
                        <a:ea typeface="微软雅黑" panose="020B0503020204020204" pitchFamily="34" charset="-122"/>
                      </a:endParaRPr>
                    </a:p>
                  </a:txBody>
                  <a:tcPr marT="45726" marB="45726"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00FF"/>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tab pos="717550" algn="r"/>
                        </a:tabLst>
                      </a:pPr>
                      <a:r>
                        <a:rPr kumimoji="0" lang="en-US" altLang="zh-CN" sz="2000" b="1" i="0" u="none" strike="noStrike" cap="none" normalizeH="0" baseline="0" smtClean="0">
                          <a:ln>
                            <a:noFill/>
                          </a:ln>
                          <a:solidFill>
                            <a:schemeClr val="tx1"/>
                          </a:solidFill>
                          <a:effectLst/>
                          <a:latin typeface="微软雅黑" panose="020B0503020204020204" pitchFamily="34" charset="-122"/>
                          <a:ea typeface="微软雅黑" panose="020B0503020204020204" pitchFamily="34" charset="-122"/>
                          <a:cs typeface="Times New Roman" pitchFamily="18" charset="0"/>
                        </a:rPr>
                        <a:t>338</a:t>
                      </a:r>
                      <a:endParaRPr kumimoji="0" lang="en-US" altLang="zh-CN" sz="2000" b="1" i="0" u="none" strike="noStrike" cap="none" normalizeH="0" baseline="0" smtClean="0">
                        <a:ln>
                          <a:noFill/>
                        </a:ln>
                        <a:solidFill>
                          <a:schemeClr val="tx1"/>
                        </a:solidFill>
                        <a:effectLst/>
                        <a:latin typeface="微软雅黑" panose="020B0503020204020204" pitchFamily="34" charset="-122"/>
                        <a:ea typeface="微软雅黑" panose="020B0503020204020204" pitchFamily="34" charset="-122"/>
                      </a:endParaRPr>
                    </a:p>
                  </a:txBody>
                  <a:tcPr marT="45726" marB="45726"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solidFill>
                      <a:srgbClr val="C0C0C0"/>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tab pos="717550" algn="r"/>
                        </a:tabLst>
                      </a:pPr>
                      <a:r>
                        <a:rPr kumimoji="0" lang="en-US" altLang="zh-CN" sz="2000" b="1" i="0" u="none" strike="noStrike" cap="none" normalizeH="0" baseline="0" smtClean="0">
                          <a:ln>
                            <a:noFill/>
                          </a:ln>
                          <a:solidFill>
                            <a:schemeClr val="tx1"/>
                          </a:solidFill>
                          <a:effectLst/>
                          <a:latin typeface="微软雅黑" panose="020B0503020204020204" pitchFamily="34" charset="-122"/>
                          <a:ea typeface="微软雅黑" panose="020B0503020204020204" pitchFamily="34" charset="-122"/>
                          <a:cs typeface="Times New Roman" pitchFamily="18" charset="0"/>
                        </a:rPr>
                        <a:t>716</a:t>
                      </a:r>
                      <a:endParaRPr kumimoji="0" lang="en-US" altLang="zh-CN" sz="2000" b="1" i="0" u="none" strike="noStrike" cap="none" normalizeH="0" baseline="0" smtClean="0">
                        <a:ln>
                          <a:noFill/>
                        </a:ln>
                        <a:solidFill>
                          <a:schemeClr val="tx1"/>
                        </a:solidFill>
                        <a:effectLst/>
                        <a:latin typeface="微软雅黑" panose="020B0503020204020204" pitchFamily="34" charset="-122"/>
                        <a:ea typeface="微软雅黑" panose="020B0503020204020204" pitchFamily="34" charset="-122"/>
                      </a:endParaRPr>
                    </a:p>
                  </a:txBody>
                  <a:tcPr marT="45726" marB="45726"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solidFill>
                      <a:srgbClr val="C0C0C0"/>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tab pos="717550" algn="r"/>
                        </a:tabLst>
                      </a:pPr>
                      <a:r>
                        <a:rPr kumimoji="0" lang="en-US" altLang="zh-CN" sz="2000" b="1" i="0" u="none" strike="noStrike" cap="none" normalizeH="0" baseline="0" smtClean="0">
                          <a:ln>
                            <a:noFill/>
                          </a:ln>
                          <a:solidFill>
                            <a:schemeClr val="tx1"/>
                          </a:solidFill>
                          <a:effectLst/>
                          <a:latin typeface="微软雅黑" panose="020B0503020204020204" pitchFamily="34" charset="-122"/>
                          <a:ea typeface="微软雅黑" panose="020B0503020204020204" pitchFamily="34" charset="-122"/>
                          <a:cs typeface="Times New Roman" pitchFamily="18" charset="0"/>
                        </a:rPr>
                        <a:t>1,072</a:t>
                      </a:r>
                      <a:endParaRPr kumimoji="0" lang="en-US" altLang="zh-CN" sz="2000" b="1" i="0" u="none" strike="noStrike" cap="none" normalizeH="0" baseline="0" smtClean="0">
                        <a:ln>
                          <a:noFill/>
                        </a:ln>
                        <a:solidFill>
                          <a:schemeClr val="tx1"/>
                        </a:solidFill>
                        <a:effectLst/>
                        <a:latin typeface="微软雅黑" panose="020B0503020204020204" pitchFamily="34" charset="-122"/>
                        <a:ea typeface="微软雅黑" panose="020B0503020204020204" pitchFamily="34" charset="-122"/>
                      </a:endParaRPr>
                    </a:p>
                  </a:txBody>
                  <a:tcPr marT="45726" marB="45726"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solidFill>
                      <a:srgbClr val="FFFF00"/>
                    </a:solidFill>
                  </a:tcPr>
                </a:tc>
                <a:extLst>
                  <a:ext uri="{0D108BD9-81ED-4DB2-BD59-A6C34878D82A}">
                    <a16:rowId xmlns:a16="http://schemas.microsoft.com/office/drawing/2014/main" val="10007"/>
                  </a:ext>
                </a:extLst>
              </a:tr>
              <a:tr h="396294">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2000" b="1" i="0" u="none" strike="noStrike" cap="none" normalizeH="0" baseline="0" smtClean="0">
                          <a:ln>
                            <a:noFill/>
                          </a:ln>
                          <a:solidFill>
                            <a:schemeClr val="tx1"/>
                          </a:solidFill>
                          <a:effectLst/>
                          <a:latin typeface="微软雅黑" panose="020B0503020204020204" pitchFamily="34" charset="-122"/>
                          <a:ea typeface="微软雅黑" panose="020B0503020204020204" pitchFamily="34" charset="-122"/>
                          <a:cs typeface="Times New Roman" pitchFamily="18" charset="0"/>
                        </a:rPr>
                        <a:t>New Orleans</a:t>
                      </a:r>
                      <a:endParaRPr kumimoji="0" lang="en-US" altLang="zh-CN" sz="2000" b="1" i="0" u="none" strike="noStrike" cap="none" normalizeH="0" baseline="0" smtClean="0">
                        <a:ln>
                          <a:noFill/>
                        </a:ln>
                        <a:solidFill>
                          <a:schemeClr val="tx1"/>
                        </a:solidFill>
                        <a:effectLst/>
                        <a:latin typeface="微软雅黑" panose="020B0503020204020204" pitchFamily="34" charset="-122"/>
                        <a:ea typeface="微软雅黑" panose="020B0503020204020204" pitchFamily="34" charset="-122"/>
                      </a:endParaRPr>
                    </a:p>
                  </a:txBody>
                  <a:tcPr marT="45726" marB="45726"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1" i="0" u="none" strike="noStrike" cap="none" normalizeH="0" baseline="0" smtClean="0">
                          <a:ln>
                            <a:noFill/>
                          </a:ln>
                          <a:solidFill>
                            <a:schemeClr val="tx1"/>
                          </a:solidFill>
                          <a:effectLst/>
                          <a:latin typeface="微软雅黑" panose="020B0503020204020204" pitchFamily="34" charset="-122"/>
                          <a:ea typeface="微软雅黑" panose="020B0503020204020204" pitchFamily="34" charset="-122"/>
                          <a:cs typeface="Times New Roman" pitchFamily="18" charset="0"/>
                        </a:rPr>
                        <a:t>398</a:t>
                      </a:r>
                      <a:endParaRPr kumimoji="0" lang="en-US" altLang="zh-CN" sz="2000" b="1" i="0" u="none" strike="noStrike" cap="none" normalizeH="0" baseline="0" smtClean="0">
                        <a:ln>
                          <a:noFill/>
                        </a:ln>
                        <a:solidFill>
                          <a:schemeClr val="tx1"/>
                        </a:solidFill>
                        <a:effectLst/>
                        <a:latin typeface="微软雅黑" panose="020B0503020204020204" pitchFamily="34" charset="-122"/>
                        <a:ea typeface="微软雅黑" panose="020B0503020204020204" pitchFamily="34" charset="-122"/>
                      </a:endParaRPr>
                    </a:p>
                  </a:txBody>
                  <a:tcPr marT="45726" marB="45726"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0C0C0"/>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tab pos="717550" algn="r"/>
                        </a:tabLst>
                      </a:pPr>
                      <a:r>
                        <a:rPr kumimoji="0" lang="en-US" altLang="zh-CN" sz="2000" b="1" i="0" u="none" strike="noStrike" cap="none" normalizeH="0" baseline="0" smtClean="0">
                          <a:ln>
                            <a:noFill/>
                          </a:ln>
                          <a:solidFill>
                            <a:schemeClr val="tx1"/>
                          </a:solidFill>
                          <a:effectLst/>
                          <a:latin typeface="微软雅黑" panose="020B0503020204020204" pitchFamily="34" charset="-122"/>
                          <a:ea typeface="微软雅黑" panose="020B0503020204020204" pitchFamily="34" charset="-122"/>
                          <a:cs typeface="Times New Roman" pitchFamily="18" charset="0"/>
                        </a:rPr>
                        <a:t>552</a:t>
                      </a:r>
                      <a:endParaRPr kumimoji="0" lang="en-US" altLang="zh-CN" sz="2000" b="1" i="0" u="none" strike="noStrike" cap="none" normalizeH="0" baseline="0" smtClean="0">
                        <a:ln>
                          <a:noFill/>
                        </a:ln>
                        <a:solidFill>
                          <a:schemeClr val="tx1"/>
                        </a:solidFill>
                        <a:effectLst/>
                        <a:latin typeface="微软雅黑" panose="020B0503020204020204" pitchFamily="34" charset="-122"/>
                        <a:ea typeface="微软雅黑" panose="020B0503020204020204" pitchFamily="34" charset="-122"/>
                      </a:endParaRPr>
                    </a:p>
                  </a:txBody>
                  <a:tcPr marT="45726" marB="45726"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solidFill>
                      <a:srgbClr val="C0C0C0"/>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tab pos="717550" algn="r"/>
                        </a:tabLst>
                      </a:pPr>
                      <a:r>
                        <a:rPr kumimoji="0" lang="en-US" altLang="zh-CN" sz="2000" b="1" i="0" u="none" strike="noStrike" cap="none" normalizeH="0" baseline="0" smtClean="0">
                          <a:ln>
                            <a:noFill/>
                          </a:ln>
                          <a:solidFill>
                            <a:schemeClr val="tx1"/>
                          </a:solidFill>
                          <a:effectLst/>
                          <a:latin typeface="微软雅黑" panose="020B0503020204020204" pitchFamily="34" charset="-122"/>
                          <a:ea typeface="微软雅黑" panose="020B0503020204020204" pitchFamily="34" charset="-122"/>
                          <a:cs typeface="Times New Roman" pitchFamily="18" charset="0"/>
                        </a:rPr>
                        <a:t>907</a:t>
                      </a:r>
                      <a:endParaRPr kumimoji="0" lang="en-US" altLang="zh-CN" sz="2000" b="1" i="0" u="none" strike="noStrike" cap="none" normalizeH="0" baseline="0" smtClean="0">
                        <a:ln>
                          <a:noFill/>
                        </a:ln>
                        <a:solidFill>
                          <a:schemeClr val="tx1"/>
                        </a:solidFill>
                        <a:effectLst/>
                        <a:latin typeface="微软雅黑" panose="020B0503020204020204" pitchFamily="34" charset="-122"/>
                        <a:ea typeface="微软雅黑" panose="020B0503020204020204" pitchFamily="34" charset="-122"/>
                      </a:endParaRPr>
                    </a:p>
                  </a:txBody>
                  <a:tcPr marT="45726" marB="45726"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0C0C0"/>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tab pos="717550" algn="r"/>
                        </a:tabLst>
                      </a:pPr>
                      <a:r>
                        <a:rPr kumimoji="0" lang="en-US" altLang="zh-CN" sz="2000" b="1" i="0" u="none" strike="noStrike" cap="none" normalizeH="0" baseline="0" smtClean="0">
                          <a:ln>
                            <a:noFill/>
                          </a:ln>
                          <a:solidFill>
                            <a:schemeClr val="tx1"/>
                          </a:solidFill>
                          <a:effectLst/>
                          <a:latin typeface="微软雅黑" panose="020B0503020204020204" pitchFamily="34" charset="-122"/>
                          <a:ea typeface="微软雅黑" panose="020B0503020204020204" pitchFamily="34" charset="-122"/>
                          <a:cs typeface="Times New Roman" pitchFamily="18" charset="0"/>
                        </a:rPr>
                        <a:t>1,256</a:t>
                      </a:r>
                      <a:endParaRPr kumimoji="0" lang="en-US" altLang="zh-CN" sz="2000" b="1" i="0" u="none" strike="noStrike" cap="none" normalizeH="0" baseline="0" smtClean="0">
                        <a:ln>
                          <a:noFill/>
                        </a:ln>
                        <a:solidFill>
                          <a:schemeClr val="tx1"/>
                        </a:solidFill>
                        <a:effectLst/>
                        <a:latin typeface="微软雅黑" panose="020B0503020204020204" pitchFamily="34" charset="-122"/>
                        <a:ea typeface="微软雅黑" panose="020B0503020204020204" pitchFamily="34" charset="-122"/>
                      </a:endParaRPr>
                    </a:p>
                  </a:txBody>
                  <a:tcPr marT="45726" marB="45726"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solidFill>
                      <a:srgbClr val="FFFF00"/>
                    </a:solidFill>
                  </a:tcPr>
                </a:tc>
                <a:extLst>
                  <a:ext uri="{0D108BD9-81ED-4DB2-BD59-A6C34878D82A}">
                    <a16:rowId xmlns:a16="http://schemas.microsoft.com/office/drawing/2014/main" val="10008"/>
                  </a:ext>
                </a:extLst>
              </a:tr>
              <a:tr h="396294">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2000" b="1" i="0" u="none" strike="noStrike" cap="none" normalizeH="0" baseline="0" smtClean="0">
                          <a:ln>
                            <a:noFill/>
                          </a:ln>
                          <a:solidFill>
                            <a:schemeClr val="tx1"/>
                          </a:solidFill>
                          <a:effectLst/>
                          <a:latin typeface="微软雅黑" panose="020B0503020204020204" pitchFamily="34" charset="-122"/>
                          <a:ea typeface="微软雅黑" panose="020B0503020204020204" pitchFamily="34" charset="-122"/>
                          <a:cs typeface="Times New Roman" pitchFamily="18" charset="0"/>
                        </a:rPr>
                        <a:t>Atlanta</a:t>
                      </a:r>
                      <a:endParaRPr kumimoji="0" lang="en-US" altLang="zh-CN" sz="2000" b="1" i="0" u="none" strike="noStrike" cap="none" normalizeH="0" baseline="0" smtClean="0">
                        <a:ln>
                          <a:noFill/>
                        </a:ln>
                        <a:solidFill>
                          <a:schemeClr val="tx1"/>
                        </a:solidFill>
                        <a:effectLst/>
                        <a:latin typeface="微软雅黑" panose="020B0503020204020204" pitchFamily="34" charset="-122"/>
                        <a:ea typeface="微软雅黑" panose="020B0503020204020204" pitchFamily="34" charset="-122"/>
                      </a:endParaRPr>
                    </a:p>
                  </a:txBody>
                  <a:tcPr marT="45726" marB="45726"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1" i="0" u="none" strike="noStrike" cap="none" normalizeH="0" baseline="0" smtClean="0">
                          <a:ln>
                            <a:noFill/>
                          </a:ln>
                          <a:solidFill>
                            <a:schemeClr val="tx1"/>
                          </a:solidFill>
                          <a:effectLst/>
                          <a:latin typeface="微软雅黑" panose="020B0503020204020204" pitchFamily="34" charset="-122"/>
                          <a:ea typeface="微软雅黑" panose="020B0503020204020204" pitchFamily="34" charset="-122"/>
                          <a:cs typeface="Times New Roman" pitchFamily="18" charset="0"/>
                        </a:rPr>
                        <a:t>249</a:t>
                      </a:r>
                      <a:endParaRPr kumimoji="0" lang="en-US" altLang="zh-CN" sz="2000" b="1" i="0" u="none" strike="noStrike" cap="none" normalizeH="0" baseline="0" smtClean="0">
                        <a:ln>
                          <a:noFill/>
                        </a:ln>
                        <a:solidFill>
                          <a:schemeClr val="tx1"/>
                        </a:solidFill>
                        <a:effectLst/>
                        <a:latin typeface="微软雅黑" panose="020B0503020204020204" pitchFamily="34" charset="-122"/>
                        <a:ea typeface="微软雅黑" panose="020B0503020204020204" pitchFamily="34" charset="-122"/>
                      </a:endParaRPr>
                    </a:p>
                  </a:txBody>
                  <a:tcPr marT="45726" marB="45726"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solidFill>
                      <a:srgbClr val="FF00FF"/>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tab pos="717550" algn="r"/>
                        </a:tabLst>
                      </a:pPr>
                      <a:r>
                        <a:rPr kumimoji="0" lang="en-US" altLang="zh-CN" sz="2000" b="1" i="0" u="none" strike="noStrike" cap="none" normalizeH="0" baseline="0" smtClean="0">
                          <a:ln>
                            <a:noFill/>
                          </a:ln>
                          <a:solidFill>
                            <a:schemeClr val="tx1"/>
                          </a:solidFill>
                          <a:effectLst/>
                          <a:latin typeface="微软雅黑" panose="020B0503020204020204" pitchFamily="34" charset="-122"/>
                          <a:ea typeface="微软雅黑" panose="020B0503020204020204" pitchFamily="34" charset="-122"/>
                          <a:cs typeface="Times New Roman" pitchFamily="18" charset="0"/>
                        </a:rPr>
                        <a:t>559</a:t>
                      </a:r>
                      <a:endParaRPr kumimoji="0" lang="en-US" altLang="zh-CN" sz="2000" b="1" i="0" u="none" strike="noStrike" cap="none" normalizeH="0" baseline="0" smtClean="0">
                        <a:ln>
                          <a:noFill/>
                        </a:ln>
                        <a:solidFill>
                          <a:schemeClr val="tx1"/>
                        </a:solidFill>
                        <a:effectLst/>
                        <a:latin typeface="微软雅黑" panose="020B0503020204020204" pitchFamily="34" charset="-122"/>
                        <a:ea typeface="微软雅黑" panose="020B0503020204020204" pitchFamily="34" charset="-122"/>
                      </a:endParaRPr>
                    </a:p>
                  </a:txBody>
                  <a:tcPr marT="45726" marB="45726"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solidFill>
                      <a:srgbClr val="C0C0C0"/>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tab pos="717550" algn="r"/>
                        </a:tabLst>
                      </a:pPr>
                      <a:r>
                        <a:rPr kumimoji="0" lang="en-US" altLang="zh-CN" sz="2000" b="1" i="0" u="none" strike="noStrike" cap="none" normalizeH="0" baseline="0" smtClean="0">
                          <a:ln>
                            <a:noFill/>
                          </a:ln>
                          <a:solidFill>
                            <a:schemeClr val="tx1"/>
                          </a:solidFill>
                          <a:effectLst/>
                          <a:latin typeface="微软雅黑" panose="020B0503020204020204" pitchFamily="34" charset="-122"/>
                          <a:ea typeface="微软雅黑" panose="020B0503020204020204" pitchFamily="34" charset="-122"/>
                          <a:cs typeface="Times New Roman" pitchFamily="18" charset="0"/>
                        </a:rPr>
                        <a:t>1,017</a:t>
                      </a:r>
                      <a:endParaRPr kumimoji="0" lang="en-US" altLang="zh-CN" sz="2000" b="1" i="0" u="none" strike="noStrike" cap="none" normalizeH="0" baseline="0" smtClean="0">
                        <a:ln>
                          <a:noFill/>
                        </a:ln>
                        <a:solidFill>
                          <a:schemeClr val="tx1"/>
                        </a:solidFill>
                        <a:effectLst/>
                        <a:latin typeface="微软雅黑" panose="020B0503020204020204" pitchFamily="34" charset="-122"/>
                        <a:ea typeface="微软雅黑" panose="020B0503020204020204" pitchFamily="34" charset="-122"/>
                      </a:endParaRPr>
                    </a:p>
                  </a:txBody>
                  <a:tcPr marT="45726" marB="45726"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00"/>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tab pos="717550" algn="r"/>
                        </a:tabLst>
                      </a:pPr>
                      <a:r>
                        <a:rPr kumimoji="0" lang="en-US" altLang="zh-CN" sz="2000" b="1" i="0" u="none" strike="noStrike" cap="none" normalizeH="0" baseline="0" smtClean="0">
                          <a:ln>
                            <a:noFill/>
                          </a:ln>
                          <a:solidFill>
                            <a:schemeClr val="tx1"/>
                          </a:solidFill>
                          <a:effectLst/>
                          <a:latin typeface="微软雅黑" panose="020B0503020204020204" pitchFamily="34" charset="-122"/>
                          <a:ea typeface="微软雅黑" panose="020B0503020204020204" pitchFamily="34" charset="-122"/>
                          <a:cs typeface="Times New Roman" pitchFamily="18" charset="0"/>
                        </a:rPr>
                        <a:t>2,030</a:t>
                      </a:r>
                      <a:endParaRPr kumimoji="0" lang="en-US" altLang="zh-CN" sz="2000" b="1" i="0" u="none" strike="noStrike" cap="none" normalizeH="0" baseline="0" smtClean="0">
                        <a:ln>
                          <a:noFill/>
                        </a:ln>
                        <a:solidFill>
                          <a:schemeClr val="tx1"/>
                        </a:solidFill>
                        <a:effectLst/>
                        <a:latin typeface="微软雅黑" panose="020B0503020204020204" pitchFamily="34" charset="-122"/>
                        <a:ea typeface="微软雅黑" panose="020B0503020204020204" pitchFamily="34" charset="-122"/>
                      </a:endParaRPr>
                    </a:p>
                  </a:txBody>
                  <a:tcPr marT="45726" marB="45726"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solidFill>
                      <a:srgbClr val="FFFF00"/>
                    </a:solidFill>
                  </a:tcPr>
                </a:tc>
                <a:extLst>
                  <a:ext uri="{0D108BD9-81ED-4DB2-BD59-A6C34878D82A}">
                    <a16:rowId xmlns:a16="http://schemas.microsoft.com/office/drawing/2014/main" val="10009"/>
                  </a:ext>
                </a:extLst>
              </a:tr>
              <a:tr h="396294">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2000" b="1" i="0" u="none" strike="noStrike" cap="none" normalizeH="0" baseline="0" dirty="0" smtClean="0">
                          <a:ln>
                            <a:noFill/>
                          </a:ln>
                          <a:solidFill>
                            <a:schemeClr val="tx1"/>
                          </a:solidFill>
                          <a:effectLst/>
                          <a:latin typeface="微软雅黑" panose="020B0503020204020204" pitchFamily="34" charset="-122"/>
                          <a:ea typeface="微软雅黑" panose="020B0503020204020204" pitchFamily="34" charset="-122"/>
                          <a:cs typeface="Times New Roman" pitchFamily="18" charset="0"/>
                        </a:rPr>
                        <a:t>Miami</a:t>
                      </a:r>
                      <a:endParaRPr kumimoji="0" lang="en-US" altLang="zh-CN" sz="2000" b="1" i="0" u="none" strike="noStrike" cap="none" normalizeH="0" baseline="0" dirty="0" smtClean="0">
                        <a:ln>
                          <a:noFill/>
                        </a:ln>
                        <a:solidFill>
                          <a:schemeClr val="tx1"/>
                        </a:solidFill>
                        <a:effectLst/>
                        <a:latin typeface="微软雅黑" panose="020B0503020204020204" pitchFamily="34" charset="-122"/>
                        <a:ea typeface="微软雅黑" panose="020B0503020204020204" pitchFamily="34" charset="-122"/>
                      </a:endParaRPr>
                    </a:p>
                  </a:txBody>
                  <a:tcPr marT="45726" marB="45726"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1" i="0" u="none" strike="noStrike" cap="none" normalizeH="0" baseline="0" smtClean="0">
                          <a:ln>
                            <a:noFill/>
                          </a:ln>
                          <a:solidFill>
                            <a:schemeClr val="tx1"/>
                          </a:solidFill>
                          <a:effectLst/>
                          <a:latin typeface="微软雅黑" panose="020B0503020204020204" pitchFamily="34" charset="-122"/>
                          <a:ea typeface="微软雅黑" panose="020B0503020204020204" pitchFamily="34" charset="-122"/>
                          <a:cs typeface="Times New Roman" pitchFamily="18" charset="0"/>
                        </a:rPr>
                        <a:t>30</a:t>
                      </a:r>
                      <a:endParaRPr kumimoji="0" lang="en-US" altLang="zh-CN" sz="2000" b="1" i="0" u="none" strike="noStrike" cap="none" normalizeH="0" baseline="0" smtClean="0">
                        <a:ln>
                          <a:noFill/>
                        </a:ln>
                        <a:solidFill>
                          <a:schemeClr val="tx1"/>
                        </a:solidFill>
                        <a:effectLst/>
                        <a:latin typeface="微软雅黑" panose="020B0503020204020204" pitchFamily="34" charset="-122"/>
                        <a:ea typeface="微软雅黑" panose="020B0503020204020204" pitchFamily="34" charset="-122"/>
                      </a:endParaRPr>
                    </a:p>
                  </a:txBody>
                  <a:tcPr marT="45726" marB="45726"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00FF"/>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tab pos="717550" algn="r"/>
                        </a:tabLst>
                      </a:pPr>
                      <a:r>
                        <a:rPr kumimoji="0" lang="en-US" altLang="zh-CN" sz="2000" b="1" i="0" u="none" strike="noStrike" cap="none" normalizeH="0" baseline="0" smtClean="0">
                          <a:ln>
                            <a:noFill/>
                          </a:ln>
                          <a:solidFill>
                            <a:schemeClr val="tx1"/>
                          </a:solidFill>
                          <a:effectLst/>
                          <a:latin typeface="微软雅黑" panose="020B0503020204020204" pitchFamily="34" charset="-122"/>
                          <a:ea typeface="微软雅黑" panose="020B0503020204020204" pitchFamily="34" charset="-122"/>
                          <a:cs typeface="Times New Roman" pitchFamily="18" charset="0"/>
                        </a:rPr>
                        <a:t>268</a:t>
                      </a:r>
                      <a:endParaRPr kumimoji="0" lang="en-US" altLang="zh-CN" sz="2000" b="1" i="0" u="none" strike="noStrike" cap="none" normalizeH="0" baseline="0" smtClean="0">
                        <a:ln>
                          <a:noFill/>
                        </a:ln>
                        <a:solidFill>
                          <a:schemeClr val="tx1"/>
                        </a:solidFill>
                        <a:effectLst/>
                        <a:latin typeface="微软雅黑" panose="020B0503020204020204" pitchFamily="34" charset="-122"/>
                        <a:ea typeface="微软雅黑" panose="020B0503020204020204" pitchFamily="34" charset="-122"/>
                      </a:endParaRPr>
                    </a:p>
                  </a:txBody>
                  <a:tcPr marT="45726" marB="45726"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0C0C0"/>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tab pos="717550" algn="r"/>
                        </a:tabLst>
                      </a:pPr>
                      <a:r>
                        <a:rPr kumimoji="0" lang="en-US" altLang="zh-CN" sz="2000" b="1" i="0" u="none" strike="noStrike" cap="none" normalizeH="0" baseline="0" smtClean="0">
                          <a:ln>
                            <a:noFill/>
                          </a:ln>
                          <a:solidFill>
                            <a:schemeClr val="tx1"/>
                          </a:solidFill>
                          <a:effectLst/>
                          <a:latin typeface="微软雅黑" panose="020B0503020204020204" pitchFamily="34" charset="-122"/>
                          <a:ea typeface="微软雅黑" panose="020B0503020204020204" pitchFamily="34" charset="-122"/>
                          <a:cs typeface="Times New Roman" pitchFamily="18" charset="0"/>
                        </a:rPr>
                        <a:t>935</a:t>
                      </a:r>
                      <a:endParaRPr kumimoji="0" lang="en-US" altLang="zh-CN" sz="2000" b="1" i="0" u="none" strike="noStrike" cap="none" normalizeH="0" baseline="0" smtClean="0">
                        <a:ln>
                          <a:noFill/>
                        </a:ln>
                        <a:solidFill>
                          <a:schemeClr val="tx1"/>
                        </a:solidFill>
                        <a:effectLst/>
                        <a:latin typeface="微软雅黑" panose="020B0503020204020204" pitchFamily="34" charset="-122"/>
                        <a:ea typeface="微软雅黑" panose="020B0503020204020204" pitchFamily="34" charset="-122"/>
                      </a:endParaRPr>
                    </a:p>
                  </a:txBody>
                  <a:tcPr marT="45726" marB="45726"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0C0C0"/>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tab pos="717550" algn="r"/>
                        </a:tabLst>
                      </a:pPr>
                      <a:r>
                        <a:rPr kumimoji="0" lang="en-US" altLang="zh-CN" sz="2000" b="1" i="0" u="none" strike="noStrike" cap="none" normalizeH="0" baseline="0" dirty="0" smtClean="0">
                          <a:ln>
                            <a:noFill/>
                          </a:ln>
                          <a:solidFill>
                            <a:schemeClr val="tx1"/>
                          </a:solidFill>
                          <a:effectLst/>
                          <a:latin typeface="微软雅黑" panose="020B0503020204020204" pitchFamily="34" charset="-122"/>
                          <a:ea typeface="微软雅黑" panose="020B0503020204020204" pitchFamily="34" charset="-122"/>
                          <a:cs typeface="Times New Roman" pitchFamily="18" charset="0"/>
                        </a:rPr>
                        <a:t>1,626</a:t>
                      </a:r>
                      <a:endParaRPr kumimoji="0" lang="en-US" altLang="zh-CN" sz="2000" b="1" i="0" u="none" strike="noStrike" cap="none" normalizeH="0" baseline="0" dirty="0" smtClean="0">
                        <a:ln>
                          <a:noFill/>
                        </a:ln>
                        <a:solidFill>
                          <a:schemeClr val="tx1"/>
                        </a:solidFill>
                        <a:effectLst/>
                        <a:latin typeface="微软雅黑" panose="020B0503020204020204" pitchFamily="34" charset="-122"/>
                        <a:ea typeface="微软雅黑" panose="020B0503020204020204" pitchFamily="34" charset="-122"/>
                      </a:endParaRPr>
                    </a:p>
                  </a:txBody>
                  <a:tcPr marT="45726" marB="45726"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00"/>
                    </a:solidFill>
                  </a:tcPr>
                </a:tc>
                <a:extLst>
                  <a:ext uri="{0D108BD9-81ED-4DB2-BD59-A6C34878D82A}">
                    <a16:rowId xmlns:a16="http://schemas.microsoft.com/office/drawing/2014/main" val="10010"/>
                  </a:ext>
                </a:extLst>
              </a:tr>
            </a:tbl>
          </a:graphicData>
        </a:graphic>
      </p:graphicFrame>
      <p:sp>
        <p:nvSpPr>
          <p:cNvPr id="11" name="Rectangle 325"/>
          <p:cNvSpPr>
            <a:spLocks noChangeArrowheads="1"/>
          </p:cNvSpPr>
          <p:nvPr/>
        </p:nvSpPr>
        <p:spPr bwMode="auto">
          <a:xfrm>
            <a:off x="395288" y="5512743"/>
            <a:ext cx="4598182"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sz="2400" b="1" dirty="0">
                <a:latin typeface="微软雅黑" panose="020B0503020204020204" pitchFamily="34" charset="-122"/>
                <a:ea typeface="微软雅黑" panose="020B0503020204020204" pitchFamily="34" charset="-122"/>
                <a:cs typeface="Times New Roman" panose="02020603050405020304" pitchFamily="18" charset="0"/>
              </a:rPr>
              <a:t>POPULATION (in thousands)</a:t>
            </a:r>
            <a:endParaRPr lang="en-US" altLang="zh-CN" sz="2400" b="1" dirty="0">
              <a:latin typeface="微软雅黑" panose="020B0503020204020204" pitchFamily="34" charset="-122"/>
              <a:ea typeface="微软雅黑" panose="020B0503020204020204" pitchFamily="34" charset="-122"/>
            </a:endParaRPr>
          </a:p>
        </p:txBody>
      </p:sp>
      <p:graphicFrame>
        <p:nvGraphicFramePr>
          <p:cNvPr id="12" name="Group 355"/>
          <p:cNvGraphicFramePr>
            <a:graphicFrameLocks noGrp="1"/>
          </p:cNvGraphicFramePr>
          <p:nvPr>
            <p:extLst>
              <p:ext uri="{D42A27DB-BD31-4B8C-83A1-F6EECF244321}">
                <p14:modId xmlns:p14="http://schemas.microsoft.com/office/powerpoint/2010/main" val="4091158449"/>
              </p:ext>
            </p:extLst>
          </p:nvPr>
        </p:nvGraphicFramePr>
        <p:xfrm>
          <a:off x="311972" y="6061079"/>
          <a:ext cx="8466081" cy="457200"/>
        </p:xfrm>
        <a:graphic>
          <a:graphicData uri="http://schemas.openxmlformats.org/drawingml/2006/table">
            <a:tbl>
              <a:tblPr/>
              <a:tblGrid>
                <a:gridCol w="2115187">
                  <a:extLst>
                    <a:ext uri="{9D8B030D-6E8A-4147-A177-3AD203B41FA5}">
                      <a16:colId xmlns:a16="http://schemas.microsoft.com/office/drawing/2014/main" val="20000"/>
                    </a:ext>
                  </a:extLst>
                </a:gridCol>
                <a:gridCol w="2116965">
                  <a:extLst>
                    <a:ext uri="{9D8B030D-6E8A-4147-A177-3AD203B41FA5}">
                      <a16:colId xmlns:a16="http://schemas.microsoft.com/office/drawing/2014/main" val="20001"/>
                    </a:ext>
                  </a:extLst>
                </a:gridCol>
                <a:gridCol w="2115187">
                  <a:extLst>
                    <a:ext uri="{9D8B030D-6E8A-4147-A177-3AD203B41FA5}">
                      <a16:colId xmlns:a16="http://schemas.microsoft.com/office/drawing/2014/main" val="20002"/>
                    </a:ext>
                  </a:extLst>
                </a:gridCol>
                <a:gridCol w="2118742">
                  <a:extLst>
                    <a:ext uri="{9D8B030D-6E8A-4147-A177-3AD203B41FA5}">
                      <a16:colId xmlns:a16="http://schemas.microsoft.com/office/drawing/2014/main" val="20003"/>
                    </a:ext>
                  </a:extLst>
                </a:gridCol>
              </a:tblGrid>
              <a:tr h="333375">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400" b="1" i="0" u="none" strike="noStrike" cap="none" normalizeH="0" baseline="0" dirty="0" smtClean="0">
                          <a:ln>
                            <a:noFill/>
                          </a:ln>
                          <a:solidFill>
                            <a:schemeClr val="tx1"/>
                          </a:solidFill>
                          <a:effectLst/>
                          <a:latin typeface="微软雅黑" panose="020B0503020204020204" pitchFamily="34" charset="-122"/>
                          <a:ea typeface="微软雅黑" panose="020B0503020204020204" pitchFamily="34" charset="-122"/>
                          <a:cs typeface="Times New Roman" pitchFamily="18" charset="0"/>
                        </a:rPr>
                        <a:t>0-250</a:t>
                      </a:r>
                      <a:endParaRPr kumimoji="0" lang="en-US" altLang="zh-CN" sz="2400" b="1" i="0" u="none" strike="noStrike" cap="none" normalizeH="0" baseline="0" dirty="0" smtClean="0">
                        <a:ln>
                          <a:noFill/>
                        </a:ln>
                        <a:solidFill>
                          <a:schemeClr val="tx1"/>
                        </a:solidFill>
                        <a:effectLst/>
                        <a:latin typeface="微软雅黑" panose="020B0503020204020204" pitchFamily="34" charset="-122"/>
                        <a:ea typeface="微软雅黑" panose="020B0503020204020204" pitchFamily="34"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00FF"/>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400" b="1" i="0" u="none" strike="noStrike" cap="none" normalizeH="0" baseline="0" dirty="0" smtClean="0">
                          <a:ln>
                            <a:noFill/>
                          </a:ln>
                          <a:solidFill>
                            <a:schemeClr val="tx1"/>
                          </a:solidFill>
                          <a:effectLst/>
                          <a:latin typeface="微软雅黑" panose="020B0503020204020204" pitchFamily="34" charset="-122"/>
                          <a:ea typeface="微软雅黑" panose="020B0503020204020204" pitchFamily="34" charset="-122"/>
                          <a:cs typeface="Times New Roman" pitchFamily="18" charset="0"/>
                        </a:rPr>
                        <a:t>250-1,000</a:t>
                      </a:r>
                      <a:endParaRPr kumimoji="0" lang="en-US" altLang="zh-CN" sz="2400" b="1" i="0" u="none" strike="noStrike" cap="none" normalizeH="0" baseline="0" dirty="0" smtClean="0">
                        <a:ln>
                          <a:noFill/>
                        </a:ln>
                        <a:solidFill>
                          <a:schemeClr val="tx1"/>
                        </a:solidFill>
                        <a:effectLst/>
                        <a:latin typeface="微软雅黑" panose="020B0503020204020204" pitchFamily="34" charset="-122"/>
                        <a:ea typeface="微软雅黑" panose="020B0503020204020204" pitchFamily="34"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0C0C0"/>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tab pos="717550" algn="r"/>
                        </a:tabLst>
                      </a:pPr>
                      <a:r>
                        <a:rPr kumimoji="0" lang="en-US" altLang="zh-CN" sz="2400" b="1" i="0" u="none" strike="noStrike" cap="none" normalizeH="0" baseline="0" dirty="0" smtClean="0">
                          <a:ln>
                            <a:noFill/>
                          </a:ln>
                          <a:solidFill>
                            <a:schemeClr val="tx1"/>
                          </a:solidFill>
                          <a:effectLst/>
                          <a:latin typeface="微软雅黑" panose="020B0503020204020204" pitchFamily="34" charset="-122"/>
                          <a:ea typeface="微软雅黑" panose="020B0503020204020204" pitchFamily="34" charset="-122"/>
                          <a:cs typeface="Times New Roman" pitchFamily="18" charset="0"/>
                        </a:rPr>
                        <a:t>1,000-3,000</a:t>
                      </a:r>
                      <a:endParaRPr kumimoji="0" lang="en-US" altLang="zh-CN" sz="2400" b="1" i="0" u="none" strike="noStrike" cap="none" normalizeH="0" baseline="0" dirty="0" smtClean="0">
                        <a:ln>
                          <a:noFill/>
                        </a:ln>
                        <a:solidFill>
                          <a:schemeClr val="tx1"/>
                        </a:solidFill>
                        <a:effectLst/>
                        <a:latin typeface="微软雅黑" panose="020B0503020204020204" pitchFamily="34" charset="-122"/>
                        <a:ea typeface="微软雅黑" panose="020B0503020204020204" pitchFamily="34"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00"/>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tab pos="717550" algn="r"/>
                        </a:tabLst>
                      </a:pPr>
                      <a:r>
                        <a:rPr kumimoji="0" lang="en-US" altLang="zh-CN" sz="2400" b="1" i="0" u="none" strike="noStrike" cap="none" normalizeH="0" baseline="0" dirty="0" smtClean="0">
                          <a:ln>
                            <a:noFill/>
                          </a:ln>
                          <a:solidFill>
                            <a:schemeClr val="tx1"/>
                          </a:solidFill>
                          <a:effectLst/>
                          <a:latin typeface="微软雅黑" panose="020B0503020204020204" pitchFamily="34" charset="-122"/>
                          <a:ea typeface="微软雅黑" panose="020B0503020204020204" pitchFamily="34" charset="-122"/>
                          <a:cs typeface="Times New Roman" pitchFamily="18" charset="0"/>
                        </a:rPr>
                        <a:t>Over 3,000</a:t>
                      </a:r>
                      <a:endParaRPr kumimoji="0" lang="en-US" altLang="zh-CN" sz="2400" b="1" i="0" u="none" strike="noStrike" cap="none" normalizeH="0" baseline="0" dirty="0" smtClean="0">
                        <a:ln>
                          <a:noFill/>
                        </a:ln>
                        <a:solidFill>
                          <a:schemeClr val="tx1"/>
                        </a:solidFill>
                        <a:effectLst/>
                        <a:latin typeface="微软雅黑" panose="020B0503020204020204" pitchFamily="34" charset="-122"/>
                        <a:ea typeface="微软雅黑" panose="020B0503020204020204" pitchFamily="34"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00FFFF"/>
                    </a:solidFill>
                  </a:tcPr>
                </a:tc>
                <a:extLst>
                  <a:ext uri="{0D108BD9-81ED-4DB2-BD59-A6C34878D82A}">
                    <a16:rowId xmlns:a16="http://schemas.microsoft.com/office/drawing/2014/main" val="10000"/>
                  </a:ext>
                </a:extLst>
              </a:tr>
            </a:tbl>
          </a:graphicData>
        </a:graphic>
      </p:graphicFrame>
    </p:spTree>
    <p:extLst>
      <p:ext uri="{BB962C8B-B14F-4D97-AF65-F5344CB8AC3E}">
        <p14:creationId xmlns:p14="http://schemas.microsoft.com/office/powerpoint/2010/main" val="240019865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页脚占位符 4"/>
          <p:cNvSpPr>
            <a:spLocks noGrp="1"/>
          </p:cNvSpPr>
          <p:nvPr>
            <p:ph type="ftr" sz="quarter" idx="11"/>
          </p:nvPr>
        </p:nvSpPr>
        <p:spPr/>
        <p:txBody>
          <a:bodyPr/>
          <a:lstStyle/>
          <a:p>
            <a:r>
              <a:rPr lang="zh-CN" altLang="en-US" smtClean="0"/>
              <a:t>国际金融学 范小云</a:t>
            </a:r>
            <a:endParaRPr lang="zh-CN" altLang="en-US" dirty="0"/>
          </a:p>
        </p:txBody>
      </p:sp>
      <p:sp>
        <p:nvSpPr>
          <p:cNvPr id="7" name="Rectangle 4"/>
          <p:cNvSpPr>
            <a:spLocks noChangeArrowheads="1"/>
          </p:cNvSpPr>
          <p:nvPr/>
        </p:nvSpPr>
        <p:spPr bwMode="auto">
          <a:xfrm>
            <a:off x="457201" y="381722"/>
            <a:ext cx="8324850"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eaLnBrk="0" hangingPunct="0">
              <a:tabLst>
                <a:tab pos="439738" algn="r"/>
                <a:tab pos="2420938" algn="r"/>
                <a:tab pos="3060700" algn="r"/>
                <a:tab pos="3781425" algn="r"/>
                <a:tab pos="4500563" algn="r"/>
                <a:tab pos="5221288" algn="r"/>
              </a:tabLst>
              <a:defRPr>
                <a:solidFill>
                  <a:schemeClr val="tx1"/>
                </a:solidFill>
                <a:latin typeface="Arial" panose="020B0604020202020204" pitchFamily="34" charset="0"/>
                <a:ea typeface="宋体" panose="02010600030101010101" pitchFamily="2" charset="-122"/>
              </a:defRPr>
            </a:lvl1pPr>
            <a:lvl2pPr marL="742950" indent="-285750" eaLnBrk="0" hangingPunct="0">
              <a:tabLst>
                <a:tab pos="439738" algn="r"/>
                <a:tab pos="2420938" algn="r"/>
                <a:tab pos="3060700" algn="r"/>
                <a:tab pos="3781425" algn="r"/>
                <a:tab pos="4500563" algn="r"/>
                <a:tab pos="5221288" algn="r"/>
              </a:tabLst>
              <a:defRPr>
                <a:solidFill>
                  <a:schemeClr val="tx1"/>
                </a:solidFill>
                <a:latin typeface="Arial" panose="020B0604020202020204" pitchFamily="34" charset="0"/>
                <a:ea typeface="宋体" panose="02010600030101010101" pitchFamily="2" charset="-122"/>
              </a:defRPr>
            </a:lvl2pPr>
            <a:lvl3pPr marL="1143000" indent="-228600" eaLnBrk="0" hangingPunct="0">
              <a:tabLst>
                <a:tab pos="439738" algn="r"/>
                <a:tab pos="2420938" algn="r"/>
                <a:tab pos="3060700" algn="r"/>
                <a:tab pos="3781425" algn="r"/>
                <a:tab pos="4500563" algn="r"/>
                <a:tab pos="5221288" algn="r"/>
              </a:tabLst>
              <a:defRPr>
                <a:solidFill>
                  <a:schemeClr val="tx1"/>
                </a:solidFill>
                <a:latin typeface="Arial" panose="020B0604020202020204" pitchFamily="34" charset="0"/>
                <a:ea typeface="宋体" panose="02010600030101010101" pitchFamily="2" charset="-122"/>
              </a:defRPr>
            </a:lvl3pPr>
            <a:lvl4pPr marL="1600200" indent="-228600" eaLnBrk="0" hangingPunct="0">
              <a:tabLst>
                <a:tab pos="439738" algn="r"/>
                <a:tab pos="2420938" algn="r"/>
                <a:tab pos="3060700" algn="r"/>
                <a:tab pos="3781425" algn="r"/>
                <a:tab pos="4500563" algn="r"/>
                <a:tab pos="5221288" algn="r"/>
              </a:tabLst>
              <a:defRPr>
                <a:solidFill>
                  <a:schemeClr val="tx1"/>
                </a:solidFill>
                <a:latin typeface="Arial" panose="020B0604020202020204" pitchFamily="34" charset="0"/>
                <a:ea typeface="宋体" panose="02010600030101010101" pitchFamily="2" charset="-122"/>
              </a:defRPr>
            </a:lvl4pPr>
            <a:lvl5pPr marL="2057400" indent="-228600" eaLnBrk="0" hangingPunct="0">
              <a:tabLst>
                <a:tab pos="439738" algn="r"/>
                <a:tab pos="2420938" algn="r"/>
                <a:tab pos="3060700" algn="r"/>
                <a:tab pos="3781425" algn="r"/>
                <a:tab pos="4500563" algn="r"/>
                <a:tab pos="5221288" algn="r"/>
              </a:tabLst>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tabLst>
                <a:tab pos="439738" algn="r"/>
                <a:tab pos="2420938" algn="r"/>
                <a:tab pos="3060700" algn="r"/>
                <a:tab pos="3781425" algn="r"/>
                <a:tab pos="4500563" algn="r"/>
                <a:tab pos="5221288" algn="r"/>
              </a:tabLs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tabLst>
                <a:tab pos="439738" algn="r"/>
                <a:tab pos="2420938" algn="r"/>
                <a:tab pos="3060700" algn="r"/>
                <a:tab pos="3781425" algn="r"/>
                <a:tab pos="4500563" algn="r"/>
                <a:tab pos="5221288" algn="r"/>
              </a:tabLs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tabLst>
                <a:tab pos="439738" algn="r"/>
                <a:tab pos="2420938" algn="r"/>
                <a:tab pos="3060700" algn="r"/>
                <a:tab pos="3781425" algn="r"/>
                <a:tab pos="4500563" algn="r"/>
                <a:tab pos="5221288" algn="r"/>
              </a:tabLs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tabLst>
                <a:tab pos="439738" algn="r"/>
                <a:tab pos="2420938" algn="r"/>
                <a:tab pos="3060700" algn="r"/>
                <a:tab pos="3781425" algn="r"/>
                <a:tab pos="4500563" algn="r"/>
                <a:tab pos="5221288" algn="r"/>
              </a:tabLs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sz="2400" b="1" dirty="0">
                <a:latin typeface="微软雅黑" panose="020B0503020204020204" pitchFamily="34" charset="-122"/>
                <a:ea typeface="微软雅黑" panose="020B0503020204020204" pitchFamily="34" charset="-122"/>
              </a:rPr>
              <a:t>INDEX OF INDUSTRIAL PRODUCTION    1929 = </a:t>
            </a:r>
            <a:r>
              <a:rPr lang="en-US" altLang="zh-CN" sz="2400" b="1" dirty="0" smtClean="0">
                <a:latin typeface="微软雅黑" panose="020B0503020204020204" pitchFamily="34" charset="-122"/>
                <a:ea typeface="微软雅黑" panose="020B0503020204020204" pitchFamily="34" charset="-122"/>
              </a:rPr>
              <a:t>100</a:t>
            </a:r>
            <a:endParaRPr lang="en-US" altLang="zh-CN" sz="2400" dirty="0">
              <a:latin typeface="微软雅黑" panose="020B0503020204020204" pitchFamily="34" charset="-122"/>
              <a:ea typeface="微软雅黑" panose="020B0503020204020204" pitchFamily="34" charset="-122"/>
            </a:endParaRPr>
          </a:p>
        </p:txBody>
      </p:sp>
      <p:graphicFrame>
        <p:nvGraphicFramePr>
          <p:cNvPr id="2" name="表格 1"/>
          <p:cNvGraphicFramePr>
            <a:graphicFrameLocks noGrp="1"/>
          </p:cNvGraphicFramePr>
          <p:nvPr>
            <p:extLst>
              <p:ext uri="{D42A27DB-BD31-4B8C-83A1-F6EECF244321}">
                <p14:modId xmlns:p14="http://schemas.microsoft.com/office/powerpoint/2010/main" val="272708568"/>
              </p:ext>
            </p:extLst>
          </p:nvPr>
        </p:nvGraphicFramePr>
        <p:xfrm>
          <a:off x="457202" y="898630"/>
          <a:ext cx="8324849" cy="5234160"/>
        </p:xfrm>
        <a:graphic>
          <a:graphicData uri="http://schemas.openxmlformats.org/drawingml/2006/table">
            <a:tbl>
              <a:tblPr firstRow="1" firstCol="1" bandRow="1">
                <a:tableStyleId>{69012ECD-51FC-41F1-AA8D-1B2483CD663E}</a:tableStyleId>
              </a:tblPr>
              <a:tblGrid>
                <a:gridCol w="756743">
                  <a:extLst>
                    <a:ext uri="{9D8B030D-6E8A-4147-A177-3AD203B41FA5}">
                      <a16:colId xmlns:a16="http://schemas.microsoft.com/office/drawing/2014/main" val="20000"/>
                    </a:ext>
                  </a:extLst>
                </a:gridCol>
                <a:gridCol w="1081158">
                  <a:extLst>
                    <a:ext uri="{9D8B030D-6E8A-4147-A177-3AD203B41FA5}">
                      <a16:colId xmlns:a16="http://schemas.microsoft.com/office/drawing/2014/main" val="20001"/>
                    </a:ext>
                  </a:extLst>
                </a:gridCol>
                <a:gridCol w="1081158">
                  <a:extLst>
                    <a:ext uri="{9D8B030D-6E8A-4147-A177-3AD203B41FA5}">
                      <a16:colId xmlns:a16="http://schemas.microsoft.com/office/drawing/2014/main" val="20002"/>
                    </a:ext>
                  </a:extLst>
                </a:gridCol>
                <a:gridCol w="1081158">
                  <a:extLst>
                    <a:ext uri="{9D8B030D-6E8A-4147-A177-3AD203B41FA5}">
                      <a16:colId xmlns:a16="http://schemas.microsoft.com/office/drawing/2014/main" val="20003"/>
                    </a:ext>
                  </a:extLst>
                </a:gridCol>
                <a:gridCol w="1013215">
                  <a:extLst>
                    <a:ext uri="{9D8B030D-6E8A-4147-A177-3AD203B41FA5}">
                      <a16:colId xmlns:a16="http://schemas.microsoft.com/office/drawing/2014/main" val="20004"/>
                    </a:ext>
                  </a:extLst>
                </a:gridCol>
                <a:gridCol w="1149101">
                  <a:extLst>
                    <a:ext uri="{9D8B030D-6E8A-4147-A177-3AD203B41FA5}">
                      <a16:colId xmlns:a16="http://schemas.microsoft.com/office/drawing/2014/main" val="20005"/>
                    </a:ext>
                  </a:extLst>
                </a:gridCol>
                <a:gridCol w="1081158">
                  <a:extLst>
                    <a:ext uri="{9D8B030D-6E8A-4147-A177-3AD203B41FA5}">
                      <a16:colId xmlns:a16="http://schemas.microsoft.com/office/drawing/2014/main" val="20006"/>
                    </a:ext>
                  </a:extLst>
                </a:gridCol>
                <a:gridCol w="1081158">
                  <a:extLst>
                    <a:ext uri="{9D8B030D-6E8A-4147-A177-3AD203B41FA5}">
                      <a16:colId xmlns:a16="http://schemas.microsoft.com/office/drawing/2014/main" val="20007"/>
                    </a:ext>
                  </a:extLst>
                </a:gridCol>
              </a:tblGrid>
              <a:tr h="342582">
                <a:tc>
                  <a:txBody>
                    <a:bodyPr/>
                    <a:lstStyle/>
                    <a:p>
                      <a:pPr algn="ctr">
                        <a:spcAft>
                          <a:spcPts val="0"/>
                        </a:spcAft>
                      </a:pPr>
                      <a:r>
                        <a:rPr lang="en-US" sz="1700" kern="100" dirty="0">
                          <a:effectLst/>
                          <a:latin typeface="微软雅黑" panose="020B0503020204020204" pitchFamily="34" charset="-122"/>
                          <a:ea typeface="微软雅黑" panose="020B0503020204020204" pitchFamily="34" charset="-122"/>
                        </a:rPr>
                        <a:t> </a:t>
                      </a:r>
                      <a:endParaRPr lang="zh-CN" sz="1700" kern="100" dirty="0">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68580" marR="68580" marT="0" marB="0" anchor="ctr"/>
                </a:tc>
                <a:tc>
                  <a:txBody>
                    <a:bodyPr/>
                    <a:lstStyle/>
                    <a:p>
                      <a:pPr algn="ctr">
                        <a:spcAft>
                          <a:spcPts val="0"/>
                        </a:spcAft>
                      </a:pPr>
                      <a:r>
                        <a:rPr lang="en-US" sz="1700" kern="100" dirty="0">
                          <a:effectLst/>
                          <a:latin typeface="微软雅黑" panose="020B0503020204020204" pitchFamily="34" charset="-122"/>
                          <a:ea typeface="微软雅黑" panose="020B0503020204020204" pitchFamily="34" charset="-122"/>
                        </a:rPr>
                        <a:t>World</a:t>
                      </a:r>
                      <a:endParaRPr lang="zh-CN" sz="1700" kern="100" dirty="0">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68580" marR="68580" marT="0" marB="0" anchor="ctr"/>
                </a:tc>
                <a:tc>
                  <a:txBody>
                    <a:bodyPr/>
                    <a:lstStyle/>
                    <a:p>
                      <a:pPr algn="ctr">
                        <a:spcAft>
                          <a:spcPts val="0"/>
                        </a:spcAft>
                      </a:pPr>
                      <a:r>
                        <a:rPr lang="en-US" sz="1700" kern="100" dirty="0">
                          <a:effectLst/>
                          <a:latin typeface="微软雅黑" panose="020B0503020204020204" pitchFamily="34" charset="-122"/>
                          <a:ea typeface="微软雅黑" panose="020B0503020204020204" pitchFamily="34" charset="-122"/>
                        </a:rPr>
                        <a:t>Japan</a:t>
                      </a:r>
                      <a:endParaRPr lang="zh-CN" sz="1700" kern="100" dirty="0">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68580" marR="68580" marT="0" marB="0" anchor="ctr"/>
                </a:tc>
                <a:tc>
                  <a:txBody>
                    <a:bodyPr/>
                    <a:lstStyle/>
                    <a:p>
                      <a:pPr algn="ctr">
                        <a:spcAft>
                          <a:spcPts val="0"/>
                        </a:spcAft>
                      </a:pPr>
                      <a:r>
                        <a:rPr lang="en-US" sz="1700" kern="100">
                          <a:effectLst/>
                          <a:latin typeface="微软雅黑" panose="020B0503020204020204" pitchFamily="34" charset="-122"/>
                          <a:ea typeface="微软雅黑" panose="020B0503020204020204" pitchFamily="34" charset="-122"/>
                        </a:rPr>
                        <a:t>USA</a:t>
                      </a:r>
                      <a:endParaRPr lang="zh-CN" sz="1700" kern="100">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68580" marR="68580" marT="0" marB="0" anchor="ctr"/>
                </a:tc>
                <a:tc>
                  <a:txBody>
                    <a:bodyPr/>
                    <a:lstStyle/>
                    <a:p>
                      <a:pPr algn="ctr">
                        <a:spcAft>
                          <a:spcPts val="0"/>
                        </a:spcAft>
                      </a:pPr>
                      <a:r>
                        <a:rPr lang="en-US" sz="1700" kern="100">
                          <a:effectLst/>
                          <a:latin typeface="微软雅黑" panose="020B0503020204020204" pitchFamily="34" charset="-122"/>
                          <a:ea typeface="微软雅黑" panose="020B0503020204020204" pitchFamily="34" charset="-122"/>
                        </a:rPr>
                        <a:t>UK</a:t>
                      </a:r>
                      <a:endParaRPr lang="zh-CN" sz="1700" kern="100">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68580" marR="68580" marT="0" marB="0" anchor="ctr"/>
                </a:tc>
                <a:tc>
                  <a:txBody>
                    <a:bodyPr/>
                    <a:lstStyle/>
                    <a:p>
                      <a:pPr algn="ctr">
                        <a:spcAft>
                          <a:spcPts val="0"/>
                        </a:spcAft>
                      </a:pPr>
                      <a:r>
                        <a:rPr lang="en-US" sz="1700" kern="100" dirty="0">
                          <a:effectLst/>
                          <a:latin typeface="微软雅黑" panose="020B0503020204020204" pitchFamily="34" charset="-122"/>
                          <a:ea typeface="微软雅黑" panose="020B0503020204020204" pitchFamily="34" charset="-122"/>
                        </a:rPr>
                        <a:t>Germany</a:t>
                      </a:r>
                      <a:endParaRPr lang="zh-CN" sz="1700" kern="100" dirty="0">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68580" marR="68580" marT="0" marB="0" anchor="ctr"/>
                </a:tc>
                <a:tc>
                  <a:txBody>
                    <a:bodyPr/>
                    <a:lstStyle/>
                    <a:p>
                      <a:pPr algn="ctr">
                        <a:spcAft>
                          <a:spcPts val="0"/>
                        </a:spcAft>
                      </a:pPr>
                      <a:r>
                        <a:rPr lang="en-US" sz="1700" kern="100">
                          <a:effectLst/>
                          <a:latin typeface="微软雅黑" panose="020B0503020204020204" pitchFamily="34" charset="-122"/>
                          <a:ea typeface="微软雅黑" panose="020B0503020204020204" pitchFamily="34" charset="-122"/>
                        </a:rPr>
                        <a:t>Canada</a:t>
                      </a:r>
                      <a:endParaRPr lang="zh-CN" sz="1700" kern="100">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68580" marR="68580" marT="0" marB="0" anchor="ctr"/>
                </a:tc>
                <a:tc>
                  <a:txBody>
                    <a:bodyPr/>
                    <a:lstStyle/>
                    <a:p>
                      <a:pPr algn="ctr">
                        <a:spcAft>
                          <a:spcPts val="0"/>
                        </a:spcAft>
                      </a:pPr>
                      <a:r>
                        <a:rPr lang="en-US" sz="1700" kern="100">
                          <a:effectLst/>
                          <a:latin typeface="微软雅黑" panose="020B0503020204020204" pitchFamily="34" charset="-122"/>
                          <a:ea typeface="微软雅黑" panose="020B0503020204020204" pitchFamily="34" charset="-122"/>
                        </a:rPr>
                        <a:t>France</a:t>
                      </a:r>
                      <a:endParaRPr lang="zh-CN" sz="1700" kern="100">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68580" marR="68580" marT="0" marB="0" anchor="ctr"/>
                </a:tc>
                <a:extLst>
                  <a:ext uri="{0D108BD9-81ED-4DB2-BD59-A6C34878D82A}">
                    <a16:rowId xmlns:a16="http://schemas.microsoft.com/office/drawing/2014/main" val="10000"/>
                  </a:ext>
                </a:extLst>
              </a:tr>
              <a:tr h="342582">
                <a:tc>
                  <a:txBody>
                    <a:bodyPr/>
                    <a:lstStyle/>
                    <a:p>
                      <a:pPr algn="ctr">
                        <a:spcAft>
                          <a:spcPts val="0"/>
                        </a:spcAft>
                      </a:pPr>
                      <a:r>
                        <a:rPr lang="en-US" sz="1700" kern="100">
                          <a:effectLst/>
                          <a:latin typeface="微软雅黑" panose="020B0503020204020204" pitchFamily="34" charset="-122"/>
                          <a:ea typeface="微软雅黑" panose="020B0503020204020204" pitchFamily="34" charset="-122"/>
                        </a:rPr>
                        <a:t>1925</a:t>
                      </a:r>
                      <a:endParaRPr lang="zh-CN" sz="1700" kern="100">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68580" marR="68580" marT="0" marB="0" anchor="ctr"/>
                </a:tc>
                <a:tc>
                  <a:txBody>
                    <a:bodyPr/>
                    <a:lstStyle/>
                    <a:p>
                      <a:pPr algn="ctr">
                        <a:spcAft>
                          <a:spcPts val="0"/>
                        </a:spcAft>
                      </a:pPr>
                      <a:r>
                        <a:rPr lang="en-US" sz="1700" kern="100">
                          <a:effectLst/>
                          <a:latin typeface="微软雅黑" panose="020B0503020204020204" pitchFamily="34" charset="-122"/>
                          <a:ea typeface="微软雅黑" panose="020B0503020204020204" pitchFamily="34" charset="-122"/>
                        </a:rPr>
                        <a:t>84</a:t>
                      </a:r>
                      <a:endParaRPr lang="zh-CN" sz="1700" kern="100">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68580" marR="68580" marT="0" marB="0" anchor="ctr"/>
                </a:tc>
                <a:tc>
                  <a:txBody>
                    <a:bodyPr/>
                    <a:lstStyle/>
                    <a:p>
                      <a:pPr algn="ctr">
                        <a:spcAft>
                          <a:spcPts val="0"/>
                        </a:spcAft>
                      </a:pPr>
                      <a:r>
                        <a:rPr lang="en-US" sz="1700" kern="100" dirty="0">
                          <a:effectLst/>
                          <a:latin typeface="微软雅黑" panose="020B0503020204020204" pitchFamily="34" charset="-122"/>
                          <a:ea typeface="微软雅黑" panose="020B0503020204020204" pitchFamily="34" charset="-122"/>
                        </a:rPr>
                        <a:t> </a:t>
                      </a:r>
                      <a:endParaRPr lang="zh-CN" sz="1700" kern="100" dirty="0">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68580" marR="68580" marT="0" marB="0" anchor="ctr"/>
                </a:tc>
                <a:tc>
                  <a:txBody>
                    <a:bodyPr/>
                    <a:lstStyle/>
                    <a:p>
                      <a:pPr algn="ctr">
                        <a:spcAft>
                          <a:spcPts val="0"/>
                        </a:spcAft>
                      </a:pPr>
                      <a:r>
                        <a:rPr lang="en-US" sz="1700" kern="100" dirty="0">
                          <a:effectLst/>
                          <a:latin typeface="微软雅黑" panose="020B0503020204020204" pitchFamily="34" charset="-122"/>
                          <a:ea typeface="微软雅黑" panose="020B0503020204020204" pitchFamily="34" charset="-122"/>
                        </a:rPr>
                        <a:t>87</a:t>
                      </a:r>
                      <a:endParaRPr lang="zh-CN" sz="1700" kern="100" dirty="0">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68580" marR="68580" marT="0" marB="0" anchor="ctr"/>
                </a:tc>
                <a:tc>
                  <a:txBody>
                    <a:bodyPr/>
                    <a:lstStyle/>
                    <a:p>
                      <a:pPr algn="ctr">
                        <a:spcAft>
                          <a:spcPts val="0"/>
                        </a:spcAft>
                      </a:pPr>
                      <a:r>
                        <a:rPr lang="en-US" sz="1700" kern="100">
                          <a:effectLst/>
                          <a:latin typeface="微软雅黑" panose="020B0503020204020204" pitchFamily="34" charset="-122"/>
                          <a:ea typeface="微软雅黑" panose="020B0503020204020204" pitchFamily="34" charset="-122"/>
                        </a:rPr>
                        <a:t>89</a:t>
                      </a:r>
                      <a:endParaRPr lang="zh-CN" sz="1700" kern="100">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68580" marR="68580" marT="0" marB="0" anchor="ctr"/>
                </a:tc>
                <a:tc>
                  <a:txBody>
                    <a:bodyPr/>
                    <a:lstStyle/>
                    <a:p>
                      <a:pPr algn="ctr">
                        <a:spcAft>
                          <a:spcPts val="0"/>
                        </a:spcAft>
                      </a:pPr>
                      <a:r>
                        <a:rPr lang="en-US" sz="1700" kern="100">
                          <a:effectLst/>
                          <a:latin typeface="微软雅黑" panose="020B0503020204020204" pitchFamily="34" charset="-122"/>
                          <a:ea typeface="微软雅黑" panose="020B0503020204020204" pitchFamily="34" charset="-122"/>
                        </a:rPr>
                        <a:t>81</a:t>
                      </a:r>
                      <a:endParaRPr lang="zh-CN" sz="1700" kern="100">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68580" marR="68580" marT="0" marB="0" anchor="ctr"/>
                </a:tc>
                <a:tc>
                  <a:txBody>
                    <a:bodyPr/>
                    <a:lstStyle/>
                    <a:p>
                      <a:pPr algn="ctr">
                        <a:spcAft>
                          <a:spcPts val="0"/>
                        </a:spcAft>
                      </a:pPr>
                      <a:r>
                        <a:rPr lang="en-US" sz="1700" kern="100">
                          <a:effectLst/>
                          <a:latin typeface="微软雅黑" panose="020B0503020204020204" pitchFamily="34" charset="-122"/>
                          <a:ea typeface="微软雅黑" panose="020B0503020204020204" pitchFamily="34" charset="-122"/>
                        </a:rPr>
                        <a:t> 77</a:t>
                      </a:r>
                      <a:endParaRPr lang="zh-CN" sz="1700" kern="100">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68580" marR="68580" marT="0" marB="0" anchor="ctr"/>
                </a:tc>
                <a:tc>
                  <a:txBody>
                    <a:bodyPr/>
                    <a:lstStyle/>
                    <a:p>
                      <a:pPr algn="ctr">
                        <a:spcAft>
                          <a:spcPts val="0"/>
                        </a:spcAft>
                      </a:pPr>
                      <a:r>
                        <a:rPr lang="en-US" sz="1700" kern="100">
                          <a:effectLst/>
                          <a:latin typeface="微软雅黑" panose="020B0503020204020204" pitchFamily="34" charset="-122"/>
                          <a:ea typeface="微软雅黑" panose="020B0503020204020204" pitchFamily="34" charset="-122"/>
                        </a:rPr>
                        <a:t>70</a:t>
                      </a:r>
                      <a:endParaRPr lang="zh-CN" sz="1700" kern="100">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68580" marR="68580" marT="0" marB="0" anchor="ctr"/>
                </a:tc>
                <a:extLst>
                  <a:ext uri="{0D108BD9-81ED-4DB2-BD59-A6C34878D82A}">
                    <a16:rowId xmlns:a16="http://schemas.microsoft.com/office/drawing/2014/main" val="10001"/>
                  </a:ext>
                </a:extLst>
              </a:tr>
              <a:tr h="358487">
                <a:tc>
                  <a:txBody>
                    <a:bodyPr/>
                    <a:lstStyle/>
                    <a:p>
                      <a:pPr algn="ctr">
                        <a:spcAft>
                          <a:spcPts val="0"/>
                        </a:spcAft>
                      </a:pPr>
                      <a:r>
                        <a:rPr lang="en-US" sz="1700" kern="100">
                          <a:effectLst/>
                          <a:latin typeface="微软雅黑" panose="020B0503020204020204" pitchFamily="34" charset="-122"/>
                          <a:ea typeface="微软雅黑" panose="020B0503020204020204" pitchFamily="34" charset="-122"/>
                        </a:rPr>
                        <a:t>1926</a:t>
                      </a:r>
                      <a:endParaRPr lang="zh-CN" sz="1700" kern="100">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68580" marR="68580" marT="0" marB="0" anchor="ctr"/>
                </a:tc>
                <a:tc>
                  <a:txBody>
                    <a:bodyPr/>
                    <a:lstStyle/>
                    <a:p>
                      <a:pPr algn="ctr">
                        <a:spcAft>
                          <a:spcPts val="0"/>
                        </a:spcAft>
                      </a:pPr>
                      <a:r>
                        <a:rPr lang="en-US" sz="1700" kern="100">
                          <a:effectLst/>
                          <a:latin typeface="微软雅黑" panose="020B0503020204020204" pitchFamily="34" charset="-122"/>
                          <a:ea typeface="微软雅黑" panose="020B0503020204020204" pitchFamily="34" charset="-122"/>
                        </a:rPr>
                        <a:t>85</a:t>
                      </a:r>
                      <a:endParaRPr lang="zh-CN" sz="1700" kern="100">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68580" marR="68580" marT="0" marB="0" anchor="ctr"/>
                </a:tc>
                <a:tc>
                  <a:txBody>
                    <a:bodyPr/>
                    <a:lstStyle/>
                    <a:p>
                      <a:pPr algn="ctr">
                        <a:spcAft>
                          <a:spcPts val="0"/>
                        </a:spcAft>
                      </a:pPr>
                      <a:r>
                        <a:rPr lang="en-US" sz="1700" kern="100">
                          <a:effectLst/>
                          <a:latin typeface="微软雅黑" panose="020B0503020204020204" pitchFamily="34" charset="-122"/>
                          <a:ea typeface="微软雅黑" panose="020B0503020204020204" pitchFamily="34" charset="-122"/>
                        </a:rPr>
                        <a:t> </a:t>
                      </a:r>
                      <a:endParaRPr lang="zh-CN" sz="1700" kern="100">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68580" marR="68580" marT="0" marB="0" anchor="ctr"/>
                </a:tc>
                <a:tc>
                  <a:txBody>
                    <a:bodyPr/>
                    <a:lstStyle/>
                    <a:p>
                      <a:pPr algn="ctr">
                        <a:spcAft>
                          <a:spcPts val="0"/>
                        </a:spcAft>
                      </a:pPr>
                      <a:r>
                        <a:rPr lang="en-US" sz="1700" kern="100" dirty="0">
                          <a:effectLst/>
                          <a:latin typeface="微软雅黑" panose="020B0503020204020204" pitchFamily="34" charset="-122"/>
                          <a:ea typeface="微软雅黑" panose="020B0503020204020204" pitchFamily="34" charset="-122"/>
                        </a:rPr>
                        <a:t>91</a:t>
                      </a:r>
                      <a:endParaRPr lang="zh-CN" sz="1700" kern="100" dirty="0">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68580" marR="68580" marT="0" marB="0" anchor="ctr"/>
                </a:tc>
                <a:tc>
                  <a:txBody>
                    <a:bodyPr/>
                    <a:lstStyle/>
                    <a:p>
                      <a:pPr algn="ctr">
                        <a:spcAft>
                          <a:spcPts val="0"/>
                        </a:spcAft>
                      </a:pPr>
                      <a:r>
                        <a:rPr lang="en-US" sz="1700" kern="100" dirty="0">
                          <a:effectLst/>
                          <a:latin typeface="微软雅黑" panose="020B0503020204020204" pitchFamily="34" charset="-122"/>
                          <a:ea typeface="微软雅黑" panose="020B0503020204020204" pitchFamily="34" charset="-122"/>
                        </a:rPr>
                        <a:t> </a:t>
                      </a:r>
                      <a:endParaRPr lang="zh-CN" sz="1700" kern="100" dirty="0">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68580" marR="68580" marT="0" marB="0" anchor="ctr"/>
                </a:tc>
                <a:tc>
                  <a:txBody>
                    <a:bodyPr/>
                    <a:lstStyle/>
                    <a:p>
                      <a:pPr algn="ctr">
                        <a:spcAft>
                          <a:spcPts val="0"/>
                        </a:spcAft>
                      </a:pPr>
                      <a:r>
                        <a:rPr lang="en-US" sz="1700" kern="100">
                          <a:effectLst/>
                          <a:latin typeface="微软雅黑" panose="020B0503020204020204" pitchFamily="34" charset="-122"/>
                          <a:ea typeface="微软雅黑" panose="020B0503020204020204" pitchFamily="34" charset="-122"/>
                        </a:rPr>
                        <a:t>77</a:t>
                      </a:r>
                      <a:endParaRPr lang="zh-CN" sz="1700" kern="100">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68580" marR="68580" marT="0" marB="0" anchor="ctr"/>
                </a:tc>
                <a:tc>
                  <a:txBody>
                    <a:bodyPr/>
                    <a:lstStyle/>
                    <a:p>
                      <a:pPr algn="ctr">
                        <a:spcAft>
                          <a:spcPts val="0"/>
                        </a:spcAft>
                      </a:pPr>
                      <a:r>
                        <a:rPr lang="en-US" sz="1700" kern="100">
                          <a:effectLst/>
                          <a:latin typeface="微软雅黑" panose="020B0503020204020204" pitchFamily="34" charset="-122"/>
                          <a:ea typeface="微软雅黑" panose="020B0503020204020204" pitchFamily="34" charset="-122"/>
                        </a:rPr>
                        <a:t> 90</a:t>
                      </a:r>
                      <a:endParaRPr lang="zh-CN" sz="1700" kern="100">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68580" marR="68580" marT="0" marB="0" anchor="ctr"/>
                </a:tc>
                <a:tc>
                  <a:txBody>
                    <a:bodyPr/>
                    <a:lstStyle/>
                    <a:p>
                      <a:pPr algn="ctr">
                        <a:spcAft>
                          <a:spcPts val="0"/>
                        </a:spcAft>
                      </a:pPr>
                      <a:r>
                        <a:rPr lang="en-US" sz="1700" kern="100">
                          <a:effectLst/>
                          <a:latin typeface="微软雅黑" panose="020B0503020204020204" pitchFamily="34" charset="-122"/>
                          <a:ea typeface="微软雅黑" panose="020B0503020204020204" pitchFamily="34" charset="-122"/>
                        </a:rPr>
                        <a:t>78</a:t>
                      </a:r>
                      <a:endParaRPr lang="zh-CN" sz="1700" kern="100">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68580" marR="68580" marT="0" marB="0" anchor="ctr"/>
                </a:tc>
                <a:extLst>
                  <a:ext uri="{0D108BD9-81ED-4DB2-BD59-A6C34878D82A}">
                    <a16:rowId xmlns:a16="http://schemas.microsoft.com/office/drawing/2014/main" val="10002"/>
                  </a:ext>
                </a:extLst>
              </a:tr>
              <a:tr h="342582">
                <a:tc>
                  <a:txBody>
                    <a:bodyPr/>
                    <a:lstStyle/>
                    <a:p>
                      <a:pPr algn="ctr">
                        <a:spcAft>
                          <a:spcPts val="0"/>
                        </a:spcAft>
                      </a:pPr>
                      <a:r>
                        <a:rPr lang="en-US" sz="1700" kern="100">
                          <a:effectLst/>
                          <a:latin typeface="微软雅黑" panose="020B0503020204020204" pitchFamily="34" charset="-122"/>
                          <a:ea typeface="微软雅黑" panose="020B0503020204020204" pitchFamily="34" charset="-122"/>
                        </a:rPr>
                        <a:t>1927</a:t>
                      </a:r>
                      <a:endParaRPr lang="zh-CN" sz="1700" kern="100">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68580" marR="68580" marT="0" marB="0" anchor="ctr"/>
                </a:tc>
                <a:tc>
                  <a:txBody>
                    <a:bodyPr/>
                    <a:lstStyle/>
                    <a:p>
                      <a:pPr algn="ctr">
                        <a:spcAft>
                          <a:spcPts val="0"/>
                        </a:spcAft>
                      </a:pPr>
                      <a:r>
                        <a:rPr lang="en-US" sz="1700" kern="100" dirty="0">
                          <a:effectLst/>
                          <a:latin typeface="微软雅黑" panose="020B0503020204020204" pitchFamily="34" charset="-122"/>
                          <a:ea typeface="微软雅黑" panose="020B0503020204020204" pitchFamily="34" charset="-122"/>
                        </a:rPr>
                        <a:t>91</a:t>
                      </a:r>
                      <a:endParaRPr lang="zh-CN" sz="1700" kern="100" dirty="0">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68580" marR="68580" marT="0" marB="0" anchor="ctr"/>
                </a:tc>
                <a:tc>
                  <a:txBody>
                    <a:bodyPr/>
                    <a:lstStyle/>
                    <a:p>
                      <a:pPr algn="ctr">
                        <a:spcAft>
                          <a:spcPts val="0"/>
                        </a:spcAft>
                      </a:pPr>
                      <a:r>
                        <a:rPr lang="en-US" sz="1700" kern="100">
                          <a:effectLst/>
                          <a:latin typeface="微软雅黑" panose="020B0503020204020204" pitchFamily="34" charset="-122"/>
                          <a:ea typeface="微软雅黑" panose="020B0503020204020204" pitchFamily="34" charset="-122"/>
                        </a:rPr>
                        <a:t>83</a:t>
                      </a:r>
                      <a:endParaRPr lang="zh-CN" sz="1700" kern="100">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68580" marR="68580" marT="0" marB="0" anchor="ctr"/>
                </a:tc>
                <a:tc>
                  <a:txBody>
                    <a:bodyPr/>
                    <a:lstStyle/>
                    <a:p>
                      <a:pPr algn="ctr">
                        <a:spcAft>
                          <a:spcPts val="0"/>
                        </a:spcAft>
                      </a:pPr>
                      <a:r>
                        <a:rPr lang="en-US" sz="1700" kern="100">
                          <a:effectLst/>
                          <a:latin typeface="微软雅黑" panose="020B0503020204020204" pitchFamily="34" charset="-122"/>
                          <a:ea typeface="微软雅黑" panose="020B0503020204020204" pitchFamily="34" charset="-122"/>
                        </a:rPr>
                        <a:t>89</a:t>
                      </a:r>
                      <a:endParaRPr lang="zh-CN" sz="1700" kern="100">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68580" marR="68580" marT="0" marB="0" anchor="ctr"/>
                </a:tc>
                <a:tc>
                  <a:txBody>
                    <a:bodyPr/>
                    <a:lstStyle/>
                    <a:p>
                      <a:pPr algn="ctr">
                        <a:spcAft>
                          <a:spcPts val="0"/>
                        </a:spcAft>
                      </a:pPr>
                      <a:r>
                        <a:rPr lang="en-US" sz="1700" kern="100" dirty="0">
                          <a:effectLst/>
                          <a:latin typeface="微软雅黑" panose="020B0503020204020204" pitchFamily="34" charset="-122"/>
                          <a:ea typeface="微软雅黑" panose="020B0503020204020204" pitchFamily="34" charset="-122"/>
                        </a:rPr>
                        <a:t>96</a:t>
                      </a:r>
                      <a:endParaRPr lang="zh-CN" sz="1700" kern="100" dirty="0">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68580" marR="68580" marT="0" marB="0" anchor="ctr"/>
                </a:tc>
                <a:tc>
                  <a:txBody>
                    <a:bodyPr/>
                    <a:lstStyle/>
                    <a:p>
                      <a:pPr algn="ctr">
                        <a:spcAft>
                          <a:spcPts val="0"/>
                        </a:spcAft>
                      </a:pPr>
                      <a:r>
                        <a:rPr lang="en-US" sz="1700" kern="100">
                          <a:effectLst/>
                          <a:latin typeface="微软雅黑" panose="020B0503020204020204" pitchFamily="34" charset="-122"/>
                          <a:ea typeface="微软雅黑" panose="020B0503020204020204" pitchFamily="34" charset="-122"/>
                        </a:rPr>
                        <a:t>97</a:t>
                      </a:r>
                      <a:endParaRPr lang="zh-CN" sz="1700" kern="100">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68580" marR="68580" marT="0" marB="0" anchor="ctr"/>
                </a:tc>
                <a:tc>
                  <a:txBody>
                    <a:bodyPr/>
                    <a:lstStyle/>
                    <a:p>
                      <a:pPr algn="ctr">
                        <a:spcAft>
                          <a:spcPts val="0"/>
                        </a:spcAft>
                      </a:pPr>
                      <a:r>
                        <a:rPr lang="en-US" sz="1700" kern="100">
                          <a:effectLst/>
                          <a:latin typeface="微软雅黑" panose="020B0503020204020204" pitchFamily="34" charset="-122"/>
                          <a:ea typeface="微软雅黑" panose="020B0503020204020204" pitchFamily="34" charset="-122"/>
                        </a:rPr>
                        <a:t> 79</a:t>
                      </a:r>
                      <a:endParaRPr lang="zh-CN" sz="1700" kern="100">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68580" marR="68580" marT="0" marB="0" anchor="ctr"/>
                </a:tc>
                <a:tc>
                  <a:txBody>
                    <a:bodyPr/>
                    <a:lstStyle/>
                    <a:p>
                      <a:pPr algn="ctr">
                        <a:spcAft>
                          <a:spcPts val="0"/>
                        </a:spcAft>
                      </a:pPr>
                      <a:r>
                        <a:rPr lang="en-US" sz="1700" kern="100">
                          <a:effectLst/>
                          <a:latin typeface="微软雅黑" panose="020B0503020204020204" pitchFamily="34" charset="-122"/>
                          <a:ea typeface="微软雅黑" panose="020B0503020204020204" pitchFamily="34" charset="-122"/>
                        </a:rPr>
                        <a:t>83</a:t>
                      </a:r>
                      <a:endParaRPr lang="zh-CN" sz="1700" kern="100">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68580" marR="68580" marT="0" marB="0" anchor="ctr"/>
                </a:tc>
                <a:extLst>
                  <a:ext uri="{0D108BD9-81ED-4DB2-BD59-A6C34878D82A}">
                    <a16:rowId xmlns:a16="http://schemas.microsoft.com/office/drawing/2014/main" val="10003"/>
                  </a:ext>
                </a:extLst>
              </a:tr>
              <a:tr h="358487">
                <a:tc>
                  <a:txBody>
                    <a:bodyPr/>
                    <a:lstStyle/>
                    <a:p>
                      <a:pPr algn="ctr">
                        <a:spcAft>
                          <a:spcPts val="0"/>
                        </a:spcAft>
                      </a:pPr>
                      <a:r>
                        <a:rPr lang="en-US" sz="1700" kern="100">
                          <a:effectLst/>
                          <a:latin typeface="微软雅黑" panose="020B0503020204020204" pitchFamily="34" charset="-122"/>
                          <a:ea typeface="微软雅黑" panose="020B0503020204020204" pitchFamily="34" charset="-122"/>
                        </a:rPr>
                        <a:t>1928</a:t>
                      </a:r>
                      <a:endParaRPr lang="zh-CN" sz="1700" kern="100">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68580" marR="68580" marT="0" marB="0" anchor="ctr"/>
                </a:tc>
                <a:tc>
                  <a:txBody>
                    <a:bodyPr/>
                    <a:lstStyle/>
                    <a:p>
                      <a:pPr algn="ctr">
                        <a:spcAft>
                          <a:spcPts val="0"/>
                        </a:spcAft>
                      </a:pPr>
                      <a:r>
                        <a:rPr lang="en-US" sz="1700" kern="100">
                          <a:effectLst/>
                          <a:latin typeface="微软雅黑" panose="020B0503020204020204" pitchFamily="34" charset="-122"/>
                          <a:ea typeface="微软雅黑" panose="020B0503020204020204" pitchFamily="34" charset="-122"/>
                        </a:rPr>
                        <a:t>95</a:t>
                      </a:r>
                      <a:endParaRPr lang="zh-CN" sz="1700" kern="100">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68580" marR="68580" marT="0" marB="0" anchor="ctr"/>
                </a:tc>
                <a:tc>
                  <a:txBody>
                    <a:bodyPr/>
                    <a:lstStyle/>
                    <a:p>
                      <a:pPr algn="ctr">
                        <a:spcAft>
                          <a:spcPts val="0"/>
                        </a:spcAft>
                      </a:pPr>
                      <a:r>
                        <a:rPr lang="en-US" sz="1700" kern="100">
                          <a:effectLst/>
                          <a:latin typeface="微软雅黑" panose="020B0503020204020204" pitchFamily="34" charset="-122"/>
                          <a:ea typeface="微软雅黑" panose="020B0503020204020204" pitchFamily="34" charset="-122"/>
                        </a:rPr>
                        <a:t>89</a:t>
                      </a:r>
                      <a:endParaRPr lang="zh-CN" sz="1700" kern="100">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68580" marR="68580" marT="0" marB="0" anchor="ctr"/>
                </a:tc>
                <a:tc>
                  <a:txBody>
                    <a:bodyPr/>
                    <a:lstStyle/>
                    <a:p>
                      <a:pPr algn="ctr">
                        <a:spcAft>
                          <a:spcPts val="0"/>
                        </a:spcAft>
                      </a:pPr>
                      <a:r>
                        <a:rPr lang="en-US" sz="1700" kern="100">
                          <a:effectLst/>
                          <a:latin typeface="微软雅黑" panose="020B0503020204020204" pitchFamily="34" charset="-122"/>
                          <a:ea typeface="微软雅黑" panose="020B0503020204020204" pitchFamily="34" charset="-122"/>
                        </a:rPr>
                        <a:t>93</a:t>
                      </a:r>
                      <a:endParaRPr lang="zh-CN" sz="1700" kern="100">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68580" marR="68580" marT="0" marB="0" anchor="ctr"/>
                </a:tc>
                <a:tc>
                  <a:txBody>
                    <a:bodyPr/>
                    <a:lstStyle/>
                    <a:p>
                      <a:pPr algn="ctr">
                        <a:spcAft>
                          <a:spcPts val="0"/>
                        </a:spcAft>
                      </a:pPr>
                      <a:r>
                        <a:rPr lang="en-US" sz="1700" kern="100" dirty="0">
                          <a:effectLst/>
                          <a:latin typeface="微软雅黑" panose="020B0503020204020204" pitchFamily="34" charset="-122"/>
                          <a:ea typeface="微软雅黑" panose="020B0503020204020204" pitchFamily="34" charset="-122"/>
                        </a:rPr>
                        <a:t>95</a:t>
                      </a:r>
                      <a:endParaRPr lang="zh-CN" sz="1700" kern="100" dirty="0">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68580" marR="68580" marT="0" marB="0" anchor="ctr"/>
                </a:tc>
                <a:tc>
                  <a:txBody>
                    <a:bodyPr/>
                    <a:lstStyle/>
                    <a:p>
                      <a:pPr algn="ctr">
                        <a:spcAft>
                          <a:spcPts val="0"/>
                        </a:spcAft>
                      </a:pPr>
                      <a:r>
                        <a:rPr lang="en-US" sz="1700" kern="100" dirty="0">
                          <a:effectLst/>
                          <a:latin typeface="微软雅黑" panose="020B0503020204020204" pitchFamily="34" charset="-122"/>
                          <a:ea typeface="微软雅黑" panose="020B0503020204020204" pitchFamily="34" charset="-122"/>
                        </a:rPr>
                        <a:t>99</a:t>
                      </a:r>
                      <a:endParaRPr lang="zh-CN" sz="1700" kern="100" dirty="0">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68580" marR="68580" marT="0" marB="0" anchor="ctr"/>
                </a:tc>
                <a:tc>
                  <a:txBody>
                    <a:bodyPr/>
                    <a:lstStyle/>
                    <a:p>
                      <a:pPr algn="ctr">
                        <a:spcAft>
                          <a:spcPts val="0"/>
                        </a:spcAft>
                      </a:pPr>
                      <a:r>
                        <a:rPr lang="en-US" sz="1700" kern="100">
                          <a:effectLst/>
                          <a:latin typeface="微软雅黑" panose="020B0503020204020204" pitchFamily="34" charset="-122"/>
                          <a:ea typeface="微软雅黑" panose="020B0503020204020204" pitchFamily="34" charset="-122"/>
                        </a:rPr>
                        <a:t> 91</a:t>
                      </a:r>
                      <a:endParaRPr lang="zh-CN" sz="1700" kern="100">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68580" marR="68580" marT="0" marB="0" anchor="ctr"/>
                </a:tc>
                <a:tc>
                  <a:txBody>
                    <a:bodyPr/>
                    <a:lstStyle/>
                    <a:p>
                      <a:pPr algn="ctr">
                        <a:spcAft>
                          <a:spcPts val="0"/>
                        </a:spcAft>
                      </a:pPr>
                      <a:r>
                        <a:rPr lang="en-US" sz="1700" kern="100">
                          <a:effectLst/>
                          <a:latin typeface="微软雅黑" panose="020B0503020204020204" pitchFamily="34" charset="-122"/>
                          <a:ea typeface="微软雅黑" panose="020B0503020204020204" pitchFamily="34" charset="-122"/>
                        </a:rPr>
                        <a:t>92</a:t>
                      </a:r>
                      <a:endParaRPr lang="zh-CN" sz="1700" kern="100">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68580" marR="68580" marT="0" marB="0" anchor="ctr"/>
                </a:tc>
                <a:extLst>
                  <a:ext uri="{0D108BD9-81ED-4DB2-BD59-A6C34878D82A}">
                    <a16:rowId xmlns:a16="http://schemas.microsoft.com/office/drawing/2014/main" val="10004"/>
                  </a:ext>
                </a:extLst>
              </a:tr>
              <a:tr h="342582">
                <a:tc>
                  <a:txBody>
                    <a:bodyPr/>
                    <a:lstStyle/>
                    <a:p>
                      <a:pPr algn="ctr">
                        <a:spcAft>
                          <a:spcPts val="0"/>
                        </a:spcAft>
                      </a:pPr>
                      <a:r>
                        <a:rPr lang="en-US" sz="1700" kern="100" dirty="0">
                          <a:solidFill>
                            <a:srgbClr val="FF0000"/>
                          </a:solidFill>
                          <a:effectLst/>
                          <a:latin typeface="微软雅黑" panose="020B0503020204020204" pitchFamily="34" charset="-122"/>
                          <a:ea typeface="微软雅黑" panose="020B0503020204020204" pitchFamily="34" charset="-122"/>
                        </a:rPr>
                        <a:t>1929</a:t>
                      </a:r>
                      <a:endParaRPr lang="zh-CN" sz="1700" kern="100" dirty="0">
                        <a:solidFill>
                          <a:srgbClr val="FF0000"/>
                        </a:solidFill>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68580" marR="68580" marT="0" marB="0" anchor="ctr"/>
                </a:tc>
                <a:tc>
                  <a:txBody>
                    <a:bodyPr/>
                    <a:lstStyle/>
                    <a:p>
                      <a:pPr algn="ctr">
                        <a:spcAft>
                          <a:spcPts val="0"/>
                        </a:spcAft>
                      </a:pPr>
                      <a:r>
                        <a:rPr lang="en-US" sz="1700" kern="100" dirty="0">
                          <a:solidFill>
                            <a:srgbClr val="FF0000"/>
                          </a:solidFill>
                          <a:effectLst/>
                          <a:latin typeface="微软雅黑" panose="020B0503020204020204" pitchFamily="34" charset="-122"/>
                          <a:ea typeface="微软雅黑" panose="020B0503020204020204" pitchFamily="34" charset="-122"/>
                        </a:rPr>
                        <a:t>100</a:t>
                      </a:r>
                      <a:endParaRPr lang="zh-CN" sz="1700" kern="100" dirty="0">
                        <a:solidFill>
                          <a:srgbClr val="FF0000"/>
                        </a:solidFill>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68580" marR="68580" marT="0" marB="0" anchor="ctr"/>
                </a:tc>
                <a:tc>
                  <a:txBody>
                    <a:bodyPr/>
                    <a:lstStyle/>
                    <a:p>
                      <a:pPr algn="ctr">
                        <a:spcAft>
                          <a:spcPts val="0"/>
                        </a:spcAft>
                      </a:pPr>
                      <a:r>
                        <a:rPr lang="en-US" sz="1700" kern="100" dirty="0">
                          <a:solidFill>
                            <a:srgbClr val="FF0000"/>
                          </a:solidFill>
                          <a:effectLst/>
                          <a:latin typeface="微软雅黑" panose="020B0503020204020204" pitchFamily="34" charset="-122"/>
                          <a:ea typeface="微软雅黑" panose="020B0503020204020204" pitchFamily="34" charset="-122"/>
                        </a:rPr>
                        <a:t>100</a:t>
                      </a:r>
                      <a:endParaRPr lang="zh-CN" sz="1700" kern="100" dirty="0">
                        <a:solidFill>
                          <a:srgbClr val="FF0000"/>
                        </a:solidFill>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68580" marR="68580" marT="0" marB="0" anchor="ctr"/>
                </a:tc>
                <a:tc>
                  <a:txBody>
                    <a:bodyPr/>
                    <a:lstStyle/>
                    <a:p>
                      <a:pPr algn="ctr">
                        <a:spcAft>
                          <a:spcPts val="0"/>
                        </a:spcAft>
                      </a:pPr>
                      <a:r>
                        <a:rPr lang="en-US" sz="1700" kern="100" dirty="0">
                          <a:solidFill>
                            <a:srgbClr val="FF0000"/>
                          </a:solidFill>
                          <a:effectLst/>
                          <a:latin typeface="微软雅黑" panose="020B0503020204020204" pitchFamily="34" charset="-122"/>
                          <a:ea typeface="微软雅黑" panose="020B0503020204020204" pitchFamily="34" charset="-122"/>
                        </a:rPr>
                        <a:t> 100</a:t>
                      </a:r>
                      <a:endParaRPr lang="zh-CN" sz="1700" kern="100" dirty="0">
                        <a:solidFill>
                          <a:srgbClr val="FF0000"/>
                        </a:solidFill>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68580" marR="68580" marT="0" marB="0" anchor="ctr"/>
                </a:tc>
                <a:tc>
                  <a:txBody>
                    <a:bodyPr/>
                    <a:lstStyle/>
                    <a:p>
                      <a:pPr algn="ctr">
                        <a:spcAft>
                          <a:spcPts val="0"/>
                        </a:spcAft>
                      </a:pPr>
                      <a:r>
                        <a:rPr lang="en-US" sz="1700" kern="100" dirty="0">
                          <a:solidFill>
                            <a:srgbClr val="FF0000"/>
                          </a:solidFill>
                          <a:effectLst/>
                          <a:latin typeface="微软雅黑" panose="020B0503020204020204" pitchFamily="34" charset="-122"/>
                          <a:ea typeface="微软雅黑" panose="020B0503020204020204" pitchFamily="34" charset="-122"/>
                        </a:rPr>
                        <a:t>100</a:t>
                      </a:r>
                      <a:endParaRPr lang="zh-CN" sz="1700" kern="100" dirty="0">
                        <a:solidFill>
                          <a:srgbClr val="FF0000"/>
                        </a:solidFill>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68580" marR="68580" marT="0" marB="0" anchor="ctr"/>
                </a:tc>
                <a:tc>
                  <a:txBody>
                    <a:bodyPr/>
                    <a:lstStyle/>
                    <a:p>
                      <a:pPr algn="ctr">
                        <a:spcAft>
                          <a:spcPts val="0"/>
                        </a:spcAft>
                      </a:pPr>
                      <a:r>
                        <a:rPr lang="en-US" sz="1700" kern="100" dirty="0">
                          <a:solidFill>
                            <a:srgbClr val="FF0000"/>
                          </a:solidFill>
                          <a:effectLst/>
                          <a:latin typeface="微软雅黑" panose="020B0503020204020204" pitchFamily="34" charset="-122"/>
                          <a:ea typeface="微软雅黑" panose="020B0503020204020204" pitchFamily="34" charset="-122"/>
                        </a:rPr>
                        <a:t>100</a:t>
                      </a:r>
                      <a:endParaRPr lang="zh-CN" sz="1700" kern="100" dirty="0">
                        <a:solidFill>
                          <a:srgbClr val="FF0000"/>
                        </a:solidFill>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68580" marR="68580" marT="0" marB="0" anchor="ctr"/>
                </a:tc>
                <a:tc>
                  <a:txBody>
                    <a:bodyPr/>
                    <a:lstStyle/>
                    <a:p>
                      <a:pPr algn="ctr">
                        <a:spcAft>
                          <a:spcPts val="0"/>
                        </a:spcAft>
                      </a:pPr>
                      <a:r>
                        <a:rPr lang="en-US" sz="1700" kern="100">
                          <a:solidFill>
                            <a:srgbClr val="FF0000"/>
                          </a:solidFill>
                          <a:effectLst/>
                          <a:latin typeface="微软雅黑" panose="020B0503020204020204" pitchFamily="34" charset="-122"/>
                          <a:ea typeface="微软雅黑" panose="020B0503020204020204" pitchFamily="34" charset="-122"/>
                        </a:rPr>
                        <a:t> 100</a:t>
                      </a:r>
                      <a:endParaRPr lang="zh-CN" sz="1700" kern="100">
                        <a:solidFill>
                          <a:srgbClr val="FF0000"/>
                        </a:solidFill>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68580" marR="68580" marT="0" marB="0" anchor="ctr"/>
                </a:tc>
                <a:tc>
                  <a:txBody>
                    <a:bodyPr/>
                    <a:lstStyle/>
                    <a:p>
                      <a:pPr algn="ctr">
                        <a:spcAft>
                          <a:spcPts val="0"/>
                        </a:spcAft>
                      </a:pPr>
                      <a:r>
                        <a:rPr lang="en-US" sz="1700" kern="100" dirty="0">
                          <a:solidFill>
                            <a:srgbClr val="FF0000"/>
                          </a:solidFill>
                          <a:effectLst/>
                          <a:latin typeface="微软雅黑" panose="020B0503020204020204" pitchFamily="34" charset="-122"/>
                          <a:ea typeface="微软雅黑" panose="020B0503020204020204" pitchFamily="34" charset="-122"/>
                        </a:rPr>
                        <a:t>100</a:t>
                      </a:r>
                      <a:endParaRPr lang="zh-CN" sz="1700" kern="100" dirty="0">
                        <a:solidFill>
                          <a:srgbClr val="FF0000"/>
                        </a:solidFill>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68580" marR="68580" marT="0" marB="0" anchor="ctr"/>
                </a:tc>
                <a:extLst>
                  <a:ext uri="{0D108BD9-81ED-4DB2-BD59-A6C34878D82A}">
                    <a16:rowId xmlns:a16="http://schemas.microsoft.com/office/drawing/2014/main" val="10005"/>
                  </a:ext>
                </a:extLst>
              </a:tr>
              <a:tr h="358487">
                <a:tc>
                  <a:txBody>
                    <a:bodyPr/>
                    <a:lstStyle/>
                    <a:p>
                      <a:pPr algn="ctr">
                        <a:spcAft>
                          <a:spcPts val="0"/>
                        </a:spcAft>
                      </a:pPr>
                      <a:r>
                        <a:rPr lang="en-US" sz="1700" kern="100">
                          <a:effectLst/>
                          <a:latin typeface="微软雅黑" panose="020B0503020204020204" pitchFamily="34" charset="-122"/>
                          <a:ea typeface="微软雅黑" panose="020B0503020204020204" pitchFamily="34" charset="-122"/>
                        </a:rPr>
                        <a:t>1930</a:t>
                      </a:r>
                      <a:endParaRPr lang="zh-CN" sz="1700" kern="100">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68580" marR="68580" marT="0" marB="0" anchor="ctr"/>
                </a:tc>
                <a:tc>
                  <a:txBody>
                    <a:bodyPr/>
                    <a:lstStyle/>
                    <a:p>
                      <a:pPr algn="ctr">
                        <a:spcAft>
                          <a:spcPts val="0"/>
                        </a:spcAft>
                      </a:pPr>
                      <a:r>
                        <a:rPr lang="en-US" sz="1700" kern="100">
                          <a:effectLst/>
                          <a:latin typeface="微软雅黑" panose="020B0503020204020204" pitchFamily="34" charset="-122"/>
                          <a:ea typeface="微软雅黑" panose="020B0503020204020204" pitchFamily="34" charset="-122"/>
                        </a:rPr>
                        <a:t>86</a:t>
                      </a:r>
                      <a:endParaRPr lang="zh-CN" sz="1700" kern="100">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68580" marR="68580" marT="0" marB="0" anchor="ctr"/>
                </a:tc>
                <a:tc>
                  <a:txBody>
                    <a:bodyPr/>
                    <a:lstStyle/>
                    <a:p>
                      <a:pPr algn="ctr">
                        <a:spcAft>
                          <a:spcPts val="0"/>
                        </a:spcAft>
                      </a:pPr>
                      <a:r>
                        <a:rPr lang="en-US" sz="1700" kern="100">
                          <a:effectLst/>
                          <a:latin typeface="微软雅黑" panose="020B0503020204020204" pitchFamily="34" charset="-122"/>
                          <a:ea typeface="微软雅黑" panose="020B0503020204020204" pitchFamily="34" charset="-122"/>
                        </a:rPr>
                        <a:t>95</a:t>
                      </a:r>
                      <a:endParaRPr lang="zh-CN" sz="1700" kern="100">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68580" marR="68580" marT="0" marB="0" anchor="ctr"/>
                </a:tc>
                <a:tc>
                  <a:txBody>
                    <a:bodyPr/>
                    <a:lstStyle/>
                    <a:p>
                      <a:pPr algn="ctr">
                        <a:spcAft>
                          <a:spcPts val="0"/>
                        </a:spcAft>
                      </a:pPr>
                      <a:r>
                        <a:rPr lang="en-US" sz="1700" kern="100">
                          <a:effectLst/>
                          <a:latin typeface="微软雅黑" panose="020B0503020204020204" pitchFamily="34" charset="-122"/>
                          <a:ea typeface="微软雅黑" panose="020B0503020204020204" pitchFamily="34" charset="-122"/>
                        </a:rPr>
                        <a:t>80</a:t>
                      </a:r>
                      <a:endParaRPr lang="zh-CN" sz="1700" kern="100">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68580" marR="68580" marT="0" marB="0" anchor="ctr"/>
                </a:tc>
                <a:tc>
                  <a:txBody>
                    <a:bodyPr/>
                    <a:lstStyle/>
                    <a:p>
                      <a:pPr algn="ctr">
                        <a:spcAft>
                          <a:spcPts val="0"/>
                        </a:spcAft>
                      </a:pPr>
                      <a:r>
                        <a:rPr lang="en-US" sz="1700" kern="100" dirty="0">
                          <a:effectLst/>
                          <a:latin typeface="微软雅黑" panose="020B0503020204020204" pitchFamily="34" charset="-122"/>
                          <a:ea typeface="微软雅黑" panose="020B0503020204020204" pitchFamily="34" charset="-122"/>
                        </a:rPr>
                        <a:t>92</a:t>
                      </a:r>
                      <a:endParaRPr lang="zh-CN" sz="1700" kern="100" dirty="0">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68580" marR="68580" marT="0" marB="0" anchor="ctr"/>
                </a:tc>
                <a:tc>
                  <a:txBody>
                    <a:bodyPr/>
                    <a:lstStyle/>
                    <a:p>
                      <a:pPr algn="ctr">
                        <a:spcAft>
                          <a:spcPts val="0"/>
                        </a:spcAft>
                      </a:pPr>
                      <a:r>
                        <a:rPr lang="en-US" sz="1700" kern="100" dirty="0">
                          <a:effectLst/>
                          <a:latin typeface="微软雅黑" panose="020B0503020204020204" pitchFamily="34" charset="-122"/>
                          <a:ea typeface="微软雅黑" panose="020B0503020204020204" pitchFamily="34" charset="-122"/>
                        </a:rPr>
                        <a:t>86</a:t>
                      </a:r>
                      <a:endParaRPr lang="zh-CN" sz="1700" kern="100" dirty="0">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68580" marR="68580" marT="0" marB="0" anchor="ctr"/>
                </a:tc>
                <a:tc>
                  <a:txBody>
                    <a:bodyPr/>
                    <a:lstStyle/>
                    <a:p>
                      <a:pPr algn="ctr">
                        <a:spcAft>
                          <a:spcPts val="0"/>
                        </a:spcAft>
                      </a:pPr>
                      <a:r>
                        <a:rPr lang="en-US" sz="1700" kern="100" dirty="0">
                          <a:effectLst/>
                          <a:latin typeface="微软雅黑" panose="020B0503020204020204" pitchFamily="34" charset="-122"/>
                          <a:ea typeface="微软雅黑" panose="020B0503020204020204" pitchFamily="34" charset="-122"/>
                        </a:rPr>
                        <a:t> 99</a:t>
                      </a:r>
                      <a:endParaRPr lang="zh-CN" sz="1700" kern="100" dirty="0">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68580" marR="68580" marT="0" marB="0" anchor="ctr"/>
                </a:tc>
                <a:tc>
                  <a:txBody>
                    <a:bodyPr/>
                    <a:lstStyle/>
                    <a:p>
                      <a:pPr algn="ctr">
                        <a:spcAft>
                          <a:spcPts val="0"/>
                        </a:spcAft>
                      </a:pPr>
                      <a:r>
                        <a:rPr lang="en-US" sz="1700" kern="100" dirty="0">
                          <a:effectLst/>
                          <a:latin typeface="微软雅黑" panose="020B0503020204020204" pitchFamily="34" charset="-122"/>
                          <a:ea typeface="微软雅黑" panose="020B0503020204020204" pitchFamily="34" charset="-122"/>
                        </a:rPr>
                        <a:t>85</a:t>
                      </a:r>
                      <a:endParaRPr lang="zh-CN" sz="1700" kern="100" dirty="0">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68580" marR="68580" marT="0" marB="0" anchor="ctr"/>
                </a:tc>
                <a:extLst>
                  <a:ext uri="{0D108BD9-81ED-4DB2-BD59-A6C34878D82A}">
                    <a16:rowId xmlns:a16="http://schemas.microsoft.com/office/drawing/2014/main" val="10006"/>
                  </a:ext>
                </a:extLst>
              </a:tr>
              <a:tr h="342582">
                <a:tc>
                  <a:txBody>
                    <a:bodyPr/>
                    <a:lstStyle/>
                    <a:p>
                      <a:pPr algn="ctr">
                        <a:spcAft>
                          <a:spcPts val="0"/>
                        </a:spcAft>
                      </a:pPr>
                      <a:r>
                        <a:rPr lang="en-US" sz="1700" kern="100">
                          <a:effectLst/>
                          <a:latin typeface="微软雅黑" panose="020B0503020204020204" pitchFamily="34" charset="-122"/>
                          <a:ea typeface="微软雅黑" panose="020B0503020204020204" pitchFamily="34" charset="-122"/>
                        </a:rPr>
                        <a:t>1931</a:t>
                      </a:r>
                      <a:endParaRPr lang="zh-CN" sz="1700" kern="100">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68580" marR="68580" marT="0" marB="0" anchor="ctr"/>
                </a:tc>
                <a:tc>
                  <a:txBody>
                    <a:bodyPr/>
                    <a:lstStyle/>
                    <a:p>
                      <a:pPr algn="ctr">
                        <a:spcAft>
                          <a:spcPts val="0"/>
                        </a:spcAft>
                      </a:pPr>
                      <a:r>
                        <a:rPr lang="en-US" sz="1700" kern="100">
                          <a:effectLst/>
                          <a:latin typeface="微软雅黑" panose="020B0503020204020204" pitchFamily="34" charset="-122"/>
                          <a:ea typeface="微软雅黑" panose="020B0503020204020204" pitchFamily="34" charset="-122"/>
                        </a:rPr>
                        <a:t>75</a:t>
                      </a:r>
                      <a:endParaRPr lang="zh-CN" sz="1700" kern="100">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68580" marR="68580" marT="0" marB="0" anchor="ctr"/>
                </a:tc>
                <a:tc>
                  <a:txBody>
                    <a:bodyPr/>
                    <a:lstStyle/>
                    <a:p>
                      <a:pPr algn="ctr">
                        <a:spcAft>
                          <a:spcPts val="0"/>
                        </a:spcAft>
                      </a:pPr>
                      <a:r>
                        <a:rPr lang="en-US" sz="1700" kern="100">
                          <a:effectLst/>
                          <a:latin typeface="微软雅黑" panose="020B0503020204020204" pitchFamily="34" charset="-122"/>
                          <a:ea typeface="微软雅黑" panose="020B0503020204020204" pitchFamily="34" charset="-122"/>
                        </a:rPr>
                        <a:t>92</a:t>
                      </a:r>
                      <a:endParaRPr lang="zh-CN" sz="1700" kern="100">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68580" marR="68580" marT="0" marB="0" anchor="ctr"/>
                </a:tc>
                <a:tc>
                  <a:txBody>
                    <a:bodyPr/>
                    <a:lstStyle/>
                    <a:p>
                      <a:pPr algn="ctr">
                        <a:spcAft>
                          <a:spcPts val="0"/>
                        </a:spcAft>
                      </a:pPr>
                      <a:r>
                        <a:rPr lang="en-US" sz="1700" kern="100">
                          <a:effectLst/>
                          <a:latin typeface="微软雅黑" panose="020B0503020204020204" pitchFamily="34" charset="-122"/>
                          <a:ea typeface="微软雅黑" panose="020B0503020204020204" pitchFamily="34" charset="-122"/>
                        </a:rPr>
                        <a:t>68</a:t>
                      </a:r>
                      <a:endParaRPr lang="zh-CN" sz="1700" kern="100">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68580" marR="68580" marT="0" marB="0" anchor="ctr"/>
                </a:tc>
                <a:tc>
                  <a:txBody>
                    <a:bodyPr/>
                    <a:lstStyle/>
                    <a:p>
                      <a:pPr algn="ctr">
                        <a:spcAft>
                          <a:spcPts val="0"/>
                        </a:spcAft>
                      </a:pPr>
                      <a:r>
                        <a:rPr lang="en-US" sz="1700" kern="100">
                          <a:effectLst/>
                          <a:latin typeface="微软雅黑" panose="020B0503020204020204" pitchFamily="34" charset="-122"/>
                          <a:ea typeface="微软雅黑" panose="020B0503020204020204" pitchFamily="34" charset="-122"/>
                        </a:rPr>
                        <a:t>84</a:t>
                      </a:r>
                      <a:endParaRPr lang="zh-CN" sz="1700" kern="100">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68580" marR="68580" marT="0" marB="0" anchor="ctr"/>
                </a:tc>
                <a:tc>
                  <a:txBody>
                    <a:bodyPr/>
                    <a:lstStyle/>
                    <a:p>
                      <a:pPr algn="ctr">
                        <a:spcAft>
                          <a:spcPts val="0"/>
                        </a:spcAft>
                      </a:pPr>
                      <a:r>
                        <a:rPr lang="en-US" sz="1700" kern="100">
                          <a:effectLst/>
                          <a:latin typeface="微软雅黑" panose="020B0503020204020204" pitchFamily="34" charset="-122"/>
                          <a:ea typeface="微软雅黑" panose="020B0503020204020204" pitchFamily="34" charset="-122"/>
                        </a:rPr>
                        <a:t>68</a:t>
                      </a:r>
                      <a:endParaRPr lang="zh-CN" sz="1700" kern="100">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68580" marR="68580" marT="0" marB="0" anchor="ctr"/>
                </a:tc>
                <a:tc>
                  <a:txBody>
                    <a:bodyPr/>
                    <a:lstStyle/>
                    <a:p>
                      <a:pPr algn="ctr">
                        <a:spcAft>
                          <a:spcPts val="0"/>
                        </a:spcAft>
                      </a:pPr>
                      <a:r>
                        <a:rPr lang="en-US" sz="1700" kern="100" dirty="0">
                          <a:effectLst/>
                          <a:latin typeface="微软雅黑" panose="020B0503020204020204" pitchFamily="34" charset="-122"/>
                          <a:ea typeface="微软雅黑" panose="020B0503020204020204" pitchFamily="34" charset="-122"/>
                        </a:rPr>
                        <a:t> 86</a:t>
                      </a:r>
                      <a:endParaRPr lang="zh-CN" sz="1700" kern="100" dirty="0">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68580" marR="68580" marT="0" marB="0" anchor="ctr"/>
                </a:tc>
                <a:tc>
                  <a:txBody>
                    <a:bodyPr/>
                    <a:lstStyle/>
                    <a:p>
                      <a:pPr algn="ctr">
                        <a:spcAft>
                          <a:spcPts val="0"/>
                        </a:spcAft>
                      </a:pPr>
                      <a:r>
                        <a:rPr lang="en-US" sz="1700" kern="100">
                          <a:effectLst/>
                          <a:latin typeface="微软雅黑" panose="020B0503020204020204" pitchFamily="34" charset="-122"/>
                          <a:ea typeface="微软雅黑" panose="020B0503020204020204" pitchFamily="34" charset="-122"/>
                        </a:rPr>
                        <a:t>71</a:t>
                      </a:r>
                      <a:endParaRPr lang="zh-CN" sz="1700" kern="100">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68580" marR="68580" marT="0" marB="0" anchor="ctr"/>
                </a:tc>
                <a:extLst>
                  <a:ext uri="{0D108BD9-81ED-4DB2-BD59-A6C34878D82A}">
                    <a16:rowId xmlns:a16="http://schemas.microsoft.com/office/drawing/2014/main" val="10007"/>
                  </a:ext>
                </a:extLst>
              </a:tr>
              <a:tr h="358487">
                <a:tc>
                  <a:txBody>
                    <a:bodyPr/>
                    <a:lstStyle/>
                    <a:p>
                      <a:pPr algn="ctr">
                        <a:spcAft>
                          <a:spcPts val="0"/>
                        </a:spcAft>
                      </a:pPr>
                      <a:r>
                        <a:rPr lang="en-US" sz="1700" kern="100">
                          <a:effectLst/>
                          <a:latin typeface="微软雅黑" panose="020B0503020204020204" pitchFamily="34" charset="-122"/>
                          <a:ea typeface="微软雅黑" panose="020B0503020204020204" pitchFamily="34" charset="-122"/>
                        </a:rPr>
                        <a:t>1932</a:t>
                      </a:r>
                      <a:endParaRPr lang="zh-CN" sz="1700" kern="100">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68580" marR="68580" marT="0" marB="0" anchor="ctr"/>
                </a:tc>
                <a:tc>
                  <a:txBody>
                    <a:bodyPr/>
                    <a:lstStyle/>
                    <a:p>
                      <a:pPr algn="ctr">
                        <a:spcAft>
                          <a:spcPts val="0"/>
                        </a:spcAft>
                      </a:pPr>
                      <a:r>
                        <a:rPr lang="en-US" sz="1700" kern="100">
                          <a:effectLst/>
                          <a:latin typeface="微软雅黑" panose="020B0503020204020204" pitchFamily="34" charset="-122"/>
                          <a:ea typeface="微软雅黑" panose="020B0503020204020204" pitchFamily="34" charset="-122"/>
                        </a:rPr>
                        <a:t>64</a:t>
                      </a:r>
                      <a:endParaRPr lang="zh-CN" sz="1700" kern="100">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68580" marR="68580" marT="0" marB="0" anchor="ctr"/>
                </a:tc>
                <a:tc>
                  <a:txBody>
                    <a:bodyPr/>
                    <a:lstStyle/>
                    <a:p>
                      <a:pPr algn="ctr">
                        <a:spcAft>
                          <a:spcPts val="0"/>
                        </a:spcAft>
                      </a:pPr>
                      <a:r>
                        <a:rPr lang="en-US" sz="1700" kern="100">
                          <a:effectLst/>
                          <a:latin typeface="微软雅黑" panose="020B0503020204020204" pitchFamily="34" charset="-122"/>
                          <a:ea typeface="微软雅黑" panose="020B0503020204020204" pitchFamily="34" charset="-122"/>
                        </a:rPr>
                        <a:t>98</a:t>
                      </a:r>
                      <a:endParaRPr lang="zh-CN" sz="1700" kern="100">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68580" marR="68580" marT="0" marB="0" anchor="ctr"/>
                </a:tc>
                <a:tc>
                  <a:txBody>
                    <a:bodyPr/>
                    <a:lstStyle/>
                    <a:p>
                      <a:pPr algn="ctr">
                        <a:spcAft>
                          <a:spcPts val="0"/>
                        </a:spcAft>
                      </a:pPr>
                      <a:r>
                        <a:rPr lang="en-US" sz="1700" kern="100">
                          <a:effectLst/>
                          <a:latin typeface="微软雅黑" panose="020B0503020204020204" pitchFamily="34" charset="-122"/>
                          <a:ea typeface="微软雅黑" panose="020B0503020204020204" pitchFamily="34" charset="-122"/>
                        </a:rPr>
                        <a:t>54</a:t>
                      </a:r>
                      <a:endParaRPr lang="zh-CN" sz="1700" kern="100">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68580" marR="68580" marT="0" marB="0" anchor="ctr"/>
                </a:tc>
                <a:tc>
                  <a:txBody>
                    <a:bodyPr/>
                    <a:lstStyle/>
                    <a:p>
                      <a:pPr algn="ctr">
                        <a:spcAft>
                          <a:spcPts val="0"/>
                        </a:spcAft>
                      </a:pPr>
                      <a:r>
                        <a:rPr lang="en-US" sz="1700" kern="100">
                          <a:effectLst/>
                          <a:latin typeface="微软雅黑" panose="020B0503020204020204" pitchFamily="34" charset="-122"/>
                          <a:ea typeface="微软雅黑" panose="020B0503020204020204" pitchFamily="34" charset="-122"/>
                        </a:rPr>
                        <a:t>83</a:t>
                      </a:r>
                      <a:endParaRPr lang="zh-CN" sz="1700" kern="100">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68580" marR="68580" marT="0" marB="0" anchor="ctr"/>
                </a:tc>
                <a:tc>
                  <a:txBody>
                    <a:bodyPr/>
                    <a:lstStyle/>
                    <a:p>
                      <a:pPr algn="ctr">
                        <a:spcAft>
                          <a:spcPts val="0"/>
                        </a:spcAft>
                      </a:pPr>
                      <a:r>
                        <a:rPr lang="en-US" sz="1700" kern="100">
                          <a:effectLst/>
                          <a:latin typeface="微软雅黑" panose="020B0503020204020204" pitchFamily="34" charset="-122"/>
                          <a:ea typeface="微软雅黑" panose="020B0503020204020204" pitchFamily="34" charset="-122"/>
                        </a:rPr>
                        <a:t>53</a:t>
                      </a:r>
                      <a:endParaRPr lang="zh-CN" sz="1700" kern="100">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68580" marR="68580" marT="0" marB="0" anchor="ctr"/>
                </a:tc>
                <a:tc>
                  <a:txBody>
                    <a:bodyPr/>
                    <a:lstStyle/>
                    <a:p>
                      <a:pPr algn="ctr">
                        <a:spcAft>
                          <a:spcPts val="0"/>
                        </a:spcAft>
                      </a:pPr>
                      <a:r>
                        <a:rPr lang="en-US" sz="1700" kern="100" dirty="0">
                          <a:effectLst/>
                          <a:latin typeface="微软雅黑" panose="020B0503020204020204" pitchFamily="34" charset="-122"/>
                          <a:ea typeface="微软雅黑" panose="020B0503020204020204" pitchFamily="34" charset="-122"/>
                        </a:rPr>
                        <a:t> 72</a:t>
                      </a:r>
                      <a:endParaRPr lang="zh-CN" sz="1700" kern="100" dirty="0">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68580" marR="68580" marT="0" marB="0" anchor="ctr"/>
                </a:tc>
                <a:tc>
                  <a:txBody>
                    <a:bodyPr/>
                    <a:lstStyle/>
                    <a:p>
                      <a:pPr algn="ctr">
                        <a:spcAft>
                          <a:spcPts val="0"/>
                        </a:spcAft>
                      </a:pPr>
                      <a:r>
                        <a:rPr lang="en-US" sz="1700" kern="100">
                          <a:effectLst/>
                          <a:latin typeface="微软雅黑" panose="020B0503020204020204" pitchFamily="34" charset="-122"/>
                          <a:ea typeface="微软雅黑" panose="020B0503020204020204" pitchFamily="34" charset="-122"/>
                        </a:rPr>
                        <a:t>58</a:t>
                      </a:r>
                      <a:endParaRPr lang="zh-CN" sz="1700" kern="100">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68580" marR="68580" marT="0" marB="0" anchor="ctr"/>
                </a:tc>
                <a:extLst>
                  <a:ext uri="{0D108BD9-81ED-4DB2-BD59-A6C34878D82A}">
                    <a16:rowId xmlns:a16="http://schemas.microsoft.com/office/drawing/2014/main" val="10008"/>
                  </a:ext>
                </a:extLst>
              </a:tr>
              <a:tr h="342582">
                <a:tc>
                  <a:txBody>
                    <a:bodyPr/>
                    <a:lstStyle/>
                    <a:p>
                      <a:pPr algn="ctr">
                        <a:spcAft>
                          <a:spcPts val="0"/>
                        </a:spcAft>
                      </a:pPr>
                      <a:r>
                        <a:rPr lang="en-US" sz="1700" kern="100">
                          <a:effectLst/>
                          <a:latin typeface="微软雅黑" panose="020B0503020204020204" pitchFamily="34" charset="-122"/>
                          <a:ea typeface="微软雅黑" panose="020B0503020204020204" pitchFamily="34" charset="-122"/>
                        </a:rPr>
                        <a:t>1933</a:t>
                      </a:r>
                      <a:endParaRPr lang="zh-CN" sz="1700" kern="100">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68580" marR="68580" marT="0" marB="0" anchor="ctr"/>
                </a:tc>
                <a:tc>
                  <a:txBody>
                    <a:bodyPr/>
                    <a:lstStyle/>
                    <a:p>
                      <a:pPr algn="ctr">
                        <a:spcAft>
                          <a:spcPts val="0"/>
                        </a:spcAft>
                      </a:pPr>
                      <a:r>
                        <a:rPr lang="en-US" sz="1700" kern="100">
                          <a:effectLst/>
                          <a:latin typeface="微软雅黑" panose="020B0503020204020204" pitchFamily="34" charset="-122"/>
                          <a:ea typeface="微软雅黑" panose="020B0503020204020204" pitchFamily="34" charset="-122"/>
                        </a:rPr>
                        <a:t>72</a:t>
                      </a:r>
                      <a:endParaRPr lang="zh-CN" sz="1700" kern="100">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68580" marR="68580" marT="0" marB="0" anchor="ctr"/>
                </a:tc>
                <a:tc>
                  <a:txBody>
                    <a:bodyPr/>
                    <a:lstStyle/>
                    <a:p>
                      <a:pPr algn="ctr">
                        <a:spcAft>
                          <a:spcPts val="0"/>
                        </a:spcAft>
                      </a:pPr>
                      <a:r>
                        <a:rPr lang="en-US" sz="1700" kern="100">
                          <a:effectLst/>
                          <a:latin typeface="微软雅黑" panose="020B0503020204020204" pitchFamily="34" charset="-122"/>
                          <a:ea typeface="微软雅黑" panose="020B0503020204020204" pitchFamily="34" charset="-122"/>
                        </a:rPr>
                        <a:t>113</a:t>
                      </a:r>
                      <a:endParaRPr lang="zh-CN" sz="1700" kern="100">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68580" marR="68580" marT="0" marB="0" anchor="ctr"/>
                </a:tc>
                <a:tc>
                  <a:txBody>
                    <a:bodyPr/>
                    <a:lstStyle/>
                    <a:p>
                      <a:pPr algn="ctr">
                        <a:spcAft>
                          <a:spcPts val="0"/>
                        </a:spcAft>
                      </a:pPr>
                      <a:r>
                        <a:rPr lang="en-US" sz="1700" kern="100">
                          <a:effectLst/>
                          <a:latin typeface="微软雅黑" panose="020B0503020204020204" pitchFamily="34" charset="-122"/>
                          <a:ea typeface="微软雅黑" panose="020B0503020204020204" pitchFamily="34" charset="-122"/>
                        </a:rPr>
                        <a:t>64</a:t>
                      </a:r>
                      <a:endParaRPr lang="zh-CN" sz="1700" kern="100">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68580" marR="68580" marT="0" marB="0" anchor="ctr"/>
                </a:tc>
                <a:tc>
                  <a:txBody>
                    <a:bodyPr/>
                    <a:lstStyle/>
                    <a:p>
                      <a:pPr algn="ctr">
                        <a:spcAft>
                          <a:spcPts val="0"/>
                        </a:spcAft>
                      </a:pPr>
                      <a:r>
                        <a:rPr lang="en-US" sz="1700" kern="100">
                          <a:effectLst/>
                          <a:latin typeface="微软雅黑" panose="020B0503020204020204" pitchFamily="34" charset="-122"/>
                          <a:ea typeface="微软雅黑" panose="020B0503020204020204" pitchFamily="34" charset="-122"/>
                        </a:rPr>
                        <a:t>88</a:t>
                      </a:r>
                      <a:endParaRPr lang="zh-CN" sz="1700" kern="100">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68580" marR="68580" marT="0" marB="0" anchor="ctr"/>
                </a:tc>
                <a:tc>
                  <a:txBody>
                    <a:bodyPr/>
                    <a:lstStyle/>
                    <a:p>
                      <a:pPr algn="ctr">
                        <a:spcAft>
                          <a:spcPts val="0"/>
                        </a:spcAft>
                      </a:pPr>
                      <a:r>
                        <a:rPr lang="en-US" sz="1700" kern="100">
                          <a:effectLst/>
                          <a:latin typeface="微软雅黑" panose="020B0503020204020204" pitchFamily="34" charset="-122"/>
                          <a:ea typeface="微软雅黑" panose="020B0503020204020204" pitchFamily="34" charset="-122"/>
                        </a:rPr>
                        <a:t>61</a:t>
                      </a:r>
                      <a:endParaRPr lang="zh-CN" sz="1700" kern="100">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68580" marR="68580" marT="0" marB="0" anchor="ctr"/>
                </a:tc>
                <a:tc>
                  <a:txBody>
                    <a:bodyPr/>
                    <a:lstStyle/>
                    <a:p>
                      <a:pPr algn="ctr">
                        <a:spcAft>
                          <a:spcPts val="0"/>
                        </a:spcAft>
                      </a:pPr>
                      <a:r>
                        <a:rPr lang="en-US" sz="1700" kern="100" dirty="0">
                          <a:effectLst/>
                          <a:latin typeface="微软雅黑" panose="020B0503020204020204" pitchFamily="34" charset="-122"/>
                          <a:ea typeface="微软雅黑" panose="020B0503020204020204" pitchFamily="34" charset="-122"/>
                        </a:rPr>
                        <a:t> 81</a:t>
                      </a:r>
                      <a:endParaRPr lang="zh-CN" sz="1700" kern="100" dirty="0">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68580" marR="68580" marT="0" marB="0" anchor="ctr"/>
                </a:tc>
                <a:tc>
                  <a:txBody>
                    <a:bodyPr/>
                    <a:lstStyle/>
                    <a:p>
                      <a:pPr algn="ctr">
                        <a:spcAft>
                          <a:spcPts val="0"/>
                        </a:spcAft>
                      </a:pPr>
                      <a:r>
                        <a:rPr lang="en-US" sz="1700" kern="100">
                          <a:effectLst/>
                          <a:latin typeface="微软雅黑" panose="020B0503020204020204" pitchFamily="34" charset="-122"/>
                          <a:ea typeface="微软雅黑" panose="020B0503020204020204" pitchFamily="34" charset="-122"/>
                        </a:rPr>
                        <a:t>60</a:t>
                      </a:r>
                      <a:endParaRPr lang="zh-CN" sz="1700" kern="100">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68580" marR="68580" marT="0" marB="0" anchor="ctr"/>
                </a:tc>
                <a:extLst>
                  <a:ext uri="{0D108BD9-81ED-4DB2-BD59-A6C34878D82A}">
                    <a16:rowId xmlns:a16="http://schemas.microsoft.com/office/drawing/2014/main" val="10009"/>
                  </a:ext>
                </a:extLst>
              </a:tr>
              <a:tr h="358487">
                <a:tc>
                  <a:txBody>
                    <a:bodyPr/>
                    <a:lstStyle/>
                    <a:p>
                      <a:pPr algn="ctr">
                        <a:spcAft>
                          <a:spcPts val="0"/>
                        </a:spcAft>
                      </a:pPr>
                      <a:r>
                        <a:rPr lang="en-US" sz="1700" kern="100">
                          <a:effectLst/>
                          <a:latin typeface="微软雅黑" panose="020B0503020204020204" pitchFamily="34" charset="-122"/>
                          <a:ea typeface="微软雅黑" panose="020B0503020204020204" pitchFamily="34" charset="-122"/>
                        </a:rPr>
                        <a:t>1934</a:t>
                      </a:r>
                      <a:endParaRPr lang="zh-CN" sz="1700" kern="100">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68580" marR="68580" marT="0" marB="0" anchor="ctr"/>
                </a:tc>
                <a:tc>
                  <a:txBody>
                    <a:bodyPr/>
                    <a:lstStyle/>
                    <a:p>
                      <a:pPr algn="ctr">
                        <a:spcAft>
                          <a:spcPts val="0"/>
                        </a:spcAft>
                      </a:pPr>
                      <a:r>
                        <a:rPr lang="en-US" sz="1700" kern="100">
                          <a:effectLst/>
                          <a:latin typeface="微软雅黑" panose="020B0503020204020204" pitchFamily="34" charset="-122"/>
                          <a:ea typeface="微软雅黑" panose="020B0503020204020204" pitchFamily="34" charset="-122"/>
                        </a:rPr>
                        <a:t>78</a:t>
                      </a:r>
                      <a:endParaRPr lang="zh-CN" sz="1700" kern="100">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68580" marR="68580" marT="0" marB="0" anchor="ctr"/>
                </a:tc>
                <a:tc>
                  <a:txBody>
                    <a:bodyPr/>
                    <a:lstStyle/>
                    <a:p>
                      <a:pPr algn="ctr">
                        <a:spcAft>
                          <a:spcPts val="0"/>
                        </a:spcAft>
                      </a:pPr>
                      <a:r>
                        <a:rPr lang="en-US" sz="1700" kern="100">
                          <a:effectLst/>
                          <a:latin typeface="微软雅黑" panose="020B0503020204020204" pitchFamily="34" charset="-122"/>
                          <a:ea typeface="微软雅黑" panose="020B0503020204020204" pitchFamily="34" charset="-122"/>
                        </a:rPr>
                        <a:t>129</a:t>
                      </a:r>
                      <a:endParaRPr lang="zh-CN" sz="1700" kern="100">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68580" marR="68580" marT="0" marB="0" anchor="ctr"/>
                </a:tc>
                <a:tc>
                  <a:txBody>
                    <a:bodyPr/>
                    <a:lstStyle/>
                    <a:p>
                      <a:pPr algn="ctr">
                        <a:spcAft>
                          <a:spcPts val="0"/>
                        </a:spcAft>
                      </a:pPr>
                      <a:r>
                        <a:rPr lang="en-US" sz="1700" kern="100">
                          <a:effectLst/>
                          <a:latin typeface="微软雅黑" panose="020B0503020204020204" pitchFamily="34" charset="-122"/>
                          <a:ea typeface="微软雅黑" panose="020B0503020204020204" pitchFamily="34" charset="-122"/>
                        </a:rPr>
                        <a:t>66</a:t>
                      </a:r>
                      <a:endParaRPr lang="zh-CN" sz="1700" kern="100">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68580" marR="68580" marT="0" marB="0" anchor="ctr"/>
                </a:tc>
                <a:tc>
                  <a:txBody>
                    <a:bodyPr/>
                    <a:lstStyle/>
                    <a:p>
                      <a:pPr algn="ctr">
                        <a:spcAft>
                          <a:spcPts val="0"/>
                        </a:spcAft>
                      </a:pPr>
                      <a:r>
                        <a:rPr lang="en-US" sz="1700" kern="100">
                          <a:effectLst/>
                          <a:latin typeface="微软雅黑" panose="020B0503020204020204" pitchFamily="34" charset="-122"/>
                          <a:ea typeface="微软雅黑" panose="020B0503020204020204" pitchFamily="34" charset="-122"/>
                        </a:rPr>
                        <a:t>99</a:t>
                      </a:r>
                      <a:endParaRPr lang="zh-CN" sz="1700" kern="100">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68580" marR="68580" marT="0" marB="0" anchor="ctr"/>
                </a:tc>
                <a:tc>
                  <a:txBody>
                    <a:bodyPr/>
                    <a:lstStyle/>
                    <a:p>
                      <a:pPr algn="ctr">
                        <a:spcAft>
                          <a:spcPts val="0"/>
                        </a:spcAft>
                      </a:pPr>
                      <a:r>
                        <a:rPr lang="en-US" sz="1700" kern="100">
                          <a:effectLst/>
                          <a:latin typeface="微软雅黑" panose="020B0503020204020204" pitchFamily="34" charset="-122"/>
                          <a:ea typeface="微软雅黑" panose="020B0503020204020204" pitchFamily="34" charset="-122"/>
                        </a:rPr>
                        <a:t>80</a:t>
                      </a:r>
                      <a:endParaRPr lang="zh-CN" sz="1700" kern="100">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68580" marR="68580" marT="0" marB="0" anchor="ctr"/>
                </a:tc>
                <a:tc>
                  <a:txBody>
                    <a:bodyPr/>
                    <a:lstStyle/>
                    <a:p>
                      <a:pPr algn="ctr">
                        <a:spcAft>
                          <a:spcPts val="0"/>
                        </a:spcAft>
                      </a:pPr>
                      <a:r>
                        <a:rPr lang="en-US" sz="1700" kern="100">
                          <a:effectLst/>
                          <a:latin typeface="微软雅黑" panose="020B0503020204020204" pitchFamily="34" charset="-122"/>
                          <a:ea typeface="微软雅黑" panose="020B0503020204020204" pitchFamily="34" charset="-122"/>
                        </a:rPr>
                        <a:t> 75</a:t>
                      </a:r>
                      <a:endParaRPr lang="zh-CN" sz="1700" kern="100">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68580" marR="68580" marT="0" marB="0" anchor="ctr"/>
                </a:tc>
                <a:tc>
                  <a:txBody>
                    <a:bodyPr/>
                    <a:lstStyle/>
                    <a:p>
                      <a:pPr algn="ctr">
                        <a:spcAft>
                          <a:spcPts val="0"/>
                        </a:spcAft>
                      </a:pPr>
                      <a:r>
                        <a:rPr lang="en-US" sz="1700" kern="100" dirty="0">
                          <a:effectLst/>
                          <a:latin typeface="微软雅黑" panose="020B0503020204020204" pitchFamily="34" charset="-122"/>
                          <a:ea typeface="微软雅黑" panose="020B0503020204020204" pitchFamily="34" charset="-122"/>
                        </a:rPr>
                        <a:t>74</a:t>
                      </a:r>
                      <a:endParaRPr lang="zh-CN" sz="1700" kern="100" dirty="0">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68580" marR="68580" marT="0" marB="0" anchor="ctr"/>
                </a:tc>
                <a:extLst>
                  <a:ext uri="{0D108BD9-81ED-4DB2-BD59-A6C34878D82A}">
                    <a16:rowId xmlns:a16="http://schemas.microsoft.com/office/drawing/2014/main" val="10010"/>
                  </a:ext>
                </a:extLst>
              </a:tr>
              <a:tr h="342582">
                <a:tc>
                  <a:txBody>
                    <a:bodyPr/>
                    <a:lstStyle/>
                    <a:p>
                      <a:pPr algn="ctr">
                        <a:spcAft>
                          <a:spcPts val="0"/>
                        </a:spcAft>
                      </a:pPr>
                      <a:r>
                        <a:rPr lang="en-US" sz="1700" kern="100">
                          <a:effectLst/>
                          <a:latin typeface="微软雅黑" panose="020B0503020204020204" pitchFamily="34" charset="-122"/>
                          <a:ea typeface="微软雅黑" panose="020B0503020204020204" pitchFamily="34" charset="-122"/>
                        </a:rPr>
                        <a:t>1935</a:t>
                      </a:r>
                      <a:endParaRPr lang="zh-CN" sz="1700" kern="100">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68580" marR="68580" marT="0" marB="0" anchor="ctr"/>
                </a:tc>
                <a:tc>
                  <a:txBody>
                    <a:bodyPr/>
                    <a:lstStyle/>
                    <a:p>
                      <a:pPr algn="ctr">
                        <a:spcAft>
                          <a:spcPts val="0"/>
                        </a:spcAft>
                      </a:pPr>
                      <a:r>
                        <a:rPr lang="en-US" sz="1700" kern="100">
                          <a:effectLst/>
                          <a:latin typeface="微软雅黑" panose="020B0503020204020204" pitchFamily="34" charset="-122"/>
                          <a:ea typeface="微软雅黑" panose="020B0503020204020204" pitchFamily="34" charset="-122"/>
                        </a:rPr>
                        <a:t>86</a:t>
                      </a:r>
                      <a:endParaRPr lang="zh-CN" sz="1700" kern="100">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68580" marR="68580" marT="0" marB="0" anchor="ctr"/>
                </a:tc>
                <a:tc>
                  <a:txBody>
                    <a:bodyPr/>
                    <a:lstStyle/>
                    <a:p>
                      <a:pPr algn="ctr">
                        <a:spcAft>
                          <a:spcPts val="0"/>
                        </a:spcAft>
                      </a:pPr>
                      <a:r>
                        <a:rPr lang="en-US" sz="1700" kern="100">
                          <a:effectLst/>
                          <a:latin typeface="微软雅黑" panose="020B0503020204020204" pitchFamily="34" charset="-122"/>
                          <a:ea typeface="微软雅黑" panose="020B0503020204020204" pitchFamily="34" charset="-122"/>
                        </a:rPr>
                        <a:t>142</a:t>
                      </a:r>
                      <a:endParaRPr lang="zh-CN" sz="1700" kern="100">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68580" marR="68580" marT="0" marB="0" anchor="ctr"/>
                </a:tc>
                <a:tc>
                  <a:txBody>
                    <a:bodyPr/>
                    <a:lstStyle/>
                    <a:p>
                      <a:pPr algn="ctr">
                        <a:spcAft>
                          <a:spcPts val="0"/>
                        </a:spcAft>
                      </a:pPr>
                      <a:r>
                        <a:rPr lang="en-US" sz="1700" kern="100">
                          <a:effectLst/>
                          <a:latin typeface="微软雅黑" panose="020B0503020204020204" pitchFamily="34" charset="-122"/>
                          <a:ea typeface="微软雅黑" panose="020B0503020204020204" pitchFamily="34" charset="-122"/>
                        </a:rPr>
                        <a:t>76</a:t>
                      </a:r>
                      <a:endParaRPr lang="zh-CN" sz="1700" kern="100">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68580" marR="68580" marT="0" marB="0" anchor="ctr"/>
                </a:tc>
                <a:tc>
                  <a:txBody>
                    <a:bodyPr/>
                    <a:lstStyle/>
                    <a:p>
                      <a:pPr algn="ctr">
                        <a:spcAft>
                          <a:spcPts val="0"/>
                        </a:spcAft>
                      </a:pPr>
                      <a:r>
                        <a:rPr lang="en-US" sz="1700" kern="100">
                          <a:effectLst/>
                          <a:latin typeface="微软雅黑" panose="020B0503020204020204" pitchFamily="34" charset="-122"/>
                          <a:ea typeface="微软雅黑" panose="020B0503020204020204" pitchFamily="34" charset="-122"/>
                        </a:rPr>
                        <a:t>106</a:t>
                      </a:r>
                      <a:endParaRPr lang="zh-CN" sz="1700" kern="100">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68580" marR="68580" marT="0" marB="0" anchor="ctr"/>
                </a:tc>
                <a:tc>
                  <a:txBody>
                    <a:bodyPr/>
                    <a:lstStyle/>
                    <a:p>
                      <a:pPr algn="ctr">
                        <a:spcAft>
                          <a:spcPts val="0"/>
                        </a:spcAft>
                      </a:pPr>
                      <a:r>
                        <a:rPr lang="en-US" sz="1700" kern="100">
                          <a:effectLst/>
                          <a:latin typeface="微软雅黑" panose="020B0503020204020204" pitchFamily="34" charset="-122"/>
                          <a:ea typeface="微软雅黑" panose="020B0503020204020204" pitchFamily="34" charset="-122"/>
                        </a:rPr>
                        <a:t>94</a:t>
                      </a:r>
                      <a:endParaRPr lang="zh-CN" sz="1700" kern="100">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68580" marR="68580" marT="0" marB="0" anchor="ctr"/>
                </a:tc>
                <a:tc>
                  <a:txBody>
                    <a:bodyPr/>
                    <a:lstStyle/>
                    <a:p>
                      <a:pPr algn="ctr">
                        <a:spcAft>
                          <a:spcPts val="0"/>
                        </a:spcAft>
                      </a:pPr>
                      <a:r>
                        <a:rPr lang="en-US" sz="1700" kern="100">
                          <a:effectLst/>
                          <a:latin typeface="微软雅黑" panose="020B0503020204020204" pitchFamily="34" charset="-122"/>
                          <a:ea typeface="微软雅黑" panose="020B0503020204020204" pitchFamily="34" charset="-122"/>
                        </a:rPr>
                        <a:t> 72</a:t>
                      </a:r>
                      <a:endParaRPr lang="zh-CN" sz="1700" kern="100">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68580" marR="68580" marT="0" marB="0" anchor="ctr"/>
                </a:tc>
                <a:tc>
                  <a:txBody>
                    <a:bodyPr/>
                    <a:lstStyle/>
                    <a:p>
                      <a:pPr algn="ctr">
                        <a:spcAft>
                          <a:spcPts val="0"/>
                        </a:spcAft>
                      </a:pPr>
                      <a:r>
                        <a:rPr lang="en-US" sz="1700" kern="100" dirty="0">
                          <a:effectLst/>
                          <a:latin typeface="微软雅黑" panose="020B0503020204020204" pitchFamily="34" charset="-122"/>
                          <a:ea typeface="微软雅黑" panose="020B0503020204020204" pitchFamily="34" charset="-122"/>
                        </a:rPr>
                        <a:t>82</a:t>
                      </a:r>
                      <a:endParaRPr lang="zh-CN" sz="1700" kern="100" dirty="0">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68580" marR="68580" marT="0" marB="0" anchor="ctr"/>
                </a:tc>
                <a:extLst>
                  <a:ext uri="{0D108BD9-81ED-4DB2-BD59-A6C34878D82A}">
                    <a16:rowId xmlns:a16="http://schemas.microsoft.com/office/drawing/2014/main" val="10011"/>
                  </a:ext>
                </a:extLst>
              </a:tr>
              <a:tr h="358487">
                <a:tc>
                  <a:txBody>
                    <a:bodyPr/>
                    <a:lstStyle/>
                    <a:p>
                      <a:pPr algn="ctr">
                        <a:spcAft>
                          <a:spcPts val="0"/>
                        </a:spcAft>
                      </a:pPr>
                      <a:r>
                        <a:rPr lang="en-US" sz="1700" kern="100">
                          <a:effectLst/>
                          <a:latin typeface="微软雅黑" panose="020B0503020204020204" pitchFamily="34" charset="-122"/>
                          <a:ea typeface="微软雅黑" panose="020B0503020204020204" pitchFamily="34" charset="-122"/>
                        </a:rPr>
                        <a:t>1936</a:t>
                      </a:r>
                      <a:endParaRPr lang="zh-CN" sz="1700" kern="100">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68580" marR="68580" marT="0" marB="0" anchor="ctr"/>
                </a:tc>
                <a:tc>
                  <a:txBody>
                    <a:bodyPr/>
                    <a:lstStyle/>
                    <a:p>
                      <a:pPr algn="ctr">
                        <a:spcAft>
                          <a:spcPts val="0"/>
                        </a:spcAft>
                      </a:pPr>
                      <a:r>
                        <a:rPr lang="en-US" sz="1700" kern="100">
                          <a:effectLst/>
                          <a:latin typeface="微软雅黑" panose="020B0503020204020204" pitchFamily="34" charset="-122"/>
                          <a:ea typeface="微软雅黑" panose="020B0503020204020204" pitchFamily="34" charset="-122"/>
                        </a:rPr>
                        <a:t>96</a:t>
                      </a:r>
                      <a:endParaRPr lang="zh-CN" sz="1700" kern="100">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68580" marR="68580" marT="0" marB="0" anchor="ctr"/>
                </a:tc>
                <a:tc>
                  <a:txBody>
                    <a:bodyPr/>
                    <a:lstStyle/>
                    <a:p>
                      <a:pPr algn="ctr">
                        <a:spcAft>
                          <a:spcPts val="0"/>
                        </a:spcAft>
                      </a:pPr>
                      <a:r>
                        <a:rPr lang="en-US" sz="1700" kern="100">
                          <a:effectLst/>
                          <a:latin typeface="微软雅黑" panose="020B0503020204020204" pitchFamily="34" charset="-122"/>
                          <a:ea typeface="微软雅黑" panose="020B0503020204020204" pitchFamily="34" charset="-122"/>
                        </a:rPr>
                        <a:t>151</a:t>
                      </a:r>
                      <a:endParaRPr lang="zh-CN" sz="1700" kern="100">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68580" marR="68580" marT="0" marB="0" anchor="ctr"/>
                </a:tc>
                <a:tc>
                  <a:txBody>
                    <a:bodyPr/>
                    <a:lstStyle/>
                    <a:p>
                      <a:pPr algn="ctr">
                        <a:spcAft>
                          <a:spcPts val="0"/>
                        </a:spcAft>
                      </a:pPr>
                      <a:r>
                        <a:rPr lang="en-US" sz="1700" kern="100">
                          <a:effectLst/>
                          <a:latin typeface="微软雅黑" panose="020B0503020204020204" pitchFamily="34" charset="-122"/>
                          <a:ea typeface="微软雅黑" panose="020B0503020204020204" pitchFamily="34" charset="-122"/>
                        </a:rPr>
                        <a:t>88</a:t>
                      </a:r>
                      <a:endParaRPr lang="zh-CN" sz="1700" kern="100">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68580" marR="68580" marT="0" marB="0" anchor="ctr"/>
                </a:tc>
                <a:tc>
                  <a:txBody>
                    <a:bodyPr/>
                    <a:lstStyle/>
                    <a:p>
                      <a:pPr algn="ctr">
                        <a:spcAft>
                          <a:spcPts val="0"/>
                        </a:spcAft>
                      </a:pPr>
                      <a:r>
                        <a:rPr lang="en-US" sz="1700" kern="100">
                          <a:effectLst/>
                          <a:latin typeface="微软雅黑" panose="020B0503020204020204" pitchFamily="34" charset="-122"/>
                          <a:ea typeface="微软雅黑" panose="020B0503020204020204" pitchFamily="34" charset="-122"/>
                        </a:rPr>
                        <a:t>116</a:t>
                      </a:r>
                      <a:endParaRPr lang="zh-CN" sz="1700" kern="100">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68580" marR="68580" marT="0" marB="0" anchor="ctr"/>
                </a:tc>
                <a:tc>
                  <a:txBody>
                    <a:bodyPr/>
                    <a:lstStyle/>
                    <a:p>
                      <a:pPr algn="ctr">
                        <a:spcAft>
                          <a:spcPts val="0"/>
                        </a:spcAft>
                      </a:pPr>
                      <a:r>
                        <a:rPr lang="en-US" sz="1700" kern="100">
                          <a:effectLst/>
                          <a:latin typeface="微软雅黑" panose="020B0503020204020204" pitchFamily="34" charset="-122"/>
                          <a:ea typeface="微软雅黑" panose="020B0503020204020204" pitchFamily="34" charset="-122"/>
                        </a:rPr>
                        <a:t>106</a:t>
                      </a:r>
                      <a:endParaRPr lang="zh-CN" sz="1700" kern="100">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68580" marR="68580" marT="0" marB="0" anchor="ctr"/>
                </a:tc>
                <a:tc>
                  <a:txBody>
                    <a:bodyPr/>
                    <a:lstStyle/>
                    <a:p>
                      <a:pPr algn="ctr">
                        <a:spcAft>
                          <a:spcPts val="0"/>
                        </a:spcAft>
                      </a:pPr>
                      <a:r>
                        <a:rPr lang="en-US" sz="1700" kern="100">
                          <a:effectLst/>
                          <a:latin typeface="微软雅黑" panose="020B0503020204020204" pitchFamily="34" charset="-122"/>
                          <a:ea typeface="微软雅黑" panose="020B0503020204020204" pitchFamily="34" charset="-122"/>
                        </a:rPr>
                        <a:t> 78</a:t>
                      </a:r>
                      <a:endParaRPr lang="zh-CN" sz="1700" kern="100">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68580" marR="68580" marT="0" marB="0" anchor="ctr"/>
                </a:tc>
                <a:tc>
                  <a:txBody>
                    <a:bodyPr/>
                    <a:lstStyle/>
                    <a:p>
                      <a:pPr algn="ctr">
                        <a:spcAft>
                          <a:spcPts val="0"/>
                        </a:spcAft>
                      </a:pPr>
                      <a:r>
                        <a:rPr lang="en-US" sz="1700" kern="100" dirty="0">
                          <a:effectLst/>
                          <a:latin typeface="微软雅黑" panose="020B0503020204020204" pitchFamily="34" charset="-122"/>
                          <a:ea typeface="微软雅黑" panose="020B0503020204020204" pitchFamily="34" charset="-122"/>
                        </a:rPr>
                        <a:t>90</a:t>
                      </a:r>
                      <a:endParaRPr lang="zh-CN" sz="1700" kern="100" dirty="0">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68580" marR="68580" marT="0" marB="0" anchor="ctr"/>
                </a:tc>
                <a:extLst>
                  <a:ext uri="{0D108BD9-81ED-4DB2-BD59-A6C34878D82A}">
                    <a16:rowId xmlns:a16="http://schemas.microsoft.com/office/drawing/2014/main" val="10012"/>
                  </a:ext>
                </a:extLst>
              </a:tr>
              <a:tr h="342582">
                <a:tc>
                  <a:txBody>
                    <a:bodyPr/>
                    <a:lstStyle/>
                    <a:p>
                      <a:pPr algn="ctr">
                        <a:spcAft>
                          <a:spcPts val="0"/>
                        </a:spcAft>
                      </a:pPr>
                      <a:r>
                        <a:rPr lang="en-US" sz="1700" kern="100">
                          <a:effectLst/>
                          <a:latin typeface="微软雅黑" panose="020B0503020204020204" pitchFamily="34" charset="-122"/>
                          <a:ea typeface="微软雅黑" panose="020B0503020204020204" pitchFamily="34" charset="-122"/>
                        </a:rPr>
                        <a:t>1937</a:t>
                      </a:r>
                      <a:endParaRPr lang="zh-CN" sz="1700" kern="100">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68580" marR="68580" marT="0" marB="0" anchor="ctr"/>
                </a:tc>
                <a:tc>
                  <a:txBody>
                    <a:bodyPr/>
                    <a:lstStyle/>
                    <a:p>
                      <a:pPr algn="ctr">
                        <a:spcAft>
                          <a:spcPts val="0"/>
                        </a:spcAft>
                      </a:pPr>
                      <a:r>
                        <a:rPr lang="en-US" sz="1700" kern="100">
                          <a:effectLst/>
                          <a:latin typeface="微软雅黑" panose="020B0503020204020204" pitchFamily="34" charset="-122"/>
                          <a:ea typeface="微软雅黑" panose="020B0503020204020204" pitchFamily="34" charset="-122"/>
                        </a:rPr>
                        <a:t>104</a:t>
                      </a:r>
                      <a:endParaRPr lang="zh-CN" sz="1700" kern="100">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68580" marR="68580" marT="0" marB="0" anchor="ctr"/>
                </a:tc>
                <a:tc>
                  <a:txBody>
                    <a:bodyPr/>
                    <a:lstStyle/>
                    <a:p>
                      <a:pPr algn="ctr">
                        <a:spcAft>
                          <a:spcPts val="0"/>
                        </a:spcAft>
                      </a:pPr>
                      <a:r>
                        <a:rPr lang="en-US" sz="1700" kern="100">
                          <a:effectLst/>
                          <a:latin typeface="微软雅黑" panose="020B0503020204020204" pitchFamily="34" charset="-122"/>
                          <a:ea typeface="微软雅黑" panose="020B0503020204020204" pitchFamily="34" charset="-122"/>
                        </a:rPr>
                        <a:t>171</a:t>
                      </a:r>
                      <a:endParaRPr lang="zh-CN" sz="1700" kern="100">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68580" marR="68580" marT="0" marB="0" anchor="ctr"/>
                </a:tc>
                <a:tc>
                  <a:txBody>
                    <a:bodyPr/>
                    <a:lstStyle/>
                    <a:p>
                      <a:pPr algn="ctr">
                        <a:spcAft>
                          <a:spcPts val="0"/>
                        </a:spcAft>
                      </a:pPr>
                      <a:r>
                        <a:rPr lang="en-US" sz="1700" kern="100">
                          <a:effectLst/>
                          <a:latin typeface="微软雅黑" panose="020B0503020204020204" pitchFamily="34" charset="-122"/>
                          <a:ea typeface="微软雅黑" panose="020B0503020204020204" pitchFamily="34" charset="-122"/>
                        </a:rPr>
                        <a:t>92</a:t>
                      </a:r>
                      <a:endParaRPr lang="zh-CN" sz="1700" kern="100">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68580" marR="68580" marT="0" marB="0" anchor="ctr"/>
                </a:tc>
                <a:tc>
                  <a:txBody>
                    <a:bodyPr/>
                    <a:lstStyle/>
                    <a:p>
                      <a:pPr algn="ctr">
                        <a:spcAft>
                          <a:spcPts val="0"/>
                        </a:spcAft>
                      </a:pPr>
                      <a:r>
                        <a:rPr lang="en-US" sz="1700" kern="100">
                          <a:effectLst/>
                          <a:latin typeface="微软雅黑" panose="020B0503020204020204" pitchFamily="34" charset="-122"/>
                          <a:ea typeface="微软雅黑" panose="020B0503020204020204" pitchFamily="34" charset="-122"/>
                        </a:rPr>
                        <a:t>124</a:t>
                      </a:r>
                      <a:endParaRPr lang="zh-CN" sz="1700" kern="100">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68580" marR="68580" marT="0" marB="0" anchor="ctr"/>
                </a:tc>
                <a:tc>
                  <a:txBody>
                    <a:bodyPr/>
                    <a:lstStyle/>
                    <a:p>
                      <a:pPr algn="ctr">
                        <a:spcAft>
                          <a:spcPts val="0"/>
                        </a:spcAft>
                      </a:pPr>
                      <a:r>
                        <a:rPr lang="en-US" sz="1700" kern="100">
                          <a:effectLst/>
                          <a:latin typeface="微软雅黑" panose="020B0503020204020204" pitchFamily="34" charset="-122"/>
                          <a:ea typeface="微软雅黑" panose="020B0503020204020204" pitchFamily="34" charset="-122"/>
                        </a:rPr>
                        <a:t>117</a:t>
                      </a:r>
                      <a:endParaRPr lang="zh-CN" sz="1700" kern="100">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68580" marR="68580" marT="0" marB="0" anchor="ctr"/>
                </a:tc>
                <a:tc>
                  <a:txBody>
                    <a:bodyPr/>
                    <a:lstStyle/>
                    <a:p>
                      <a:pPr algn="ctr">
                        <a:spcAft>
                          <a:spcPts val="0"/>
                        </a:spcAft>
                      </a:pPr>
                      <a:r>
                        <a:rPr lang="en-US" sz="1700" kern="100">
                          <a:effectLst/>
                          <a:latin typeface="微软雅黑" panose="020B0503020204020204" pitchFamily="34" charset="-122"/>
                          <a:ea typeface="微软雅黑" panose="020B0503020204020204" pitchFamily="34" charset="-122"/>
                        </a:rPr>
                        <a:t>  82     </a:t>
                      </a:r>
                      <a:endParaRPr lang="zh-CN" sz="1700" kern="100">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68580" marR="68580" marT="0" marB="0" anchor="ctr"/>
                </a:tc>
                <a:tc>
                  <a:txBody>
                    <a:bodyPr/>
                    <a:lstStyle/>
                    <a:p>
                      <a:pPr algn="ctr">
                        <a:spcAft>
                          <a:spcPts val="0"/>
                        </a:spcAft>
                      </a:pPr>
                      <a:r>
                        <a:rPr lang="en-US" sz="1700" kern="100" dirty="0">
                          <a:effectLst/>
                          <a:latin typeface="微软雅黑" panose="020B0503020204020204" pitchFamily="34" charset="-122"/>
                          <a:ea typeface="微软雅黑" panose="020B0503020204020204" pitchFamily="34" charset="-122"/>
                        </a:rPr>
                        <a:t>100</a:t>
                      </a:r>
                      <a:endParaRPr lang="zh-CN" sz="1700" kern="100" dirty="0">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68580" marR="68580" marT="0" marB="0" anchor="ctr"/>
                </a:tc>
                <a:extLst>
                  <a:ext uri="{0D108BD9-81ED-4DB2-BD59-A6C34878D82A}">
                    <a16:rowId xmlns:a16="http://schemas.microsoft.com/office/drawing/2014/main" val="10013"/>
                  </a:ext>
                </a:extLst>
              </a:tr>
              <a:tr h="342582">
                <a:tc>
                  <a:txBody>
                    <a:bodyPr/>
                    <a:lstStyle/>
                    <a:p>
                      <a:pPr algn="ctr">
                        <a:spcAft>
                          <a:spcPts val="0"/>
                        </a:spcAft>
                      </a:pPr>
                      <a:r>
                        <a:rPr lang="en-US" sz="1700" kern="100" dirty="0">
                          <a:solidFill>
                            <a:srgbClr val="FF0000"/>
                          </a:solidFill>
                          <a:effectLst/>
                          <a:latin typeface="微软雅黑" panose="020B0503020204020204" pitchFamily="34" charset="-122"/>
                          <a:ea typeface="微软雅黑" panose="020B0503020204020204" pitchFamily="34" charset="-122"/>
                        </a:rPr>
                        <a:t>1938</a:t>
                      </a:r>
                      <a:endParaRPr lang="zh-CN" sz="1700" kern="100" dirty="0">
                        <a:solidFill>
                          <a:srgbClr val="FF0000"/>
                        </a:solidFill>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68580" marR="68580" marT="0" marB="0" anchor="ctr"/>
                </a:tc>
                <a:tc>
                  <a:txBody>
                    <a:bodyPr/>
                    <a:lstStyle/>
                    <a:p>
                      <a:pPr algn="ctr">
                        <a:spcAft>
                          <a:spcPts val="0"/>
                        </a:spcAft>
                      </a:pPr>
                      <a:r>
                        <a:rPr lang="en-US" sz="1700" kern="100" dirty="0">
                          <a:solidFill>
                            <a:srgbClr val="FF0000"/>
                          </a:solidFill>
                          <a:effectLst/>
                          <a:latin typeface="微软雅黑" panose="020B0503020204020204" pitchFamily="34" charset="-122"/>
                          <a:ea typeface="微软雅黑" panose="020B0503020204020204" pitchFamily="34" charset="-122"/>
                        </a:rPr>
                        <a:t>93</a:t>
                      </a:r>
                      <a:endParaRPr lang="zh-CN" sz="1700" kern="100" dirty="0">
                        <a:solidFill>
                          <a:srgbClr val="FF0000"/>
                        </a:solidFill>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68580" marR="68580" marT="0" marB="0" anchor="ctr"/>
                </a:tc>
                <a:tc>
                  <a:txBody>
                    <a:bodyPr/>
                    <a:lstStyle/>
                    <a:p>
                      <a:pPr algn="ctr">
                        <a:spcAft>
                          <a:spcPts val="0"/>
                        </a:spcAft>
                      </a:pPr>
                      <a:r>
                        <a:rPr lang="en-US" sz="1700" kern="100" dirty="0">
                          <a:solidFill>
                            <a:srgbClr val="FF0000"/>
                          </a:solidFill>
                          <a:effectLst/>
                          <a:latin typeface="微软雅黑" panose="020B0503020204020204" pitchFamily="34" charset="-122"/>
                          <a:ea typeface="微软雅黑" panose="020B0503020204020204" pitchFamily="34" charset="-122"/>
                        </a:rPr>
                        <a:t>173</a:t>
                      </a:r>
                      <a:endParaRPr lang="zh-CN" sz="1700" kern="100" dirty="0">
                        <a:solidFill>
                          <a:srgbClr val="FF0000"/>
                        </a:solidFill>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68580" marR="68580" marT="0" marB="0" anchor="ctr"/>
                </a:tc>
                <a:tc>
                  <a:txBody>
                    <a:bodyPr/>
                    <a:lstStyle/>
                    <a:p>
                      <a:pPr algn="ctr">
                        <a:spcAft>
                          <a:spcPts val="0"/>
                        </a:spcAft>
                      </a:pPr>
                      <a:r>
                        <a:rPr lang="en-US" sz="1700" kern="100" dirty="0">
                          <a:solidFill>
                            <a:srgbClr val="FF0000"/>
                          </a:solidFill>
                          <a:effectLst/>
                          <a:latin typeface="微软雅黑" panose="020B0503020204020204" pitchFamily="34" charset="-122"/>
                          <a:ea typeface="微软雅黑" panose="020B0503020204020204" pitchFamily="34" charset="-122"/>
                        </a:rPr>
                        <a:t>72</a:t>
                      </a:r>
                      <a:endParaRPr lang="zh-CN" sz="1700" kern="100" dirty="0">
                        <a:solidFill>
                          <a:srgbClr val="FF0000"/>
                        </a:solidFill>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68580" marR="68580" marT="0" marB="0" anchor="ctr"/>
                </a:tc>
                <a:tc>
                  <a:txBody>
                    <a:bodyPr/>
                    <a:lstStyle/>
                    <a:p>
                      <a:pPr algn="ctr">
                        <a:spcAft>
                          <a:spcPts val="0"/>
                        </a:spcAft>
                      </a:pPr>
                      <a:r>
                        <a:rPr lang="en-US" sz="1700" kern="100" dirty="0">
                          <a:solidFill>
                            <a:srgbClr val="FF0000"/>
                          </a:solidFill>
                          <a:effectLst/>
                          <a:latin typeface="微软雅黑" panose="020B0503020204020204" pitchFamily="34" charset="-122"/>
                          <a:ea typeface="微软雅黑" panose="020B0503020204020204" pitchFamily="34" charset="-122"/>
                        </a:rPr>
                        <a:t>116</a:t>
                      </a:r>
                      <a:endParaRPr lang="zh-CN" sz="1700" kern="100" dirty="0">
                        <a:solidFill>
                          <a:srgbClr val="FF0000"/>
                        </a:solidFill>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68580" marR="68580" marT="0" marB="0" anchor="ctr"/>
                </a:tc>
                <a:tc>
                  <a:txBody>
                    <a:bodyPr/>
                    <a:lstStyle/>
                    <a:p>
                      <a:pPr algn="ctr">
                        <a:spcAft>
                          <a:spcPts val="0"/>
                        </a:spcAft>
                      </a:pPr>
                      <a:r>
                        <a:rPr lang="en-US" sz="1700" kern="100" dirty="0">
                          <a:solidFill>
                            <a:srgbClr val="FF0000"/>
                          </a:solidFill>
                          <a:effectLst/>
                          <a:latin typeface="微软雅黑" panose="020B0503020204020204" pitchFamily="34" charset="-122"/>
                          <a:ea typeface="微软雅黑" panose="020B0503020204020204" pitchFamily="34" charset="-122"/>
                        </a:rPr>
                        <a:t>126</a:t>
                      </a:r>
                      <a:endParaRPr lang="zh-CN" sz="1700" kern="100" dirty="0">
                        <a:solidFill>
                          <a:srgbClr val="FF0000"/>
                        </a:solidFill>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68580" marR="68580" marT="0" marB="0" anchor="ctr"/>
                </a:tc>
                <a:tc>
                  <a:txBody>
                    <a:bodyPr/>
                    <a:lstStyle/>
                    <a:p>
                      <a:pPr algn="ctr">
                        <a:spcAft>
                          <a:spcPts val="0"/>
                        </a:spcAft>
                      </a:pPr>
                      <a:r>
                        <a:rPr lang="en-US" sz="1700" kern="100" dirty="0">
                          <a:solidFill>
                            <a:srgbClr val="FF0000"/>
                          </a:solidFill>
                          <a:effectLst/>
                          <a:latin typeface="微软雅黑" panose="020B0503020204020204" pitchFamily="34" charset="-122"/>
                          <a:ea typeface="微软雅黑" panose="020B0503020204020204" pitchFamily="34" charset="-122"/>
                        </a:rPr>
                        <a:t> 76</a:t>
                      </a:r>
                      <a:endParaRPr lang="zh-CN" sz="1700" kern="100" dirty="0">
                        <a:solidFill>
                          <a:srgbClr val="FF0000"/>
                        </a:solidFill>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68580" marR="68580" marT="0" marB="0" anchor="ctr"/>
                </a:tc>
                <a:tc>
                  <a:txBody>
                    <a:bodyPr/>
                    <a:lstStyle/>
                    <a:p>
                      <a:pPr algn="ctr">
                        <a:spcAft>
                          <a:spcPts val="0"/>
                        </a:spcAft>
                      </a:pPr>
                      <a:r>
                        <a:rPr lang="en-US" sz="1700" kern="100" dirty="0">
                          <a:solidFill>
                            <a:srgbClr val="FF0000"/>
                          </a:solidFill>
                          <a:effectLst/>
                          <a:latin typeface="微软雅黑" panose="020B0503020204020204" pitchFamily="34" charset="-122"/>
                          <a:ea typeface="微软雅黑" panose="020B0503020204020204" pitchFamily="34" charset="-122"/>
                        </a:rPr>
                        <a:t>95</a:t>
                      </a:r>
                      <a:endParaRPr lang="zh-CN" sz="1700" kern="100" dirty="0">
                        <a:solidFill>
                          <a:srgbClr val="FF0000"/>
                        </a:solidFill>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68580" marR="68580" marT="0" marB="0" anchor="ctr"/>
                </a:tc>
                <a:extLst>
                  <a:ext uri="{0D108BD9-81ED-4DB2-BD59-A6C34878D82A}">
                    <a16:rowId xmlns:a16="http://schemas.microsoft.com/office/drawing/2014/main" val="10014"/>
                  </a:ext>
                </a:extLst>
              </a:tr>
            </a:tbl>
          </a:graphicData>
        </a:graphic>
      </p:graphicFrame>
    </p:spTree>
    <p:extLst>
      <p:ext uri="{BB962C8B-B14F-4D97-AF65-F5344CB8AC3E}">
        <p14:creationId xmlns:p14="http://schemas.microsoft.com/office/powerpoint/2010/main" val="45458236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页脚占位符 4"/>
          <p:cNvSpPr>
            <a:spLocks noGrp="1"/>
          </p:cNvSpPr>
          <p:nvPr>
            <p:ph type="ftr" sz="quarter" idx="11"/>
          </p:nvPr>
        </p:nvSpPr>
        <p:spPr/>
        <p:txBody>
          <a:bodyPr/>
          <a:lstStyle/>
          <a:p>
            <a:r>
              <a:rPr lang="zh-CN" altLang="en-US" smtClean="0"/>
              <a:t>国际金融学 范小云</a:t>
            </a:r>
            <a:endParaRPr lang="zh-CN" altLang="en-US" dirty="0"/>
          </a:p>
        </p:txBody>
      </p:sp>
      <p:sp>
        <p:nvSpPr>
          <p:cNvPr id="7" name="Rectangle 4"/>
          <p:cNvSpPr>
            <a:spLocks noChangeArrowheads="1"/>
          </p:cNvSpPr>
          <p:nvPr/>
        </p:nvSpPr>
        <p:spPr bwMode="auto">
          <a:xfrm>
            <a:off x="457201" y="197056"/>
            <a:ext cx="8324850" cy="8309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eaLnBrk="0" hangingPunct="0">
              <a:tabLst>
                <a:tab pos="439738" algn="r"/>
                <a:tab pos="2420938" algn="r"/>
                <a:tab pos="3060700" algn="r"/>
                <a:tab pos="3781425" algn="r"/>
                <a:tab pos="4500563" algn="r"/>
                <a:tab pos="5221288" algn="r"/>
              </a:tabLst>
              <a:defRPr>
                <a:solidFill>
                  <a:schemeClr val="tx1"/>
                </a:solidFill>
                <a:latin typeface="Arial" panose="020B0604020202020204" pitchFamily="34" charset="0"/>
                <a:ea typeface="宋体" panose="02010600030101010101" pitchFamily="2" charset="-122"/>
              </a:defRPr>
            </a:lvl1pPr>
            <a:lvl2pPr marL="742950" indent="-285750" eaLnBrk="0" hangingPunct="0">
              <a:tabLst>
                <a:tab pos="439738" algn="r"/>
                <a:tab pos="2420938" algn="r"/>
                <a:tab pos="3060700" algn="r"/>
                <a:tab pos="3781425" algn="r"/>
                <a:tab pos="4500563" algn="r"/>
                <a:tab pos="5221288" algn="r"/>
              </a:tabLst>
              <a:defRPr>
                <a:solidFill>
                  <a:schemeClr val="tx1"/>
                </a:solidFill>
                <a:latin typeface="Arial" panose="020B0604020202020204" pitchFamily="34" charset="0"/>
                <a:ea typeface="宋体" panose="02010600030101010101" pitchFamily="2" charset="-122"/>
              </a:defRPr>
            </a:lvl2pPr>
            <a:lvl3pPr marL="1143000" indent="-228600" eaLnBrk="0" hangingPunct="0">
              <a:tabLst>
                <a:tab pos="439738" algn="r"/>
                <a:tab pos="2420938" algn="r"/>
                <a:tab pos="3060700" algn="r"/>
                <a:tab pos="3781425" algn="r"/>
                <a:tab pos="4500563" algn="r"/>
                <a:tab pos="5221288" algn="r"/>
              </a:tabLst>
              <a:defRPr>
                <a:solidFill>
                  <a:schemeClr val="tx1"/>
                </a:solidFill>
                <a:latin typeface="Arial" panose="020B0604020202020204" pitchFamily="34" charset="0"/>
                <a:ea typeface="宋体" panose="02010600030101010101" pitchFamily="2" charset="-122"/>
              </a:defRPr>
            </a:lvl3pPr>
            <a:lvl4pPr marL="1600200" indent="-228600" eaLnBrk="0" hangingPunct="0">
              <a:tabLst>
                <a:tab pos="439738" algn="r"/>
                <a:tab pos="2420938" algn="r"/>
                <a:tab pos="3060700" algn="r"/>
                <a:tab pos="3781425" algn="r"/>
                <a:tab pos="4500563" algn="r"/>
                <a:tab pos="5221288" algn="r"/>
              </a:tabLst>
              <a:defRPr>
                <a:solidFill>
                  <a:schemeClr val="tx1"/>
                </a:solidFill>
                <a:latin typeface="Arial" panose="020B0604020202020204" pitchFamily="34" charset="0"/>
                <a:ea typeface="宋体" panose="02010600030101010101" pitchFamily="2" charset="-122"/>
              </a:defRPr>
            </a:lvl4pPr>
            <a:lvl5pPr marL="2057400" indent="-228600" eaLnBrk="0" hangingPunct="0">
              <a:tabLst>
                <a:tab pos="439738" algn="r"/>
                <a:tab pos="2420938" algn="r"/>
                <a:tab pos="3060700" algn="r"/>
                <a:tab pos="3781425" algn="r"/>
                <a:tab pos="4500563" algn="r"/>
                <a:tab pos="5221288" algn="r"/>
              </a:tabLst>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tabLst>
                <a:tab pos="439738" algn="r"/>
                <a:tab pos="2420938" algn="r"/>
                <a:tab pos="3060700" algn="r"/>
                <a:tab pos="3781425" algn="r"/>
                <a:tab pos="4500563" algn="r"/>
                <a:tab pos="5221288" algn="r"/>
              </a:tabLs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tabLst>
                <a:tab pos="439738" algn="r"/>
                <a:tab pos="2420938" algn="r"/>
                <a:tab pos="3060700" algn="r"/>
                <a:tab pos="3781425" algn="r"/>
                <a:tab pos="4500563" algn="r"/>
                <a:tab pos="5221288" algn="r"/>
              </a:tabLs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tabLst>
                <a:tab pos="439738" algn="r"/>
                <a:tab pos="2420938" algn="r"/>
                <a:tab pos="3060700" algn="r"/>
                <a:tab pos="3781425" algn="r"/>
                <a:tab pos="4500563" algn="r"/>
                <a:tab pos="5221288" algn="r"/>
              </a:tabLs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tabLst>
                <a:tab pos="439738" algn="r"/>
                <a:tab pos="2420938" algn="r"/>
                <a:tab pos="3060700" algn="r"/>
                <a:tab pos="3781425" algn="r"/>
                <a:tab pos="4500563" algn="r"/>
                <a:tab pos="5221288" algn="r"/>
              </a:tabLs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sz="2400" b="1" dirty="0">
                <a:latin typeface="微软雅黑" panose="020B0503020204020204" pitchFamily="34" charset="-122"/>
                <a:ea typeface="微软雅黑" panose="020B0503020204020204" pitchFamily="34" charset="-122"/>
              </a:rPr>
              <a:t>THE CONTRACTING SPIRAL OF WORLD TRADE:  1929-1933 (US $ Gold Millions</a:t>
            </a:r>
            <a:r>
              <a:rPr lang="en-US" altLang="zh-CN" sz="2400" b="1" dirty="0" smtClean="0">
                <a:latin typeface="微软雅黑" panose="020B0503020204020204" pitchFamily="34" charset="-122"/>
                <a:ea typeface="微软雅黑" panose="020B0503020204020204" pitchFamily="34" charset="-122"/>
              </a:rPr>
              <a:t>) </a:t>
            </a:r>
            <a:endParaRPr lang="en-US" altLang="zh-CN" sz="2400" b="1" dirty="0">
              <a:latin typeface="微软雅黑" panose="020B0503020204020204" pitchFamily="34" charset="-122"/>
              <a:ea typeface="微软雅黑" panose="020B0503020204020204" pitchFamily="34" charset="-122"/>
            </a:endParaRPr>
          </a:p>
        </p:txBody>
      </p:sp>
      <p:graphicFrame>
        <p:nvGraphicFramePr>
          <p:cNvPr id="2" name="表格 1"/>
          <p:cNvGraphicFramePr>
            <a:graphicFrameLocks noGrp="1"/>
          </p:cNvGraphicFramePr>
          <p:nvPr>
            <p:extLst>
              <p:ext uri="{D42A27DB-BD31-4B8C-83A1-F6EECF244321}">
                <p14:modId xmlns:p14="http://schemas.microsoft.com/office/powerpoint/2010/main" val="3552051016"/>
              </p:ext>
            </p:extLst>
          </p:nvPr>
        </p:nvGraphicFramePr>
        <p:xfrm>
          <a:off x="457202" y="1418892"/>
          <a:ext cx="8324850" cy="2065286"/>
        </p:xfrm>
        <a:graphic>
          <a:graphicData uri="http://schemas.openxmlformats.org/drawingml/2006/table">
            <a:tbl>
              <a:tblPr firstRow="1" firstCol="1" bandRow="1">
                <a:tableStyleId>{69012ECD-51FC-41F1-AA8D-1B2483CD663E}</a:tableStyleId>
              </a:tblPr>
              <a:tblGrid>
                <a:gridCol w="2648605">
                  <a:extLst>
                    <a:ext uri="{9D8B030D-6E8A-4147-A177-3AD203B41FA5}">
                      <a16:colId xmlns:a16="http://schemas.microsoft.com/office/drawing/2014/main" val="20000"/>
                    </a:ext>
                  </a:extLst>
                </a:gridCol>
                <a:gridCol w="1135249">
                  <a:extLst>
                    <a:ext uri="{9D8B030D-6E8A-4147-A177-3AD203B41FA5}">
                      <a16:colId xmlns:a16="http://schemas.microsoft.com/office/drawing/2014/main" val="20001"/>
                    </a:ext>
                  </a:extLst>
                </a:gridCol>
                <a:gridCol w="1135249">
                  <a:extLst>
                    <a:ext uri="{9D8B030D-6E8A-4147-A177-3AD203B41FA5}">
                      <a16:colId xmlns:a16="http://schemas.microsoft.com/office/drawing/2014/main" val="20002"/>
                    </a:ext>
                  </a:extLst>
                </a:gridCol>
                <a:gridCol w="1135249">
                  <a:extLst>
                    <a:ext uri="{9D8B030D-6E8A-4147-A177-3AD203B41FA5}">
                      <a16:colId xmlns:a16="http://schemas.microsoft.com/office/drawing/2014/main" val="20003"/>
                    </a:ext>
                  </a:extLst>
                </a:gridCol>
                <a:gridCol w="1135249">
                  <a:extLst>
                    <a:ext uri="{9D8B030D-6E8A-4147-A177-3AD203B41FA5}">
                      <a16:colId xmlns:a16="http://schemas.microsoft.com/office/drawing/2014/main" val="20004"/>
                    </a:ext>
                  </a:extLst>
                </a:gridCol>
                <a:gridCol w="1135249">
                  <a:extLst>
                    <a:ext uri="{9D8B030D-6E8A-4147-A177-3AD203B41FA5}">
                      <a16:colId xmlns:a16="http://schemas.microsoft.com/office/drawing/2014/main" val="20005"/>
                    </a:ext>
                  </a:extLst>
                </a:gridCol>
              </a:tblGrid>
              <a:tr h="580309">
                <a:tc>
                  <a:txBody>
                    <a:bodyPr/>
                    <a:lstStyle/>
                    <a:p>
                      <a:pPr algn="ctr">
                        <a:spcAft>
                          <a:spcPts val="0"/>
                        </a:spcAft>
                      </a:pPr>
                      <a:r>
                        <a:rPr lang="en-US" sz="2000" kern="100" dirty="0">
                          <a:effectLst/>
                          <a:latin typeface="微软雅黑" panose="020B0503020204020204" pitchFamily="34" charset="-122"/>
                          <a:ea typeface="微软雅黑" panose="020B0503020204020204" pitchFamily="34" charset="-122"/>
                        </a:rPr>
                        <a:t> </a:t>
                      </a:r>
                      <a:endParaRPr lang="zh-CN" sz="2000" kern="100" dirty="0">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68580" marR="68580" marT="0" marB="0" anchor="ctr"/>
                </a:tc>
                <a:tc>
                  <a:txBody>
                    <a:bodyPr/>
                    <a:lstStyle/>
                    <a:p>
                      <a:pPr algn="ctr">
                        <a:spcAft>
                          <a:spcPts val="0"/>
                        </a:spcAft>
                      </a:pPr>
                      <a:r>
                        <a:rPr lang="en-US" altLang="zh-CN" sz="2000" kern="100" dirty="0" smtClean="0">
                          <a:effectLst/>
                          <a:latin typeface="微软雅黑" panose="020B0503020204020204" pitchFamily="34" charset="-122"/>
                          <a:ea typeface="微软雅黑" panose="020B0503020204020204" pitchFamily="34" charset="-122"/>
                          <a:cs typeface="Times New Roman" panose="02020603050405020304" pitchFamily="18" charset="0"/>
                        </a:rPr>
                        <a:t>1929</a:t>
                      </a:r>
                      <a:endParaRPr lang="zh-CN" sz="2000" kern="100" dirty="0">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68580" marR="68580" marT="0" marB="0" anchor="ctr"/>
                </a:tc>
                <a:tc>
                  <a:txBody>
                    <a:bodyPr/>
                    <a:lstStyle/>
                    <a:p>
                      <a:pPr algn="ctr">
                        <a:spcAft>
                          <a:spcPts val="0"/>
                        </a:spcAft>
                      </a:pPr>
                      <a:r>
                        <a:rPr lang="en-US" altLang="zh-CN" sz="2000" kern="100" dirty="0" smtClean="0">
                          <a:effectLst/>
                          <a:latin typeface="微软雅黑" panose="020B0503020204020204" pitchFamily="34" charset="-122"/>
                          <a:ea typeface="微软雅黑" panose="020B0503020204020204" pitchFamily="34" charset="-122"/>
                          <a:cs typeface="Times New Roman" panose="02020603050405020304" pitchFamily="18" charset="0"/>
                        </a:rPr>
                        <a:t>1930</a:t>
                      </a:r>
                      <a:endParaRPr lang="zh-CN" sz="2000" kern="100" dirty="0">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68580" marR="68580" marT="0" marB="0" anchor="ctr"/>
                </a:tc>
                <a:tc>
                  <a:txBody>
                    <a:bodyPr/>
                    <a:lstStyle/>
                    <a:p>
                      <a:pPr algn="ctr">
                        <a:spcAft>
                          <a:spcPts val="0"/>
                        </a:spcAft>
                      </a:pPr>
                      <a:r>
                        <a:rPr lang="en-US" altLang="zh-CN" sz="2000" kern="100" dirty="0" smtClean="0">
                          <a:effectLst/>
                          <a:latin typeface="微软雅黑" panose="020B0503020204020204" pitchFamily="34" charset="-122"/>
                          <a:ea typeface="微软雅黑" panose="020B0503020204020204" pitchFamily="34" charset="-122"/>
                          <a:cs typeface="Times New Roman" panose="02020603050405020304" pitchFamily="18" charset="0"/>
                        </a:rPr>
                        <a:t>1931</a:t>
                      </a:r>
                      <a:endParaRPr lang="zh-CN" sz="2000" kern="100" dirty="0">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68580" marR="68580" marT="0" marB="0" anchor="ctr"/>
                </a:tc>
                <a:tc>
                  <a:txBody>
                    <a:bodyPr/>
                    <a:lstStyle/>
                    <a:p>
                      <a:pPr algn="ctr">
                        <a:spcAft>
                          <a:spcPts val="0"/>
                        </a:spcAft>
                      </a:pPr>
                      <a:r>
                        <a:rPr lang="en-US" altLang="zh-CN" sz="2000" kern="100" dirty="0" smtClean="0">
                          <a:effectLst/>
                          <a:latin typeface="微软雅黑" panose="020B0503020204020204" pitchFamily="34" charset="-122"/>
                          <a:ea typeface="微软雅黑" panose="020B0503020204020204" pitchFamily="34" charset="-122"/>
                          <a:cs typeface="Times New Roman" panose="02020603050405020304" pitchFamily="18" charset="0"/>
                        </a:rPr>
                        <a:t>1932</a:t>
                      </a:r>
                      <a:endParaRPr lang="zh-CN" sz="2000" kern="100" dirty="0">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68580" marR="68580" marT="0" marB="0" anchor="ctr"/>
                </a:tc>
                <a:tc>
                  <a:txBody>
                    <a:bodyPr/>
                    <a:lstStyle/>
                    <a:p>
                      <a:pPr algn="ctr">
                        <a:spcAft>
                          <a:spcPts val="0"/>
                        </a:spcAft>
                      </a:pPr>
                      <a:r>
                        <a:rPr lang="en-US" altLang="zh-CN" sz="2000" kern="100" dirty="0" smtClean="0">
                          <a:effectLst/>
                          <a:latin typeface="微软雅黑" panose="020B0503020204020204" pitchFamily="34" charset="-122"/>
                          <a:ea typeface="微软雅黑" panose="020B0503020204020204" pitchFamily="34" charset="-122"/>
                          <a:cs typeface="Times New Roman" panose="02020603050405020304" pitchFamily="18" charset="0"/>
                        </a:rPr>
                        <a:t>1933</a:t>
                      </a:r>
                      <a:endParaRPr lang="zh-CN" sz="2000" kern="100" dirty="0">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68580" marR="68580" marT="0" marB="0" anchor="ctr"/>
                </a:tc>
                <a:extLst>
                  <a:ext uri="{0D108BD9-81ED-4DB2-BD59-A6C34878D82A}">
                    <a16:rowId xmlns:a16="http://schemas.microsoft.com/office/drawing/2014/main" val="10000"/>
                  </a:ext>
                </a:extLst>
              </a:tr>
              <a:tr h="877726">
                <a:tc>
                  <a:txBody>
                    <a:bodyPr/>
                    <a:lstStyle/>
                    <a:p>
                      <a:pPr algn="ctr">
                        <a:spcAft>
                          <a:spcPts val="0"/>
                        </a:spcAft>
                      </a:pPr>
                      <a:r>
                        <a:rPr lang="en-US" sz="2000" kern="100" dirty="0" smtClean="0">
                          <a:effectLst/>
                          <a:latin typeface="微软雅黑" panose="020B0503020204020204" pitchFamily="34" charset="-122"/>
                          <a:ea typeface="微软雅黑" panose="020B0503020204020204" pitchFamily="34" charset="-122"/>
                        </a:rPr>
                        <a:t>Average Monthly Volume</a:t>
                      </a:r>
                      <a:endParaRPr lang="zh-CN" sz="2000" kern="100" dirty="0">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68580" marR="68580" marT="0" marB="0" anchor="ctr"/>
                </a:tc>
                <a:tc>
                  <a:txBody>
                    <a:bodyPr/>
                    <a:lstStyle/>
                    <a:p>
                      <a:pPr algn="ctr">
                        <a:spcAft>
                          <a:spcPts val="0"/>
                        </a:spcAft>
                      </a:pPr>
                      <a:r>
                        <a:rPr lang="en-US" altLang="zh-CN" sz="2000" kern="100" dirty="0" smtClean="0">
                          <a:effectLst/>
                          <a:latin typeface="微软雅黑" panose="020B0503020204020204" pitchFamily="34" charset="-122"/>
                          <a:ea typeface="微软雅黑" panose="020B0503020204020204" pitchFamily="34" charset="-122"/>
                          <a:cs typeface="Times New Roman" panose="02020603050405020304" pitchFamily="18" charset="0"/>
                        </a:rPr>
                        <a:t>2858</a:t>
                      </a:r>
                      <a:endParaRPr lang="zh-CN" sz="2000" kern="100" dirty="0">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68580" marR="68580" marT="0" marB="0" anchor="ctr"/>
                </a:tc>
                <a:tc>
                  <a:txBody>
                    <a:bodyPr/>
                    <a:lstStyle/>
                    <a:p>
                      <a:pPr algn="ctr">
                        <a:spcAft>
                          <a:spcPts val="0"/>
                        </a:spcAft>
                      </a:pPr>
                      <a:r>
                        <a:rPr lang="en-US" altLang="zh-CN" sz="2000" kern="100" dirty="0" smtClean="0">
                          <a:effectLst/>
                          <a:latin typeface="微软雅黑" panose="020B0503020204020204" pitchFamily="34" charset="-122"/>
                          <a:ea typeface="微软雅黑" panose="020B0503020204020204" pitchFamily="34" charset="-122"/>
                          <a:cs typeface="Times New Roman" panose="02020603050405020304" pitchFamily="18" charset="0"/>
                        </a:rPr>
                        <a:t>2327</a:t>
                      </a:r>
                      <a:endParaRPr lang="zh-CN" sz="2000" kern="100" dirty="0">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68580" marR="68580" marT="0" marB="0" anchor="ctr"/>
                </a:tc>
                <a:tc>
                  <a:txBody>
                    <a:bodyPr/>
                    <a:lstStyle/>
                    <a:p>
                      <a:pPr algn="ctr">
                        <a:spcAft>
                          <a:spcPts val="0"/>
                        </a:spcAft>
                      </a:pPr>
                      <a:r>
                        <a:rPr lang="en-US" altLang="zh-CN" sz="2000" kern="100" dirty="0" smtClean="0">
                          <a:effectLst/>
                          <a:latin typeface="微软雅黑" panose="020B0503020204020204" pitchFamily="34" charset="-122"/>
                          <a:ea typeface="微软雅黑" panose="020B0503020204020204" pitchFamily="34" charset="-122"/>
                          <a:cs typeface="Times New Roman" panose="02020603050405020304" pitchFamily="18" charset="0"/>
                        </a:rPr>
                        <a:t>1668</a:t>
                      </a:r>
                      <a:endParaRPr lang="zh-CN" sz="2000" kern="100" dirty="0">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68580" marR="68580" marT="0" marB="0" anchor="ctr"/>
                </a:tc>
                <a:tc>
                  <a:txBody>
                    <a:bodyPr/>
                    <a:lstStyle/>
                    <a:p>
                      <a:pPr algn="ctr">
                        <a:spcAft>
                          <a:spcPts val="0"/>
                        </a:spcAft>
                      </a:pPr>
                      <a:r>
                        <a:rPr lang="en-US" altLang="zh-CN" sz="2000" kern="100" dirty="0" smtClean="0">
                          <a:effectLst/>
                          <a:latin typeface="微软雅黑" panose="020B0503020204020204" pitchFamily="34" charset="-122"/>
                          <a:ea typeface="微软雅黑" panose="020B0503020204020204" pitchFamily="34" charset="-122"/>
                          <a:cs typeface="Times New Roman" panose="02020603050405020304" pitchFamily="18" charset="0"/>
                        </a:rPr>
                        <a:t>1112</a:t>
                      </a:r>
                      <a:endParaRPr lang="zh-CN" sz="2000" kern="100" dirty="0">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68580" marR="68580" marT="0" marB="0" anchor="ctr"/>
                </a:tc>
                <a:tc>
                  <a:txBody>
                    <a:bodyPr/>
                    <a:lstStyle/>
                    <a:p>
                      <a:pPr algn="ctr">
                        <a:spcAft>
                          <a:spcPts val="0"/>
                        </a:spcAft>
                      </a:pPr>
                      <a:r>
                        <a:rPr lang="en-US" altLang="zh-CN" sz="2000" kern="100" dirty="0" smtClean="0">
                          <a:effectLst/>
                          <a:latin typeface="微软雅黑" panose="020B0503020204020204" pitchFamily="34" charset="-122"/>
                          <a:ea typeface="微软雅黑" panose="020B0503020204020204" pitchFamily="34" charset="-122"/>
                          <a:cs typeface="Times New Roman" panose="02020603050405020304" pitchFamily="18" charset="0"/>
                        </a:rPr>
                        <a:t>997</a:t>
                      </a:r>
                      <a:endParaRPr lang="zh-CN" sz="2000" kern="100" dirty="0">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68580" marR="68580" marT="0" marB="0" anchor="ctr"/>
                </a:tc>
                <a:extLst>
                  <a:ext uri="{0D108BD9-81ED-4DB2-BD59-A6C34878D82A}">
                    <a16:rowId xmlns:a16="http://schemas.microsoft.com/office/drawing/2014/main" val="10001"/>
                  </a:ext>
                </a:extLst>
              </a:tr>
              <a:tr h="607251">
                <a:tc>
                  <a:txBody>
                    <a:bodyPr/>
                    <a:lstStyle/>
                    <a:p>
                      <a:pPr algn="ctr">
                        <a:spcAft>
                          <a:spcPts val="0"/>
                        </a:spcAft>
                      </a:pPr>
                      <a:r>
                        <a:rPr lang="en-US" sz="2000" kern="100" dirty="0" smtClean="0">
                          <a:effectLst/>
                          <a:latin typeface="微软雅黑" panose="020B0503020204020204" pitchFamily="34" charset="-122"/>
                          <a:ea typeface="微软雅黑" panose="020B0503020204020204" pitchFamily="34" charset="-122"/>
                        </a:rPr>
                        <a:t>Index (1929 = 100) </a:t>
                      </a:r>
                      <a:endParaRPr lang="zh-CN" sz="2000" kern="100" dirty="0">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68580" marR="68580" marT="0" marB="0" anchor="ctr"/>
                </a:tc>
                <a:tc>
                  <a:txBody>
                    <a:bodyPr/>
                    <a:lstStyle/>
                    <a:p>
                      <a:pPr algn="ctr">
                        <a:spcAft>
                          <a:spcPts val="0"/>
                        </a:spcAft>
                      </a:pPr>
                      <a:r>
                        <a:rPr lang="en-US" altLang="zh-CN" sz="2000" kern="100" dirty="0" smtClean="0">
                          <a:effectLst/>
                          <a:latin typeface="微软雅黑" panose="020B0503020204020204" pitchFamily="34" charset="-122"/>
                          <a:ea typeface="微软雅黑" panose="020B0503020204020204" pitchFamily="34" charset="-122"/>
                          <a:cs typeface="Times New Roman" panose="02020603050405020304" pitchFamily="18" charset="0"/>
                        </a:rPr>
                        <a:t>100</a:t>
                      </a:r>
                      <a:endParaRPr lang="zh-CN" sz="2000" kern="100" dirty="0">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68580" marR="68580" marT="0" marB="0" anchor="ctr"/>
                </a:tc>
                <a:tc>
                  <a:txBody>
                    <a:bodyPr/>
                    <a:lstStyle/>
                    <a:p>
                      <a:pPr algn="ctr">
                        <a:spcAft>
                          <a:spcPts val="0"/>
                        </a:spcAft>
                      </a:pPr>
                      <a:r>
                        <a:rPr lang="en-US" altLang="zh-CN" sz="2000" kern="100" dirty="0" smtClean="0">
                          <a:effectLst/>
                          <a:latin typeface="微软雅黑" panose="020B0503020204020204" pitchFamily="34" charset="-122"/>
                          <a:ea typeface="微软雅黑" panose="020B0503020204020204" pitchFamily="34" charset="-122"/>
                          <a:cs typeface="Times New Roman" panose="02020603050405020304" pitchFamily="18" charset="0"/>
                        </a:rPr>
                        <a:t>81</a:t>
                      </a:r>
                      <a:endParaRPr lang="zh-CN" sz="2000" kern="100" dirty="0">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68580" marR="68580" marT="0" marB="0" anchor="ctr"/>
                </a:tc>
                <a:tc>
                  <a:txBody>
                    <a:bodyPr/>
                    <a:lstStyle/>
                    <a:p>
                      <a:pPr algn="ctr">
                        <a:spcAft>
                          <a:spcPts val="0"/>
                        </a:spcAft>
                      </a:pPr>
                      <a:r>
                        <a:rPr lang="en-US" altLang="zh-CN" sz="2000" kern="100" dirty="0" smtClean="0">
                          <a:effectLst/>
                          <a:latin typeface="微软雅黑" panose="020B0503020204020204" pitchFamily="34" charset="-122"/>
                          <a:ea typeface="微软雅黑" panose="020B0503020204020204" pitchFamily="34" charset="-122"/>
                          <a:cs typeface="Times New Roman" panose="02020603050405020304" pitchFamily="18" charset="0"/>
                        </a:rPr>
                        <a:t>58</a:t>
                      </a:r>
                      <a:endParaRPr lang="zh-CN" sz="2000" kern="100" dirty="0">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68580" marR="68580" marT="0" marB="0" anchor="ctr"/>
                </a:tc>
                <a:tc>
                  <a:txBody>
                    <a:bodyPr/>
                    <a:lstStyle/>
                    <a:p>
                      <a:pPr algn="ctr">
                        <a:spcAft>
                          <a:spcPts val="0"/>
                        </a:spcAft>
                      </a:pPr>
                      <a:r>
                        <a:rPr lang="en-US" altLang="zh-CN" sz="2000" kern="100" dirty="0" smtClean="0">
                          <a:effectLst/>
                          <a:latin typeface="微软雅黑" panose="020B0503020204020204" pitchFamily="34" charset="-122"/>
                          <a:ea typeface="微软雅黑" panose="020B0503020204020204" pitchFamily="34" charset="-122"/>
                          <a:cs typeface="Times New Roman" panose="02020603050405020304" pitchFamily="18" charset="0"/>
                        </a:rPr>
                        <a:t>39</a:t>
                      </a:r>
                      <a:endParaRPr lang="zh-CN" sz="2000" kern="100" dirty="0">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68580" marR="68580" marT="0" marB="0" anchor="ctr"/>
                </a:tc>
                <a:tc>
                  <a:txBody>
                    <a:bodyPr/>
                    <a:lstStyle/>
                    <a:p>
                      <a:pPr algn="ctr">
                        <a:spcAft>
                          <a:spcPts val="0"/>
                        </a:spcAft>
                      </a:pPr>
                      <a:r>
                        <a:rPr lang="en-US" altLang="zh-CN" sz="2000" kern="100" dirty="0" smtClean="0">
                          <a:effectLst/>
                          <a:latin typeface="微软雅黑" panose="020B0503020204020204" pitchFamily="34" charset="-122"/>
                          <a:ea typeface="微软雅黑" panose="020B0503020204020204" pitchFamily="34" charset="-122"/>
                          <a:cs typeface="Times New Roman" panose="02020603050405020304" pitchFamily="18" charset="0"/>
                        </a:rPr>
                        <a:t>35</a:t>
                      </a:r>
                      <a:endParaRPr lang="zh-CN" sz="2000" kern="100" dirty="0">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68580" marR="68580" marT="0" marB="0" anchor="ctr"/>
                </a:tc>
                <a:extLst>
                  <a:ext uri="{0D108BD9-81ED-4DB2-BD59-A6C34878D82A}">
                    <a16:rowId xmlns:a16="http://schemas.microsoft.com/office/drawing/2014/main" val="10002"/>
                  </a:ext>
                </a:extLst>
              </a:tr>
            </a:tbl>
          </a:graphicData>
        </a:graphic>
      </p:graphicFrame>
    </p:spTree>
    <p:extLst>
      <p:ext uri="{BB962C8B-B14F-4D97-AF65-F5344CB8AC3E}">
        <p14:creationId xmlns:p14="http://schemas.microsoft.com/office/powerpoint/2010/main" val="307012576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页脚占位符 4"/>
          <p:cNvSpPr>
            <a:spLocks noGrp="1"/>
          </p:cNvSpPr>
          <p:nvPr>
            <p:ph type="ftr" sz="quarter" idx="11"/>
          </p:nvPr>
        </p:nvSpPr>
        <p:spPr/>
        <p:txBody>
          <a:bodyPr/>
          <a:lstStyle/>
          <a:p>
            <a:r>
              <a:rPr lang="zh-CN" altLang="en-US" smtClean="0"/>
              <a:t>国际金融学 范小云</a:t>
            </a:r>
            <a:endParaRPr lang="zh-CN" altLang="en-US" dirty="0"/>
          </a:p>
        </p:txBody>
      </p:sp>
      <p:sp>
        <p:nvSpPr>
          <p:cNvPr id="7" name="Rectangle 4"/>
          <p:cNvSpPr>
            <a:spLocks noChangeArrowheads="1"/>
          </p:cNvSpPr>
          <p:nvPr/>
        </p:nvSpPr>
        <p:spPr bwMode="auto">
          <a:xfrm>
            <a:off x="457201" y="197056"/>
            <a:ext cx="8324850" cy="8309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eaLnBrk="0" hangingPunct="0">
              <a:tabLst>
                <a:tab pos="439738" algn="r"/>
                <a:tab pos="2420938" algn="r"/>
                <a:tab pos="3060700" algn="r"/>
                <a:tab pos="3781425" algn="r"/>
                <a:tab pos="4500563" algn="r"/>
                <a:tab pos="5221288" algn="r"/>
              </a:tabLst>
              <a:defRPr>
                <a:solidFill>
                  <a:schemeClr val="tx1"/>
                </a:solidFill>
                <a:latin typeface="Arial" panose="020B0604020202020204" pitchFamily="34" charset="0"/>
                <a:ea typeface="宋体" panose="02010600030101010101" pitchFamily="2" charset="-122"/>
              </a:defRPr>
            </a:lvl1pPr>
            <a:lvl2pPr marL="742950" indent="-285750" eaLnBrk="0" hangingPunct="0">
              <a:tabLst>
                <a:tab pos="439738" algn="r"/>
                <a:tab pos="2420938" algn="r"/>
                <a:tab pos="3060700" algn="r"/>
                <a:tab pos="3781425" algn="r"/>
                <a:tab pos="4500563" algn="r"/>
                <a:tab pos="5221288" algn="r"/>
              </a:tabLst>
              <a:defRPr>
                <a:solidFill>
                  <a:schemeClr val="tx1"/>
                </a:solidFill>
                <a:latin typeface="Arial" panose="020B0604020202020204" pitchFamily="34" charset="0"/>
                <a:ea typeface="宋体" panose="02010600030101010101" pitchFamily="2" charset="-122"/>
              </a:defRPr>
            </a:lvl2pPr>
            <a:lvl3pPr marL="1143000" indent="-228600" eaLnBrk="0" hangingPunct="0">
              <a:tabLst>
                <a:tab pos="439738" algn="r"/>
                <a:tab pos="2420938" algn="r"/>
                <a:tab pos="3060700" algn="r"/>
                <a:tab pos="3781425" algn="r"/>
                <a:tab pos="4500563" algn="r"/>
                <a:tab pos="5221288" algn="r"/>
              </a:tabLst>
              <a:defRPr>
                <a:solidFill>
                  <a:schemeClr val="tx1"/>
                </a:solidFill>
                <a:latin typeface="Arial" panose="020B0604020202020204" pitchFamily="34" charset="0"/>
                <a:ea typeface="宋体" panose="02010600030101010101" pitchFamily="2" charset="-122"/>
              </a:defRPr>
            </a:lvl3pPr>
            <a:lvl4pPr marL="1600200" indent="-228600" eaLnBrk="0" hangingPunct="0">
              <a:tabLst>
                <a:tab pos="439738" algn="r"/>
                <a:tab pos="2420938" algn="r"/>
                <a:tab pos="3060700" algn="r"/>
                <a:tab pos="3781425" algn="r"/>
                <a:tab pos="4500563" algn="r"/>
                <a:tab pos="5221288" algn="r"/>
              </a:tabLst>
              <a:defRPr>
                <a:solidFill>
                  <a:schemeClr val="tx1"/>
                </a:solidFill>
                <a:latin typeface="Arial" panose="020B0604020202020204" pitchFamily="34" charset="0"/>
                <a:ea typeface="宋体" panose="02010600030101010101" pitchFamily="2" charset="-122"/>
              </a:defRPr>
            </a:lvl4pPr>
            <a:lvl5pPr marL="2057400" indent="-228600" eaLnBrk="0" hangingPunct="0">
              <a:tabLst>
                <a:tab pos="439738" algn="r"/>
                <a:tab pos="2420938" algn="r"/>
                <a:tab pos="3060700" algn="r"/>
                <a:tab pos="3781425" algn="r"/>
                <a:tab pos="4500563" algn="r"/>
                <a:tab pos="5221288" algn="r"/>
              </a:tabLst>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tabLst>
                <a:tab pos="439738" algn="r"/>
                <a:tab pos="2420938" algn="r"/>
                <a:tab pos="3060700" algn="r"/>
                <a:tab pos="3781425" algn="r"/>
                <a:tab pos="4500563" algn="r"/>
                <a:tab pos="5221288" algn="r"/>
              </a:tabLs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tabLst>
                <a:tab pos="439738" algn="r"/>
                <a:tab pos="2420938" algn="r"/>
                <a:tab pos="3060700" algn="r"/>
                <a:tab pos="3781425" algn="r"/>
                <a:tab pos="4500563" algn="r"/>
                <a:tab pos="5221288" algn="r"/>
              </a:tabLs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tabLst>
                <a:tab pos="439738" algn="r"/>
                <a:tab pos="2420938" algn="r"/>
                <a:tab pos="3060700" algn="r"/>
                <a:tab pos="3781425" algn="r"/>
                <a:tab pos="4500563" algn="r"/>
                <a:tab pos="5221288" algn="r"/>
              </a:tabLs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tabLst>
                <a:tab pos="439738" algn="r"/>
                <a:tab pos="2420938" algn="r"/>
                <a:tab pos="3060700" algn="r"/>
                <a:tab pos="3781425" algn="r"/>
                <a:tab pos="4500563" algn="r"/>
                <a:tab pos="5221288" algn="r"/>
              </a:tabLs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sz="2400" b="1" dirty="0">
                <a:latin typeface="微软雅黑" panose="020B0503020204020204" pitchFamily="34" charset="-122"/>
                <a:ea typeface="微软雅黑" panose="020B0503020204020204" pitchFamily="34" charset="-122"/>
              </a:rPr>
              <a:t>DECLINE IN EXPORT INCOME OF PACIFIC PRIMARY</a:t>
            </a:r>
          </a:p>
          <a:p>
            <a:pPr algn="ctr" eaLnBrk="1" hangingPunct="1"/>
            <a:r>
              <a:rPr lang="en-US" altLang="zh-CN" sz="2400" b="1" dirty="0">
                <a:latin typeface="微软雅黑" panose="020B0503020204020204" pitchFamily="34" charset="-122"/>
                <a:ea typeface="微软雅黑" panose="020B0503020204020204" pitchFamily="34" charset="-122"/>
              </a:rPr>
              <a:t>EXPORTING COUNTRIES </a:t>
            </a:r>
            <a:r>
              <a:rPr lang="en-US" altLang="zh-CN" sz="2400" b="1" dirty="0" smtClean="0">
                <a:latin typeface="微软雅黑" panose="020B0503020204020204" pitchFamily="34" charset="-122"/>
                <a:ea typeface="微软雅黑" panose="020B0503020204020204" pitchFamily="34" charset="-122"/>
              </a:rPr>
              <a:t>1929-1933 (%)</a:t>
            </a:r>
            <a:endParaRPr lang="en-US" altLang="zh-CN" sz="2400" b="1" dirty="0">
              <a:latin typeface="微软雅黑" panose="020B0503020204020204" pitchFamily="34" charset="-122"/>
              <a:ea typeface="微软雅黑" panose="020B0503020204020204" pitchFamily="34" charset="-122"/>
            </a:endParaRPr>
          </a:p>
        </p:txBody>
      </p:sp>
      <p:graphicFrame>
        <p:nvGraphicFramePr>
          <p:cNvPr id="3" name="表格 2"/>
          <p:cNvGraphicFramePr>
            <a:graphicFrameLocks noGrp="1"/>
          </p:cNvGraphicFramePr>
          <p:nvPr>
            <p:extLst>
              <p:ext uri="{D42A27DB-BD31-4B8C-83A1-F6EECF244321}">
                <p14:modId xmlns:p14="http://schemas.microsoft.com/office/powerpoint/2010/main" val="917717020"/>
              </p:ext>
            </p:extLst>
          </p:nvPr>
        </p:nvGraphicFramePr>
        <p:xfrm>
          <a:off x="1553278" y="1028053"/>
          <a:ext cx="6156060" cy="4808485"/>
        </p:xfrm>
        <a:graphic>
          <a:graphicData uri="http://schemas.openxmlformats.org/drawingml/2006/table">
            <a:tbl>
              <a:tblPr firstRow="1" firstCol="1" bandRow="1">
                <a:tableStyleId>{69012ECD-51FC-41F1-AA8D-1B2483CD663E}</a:tableStyleId>
              </a:tblPr>
              <a:tblGrid>
                <a:gridCol w="2766271">
                  <a:extLst>
                    <a:ext uri="{9D8B030D-6E8A-4147-A177-3AD203B41FA5}">
                      <a16:colId xmlns:a16="http://schemas.microsoft.com/office/drawing/2014/main" val="20000"/>
                    </a:ext>
                  </a:extLst>
                </a:gridCol>
                <a:gridCol w="3389789">
                  <a:extLst>
                    <a:ext uri="{9D8B030D-6E8A-4147-A177-3AD203B41FA5}">
                      <a16:colId xmlns:a16="http://schemas.microsoft.com/office/drawing/2014/main" val="20001"/>
                    </a:ext>
                  </a:extLst>
                </a:gridCol>
              </a:tblGrid>
              <a:tr h="437135">
                <a:tc>
                  <a:txBody>
                    <a:bodyPr/>
                    <a:lstStyle/>
                    <a:p>
                      <a:pPr algn="l">
                        <a:spcAft>
                          <a:spcPts val="0"/>
                        </a:spcAft>
                      </a:pPr>
                      <a:r>
                        <a:rPr lang="en-US" altLang="zh-CN" sz="2000" kern="100" dirty="0" smtClean="0">
                          <a:effectLst/>
                          <a:latin typeface="微软雅黑" panose="020B0503020204020204" pitchFamily="34" charset="-122"/>
                          <a:ea typeface="微软雅黑" panose="020B0503020204020204" pitchFamily="34" charset="-122"/>
                          <a:cs typeface="Times New Roman" panose="02020603050405020304" pitchFamily="18" charset="0"/>
                        </a:rPr>
                        <a:t>COUNTRY</a:t>
                      </a:r>
                      <a:endParaRPr lang="zh-CN" sz="2000" kern="100" dirty="0">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68580" marR="68580" marT="0" marB="0" anchor="ctr"/>
                </a:tc>
                <a:tc>
                  <a:txBody>
                    <a:bodyPr/>
                    <a:lstStyle/>
                    <a:p>
                      <a:pPr algn="ctr">
                        <a:spcAft>
                          <a:spcPts val="0"/>
                        </a:spcAft>
                      </a:pPr>
                      <a:r>
                        <a:rPr lang="en-US" altLang="zh-CN" sz="2000" kern="100" dirty="0" smtClean="0">
                          <a:effectLst/>
                          <a:latin typeface="微软雅黑" panose="020B0503020204020204" pitchFamily="34" charset="-122"/>
                          <a:ea typeface="微软雅黑" panose="020B0503020204020204" pitchFamily="34" charset="-122"/>
                          <a:cs typeface="Times New Roman" panose="02020603050405020304" pitchFamily="18" charset="0"/>
                        </a:rPr>
                        <a:t>DECLINE</a:t>
                      </a:r>
                      <a:endParaRPr lang="zh-CN" sz="2000" kern="100" dirty="0">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68580" marR="68580" marT="0" marB="0" anchor="ctr"/>
                </a:tc>
                <a:extLst>
                  <a:ext uri="{0D108BD9-81ED-4DB2-BD59-A6C34878D82A}">
                    <a16:rowId xmlns:a16="http://schemas.microsoft.com/office/drawing/2014/main" val="10000"/>
                  </a:ext>
                </a:extLst>
              </a:tr>
              <a:tr h="437135">
                <a:tc>
                  <a:txBody>
                    <a:bodyPr/>
                    <a:lstStyle/>
                    <a:p>
                      <a:pPr algn="l">
                        <a:spcAft>
                          <a:spcPts val="0"/>
                        </a:spcAft>
                      </a:pPr>
                      <a:r>
                        <a:rPr lang="en-US" sz="2000" kern="100" dirty="0">
                          <a:effectLst/>
                          <a:latin typeface="微软雅黑" panose="020B0503020204020204" pitchFamily="34" charset="-122"/>
                          <a:ea typeface="微软雅黑" panose="020B0503020204020204" pitchFamily="34" charset="-122"/>
                        </a:rPr>
                        <a:t>Chile</a:t>
                      </a:r>
                      <a:endParaRPr lang="zh-CN" sz="2000" kern="100" dirty="0">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68580" marR="68580" marT="0" marB="0" anchor="ctr"/>
                </a:tc>
                <a:tc>
                  <a:txBody>
                    <a:bodyPr/>
                    <a:lstStyle/>
                    <a:p>
                      <a:pPr algn="ctr">
                        <a:spcAft>
                          <a:spcPts val="0"/>
                        </a:spcAft>
                      </a:pPr>
                      <a:r>
                        <a:rPr lang="en-US" sz="2000" kern="100" dirty="0" smtClean="0">
                          <a:effectLst/>
                          <a:latin typeface="微软雅黑" panose="020B0503020204020204" pitchFamily="34" charset="-122"/>
                          <a:ea typeface="微软雅黑" panose="020B0503020204020204" pitchFamily="34" charset="-122"/>
                        </a:rPr>
                        <a:t>80</a:t>
                      </a:r>
                      <a:endParaRPr lang="zh-CN" sz="2000" kern="100" dirty="0">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68580" marR="68580" marT="0" marB="0" anchor="ctr"/>
                </a:tc>
                <a:extLst>
                  <a:ext uri="{0D108BD9-81ED-4DB2-BD59-A6C34878D82A}">
                    <a16:rowId xmlns:a16="http://schemas.microsoft.com/office/drawing/2014/main" val="10001"/>
                  </a:ext>
                </a:extLst>
              </a:tr>
              <a:tr h="437135">
                <a:tc>
                  <a:txBody>
                    <a:bodyPr/>
                    <a:lstStyle/>
                    <a:p>
                      <a:pPr algn="l">
                        <a:spcAft>
                          <a:spcPts val="0"/>
                        </a:spcAft>
                      </a:pPr>
                      <a:r>
                        <a:rPr lang="en-US" sz="2000" kern="100" dirty="0">
                          <a:effectLst/>
                          <a:latin typeface="微软雅黑" panose="020B0503020204020204" pitchFamily="34" charset="-122"/>
                          <a:ea typeface="微软雅黑" panose="020B0503020204020204" pitchFamily="34" charset="-122"/>
                        </a:rPr>
                        <a:t>China	</a:t>
                      </a:r>
                      <a:endParaRPr lang="zh-CN" sz="2000" kern="100" dirty="0">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68580" marR="68580" marT="0" marB="0" anchor="ctr"/>
                </a:tc>
                <a:tc>
                  <a:txBody>
                    <a:bodyPr/>
                    <a:lstStyle/>
                    <a:p>
                      <a:pPr algn="ctr">
                        <a:spcAft>
                          <a:spcPts val="0"/>
                        </a:spcAft>
                      </a:pPr>
                      <a:r>
                        <a:rPr lang="en-US" sz="2000" kern="100">
                          <a:effectLst/>
                          <a:latin typeface="微软雅黑" panose="020B0503020204020204" pitchFamily="34" charset="-122"/>
                          <a:ea typeface="微软雅黑" panose="020B0503020204020204" pitchFamily="34" charset="-122"/>
                        </a:rPr>
                        <a:t>75-80</a:t>
                      </a:r>
                      <a:endParaRPr lang="zh-CN" sz="2000" kern="100">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68580" marR="68580" marT="0" marB="0" anchor="ctr"/>
                </a:tc>
                <a:extLst>
                  <a:ext uri="{0D108BD9-81ED-4DB2-BD59-A6C34878D82A}">
                    <a16:rowId xmlns:a16="http://schemas.microsoft.com/office/drawing/2014/main" val="10002"/>
                  </a:ext>
                </a:extLst>
              </a:tr>
              <a:tr h="437135">
                <a:tc>
                  <a:txBody>
                    <a:bodyPr/>
                    <a:lstStyle/>
                    <a:p>
                      <a:pPr algn="l">
                        <a:spcAft>
                          <a:spcPts val="0"/>
                        </a:spcAft>
                      </a:pPr>
                      <a:r>
                        <a:rPr lang="en-US" sz="2000" kern="100" dirty="0">
                          <a:effectLst/>
                          <a:latin typeface="微软雅黑" panose="020B0503020204020204" pitchFamily="34" charset="-122"/>
                          <a:ea typeface="微软雅黑" panose="020B0503020204020204" pitchFamily="34" charset="-122"/>
                        </a:rPr>
                        <a:t>Malaya	</a:t>
                      </a:r>
                      <a:endParaRPr lang="zh-CN" sz="2000" kern="100" dirty="0">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68580" marR="68580" marT="0" marB="0" anchor="ctr"/>
                </a:tc>
                <a:tc>
                  <a:txBody>
                    <a:bodyPr/>
                    <a:lstStyle/>
                    <a:p>
                      <a:pPr algn="ctr">
                        <a:spcAft>
                          <a:spcPts val="0"/>
                        </a:spcAft>
                      </a:pPr>
                      <a:r>
                        <a:rPr lang="en-US" sz="2000" kern="100">
                          <a:effectLst/>
                          <a:latin typeface="微软雅黑" panose="020B0503020204020204" pitchFamily="34" charset="-122"/>
                          <a:ea typeface="微软雅黑" panose="020B0503020204020204" pitchFamily="34" charset="-122"/>
                        </a:rPr>
                        <a:t>70-75</a:t>
                      </a:r>
                      <a:endParaRPr lang="zh-CN" sz="2000" kern="100">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68580" marR="68580" marT="0" marB="0" anchor="ctr"/>
                </a:tc>
                <a:extLst>
                  <a:ext uri="{0D108BD9-81ED-4DB2-BD59-A6C34878D82A}">
                    <a16:rowId xmlns:a16="http://schemas.microsoft.com/office/drawing/2014/main" val="10003"/>
                  </a:ext>
                </a:extLst>
              </a:tr>
              <a:tr h="437135">
                <a:tc>
                  <a:txBody>
                    <a:bodyPr/>
                    <a:lstStyle/>
                    <a:p>
                      <a:pPr algn="l">
                        <a:spcAft>
                          <a:spcPts val="0"/>
                        </a:spcAft>
                      </a:pPr>
                      <a:r>
                        <a:rPr lang="en-US" sz="2000" kern="100" dirty="0">
                          <a:effectLst/>
                          <a:latin typeface="微软雅黑" panose="020B0503020204020204" pitchFamily="34" charset="-122"/>
                          <a:ea typeface="微软雅黑" panose="020B0503020204020204" pitchFamily="34" charset="-122"/>
                        </a:rPr>
                        <a:t>Netherlands-Indies</a:t>
                      </a:r>
                      <a:endParaRPr lang="zh-CN" sz="2000" kern="100" dirty="0">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68580" marR="68580" marT="0" marB="0" anchor="ctr"/>
                </a:tc>
                <a:tc>
                  <a:txBody>
                    <a:bodyPr/>
                    <a:lstStyle/>
                    <a:p>
                      <a:pPr algn="ctr">
                        <a:spcAft>
                          <a:spcPts val="0"/>
                        </a:spcAft>
                      </a:pPr>
                      <a:r>
                        <a:rPr lang="en-US" sz="2000" kern="100" dirty="0">
                          <a:effectLst/>
                          <a:latin typeface="微软雅黑" panose="020B0503020204020204" pitchFamily="34" charset="-122"/>
                          <a:ea typeface="微软雅黑" panose="020B0503020204020204" pitchFamily="34" charset="-122"/>
                        </a:rPr>
                        <a:t>65-70</a:t>
                      </a:r>
                      <a:endParaRPr lang="zh-CN" sz="2000" kern="100" dirty="0">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68580" marR="68580" marT="0" marB="0" anchor="ctr"/>
                </a:tc>
                <a:extLst>
                  <a:ext uri="{0D108BD9-81ED-4DB2-BD59-A6C34878D82A}">
                    <a16:rowId xmlns:a16="http://schemas.microsoft.com/office/drawing/2014/main" val="10004"/>
                  </a:ext>
                </a:extLst>
              </a:tr>
              <a:tr h="437135">
                <a:tc>
                  <a:txBody>
                    <a:bodyPr/>
                    <a:lstStyle/>
                    <a:p>
                      <a:pPr algn="l">
                        <a:spcAft>
                          <a:spcPts val="0"/>
                        </a:spcAft>
                      </a:pPr>
                      <a:r>
                        <a:rPr lang="en-US" sz="2000" kern="100" dirty="0">
                          <a:effectLst/>
                          <a:latin typeface="微软雅黑" panose="020B0503020204020204" pitchFamily="34" charset="-122"/>
                          <a:ea typeface="微软雅黑" panose="020B0503020204020204" pitchFamily="34" charset="-122"/>
                        </a:rPr>
                        <a:t>Canada	</a:t>
                      </a:r>
                      <a:endParaRPr lang="zh-CN" sz="2000" kern="100" dirty="0">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68580" marR="68580" marT="0" marB="0" anchor="ctr"/>
                </a:tc>
                <a:tc>
                  <a:txBody>
                    <a:bodyPr/>
                    <a:lstStyle/>
                    <a:p>
                      <a:pPr algn="ctr">
                        <a:spcAft>
                          <a:spcPts val="0"/>
                        </a:spcAft>
                      </a:pPr>
                      <a:r>
                        <a:rPr lang="en-US" sz="2000" kern="100">
                          <a:effectLst/>
                          <a:latin typeface="微软雅黑" panose="020B0503020204020204" pitchFamily="34" charset="-122"/>
                          <a:ea typeface="微软雅黑" panose="020B0503020204020204" pitchFamily="34" charset="-122"/>
                        </a:rPr>
                        <a:t>65-70</a:t>
                      </a:r>
                      <a:endParaRPr lang="zh-CN" sz="2000" kern="100">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68580" marR="68580" marT="0" marB="0" anchor="ctr"/>
                </a:tc>
                <a:extLst>
                  <a:ext uri="{0D108BD9-81ED-4DB2-BD59-A6C34878D82A}">
                    <a16:rowId xmlns:a16="http://schemas.microsoft.com/office/drawing/2014/main" val="10005"/>
                  </a:ext>
                </a:extLst>
              </a:tr>
              <a:tr h="437135">
                <a:tc>
                  <a:txBody>
                    <a:bodyPr/>
                    <a:lstStyle/>
                    <a:p>
                      <a:pPr algn="l">
                        <a:spcAft>
                          <a:spcPts val="0"/>
                        </a:spcAft>
                      </a:pPr>
                      <a:r>
                        <a:rPr lang="en-US" sz="2000" kern="100" dirty="0">
                          <a:effectLst/>
                          <a:latin typeface="微软雅黑" panose="020B0503020204020204" pitchFamily="34" charset="-122"/>
                          <a:ea typeface="微软雅黑" panose="020B0503020204020204" pitchFamily="34" charset="-122"/>
                        </a:rPr>
                        <a:t>Mexico	</a:t>
                      </a:r>
                      <a:endParaRPr lang="zh-CN" sz="2000" kern="100" dirty="0">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68580" marR="68580" marT="0" marB="0" anchor="ctr"/>
                </a:tc>
                <a:tc>
                  <a:txBody>
                    <a:bodyPr/>
                    <a:lstStyle/>
                    <a:p>
                      <a:pPr algn="ctr">
                        <a:spcAft>
                          <a:spcPts val="0"/>
                        </a:spcAft>
                      </a:pPr>
                      <a:r>
                        <a:rPr lang="en-US" sz="2000" kern="100">
                          <a:effectLst/>
                          <a:latin typeface="微软雅黑" panose="020B0503020204020204" pitchFamily="34" charset="-122"/>
                          <a:ea typeface="微软雅黑" panose="020B0503020204020204" pitchFamily="34" charset="-122"/>
                        </a:rPr>
                        <a:t>65-70</a:t>
                      </a:r>
                      <a:endParaRPr lang="zh-CN" sz="2000" kern="100">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68580" marR="68580" marT="0" marB="0" anchor="ctr"/>
                </a:tc>
                <a:extLst>
                  <a:ext uri="{0D108BD9-81ED-4DB2-BD59-A6C34878D82A}">
                    <a16:rowId xmlns:a16="http://schemas.microsoft.com/office/drawing/2014/main" val="10006"/>
                  </a:ext>
                </a:extLst>
              </a:tr>
              <a:tr h="437135">
                <a:tc>
                  <a:txBody>
                    <a:bodyPr/>
                    <a:lstStyle/>
                    <a:p>
                      <a:pPr algn="l">
                        <a:spcAft>
                          <a:spcPts val="0"/>
                        </a:spcAft>
                      </a:pPr>
                      <a:r>
                        <a:rPr lang="en-US" sz="2000" kern="100" dirty="0">
                          <a:effectLst/>
                          <a:latin typeface="微软雅黑" panose="020B0503020204020204" pitchFamily="34" charset="-122"/>
                          <a:ea typeface="微软雅黑" panose="020B0503020204020204" pitchFamily="34" charset="-122"/>
                        </a:rPr>
                        <a:t>New Zealand</a:t>
                      </a:r>
                      <a:endParaRPr lang="zh-CN" sz="2000" kern="100" dirty="0">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68580" marR="68580" marT="0" marB="0" anchor="ctr"/>
                </a:tc>
                <a:tc>
                  <a:txBody>
                    <a:bodyPr/>
                    <a:lstStyle/>
                    <a:p>
                      <a:pPr algn="ctr">
                        <a:spcAft>
                          <a:spcPts val="0"/>
                        </a:spcAft>
                      </a:pPr>
                      <a:r>
                        <a:rPr lang="en-US" sz="2000" kern="100">
                          <a:effectLst/>
                          <a:latin typeface="微软雅黑" panose="020B0503020204020204" pitchFamily="34" charset="-122"/>
                          <a:ea typeface="微软雅黑" panose="020B0503020204020204" pitchFamily="34" charset="-122"/>
                        </a:rPr>
                        <a:t>55-60</a:t>
                      </a:r>
                      <a:endParaRPr lang="zh-CN" sz="2000" kern="100">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68580" marR="68580" marT="0" marB="0" anchor="ctr"/>
                </a:tc>
                <a:extLst>
                  <a:ext uri="{0D108BD9-81ED-4DB2-BD59-A6C34878D82A}">
                    <a16:rowId xmlns:a16="http://schemas.microsoft.com/office/drawing/2014/main" val="10007"/>
                  </a:ext>
                </a:extLst>
              </a:tr>
              <a:tr h="437135">
                <a:tc>
                  <a:txBody>
                    <a:bodyPr/>
                    <a:lstStyle/>
                    <a:p>
                      <a:pPr algn="l">
                        <a:spcAft>
                          <a:spcPts val="0"/>
                        </a:spcAft>
                      </a:pPr>
                      <a:r>
                        <a:rPr lang="en-US" sz="2000" kern="100" dirty="0">
                          <a:effectLst/>
                          <a:latin typeface="微软雅黑" panose="020B0503020204020204" pitchFamily="34" charset="-122"/>
                          <a:ea typeface="微软雅黑" panose="020B0503020204020204" pitchFamily="34" charset="-122"/>
                        </a:rPr>
                        <a:t>Australia	</a:t>
                      </a:r>
                      <a:endParaRPr lang="zh-CN" sz="2000" kern="100" dirty="0">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68580" marR="68580" marT="0" marB="0" anchor="ctr"/>
                </a:tc>
                <a:tc>
                  <a:txBody>
                    <a:bodyPr/>
                    <a:lstStyle/>
                    <a:p>
                      <a:pPr algn="ctr">
                        <a:spcAft>
                          <a:spcPts val="0"/>
                        </a:spcAft>
                      </a:pPr>
                      <a:r>
                        <a:rPr lang="en-US" sz="2000" kern="100">
                          <a:effectLst/>
                          <a:latin typeface="微软雅黑" panose="020B0503020204020204" pitchFamily="34" charset="-122"/>
                          <a:ea typeface="微软雅黑" panose="020B0503020204020204" pitchFamily="34" charset="-122"/>
                        </a:rPr>
                        <a:t>55-60</a:t>
                      </a:r>
                      <a:endParaRPr lang="zh-CN" sz="2000" kern="100">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68580" marR="68580" marT="0" marB="0" anchor="ctr"/>
                </a:tc>
                <a:extLst>
                  <a:ext uri="{0D108BD9-81ED-4DB2-BD59-A6C34878D82A}">
                    <a16:rowId xmlns:a16="http://schemas.microsoft.com/office/drawing/2014/main" val="10008"/>
                  </a:ext>
                </a:extLst>
              </a:tr>
              <a:tr h="437135">
                <a:tc>
                  <a:txBody>
                    <a:bodyPr/>
                    <a:lstStyle/>
                    <a:p>
                      <a:pPr algn="l">
                        <a:spcAft>
                          <a:spcPts val="0"/>
                        </a:spcAft>
                      </a:pPr>
                      <a:r>
                        <a:rPr lang="en-US" sz="2000" kern="100" dirty="0">
                          <a:effectLst/>
                          <a:latin typeface="微软雅黑" panose="020B0503020204020204" pitchFamily="34" charset="-122"/>
                          <a:ea typeface="微软雅黑" panose="020B0503020204020204" pitchFamily="34" charset="-122"/>
                        </a:rPr>
                        <a:t>Colombia	</a:t>
                      </a:r>
                      <a:endParaRPr lang="zh-CN" sz="2000" kern="100" dirty="0">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68580" marR="68580" marT="0" marB="0" anchor="ctr"/>
                </a:tc>
                <a:tc>
                  <a:txBody>
                    <a:bodyPr/>
                    <a:lstStyle/>
                    <a:p>
                      <a:pPr algn="ctr">
                        <a:spcAft>
                          <a:spcPts val="0"/>
                        </a:spcAft>
                      </a:pPr>
                      <a:r>
                        <a:rPr lang="en-US" sz="2000" kern="100">
                          <a:effectLst/>
                          <a:latin typeface="微软雅黑" panose="020B0503020204020204" pitchFamily="34" charset="-122"/>
                          <a:ea typeface="微软雅黑" panose="020B0503020204020204" pitchFamily="34" charset="-122"/>
                        </a:rPr>
                        <a:t>50-55</a:t>
                      </a:r>
                      <a:endParaRPr lang="zh-CN" sz="2000" kern="100">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68580" marR="68580" marT="0" marB="0" anchor="ctr"/>
                </a:tc>
                <a:extLst>
                  <a:ext uri="{0D108BD9-81ED-4DB2-BD59-A6C34878D82A}">
                    <a16:rowId xmlns:a16="http://schemas.microsoft.com/office/drawing/2014/main" val="10009"/>
                  </a:ext>
                </a:extLst>
              </a:tr>
              <a:tr h="437135">
                <a:tc>
                  <a:txBody>
                    <a:bodyPr/>
                    <a:lstStyle/>
                    <a:p>
                      <a:pPr algn="l">
                        <a:spcAft>
                          <a:spcPts val="0"/>
                        </a:spcAft>
                      </a:pPr>
                      <a:r>
                        <a:rPr lang="en-US" sz="2000" kern="100" dirty="0">
                          <a:effectLst/>
                          <a:latin typeface="微软雅黑" panose="020B0503020204020204" pitchFamily="34" charset="-122"/>
                          <a:ea typeface="微软雅黑" panose="020B0503020204020204" pitchFamily="34" charset="-122"/>
                        </a:rPr>
                        <a:t>Philippines	</a:t>
                      </a:r>
                      <a:endParaRPr lang="zh-CN" sz="2000" kern="100" dirty="0">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68580" marR="68580" marT="0" marB="0" anchor="ctr"/>
                </a:tc>
                <a:tc>
                  <a:txBody>
                    <a:bodyPr/>
                    <a:lstStyle/>
                    <a:p>
                      <a:pPr algn="ctr">
                        <a:spcAft>
                          <a:spcPts val="0"/>
                        </a:spcAft>
                      </a:pPr>
                      <a:r>
                        <a:rPr lang="en-US" sz="2000" kern="100" dirty="0">
                          <a:effectLst/>
                          <a:latin typeface="微软雅黑" panose="020B0503020204020204" pitchFamily="34" charset="-122"/>
                          <a:ea typeface="微软雅黑" panose="020B0503020204020204" pitchFamily="34" charset="-122"/>
                        </a:rPr>
                        <a:t>30-45</a:t>
                      </a:r>
                      <a:endParaRPr lang="zh-CN" sz="2000" kern="100" dirty="0">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68580" marR="68580" marT="0" marB="0" anchor="ctr"/>
                </a:tc>
                <a:extLst>
                  <a:ext uri="{0D108BD9-81ED-4DB2-BD59-A6C34878D82A}">
                    <a16:rowId xmlns:a16="http://schemas.microsoft.com/office/drawing/2014/main" val="10010"/>
                  </a:ext>
                </a:extLst>
              </a:tr>
            </a:tbl>
          </a:graphicData>
        </a:graphic>
      </p:graphicFrame>
    </p:spTree>
    <p:extLst>
      <p:ext uri="{BB962C8B-B14F-4D97-AF65-F5344CB8AC3E}">
        <p14:creationId xmlns:p14="http://schemas.microsoft.com/office/powerpoint/2010/main" val="242038044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第二节	国际金融危机的一般理论</a:t>
            </a:r>
            <a:endParaRPr lang="zh-CN" dirty="0"/>
          </a:p>
        </p:txBody>
      </p:sp>
      <p:sp>
        <p:nvSpPr>
          <p:cNvPr id="3" name="内容占位符 2"/>
          <p:cNvSpPr>
            <a:spLocks noGrp="1"/>
          </p:cNvSpPr>
          <p:nvPr>
            <p:ph idx="1"/>
          </p:nvPr>
        </p:nvSpPr>
        <p:spPr>
          <a:xfrm>
            <a:off x="971550" y="1447799"/>
            <a:ext cx="7200900" cy="4841879"/>
          </a:xfrm>
        </p:spPr>
        <p:txBody>
          <a:bodyPr>
            <a:normAutofit fontScale="92500" lnSpcReduction="20000"/>
          </a:bodyPr>
          <a:lstStyle/>
          <a:p>
            <a:pPr marL="514350" indent="-514350">
              <a:lnSpc>
                <a:spcPct val="100000"/>
              </a:lnSpc>
              <a:buFont typeface="+mj-lt"/>
              <a:buAutoNum type="arabicPeriod" startAt="2"/>
            </a:pPr>
            <a:r>
              <a:rPr lang="en-US" altLang="zh-CN" sz="2600" dirty="0" smtClean="0">
                <a:latin typeface="微软雅黑" panose="020B0503020204020204" pitchFamily="34" charset="-122"/>
                <a:ea typeface="微软雅黑" panose="020B0503020204020204" pitchFamily="34" charset="-122"/>
              </a:rPr>
              <a:t>International </a:t>
            </a:r>
            <a:r>
              <a:rPr lang="en-US" altLang="zh-CN" sz="2600" dirty="0">
                <a:latin typeface="微软雅黑" panose="020B0503020204020204" pitchFamily="34" charset="-122"/>
                <a:ea typeface="微软雅黑" panose="020B0503020204020204" pitchFamily="34" charset="-122"/>
              </a:rPr>
              <a:t>Debt Crisis</a:t>
            </a:r>
          </a:p>
          <a:p>
            <a:pPr marL="742950" lvl="1" indent="-514350">
              <a:lnSpc>
                <a:spcPct val="100000"/>
              </a:lnSpc>
              <a:buFont typeface="+mj-ea"/>
              <a:buAutoNum type="circleNumDbPlain"/>
            </a:pPr>
            <a:r>
              <a:rPr lang="zh-CN" altLang="en-US" sz="2400" dirty="0" smtClean="0">
                <a:latin typeface="微软雅黑" panose="020B0503020204020204" pitchFamily="34" charset="-122"/>
                <a:ea typeface="微软雅黑" panose="020B0503020204020204" pitchFamily="34" charset="-122"/>
              </a:rPr>
              <a:t>原因</a:t>
            </a:r>
          </a:p>
          <a:p>
            <a:pPr marL="0" lvl="2" indent="457200">
              <a:lnSpc>
                <a:spcPct val="110000"/>
              </a:lnSpc>
              <a:spcBef>
                <a:spcPts val="1800"/>
              </a:spcBef>
              <a:buNone/>
            </a:pPr>
            <a:r>
              <a:rPr lang="zh-CN" altLang="en-US" sz="2400" dirty="0">
                <a:latin typeface="微软雅黑" panose="020B0503020204020204" pitchFamily="34" charset="-122"/>
                <a:ea typeface="微软雅黑" panose="020B0503020204020204" pitchFamily="34" charset="-122"/>
              </a:rPr>
              <a:t>在</a:t>
            </a:r>
            <a:r>
              <a:rPr lang="en-US" altLang="zh-CN" sz="2400" dirty="0">
                <a:latin typeface="微软雅黑" panose="020B0503020204020204" pitchFamily="34" charset="-122"/>
                <a:ea typeface="微软雅黑" panose="020B0503020204020204" pitchFamily="34" charset="-122"/>
              </a:rPr>
              <a:t>1980</a:t>
            </a:r>
            <a:r>
              <a:rPr lang="zh-CN" altLang="en-US" sz="2400" dirty="0">
                <a:latin typeface="微软雅黑" panose="020B0503020204020204" pitchFamily="34" charset="-122"/>
                <a:ea typeface="微软雅黑" panose="020B0503020204020204" pitchFamily="34" charset="-122"/>
              </a:rPr>
              <a:t>年代以前，欧洲、日本的重建和第三世界国家的发展均不需</a:t>
            </a:r>
            <a:r>
              <a:rPr lang="en-US" altLang="zh-CN" sz="2400" dirty="0">
                <a:latin typeface="微软雅黑" panose="020B0503020204020204" pitchFamily="34" charset="-122"/>
                <a:ea typeface="微软雅黑" panose="020B0503020204020204" pitchFamily="34" charset="-122"/>
              </a:rPr>
              <a:t>IMF</a:t>
            </a:r>
            <a:r>
              <a:rPr lang="zh-CN" altLang="en-US" sz="2400" dirty="0">
                <a:latin typeface="微软雅黑" panose="020B0503020204020204" pitchFamily="34" charset="-122"/>
                <a:ea typeface="微软雅黑" panose="020B0503020204020204" pitchFamily="34" charset="-122"/>
              </a:rPr>
              <a:t>和世界银行的资金支持。	</a:t>
            </a:r>
          </a:p>
          <a:p>
            <a:pPr marL="0" lvl="2" indent="457200">
              <a:lnSpc>
                <a:spcPct val="110000"/>
              </a:lnSpc>
              <a:spcBef>
                <a:spcPts val="1800"/>
              </a:spcBef>
              <a:buNone/>
            </a:pPr>
            <a:r>
              <a:rPr lang="zh-CN" altLang="en-US" sz="2400" dirty="0" smtClean="0">
                <a:latin typeface="微软雅黑" panose="020B0503020204020204" pitchFamily="34" charset="-122"/>
                <a:ea typeface="微软雅黑" panose="020B0503020204020204" pitchFamily="34" charset="-122"/>
              </a:rPr>
              <a:t>早期</a:t>
            </a:r>
            <a:r>
              <a:rPr lang="zh-CN" altLang="en-US" sz="2400" dirty="0">
                <a:latin typeface="微软雅黑" panose="020B0503020204020204" pitchFamily="34" charset="-122"/>
                <a:ea typeface="微软雅黑" panose="020B0503020204020204" pitchFamily="34" charset="-122"/>
              </a:rPr>
              <a:t>，双边政府的援助取代世界银行的角色：马歇尔计划为欧洲战后重建融资，也为日本、韩国、台湾提供资金，甚至援助更广泛的“友好的”第三世界国家。</a:t>
            </a:r>
            <a:r>
              <a:rPr lang="en-US" altLang="zh-CN" sz="2400" dirty="0">
                <a:latin typeface="微软雅黑" panose="020B0503020204020204" pitchFamily="34" charset="-122"/>
                <a:ea typeface="微软雅黑" panose="020B0503020204020204" pitchFamily="34" charset="-122"/>
              </a:rPr>
              <a:t>1948</a:t>
            </a:r>
            <a:r>
              <a:rPr lang="zh-CN" altLang="en-US" sz="2400" dirty="0">
                <a:latin typeface="微软雅黑" panose="020B0503020204020204" pitchFamily="34" charset="-122"/>
                <a:ea typeface="微软雅黑" panose="020B0503020204020204" pitchFamily="34" charset="-122"/>
              </a:rPr>
              <a:t>－</a:t>
            </a:r>
            <a:r>
              <a:rPr lang="en-US" altLang="zh-CN" sz="2400" dirty="0" smtClean="0">
                <a:latin typeface="微软雅黑" panose="020B0503020204020204" pitchFamily="34" charset="-122"/>
                <a:ea typeface="微软雅黑" panose="020B0503020204020204" pitchFamily="34" charset="-122"/>
              </a:rPr>
              <a:t>52</a:t>
            </a:r>
            <a:r>
              <a:rPr altLang="en-US" sz="2400" dirty="0" smtClean="0">
                <a:latin typeface="微软雅黑" panose="020B0503020204020204" pitchFamily="34" charset="-122"/>
                <a:ea typeface="微软雅黑" panose="020B0503020204020204" pitchFamily="34" charset="-122"/>
              </a:rPr>
              <a:t>年</a:t>
            </a:r>
            <a:r>
              <a:rPr lang="zh-CN" altLang="en-US" sz="2400" dirty="0" smtClean="0">
                <a:latin typeface="微软雅黑" panose="020B0503020204020204" pitchFamily="34" charset="-122"/>
                <a:ea typeface="微软雅黑" panose="020B0503020204020204" pitchFamily="34" charset="-122"/>
              </a:rPr>
              <a:t>，</a:t>
            </a:r>
            <a:r>
              <a:rPr lang="zh-CN" altLang="en-US" sz="2400" dirty="0">
                <a:latin typeface="微软雅黑" panose="020B0503020204020204" pitchFamily="34" charset="-122"/>
                <a:ea typeface="微软雅黑" panose="020B0503020204020204" pitchFamily="34" charset="-122"/>
              </a:rPr>
              <a:t>马歇尔计划共提供</a:t>
            </a:r>
            <a:r>
              <a:rPr lang="en-US" altLang="zh-CN" sz="2400" dirty="0">
                <a:latin typeface="微软雅黑" panose="020B0503020204020204" pitchFamily="34" charset="-122"/>
                <a:ea typeface="微软雅黑" panose="020B0503020204020204" pitchFamily="34" charset="-122"/>
              </a:rPr>
              <a:t>120</a:t>
            </a:r>
            <a:r>
              <a:rPr lang="zh-CN" altLang="en-US" sz="2400" dirty="0">
                <a:latin typeface="微软雅黑" panose="020B0503020204020204" pitchFamily="34" charset="-122"/>
                <a:ea typeface="微软雅黑" panose="020B0503020204020204" pitchFamily="34" charset="-122"/>
              </a:rPr>
              <a:t>亿美元海外援助，大大超过了</a:t>
            </a:r>
            <a:r>
              <a:rPr lang="en-US" altLang="zh-CN" sz="2400" dirty="0">
                <a:latin typeface="微软雅黑" panose="020B0503020204020204" pitchFamily="34" charset="-122"/>
                <a:ea typeface="微软雅黑" panose="020B0503020204020204" pitchFamily="34" charset="-122"/>
              </a:rPr>
              <a:t>IMF</a:t>
            </a:r>
            <a:r>
              <a:rPr lang="zh-CN" altLang="en-US" sz="2400" dirty="0">
                <a:latin typeface="微软雅黑" panose="020B0503020204020204" pitchFamily="34" charset="-122"/>
                <a:ea typeface="微软雅黑" panose="020B0503020204020204" pitchFamily="34" charset="-122"/>
              </a:rPr>
              <a:t>和世界银行的全部资本金。</a:t>
            </a:r>
          </a:p>
          <a:p>
            <a:pPr marL="0" lvl="2" indent="457200">
              <a:lnSpc>
                <a:spcPct val="110000"/>
              </a:lnSpc>
              <a:spcBef>
                <a:spcPts val="1800"/>
              </a:spcBef>
              <a:buNone/>
            </a:pPr>
            <a:r>
              <a:rPr lang="zh-CN" altLang="en-US" sz="2400" dirty="0" smtClean="0">
                <a:latin typeface="微软雅黑" panose="020B0503020204020204" pitchFamily="34" charset="-122"/>
                <a:ea typeface="微软雅黑" panose="020B0503020204020204" pitchFamily="34" charset="-122"/>
              </a:rPr>
              <a:t>但是</a:t>
            </a:r>
            <a:r>
              <a:rPr lang="zh-CN" altLang="en-US" sz="2400" dirty="0">
                <a:latin typeface="微软雅黑" panose="020B0503020204020204" pitchFamily="34" charset="-122"/>
                <a:ea typeface="微软雅黑" panose="020B0503020204020204" pitchFamily="34" charset="-122"/>
              </a:rPr>
              <a:t>，到了</a:t>
            </a:r>
            <a:r>
              <a:rPr lang="en-US" altLang="zh-CN" sz="2400" dirty="0">
                <a:latin typeface="微软雅黑" panose="020B0503020204020204" pitchFamily="34" charset="-122"/>
                <a:ea typeface="微软雅黑" panose="020B0503020204020204" pitchFamily="34" charset="-122"/>
              </a:rPr>
              <a:t>1960</a:t>
            </a:r>
            <a:r>
              <a:rPr lang="zh-CN" altLang="en-US" sz="2400" dirty="0">
                <a:latin typeface="微软雅黑" panose="020B0503020204020204" pitchFamily="34" charset="-122"/>
                <a:ea typeface="微软雅黑" panose="020B0503020204020204" pitchFamily="34" charset="-122"/>
              </a:rPr>
              <a:t>年代，随着欧洲货币市场的发展，私人银行业越来越多地向各国政府提供贷款，成为主要的政府债权人。其结果是：</a:t>
            </a:r>
          </a:p>
        </p:txBody>
      </p:sp>
      <p:sp>
        <p:nvSpPr>
          <p:cNvPr id="5" name="页脚占位符 4"/>
          <p:cNvSpPr>
            <a:spLocks noGrp="1"/>
          </p:cNvSpPr>
          <p:nvPr>
            <p:ph type="ftr" sz="quarter" idx="11"/>
          </p:nvPr>
        </p:nvSpPr>
        <p:spPr/>
        <p:txBody>
          <a:bodyPr/>
          <a:lstStyle/>
          <a:p>
            <a:r>
              <a:rPr lang="zh-CN" altLang="en-US" smtClean="0"/>
              <a:t>国际金融学 范小云</a:t>
            </a:r>
            <a:endParaRPr lang="zh-CN" altLang="en-US" dirty="0"/>
          </a:p>
        </p:txBody>
      </p:sp>
    </p:spTree>
    <p:extLst>
      <p:ext uri="{BB962C8B-B14F-4D97-AF65-F5344CB8AC3E}">
        <p14:creationId xmlns:p14="http://schemas.microsoft.com/office/powerpoint/2010/main" val="193220544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Effect transition="in" filter="fade">
                                      <p:cBhvr>
                                        <p:cTn id="7" dur="500"/>
                                        <p:tgtEl>
                                          <p:spTgt spid="3">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2" end="2"/>
                                            </p:txEl>
                                          </p:spTgt>
                                        </p:tgtEl>
                                        <p:attrNameLst>
                                          <p:attrName>style.visibility</p:attrName>
                                        </p:attrNameLst>
                                      </p:cBhvr>
                                      <p:to>
                                        <p:strVal val="visible"/>
                                      </p:to>
                                    </p:set>
                                    <p:animEffect transition="in" filter="fade">
                                      <p:cBhvr>
                                        <p:cTn id="12" dur="500"/>
                                        <p:tgtEl>
                                          <p:spTgt spid="3">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
                                            <p:txEl>
                                              <p:pRg st="3" end="3"/>
                                            </p:txEl>
                                          </p:spTgt>
                                        </p:tgtEl>
                                        <p:attrNameLst>
                                          <p:attrName>style.visibility</p:attrName>
                                        </p:attrNameLst>
                                      </p:cBhvr>
                                      <p:to>
                                        <p:strVal val="visible"/>
                                      </p:to>
                                    </p:set>
                                    <p:animEffect transition="in" filter="fade">
                                      <p:cBhvr>
                                        <p:cTn id="17" dur="500"/>
                                        <p:tgtEl>
                                          <p:spTgt spid="3">
                                            <p:txEl>
                                              <p:pRg st="3" end="3"/>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3">
                                            <p:txEl>
                                              <p:pRg st="4" end="4"/>
                                            </p:txEl>
                                          </p:spTgt>
                                        </p:tgtEl>
                                        <p:attrNameLst>
                                          <p:attrName>style.visibility</p:attrName>
                                        </p:attrNameLst>
                                      </p:cBhvr>
                                      <p:to>
                                        <p:strVal val="visible"/>
                                      </p:to>
                                    </p:set>
                                    <p:animEffect transition="in" filter="fade">
                                      <p:cBhvr>
                                        <p:cTn id="22" dur="500"/>
                                        <p:tgtEl>
                                          <p:spTgt spid="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第二节	国际金融危机的一般理论</a:t>
            </a:r>
            <a:endParaRPr lang="zh-CN" dirty="0"/>
          </a:p>
        </p:txBody>
      </p:sp>
      <p:sp>
        <p:nvSpPr>
          <p:cNvPr id="3" name="内容占位符 2"/>
          <p:cNvSpPr>
            <a:spLocks noGrp="1"/>
          </p:cNvSpPr>
          <p:nvPr>
            <p:ph idx="1"/>
          </p:nvPr>
        </p:nvSpPr>
        <p:spPr>
          <a:xfrm>
            <a:off x="971550" y="1447799"/>
            <a:ext cx="7200900" cy="4841879"/>
          </a:xfrm>
        </p:spPr>
        <p:txBody>
          <a:bodyPr>
            <a:normAutofit fontScale="77500" lnSpcReduction="20000"/>
          </a:bodyPr>
          <a:lstStyle/>
          <a:p>
            <a:pPr marL="514350" indent="-514350">
              <a:lnSpc>
                <a:spcPct val="100000"/>
              </a:lnSpc>
              <a:buFont typeface="+mj-lt"/>
              <a:buAutoNum type="arabicPeriod" startAt="2"/>
            </a:pPr>
            <a:r>
              <a:rPr lang="en-US" altLang="zh-CN" sz="2600" dirty="0" smtClean="0">
                <a:latin typeface="微软雅黑" panose="020B0503020204020204" pitchFamily="34" charset="-122"/>
                <a:ea typeface="微软雅黑" panose="020B0503020204020204" pitchFamily="34" charset="-122"/>
              </a:rPr>
              <a:t>International </a:t>
            </a:r>
            <a:r>
              <a:rPr lang="en-US" altLang="zh-CN" sz="2600" dirty="0">
                <a:latin typeface="微软雅黑" panose="020B0503020204020204" pitchFamily="34" charset="-122"/>
                <a:ea typeface="微软雅黑" panose="020B0503020204020204" pitchFamily="34" charset="-122"/>
              </a:rPr>
              <a:t>Debt Crisis</a:t>
            </a:r>
          </a:p>
          <a:p>
            <a:pPr marL="742950" lvl="1" indent="-514350">
              <a:lnSpc>
                <a:spcPct val="100000"/>
              </a:lnSpc>
              <a:buFont typeface="+mj-ea"/>
              <a:buAutoNum type="circleNumDbPlain"/>
            </a:pPr>
            <a:r>
              <a:rPr lang="zh-CN" altLang="en-US" sz="2400" dirty="0">
                <a:latin typeface="微软雅黑" panose="020B0503020204020204" pitchFamily="34" charset="-122"/>
                <a:ea typeface="微软雅黑" panose="020B0503020204020204" pitchFamily="34" charset="-122"/>
              </a:rPr>
              <a:t>原因和结果</a:t>
            </a:r>
          </a:p>
          <a:p>
            <a:pPr marL="0" lvl="2" indent="457200">
              <a:lnSpc>
                <a:spcPct val="110000"/>
              </a:lnSpc>
              <a:spcBef>
                <a:spcPts val="1800"/>
              </a:spcBef>
              <a:buNone/>
            </a:pPr>
            <a:r>
              <a:rPr lang="zh-CN" altLang="en-US" sz="2400" dirty="0">
                <a:latin typeface="微软雅黑" panose="020B0503020204020204" pitchFamily="34" charset="-122"/>
                <a:ea typeface="微软雅黑" panose="020B0503020204020204" pitchFamily="34" charset="-122"/>
              </a:rPr>
              <a:t>到</a:t>
            </a:r>
            <a:r>
              <a:rPr lang="en-US" altLang="zh-CN" sz="2400" dirty="0">
                <a:latin typeface="微软雅黑" panose="020B0503020204020204" pitchFamily="34" charset="-122"/>
                <a:ea typeface="微软雅黑" panose="020B0503020204020204" pitchFamily="34" charset="-122"/>
              </a:rPr>
              <a:t>1980</a:t>
            </a:r>
            <a:r>
              <a:rPr lang="zh-CN" altLang="en-US" sz="2400" dirty="0">
                <a:latin typeface="微软雅黑" panose="020B0503020204020204" pitchFamily="34" charset="-122"/>
                <a:ea typeface="微软雅黑" panose="020B0503020204020204" pitchFamily="34" charset="-122"/>
              </a:rPr>
              <a:t>年代早期，发生了全球债务危机。第三世界国家已没有偿还能力的西方商业银行贷款达到</a:t>
            </a:r>
            <a:r>
              <a:rPr lang="en-US" altLang="zh-CN" sz="2400" dirty="0">
                <a:latin typeface="微软雅黑" panose="020B0503020204020204" pitchFamily="34" charset="-122"/>
                <a:ea typeface="微软雅黑" panose="020B0503020204020204" pitchFamily="34" charset="-122"/>
              </a:rPr>
              <a:t>5000</a:t>
            </a:r>
            <a:r>
              <a:rPr lang="zh-CN" altLang="en-US" sz="2400" dirty="0">
                <a:latin typeface="微软雅黑" panose="020B0503020204020204" pitchFamily="34" charset="-122"/>
                <a:ea typeface="微软雅黑" panose="020B0503020204020204" pitchFamily="34" charset="-122"/>
              </a:rPr>
              <a:t>亿美元。</a:t>
            </a:r>
          </a:p>
          <a:p>
            <a:pPr marL="0" lvl="2" indent="457200">
              <a:lnSpc>
                <a:spcPct val="110000"/>
              </a:lnSpc>
              <a:spcBef>
                <a:spcPts val="1800"/>
              </a:spcBef>
              <a:buNone/>
            </a:pPr>
            <a:r>
              <a:rPr lang="zh-CN" altLang="en-US" sz="2400" dirty="0" smtClean="0">
                <a:latin typeface="微软雅黑" panose="020B0503020204020204" pitchFamily="34" charset="-122"/>
                <a:ea typeface="微软雅黑" panose="020B0503020204020204" pitchFamily="34" charset="-122"/>
              </a:rPr>
              <a:t>究</a:t>
            </a:r>
            <a:r>
              <a:rPr lang="zh-CN" altLang="en-US" sz="2400" dirty="0">
                <a:latin typeface="微软雅黑" panose="020B0503020204020204" pitchFamily="34" charset="-122"/>
                <a:ea typeface="微软雅黑" panose="020B0503020204020204" pitchFamily="34" charset="-122"/>
              </a:rPr>
              <a:t>其原因，除了国际银行竞争加剧原因外</a:t>
            </a:r>
            <a:r>
              <a:rPr lang="zh-CN" altLang="en-US" sz="2400" dirty="0" smtClean="0">
                <a:latin typeface="微软雅黑" panose="020B0503020204020204" pitchFamily="34" charset="-122"/>
                <a:ea typeface="微软雅黑" panose="020B0503020204020204" pitchFamily="34" charset="-122"/>
              </a:rPr>
              <a:t>，</a:t>
            </a:r>
            <a:endParaRPr lang="en-US" altLang="zh-CN" sz="2400" dirty="0" smtClean="0">
              <a:latin typeface="微软雅黑" panose="020B0503020204020204" pitchFamily="34" charset="-122"/>
              <a:ea typeface="微软雅黑" panose="020B0503020204020204" pitchFamily="34" charset="-122"/>
            </a:endParaRPr>
          </a:p>
          <a:p>
            <a:pPr marL="800100" lvl="4" indent="-342900">
              <a:lnSpc>
                <a:spcPct val="110000"/>
              </a:lnSpc>
              <a:spcBef>
                <a:spcPts val="1800"/>
              </a:spcBef>
              <a:buFont typeface="Wingdings" panose="05000000000000000000" pitchFamily="2" charset="2"/>
              <a:buChar char="Ø"/>
            </a:pPr>
            <a:r>
              <a:rPr lang="zh-CN" altLang="en-US" sz="2400" dirty="0">
                <a:latin typeface="微软雅黑" panose="020B0503020204020204" pitchFamily="34" charset="-122"/>
                <a:ea typeface="微软雅黑" panose="020B0503020204020204" pitchFamily="34" charset="-122"/>
              </a:rPr>
              <a:t>拉美、非洲和东欧国家政府由于石油危机，对贷款有永不满足的需求；</a:t>
            </a:r>
          </a:p>
          <a:p>
            <a:pPr marL="800100" lvl="4" indent="-342900">
              <a:lnSpc>
                <a:spcPct val="110000"/>
              </a:lnSpc>
              <a:spcBef>
                <a:spcPts val="1800"/>
              </a:spcBef>
              <a:buFont typeface="Wingdings" panose="05000000000000000000" pitchFamily="2" charset="2"/>
              <a:buChar char="Ø"/>
            </a:pPr>
            <a:r>
              <a:rPr lang="zh-CN" altLang="en-US" sz="2400" dirty="0">
                <a:latin typeface="微软雅黑" panose="020B0503020204020204" pitchFamily="34" charset="-122"/>
                <a:ea typeface="微软雅黑" panose="020B0503020204020204" pitchFamily="34" charset="-122"/>
              </a:rPr>
              <a:t>国家主导型发展模式的诱惑（日韩成功）；</a:t>
            </a:r>
          </a:p>
          <a:p>
            <a:pPr marL="800100" lvl="4" indent="-342900">
              <a:lnSpc>
                <a:spcPct val="110000"/>
              </a:lnSpc>
              <a:spcBef>
                <a:spcPts val="1800"/>
              </a:spcBef>
              <a:buFont typeface="Wingdings" panose="05000000000000000000" pitchFamily="2" charset="2"/>
              <a:buChar char="Ø"/>
            </a:pPr>
            <a:r>
              <a:rPr lang="en-US" altLang="zh-CN" sz="2400" dirty="0">
                <a:latin typeface="微软雅黑" panose="020B0503020204020204" pitchFamily="34" charset="-122"/>
                <a:ea typeface="微软雅黑" panose="020B0503020204020204" pitchFamily="34" charset="-122"/>
              </a:rPr>
              <a:t>1970</a:t>
            </a:r>
            <a:r>
              <a:rPr lang="zh-CN" altLang="en-US" sz="2400" dirty="0">
                <a:latin typeface="微软雅黑" panose="020B0503020204020204" pitchFamily="34" charset="-122"/>
                <a:ea typeface="微软雅黑" panose="020B0503020204020204" pitchFamily="34" charset="-122"/>
              </a:rPr>
              <a:t>年代一系列冲击（越战引发的通胀危机；</a:t>
            </a:r>
            <a:r>
              <a:rPr lang="en-US" altLang="zh-CN" sz="2400" dirty="0">
                <a:latin typeface="微软雅黑" panose="020B0503020204020204" pitchFamily="34" charset="-122"/>
                <a:ea typeface="微软雅黑" panose="020B0503020204020204" pitchFamily="34" charset="-122"/>
              </a:rPr>
              <a:t>1973</a:t>
            </a:r>
            <a:r>
              <a:rPr lang="zh-CN" altLang="en-US" sz="2400" dirty="0">
                <a:latin typeface="微软雅黑" panose="020B0503020204020204" pitchFamily="34" charset="-122"/>
                <a:ea typeface="微软雅黑" panose="020B0503020204020204" pitchFamily="34" charset="-122"/>
              </a:rPr>
              <a:t>和</a:t>
            </a:r>
            <a:r>
              <a:rPr lang="en-US" altLang="zh-CN" sz="2400" dirty="0">
                <a:latin typeface="微软雅黑" panose="020B0503020204020204" pitchFamily="34" charset="-122"/>
                <a:ea typeface="微软雅黑" panose="020B0503020204020204" pitchFamily="34" charset="-122"/>
              </a:rPr>
              <a:t>1979</a:t>
            </a:r>
            <a:r>
              <a:rPr lang="zh-CN" altLang="en-US" sz="2400" dirty="0">
                <a:latin typeface="微软雅黑" panose="020B0503020204020204" pitchFamily="34" charset="-122"/>
                <a:ea typeface="微软雅黑" panose="020B0503020204020204" pitchFamily="34" charset="-122"/>
              </a:rPr>
              <a:t>年的石油危机；</a:t>
            </a:r>
            <a:r>
              <a:rPr lang="en-US" altLang="zh-CN" sz="2400" dirty="0">
                <a:latin typeface="微软雅黑" panose="020B0503020204020204" pitchFamily="34" charset="-122"/>
                <a:ea typeface="微软雅黑" panose="020B0503020204020204" pitchFamily="34" charset="-122"/>
              </a:rPr>
              <a:t>1974</a:t>
            </a:r>
            <a:r>
              <a:rPr lang="zh-CN" altLang="en-US" sz="2400" dirty="0">
                <a:latin typeface="微软雅黑" panose="020B0503020204020204" pitchFamily="34" charset="-122"/>
                <a:ea typeface="微软雅黑" panose="020B0503020204020204" pitchFamily="34" charset="-122"/>
              </a:rPr>
              <a:t>－</a:t>
            </a:r>
            <a:r>
              <a:rPr lang="en-US" altLang="zh-CN" sz="2400" dirty="0">
                <a:latin typeface="微软雅黑" panose="020B0503020204020204" pitchFamily="34" charset="-122"/>
                <a:ea typeface="微软雅黑" panose="020B0503020204020204" pitchFamily="34" charset="-122"/>
              </a:rPr>
              <a:t>76</a:t>
            </a:r>
            <a:r>
              <a:rPr lang="zh-CN" altLang="en-US" sz="2400" dirty="0">
                <a:latin typeface="微软雅黑" panose="020B0503020204020204" pitchFamily="34" charset="-122"/>
                <a:ea typeface="微软雅黑" panose="020B0503020204020204" pitchFamily="34" charset="-122"/>
              </a:rPr>
              <a:t>年全球经济衰退减少西方国家的进口需求，而石油危机增加了第三世界国家的进口，因此产生经常账户赤字需要融资；全球利率的上升</a:t>
            </a:r>
            <a:r>
              <a:rPr lang="zh-CN" altLang="en-US" sz="2400" dirty="0" smtClean="0">
                <a:latin typeface="微软雅黑" panose="020B0503020204020204" pitchFamily="34" charset="-122"/>
                <a:ea typeface="微软雅黑" panose="020B0503020204020204" pitchFamily="34" charset="-122"/>
              </a:rPr>
              <a:t>）</a:t>
            </a:r>
            <a:endParaRPr lang="zh-CN" altLang="en-US" sz="2400" dirty="0">
              <a:latin typeface="微软雅黑" panose="020B0503020204020204" pitchFamily="34" charset="-122"/>
              <a:ea typeface="微软雅黑" panose="020B0503020204020204" pitchFamily="34" charset="-122"/>
            </a:endParaRPr>
          </a:p>
        </p:txBody>
      </p:sp>
      <p:sp>
        <p:nvSpPr>
          <p:cNvPr id="5" name="页脚占位符 4"/>
          <p:cNvSpPr>
            <a:spLocks noGrp="1"/>
          </p:cNvSpPr>
          <p:nvPr>
            <p:ph type="ftr" sz="quarter" idx="11"/>
          </p:nvPr>
        </p:nvSpPr>
        <p:spPr/>
        <p:txBody>
          <a:bodyPr/>
          <a:lstStyle/>
          <a:p>
            <a:r>
              <a:rPr lang="zh-CN" altLang="en-US" smtClean="0"/>
              <a:t>国际金融学 范小云</a:t>
            </a:r>
            <a:endParaRPr lang="zh-CN" altLang="en-US" dirty="0"/>
          </a:p>
        </p:txBody>
      </p:sp>
    </p:spTree>
    <p:extLst>
      <p:ext uri="{BB962C8B-B14F-4D97-AF65-F5344CB8AC3E}">
        <p14:creationId xmlns:p14="http://schemas.microsoft.com/office/powerpoint/2010/main" val="277999339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Effect transition="in" filter="fade">
                                      <p:cBhvr>
                                        <p:cTn id="7" dur="500"/>
                                        <p:tgtEl>
                                          <p:spTgt spid="3">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2" end="2"/>
                                            </p:txEl>
                                          </p:spTgt>
                                        </p:tgtEl>
                                        <p:attrNameLst>
                                          <p:attrName>style.visibility</p:attrName>
                                        </p:attrNameLst>
                                      </p:cBhvr>
                                      <p:to>
                                        <p:strVal val="visible"/>
                                      </p:to>
                                    </p:set>
                                    <p:animEffect transition="in" filter="fade">
                                      <p:cBhvr>
                                        <p:cTn id="12" dur="500"/>
                                        <p:tgtEl>
                                          <p:spTgt spid="3">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
                                            <p:txEl>
                                              <p:pRg st="3" end="3"/>
                                            </p:txEl>
                                          </p:spTgt>
                                        </p:tgtEl>
                                        <p:attrNameLst>
                                          <p:attrName>style.visibility</p:attrName>
                                        </p:attrNameLst>
                                      </p:cBhvr>
                                      <p:to>
                                        <p:strVal val="visible"/>
                                      </p:to>
                                    </p:set>
                                    <p:animEffect transition="in" filter="fade">
                                      <p:cBhvr>
                                        <p:cTn id="17" dur="500"/>
                                        <p:tgtEl>
                                          <p:spTgt spid="3">
                                            <p:txEl>
                                              <p:pRg st="3" end="3"/>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3">
                                            <p:txEl>
                                              <p:pRg st="4" end="4"/>
                                            </p:txEl>
                                          </p:spTgt>
                                        </p:tgtEl>
                                        <p:attrNameLst>
                                          <p:attrName>style.visibility</p:attrName>
                                        </p:attrNameLst>
                                      </p:cBhvr>
                                      <p:to>
                                        <p:strVal val="visible"/>
                                      </p:to>
                                    </p:set>
                                    <p:animEffect transition="in" filter="fade">
                                      <p:cBhvr>
                                        <p:cTn id="22" dur="500"/>
                                        <p:tgtEl>
                                          <p:spTgt spid="3">
                                            <p:txEl>
                                              <p:pRg st="4" end="4"/>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animEffect transition="in" filter="fade">
                                      <p:cBhvr>
                                        <p:cTn id="27" dur="500"/>
                                        <p:tgtEl>
                                          <p:spTgt spid="3">
                                            <p:txEl>
                                              <p:pRg st="5" end="5"/>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3">
                                            <p:txEl>
                                              <p:pRg st="6" end="6"/>
                                            </p:txEl>
                                          </p:spTgt>
                                        </p:tgtEl>
                                        <p:attrNameLst>
                                          <p:attrName>style.visibility</p:attrName>
                                        </p:attrNameLst>
                                      </p:cBhvr>
                                      <p:to>
                                        <p:strVal val="visible"/>
                                      </p:to>
                                    </p:set>
                                    <p:animEffect transition="in" filter="fade">
                                      <p:cBhvr>
                                        <p:cTn id="32" dur="500"/>
                                        <p:tgtEl>
                                          <p:spTgt spid="3">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第二节	国际金融危机的一般理论</a:t>
            </a:r>
            <a:endParaRPr lang="zh-CN" dirty="0"/>
          </a:p>
        </p:txBody>
      </p:sp>
      <p:sp>
        <p:nvSpPr>
          <p:cNvPr id="3" name="内容占位符 2"/>
          <p:cNvSpPr>
            <a:spLocks noGrp="1"/>
          </p:cNvSpPr>
          <p:nvPr>
            <p:ph idx="1"/>
          </p:nvPr>
        </p:nvSpPr>
        <p:spPr>
          <a:xfrm>
            <a:off x="971550" y="1447799"/>
            <a:ext cx="7200900" cy="4841879"/>
          </a:xfrm>
        </p:spPr>
        <p:txBody>
          <a:bodyPr>
            <a:normAutofit/>
          </a:bodyPr>
          <a:lstStyle/>
          <a:p>
            <a:pPr marL="514350" indent="-514350">
              <a:lnSpc>
                <a:spcPct val="100000"/>
              </a:lnSpc>
              <a:buFont typeface="+mj-lt"/>
              <a:buAutoNum type="arabicPeriod" startAt="2"/>
            </a:pPr>
            <a:r>
              <a:rPr lang="en-US" altLang="zh-CN" sz="2600" dirty="0" smtClean="0">
                <a:latin typeface="微软雅黑" panose="020B0503020204020204" pitchFamily="34" charset="-122"/>
                <a:ea typeface="微软雅黑" panose="020B0503020204020204" pitchFamily="34" charset="-122"/>
              </a:rPr>
              <a:t>International </a:t>
            </a:r>
            <a:r>
              <a:rPr lang="en-US" altLang="zh-CN" sz="2600" dirty="0">
                <a:latin typeface="微软雅黑" panose="020B0503020204020204" pitchFamily="34" charset="-122"/>
                <a:ea typeface="微软雅黑" panose="020B0503020204020204" pitchFamily="34" charset="-122"/>
              </a:rPr>
              <a:t>Debt Crisis</a:t>
            </a:r>
          </a:p>
          <a:p>
            <a:pPr marL="742950" lvl="1" indent="-514350">
              <a:lnSpc>
                <a:spcPct val="100000"/>
              </a:lnSpc>
              <a:buFont typeface="+mj-ea"/>
              <a:buAutoNum type="circleNumDbPlain"/>
            </a:pPr>
            <a:r>
              <a:rPr lang="zh-CN" altLang="en-US" sz="2400" dirty="0">
                <a:latin typeface="微软雅黑" panose="020B0503020204020204" pitchFamily="34" charset="-122"/>
                <a:ea typeface="微软雅黑" panose="020B0503020204020204" pitchFamily="34" charset="-122"/>
              </a:rPr>
              <a:t>原因和结果</a:t>
            </a:r>
          </a:p>
          <a:p>
            <a:pPr marL="0" lvl="2" indent="457200">
              <a:lnSpc>
                <a:spcPct val="110000"/>
              </a:lnSpc>
              <a:spcBef>
                <a:spcPts val="1800"/>
              </a:spcBef>
              <a:buNone/>
            </a:pPr>
            <a:r>
              <a:rPr lang="zh-CN" altLang="en-US" sz="2400" dirty="0" smtClean="0">
                <a:latin typeface="微软雅黑" panose="020B0503020204020204" pitchFamily="34" charset="-122"/>
                <a:ea typeface="微软雅黑" panose="020B0503020204020204" pitchFamily="34" charset="-122"/>
              </a:rPr>
              <a:t>结果</a:t>
            </a:r>
            <a:r>
              <a:rPr lang="zh-CN" altLang="en-US" sz="2400" dirty="0">
                <a:latin typeface="微软雅黑" panose="020B0503020204020204" pitchFamily="34" charset="-122"/>
                <a:ea typeface="微软雅黑" panose="020B0503020204020204" pitchFamily="34" charset="-122"/>
              </a:rPr>
              <a:t>，第三世界和东欧国家</a:t>
            </a:r>
            <a:r>
              <a:rPr lang="en-US" altLang="zh-CN" sz="2400" dirty="0">
                <a:latin typeface="微软雅黑" panose="020B0503020204020204" pitchFamily="34" charset="-122"/>
                <a:ea typeface="微软雅黑" panose="020B0503020204020204" pitchFamily="34" charset="-122"/>
              </a:rPr>
              <a:t>——</a:t>
            </a:r>
            <a:r>
              <a:rPr lang="zh-CN" altLang="en-US" sz="2400" dirty="0">
                <a:latin typeface="微软雅黑" panose="020B0503020204020204" pitchFamily="34" charset="-122"/>
                <a:ea typeface="微软雅黑" panose="020B0503020204020204" pitchFamily="34" charset="-122"/>
              </a:rPr>
              <a:t>银行客户陷入困境，银行只好提供更多的贷款，新贷款越来越多地用于支付旧贷款的利息，贷款利息从</a:t>
            </a:r>
            <a:r>
              <a:rPr lang="en-US" altLang="zh-CN" sz="2400" dirty="0">
                <a:latin typeface="微软雅黑" panose="020B0503020204020204" pitchFamily="34" charset="-122"/>
                <a:ea typeface="微软雅黑" panose="020B0503020204020204" pitchFamily="34" charset="-122"/>
              </a:rPr>
              <a:t>1973</a:t>
            </a:r>
            <a:r>
              <a:rPr lang="zh-CN" altLang="en-US" sz="2400" dirty="0">
                <a:latin typeface="微软雅黑" panose="020B0503020204020204" pitchFamily="34" charset="-122"/>
                <a:ea typeface="微软雅黑" panose="020B0503020204020204" pitchFamily="34" charset="-122"/>
              </a:rPr>
              <a:t>年的</a:t>
            </a:r>
            <a:r>
              <a:rPr lang="en-US" altLang="zh-CN" sz="2400" dirty="0">
                <a:latin typeface="微软雅黑" panose="020B0503020204020204" pitchFamily="34" charset="-122"/>
                <a:ea typeface="微软雅黑" panose="020B0503020204020204" pitchFamily="34" charset="-122"/>
              </a:rPr>
              <a:t>150</a:t>
            </a:r>
            <a:r>
              <a:rPr lang="zh-CN" altLang="en-US" sz="2400" dirty="0">
                <a:latin typeface="微软雅黑" panose="020B0503020204020204" pitchFamily="34" charset="-122"/>
                <a:ea typeface="微软雅黑" panose="020B0503020204020204" pitchFamily="34" charset="-122"/>
              </a:rPr>
              <a:t>亿美元上升到</a:t>
            </a:r>
            <a:r>
              <a:rPr lang="en-US" altLang="zh-CN" sz="2400" dirty="0">
                <a:latin typeface="微软雅黑" panose="020B0503020204020204" pitchFamily="34" charset="-122"/>
                <a:ea typeface="微软雅黑" panose="020B0503020204020204" pitchFamily="34" charset="-122"/>
              </a:rPr>
              <a:t>1982</a:t>
            </a:r>
            <a:r>
              <a:rPr lang="zh-CN" altLang="en-US" sz="2400" dirty="0">
                <a:latin typeface="微软雅黑" panose="020B0503020204020204" pitchFamily="34" charset="-122"/>
                <a:ea typeface="微软雅黑" panose="020B0503020204020204" pitchFamily="34" charset="-122"/>
              </a:rPr>
              <a:t>年的</a:t>
            </a:r>
            <a:r>
              <a:rPr lang="en-US" altLang="zh-CN" sz="2400" dirty="0">
                <a:latin typeface="微软雅黑" panose="020B0503020204020204" pitchFamily="34" charset="-122"/>
                <a:ea typeface="微软雅黑" panose="020B0503020204020204" pitchFamily="34" charset="-122"/>
              </a:rPr>
              <a:t>1000</a:t>
            </a:r>
            <a:r>
              <a:rPr lang="zh-CN" altLang="en-US" sz="2400" dirty="0">
                <a:latin typeface="微软雅黑" panose="020B0503020204020204" pitchFamily="34" charset="-122"/>
                <a:ea typeface="微软雅黑" panose="020B0503020204020204" pitchFamily="34" charset="-122"/>
              </a:rPr>
              <a:t>亿美元，银行陷入困境。</a:t>
            </a:r>
          </a:p>
          <a:p>
            <a:pPr marL="0" lvl="2" indent="457200">
              <a:lnSpc>
                <a:spcPct val="110000"/>
              </a:lnSpc>
              <a:spcBef>
                <a:spcPts val="1800"/>
              </a:spcBef>
              <a:buNone/>
            </a:pPr>
            <a:r>
              <a:rPr lang="zh-CN" altLang="en-US" sz="2400" dirty="0" smtClean="0">
                <a:latin typeface="微软雅黑" panose="020B0503020204020204" pitchFamily="34" charset="-122"/>
                <a:ea typeface="微软雅黑" panose="020B0503020204020204" pitchFamily="34" charset="-122"/>
              </a:rPr>
              <a:t>到</a:t>
            </a:r>
            <a:r>
              <a:rPr lang="en-US" altLang="zh-CN" sz="2400" dirty="0">
                <a:latin typeface="微软雅黑" panose="020B0503020204020204" pitchFamily="34" charset="-122"/>
                <a:ea typeface="微软雅黑" panose="020B0503020204020204" pitchFamily="34" charset="-122"/>
              </a:rPr>
              <a:t>1982</a:t>
            </a:r>
            <a:r>
              <a:rPr lang="zh-CN" altLang="en-US" sz="2400" dirty="0">
                <a:latin typeface="微软雅黑" panose="020B0503020204020204" pitchFamily="34" charset="-122"/>
                <a:ea typeface="微软雅黑" panose="020B0503020204020204" pitchFamily="34" charset="-122"/>
              </a:rPr>
              <a:t>年，墨西哥发生债务危机，比索从</a:t>
            </a:r>
            <a:r>
              <a:rPr lang="en-US" altLang="zh-CN" sz="2400" dirty="0">
                <a:latin typeface="微软雅黑" panose="020B0503020204020204" pitchFamily="34" charset="-122"/>
                <a:ea typeface="微软雅黑" panose="020B0503020204020204" pitchFamily="34" charset="-122"/>
              </a:rPr>
              <a:t>25</a:t>
            </a:r>
            <a:r>
              <a:rPr lang="zh-CN" altLang="en-US" sz="2400" dirty="0">
                <a:latin typeface="微软雅黑" panose="020B0503020204020204" pitchFamily="34" charset="-122"/>
                <a:ea typeface="微软雅黑" panose="020B0503020204020204" pitchFamily="34" charset="-122"/>
              </a:rPr>
              <a:t>贬值到</a:t>
            </a:r>
            <a:r>
              <a:rPr lang="en-US" altLang="zh-CN" sz="2400" dirty="0">
                <a:latin typeface="微软雅黑" panose="020B0503020204020204" pitchFamily="34" charset="-122"/>
                <a:ea typeface="微软雅黑" panose="020B0503020204020204" pitchFamily="34" charset="-122"/>
              </a:rPr>
              <a:t>100</a:t>
            </a:r>
            <a:r>
              <a:rPr lang="zh-CN" altLang="en-US" sz="2400" dirty="0">
                <a:latin typeface="微软雅黑" panose="020B0503020204020204" pitchFamily="34" charset="-122"/>
                <a:ea typeface="微软雅黑" panose="020B0503020204020204" pitchFamily="34" charset="-122"/>
              </a:rPr>
              <a:t>，巴西和阿根廷也陷入了相似的困境。</a:t>
            </a:r>
          </a:p>
        </p:txBody>
      </p:sp>
      <p:sp>
        <p:nvSpPr>
          <p:cNvPr id="5" name="页脚占位符 4"/>
          <p:cNvSpPr>
            <a:spLocks noGrp="1"/>
          </p:cNvSpPr>
          <p:nvPr>
            <p:ph type="ftr" sz="quarter" idx="11"/>
          </p:nvPr>
        </p:nvSpPr>
        <p:spPr/>
        <p:txBody>
          <a:bodyPr/>
          <a:lstStyle/>
          <a:p>
            <a:r>
              <a:rPr lang="zh-CN" altLang="en-US" smtClean="0"/>
              <a:t>国际金融学 范小云</a:t>
            </a:r>
            <a:endParaRPr lang="zh-CN" altLang="en-US" dirty="0"/>
          </a:p>
        </p:txBody>
      </p:sp>
    </p:spTree>
    <p:extLst>
      <p:ext uri="{BB962C8B-B14F-4D97-AF65-F5344CB8AC3E}">
        <p14:creationId xmlns:p14="http://schemas.microsoft.com/office/powerpoint/2010/main" val="406940485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animEffect transition="in" filter="fade">
                                      <p:cBhvr>
                                        <p:cTn id="7" dur="500"/>
                                        <p:tgtEl>
                                          <p:spTgt spid="3">
                                            <p:txEl>
                                              <p:pRg st="2" end="2"/>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3" end="3"/>
                                            </p:txEl>
                                          </p:spTgt>
                                        </p:tgtEl>
                                        <p:attrNameLst>
                                          <p:attrName>style.visibility</p:attrName>
                                        </p:attrNameLst>
                                      </p:cBhvr>
                                      <p:to>
                                        <p:strVal val="visible"/>
                                      </p:to>
                                    </p:set>
                                    <p:animEffect transition="in" filter="fade">
                                      <p:cBhvr>
                                        <p:cTn id="12" dur="500"/>
                                        <p:tgtEl>
                                          <p:spTgt spid="3">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页脚占位符 4"/>
          <p:cNvSpPr>
            <a:spLocks noGrp="1"/>
          </p:cNvSpPr>
          <p:nvPr>
            <p:ph type="ftr" sz="quarter" idx="11"/>
          </p:nvPr>
        </p:nvSpPr>
        <p:spPr/>
        <p:txBody>
          <a:bodyPr/>
          <a:lstStyle/>
          <a:p>
            <a:r>
              <a:rPr lang="zh-CN" altLang="en-US" smtClean="0"/>
              <a:t>国际金融学 范小云</a:t>
            </a:r>
            <a:endParaRPr lang="zh-CN" altLang="en-US" dirty="0"/>
          </a:p>
        </p:txBody>
      </p:sp>
      <p:sp>
        <p:nvSpPr>
          <p:cNvPr id="7" name="Rectangle 4"/>
          <p:cNvSpPr>
            <a:spLocks noChangeArrowheads="1"/>
          </p:cNvSpPr>
          <p:nvPr/>
        </p:nvSpPr>
        <p:spPr bwMode="auto">
          <a:xfrm>
            <a:off x="457201" y="381722"/>
            <a:ext cx="8324850"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eaLnBrk="0" hangingPunct="0">
              <a:tabLst>
                <a:tab pos="439738" algn="r"/>
                <a:tab pos="2420938" algn="r"/>
                <a:tab pos="3060700" algn="r"/>
                <a:tab pos="3781425" algn="r"/>
                <a:tab pos="4500563" algn="r"/>
                <a:tab pos="5221288" algn="r"/>
              </a:tabLst>
              <a:defRPr>
                <a:solidFill>
                  <a:schemeClr val="tx1"/>
                </a:solidFill>
                <a:latin typeface="Arial" panose="020B0604020202020204" pitchFamily="34" charset="0"/>
                <a:ea typeface="宋体" panose="02010600030101010101" pitchFamily="2" charset="-122"/>
              </a:defRPr>
            </a:lvl1pPr>
            <a:lvl2pPr marL="742950" indent="-285750" eaLnBrk="0" hangingPunct="0">
              <a:tabLst>
                <a:tab pos="439738" algn="r"/>
                <a:tab pos="2420938" algn="r"/>
                <a:tab pos="3060700" algn="r"/>
                <a:tab pos="3781425" algn="r"/>
                <a:tab pos="4500563" algn="r"/>
                <a:tab pos="5221288" algn="r"/>
              </a:tabLst>
              <a:defRPr>
                <a:solidFill>
                  <a:schemeClr val="tx1"/>
                </a:solidFill>
                <a:latin typeface="Arial" panose="020B0604020202020204" pitchFamily="34" charset="0"/>
                <a:ea typeface="宋体" panose="02010600030101010101" pitchFamily="2" charset="-122"/>
              </a:defRPr>
            </a:lvl2pPr>
            <a:lvl3pPr marL="1143000" indent="-228600" eaLnBrk="0" hangingPunct="0">
              <a:tabLst>
                <a:tab pos="439738" algn="r"/>
                <a:tab pos="2420938" algn="r"/>
                <a:tab pos="3060700" algn="r"/>
                <a:tab pos="3781425" algn="r"/>
                <a:tab pos="4500563" algn="r"/>
                <a:tab pos="5221288" algn="r"/>
              </a:tabLst>
              <a:defRPr>
                <a:solidFill>
                  <a:schemeClr val="tx1"/>
                </a:solidFill>
                <a:latin typeface="Arial" panose="020B0604020202020204" pitchFamily="34" charset="0"/>
                <a:ea typeface="宋体" panose="02010600030101010101" pitchFamily="2" charset="-122"/>
              </a:defRPr>
            </a:lvl3pPr>
            <a:lvl4pPr marL="1600200" indent="-228600" eaLnBrk="0" hangingPunct="0">
              <a:tabLst>
                <a:tab pos="439738" algn="r"/>
                <a:tab pos="2420938" algn="r"/>
                <a:tab pos="3060700" algn="r"/>
                <a:tab pos="3781425" algn="r"/>
                <a:tab pos="4500563" algn="r"/>
                <a:tab pos="5221288" algn="r"/>
              </a:tabLst>
              <a:defRPr>
                <a:solidFill>
                  <a:schemeClr val="tx1"/>
                </a:solidFill>
                <a:latin typeface="Arial" panose="020B0604020202020204" pitchFamily="34" charset="0"/>
                <a:ea typeface="宋体" panose="02010600030101010101" pitchFamily="2" charset="-122"/>
              </a:defRPr>
            </a:lvl4pPr>
            <a:lvl5pPr marL="2057400" indent="-228600" eaLnBrk="0" hangingPunct="0">
              <a:tabLst>
                <a:tab pos="439738" algn="r"/>
                <a:tab pos="2420938" algn="r"/>
                <a:tab pos="3060700" algn="r"/>
                <a:tab pos="3781425" algn="r"/>
                <a:tab pos="4500563" algn="r"/>
                <a:tab pos="5221288" algn="r"/>
              </a:tabLst>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tabLst>
                <a:tab pos="439738" algn="r"/>
                <a:tab pos="2420938" algn="r"/>
                <a:tab pos="3060700" algn="r"/>
                <a:tab pos="3781425" algn="r"/>
                <a:tab pos="4500563" algn="r"/>
                <a:tab pos="5221288" algn="r"/>
              </a:tabLs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tabLst>
                <a:tab pos="439738" algn="r"/>
                <a:tab pos="2420938" algn="r"/>
                <a:tab pos="3060700" algn="r"/>
                <a:tab pos="3781425" algn="r"/>
                <a:tab pos="4500563" algn="r"/>
                <a:tab pos="5221288" algn="r"/>
              </a:tabLs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tabLst>
                <a:tab pos="439738" algn="r"/>
                <a:tab pos="2420938" algn="r"/>
                <a:tab pos="3060700" algn="r"/>
                <a:tab pos="3781425" algn="r"/>
                <a:tab pos="4500563" algn="r"/>
                <a:tab pos="5221288" algn="r"/>
              </a:tabLs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tabLst>
                <a:tab pos="439738" algn="r"/>
                <a:tab pos="2420938" algn="r"/>
                <a:tab pos="3060700" algn="r"/>
                <a:tab pos="3781425" algn="r"/>
                <a:tab pos="4500563" algn="r"/>
                <a:tab pos="5221288" algn="r"/>
              </a:tabLst>
              <a:defRPr>
                <a:solidFill>
                  <a:schemeClr val="tx1"/>
                </a:solidFill>
                <a:latin typeface="Arial" panose="020B0604020202020204" pitchFamily="34" charset="0"/>
                <a:ea typeface="宋体" panose="02010600030101010101" pitchFamily="2" charset="-122"/>
              </a:defRPr>
            </a:lvl9pPr>
          </a:lstStyle>
          <a:p>
            <a:pPr algn="ctr" eaLnBrk="1" hangingPunct="1"/>
            <a:r>
              <a:rPr lang="zh-CN" altLang="en-US" sz="2400" b="1" dirty="0">
                <a:latin typeface="微软雅黑" panose="020B0503020204020204" pitchFamily="34" charset="-122"/>
                <a:ea typeface="微软雅黑" panose="020B0503020204020204" pitchFamily="34" charset="-122"/>
              </a:rPr>
              <a:t>历史上发生的石油危机</a:t>
            </a:r>
            <a:endParaRPr lang="en-US" altLang="zh-CN" sz="2400" b="1" dirty="0">
              <a:latin typeface="微软雅黑" panose="020B0503020204020204" pitchFamily="34" charset="-122"/>
              <a:ea typeface="微软雅黑" panose="020B0503020204020204" pitchFamily="34" charset="-122"/>
            </a:endParaRPr>
          </a:p>
        </p:txBody>
      </p:sp>
      <p:graphicFrame>
        <p:nvGraphicFramePr>
          <p:cNvPr id="4" name="表格 3"/>
          <p:cNvGraphicFramePr>
            <a:graphicFrameLocks noGrp="1"/>
          </p:cNvGraphicFramePr>
          <p:nvPr>
            <p:extLst>
              <p:ext uri="{D42A27DB-BD31-4B8C-83A1-F6EECF244321}">
                <p14:modId xmlns:p14="http://schemas.microsoft.com/office/powerpoint/2010/main" val="189373655"/>
              </p:ext>
            </p:extLst>
          </p:nvPr>
        </p:nvGraphicFramePr>
        <p:xfrm>
          <a:off x="719301" y="843387"/>
          <a:ext cx="8213833" cy="5249160"/>
        </p:xfrm>
        <a:graphic>
          <a:graphicData uri="http://schemas.openxmlformats.org/drawingml/2006/table">
            <a:tbl>
              <a:tblPr>
                <a:tableStyleId>{BC89EF96-8CEA-46FF-86C4-4CE0E7609802}</a:tableStyleId>
              </a:tblPr>
              <a:tblGrid>
                <a:gridCol w="2181554">
                  <a:extLst>
                    <a:ext uri="{9D8B030D-6E8A-4147-A177-3AD203B41FA5}">
                      <a16:colId xmlns:a16="http://schemas.microsoft.com/office/drawing/2014/main" val="20000"/>
                    </a:ext>
                  </a:extLst>
                </a:gridCol>
                <a:gridCol w="1815246">
                  <a:extLst>
                    <a:ext uri="{9D8B030D-6E8A-4147-A177-3AD203B41FA5}">
                      <a16:colId xmlns:a16="http://schemas.microsoft.com/office/drawing/2014/main" val="20001"/>
                    </a:ext>
                  </a:extLst>
                </a:gridCol>
                <a:gridCol w="4217033">
                  <a:extLst>
                    <a:ext uri="{9D8B030D-6E8A-4147-A177-3AD203B41FA5}">
                      <a16:colId xmlns:a16="http://schemas.microsoft.com/office/drawing/2014/main" val="20002"/>
                    </a:ext>
                  </a:extLst>
                </a:gridCol>
              </a:tblGrid>
              <a:tr h="656145">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zh-CN" altLang="en-US" sz="1800" u="none" strike="noStrike" cap="none" normalizeH="0" baseline="0" dirty="0" smtClean="0">
                          <a:ln>
                            <a:noFill/>
                          </a:ln>
                          <a:effectLst/>
                          <a:latin typeface="微软雅黑" panose="020B0503020204020204" pitchFamily="34" charset="-122"/>
                          <a:ea typeface="微软雅黑" panose="020B0503020204020204" pitchFamily="34" charset="-122"/>
                        </a:rPr>
                        <a:t>时间</a:t>
                      </a:r>
                      <a:endParaRPr kumimoji="0" lang="zh-CN" altLang="en-US" sz="1800" b="0" i="0" u="none" strike="noStrike" cap="none" normalizeH="0" baseline="0" dirty="0" smtClean="0">
                        <a:ln>
                          <a:noFill/>
                        </a:ln>
                        <a:solidFill>
                          <a:schemeClr val="bg1"/>
                        </a:solidFill>
                        <a:effectLst/>
                        <a:latin typeface="微软雅黑" panose="020B0503020204020204" pitchFamily="34" charset="-122"/>
                        <a:ea typeface="微软雅黑" panose="020B0503020204020204" pitchFamily="34" charset="-122"/>
                      </a:endParaRPr>
                    </a:p>
                  </a:txBody>
                  <a:tcPr marT="45717" marB="45717" anchor="ctr" horzOverflow="overflow"/>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zh-CN" altLang="en-US" sz="1800" u="none" strike="noStrike" cap="none" normalizeH="0" baseline="0" dirty="0" smtClean="0">
                          <a:ln>
                            <a:noFill/>
                          </a:ln>
                          <a:effectLst/>
                          <a:latin typeface="微软雅黑" panose="020B0503020204020204" pitchFamily="34" charset="-122"/>
                          <a:ea typeface="微软雅黑" panose="020B0503020204020204" pitchFamily="34" charset="-122"/>
                        </a:rPr>
                        <a:t>价格（美元</a:t>
                      </a:r>
                      <a:r>
                        <a:rPr kumimoji="0" lang="en-US" altLang="zh-CN" sz="1800" u="none" strike="noStrike" cap="none" normalizeH="0" baseline="0" dirty="0" smtClean="0">
                          <a:ln>
                            <a:noFill/>
                          </a:ln>
                          <a:effectLst/>
                          <a:latin typeface="微软雅黑" panose="020B0503020204020204" pitchFamily="34" charset="-122"/>
                          <a:ea typeface="微软雅黑" panose="020B0503020204020204" pitchFamily="34" charset="-122"/>
                        </a:rPr>
                        <a:t>/</a:t>
                      </a:r>
                      <a:r>
                        <a:rPr kumimoji="0" lang="zh-CN" altLang="en-US" sz="1800" u="none" strike="noStrike" cap="none" normalizeH="0" baseline="0" dirty="0" smtClean="0">
                          <a:ln>
                            <a:noFill/>
                          </a:ln>
                          <a:effectLst/>
                          <a:latin typeface="微软雅黑" panose="020B0503020204020204" pitchFamily="34" charset="-122"/>
                          <a:ea typeface="微软雅黑" panose="020B0503020204020204" pitchFamily="34" charset="-122"/>
                        </a:rPr>
                        <a:t>桶）</a:t>
                      </a:r>
                      <a:endParaRPr kumimoji="0" lang="zh-CN" altLang="en-US" sz="1800" b="0" i="0" u="none" strike="noStrike" cap="none" normalizeH="0" baseline="0" dirty="0" smtClean="0">
                        <a:ln>
                          <a:noFill/>
                        </a:ln>
                        <a:solidFill>
                          <a:schemeClr val="bg1"/>
                        </a:solidFill>
                        <a:effectLst/>
                        <a:latin typeface="微软雅黑" panose="020B0503020204020204" pitchFamily="34" charset="-122"/>
                        <a:ea typeface="微软雅黑" panose="020B0503020204020204" pitchFamily="34" charset="-122"/>
                      </a:endParaRPr>
                    </a:p>
                  </a:txBody>
                  <a:tcPr marT="45717" marB="45717" anchor="ctr" horzOverflow="overflow"/>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zh-CN" altLang="en-US" sz="1800" u="none" strike="noStrike" cap="none" normalizeH="0" baseline="0" smtClean="0">
                          <a:ln>
                            <a:noFill/>
                          </a:ln>
                          <a:effectLst/>
                          <a:latin typeface="微软雅黑" panose="020B0503020204020204" pitchFamily="34" charset="-122"/>
                          <a:ea typeface="微软雅黑" panose="020B0503020204020204" pitchFamily="34" charset="-122"/>
                        </a:rPr>
                        <a:t>主要原因</a:t>
                      </a:r>
                      <a:endParaRPr kumimoji="0" lang="zh-CN" altLang="en-US" sz="1800" b="0" i="0" u="none" strike="noStrike" cap="none" normalizeH="0" baseline="0" smtClean="0">
                        <a:ln>
                          <a:noFill/>
                        </a:ln>
                        <a:solidFill>
                          <a:schemeClr val="bg1"/>
                        </a:solidFill>
                        <a:effectLst/>
                        <a:latin typeface="微软雅黑" panose="020B0503020204020204" pitchFamily="34" charset="-122"/>
                        <a:ea typeface="微软雅黑" panose="020B0503020204020204" pitchFamily="34" charset="-122"/>
                      </a:endParaRPr>
                    </a:p>
                  </a:txBody>
                  <a:tcPr marT="45717" marB="45717" anchor="ctr" horzOverflow="overflow"/>
                </a:tc>
                <a:extLst>
                  <a:ext uri="{0D108BD9-81ED-4DB2-BD59-A6C34878D82A}">
                    <a16:rowId xmlns:a16="http://schemas.microsoft.com/office/drawing/2014/main" val="10000"/>
                  </a:ext>
                </a:extLst>
              </a:tr>
              <a:tr h="656145">
                <a:tc>
                  <a:txBody>
                    <a:bodyPr/>
                    <a:lstStyle/>
                    <a:p>
                      <a:pPr marL="0" marR="0" lvl="0" indent="0" algn="ctr" defTabSz="914400" rtl="0" eaLnBrk="1" fontAlgn="base" latinLnBrk="0" hangingPunct="1">
                        <a:lnSpc>
                          <a:spcPct val="85000"/>
                        </a:lnSpc>
                        <a:spcBef>
                          <a:spcPct val="20000"/>
                        </a:spcBef>
                        <a:spcAft>
                          <a:spcPct val="0"/>
                        </a:spcAft>
                        <a:buClrTx/>
                        <a:buSzTx/>
                        <a:buFontTx/>
                        <a:buNone/>
                        <a:tabLst/>
                      </a:pPr>
                      <a:r>
                        <a:rPr kumimoji="0" lang="en-US" altLang="zh-CN" sz="1800" u="none" strike="noStrike" cap="none" normalizeH="0" baseline="0" dirty="0" smtClean="0">
                          <a:ln>
                            <a:noFill/>
                          </a:ln>
                          <a:effectLst/>
                          <a:latin typeface="微软雅黑" panose="020B0503020204020204" pitchFamily="34" charset="-122"/>
                          <a:ea typeface="微软雅黑" panose="020B0503020204020204" pitchFamily="34" charset="-122"/>
                        </a:rPr>
                        <a:t>1973.10 - 1974.1</a:t>
                      </a:r>
                      <a:endParaRPr kumimoji="0" lang="en-US" altLang="zh-CN" sz="1800" b="0" i="0" u="none" strike="noStrike" cap="none" normalizeH="0" baseline="0" dirty="0" smtClean="0">
                        <a:ln>
                          <a:noFill/>
                        </a:ln>
                        <a:solidFill>
                          <a:schemeClr val="bg1"/>
                        </a:solidFill>
                        <a:effectLst/>
                        <a:latin typeface="微软雅黑" panose="020B0503020204020204" pitchFamily="34" charset="-122"/>
                        <a:ea typeface="微软雅黑" panose="020B0503020204020204" pitchFamily="34" charset="-122"/>
                      </a:endParaRPr>
                    </a:p>
                  </a:txBody>
                  <a:tcPr marT="45717" marB="45717" anchor="ctr" horzOverflow="overflow"/>
                </a:tc>
                <a:tc>
                  <a:txBody>
                    <a:bodyPr/>
                    <a:lstStyle/>
                    <a:p>
                      <a:pPr marL="0" marR="0" lvl="0" indent="0" algn="ctr" defTabSz="914400" rtl="0" eaLnBrk="1" fontAlgn="base" latinLnBrk="0" hangingPunct="1">
                        <a:lnSpc>
                          <a:spcPct val="85000"/>
                        </a:lnSpc>
                        <a:spcBef>
                          <a:spcPct val="20000"/>
                        </a:spcBef>
                        <a:spcAft>
                          <a:spcPct val="0"/>
                        </a:spcAft>
                        <a:buClrTx/>
                        <a:buSzTx/>
                        <a:buFontTx/>
                        <a:buNone/>
                        <a:tabLst/>
                      </a:pPr>
                      <a:r>
                        <a:rPr kumimoji="0" lang="en-US" altLang="zh-CN" sz="1800" u="none" strike="noStrike" cap="none" normalizeH="0" baseline="0" dirty="0" smtClean="0">
                          <a:ln>
                            <a:noFill/>
                          </a:ln>
                          <a:effectLst/>
                          <a:latin typeface="微软雅黑" panose="020B0503020204020204" pitchFamily="34" charset="-122"/>
                          <a:ea typeface="微软雅黑" panose="020B0503020204020204" pitchFamily="34" charset="-122"/>
                        </a:rPr>
                        <a:t>3.110 - 11.65  </a:t>
                      </a:r>
                      <a:endParaRPr kumimoji="0" lang="en-US" altLang="zh-CN" sz="1800" b="0" i="0" u="none" strike="noStrike" cap="none" normalizeH="0" baseline="0" dirty="0" smtClean="0">
                        <a:ln>
                          <a:noFill/>
                        </a:ln>
                        <a:solidFill>
                          <a:schemeClr val="bg1"/>
                        </a:solidFill>
                        <a:effectLst/>
                        <a:latin typeface="微软雅黑" panose="020B0503020204020204" pitchFamily="34" charset="-122"/>
                        <a:ea typeface="微软雅黑" panose="020B0503020204020204" pitchFamily="34" charset="-122"/>
                      </a:endParaRPr>
                    </a:p>
                  </a:txBody>
                  <a:tcPr marT="45717" marB="45717" anchor="ctr" horzOverflow="overflow"/>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zh-CN" altLang="en-US" sz="1800" u="none" strike="noStrike" cap="none" normalizeH="0" baseline="0" dirty="0" smtClean="0">
                          <a:ln>
                            <a:noFill/>
                          </a:ln>
                          <a:effectLst/>
                          <a:latin typeface="微软雅黑" panose="020B0503020204020204" pitchFamily="34" charset="-122"/>
                          <a:ea typeface="微软雅黑" panose="020B0503020204020204" pitchFamily="34" charset="-122"/>
                        </a:rPr>
                        <a:t>第四次阿以战争实行减产、禁运和提价</a:t>
                      </a:r>
                      <a:endParaRPr kumimoji="0" lang="zh-CN" altLang="en-US" sz="1800" b="0" i="0" u="none" strike="noStrike" cap="none" normalizeH="0" baseline="0" dirty="0" smtClean="0">
                        <a:ln>
                          <a:noFill/>
                        </a:ln>
                        <a:solidFill>
                          <a:schemeClr val="bg1"/>
                        </a:solidFill>
                        <a:effectLst/>
                        <a:latin typeface="微软雅黑" panose="020B0503020204020204" pitchFamily="34" charset="-122"/>
                        <a:ea typeface="微软雅黑" panose="020B0503020204020204" pitchFamily="34" charset="-122"/>
                      </a:endParaRPr>
                    </a:p>
                  </a:txBody>
                  <a:tcPr marT="45717" marB="45717" anchor="ctr" horzOverflow="overflow"/>
                </a:tc>
                <a:extLst>
                  <a:ext uri="{0D108BD9-81ED-4DB2-BD59-A6C34878D82A}">
                    <a16:rowId xmlns:a16="http://schemas.microsoft.com/office/drawing/2014/main" val="10001"/>
                  </a:ext>
                </a:extLst>
              </a:tr>
              <a:tr h="656145">
                <a:tc>
                  <a:txBody>
                    <a:bodyPr/>
                    <a:lstStyle/>
                    <a:p>
                      <a:pPr marL="0" marR="0" lvl="0" indent="0" algn="ctr" defTabSz="914400" rtl="0" eaLnBrk="1" fontAlgn="base" latinLnBrk="0" hangingPunct="1">
                        <a:lnSpc>
                          <a:spcPct val="85000"/>
                        </a:lnSpc>
                        <a:spcBef>
                          <a:spcPct val="20000"/>
                        </a:spcBef>
                        <a:spcAft>
                          <a:spcPct val="0"/>
                        </a:spcAft>
                        <a:buClrTx/>
                        <a:buSzTx/>
                        <a:buFontTx/>
                        <a:buNone/>
                        <a:tabLst/>
                      </a:pPr>
                      <a:r>
                        <a:rPr kumimoji="0" lang="en-US" altLang="zh-CN" sz="1800" u="none" strike="noStrike" cap="none" normalizeH="0" baseline="0" dirty="0" smtClean="0">
                          <a:ln>
                            <a:noFill/>
                          </a:ln>
                          <a:effectLst/>
                          <a:latin typeface="微软雅黑" panose="020B0503020204020204" pitchFamily="34" charset="-122"/>
                          <a:ea typeface="微软雅黑" panose="020B0503020204020204" pitchFamily="34" charset="-122"/>
                        </a:rPr>
                        <a:t>1978.12- 1980.12</a:t>
                      </a:r>
                      <a:endParaRPr kumimoji="0" lang="en-US" altLang="zh-CN" sz="1800" b="0" i="0" u="none" strike="noStrike" cap="none" normalizeH="0" baseline="0" dirty="0" smtClean="0">
                        <a:ln>
                          <a:noFill/>
                        </a:ln>
                        <a:solidFill>
                          <a:schemeClr val="bg1"/>
                        </a:solidFill>
                        <a:effectLst/>
                        <a:latin typeface="微软雅黑" panose="020B0503020204020204" pitchFamily="34" charset="-122"/>
                        <a:ea typeface="微软雅黑" panose="020B0503020204020204" pitchFamily="34" charset="-122"/>
                      </a:endParaRPr>
                    </a:p>
                  </a:txBody>
                  <a:tcPr marT="45717" marB="45717" anchor="ctr" horzOverflow="overflow"/>
                </a:tc>
                <a:tc>
                  <a:txBody>
                    <a:bodyPr/>
                    <a:lstStyle/>
                    <a:p>
                      <a:pPr marL="0" marR="0" lvl="0" indent="0" algn="ctr" defTabSz="914400" rtl="0" eaLnBrk="1" fontAlgn="base" latinLnBrk="0" hangingPunct="1">
                        <a:lnSpc>
                          <a:spcPct val="85000"/>
                        </a:lnSpc>
                        <a:spcBef>
                          <a:spcPct val="20000"/>
                        </a:spcBef>
                        <a:spcAft>
                          <a:spcPct val="0"/>
                        </a:spcAft>
                        <a:buClrTx/>
                        <a:buSzTx/>
                        <a:buFontTx/>
                        <a:buNone/>
                        <a:tabLst/>
                      </a:pPr>
                      <a:r>
                        <a:rPr kumimoji="0" lang="en-US" altLang="zh-CN" sz="1800" u="none" strike="noStrike" cap="none" normalizeH="0" baseline="0" dirty="0" smtClean="0">
                          <a:ln>
                            <a:noFill/>
                          </a:ln>
                          <a:effectLst/>
                          <a:latin typeface="微软雅黑" panose="020B0503020204020204" pitchFamily="34" charset="-122"/>
                          <a:ea typeface="微软雅黑" panose="020B0503020204020204" pitchFamily="34" charset="-122"/>
                        </a:rPr>
                        <a:t>13.33 - 43.00</a:t>
                      </a:r>
                      <a:endParaRPr kumimoji="0" lang="en-US" altLang="zh-CN" sz="1800" b="0" i="0" u="none" strike="noStrike" cap="none" normalizeH="0" baseline="0" dirty="0" smtClean="0">
                        <a:ln>
                          <a:noFill/>
                        </a:ln>
                        <a:solidFill>
                          <a:schemeClr val="bg1"/>
                        </a:solidFill>
                        <a:effectLst/>
                        <a:latin typeface="微软雅黑" panose="020B0503020204020204" pitchFamily="34" charset="-122"/>
                        <a:ea typeface="微软雅黑" panose="020B0503020204020204" pitchFamily="34" charset="-122"/>
                      </a:endParaRPr>
                    </a:p>
                  </a:txBody>
                  <a:tcPr marT="45717" marB="45717" anchor="ctr" horzOverflow="overflow"/>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zh-CN" altLang="en-US" sz="1800" u="none" strike="noStrike" cap="none" normalizeH="0" baseline="0" dirty="0" smtClean="0">
                          <a:ln>
                            <a:noFill/>
                          </a:ln>
                          <a:effectLst/>
                          <a:latin typeface="微软雅黑" panose="020B0503020204020204" pitchFamily="34" charset="-122"/>
                          <a:ea typeface="微软雅黑" panose="020B0503020204020204" pitchFamily="34" charset="-122"/>
                        </a:rPr>
                        <a:t>伊朗革命和两伊战争，中东石油减产</a:t>
                      </a:r>
                      <a:endParaRPr kumimoji="0" lang="zh-CN" altLang="en-US" sz="1800" b="0" i="0" u="none" strike="noStrike" cap="none" normalizeH="0" baseline="0" dirty="0" smtClean="0">
                        <a:ln>
                          <a:noFill/>
                        </a:ln>
                        <a:solidFill>
                          <a:schemeClr val="bg1"/>
                        </a:solidFill>
                        <a:effectLst/>
                        <a:latin typeface="微软雅黑" panose="020B0503020204020204" pitchFamily="34" charset="-122"/>
                        <a:ea typeface="微软雅黑" panose="020B0503020204020204" pitchFamily="34" charset="-122"/>
                      </a:endParaRPr>
                    </a:p>
                  </a:txBody>
                  <a:tcPr marT="45717" marB="45717" anchor="ctr" horzOverflow="overflow"/>
                </a:tc>
                <a:extLst>
                  <a:ext uri="{0D108BD9-81ED-4DB2-BD59-A6C34878D82A}">
                    <a16:rowId xmlns:a16="http://schemas.microsoft.com/office/drawing/2014/main" val="10002"/>
                  </a:ext>
                </a:extLst>
              </a:tr>
              <a:tr h="656145">
                <a:tc>
                  <a:txBody>
                    <a:bodyPr/>
                    <a:lstStyle/>
                    <a:p>
                      <a:pPr marL="0" marR="0" lvl="0" indent="0" algn="ctr" defTabSz="914400" rtl="0" eaLnBrk="1" fontAlgn="base" latinLnBrk="0" hangingPunct="1">
                        <a:lnSpc>
                          <a:spcPct val="85000"/>
                        </a:lnSpc>
                        <a:spcBef>
                          <a:spcPct val="20000"/>
                        </a:spcBef>
                        <a:spcAft>
                          <a:spcPct val="0"/>
                        </a:spcAft>
                        <a:buClrTx/>
                        <a:buSzTx/>
                        <a:buFontTx/>
                        <a:buNone/>
                        <a:tabLst/>
                      </a:pPr>
                      <a:r>
                        <a:rPr kumimoji="0" lang="en-US" altLang="zh-CN" sz="1800" u="none" strike="noStrike" cap="none" normalizeH="0" baseline="0" dirty="0" smtClean="0">
                          <a:ln>
                            <a:noFill/>
                          </a:ln>
                          <a:effectLst/>
                          <a:latin typeface="微软雅黑" panose="020B0503020204020204" pitchFamily="34" charset="-122"/>
                          <a:ea typeface="微软雅黑" panose="020B0503020204020204" pitchFamily="34" charset="-122"/>
                        </a:rPr>
                        <a:t>1985.12 - 1986.10</a:t>
                      </a:r>
                      <a:endParaRPr kumimoji="0" lang="en-US" altLang="zh-CN" sz="1800" b="0" i="0" u="none" strike="noStrike" cap="none" normalizeH="0" baseline="0" dirty="0" smtClean="0">
                        <a:ln>
                          <a:noFill/>
                        </a:ln>
                        <a:solidFill>
                          <a:schemeClr val="bg1"/>
                        </a:solidFill>
                        <a:effectLst/>
                        <a:latin typeface="微软雅黑" panose="020B0503020204020204" pitchFamily="34" charset="-122"/>
                        <a:ea typeface="微软雅黑" panose="020B0503020204020204" pitchFamily="34" charset="-122"/>
                      </a:endParaRPr>
                    </a:p>
                  </a:txBody>
                  <a:tcPr marT="45717" marB="45717" anchor="ctr" horzOverflow="overflow"/>
                </a:tc>
                <a:tc>
                  <a:txBody>
                    <a:bodyPr/>
                    <a:lstStyle/>
                    <a:p>
                      <a:pPr marL="0" marR="0" lvl="0" indent="0" algn="ctr" defTabSz="914400" rtl="0" eaLnBrk="1" fontAlgn="base" latinLnBrk="0" hangingPunct="1">
                        <a:lnSpc>
                          <a:spcPct val="85000"/>
                        </a:lnSpc>
                        <a:spcBef>
                          <a:spcPct val="20000"/>
                        </a:spcBef>
                        <a:spcAft>
                          <a:spcPct val="0"/>
                        </a:spcAft>
                        <a:buClrTx/>
                        <a:buSzTx/>
                        <a:buFontTx/>
                        <a:buNone/>
                        <a:tabLst/>
                      </a:pPr>
                      <a:r>
                        <a:rPr kumimoji="0" lang="en-US" altLang="zh-CN" sz="1800" u="none" strike="noStrike" cap="none" normalizeH="0" baseline="0" dirty="0" smtClean="0">
                          <a:ln>
                            <a:noFill/>
                          </a:ln>
                          <a:effectLst/>
                          <a:latin typeface="微软雅黑" panose="020B0503020204020204" pitchFamily="34" charset="-122"/>
                          <a:ea typeface="微软雅黑" panose="020B0503020204020204" pitchFamily="34" charset="-122"/>
                        </a:rPr>
                        <a:t>28.00 - 6.80</a:t>
                      </a:r>
                      <a:endParaRPr kumimoji="0" lang="en-US" altLang="zh-CN" sz="1800" b="0" i="0" u="none" strike="noStrike" cap="none" normalizeH="0" baseline="0" dirty="0" smtClean="0">
                        <a:ln>
                          <a:noFill/>
                        </a:ln>
                        <a:solidFill>
                          <a:schemeClr val="bg1"/>
                        </a:solidFill>
                        <a:effectLst/>
                        <a:latin typeface="微软雅黑" panose="020B0503020204020204" pitchFamily="34" charset="-122"/>
                        <a:ea typeface="微软雅黑" panose="020B0503020204020204" pitchFamily="34" charset="-122"/>
                      </a:endParaRPr>
                    </a:p>
                  </a:txBody>
                  <a:tcPr marT="45717" marB="45717" anchor="ctr" horzOverflow="overflow"/>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zh-CN" altLang="en-US" sz="1800" u="none" strike="noStrike" cap="none" normalizeH="0" baseline="0" dirty="0" smtClean="0">
                          <a:ln>
                            <a:noFill/>
                          </a:ln>
                          <a:effectLst/>
                          <a:latin typeface="微软雅黑" panose="020B0503020204020204" pitchFamily="34" charset="-122"/>
                          <a:ea typeface="微软雅黑" panose="020B0503020204020204" pitchFamily="34" charset="-122"/>
                        </a:rPr>
                        <a:t>两次危机后世界需求大减，而欧佩克国家产量大增</a:t>
                      </a:r>
                      <a:endParaRPr kumimoji="0" lang="zh-CN" altLang="en-US" sz="1800" b="0" i="0" u="none" strike="noStrike" cap="none" normalizeH="0" baseline="0" dirty="0" smtClean="0">
                        <a:ln>
                          <a:noFill/>
                        </a:ln>
                        <a:solidFill>
                          <a:schemeClr val="bg1"/>
                        </a:solidFill>
                        <a:effectLst/>
                        <a:latin typeface="微软雅黑" panose="020B0503020204020204" pitchFamily="34" charset="-122"/>
                        <a:ea typeface="微软雅黑" panose="020B0503020204020204" pitchFamily="34" charset="-122"/>
                      </a:endParaRPr>
                    </a:p>
                  </a:txBody>
                  <a:tcPr marT="45717" marB="45717" anchor="ctr" horzOverflow="overflow"/>
                </a:tc>
                <a:extLst>
                  <a:ext uri="{0D108BD9-81ED-4DB2-BD59-A6C34878D82A}">
                    <a16:rowId xmlns:a16="http://schemas.microsoft.com/office/drawing/2014/main" val="10003"/>
                  </a:ext>
                </a:extLst>
              </a:tr>
              <a:tr h="656145">
                <a:tc>
                  <a:txBody>
                    <a:bodyPr/>
                    <a:lstStyle/>
                    <a:p>
                      <a:pPr marL="0" marR="0" lvl="0" indent="0" algn="ctr" defTabSz="914400" rtl="0" eaLnBrk="1" fontAlgn="base" latinLnBrk="0" hangingPunct="1">
                        <a:lnSpc>
                          <a:spcPct val="85000"/>
                        </a:lnSpc>
                        <a:spcBef>
                          <a:spcPct val="20000"/>
                        </a:spcBef>
                        <a:spcAft>
                          <a:spcPct val="0"/>
                        </a:spcAft>
                        <a:buClrTx/>
                        <a:buSzTx/>
                        <a:buFontTx/>
                        <a:buNone/>
                        <a:tabLst/>
                      </a:pPr>
                      <a:r>
                        <a:rPr kumimoji="0" lang="en-US" altLang="zh-CN" sz="1800" u="none" strike="noStrike" cap="none" normalizeH="0" baseline="0" dirty="0" smtClean="0">
                          <a:ln>
                            <a:noFill/>
                          </a:ln>
                          <a:effectLst/>
                          <a:latin typeface="微软雅黑" panose="020B0503020204020204" pitchFamily="34" charset="-122"/>
                          <a:ea typeface="微软雅黑" panose="020B0503020204020204" pitchFamily="34" charset="-122"/>
                        </a:rPr>
                        <a:t>1990.8 - 1991.1</a:t>
                      </a:r>
                      <a:endParaRPr kumimoji="0" lang="en-US" altLang="zh-CN" sz="1800" b="0" i="0" u="none" strike="noStrike" cap="none" normalizeH="0" baseline="0" dirty="0" smtClean="0">
                        <a:ln>
                          <a:noFill/>
                        </a:ln>
                        <a:solidFill>
                          <a:schemeClr val="bg1"/>
                        </a:solidFill>
                        <a:effectLst/>
                        <a:latin typeface="微软雅黑" panose="020B0503020204020204" pitchFamily="34" charset="-122"/>
                        <a:ea typeface="微软雅黑" panose="020B0503020204020204" pitchFamily="34" charset="-122"/>
                      </a:endParaRPr>
                    </a:p>
                  </a:txBody>
                  <a:tcPr marT="45717" marB="45717" anchor="ctr" horzOverflow="overflow"/>
                </a:tc>
                <a:tc>
                  <a:txBody>
                    <a:bodyPr/>
                    <a:lstStyle/>
                    <a:p>
                      <a:pPr marL="0" marR="0" lvl="0" indent="0" algn="ctr" defTabSz="914400" rtl="0" eaLnBrk="1" fontAlgn="base" latinLnBrk="0" hangingPunct="1">
                        <a:lnSpc>
                          <a:spcPct val="85000"/>
                        </a:lnSpc>
                        <a:spcBef>
                          <a:spcPct val="20000"/>
                        </a:spcBef>
                        <a:spcAft>
                          <a:spcPct val="0"/>
                        </a:spcAft>
                        <a:buClrTx/>
                        <a:buSzTx/>
                        <a:buFontTx/>
                        <a:buNone/>
                        <a:tabLst/>
                      </a:pPr>
                      <a:r>
                        <a:rPr kumimoji="0" lang="en-US" altLang="zh-CN" sz="1800" u="none" strike="noStrike" cap="none" normalizeH="0" baseline="0" dirty="0" smtClean="0">
                          <a:ln>
                            <a:noFill/>
                          </a:ln>
                          <a:effectLst/>
                          <a:latin typeface="微软雅黑" panose="020B0503020204020204" pitchFamily="34" charset="-122"/>
                          <a:ea typeface="微软雅黑" panose="020B0503020204020204" pitchFamily="34" charset="-122"/>
                        </a:rPr>
                        <a:t>16.22 - &gt;40.00</a:t>
                      </a:r>
                      <a:endParaRPr kumimoji="0" lang="en-US" altLang="zh-CN" sz="1800" b="0" i="0" u="none" strike="noStrike" cap="none" normalizeH="0" baseline="0" dirty="0" smtClean="0">
                        <a:ln>
                          <a:noFill/>
                        </a:ln>
                        <a:solidFill>
                          <a:schemeClr val="bg1"/>
                        </a:solidFill>
                        <a:effectLst/>
                        <a:latin typeface="微软雅黑" panose="020B0503020204020204" pitchFamily="34" charset="-122"/>
                        <a:ea typeface="微软雅黑" panose="020B0503020204020204" pitchFamily="34" charset="-122"/>
                      </a:endParaRPr>
                    </a:p>
                  </a:txBody>
                  <a:tcPr marT="45717" marB="45717" anchor="ctr" horzOverflow="overflow"/>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zh-CN" altLang="en-US" sz="1800" u="none" strike="noStrike" cap="none" normalizeH="0" baseline="0" dirty="0" smtClean="0">
                          <a:ln>
                            <a:noFill/>
                          </a:ln>
                          <a:effectLst/>
                          <a:latin typeface="微软雅黑" panose="020B0503020204020204" pitchFamily="34" charset="-122"/>
                          <a:ea typeface="微软雅黑" panose="020B0503020204020204" pitchFamily="34" charset="-122"/>
                        </a:rPr>
                        <a:t>第一次海湾战争科威特油田遭严重破坏</a:t>
                      </a:r>
                      <a:endParaRPr kumimoji="0" lang="zh-CN" altLang="en-US" sz="1800" b="0" i="0" u="none" strike="noStrike" cap="none" normalizeH="0" baseline="0" dirty="0" smtClean="0">
                        <a:ln>
                          <a:noFill/>
                        </a:ln>
                        <a:solidFill>
                          <a:schemeClr val="bg1"/>
                        </a:solidFill>
                        <a:effectLst/>
                        <a:latin typeface="微软雅黑" panose="020B0503020204020204" pitchFamily="34" charset="-122"/>
                        <a:ea typeface="微软雅黑" panose="020B0503020204020204" pitchFamily="34" charset="-122"/>
                      </a:endParaRPr>
                    </a:p>
                  </a:txBody>
                  <a:tcPr marT="45717" marB="45717" anchor="ctr" horzOverflow="overflow"/>
                </a:tc>
                <a:extLst>
                  <a:ext uri="{0D108BD9-81ED-4DB2-BD59-A6C34878D82A}">
                    <a16:rowId xmlns:a16="http://schemas.microsoft.com/office/drawing/2014/main" val="10004"/>
                  </a:ext>
                </a:extLst>
              </a:tr>
              <a:tr h="656145">
                <a:tc>
                  <a:txBody>
                    <a:bodyPr/>
                    <a:lstStyle/>
                    <a:p>
                      <a:pPr marL="0" marR="0" lvl="0" indent="0" algn="ctr" defTabSz="914400" rtl="0" eaLnBrk="1" fontAlgn="base" latinLnBrk="0" hangingPunct="1">
                        <a:lnSpc>
                          <a:spcPct val="85000"/>
                        </a:lnSpc>
                        <a:spcBef>
                          <a:spcPct val="20000"/>
                        </a:spcBef>
                        <a:spcAft>
                          <a:spcPct val="0"/>
                        </a:spcAft>
                        <a:buClrTx/>
                        <a:buSzTx/>
                        <a:buFontTx/>
                        <a:buNone/>
                        <a:tabLst/>
                      </a:pPr>
                      <a:r>
                        <a:rPr kumimoji="0" lang="en-US" altLang="zh-CN" sz="1800" u="none" strike="noStrike" cap="none" normalizeH="0" baseline="0" dirty="0" smtClean="0">
                          <a:ln>
                            <a:noFill/>
                          </a:ln>
                          <a:effectLst/>
                          <a:latin typeface="微软雅黑" panose="020B0503020204020204" pitchFamily="34" charset="-122"/>
                          <a:ea typeface="微软雅黑" panose="020B0503020204020204" pitchFamily="34" charset="-122"/>
                        </a:rPr>
                        <a:t>1996.10 - 1998.12</a:t>
                      </a:r>
                      <a:endParaRPr kumimoji="0" lang="en-US" altLang="zh-CN" sz="1800" b="0" i="0" u="none" strike="noStrike" cap="none" normalizeH="0" baseline="0" dirty="0" smtClean="0">
                        <a:ln>
                          <a:noFill/>
                        </a:ln>
                        <a:solidFill>
                          <a:schemeClr val="bg1"/>
                        </a:solidFill>
                        <a:effectLst/>
                        <a:latin typeface="微软雅黑" panose="020B0503020204020204" pitchFamily="34" charset="-122"/>
                        <a:ea typeface="微软雅黑" panose="020B0503020204020204" pitchFamily="34" charset="-122"/>
                      </a:endParaRPr>
                    </a:p>
                  </a:txBody>
                  <a:tcPr marT="45717" marB="45717" anchor="ctr" horzOverflow="overflow"/>
                </a:tc>
                <a:tc>
                  <a:txBody>
                    <a:bodyPr/>
                    <a:lstStyle/>
                    <a:p>
                      <a:pPr marL="0" marR="0" lvl="0" indent="0" algn="ctr" defTabSz="914400" rtl="0" eaLnBrk="1" fontAlgn="base" latinLnBrk="0" hangingPunct="1">
                        <a:lnSpc>
                          <a:spcPct val="85000"/>
                        </a:lnSpc>
                        <a:spcBef>
                          <a:spcPct val="20000"/>
                        </a:spcBef>
                        <a:spcAft>
                          <a:spcPct val="0"/>
                        </a:spcAft>
                        <a:buClrTx/>
                        <a:buSzTx/>
                        <a:buFontTx/>
                        <a:buNone/>
                        <a:tabLst/>
                      </a:pPr>
                      <a:r>
                        <a:rPr kumimoji="0" lang="en-US" altLang="zh-CN" sz="1800" u="none" strike="noStrike" cap="none" normalizeH="0" baseline="0" dirty="0" smtClean="0">
                          <a:ln>
                            <a:noFill/>
                          </a:ln>
                          <a:effectLst/>
                          <a:latin typeface="微软雅黑" panose="020B0503020204020204" pitchFamily="34" charset="-122"/>
                          <a:ea typeface="微软雅黑" panose="020B0503020204020204" pitchFamily="34" charset="-122"/>
                        </a:rPr>
                        <a:t>23.50 - &lt;10.60</a:t>
                      </a:r>
                      <a:endParaRPr kumimoji="0" lang="en-US" altLang="zh-CN" sz="1800" b="0" i="0" u="none" strike="noStrike" cap="none" normalizeH="0" baseline="0" dirty="0" smtClean="0">
                        <a:ln>
                          <a:noFill/>
                        </a:ln>
                        <a:solidFill>
                          <a:schemeClr val="bg1"/>
                        </a:solidFill>
                        <a:effectLst/>
                        <a:latin typeface="微软雅黑" panose="020B0503020204020204" pitchFamily="34" charset="-122"/>
                        <a:ea typeface="微软雅黑" panose="020B0503020204020204" pitchFamily="34" charset="-122"/>
                      </a:endParaRPr>
                    </a:p>
                  </a:txBody>
                  <a:tcPr marT="45717" marB="45717" anchor="ctr" horzOverflow="overflow"/>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zh-CN" altLang="en-US" sz="1800" u="none" strike="noStrike" cap="none" normalizeH="0" baseline="0" dirty="0" smtClean="0">
                          <a:ln>
                            <a:noFill/>
                          </a:ln>
                          <a:effectLst/>
                          <a:latin typeface="微软雅黑" panose="020B0503020204020204" pitchFamily="34" charset="-122"/>
                          <a:ea typeface="微软雅黑" panose="020B0503020204020204" pitchFamily="34" charset="-122"/>
                        </a:rPr>
                        <a:t>东亚金融危机，世界经济衰退，需求减退</a:t>
                      </a:r>
                      <a:endParaRPr kumimoji="0" lang="zh-CN" altLang="en-US" sz="1800" b="0" i="0" u="none" strike="noStrike" cap="none" normalizeH="0" baseline="0" dirty="0" smtClean="0">
                        <a:ln>
                          <a:noFill/>
                        </a:ln>
                        <a:solidFill>
                          <a:schemeClr val="bg1"/>
                        </a:solidFill>
                        <a:effectLst/>
                        <a:latin typeface="微软雅黑" panose="020B0503020204020204" pitchFamily="34" charset="-122"/>
                        <a:ea typeface="微软雅黑" panose="020B0503020204020204" pitchFamily="34" charset="-122"/>
                      </a:endParaRPr>
                    </a:p>
                  </a:txBody>
                  <a:tcPr marT="45717" marB="45717" anchor="ctr" horzOverflow="overflow"/>
                </a:tc>
                <a:extLst>
                  <a:ext uri="{0D108BD9-81ED-4DB2-BD59-A6C34878D82A}">
                    <a16:rowId xmlns:a16="http://schemas.microsoft.com/office/drawing/2014/main" val="10005"/>
                  </a:ext>
                </a:extLst>
              </a:tr>
              <a:tr h="656145">
                <a:tc>
                  <a:txBody>
                    <a:bodyPr/>
                    <a:lstStyle/>
                    <a:p>
                      <a:pPr marL="0" marR="0" lvl="0" indent="0" algn="ctr" defTabSz="914400" rtl="0" eaLnBrk="1" fontAlgn="base" latinLnBrk="0" hangingPunct="1">
                        <a:lnSpc>
                          <a:spcPct val="85000"/>
                        </a:lnSpc>
                        <a:spcBef>
                          <a:spcPct val="20000"/>
                        </a:spcBef>
                        <a:spcAft>
                          <a:spcPct val="0"/>
                        </a:spcAft>
                        <a:buClrTx/>
                        <a:buSzTx/>
                        <a:buFontTx/>
                        <a:buNone/>
                        <a:tabLst/>
                      </a:pPr>
                      <a:r>
                        <a:rPr kumimoji="0" lang="en-US" altLang="zh-CN" sz="1800" u="none" strike="noStrike" cap="none" normalizeH="0" baseline="0" dirty="0" smtClean="0">
                          <a:ln>
                            <a:noFill/>
                          </a:ln>
                          <a:effectLst/>
                          <a:latin typeface="微软雅黑" panose="020B0503020204020204" pitchFamily="34" charset="-122"/>
                          <a:ea typeface="微软雅黑" panose="020B0503020204020204" pitchFamily="34" charset="-122"/>
                        </a:rPr>
                        <a:t>1998.12 - 2000.10</a:t>
                      </a:r>
                      <a:endParaRPr kumimoji="0" lang="en-US" altLang="zh-CN" sz="1800" b="0" i="0" u="none" strike="noStrike" cap="none" normalizeH="0" baseline="0" dirty="0" smtClean="0">
                        <a:ln>
                          <a:noFill/>
                        </a:ln>
                        <a:solidFill>
                          <a:schemeClr val="bg1"/>
                        </a:solidFill>
                        <a:effectLst/>
                        <a:latin typeface="微软雅黑" panose="020B0503020204020204" pitchFamily="34" charset="-122"/>
                        <a:ea typeface="微软雅黑" panose="020B0503020204020204" pitchFamily="34" charset="-122"/>
                      </a:endParaRPr>
                    </a:p>
                  </a:txBody>
                  <a:tcPr marT="45717" marB="45717" anchor="ctr" horzOverflow="overflow"/>
                </a:tc>
                <a:tc>
                  <a:txBody>
                    <a:bodyPr/>
                    <a:lstStyle/>
                    <a:p>
                      <a:pPr marL="0" marR="0" lvl="0" indent="0" algn="ctr" defTabSz="914400" rtl="0" eaLnBrk="1" fontAlgn="base" latinLnBrk="0" hangingPunct="1">
                        <a:lnSpc>
                          <a:spcPct val="85000"/>
                        </a:lnSpc>
                        <a:spcBef>
                          <a:spcPct val="20000"/>
                        </a:spcBef>
                        <a:spcAft>
                          <a:spcPct val="0"/>
                        </a:spcAft>
                        <a:buClrTx/>
                        <a:buSzTx/>
                        <a:buFontTx/>
                        <a:buNone/>
                        <a:tabLst/>
                      </a:pPr>
                      <a:r>
                        <a:rPr kumimoji="0" lang="en-US" altLang="zh-CN" sz="1800" u="none" strike="noStrike" cap="none" normalizeH="0" baseline="0" dirty="0" smtClean="0">
                          <a:ln>
                            <a:noFill/>
                          </a:ln>
                          <a:effectLst/>
                          <a:latin typeface="微软雅黑" panose="020B0503020204020204" pitchFamily="34" charset="-122"/>
                          <a:ea typeface="微软雅黑" panose="020B0503020204020204" pitchFamily="34" charset="-122"/>
                        </a:rPr>
                        <a:t>10.60 -  35.00</a:t>
                      </a:r>
                      <a:endParaRPr kumimoji="0" lang="en-US" altLang="zh-CN" sz="1800" b="0" i="0" u="none" strike="noStrike" cap="none" normalizeH="0" baseline="0" dirty="0" smtClean="0">
                        <a:ln>
                          <a:noFill/>
                        </a:ln>
                        <a:solidFill>
                          <a:schemeClr val="bg1"/>
                        </a:solidFill>
                        <a:effectLst/>
                        <a:latin typeface="微软雅黑" panose="020B0503020204020204" pitchFamily="34" charset="-122"/>
                        <a:ea typeface="微软雅黑" panose="020B0503020204020204" pitchFamily="34" charset="-122"/>
                      </a:endParaRPr>
                    </a:p>
                  </a:txBody>
                  <a:tcPr marT="45717" marB="45717" anchor="ctr" horzOverflow="overflow"/>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zh-CN" altLang="en-US" sz="1800" u="none" strike="noStrike" cap="none" normalizeH="0" baseline="0" dirty="0" smtClean="0">
                          <a:ln>
                            <a:noFill/>
                          </a:ln>
                          <a:effectLst/>
                          <a:latin typeface="微软雅黑" panose="020B0503020204020204" pitchFamily="34" charset="-122"/>
                          <a:ea typeface="微软雅黑" panose="020B0503020204020204" pitchFamily="34" charset="-122"/>
                        </a:rPr>
                        <a:t>东亚金融危机结束，世界经济复苏，库存下降，</a:t>
                      </a:r>
                      <a:r>
                        <a:rPr kumimoji="0" lang="en-US" altLang="zh-CN" sz="1800" u="none" strike="noStrike" cap="none" normalizeH="0" baseline="0" dirty="0" smtClean="0">
                          <a:ln>
                            <a:noFill/>
                          </a:ln>
                          <a:effectLst/>
                          <a:latin typeface="微软雅黑" panose="020B0503020204020204" pitchFamily="34" charset="-122"/>
                          <a:ea typeface="微软雅黑" panose="020B0503020204020204" pitchFamily="34" charset="-122"/>
                        </a:rPr>
                        <a:t>OPEC</a:t>
                      </a:r>
                      <a:r>
                        <a:rPr kumimoji="0" lang="zh-CN" altLang="en-US" sz="1800" u="none" strike="noStrike" cap="none" normalizeH="0" baseline="0" dirty="0" smtClean="0">
                          <a:ln>
                            <a:noFill/>
                          </a:ln>
                          <a:effectLst/>
                          <a:latin typeface="微软雅黑" panose="020B0503020204020204" pitchFamily="34" charset="-122"/>
                          <a:ea typeface="微软雅黑" panose="020B0503020204020204" pitchFamily="34" charset="-122"/>
                        </a:rPr>
                        <a:t>限产奏效</a:t>
                      </a:r>
                      <a:endParaRPr kumimoji="0" lang="zh-CN" altLang="en-US" sz="1800" b="0" i="0" u="none" strike="noStrike" cap="none" normalizeH="0" baseline="0" dirty="0" smtClean="0">
                        <a:ln>
                          <a:noFill/>
                        </a:ln>
                        <a:solidFill>
                          <a:schemeClr val="bg1"/>
                        </a:solidFill>
                        <a:effectLst/>
                        <a:latin typeface="微软雅黑" panose="020B0503020204020204" pitchFamily="34" charset="-122"/>
                        <a:ea typeface="微软雅黑" panose="020B0503020204020204" pitchFamily="34" charset="-122"/>
                      </a:endParaRPr>
                    </a:p>
                  </a:txBody>
                  <a:tcPr marT="45717" marB="45717" anchor="ctr" horzOverflow="overflow"/>
                </a:tc>
                <a:extLst>
                  <a:ext uri="{0D108BD9-81ED-4DB2-BD59-A6C34878D82A}">
                    <a16:rowId xmlns:a16="http://schemas.microsoft.com/office/drawing/2014/main" val="10006"/>
                  </a:ext>
                </a:extLst>
              </a:tr>
              <a:tr h="656145">
                <a:tc>
                  <a:txBody>
                    <a:bodyPr/>
                    <a:lstStyle/>
                    <a:p>
                      <a:pPr marL="0" marR="0" lvl="0" indent="0" algn="ctr" defTabSz="914400" rtl="0" eaLnBrk="1" fontAlgn="base" latinLnBrk="0" hangingPunct="1">
                        <a:lnSpc>
                          <a:spcPct val="85000"/>
                        </a:lnSpc>
                        <a:spcBef>
                          <a:spcPct val="20000"/>
                        </a:spcBef>
                        <a:spcAft>
                          <a:spcPct val="0"/>
                        </a:spcAft>
                        <a:buClrTx/>
                        <a:buSzTx/>
                        <a:buFontTx/>
                        <a:buNone/>
                        <a:tabLst/>
                      </a:pPr>
                      <a:r>
                        <a:rPr kumimoji="0" lang="en-US" altLang="zh-CN" sz="1800" u="none" strike="noStrike" cap="none" normalizeH="0" baseline="0" dirty="0" smtClean="0">
                          <a:ln>
                            <a:noFill/>
                          </a:ln>
                          <a:effectLst/>
                          <a:latin typeface="微软雅黑" panose="020B0503020204020204" pitchFamily="34" charset="-122"/>
                          <a:ea typeface="微软雅黑" panose="020B0503020204020204" pitchFamily="34" charset="-122"/>
                        </a:rPr>
                        <a:t>2004.3 - 2008.7</a:t>
                      </a:r>
                      <a:endParaRPr kumimoji="0" lang="en-US" altLang="zh-CN" sz="1800" b="0" i="0" u="none" strike="noStrike" cap="none" normalizeH="0" baseline="0" dirty="0" smtClean="0">
                        <a:ln>
                          <a:noFill/>
                        </a:ln>
                        <a:solidFill>
                          <a:schemeClr val="bg1"/>
                        </a:solidFill>
                        <a:effectLst/>
                        <a:latin typeface="微软雅黑" panose="020B0503020204020204" pitchFamily="34" charset="-122"/>
                        <a:ea typeface="微软雅黑" panose="020B0503020204020204" pitchFamily="34" charset="-122"/>
                      </a:endParaRPr>
                    </a:p>
                  </a:txBody>
                  <a:tcPr marT="45717" marB="45717" anchor="ctr" horzOverflow="overflow"/>
                </a:tc>
                <a:tc>
                  <a:txBody>
                    <a:bodyPr/>
                    <a:lstStyle/>
                    <a:p>
                      <a:pPr marL="0" marR="0" lvl="0" indent="0" algn="ctr" defTabSz="914400" rtl="0" eaLnBrk="1" fontAlgn="base" latinLnBrk="0" hangingPunct="1">
                        <a:lnSpc>
                          <a:spcPct val="85000"/>
                        </a:lnSpc>
                        <a:spcBef>
                          <a:spcPct val="20000"/>
                        </a:spcBef>
                        <a:spcAft>
                          <a:spcPct val="0"/>
                        </a:spcAft>
                        <a:buClrTx/>
                        <a:buSzTx/>
                        <a:buFontTx/>
                        <a:buNone/>
                        <a:tabLst/>
                      </a:pPr>
                      <a:r>
                        <a:rPr kumimoji="0" lang="en-US" altLang="zh-CN" sz="1800" u="none" strike="noStrike" cap="none" normalizeH="0" baseline="0" dirty="0" smtClean="0">
                          <a:ln>
                            <a:noFill/>
                          </a:ln>
                          <a:effectLst/>
                          <a:latin typeface="微软雅黑" panose="020B0503020204020204" pitchFamily="34" charset="-122"/>
                          <a:ea typeface="微软雅黑" panose="020B0503020204020204" pitchFamily="34" charset="-122"/>
                        </a:rPr>
                        <a:t>32.00 - 147.59</a:t>
                      </a:r>
                      <a:endParaRPr kumimoji="0" lang="en-US" altLang="zh-CN" sz="1800" b="0" i="0" u="none" strike="noStrike" cap="none" normalizeH="0" baseline="0" dirty="0" smtClean="0">
                        <a:ln>
                          <a:noFill/>
                        </a:ln>
                        <a:solidFill>
                          <a:schemeClr val="bg1"/>
                        </a:solidFill>
                        <a:effectLst/>
                        <a:latin typeface="微软雅黑" panose="020B0503020204020204" pitchFamily="34" charset="-122"/>
                        <a:ea typeface="微软雅黑" panose="020B0503020204020204" pitchFamily="34" charset="-122"/>
                      </a:endParaRPr>
                    </a:p>
                  </a:txBody>
                  <a:tcPr marT="45717" marB="45717" anchor="ctr" horzOverflow="overflow"/>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zh-CN" altLang="en-US" sz="1800" u="none" strike="noStrike" cap="none" normalizeH="0" baseline="0" dirty="0" smtClean="0">
                          <a:ln>
                            <a:noFill/>
                          </a:ln>
                          <a:effectLst/>
                          <a:latin typeface="微软雅黑" panose="020B0503020204020204" pitchFamily="34" charset="-122"/>
                          <a:ea typeface="微软雅黑" panose="020B0503020204020204" pitchFamily="34" charset="-122"/>
                        </a:rPr>
                        <a:t>亚洲需求增长迅速，美对伊战争，</a:t>
                      </a:r>
                      <a:r>
                        <a:rPr kumimoji="0" lang="en-US" altLang="zh-CN" sz="1800" u="none" strike="noStrike" cap="none" normalizeH="0" baseline="0" dirty="0" smtClean="0">
                          <a:ln>
                            <a:noFill/>
                          </a:ln>
                          <a:effectLst/>
                          <a:latin typeface="微软雅黑" panose="020B0503020204020204" pitchFamily="34" charset="-122"/>
                          <a:ea typeface="微软雅黑" panose="020B0503020204020204" pitchFamily="34" charset="-122"/>
                        </a:rPr>
                        <a:t>OPEC</a:t>
                      </a:r>
                      <a:r>
                        <a:rPr kumimoji="0" lang="zh-CN" altLang="en-US" sz="1800" u="none" strike="noStrike" cap="none" normalizeH="0" baseline="0" dirty="0" smtClean="0">
                          <a:ln>
                            <a:noFill/>
                          </a:ln>
                          <a:effectLst/>
                          <a:latin typeface="微软雅黑" panose="020B0503020204020204" pitchFamily="34" charset="-122"/>
                          <a:ea typeface="微软雅黑" panose="020B0503020204020204" pitchFamily="34" charset="-122"/>
                        </a:rPr>
                        <a:t>限产，美元汇率下跌，期货市场投机</a:t>
                      </a:r>
                      <a:endParaRPr kumimoji="0" lang="zh-CN" altLang="en-US" sz="1800" b="0" i="0" u="none" strike="noStrike" cap="none" normalizeH="0" baseline="0" dirty="0" smtClean="0">
                        <a:ln>
                          <a:noFill/>
                        </a:ln>
                        <a:solidFill>
                          <a:schemeClr val="bg1"/>
                        </a:solidFill>
                        <a:effectLst/>
                        <a:latin typeface="微软雅黑" panose="020B0503020204020204" pitchFamily="34" charset="-122"/>
                        <a:ea typeface="微软雅黑" panose="020B0503020204020204" pitchFamily="34" charset="-122"/>
                      </a:endParaRPr>
                    </a:p>
                  </a:txBody>
                  <a:tcPr marT="45717" marB="45717" anchor="ctr" horzOverflow="overflow"/>
                </a:tc>
                <a:extLst>
                  <a:ext uri="{0D108BD9-81ED-4DB2-BD59-A6C34878D82A}">
                    <a16:rowId xmlns:a16="http://schemas.microsoft.com/office/drawing/2014/main" val="10007"/>
                  </a:ext>
                </a:extLst>
              </a:tr>
            </a:tbl>
          </a:graphicData>
        </a:graphic>
      </p:graphicFrame>
      <p:sp>
        <p:nvSpPr>
          <p:cNvPr id="8" name="Rectangle 131"/>
          <p:cNvSpPr>
            <a:spLocks noChangeArrowheads="1"/>
          </p:cNvSpPr>
          <p:nvPr/>
        </p:nvSpPr>
        <p:spPr bwMode="auto">
          <a:xfrm>
            <a:off x="809875" y="1543816"/>
            <a:ext cx="8051006" cy="1223963"/>
          </a:xfrm>
          <a:prstGeom prst="rect">
            <a:avLst/>
          </a:prstGeom>
          <a:solidFill>
            <a:srgbClr val="FF00FF">
              <a:alpha val="30196"/>
            </a:srgbClr>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sp>
        <p:nvSpPr>
          <p:cNvPr id="9" name="AutoShape 133"/>
          <p:cNvSpPr>
            <a:spLocks noChangeArrowheads="1"/>
          </p:cNvSpPr>
          <p:nvPr/>
        </p:nvSpPr>
        <p:spPr bwMode="auto">
          <a:xfrm rot="506468">
            <a:off x="2725293" y="1229709"/>
            <a:ext cx="2327931" cy="1808025"/>
          </a:xfrm>
          <a:prstGeom prst="irregularSeal2">
            <a:avLst/>
          </a:prstGeom>
          <a:solidFill>
            <a:srgbClr val="FF0000">
              <a:alpha val="39999"/>
            </a:srgbClr>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spTree>
    <p:extLst>
      <p:ext uri="{BB962C8B-B14F-4D97-AF65-F5344CB8AC3E}">
        <p14:creationId xmlns:p14="http://schemas.microsoft.com/office/powerpoint/2010/main" val="171767201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1" presetClass="entr" presetSubtype="0" fill="hold" grpId="0" nodeType="clickEffect">
                                  <p:stCondLst>
                                    <p:cond delay="0"/>
                                  </p:stCondLst>
                                  <p:childTnLst>
                                    <p:set>
                                      <p:cBhvr>
                                        <p:cTn id="6" dur="1000">
                                          <p:stCondLst>
                                            <p:cond delay="0"/>
                                          </p:stCondLst>
                                        </p:cTn>
                                        <p:tgtEl>
                                          <p:spTgt spid="8"/>
                                        </p:tgtEl>
                                        <p:attrNameLst>
                                          <p:attrName>style.visibility</p:attrName>
                                        </p:attrNameLst>
                                      </p:cBhvr>
                                      <p:to>
                                        <p:strVal val="visible"/>
                                      </p:to>
                                    </p:set>
                                  </p:childTnLst>
                                  <p:subTnLst>
                                    <p:animClr clrSpc="rgb" dir="cw">
                                      <p:cBhvr override="childStyle">
                                        <p:cTn dur="1" fill="hold" display="0" masterRel="nextClick" afterEffect="1"/>
                                        <p:tgtEl>
                                          <p:spTgt spid="8"/>
                                        </p:tgtEl>
                                        <p:attrNameLst>
                                          <p:attrName>ppt_c</p:attrName>
                                        </p:attrNameLst>
                                      </p:cBhvr>
                                      <p:to>
                                        <a:srgbClr val="FF00FF"/>
                                      </p:to>
                                    </p:animClr>
                                  </p:subTnLst>
                                </p:cTn>
                              </p:par>
                            </p:childTnLst>
                          </p:cTn>
                        </p:par>
                      </p:childTnLst>
                    </p:cTn>
                  </p:par>
                  <p:par>
                    <p:cTn id="7" fill="hold">
                      <p:stCondLst>
                        <p:cond delay="indefinite"/>
                      </p:stCondLst>
                      <p:childTnLst>
                        <p:par>
                          <p:cTn id="8" fill="hold">
                            <p:stCondLst>
                              <p:cond delay="0"/>
                            </p:stCondLst>
                            <p:childTnLst>
                              <p:par>
                                <p:cTn id="9" presetID="55" presetClass="entr" presetSubtype="0" fill="hold" grpId="0" nodeType="clickEffect">
                                  <p:stCondLst>
                                    <p:cond delay="0"/>
                                  </p:stCondLst>
                                  <p:childTnLst>
                                    <p:set>
                                      <p:cBhvr>
                                        <p:cTn id="10" dur="1" fill="hold">
                                          <p:stCondLst>
                                            <p:cond delay="0"/>
                                          </p:stCondLst>
                                        </p:cTn>
                                        <p:tgtEl>
                                          <p:spTgt spid="9"/>
                                        </p:tgtEl>
                                        <p:attrNameLst>
                                          <p:attrName>style.visibility</p:attrName>
                                        </p:attrNameLst>
                                      </p:cBhvr>
                                      <p:to>
                                        <p:strVal val="visible"/>
                                      </p:to>
                                    </p:set>
                                    <p:anim calcmode="lin" valueType="num">
                                      <p:cBhvr>
                                        <p:cTn id="11" dur="1000" fill="hold"/>
                                        <p:tgtEl>
                                          <p:spTgt spid="9"/>
                                        </p:tgtEl>
                                        <p:attrNameLst>
                                          <p:attrName>ppt_w</p:attrName>
                                        </p:attrNameLst>
                                      </p:cBhvr>
                                      <p:tavLst>
                                        <p:tav tm="0">
                                          <p:val>
                                            <p:strVal val="#ppt_w*0.70"/>
                                          </p:val>
                                        </p:tav>
                                        <p:tav tm="100000">
                                          <p:val>
                                            <p:strVal val="#ppt_w"/>
                                          </p:val>
                                        </p:tav>
                                      </p:tavLst>
                                    </p:anim>
                                    <p:anim calcmode="lin" valueType="num">
                                      <p:cBhvr>
                                        <p:cTn id="12" dur="1000" fill="hold"/>
                                        <p:tgtEl>
                                          <p:spTgt spid="9"/>
                                        </p:tgtEl>
                                        <p:attrNameLst>
                                          <p:attrName>ppt_h</p:attrName>
                                        </p:attrNameLst>
                                      </p:cBhvr>
                                      <p:tavLst>
                                        <p:tav tm="0">
                                          <p:val>
                                            <p:strVal val="#ppt_h"/>
                                          </p:val>
                                        </p:tav>
                                        <p:tav tm="100000">
                                          <p:val>
                                            <p:strVal val="#ppt_h"/>
                                          </p:val>
                                        </p:tav>
                                      </p:tavLst>
                                    </p:anim>
                                    <p:animEffect transition="in" filter="fade">
                                      <p:cBhvr>
                                        <p:cTn id="13" dur="10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9" grpId="0" animBg="1"/>
    </p:bld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页脚占位符 4"/>
          <p:cNvSpPr>
            <a:spLocks noGrp="1"/>
          </p:cNvSpPr>
          <p:nvPr>
            <p:ph type="ftr" sz="quarter" idx="11"/>
          </p:nvPr>
        </p:nvSpPr>
        <p:spPr/>
        <p:txBody>
          <a:bodyPr/>
          <a:lstStyle/>
          <a:p>
            <a:r>
              <a:rPr lang="zh-CN" altLang="en-US" smtClean="0"/>
              <a:t>国际金融学 范小云</a:t>
            </a:r>
            <a:endParaRPr lang="zh-CN" altLang="en-US" dirty="0"/>
          </a:p>
        </p:txBody>
      </p:sp>
      <p:sp>
        <p:nvSpPr>
          <p:cNvPr id="7" name="Rectangle 4"/>
          <p:cNvSpPr>
            <a:spLocks noChangeArrowheads="1"/>
          </p:cNvSpPr>
          <p:nvPr/>
        </p:nvSpPr>
        <p:spPr bwMode="auto">
          <a:xfrm>
            <a:off x="457201" y="197056"/>
            <a:ext cx="8324850" cy="8309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eaLnBrk="0" hangingPunct="0">
              <a:tabLst>
                <a:tab pos="439738" algn="r"/>
                <a:tab pos="2420938" algn="r"/>
                <a:tab pos="3060700" algn="r"/>
                <a:tab pos="3781425" algn="r"/>
                <a:tab pos="4500563" algn="r"/>
                <a:tab pos="5221288" algn="r"/>
              </a:tabLst>
              <a:defRPr>
                <a:solidFill>
                  <a:schemeClr val="tx1"/>
                </a:solidFill>
                <a:latin typeface="Arial" panose="020B0604020202020204" pitchFamily="34" charset="0"/>
                <a:ea typeface="宋体" panose="02010600030101010101" pitchFamily="2" charset="-122"/>
              </a:defRPr>
            </a:lvl1pPr>
            <a:lvl2pPr marL="742950" indent="-285750" eaLnBrk="0" hangingPunct="0">
              <a:tabLst>
                <a:tab pos="439738" algn="r"/>
                <a:tab pos="2420938" algn="r"/>
                <a:tab pos="3060700" algn="r"/>
                <a:tab pos="3781425" algn="r"/>
                <a:tab pos="4500563" algn="r"/>
                <a:tab pos="5221288" algn="r"/>
              </a:tabLst>
              <a:defRPr>
                <a:solidFill>
                  <a:schemeClr val="tx1"/>
                </a:solidFill>
                <a:latin typeface="Arial" panose="020B0604020202020204" pitchFamily="34" charset="0"/>
                <a:ea typeface="宋体" panose="02010600030101010101" pitchFamily="2" charset="-122"/>
              </a:defRPr>
            </a:lvl2pPr>
            <a:lvl3pPr marL="1143000" indent="-228600" eaLnBrk="0" hangingPunct="0">
              <a:tabLst>
                <a:tab pos="439738" algn="r"/>
                <a:tab pos="2420938" algn="r"/>
                <a:tab pos="3060700" algn="r"/>
                <a:tab pos="3781425" algn="r"/>
                <a:tab pos="4500563" algn="r"/>
                <a:tab pos="5221288" algn="r"/>
              </a:tabLst>
              <a:defRPr>
                <a:solidFill>
                  <a:schemeClr val="tx1"/>
                </a:solidFill>
                <a:latin typeface="Arial" panose="020B0604020202020204" pitchFamily="34" charset="0"/>
                <a:ea typeface="宋体" panose="02010600030101010101" pitchFamily="2" charset="-122"/>
              </a:defRPr>
            </a:lvl3pPr>
            <a:lvl4pPr marL="1600200" indent="-228600" eaLnBrk="0" hangingPunct="0">
              <a:tabLst>
                <a:tab pos="439738" algn="r"/>
                <a:tab pos="2420938" algn="r"/>
                <a:tab pos="3060700" algn="r"/>
                <a:tab pos="3781425" algn="r"/>
                <a:tab pos="4500563" algn="r"/>
                <a:tab pos="5221288" algn="r"/>
              </a:tabLst>
              <a:defRPr>
                <a:solidFill>
                  <a:schemeClr val="tx1"/>
                </a:solidFill>
                <a:latin typeface="Arial" panose="020B0604020202020204" pitchFamily="34" charset="0"/>
                <a:ea typeface="宋体" panose="02010600030101010101" pitchFamily="2" charset="-122"/>
              </a:defRPr>
            </a:lvl4pPr>
            <a:lvl5pPr marL="2057400" indent="-228600" eaLnBrk="0" hangingPunct="0">
              <a:tabLst>
                <a:tab pos="439738" algn="r"/>
                <a:tab pos="2420938" algn="r"/>
                <a:tab pos="3060700" algn="r"/>
                <a:tab pos="3781425" algn="r"/>
                <a:tab pos="4500563" algn="r"/>
                <a:tab pos="5221288" algn="r"/>
              </a:tabLst>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tabLst>
                <a:tab pos="439738" algn="r"/>
                <a:tab pos="2420938" algn="r"/>
                <a:tab pos="3060700" algn="r"/>
                <a:tab pos="3781425" algn="r"/>
                <a:tab pos="4500563" algn="r"/>
                <a:tab pos="5221288" algn="r"/>
              </a:tabLs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tabLst>
                <a:tab pos="439738" algn="r"/>
                <a:tab pos="2420938" algn="r"/>
                <a:tab pos="3060700" algn="r"/>
                <a:tab pos="3781425" algn="r"/>
                <a:tab pos="4500563" algn="r"/>
                <a:tab pos="5221288" algn="r"/>
              </a:tabLs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tabLst>
                <a:tab pos="439738" algn="r"/>
                <a:tab pos="2420938" algn="r"/>
                <a:tab pos="3060700" algn="r"/>
                <a:tab pos="3781425" algn="r"/>
                <a:tab pos="4500563" algn="r"/>
                <a:tab pos="5221288" algn="r"/>
              </a:tabLs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tabLst>
                <a:tab pos="439738" algn="r"/>
                <a:tab pos="2420938" algn="r"/>
                <a:tab pos="3060700" algn="r"/>
                <a:tab pos="3781425" algn="r"/>
                <a:tab pos="4500563" algn="r"/>
                <a:tab pos="5221288" algn="r"/>
              </a:tabLs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sz="2400" b="1" dirty="0">
                <a:latin typeface="微软雅黑" panose="020B0503020204020204" pitchFamily="34" charset="-122"/>
                <a:ea typeface="微软雅黑" panose="020B0503020204020204" pitchFamily="34" charset="-122"/>
              </a:rPr>
              <a:t>LEADING THIRD WORLD DEBTORS:</a:t>
            </a:r>
          </a:p>
          <a:p>
            <a:pPr algn="ctr" eaLnBrk="1" hangingPunct="1"/>
            <a:r>
              <a:rPr lang="en-US" altLang="zh-CN" sz="2400" b="1" dirty="0">
                <a:latin typeface="微软雅黑" panose="020B0503020204020204" pitchFamily="34" charset="-122"/>
                <a:ea typeface="微软雅黑" panose="020B0503020204020204" pitchFamily="34" charset="-122"/>
              </a:rPr>
              <a:t>DEBT OWED TO COMMERCIAL BANKS</a:t>
            </a:r>
          </a:p>
        </p:txBody>
      </p:sp>
      <p:graphicFrame>
        <p:nvGraphicFramePr>
          <p:cNvPr id="3" name="表格 2"/>
          <p:cNvGraphicFramePr>
            <a:graphicFrameLocks noGrp="1"/>
          </p:cNvGraphicFramePr>
          <p:nvPr>
            <p:extLst>
              <p:ext uri="{D42A27DB-BD31-4B8C-83A1-F6EECF244321}">
                <p14:modId xmlns:p14="http://schemas.microsoft.com/office/powerpoint/2010/main" val="3222860933"/>
              </p:ext>
            </p:extLst>
          </p:nvPr>
        </p:nvGraphicFramePr>
        <p:xfrm>
          <a:off x="457201" y="1028053"/>
          <a:ext cx="8324850" cy="5025900"/>
        </p:xfrm>
        <a:graphic>
          <a:graphicData uri="http://schemas.openxmlformats.org/drawingml/2006/table">
            <a:tbl>
              <a:tblPr firstRow="1" firstCol="1" bandRow="1">
                <a:tableStyleId>{69012ECD-51FC-41F1-AA8D-1B2483CD663E}</a:tableStyleId>
              </a:tblPr>
              <a:tblGrid>
                <a:gridCol w="1954516">
                  <a:extLst>
                    <a:ext uri="{9D8B030D-6E8A-4147-A177-3AD203B41FA5}">
                      <a16:colId xmlns:a16="http://schemas.microsoft.com/office/drawing/2014/main" val="20000"/>
                    </a:ext>
                  </a:extLst>
                </a:gridCol>
                <a:gridCol w="2441326">
                  <a:extLst>
                    <a:ext uri="{9D8B030D-6E8A-4147-A177-3AD203B41FA5}">
                      <a16:colId xmlns:a16="http://schemas.microsoft.com/office/drawing/2014/main" val="20001"/>
                    </a:ext>
                  </a:extLst>
                </a:gridCol>
                <a:gridCol w="1747478">
                  <a:extLst>
                    <a:ext uri="{9D8B030D-6E8A-4147-A177-3AD203B41FA5}">
                      <a16:colId xmlns:a16="http://schemas.microsoft.com/office/drawing/2014/main" val="20002"/>
                    </a:ext>
                  </a:extLst>
                </a:gridCol>
                <a:gridCol w="2181530">
                  <a:extLst>
                    <a:ext uri="{9D8B030D-6E8A-4147-A177-3AD203B41FA5}">
                      <a16:colId xmlns:a16="http://schemas.microsoft.com/office/drawing/2014/main" val="20003"/>
                    </a:ext>
                  </a:extLst>
                </a:gridCol>
              </a:tblGrid>
              <a:tr h="418825">
                <a:tc>
                  <a:txBody>
                    <a:bodyPr/>
                    <a:lstStyle/>
                    <a:p>
                      <a:pPr algn="l">
                        <a:spcAft>
                          <a:spcPts val="0"/>
                        </a:spcAft>
                      </a:pPr>
                      <a:endParaRPr lang="zh-CN" sz="2000" kern="100" dirty="0">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68580" marR="68580" marT="0" marB="0" anchor="ct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altLang="zh-CN" sz="2000" kern="100" dirty="0" smtClean="0">
                          <a:effectLst/>
                          <a:latin typeface="微软雅黑" panose="020B0503020204020204" pitchFamily="34" charset="-122"/>
                          <a:ea typeface="微软雅黑" panose="020B0503020204020204" pitchFamily="34" charset="-122"/>
                          <a:cs typeface="Times New Roman" panose="02020603050405020304" pitchFamily="18" charset="0"/>
                        </a:rPr>
                        <a:t>(at end 1981)</a:t>
                      </a:r>
                    </a:p>
                  </a:txBody>
                  <a:tcPr marL="68580" marR="68580" marT="0" marB="0" anchor="ctr"/>
                </a:tc>
                <a:tc gridSpan="2">
                  <a:txBody>
                    <a:bodyPr/>
                    <a:lstStyle/>
                    <a:p>
                      <a:pPr algn="ctr">
                        <a:spcAft>
                          <a:spcPts val="0"/>
                        </a:spcAft>
                      </a:pPr>
                      <a:r>
                        <a:rPr lang="en-US" altLang="zh-CN" sz="2000" kern="100" dirty="0" smtClean="0">
                          <a:effectLst/>
                          <a:latin typeface="微软雅黑" panose="020B0503020204020204" pitchFamily="34" charset="-122"/>
                          <a:ea typeface="微软雅黑" panose="020B0503020204020204" pitchFamily="34" charset="-122"/>
                          <a:cs typeface="Times New Roman" panose="02020603050405020304" pitchFamily="18" charset="0"/>
                        </a:rPr>
                        <a:t>Due in one year or less</a:t>
                      </a:r>
                      <a:endParaRPr lang="zh-CN" sz="2000" kern="100" dirty="0">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68580" marR="68580" marT="0" marB="0" anchor="ctr"/>
                </a:tc>
                <a:tc hMerge="1">
                  <a:txBody>
                    <a:bodyPr/>
                    <a:lstStyle/>
                    <a:p>
                      <a:pPr algn="ctr">
                        <a:spcAft>
                          <a:spcPts val="0"/>
                        </a:spcAft>
                      </a:pPr>
                      <a:endParaRPr lang="zh-CN" sz="2000" kern="100" dirty="0">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68580" marR="68580" marT="0" marB="0" anchor="ctr"/>
                </a:tc>
                <a:extLst>
                  <a:ext uri="{0D108BD9-81ED-4DB2-BD59-A6C34878D82A}">
                    <a16:rowId xmlns:a16="http://schemas.microsoft.com/office/drawing/2014/main" val="10000"/>
                  </a:ext>
                </a:extLst>
              </a:tr>
              <a:tr h="418825">
                <a:tc>
                  <a:txBody>
                    <a:bodyPr/>
                    <a:lstStyle/>
                    <a:p>
                      <a:pPr algn="l">
                        <a:spcAft>
                          <a:spcPts val="0"/>
                        </a:spcAft>
                      </a:pPr>
                      <a:endParaRPr lang="zh-CN" sz="2000" kern="100" dirty="0">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68580" marR="68580" marT="0" marB="0" anchor="ctr"/>
                </a:tc>
                <a:tc>
                  <a:txBody>
                    <a:bodyPr/>
                    <a:lstStyle/>
                    <a:p>
                      <a:pPr algn="ctr">
                        <a:spcAft>
                          <a:spcPts val="0"/>
                        </a:spcAft>
                      </a:pPr>
                      <a:r>
                        <a:rPr lang="en-US" altLang="zh-CN" sz="2000" b="1" kern="100" dirty="0" smtClean="0">
                          <a:effectLst/>
                          <a:latin typeface="微软雅黑" panose="020B0503020204020204" pitchFamily="34" charset="-122"/>
                          <a:ea typeface="微软雅黑" panose="020B0503020204020204" pitchFamily="34" charset="-122"/>
                          <a:cs typeface="Times New Roman" panose="02020603050405020304" pitchFamily="18" charset="0"/>
                        </a:rPr>
                        <a:t>$ billions</a:t>
                      </a:r>
                      <a:endParaRPr lang="zh-CN" sz="2000" b="1" kern="100" dirty="0">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68580" marR="68580" marT="0" marB="0" anchor="ctr"/>
                </a:tc>
                <a:tc>
                  <a:txBody>
                    <a:bodyPr/>
                    <a:lstStyle/>
                    <a:p>
                      <a:pPr algn="ctr">
                        <a:spcAft>
                          <a:spcPts val="0"/>
                        </a:spcAft>
                      </a:pPr>
                      <a:r>
                        <a:rPr lang="en-US" altLang="zh-CN" sz="2000" b="1" kern="100" dirty="0" smtClean="0">
                          <a:effectLst/>
                          <a:latin typeface="微软雅黑" panose="020B0503020204020204" pitchFamily="34" charset="-122"/>
                          <a:ea typeface="微软雅黑" panose="020B0503020204020204" pitchFamily="34" charset="-122"/>
                          <a:cs typeface="Times New Roman" panose="02020603050405020304" pitchFamily="18" charset="0"/>
                        </a:rPr>
                        <a:t>% of total</a:t>
                      </a:r>
                      <a:endParaRPr lang="zh-CN" sz="2000" b="1" kern="100" dirty="0">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68580" marR="68580" marT="0" marB="0" anchor="ctr"/>
                </a:tc>
                <a:tc>
                  <a:txBody>
                    <a:bodyPr/>
                    <a:lstStyle/>
                    <a:p>
                      <a:pPr algn="ctr">
                        <a:spcAft>
                          <a:spcPts val="0"/>
                        </a:spcAft>
                      </a:pPr>
                      <a:r>
                        <a:rPr lang="en-US" altLang="zh-CN" sz="2000" b="1" kern="100" dirty="0" smtClean="0">
                          <a:effectLst/>
                          <a:latin typeface="微软雅黑" panose="020B0503020204020204" pitchFamily="34" charset="-122"/>
                          <a:ea typeface="微软雅黑" panose="020B0503020204020204" pitchFamily="34" charset="-122"/>
                          <a:cs typeface="Times New Roman" panose="02020603050405020304" pitchFamily="18" charset="0"/>
                        </a:rPr>
                        <a:t>% of Exports</a:t>
                      </a:r>
                      <a:endParaRPr lang="zh-CN" sz="2000" b="1" kern="100" dirty="0">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68580" marR="68580" marT="0" marB="0" anchor="ctr"/>
                </a:tc>
                <a:extLst>
                  <a:ext uri="{0D108BD9-81ED-4DB2-BD59-A6C34878D82A}">
                    <a16:rowId xmlns:a16="http://schemas.microsoft.com/office/drawing/2014/main" val="10001"/>
                  </a:ext>
                </a:extLst>
              </a:tr>
              <a:tr h="418825">
                <a:tc>
                  <a:txBody>
                    <a:bodyPr/>
                    <a:lstStyle/>
                    <a:p>
                      <a:pPr marL="0" algn="l" defTabSz="914400" rtl="0" eaLnBrk="1" latinLnBrk="0" hangingPunct="1">
                        <a:spcAft>
                          <a:spcPts val="0"/>
                        </a:spcAft>
                      </a:pPr>
                      <a:r>
                        <a:rPr lang="en-US" sz="2000" kern="100" dirty="0">
                          <a:solidFill>
                            <a:schemeClr val="tx1"/>
                          </a:solidFill>
                          <a:effectLst/>
                          <a:latin typeface="微软雅黑" panose="020B0503020204020204" pitchFamily="34" charset="-122"/>
                          <a:ea typeface="微软雅黑" panose="020B0503020204020204" pitchFamily="34" charset="-122"/>
                          <a:cs typeface="+mn-cs"/>
                        </a:rPr>
                        <a:t>Mexico</a:t>
                      </a:r>
                      <a:endParaRPr lang="zh-CN" sz="2000" kern="100" dirty="0">
                        <a:solidFill>
                          <a:schemeClr val="tx1"/>
                        </a:solidFill>
                        <a:effectLst/>
                        <a:latin typeface="微软雅黑" panose="020B0503020204020204" pitchFamily="34" charset="-122"/>
                        <a:ea typeface="微软雅黑" panose="020B0503020204020204" pitchFamily="34" charset="-122"/>
                        <a:cs typeface="+mn-cs"/>
                      </a:endParaRPr>
                    </a:p>
                  </a:txBody>
                  <a:tcPr marL="68580" marR="68580" marT="0" marB="0" anchor="ctr"/>
                </a:tc>
                <a:tc>
                  <a:txBody>
                    <a:bodyPr/>
                    <a:lstStyle/>
                    <a:p>
                      <a:pPr algn="ctr">
                        <a:spcAft>
                          <a:spcPts val="0"/>
                        </a:spcAft>
                      </a:pPr>
                      <a:r>
                        <a:rPr lang="en-US" sz="2000" kern="100" dirty="0" smtClean="0">
                          <a:effectLst/>
                          <a:latin typeface="微软雅黑" panose="020B0503020204020204" pitchFamily="34" charset="-122"/>
                          <a:ea typeface="微软雅黑" panose="020B0503020204020204" pitchFamily="34" charset="-122"/>
                          <a:cs typeface="Times New Roman" panose="02020603050405020304" pitchFamily="18" charset="0"/>
                        </a:rPr>
                        <a:t>$56.9</a:t>
                      </a:r>
                      <a:endParaRPr lang="zh-CN" sz="2000" kern="100" dirty="0">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68580" marR="68580" marT="0" marB="0" anchor="ctr"/>
                </a:tc>
                <a:tc>
                  <a:txBody>
                    <a:bodyPr/>
                    <a:lstStyle/>
                    <a:p>
                      <a:pPr algn="ctr">
                        <a:spcAft>
                          <a:spcPts val="0"/>
                        </a:spcAft>
                      </a:pPr>
                      <a:r>
                        <a:rPr lang="en-US" sz="2000" kern="100" dirty="0">
                          <a:effectLst/>
                          <a:latin typeface="微软雅黑" panose="020B0503020204020204" pitchFamily="34" charset="-122"/>
                          <a:ea typeface="微软雅黑" panose="020B0503020204020204" pitchFamily="34" charset="-122"/>
                          <a:cs typeface="Times New Roman" panose="02020603050405020304" pitchFamily="18" charset="0"/>
                        </a:rPr>
                        <a:t>49</a:t>
                      </a:r>
                      <a:endParaRPr lang="zh-CN" sz="2000" kern="100" dirty="0">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68580" marR="68580" marT="0" marB="0" anchor="ctr"/>
                </a:tc>
                <a:tc>
                  <a:txBody>
                    <a:bodyPr/>
                    <a:lstStyle/>
                    <a:p>
                      <a:pPr algn="ctr">
                        <a:spcAft>
                          <a:spcPts val="0"/>
                        </a:spcAft>
                      </a:pPr>
                      <a:r>
                        <a:rPr lang="en-US" sz="2000" kern="100" dirty="0">
                          <a:effectLst/>
                          <a:latin typeface="微软雅黑" panose="020B0503020204020204" pitchFamily="34" charset="-122"/>
                          <a:ea typeface="微软雅黑" panose="020B0503020204020204" pitchFamily="34" charset="-122"/>
                          <a:cs typeface="Times New Roman" panose="02020603050405020304" pitchFamily="18" charset="0"/>
                        </a:rPr>
                        <a:t>85</a:t>
                      </a:r>
                      <a:endParaRPr lang="zh-CN" sz="2000" kern="100" dirty="0">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68580" marR="68580" marT="0" marB="0" anchor="ctr"/>
                </a:tc>
                <a:extLst>
                  <a:ext uri="{0D108BD9-81ED-4DB2-BD59-A6C34878D82A}">
                    <a16:rowId xmlns:a16="http://schemas.microsoft.com/office/drawing/2014/main" val="10002"/>
                  </a:ext>
                </a:extLst>
              </a:tr>
              <a:tr h="418825">
                <a:tc>
                  <a:txBody>
                    <a:bodyPr/>
                    <a:lstStyle/>
                    <a:p>
                      <a:pPr marL="0" algn="l" defTabSz="914400" rtl="0" eaLnBrk="1" latinLnBrk="0" hangingPunct="1">
                        <a:spcAft>
                          <a:spcPts val="0"/>
                        </a:spcAft>
                      </a:pPr>
                      <a:r>
                        <a:rPr lang="en-US" sz="2000" kern="100" dirty="0">
                          <a:solidFill>
                            <a:schemeClr val="tx1"/>
                          </a:solidFill>
                          <a:effectLst/>
                          <a:latin typeface="微软雅黑" panose="020B0503020204020204" pitchFamily="34" charset="-122"/>
                          <a:ea typeface="微软雅黑" panose="020B0503020204020204" pitchFamily="34" charset="-122"/>
                          <a:cs typeface="+mn-cs"/>
                        </a:rPr>
                        <a:t>Brazil	</a:t>
                      </a:r>
                      <a:endParaRPr lang="zh-CN" sz="2000" kern="100" dirty="0">
                        <a:solidFill>
                          <a:schemeClr val="tx1"/>
                        </a:solidFill>
                        <a:effectLst/>
                        <a:latin typeface="微软雅黑" panose="020B0503020204020204" pitchFamily="34" charset="-122"/>
                        <a:ea typeface="微软雅黑" panose="020B0503020204020204" pitchFamily="34" charset="-122"/>
                        <a:cs typeface="+mn-cs"/>
                      </a:endParaRPr>
                    </a:p>
                  </a:txBody>
                  <a:tcPr marL="68580" marR="68580" marT="0" marB="0" anchor="ctr"/>
                </a:tc>
                <a:tc>
                  <a:txBody>
                    <a:bodyPr/>
                    <a:lstStyle/>
                    <a:p>
                      <a:pPr algn="ctr">
                        <a:spcAft>
                          <a:spcPts val="0"/>
                        </a:spcAft>
                      </a:pPr>
                      <a:r>
                        <a:rPr lang="en-US" sz="2000" kern="100" dirty="0">
                          <a:effectLst/>
                          <a:latin typeface="微软雅黑" panose="020B0503020204020204" pitchFamily="34" charset="-122"/>
                          <a:ea typeface="微软雅黑" panose="020B0503020204020204" pitchFamily="34" charset="-122"/>
                          <a:cs typeface="Times New Roman" panose="02020603050405020304" pitchFamily="18" charset="0"/>
                        </a:rPr>
                        <a:t>52.7</a:t>
                      </a:r>
                      <a:endParaRPr lang="zh-CN" sz="2000" kern="100" dirty="0">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68580" marR="68580" marT="0" marB="0" anchor="ctr"/>
                </a:tc>
                <a:tc>
                  <a:txBody>
                    <a:bodyPr/>
                    <a:lstStyle/>
                    <a:p>
                      <a:pPr algn="ctr">
                        <a:spcAft>
                          <a:spcPts val="0"/>
                        </a:spcAft>
                      </a:pPr>
                      <a:r>
                        <a:rPr lang="en-US" sz="2000" kern="100" dirty="0">
                          <a:effectLst/>
                          <a:latin typeface="微软雅黑" panose="020B0503020204020204" pitchFamily="34" charset="-122"/>
                          <a:ea typeface="微软雅黑" panose="020B0503020204020204" pitchFamily="34" charset="-122"/>
                          <a:cs typeface="Times New Roman" panose="02020603050405020304" pitchFamily="18" charset="0"/>
                        </a:rPr>
                        <a:t>35</a:t>
                      </a:r>
                      <a:endParaRPr lang="zh-CN" sz="2000" kern="100" dirty="0">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68580" marR="68580" marT="0" marB="0" anchor="ctr"/>
                </a:tc>
                <a:tc>
                  <a:txBody>
                    <a:bodyPr/>
                    <a:lstStyle/>
                    <a:p>
                      <a:pPr algn="ctr">
                        <a:spcAft>
                          <a:spcPts val="0"/>
                        </a:spcAft>
                      </a:pPr>
                      <a:r>
                        <a:rPr lang="en-US" sz="2000" kern="100" dirty="0">
                          <a:effectLst/>
                          <a:latin typeface="微软雅黑" panose="020B0503020204020204" pitchFamily="34" charset="-122"/>
                          <a:ea typeface="微软雅黑" panose="020B0503020204020204" pitchFamily="34" charset="-122"/>
                          <a:cs typeface="Times New Roman" panose="02020603050405020304" pitchFamily="18" charset="0"/>
                        </a:rPr>
                        <a:t>67</a:t>
                      </a:r>
                      <a:endParaRPr lang="zh-CN" sz="2000" kern="100" dirty="0">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68580" marR="68580" marT="0" marB="0" anchor="ctr"/>
                </a:tc>
                <a:extLst>
                  <a:ext uri="{0D108BD9-81ED-4DB2-BD59-A6C34878D82A}">
                    <a16:rowId xmlns:a16="http://schemas.microsoft.com/office/drawing/2014/main" val="10003"/>
                  </a:ext>
                </a:extLst>
              </a:tr>
              <a:tr h="418825">
                <a:tc>
                  <a:txBody>
                    <a:bodyPr/>
                    <a:lstStyle/>
                    <a:p>
                      <a:pPr marL="0" algn="l" defTabSz="914400" rtl="0" eaLnBrk="1" latinLnBrk="0" hangingPunct="1">
                        <a:spcAft>
                          <a:spcPts val="0"/>
                        </a:spcAft>
                      </a:pPr>
                      <a:r>
                        <a:rPr lang="en-US" sz="2000" kern="100" dirty="0" smtClean="0">
                          <a:solidFill>
                            <a:schemeClr val="tx1"/>
                          </a:solidFill>
                          <a:effectLst/>
                          <a:latin typeface="微软雅黑" panose="020B0503020204020204" pitchFamily="34" charset="-122"/>
                          <a:ea typeface="微软雅黑" panose="020B0503020204020204" pitchFamily="34" charset="-122"/>
                          <a:cs typeface="+mn-cs"/>
                        </a:rPr>
                        <a:t>Venezuela</a:t>
                      </a:r>
                      <a:endParaRPr lang="zh-CN" sz="2000" kern="100" dirty="0">
                        <a:solidFill>
                          <a:schemeClr val="tx1"/>
                        </a:solidFill>
                        <a:effectLst/>
                        <a:latin typeface="微软雅黑" panose="020B0503020204020204" pitchFamily="34" charset="-122"/>
                        <a:ea typeface="微软雅黑" panose="020B0503020204020204" pitchFamily="34" charset="-122"/>
                        <a:cs typeface="+mn-cs"/>
                      </a:endParaRPr>
                    </a:p>
                  </a:txBody>
                  <a:tcPr marL="68580" marR="68580" marT="0" marB="0" anchor="ctr"/>
                </a:tc>
                <a:tc>
                  <a:txBody>
                    <a:bodyPr/>
                    <a:lstStyle/>
                    <a:p>
                      <a:pPr algn="ctr">
                        <a:spcAft>
                          <a:spcPts val="0"/>
                        </a:spcAft>
                      </a:pPr>
                      <a:r>
                        <a:rPr lang="en-US" sz="2000" kern="100" dirty="0" smtClean="0">
                          <a:effectLst/>
                          <a:latin typeface="微软雅黑" panose="020B0503020204020204" pitchFamily="34" charset="-122"/>
                          <a:ea typeface="微软雅黑" panose="020B0503020204020204" pitchFamily="34" charset="-122"/>
                          <a:cs typeface="Times New Roman" panose="02020603050405020304" pitchFamily="18" charset="0"/>
                        </a:rPr>
                        <a:t>26.2</a:t>
                      </a:r>
                      <a:endParaRPr lang="zh-CN" sz="2000" kern="100" dirty="0">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68580" marR="68580" marT="0" marB="0" anchor="ctr"/>
                </a:tc>
                <a:tc>
                  <a:txBody>
                    <a:bodyPr/>
                    <a:lstStyle/>
                    <a:p>
                      <a:pPr algn="ctr">
                        <a:spcAft>
                          <a:spcPts val="0"/>
                        </a:spcAft>
                      </a:pPr>
                      <a:r>
                        <a:rPr lang="en-US" sz="2000" kern="100" dirty="0">
                          <a:effectLst/>
                          <a:latin typeface="微软雅黑" panose="020B0503020204020204" pitchFamily="34" charset="-122"/>
                          <a:ea typeface="微软雅黑" panose="020B0503020204020204" pitchFamily="34" charset="-122"/>
                          <a:cs typeface="Times New Roman" panose="02020603050405020304" pitchFamily="18" charset="0"/>
                        </a:rPr>
                        <a:t>61</a:t>
                      </a:r>
                      <a:endParaRPr lang="zh-CN" sz="2000" kern="100" dirty="0">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68580" marR="68580" marT="0" marB="0" anchor="ctr"/>
                </a:tc>
                <a:tc>
                  <a:txBody>
                    <a:bodyPr/>
                    <a:lstStyle/>
                    <a:p>
                      <a:pPr algn="ctr">
                        <a:spcAft>
                          <a:spcPts val="0"/>
                        </a:spcAft>
                      </a:pPr>
                      <a:r>
                        <a:rPr lang="en-US" sz="2000" kern="100" dirty="0">
                          <a:effectLst/>
                          <a:latin typeface="微软雅黑" panose="020B0503020204020204" pitchFamily="34" charset="-122"/>
                          <a:ea typeface="微软雅黑" panose="020B0503020204020204" pitchFamily="34" charset="-122"/>
                          <a:cs typeface="Times New Roman" panose="02020603050405020304" pitchFamily="18" charset="0"/>
                        </a:rPr>
                        <a:t>79</a:t>
                      </a:r>
                      <a:endParaRPr lang="zh-CN" sz="2000" kern="100" dirty="0">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68580" marR="68580" marT="0" marB="0" anchor="ctr"/>
                </a:tc>
                <a:extLst>
                  <a:ext uri="{0D108BD9-81ED-4DB2-BD59-A6C34878D82A}">
                    <a16:rowId xmlns:a16="http://schemas.microsoft.com/office/drawing/2014/main" val="10004"/>
                  </a:ext>
                </a:extLst>
              </a:tr>
              <a:tr h="418825">
                <a:tc>
                  <a:txBody>
                    <a:bodyPr/>
                    <a:lstStyle/>
                    <a:p>
                      <a:pPr marL="0" algn="l" defTabSz="914400" rtl="0" eaLnBrk="1" latinLnBrk="0" hangingPunct="1">
                        <a:spcAft>
                          <a:spcPts val="0"/>
                        </a:spcAft>
                      </a:pPr>
                      <a:r>
                        <a:rPr lang="en-US" sz="2000" kern="100" dirty="0" smtClean="0">
                          <a:solidFill>
                            <a:schemeClr val="tx1"/>
                          </a:solidFill>
                          <a:effectLst/>
                          <a:latin typeface="微软雅黑" panose="020B0503020204020204" pitchFamily="34" charset="-122"/>
                          <a:ea typeface="微软雅黑" panose="020B0503020204020204" pitchFamily="34" charset="-122"/>
                          <a:cs typeface="+mn-cs"/>
                        </a:rPr>
                        <a:t>Argentina</a:t>
                      </a:r>
                      <a:endParaRPr lang="zh-CN" sz="2000" kern="100" dirty="0">
                        <a:solidFill>
                          <a:schemeClr val="tx1"/>
                        </a:solidFill>
                        <a:effectLst/>
                        <a:latin typeface="微软雅黑" panose="020B0503020204020204" pitchFamily="34" charset="-122"/>
                        <a:ea typeface="微软雅黑" panose="020B0503020204020204" pitchFamily="34" charset="-122"/>
                        <a:cs typeface="+mn-cs"/>
                      </a:endParaRPr>
                    </a:p>
                  </a:txBody>
                  <a:tcPr marL="68580" marR="68580" marT="0" marB="0" anchor="ctr"/>
                </a:tc>
                <a:tc>
                  <a:txBody>
                    <a:bodyPr/>
                    <a:lstStyle/>
                    <a:p>
                      <a:pPr algn="ctr">
                        <a:spcAft>
                          <a:spcPts val="0"/>
                        </a:spcAft>
                      </a:pPr>
                      <a:r>
                        <a:rPr lang="en-US" sz="2000" kern="100" dirty="0" smtClean="0">
                          <a:effectLst/>
                          <a:latin typeface="微软雅黑" panose="020B0503020204020204" pitchFamily="34" charset="-122"/>
                          <a:ea typeface="微软雅黑" panose="020B0503020204020204" pitchFamily="34" charset="-122"/>
                          <a:cs typeface="Times New Roman" panose="02020603050405020304" pitchFamily="18" charset="0"/>
                        </a:rPr>
                        <a:t>24.8</a:t>
                      </a:r>
                      <a:endParaRPr lang="zh-CN" sz="2000" kern="100" dirty="0">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68580" marR="68580" marT="0" marB="0" anchor="ctr"/>
                </a:tc>
                <a:tc>
                  <a:txBody>
                    <a:bodyPr/>
                    <a:lstStyle/>
                    <a:p>
                      <a:pPr algn="ctr">
                        <a:spcAft>
                          <a:spcPts val="0"/>
                        </a:spcAft>
                      </a:pPr>
                      <a:r>
                        <a:rPr lang="en-US" sz="2000" kern="100" dirty="0">
                          <a:effectLst/>
                          <a:latin typeface="微软雅黑" panose="020B0503020204020204" pitchFamily="34" charset="-122"/>
                          <a:ea typeface="微软雅黑" panose="020B0503020204020204" pitchFamily="34" charset="-122"/>
                          <a:cs typeface="Times New Roman" panose="02020603050405020304" pitchFamily="18" charset="0"/>
                        </a:rPr>
                        <a:t>47</a:t>
                      </a:r>
                      <a:endParaRPr lang="zh-CN" sz="2000" kern="100" dirty="0">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68580" marR="68580" marT="0" marB="0" anchor="ctr"/>
                </a:tc>
                <a:tc>
                  <a:txBody>
                    <a:bodyPr/>
                    <a:lstStyle/>
                    <a:p>
                      <a:pPr algn="ctr">
                        <a:spcAft>
                          <a:spcPts val="0"/>
                        </a:spcAft>
                      </a:pPr>
                      <a:r>
                        <a:rPr lang="en-US" sz="2000" kern="100" dirty="0">
                          <a:effectLst/>
                          <a:latin typeface="微软雅黑" panose="020B0503020204020204" pitchFamily="34" charset="-122"/>
                          <a:ea typeface="微软雅黑" panose="020B0503020204020204" pitchFamily="34" charset="-122"/>
                          <a:cs typeface="Times New Roman" panose="02020603050405020304" pitchFamily="18" charset="0"/>
                        </a:rPr>
                        <a:t>100</a:t>
                      </a:r>
                      <a:endParaRPr lang="zh-CN" sz="2000" kern="100" dirty="0">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68580" marR="68580" marT="0" marB="0" anchor="ctr"/>
                </a:tc>
                <a:extLst>
                  <a:ext uri="{0D108BD9-81ED-4DB2-BD59-A6C34878D82A}">
                    <a16:rowId xmlns:a16="http://schemas.microsoft.com/office/drawing/2014/main" val="10005"/>
                  </a:ext>
                </a:extLst>
              </a:tr>
              <a:tr h="418825">
                <a:tc>
                  <a:txBody>
                    <a:bodyPr/>
                    <a:lstStyle/>
                    <a:p>
                      <a:pPr marL="0" algn="l" defTabSz="914400" rtl="0" eaLnBrk="1" latinLnBrk="0" hangingPunct="1">
                        <a:spcAft>
                          <a:spcPts val="0"/>
                        </a:spcAft>
                      </a:pPr>
                      <a:r>
                        <a:rPr lang="en-US" sz="2000" kern="100" dirty="0">
                          <a:solidFill>
                            <a:schemeClr val="tx1"/>
                          </a:solidFill>
                          <a:effectLst/>
                          <a:latin typeface="微软雅黑" panose="020B0503020204020204" pitchFamily="34" charset="-122"/>
                          <a:ea typeface="微软雅黑" panose="020B0503020204020204" pitchFamily="34" charset="-122"/>
                          <a:cs typeface="+mn-cs"/>
                        </a:rPr>
                        <a:t>South Korea</a:t>
                      </a:r>
                      <a:endParaRPr lang="zh-CN" sz="2000" kern="100" dirty="0">
                        <a:solidFill>
                          <a:schemeClr val="tx1"/>
                        </a:solidFill>
                        <a:effectLst/>
                        <a:latin typeface="微软雅黑" panose="020B0503020204020204" pitchFamily="34" charset="-122"/>
                        <a:ea typeface="微软雅黑" panose="020B0503020204020204" pitchFamily="34" charset="-122"/>
                        <a:cs typeface="+mn-cs"/>
                      </a:endParaRPr>
                    </a:p>
                  </a:txBody>
                  <a:tcPr marL="68580" marR="68580" marT="0" marB="0" anchor="ctr"/>
                </a:tc>
                <a:tc>
                  <a:txBody>
                    <a:bodyPr/>
                    <a:lstStyle/>
                    <a:p>
                      <a:pPr algn="ctr">
                        <a:spcAft>
                          <a:spcPts val="0"/>
                        </a:spcAft>
                      </a:pPr>
                      <a:r>
                        <a:rPr lang="en-US" sz="2000" kern="100" dirty="0">
                          <a:effectLst/>
                          <a:latin typeface="微软雅黑" panose="020B0503020204020204" pitchFamily="34" charset="-122"/>
                          <a:ea typeface="微软雅黑" panose="020B0503020204020204" pitchFamily="34" charset="-122"/>
                          <a:cs typeface="Times New Roman" panose="02020603050405020304" pitchFamily="18" charset="0"/>
                        </a:rPr>
                        <a:t>19.9</a:t>
                      </a:r>
                      <a:endParaRPr lang="zh-CN" sz="2000" kern="100" dirty="0">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68580" marR="68580" marT="0" marB="0" anchor="ctr"/>
                </a:tc>
                <a:tc>
                  <a:txBody>
                    <a:bodyPr/>
                    <a:lstStyle/>
                    <a:p>
                      <a:pPr algn="ctr">
                        <a:spcAft>
                          <a:spcPts val="0"/>
                        </a:spcAft>
                      </a:pPr>
                      <a:r>
                        <a:rPr lang="en-US" sz="2000" kern="100" dirty="0" smtClean="0">
                          <a:effectLst/>
                          <a:latin typeface="微软雅黑" panose="020B0503020204020204" pitchFamily="34" charset="-122"/>
                          <a:ea typeface="微软雅黑" panose="020B0503020204020204" pitchFamily="34" charset="-122"/>
                          <a:cs typeface="Times New Roman" panose="02020603050405020304" pitchFamily="18" charset="0"/>
                        </a:rPr>
                        <a:t>58</a:t>
                      </a:r>
                      <a:endParaRPr lang="zh-CN" sz="2000" kern="100" dirty="0">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68580" marR="68580" marT="0" marB="0" anchor="ctr"/>
                </a:tc>
                <a:tc>
                  <a:txBody>
                    <a:bodyPr/>
                    <a:lstStyle/>
                    <a:p>
                      <a:pPr algn="ctr">
                        <a:spcAft>
                          <a:spcPts val="0"/>
                        </a:spcAft>
                      </a:pPr>
                      <a:r>
                        <a:rPr lang="en-US" sz="2000" kern="100" dirty="0">
                          <a:effectLst/>
                          <a:latin typeface="微软雅黑" panose="020B0503020204020204" pitchFamily="34" charset="-122"/>
                          <a:ea typeface="微软雅黑" panose="020B0503020204020204" pitchFamily="34" charset="-122"/>
                          <a:cs typeface="Times New Roman" panose="02020603050405020304" pitchFamily="18" charset="0"/>
                        </a:rPr>
                        <a:t>37</a:t>
                      </a:r>
                      <a:endParaRPr lang="zh-CN" sz="2000" kern="100" dirty="0">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68580" marR="68580" marT="0" marB="0" anchor="ctr"/>
                </a:tc>
                <a:extLst>
                  <a:ext uri="{0D108BD9-81ED-4DB2-BD59-A6C34878D82A}">
                    <a16:rowId xmlns:a16="http://schemas.microsoft.com/office/drawing/2014/main" val="10006"/>
                  </a:ext>
                </a:extLst>
              </a:tr>
              <a:tr h="418825">
                <a:tc>
                  <a:txBody>
                    <a:bodyPr/>
                    <a:lstStyle/>
                    <a:p>
                      <a:pPr marL="0" algn="l" defTabSz="914400" rtl="0" eaLnBrk="1" latinLnBrk="0" hangingPunct="1">
                        <a:spcAft>
                          <a:spcPts val="0"/>
                        </a:spcAft>
                      </a:pPr>
                      <a:r>
                        <a:rPr lang="en-US" sz="2000" kern="100" dirty="0">
                          <a:solidFill>
                            <a:schemeClr val="tx1"/>
                          </a:solidFill>
                          <a:effectLst/>
                          <a:latin typeface="微软雅黑" panose="020B0503020204020204" pitchFamily="34" charset="-122"/>
                          <a:ea typeface="微软雅黑" panose="020B0503020204020204" pitchFamily="34" charset="-122"/>
                          <a:cs typeface="+mn-cs"/>
                        </a:rPr>
                        <a:t>Chile</a:t>
                      </a:r>
                      <a:endParaRPr lang="zh-CN" sz="2000" kern="100" dirty="0">
                        <a:solidFill>
                          <a:schemeClr val="tx1"/>
                        </a:solidFill>
                        <a:effectLst/>
                        <a:latin typeface="微软雅黑" panose="020B0503020204020204" pitchFamily="34" charset="-122"/>
                        <a:ea typeface="微软雅黑" panose="020B0503020204020204" pitchFamily="34" charset="-122"/>
                        <a:cs typeface="+mn-cs"/>
                      </a:endParaRPr>
                    </a:p>
                  </a:txBody>
                  <a:tcPr marL="68580" marR="68580" marT="0" marB="0" anchor="ctr"/>
                </a:tc>
                <a:tc>
                  <a:txBody>
                    <a:bodyPr/>
                    <a:lstStyle/>
                    <a:p>
                      <a:pPr algn="ctr">
                        <a:spcAft>
                          <a:spcPts val="0"/>
                        </a:spcAft>
                      </a:pPr>
                      <a:r>
                        <a:rPr lang="en-US" sz="2000" kern="100" dirty="0" smtClean="0">
                          <a:effectLst/>
                          <a:latin typeface="微软雅黑" panose="020B0503020204020204" pitchFamily="34" charset="-122"/>
                          <a:ea typeface="微软雅黑" panose="020B0503020204020204" pitchFamily="34" charset="-122"/>
                          <a:cs typeface="Times New Roman" panose="02020603050405020304" pitchFamily="18" charset="0"/>
                        </a:rPr>
                        <a:t>10.5</a:t>
                      </a:r>
                      <a:endParaRPr lang="zh-CN" sz="2000" kern="100" dirty="0">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68580" marR="68580" marT="0" marB="0" anchor="ctr"/>
                </a:tc>
                <a:tc>
                  <a:txBody>
                    <a:bodyPr/>
                    <a:lstStyle/>
                    <a:p>
                      <a:pPr algn="ctr">
                        <a:spcAft>
                          <a:spcPts val="0"/>
                        </a:spcAft>
                      </a:pPr>
                      <a:r>
                        <a:rPr lang="en-US" sz="2000" kern="100" dirty="0" smtClean="0">
                          <a:effectLst/>
                          <a:latin typeface="微软雅黑" panose="020B0503020204020204" pitchFamily="34" charset="-122"/>
                          <a:ea typeface="微软雅黑" panose="020B0503020204020204" pitchFamily="34" charset="-122"/>
                          <a:cs typeface="Times New Roman" panose="02020603050405020304" pitchFamily="18" charset="0"/>
                        </a:rPr>
                        <a:t>40</a:t>
                      </a:r>
                      <a:endParaRPr lang="zh-CN" sz="2000" kern="100" dirty="0">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68580" marR="68580" marT="0" marB="0" anchor="ctr"/>
                </a:tc>
                <a:tc>
                  <a:txBody>
                    <a:bodyPr/>
                    <a:lstStyle/>
                    <a:p>
                      <a:pPr algn="ctr">
                        <a:spcAft>
                          <a:spcPts val="0"/>
                        </a:spcAft>
                      </a:pPr>
                      <a:r>
                        <a:rPr lang="en-US" sz="2000" kern="100" dirty="0">
                          <a:effectLst/>
                          <a:latin typeface="微软雅黑" panose="020B0503020204020204" pitchFamily="34" charset="-122"/>
                          <a:ea typeface="微软雅黑" panose="020B0503020204020204" pitchFamily="34" charset="-122"/>
                          <a:cs typeface="Times New Roman" panose="02020603050405020304" pitchFamily="18" charset="0"/>
                        </a:rPr>
                        <a:t>77</a:t>
                      </a:r>
                      <a:endParaRPr lang="zh-CN" sz="2000" kern="100" dirty="0">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68580" marR="68580" marT="0" marB="0" anchor="ctr"/>
                </a:tc>
                <a:extLst>
                  <a:ext uri="{0D108BD9-81ED-4DB2-BD59-A6C34878D82A}">
                    <a16:rowId xmlns:a16="http://schemas.microsoft.com/office/drawing/2014/main" val="10007"/>
                  </a:ext>
                </a:extLst>
              </a:tr>
              <a:tr h="418825">
                <a:tc>
                  <a:txBody>
                    <a:bodyPr/>
                    <a:lstStyle/>
                    <a:p>
                      <a:pPr marL="0" algn="l" defTabSz="914400" rtl="0" eaLnBrk="1" latinLnBrk="0" hangingPunct="1">
                        <a:spcAft>
                          <a:spcPts val="0"/>
                        </a:spcAft>
                      </a:pPr>
                      <a:r>
                        <a:rPr lang="en-US" sz="2000" kern="100" dirty="0" smtClean="0">
                          <a:solidFill>
                            <a:schemeClr val="tx1"/>
                          </a:solidFill>
                          <a:effectLst/>
                          <a:latin typeface="微软雅黑" panose="020B0503020204020204" pitchFamily="34" charset="-122"/>
                          <a:ea typeface="微软雅黑" panose="020B0503020204020204" pitchFamily="34" charset="-122"/>
                          <a:cs typeface="+mn-cs"/>
                        </a:rPr>
                        <a:t>Philippines</a:t>
                      </a:r>
                      <a:endParaRPr lang="zh-CN" sz="2000" kern="100" dirty="0">
                        <a:solidFill>
                          <a:schemeClr val="tx1"/>
                        </a:solidFill>
                        <a:effectLst/>
                        <a:latin typeface="微软雅黑" panose="020B0503020204020204" pitchFamily="34" charset="-122"/>
                        <a:ea typeface="微软雅黑" panose="020B0503020204020204" pitchFamily="34" charset="-122"/>
                        <a:cs typeface="+mn-cs"/>
                      </a:endParaRPr>
                    </a:p>
                  </a:txBody>
                  <a:tcPr marL="68580" marR="68580" marT="0" marB="0" anchor="ctr"/>
                </a:tc>
                <a:tc>
                  <a:txBody>
                    <a:bodyPr/>
                    <a:lstStyle/>
                    <a:p>
                      <a:pPr algn="ctr">
                        <a:spcAft>
                          <a:spcPts val="0"/>
                        </a:spcAft>
                      </a:pPr>
                      <a:r>
                        <a:rPr lang="en-US" sz="2000" kern="100">
                          <a:effectLst/>
                          <a:latin typeface="微软雅黑" panose="020B0503020204020204" pitchFamily="34" charset="-122"/>
                          <a:ea typeface="微软雅黑" panose="020B0503020204020204" pitchFamily="34" charset="-122"/>
                          <a:cs typeface="Times New Roman" panose="02020603050405020304" pitchFamily="18" charset="0"/>
                        </a:rPr>
                        <a:t>10.2</a:t>
                      </a:r>
                      <a:endParaRPr lang="zh-CN" sz="2000" kern="100">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68580" marR="68580" marT="0" marB="0" anchor="ctr"/>
                </a:tc>
                <a:tc>
                  <a:txBody>
                    <a:bodyPr/>
                    <a:lstStyle/>
                    <a:p>
                      <a:pPr algn="ctr">
                        <a:spcAft>
                          <a:spcPts val="0"/>
                        </a:spcAft>
                      </a:pPr>
                      <a:r>
                        <a:rPr lang="en-US" sz="2000" kern="100">
                          <a:effectLst/>
                          <a:latin typeface="微软雅黑" panose="020B0503020204020204" pitchFamily="34" charset="-122"/>
                          <a:ea typeface="微软雅黑" panose="020B0503020204020204" pitchFamily="34" charset="-122"/>
                          <a:cs typeface="Times New Roman" panose="02020603050405020304" pitchFamily="18" charset="0"/>
                        </a:rPr>
                        <a:t>56</a:t>
                      </a:r>
                      <a:endParaRPr lang="zh-CN" sz="2000" kern="100">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68580" marR="68580" marT="0" marB="0" anchor="ctr"/>
                </a:tc>
                <a:tc>
                  <a:txBody>
                    <a:bodyPr/>
                    <a:lstStyle/>
                    <a:p>
                      <a:pPr algn="ctr">
                        <a:spcAft>
                          <a:spcPts val="0"/>
                        </a:spcAft>
                      </a:pPr>
                      <a:r>
                        <a:rPr lang="en-US" sz="2000" kern="100" dirty="0">
                          <a:effectLst/>
                          <a:latin typeface="微软雅黑" panose="020B0503020204020204" pitchFamily="34" charset="-122"/>
                          <a:ea typeface="微软雅黑" panose="020B0503020204020204" pitchFamily="34" charset="-122"/>
                          <a:cs typeface="Times New Roman" panose="02020603050405020304" pitchFamily="18" charset="0"/>
                        </a:rPr>
                        <a:t>63</a:t>
                      </a:r>
                      <a:endParaRPr lang="zh-CN" sz="2000" kern="100" dirty="0">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68580" marR="68580" marT="0" marB="0" anchor="ctr"/>
                </a:tc>
                <a:extLst>
                  <a:ext uri="{0D108BD9-81ED-4DB2-BD59-A6C34878D82A}">
                    <a16:rowId xmlns:a16="http://schemas.microsoft.com/office/drawing/2014/main" val="10008"/>
                  </a:ext>
                </a:extLst>
              </a:tr>
              <a:tr h="418825">
                <a:tc>
                  <a:txBody>
                    <a:bodyPr/>
                    <a:lstStyle/>
                    <a:p>
                      <a:pPr marL="0" algn="l" defTabSz="914400" rtl="0" eaLnBrk="1" latinLnBrk="0" hangingPunct="1">
                        <a:spcAft>
                          <a:spcPts val="0"/>
                        </a:spcAft>
                      </a:pPr>
                      <a:r>
                        <a:rPr lang="en-US" sz="2000" kern="100" dirty="0">
                          <a:solidFill>
                            <a:schemeClr val="tx1"/>
                          </a:solidFill>
                          <a:effectLst/>
                          <a:latin typeface="微软雅黑" panose="020B0503020204020204" pitchFamily="34" charset="-122"/>
                          <a:ea typeface="微软雅黑" panose="020B0503020204020204" pitchFamily="34" charset="-122"/>
                          <a:cs typeface="+mn-cs"/>
                        </a:rPr>
                        <a:t>Indonesia</a:t>
                      </a:r>
                      <a:endParaRPr lang="zh-CN" sz="2000" kern="100" dirty="0">
                        <a:solidFill>
                          <a:schemeClr val="tx1"/>
                        </a:solidFill>
                        <a:effectLst/>
                        <a:latin typeface="微软雅黑" panose="020B0503020204020204" pitchFamily="34" charset="-122"/>
                        <a:ea typeface="微软雅黑" panose="020B0503020204020204" pitchFamily="34" charset="-122"/>
                        <a:cs typeface="+mn-cs"/>
                      </a:endParaRPr>
                    </a:p>
                  </a:txBody>
                  <a:tcPr marL="68580" marR="68580" marT="0" marB="0" anchor="ctr"/>
                </a:tc>
                <a:tc>
                  <a:txBody>
                    <a:bodyPr/>
                    <a:lstStyle/>
                    <a:p>
                      <a:pPr algn="ctr">
                        <a:spcAft>
                          <a:spcPts val="0"/>
                        </a:spcAft>
                      </a:pPr>
                      <a:r>
                        <a:rPr lang="en-US" sz="2000" kern="100">
                          <a:effectLst/>
                          <a:latin typeface="微软雅黑" panose="020B0503020204020204" pitchFamily="34" charset="-122"/>
                          <a:ea typeface="微软雅黑" panose="020B0503020204020204" pitchFamily="34" charset="-122"/>
                          <a:cs typeface="Times New Roman" panose="02020603050405020304" pitchFamily="18" charset="0"/>
                        </a:rPr>
                        <a:t>7.2</a:t>
                      </a:r>
                      <a:endParaRPr lang="zh-CN" sz="2000" kern="100">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68580" marR="68580" marT="0" marB="0" anchor="ctr"/>
                </a:tc>
                <a:tc>
                  <a:txBody>
                    <a:bodyPr/>
                    <a:lstStyle/>
                    <a:p>
                      <a:pPr algn="ctr">
                        <a:spcAft>
                          <a:spcPts val="0"/>
                        </a:spcAft>
                      </a:pPr>
                      <a:r>
                        <a:rPr lang="en-US" sz="2000" kern="100">
                          <a:effectLst/>
                          <a:latin typeface="微软雅黑" panose="020B0503020204020204" pitchFamily="34" charset="-122"/>
                          <a:ea typeface="微软雅黑" panose="020B0503020204020204" pitchFamily="34" charset="-122"/>
                          <a:cs typeface="Times New Roman" panose="02020603050405020304" pitchFamily="18" charset="0"/>
                        </a:rPr>
                        <a:t>41</a:t>
                      </a:r>
                      <a:endParaRPr lang="zh-CN" sz="2000" kern="100">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68580" marR="68580" marT="0" marB="0" anchor="ctr"/>
                </a:tc>
                <a:tc>
                  <a:txBody>
                    <a:bodyPr/>
                    <a:lstStyle/>
                    <a:p>
                      <a:pPr algn="ctr">
                        <a:spcAft>
                          <a:spcPts val="0"/>
                        </a:spcAft>
                      </a:pPr>
                      <a:r>
                        <a:rPr lang="en-US" sz="2000" kern="100" dirty="0">
                          <a:effectLst/>
                          <a:latin typeface="微软雅黑" panose="020B0503020204020204" pitchFamily="34" charset="-122"/>
                          <a:ea typeface="微软雅黑" panose="020B0503020204020204" pitchFamily="34" charset="-122"/>
                          <a:cs typeface="Times New Roman" panose="02020603050405020304" pitchFamily="18" charset="0"/>
                        </a:rPr>
                        <a:t>14</a:t>
                      </a:r>
                      <a:endParaRPr lang="zh-CN" sz="2000" kern="100" dirty="0">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68580" marR="68580" marT="0" marB="0" anchor="ctr"/>
                </a:tc>
                <a:extLst>
                  <a:ext uri="{0D108BD9-81ED-4DB2-BD59-A6C34878D82A}">
                    <a16:rowId xmlns:a16="http://schemas.microsoft.com/office/drawing/2014/main" val="10009"/>
                  </a:ext>
                </a:extLst>
              </a:tr>
              <a:tr h="418825">
                <a:tc>
                  <a:txBody>
                    <a:bodyPr/>
                    <a:lstStyle/>
                    <a:p>
                      <a:pPr marL="0" algn="l" defTabSz="914400" rtl="0" eaLnBrk="1" latinLnBrk="0" hangingPunct="1">
                        <a:spcAft>
                          <a:spcPts val="0"/>
                        </a:spcAft>
                      </a:pPr>
                      <a:r>
                        <a:rPr lang="en-US" sz="2000" kern="100" dirty="0">
                          <a:solidFill>
                            <a:schemeClr val="tx1"/>
                          </a:solidFill>
                          <a:effectLst/>
                          <a:latin typeface="微软雅黑" panose="020B0503020204020204" pitchFamily="34" charset="-122"/>
                          <a:ea typeface="微软雅黑" panose="020B0503020204020204" pitchFamily="34" charset="-122"/>
                          <a:cs typeface="+mn-cs"/>
                        </a:rPr>
                        <a:t>Taiwan</a:t>
                      </a:r>
                      <a:endParaRPr lang="zh-CN" sz="2000" kern="100" dirty="0">
                        <a:solidFill>
                          <a:schemeClr val="tx1"/>
                        </a:solidFill>
                        <a:effectLst/>
                        <a:latin typeface="微软雅黑" panose="020B0503020204020204" pitchFamily="34" charset="-122"/>
                        <a:ea typeface="微软雅黑" panose="020B0503020204020204" pitchFamily="34" charset="-122"/>
                        <a:cs typeface="+mn-cs"/>
                      </a:endParaRPr>
                    </a:p>
                  </a:txBody>
                  <a:tcPr marL="68580" marR="68580" marT="0" marB="0" anchor="ctr"/>
                </a:tc>
                <a:tc>
                  <a:txBody>
                    <a:bodyPr/>
                    <a:lstStyle/>
                    <a:p>
                      <a:pPr algn="ctr">
                        <a:spcAft>
                          <a:spcPts val="0"/>
                        </a:spcAft>
                      </a:pPr>
                      <a:r>
                        <a:rPr lang="en-US" sz="2000" kern="100">
                          <a:effectLst/>
                          <a:latin typeface="微软雅黑" panose="020B0503020204020204" pitchFamily="34" charset="-122"/>
                          <a:ea typeface="微软雅黑" panose="020B0503020204020204" pitchFamily="34" charset="-122"/>
                          <a:cs typeface="Times New Roman" panose="02020603050405020304" pitchFamily="18" charset="0"/>
                        </a:rPr>
                        <a:t>6.6</a:t>
                      </a:r>
                      <a:endParaRPr lang="zh-CN" sz="2000" kern="100">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68580" marR="68580" marT="0" marB="0" anchor="ctr"/>
                </a:tc>
                <a:tc>
                  <a:txBody>
                    <a:bodyPr/>
                    <a:lstStyle/>
                    <a:p>
                      <a:pPr algn="ctr">
                        <a:spcAft>
                          <a:spcPts val="0"/>
                        </a:spcAft>
                      </a:pPr>
                      <a:r>
                        <a:rPr lang="en-US" sz="2000" kern="100">
                          <a:effectLst/>
                          <a:latin typeface="微软雅黑" panose="020B0503020204020204" pitchFamily="34" charset="-122"/>
                          <a:ea typeface="微软雅黑" panose="020B0503020204020204" pitchFamily="34" charset="-122"/>
                          <a:cs typeface="Times New Roman" panose="02020603050405020304" pitchFamily="18" charset="0"/>
                        </a:rPr>
                        <a:t>62</a:t>
                      </a:r>
                      <a:endParaRPr lang="zh-CN" sz="2000" kern="100">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68580" marR="68580" marT="0" marB="0" anchor="ctr"/>
                </a:tc>
                <a:tc>
                  <a:txBody>
                    <a:bodyPr/>
                    <a:lstStyle/>
                    <a:p>
                      <a:pPr algn="ctr">
                        <a:spcAft>
                          <a:spcPts val="0"/>
                        </a:spcAft>
                      </a:pPr>
                      <a:r>
                        <a:rPr lang="en-US" sz="2000" kern="100" dirty="0">
                          <a:effectLst/>
                          <a:latin typeface="微软雅黑" panose="020B0503020204020204" pitchFamily="34" charset="-122"/>
                          <a:ea typeface="微软雅黑" panose="020B0503020204020204" pitchFamily="34" charset="-122"/>
                          <a:cs typeface="Times New Roman" panose="02020603050405020304" pitchFamily="18" charset="0"/>
                        </a:rPr>
                        <a:t>14</a:t>
                      </a:r>
                      <a:endParaRPr lang="zh-CN" sz="2000" kern="100" dirty="0">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68580" marR="68580" marT="0" marB="0" anchor="ctr"/>
                </a:tc>
                <a:extLst>
                  <a:ext uri="{0D108BD9-81ED-4DB2-BD59-A6C34878D82A}">
                    <a16:rowId xmlns:a16="http://schemas.microsoft.com/office/drawing/2014/main" val="10010"/>
                  </a:ext>
                </a:extLst>
              </a:tr>
              <a:tr h="418825">
                <a:tc>
                  <a:txBody>
                    <a:bodyPr/>
                    <a:lstStyle/>
                    <a:p>
                      <a:pPr marL="0" algn="l" defTabSz="914400" rtl="0" eaLnBrk="1" latinLnBrk="0" hangingPunct="1">
                        <a:spcAft>
                          <a:spcPts val="0"/>
                        </a:spcAft>
                      </a:pPr>
                      <a:r>
                        <a:rPr lang="en-US" sz="2000" kern="100" dirty="0">
                          <a:solidFill>
                            <a:schemeClr val="tx1"/>
                          </a:solidFill>
                          <a:effectLst/>
                          <a:latin typeface="微软雅黑" panose="020B0503020204020204" pitchFamily="34" charset="-122"/>
                          <a:ea typeface="微软雅黑" panose="020B0503020204020204" pitchFamily="34" charset="-122"/>
                          <a:cs typeface="+mn-cs"/>
                        </a:rPr>
                        <a:t>Nigeria</a:t>
                      </a:r>
                      <a:endParaRPr lang="zh-CN" sz="2000" kern="100" dirty="0">
                        <a:solidFill>
                          <a:schemeClr val="tx1"/>
                        </a:solidFill>
                        <a:effectLst/>
                        <a:latin typeface="微软雅黑" panose="020B0503020204020204" pitchFamily="34" charset="-122"/>
                        <a:ea typeface="微软雅黑" panose="020B0503020204020204" pitchFamily="34" charset="-122"/>
                        <a:cs typeface="+mn-cs"/>
                      </a:endParaRPr>
                    </a:p>
                  </a:txBody>
                  <a:tcPr marL="68580" marR="68580" marT="0" marB="0" anchor="ctr"/>
                </a:tc>
                <a:tc>
                  <a:txBody>
                    <a:bodyPr/>
                    <a:lstStyle/>
                    <a:p>
                      <a:pPr algn="ctr">
                        <a:spcAft>
                          <a:spcPts val="0"/>
                        </a:spcAft>
                      </a:pPr>
                      <a:r>
                        <a:rPr lang="en-US" sz="2000" kern="100" dirty="0">
                          <a:effectLst/>
                          <a:latin typeface="微软雅黑" panose="020B0503020204020204" pitchFamily="34" charset="-122"/>
                          <a:ea typeface="微软雅黑" panose="020B0503020204020204" pitchFamily="34" charset="-122"/>
                          <a:cs typeface="Times New Roman" panose="02020603050405020304" pitchFamily="18" charset="0"/>
                        </a:rPr>
                        <a:t>6.0</a:t>
                      </a:r>
                      <a:endParaRPr lang="zh-CN" sz="2000" kern="100" dirty="0">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68580" marR="68580" marT="0" marB="0" anchor="ctr"/>
                </a:tc>
                <a:tc>
                  <a:txBody>
                    <a:bodyPr/>
                    <a:lstStyle/>
                    <a:p>
                      <a:pPr algn="ctr">
                        <a:spcAft>
                          <a:spcPts val="0"/>
                        </a:spcAft>
                      </a:pPr>
                      <a:r>
                        <a:rPr lang="en-US" sz="2000" kern="100" dirty="0">
                          <a:effectLst/>
                          <a:latin typeface="微软雅黑" panose="020B0503020204020204" pitchFamily="34" charset="-122"/>
                          <a:ea typeface="微软雅黑" panose="020B0503020204020204" pitchFamily="34" charset="-122"/>
                          <a:cs typeface="Times New Roman" panose="02020603050405020304" pitchFamily="18" charset="0"/>
                        </a:rPr>
                        <a:t>34</a:t>
                      </a:r>
                      <a:endParaRPr lang="zh-CN" sz="2000" kern="100" dirty="0">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68580" marR="68580" marT="0" marB="0" anchor="ctr"/>
                </a:tc>
                <a:tc>
                  <a:txBody>
                    <a:bodyPr/>
                    <a:lstStyle/>
                    <a:p>
                      <a:pPr algn="ctr">
                        <a:spcAft>
                          <a:spcPts val="0"/>
                        </a:spcAft>
                      </a:pPr>
                      <a:r>
                        <a:rPr lang="en-US" sz="2000" kern="100" dirty="0">
                          <a:effectLst/>
                          <a:latin typeface="微软雅黑" panose="020B0503020204020204" pitchFamily="34" charset="-122"/>
                          <a:ea typeface="微软雅黑" panose="020B0503020204020204" pitchFamily="34" charset="-122"/>
                          <a:cs typeface="Times New Roman" panose="02020603050405020304" pitchFamily="18" charset="0"/>
                        </a:rPr>
                        <a:t>12</a:t>
                      </a:r>
                      <a:endParaRPr lang="zh-CN" sz="2000" kern="100" dirty="0">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68580" marR="68580" marT="0" marB="0" anchor="ctr"/>
                </a:tc>
                <a:extLst>
                  <a:ext uri="{0D108BD9-81ED-4DB2-BD59-A6C34878D82A}">
                    <a16:rowId xmlns:a16="http://schemas.microsoft.com/office/drawing/2014/main" val="10011"/>
                  </a:ext>
                </a:extLst>
              </a:tr>
            </a:tbl>
          </a:graphicData>
        </a:graphic>
      </p:graphicFrame>
    </p:spTree>
    <p:extLst>
      <p:ext uri="{BB962C8B-B14F-4D97-AF65-F5344CB8AC3E}">
        <p14:creationId xmlns:p14="http://schemas.microsoft.com/office/powerpoint/2010/main" val="169390798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页脚占位符 4"/>
          <p:cNvSpPr>
            <a:spLocks noGrp="1"/>
          </p:cNvSpPr>
          <p:nvPr>
            <p:ph type="ftr" sz="quarter" idx="11"/>
          </p:nvPr>
        </p:nvSpPr>
        <p:spPr/>
        <p:txBody>
          <a:bodyPr/>
          <a:lstStyle/>
          <a:p>
            <a:r>
              <a:rPr lang="zh-CN" altLang="en-US" smtClean="0"/>
              <a:t>国际金融学 范小云</a:t>
            </a:r>
            <a:endParaRPr lang="zh-CN" altLang="en-US" dirty="0"/>
          </a:p>
        </p:txBody>
      </p:sp>
      <p:sp>
        <p:nvSpPr>
          <p:cNvPr id="7" name="Rectangle 4"/>
          <p:cNvSpPr>
            <a:spLocks noChangeArrowheads="1"/>
          </p:cNvSpPr>
          <p:nvPr/>
        </p:nvSpPr>
        <p:spPr bwMode="auto">
          <a:xfrm>
            <a:off x="457201" y="469590"/>
            <a:ext cx="8324850" cy="12003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eaLnBrk="0" hangingPunct="0">
              <a:tabLst>
                <a:tab pos="439738" algn="r"/>
                <a:tab pos="2420938" algn="r"/>
                <a:tab pos="3060700" algn="r"/>
                <a:tab pos="3781425" algn="r"/>
                <a:tab pos="4500563" algn="r"/>
                <a:tab pos="5221288" algn="r"/>
              </a:tabLst>
              <a:defRPr>
                <a:solidFill>
                  <a:schemeClr val="tx1"/>
                </a:solidFill>
                <a:latin typeface="Arial" panose="020B0604020202020204" pitchFamily="34" charset="0"/>
                <a:ea typeface="宋体" panose="02010600030101010101" pitchFamily="2" charset="-122"/>
              </a:defRPr>
            </a:lvl1pPr>
            <a:lvl2pPr marL="742950" indent="-285750" eaLnBrk="0" hangingPunct="0">
              <a:tabLst>
                <a:tab pos="439738" algn="r"/>
                <a:tab pos="2420938" algn="r"/>
                <a:tab pos="3060700" algn="r"/>
                <a:tab pos="3781425" algn="r"/>
                <a:tab pos="4500563" algn="r"/>
                <a:tab pos="5221288" algn="r"/>
              </a:tabLst>
              <a:defRPr>
                <a:solidFill>
                  <a:schemeClr val="tx1"/>
                </a:solidFill>
                <a:latin typeface="Arial" panose="020B0604020202020204" pitchFamily="34" charset="0"/>
                <a:ea typeface="宋体" panose="02010600030101010101" pitchFamily="2" charset="-122"/>
              </a:defRPr>
            </a:lvl2pPr>
            <a:lvl3pPr marL="1143000" indent="-228600" eaLnBrk="0" hangingPunct="0">
              <a:tabLst>
                <a:tab pos="439738" algn="r"/>
                <a:tab pos="2420938" algn="r"/>
                <a:tab pos="3060700" algn="r"/>
                <a:tab pos="3781425" algn="r"/>
                <a:tab pos="4500563" algn="r"/>
                <a:tab pos="5221288" algn="r"/>
              </a:tabLst>
              <a:defRPr>
                <a:solidFill>
                  <a:schemeClr val="tx1"/>
                </a:solidFill>
                <a:latin typeface="Arial" panose="020B0604020202020204" pitchFamily="34" charset="0"/>
                <a:ea typeface="宋体" panose="02010600030101010101" pitchFamily="2" charset="-122"/>
              </a:defRPr>
            </a:lvl3pPr>
            <a:lvl4pPr marL="1600200" indent="-228600" eaLnBrk="0" hangingPunct="0">
              <a:tabLst>
                <a:tab pos="439738" algn="r"/>
                <a:tab pos="2420938" algn="r"/>
                <a:tab pos="3060700" algn="r"/>
                <a:tab pos="3781425" algn="r"/>
                <a:tab pos="4500563" algn="r"/>
                <a:tab pos="5221288" algn="r"/>
              </a:tabLst>
              <a:defRPr>
                <a:solidFill>
                  <a:schemeClr val="tx1"/>
                </a:solidFill>
                <a:latin typeface="Arial" panose="020B0604020202020204" pitchFamily="34" charset="0"/>
                <a:ea typeface="宋体" panose="02010600030101010101" pitchFamily="2" charset="-122"/>
              </a:defRPr>
            </a:lvl4pPr>
            <a:lvl5pPr marL="2057400" indent="-228600" eaLnBrk="0" hangingPunct="0">
              <a:tabLst>
                <a:tab pos="439738" algn="r"/>
                <a:tab pos="2420938" algn="r"/>
                <a:tab pos="3060700" algn="r"/>
                <a:tab pos="3781425" algn="r"/>
                <a:tab pos="4500563" algn="r"/>
                <a:tab pos="5221288" algn="r"/>
              </a:tabLst>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tabLst>
                <a:tab pos="439738" algn="r"/>
                <a:tab pos="2420938" algn="r"/>
                <a:tab pos="3060700" algn="r"/>
                <a:tab pos="3781425" algn="r"/>
                <a:tab pos="4500563" algn="r"/>
                <a:tab pos="5221288" algn="r"/>
              </a:tabLs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tabLst>
                <a:tab pos="439738" algn="r"/>
                <a:tab pos="2420938" algn="r"/>
                <a:tab pos="3060700" algn="r"/>
                <a:tab pos="3781425" algn="r"/>
                <a:tab pos="4500563" algn="r"/>
                <a:tab pos="5221288" algn="r"/>
              </a:tabLs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tabLst>
                <a:tab pos="439738" algn="r"/>
                <a:tab pos="2420938" algn="r"/>
                <a:tab pos="3060700" algn="r"/>
                <a:tab pos="3781425" algn="r"/>
                <a:tab pos="4500563" algn="r"/>
                <a:tab pos="5221288" algn="r"/>
              </a:tabLs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tabLst>
                <a:tab pos="439738" algn="r"/>
                <a:tab pos="2420938" algn="r"/>
                <a:tab pos="3060700" algn="r"/>
                <a:tab pos="3781425" algn="r"/>
                <a:tab pos="4500563" algn="r"/>
                <a:tab pos="5221288" algn="r"/>
              </a:tabLs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sz="2400" b="1" dirty="0">
                <a:latin typeface="微软雅黑" panose="020B0503020204020204" pitchFamily="34" charset="-122"/>
                <a:ea typeface="微软雅黑" panose="020B0503020204020204" pitchFamily="34" charset="-122"/>
              </a:rPr>
              <a:t>NON-OIL THIRD WORLD COUNTRIES</a:t>
            </a:r>
            <a:br>
              <a:rPr lang="en-US" altLang="zh-CN" sz="2400" b="1" dirty="0">
                <a:latin typeface="微软雅黑" panose="020B0503020204020204" pitchFamily="34" charset="-122"/>
                <a:ea typeface="微软雅黑" panose="020B0503020204020204" pitchFamily="34" charset="-122"/>
              </a:rPr>
            </a:br>
            <a:r>
              <a:rPr lang="en-US" altLang="zh-CN" sz="2400" b="1" dirty="0">
                <a:latin typeface="微软雅黑" panose="020B0503020204020204" pitchFamily="34" charset="-122"/>
                <a:ea typeface="微软雅黑" panose="020B0503020204020204" pitchFamily="34" charset="-122"/>
              </a:rPr>
              <a:t>CURRENT ACCOUNT BALANCES 1973-1982</a:t>
            </a:r>
          </a:p>
          <a:p>
            <a:pPr algn="ctr" eaLnBrk="1" hangingPunct="1"/>
            <a:r>
              <a:rPr lang="en-US" altLang="zh-CN" sz="2400" b="1" dirty="0">
                <a:latin typeface="微软雅黑" panose="020B0503020204020204" pitchFamily="34" charset="-122"/>
                <a:ea typeface="微软雅黑" panose="020B0503020204020204" pitchFamily="34" charset="-122"/>
              </a:rPr>
              <a:t>(U.S. $ BILLIONS)</a:t>
            </a:r>
          </a:p>
        </p:txBody>
      </p:sp>
      <p:graphicFrame>
        <p:nvGraphicFramePr>
          <p:cNvPr id="3" name="表格 2"/>
          <p:cNvGraphicFramePr>
            <a:graphicFrameLocks noGrp="1"/>
          </p:cNvGraphicFramePr>
          <p:nvPr>
            <p:extLst>
              <p:ext uri="{D42A27DB-BD31-4B8C-83A1-F6EECF244321}">
                <p14:modId xmlns:p14="http://schemas.microsoft.com/office/powerpoint/2010/main" val="3457855794"/>
              </p:ext>
            </p:extLst>
          </p:nvPr>
        </p:nvGraphicFramePr>
        <p:xfrm>
          <a:off x="346845" y="2037046"/>
          <a:ext cx="8435210" cy="1100292"/>
        </p:xfrm>
        <a:graphic>
          <a:graphicData uri="http://schemas.openxmlformats.org/drawingml/2006/table">
            <a:tbl>
              <a:tblPr firstRow="1" firstCol="1" bandRow="1">
                <a:tableStyleId>{69012ECD-51FC-41F1-AA8D-1B2483CD663E}</a:tableStyleId>
              </a:tblPr>
              <a:tblGrid>
                <a:gridCol w="843521">
                  <a:extLst>
                    <a:ext uri="{9D8B030D-6E8A-4147-A177-3AD203B41FA5}">
                      <a16:colId xmlns:a16="http://schemas.microsoft.com/office/drawing/2014/main" val="20000"/>
                    </a:ext>
                  </a:extLst>
                </a:gridCol>
                <a:gridCol w="843521">
                  <a:extLst>
                    <a:ext uri="{9D8B030D-6E8A-4147-A177-3AD203B41FA5}">
                      <a16:colId xmlns:a16="http://schemas.microsoft.com/office/drawing/2014/main" val="20001"/>
                    </a:ext>
                  </a:extLst>
                </a:gridCol>
                <a:gridCol w="843521">
                  <a:extLst>
                    <a:ext uri="{9D8B030D-6E8A-4147-A177-3AD203B41FA5}">
                      <a16:colId xmlns:a16="http://schemas.microsoft.com/office/drawing/2014/main" val="20002"/>
                    </a:ext>
                  </a:extLst>
                </a:gridCol>
                <a:gridCol w="843521">
                  <a:extLst>
                    <a:ext uri="{9D8B030D-6E8A-4147-A177-3AD203B41FA5}">
                      <a16:colId xmlns:a16="http://schemas.microsoft.com/office/drawing/2014/main" val="20003"/>
                    </a:ext>
                  </a:extLst>
                </a:gridCol>
                <a:gridCol w="843521">
                  <a:extLst>
                    <a:ext uri="{9D8B030D-6E8A-4147-A177-3AD203B41FA5}">
                      <a16:colId xmlns:a16="http://schemas.microsoft.com/office/drawing/2014/main" val="20004"/>
                    </a:ext>
                  </a:extLst>
                </a:gridCol>
                <a:gridCol w="843521">
                  <a:extLst>
                    <a:ext uri="{9D8B030D-6E8A-4147-A177-3AD203B41FA5}">
                      <a16:colId xmlns:a16="http://schemas.microsoft.com/office/drawing/2014/main" val="20005"/>
                    </a:ext>
                  </a:extLst>
                </a:gridCol>
                <a:gridCol w="843521">
                  <a:extLst>
                    <a:ext uri="{9D8B030D-6E8A-4147-A177-3AD203B41FA5}">
                      <a16:colId xmlns:a16="http://schemas.microsoft.com/office/drawing/2014/main" val="20006"/>
                    </a:ext>
                  </a:extLst>
                </a:gridCol>
                <a:gridCol w="843521">
                  <a:extLst>
                    <a:ext uri="{9D8B030D-6E8A-4147-A177-3AD203B41FA5}">
                      <a16:colId xmlns:a16="http://schemas.microsoft.com/office/drawing/2014/main" val="20007"/>
                    </a:ext>
                  </a:extLst>
                </a:gridCol>
                <a:gridCol w="843521">
                  <a:extLst>
                    <a:ext uri="{9D8B030D-6E8A-4147-A177-3AD203B41FA5}">
                      <a16:colId xmlns:a16="http://schemas.microsoft.com/office/drawing/2014/main" val="20008"/>
                    </a:ext>
                  </a:extLst>
                </a:gridCol>
                <a:gridCol w="843521">
                  <a:extLst>
                    <a:ext uri="{9D8B030D-6E8A-4147-A177-3AD203B41FA5}">
                      <a16:colId xmlns:a16="http://schemas.microsoft.com/office/drawing/2014/main" val="20009"/>
                    </a:ext>
                  </a:extLst>
                </a:gridCol>
              </a:tblGrid>
              <a:tr h="550146">
                <a:tc>
                  <a:txBody>
                    <a:bodyPr/>
                    <a:lstStyle/>
                    <a:p>
                      <a:pPr algn="ctr">
                        <a:spcAft>
                          <a:spcPts val="0"/>
                        </a:spcAft>
                      </a:pPr>
                      <a:r>
                        <a:rPr lang="en-US" sz="2000" b="1" i="0" kern="100" dirty="0">
                          <a:effectLst/>
                          <a:latin typeface="微软雅黑" panose="020B0503020204020204" pitchFamily="34" charset="-122"/>
                          <a:ea typeface="微软雅黑" panose="020B0503020204020204" pitchFamily="34" charset="-122"/>
                          <a:cs typeface="Times New Roman" panose="02020603050405020304" pitchFamily="18" charset="0"/>
                        </a:rPr>
                        <a:t>1973</a:t>
                      </a:r>
                      <a:endParaRPr lang="zh-CN" sz="2000" i="0" kern="100" dirty="0">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68580" marR="68580" marT="0" marB="0" anchor="ctr"/>
                </a:tc>
                <a:tc>
                  <a:txBody>
                    <a:bodyPr/>
                    <a:lstStyle/>
                    <a:p>
                      <a:pPr algn="ctr">
                        <a:spcAft>
                          <a:spcPts val="0"/>
                        </a:spcAft>
                      </a:pPr>
                      <a:r>
                        <a:rPr lang="en-US" sz="2000" b="1" i="0" kern="100" dirty="0" smtClean="0">
                          <a:effectLst/>
                          <a:latin typeface="微软雅黑" panose="020B0503020204020204" pitchFamily="34" charset="-122"/>
                          <a:ea typeface="微软雅黑" panose="020B0503020204020204" pitchFamily="34" charset="-122"/>
                          <a:cs typeface="Times New Roman" panose="02020603050405020304" pitchFamily="18" charset="0"/>
                        </a:rPr>
                        <a:t>1974 </a:t>
                      </a:r>
                      <a:endParaRPr lang="zh-CN" sz="2000" i="0" kern="100" dirty="0">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68580" marR="68580" marT="0" marB="0" anchor="ctr"/>
                </a:tc>
                <a:tc>
                  <a:txBody>
                    <a:bodyPr/>
                    <a:lstStyle/>
                    <a:p>
                      <a:pPr algn="ctr">
                        <a:spcAft>
                          <a:spcPts val="0"/>
                        </a:spcAft>
                      </a:pPr>
                      <a:r>
                        <a:rPr lang="en-US" sz="2000" b="1" i="0" kern="100" dirty="0">
                          <a:effectLst/>
                          <a:latin typeface="微软雅黑" panose="020B0503020204020204" pitchFamily="34" charset="-122"/>
                          <a:ea typeface="微软雅黑" panose="020B0503020204020204" pitchFamily="34" charset="-122"/>
                          <a:cs typeface="Times New Roman" panose="02020603050405020304" pitchFamily="18" charset="0"/>
                        </a:rPr>
                        <a:t>1975 </a:t>
                      </a:r>
                      <a:endParaRPr lang="zh-CN" sz="2000" i="0" kern="100" dirty="0">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68580" marR="68580" marT="0" marB="0" anchor="ctr"/>
                </a:tc>
                <a:tc>
                  <a:txBody>
                    <a:bodyPr/>
                    <a:lstStyle/>
                    <a:p>
                      <a:pPr algn="ctr">
                        <a:spcAft>
                          <a:spcPts val="0"/>
                        </a:spcAft>
                      </a:pPr>
                      <a:r>
                        <a:rPr lang="en-US" sz="2000" b="1" i="0" kern="100" dirty="0">
                          <a:effectLst/>
                          <a:latin typeface="微软雅黑" panose="020B0503020204020204" pitchFamily="34" charset="-122"/>
                          <a:ea typeface="微软雅黑" panose="020B0503020204020204" pitchFamily="34" charset="-122"/>
                          <a:cs typeface="Times New Roman" panose="02020603050405020304" pitchFamily="18" charset="0"/>
                        </a:rPr>
                        <a:t>1976 </a:t>
                      </a:r>
                      <a:endParaRPr lang="zh-CN" sz="2000" i="0" kern="100" dirty="0">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68580" marR="68580" marT="0" marB="0" anchor="ctr"/>
                </a:tc>
                <a:tc>
                  <a:txBody>
                    <a:bodyPr/>
                    <a:lstStyle/>
                    <a:p>
                      <a:pPr algn="ctr">
                        <a:spcAft>
                          <a:spcPts val="0"/>
                        </a:spcAft>
                      </a:pPr>
                      <a:r>
                        <a:rPr lang="en-US" sz="2000" b="1" i="0" kern="100" dirty="0">
                          <a:effectLst/>
                          <a:latin typeface="微软雅黑" panose="020B0503020204020204" pitchFamily="34" charset="-122"/>
                          <a:ea typeface="微软雅黑" panose="020B0503020204020204" pitchFamily="34" charset="-122"/>
                          <a:cs typeface="Times New Roman" panose="02020603050405020304" pitchFamily="18" charset="0"/>
                        </a:rPr>
                        <a:t>1977 </a:t>
                      </a:r>
                      <a:endParaRPr lang="zh-CN" sz="2000" i="0" kern="100" dirty="0">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68580" marR="68580" marT="0" marB="0" anchor="ctr"/>
                </a:tc>
                <a:tc>
                  <a:txBody>
                    <a:bodyPr/>
                    <a:lstStyle/>
                    <a:p>
                      <a:pPr algn="ctr">
                        <a:spcAft>
                          <a:spcPts val="0"/>
                        </a:spcAft>
                      </a:pPr>
                      <a:r>
                        <a:rPr lang="en-US" sz="2000" b="1" i="0" kern="100">
                          <a:effectLst/>
                          <a:latin typeface="微软雅黑" panose="020B0503020204020204" pitchFamily="34" charset="-122"/>
                          <a:ea typeface="微软雅黑" panose="020B0503020204020204" pitchFamily="34" charset="-122"/>
                          <a:cs typeface="Times New Roman" panose="02020603050405020304" pitchFamily="18" charset="0"/>
                        </a:rPr>
                        <a:t>1978 </a:t>
                      </a:r>
                      <a:endParaRPr lang="zh-CN" sz="2000" i="0" kern="100">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68580" marR="68580" marT="0" marB="0" anchor="ctr"/>
                </a:tc>
                <a:tc>
                  <a:txBody>
                    <a:bodyPr/>
                    <a:lstStyle/>
                    <a:p>
                      <a:pPr algn="ctr">
                        <a:spcAft>
                          <a:spcPts val="0"/>
                        </a:spcAft>
                      </a:pPr>
                      <a:r>
                        <a:rPr lang="en-US" sz="2000" b="1" i="0" kern="100">
                          <a:effectLst/>
                          <a:latin typeface="微软雅黑" panose="020B0503020204020204" pitchFamily="34" charset="-122"/>
                          <a:ea typeface="微软雅黑" panose="020B0503020204020204" pitchFamily="34" charset="-122"/>
                          <a:cs typeface="Times New Roman" panose="02020603050405020304" pitchFamily="18" charset="0"/>
                        </a:rPr>
                        <a:t>1979 </a:t>
                      </a:r>
                      <a:endParaRPr lang="zh-CN" sz="2000" i="0" kern="100">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68580" marR="68580" marT="0" marB="0" anchor="ctr"/>
                </a:tc>
                <a:tc>
                  <a:txBody>
                    <a:bodyPr/>
                    <a:lstStyle/>
                    <a:p>
                      <a:pPr algn="ctr">
                        <a:spcAft>
                          <a:spcPts val="0"/>
                        </a:spcAft>
                      </a:pPr>
                      <a:r>
                        <a:rPr lang="en-US" sz="2000" b="1" i="0" kern="100">
                          <a:effectLst/>
                          <a:latin typeface="微软雅黑" panose="020B0503020204020204" pitchFamily="34" charset="-122"/>
                          <a:ea typeface="微软雅黑" panose="020B0503020204020204" pitchFamily="34" charset="-122"/>
                          <a:cs typeface="Times New Roman" panose="02020603050405020304" pitchFamily="18" charset="0"/>
                        </a:rPr>
                        <a:t>1980 </a:t>
                      </a:r>
                      <a:endParaRPr lang="zh-CN" sz="2000" i="0" kern="100">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68580" marR="68580" marT="0" marB="0" anchor="ctr"/>
                </a:tc>
                <a:tc>
                  <a:txBody>
                    <a:bodyPr/>
                    <a:lstStyle/>
                    <a:p>
                      <a:pPr algn="ctr">
                        <a:spcAft>
                          <a:spcPts val="0"/>
                        </a:spcAft>
                      </a:pPr>
                      <a:r>
                        <a:rPr lang="en-US" sz="2000" b="1" i="0" kern="100">
                          <a:effectLst/>
                          <a:latin typeface="微软雅黑" panose="020B0503020204020204" pitchFamily="34" charset="-122"/>
                          <a:ea typeface="微软雅黑" panose="020B0503020204020204" pitchFamily="34" charset="-122"/>
                          <a:cs typeface="Times New Roman" panose="02020603050405020304" pitchFamily="18" charset="0"/>
                        </a:rPr>
                        <a:t>1981 </a:t>
                      </a:r>
                      <a:endParaRPr lang="zh-CN" sz="2000" i="0" kern="100">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68580" marR="68580" marT="0" marB="0" anchor="ctr"/>
                </a:tc>
                <a:tc>
                  <a:txBody>
                    <a:bodyPr/>
                    <a:lstStyle/>
                    <a:p>
                      <a:pPr algn="ctr">
                        <a:spcAft>
                          <a:spcPts val="0"/>
                        </a:spcAft>
                      </a:pPr>
                      <a:r>
                        <a:rPr lang="en-US" sz="2000" b="1" i="0" kern="100" dirty="0">
                          <a:effectLst/>
                          <a:latin typeface="微软雅黑" panose="020B0503020204020204" pitchFamily="34" charset="-122"/>
                          <a:ea typeface="微软雅黑" panose="020B0503020204020204" pitchFamily="34" charset="-122"/>
                          <a:cs typeface="Times New Roman" panose="02020603050405020304" pitchFamily="18" charset="0"/>
                        </a:rPr>
                        <a:t>1982</a:t>
                      </a:r>
                      <a:endParaRPr lang="zh-CN" sz="2000" i="0" kern="100" dirty="0">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68580" marR="68580" marT="0" marB="0" anchor="ctr"/>
                </a:tc>
                <a:extLst>
                  <a:ext uri="{0D108BD9-81ED-4DB2-BD59-A6C34878D82A}">
                    <a16:rowId xmlns:a16="http://schemas.microsoft.com/office/drawing/2014/main" val="10000"/>
                  </a:ext>
                </a:extLst>
              </a:tr>
              <a:tr h="550146">
                <a:tc>
                  <a:txBody>
                    <a:bodyPr/>
                    <a:lstStyle/>
                    <a:p>
                      <a:pPr algn="ctr">
                        <a:spcAft>
                          <a:spcPts val="0"/>
                        </a:spcAft>
                      </a:pPr>
                      <a:r>
                        <a:rPr lang="en-US" sz="2000" b="0" i="0" kern="100" dirty="0" smtClean="0">
                          <a:effectLst/>
                          <a:latin typeface="微软雅黑" panose="020B0503020204020204" pitchFamily="34" charset="-122"/>
                          <a:ea typeface="微软雅黑" panose="020B0503020204020204" pitchFamily="34" charset="-122"/>
                          <a:cs typeface="Times New Roman" panose="02020603050405020304" pitchFamily="18" charset="0"/>
                        </a:rPr>
                        <a:t>-11.6</a:t>
                      </a:r>
                      <a:endParaRPr lang="zh-CN" sz="2000" b="0" i="0" kern="100" dirty="0">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68580" marR="68580" marT="0" marB="0" anchor="ctr"/>
                </a:tc>
                <a:tc>
                  <a:txBody>
                    <a:bodyPr/>
                    <a:lstStyle/>
                    <a:p>
                      <a:pPr algn="ctr">
                        <a:spcAft>
                          <a:spcPts val="0"/>
                        </a:spcAft>
                      </a:pPr>
                      <a:r>
                        <a:rPr lang="en-US" sz="2000" b="0" i="0" kern="100" dirty="0" smtClean="0">
                          <a:effectLst/>
                          <a:latin typeface="微软雅黑" panose="020B0503020204020204" pitchFamily="34" charset="-122"/>
                          <a:ea typeface="微软雅黑" panose="020B0503020204020204" pitchFamily="34" charset="-122"/>
                          <a:cs typeface="Times New Roman" panose="02020603050405020304" pitchFamily="18" charset="0"/>
                        </a:rPr>
                        <a:t>-37</a:t>
                      </a:r>
                      <a:endParaRPr lang="zh-CN" sz="2000" b="0" i="0" kern="100" dirty="0">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68580" marR="68580" marT="0" marB="0" anchor="ctr"/>
                </a:tc>
                <a:tc>
                  <a:txBody>
                    <a:bodyPr/>
                    <a:lstStyle/>
                    <a:p>
                      <a:pPr algn="ctr">
                        <a:spcAft>
                          <a:spcPts val="0"/>
                        </a:spcAft>
                      </a:pPr>
                      <a:r>
                        <a:rPr lang="en-US" sz="2000" b="0" i="0" kern="100" dirty="0" smtClean="0">
                          <a:effectLst/>
                          <a:latin typeface="微软雅黑" panose="020B0503020204020204" pitchFamily="34" charset="-122"/>
                          <a:ea typeface="微软雅黑" panose="020B0503020204020204" pitchFamily="34" charset="-122"/>
                          <a:cs typeface="Times New Roman" panose="02020603050405020304" pitchFamily="18" charset="0"/>
                        </a:rPr>
                        <a:t>-46.5</a:t>
                      </a:r>
                      <a:endParaRPr lang="zh-CN" sz="2000" b="0" i="0" kern="100" dirty="0">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68580" marR="68580" marT="0" marB="0" anchor="ctr"/>
                </a:tc>
                <a:tc>
                  <a:txBody>
                    <a:bodyPr/>
                    <a:lstStyle/>
                    <a:p>
                      <a:pPr algn="ctr">
                        <a:spcAft>
                          <a:spcPts val="0"/>
                        </a:spcAft>
                      </a:pPr>
                      <a:r>
                        <a:rPr lang="en-US" sz="2000" b="0" i="0" kern="100" dirty="0" smtClean="0">
                          <a:effectLst/>
                          <a:latin typeface="微软雅黑" panose="020B0503020204020204" pitchFamily="34" charset="-122"/>
                          <a:ea typeface="微软雅黑" panose="020B0503020204020204" pitchFamily="34" charset="-122"/>
                          <a:cs typeface="Times New Roman" panose="02020603050405020304" pitchFamily="18" charset="0"/>
                        </a:rPr>
                        <a:t>-32</a:t>
                      </a:r>
                      <a:endParaRPr lang="zh-CN" sz="2000" b="0" i="0" kern="100" dirty="0">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68580" marR="68580" marT="0" marB="0" anchor="ctr"/>
                </a:tc>
                <a:tc>
                  <a:txBody>
                    <a:bodyPr/>
                    <a:lstStyle/>
                    <a:p>
                      <a:pPr algn="ctr">
                        <a:spcAft>
                          <a:spcPts val="0"/>
                        </a:spcAft>
                      </a:pPr>
                      <a:r>
                        <a:rPr lang="en-US" sz="2000" b="0" i="0" kern="100" dirty="0">
                          <a:effectLst/>
                          <a:latin typeface="微软雅黑" panose="020B0503020204020204" pitchFamily="34" charset="-122"/>
                          <a:ea typeface="微软雅黑" panose="020B0503020204020204" pitchFamily="34" charset="-122"/>
                          <a:cs typeface="Times New Roman" panose="02020603050405020304" pitchFamily="18" charset="0"/>
                        </a:rPr>
                        <a:t>-28. 3 </a:t>
                      </a:r>
                      <a:endParaRPr lang="zh-CN" sz="2000" b="0" i="0" kern="100" dirty="0">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68580" marR="68580" marT="0" marB="0" anchor="ctr"/>
                </a:tc>
                <a:tc>
                  <a:txBody>
                    <a:bodyPr/>
                    <a:lstStyle/>
                    <a:p>
                      <a:pPr algn="ctr">
                        <a:spcAft>
                          <a:spcPts val="0"/>
                        </a:spcAft>
                      </a:pPr>
                      <a:r>
                        <a:rPr lang="en-US" sz="2000" b="0" i="0" kern="100" dirty="0" smtClean="0">
                          <a:effectLst/>
                          <a:latin typeface="微软雅黑" panose="020B0503020204020204" pitchFamily="34" charset="-122"/>
                          <a:ea typeface="微软雅黑" panose="020B0503020204020204" pitchFamily="34" charset="-122"/>
                          <a:cs typeface="Times New Roman" panose="02020603050405020304" pitchFamily="18" charset="0"/>
                        </a:rPr>
                        <a:t>-39.2</a:t>
                      </a:r>
                      <a:endParaRPr lang="zh-CN" sz="2000" b="0" i="0" kern="100" dirty="0">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68580" marR="68580" marT="0" marB="0" anchor="ctr"/>
                </a:tc>
                <a:tc>
                  <a:txBody>
                    <a:bodyPr/>
                    <a:lstStyle/>
                    <a:p>
                      <a:pPr algn="ctr">
                        <a:spcAft>
                          <a:spcPts val="0"/>
                        </a:spcAft>
                      </a:pPr>
                      <a:r>
                        <a:rPr lang="en-US" sz="2000" b="0" i="0" kern="100" dirty="0" smtClean="0">
                          <a:effectLst/>
                          <a:latin typeface="微软雅黑" panose="020B0503020204020204" pitchFamily="34" charset="-122"/>
                          <a:ea typeface="微软雅黑" panose="020B0503020204020204" pitchFamily="34" charset="-122"/>
                          <a:cs typeface="Times New Roman" panose="02020603050405020304" pitchFamily="18" charset="0"/>
                        </a:rPr>
                        <a:t>-58.9</a:t>
                      </a:r>
                      <a:endParaRPr lang="zh-CN" sz="2000" b="0" i="0" kern="100" dirty="0">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68580" marR="68580" marT="0" marB="0" anchor="ctr"/>
                </a:tc>
                <a:tc>
                  <a:txBody>
                    <a:bodyPr/>
                    <a:lstStyle/>
                    <a:p>
                      <a:pPr algn="ctr">
                        <a:spcAft>
                          <a:spcPts val="0"/>
                        </a:spcAft>
                      </a:pPr>
                      <a:r>
                        <a:rPr lang="en-US" sz="2000" b="0" i="0" kern="100" dirty="0" smtClean="0">
                          <a:effectLst/>
                          <a:latin typeface="微软雅黑" panose="020B0503020204020204" pitchFamily="34" charset="-122"/>
                          <a:ea typeface="微软雅黑" panose="020B0503020204020204" pitchFamily="34" charset="-122"/>
                          <a:cs typeface="Times New Roman" panose="02020603050405020304" pitchFamily="18" charset="0"/>
                        </a:rPr>
                        <a:t>-86.2</a:t>
                      </a:r>
                      <a:endParaRPr lang="zh-CN" sz="2000" b="0" i="0" kern="100" dirty="0">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68580" marR="68580" marT="0" marB="0" anchor="ctr"/>
                </a:tc>
                <a:tc>
                  <a:txBody>
                    <a:bodyPr/>
                    <a:lstStyle/>
                    <a:p>
                      <a:pPr algn="ctr">
                        <a:spcAft>
                          <a:spcPts val="0"/>
                        </a:spcAft>
                      </a:pPr>
                      <a:r>
                        <a:rPr lang="en-US" sz="2000" b="0" i="0" kern="100" dirty="0" smtClean="0">
                          <a:effectLst/>
                          <a:latin typeface="微软雅黑" panose="020B0503020204020204" pitchFamily="34" charset="-122"/>
                          <a:ea typeface="微软雅黑" panose="020B0503020204020204" pitchFamily="34" charset="-122"/>
                          <a:cs typeface="Times New Roman" panose="02020603050405020304" pitchFamily="18" charset="0"/>
                        </a:rPr>
                        <a:t>-99.0</a:t>
                      </a:r>
                      <a:endParaRPr lang="zh-CN" sz="2000" b="0" i="0" kern="100" dirty="0">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68580" marR="68580" marT="0" marB="0" anchor="ctr"/>
                </a:tc>
                <a:tc>
                  <a:txBody>
                    <a:bodyPr/>
                    <a:lstStyle/>
                    <a:p>
                      <a:pPr algn="ctr">
                        <a:spcAft>
                          <a:spcPts val="0"/>
                        </a:spcAft>
                      </a:pPr>
                      <a:r>
                        <a:rPr lang="en-US" sz="2000" b="0" i="0" kern="100" dirty="0" smtClean="0">
                          <a:effectLst/>
                          <a:latin typeface="微软雅黑" panose="020B0503020204020204" pitchFamily="34" charset="-122"/>
                          <a:ea typeface="微软雅黑" panose="020B0503020204020204" pitchFamily="34" charset="-122"/>
                          <a:cs typeface="Times New Roman" panose="02020603050405020304" pitchFamily="18" charset="0"/>
                        </a:rPr>
                        <a:t>-</a:t>
                      </a:r>
                      <a:r>
                        <a:rPr lang="en-US" sz="2000" b="0" i="0" kern="100" dirty="0">
                          <a:effectLst/>
                          <a:latin typeface="微软雅黑" panose="020B0503020204020204" pitchFamily="34" charset="-122"/>
                          <a:ea typeface="微软雅黑" panose="020B0503020204020204" pitchFamily="34" charset="-122"/>
                          <a:cs typeface="Times New Roman" panose="02020603050405020304" pitchFamily="18" charset="0"/>
                        </a:rPr>
                        <a:t>97</a:t>
                      </a:r>
                      <a:endParaRPr lang="zh-CN" sz="2000" b="0" i="0" kern="100" dirty="0">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68580" marR="68580" marT="0" marB="0" anchor="ctr"/>
                </a:tc>
                <a:extLst>
                  <a:ext uri="{0D108BD9-81ED-4DB2-BD59-A6C34878D82A}">
                    <a16:rowId xmlns:a16="http://schemas.microsoft.com/office/drawing/2014/main" val="10001"/>
                  </a:ext>
                </a:extLst>
              </a:tr>
            </a:tbl>
          </a:graphicData>
        </a:graphic>
      </p:graphicFrame>
    </p:spTree>
    <p:extLst>
      <p:ext uri="{BB962C8B-B14F-4D97-AF65-F5344CB8AC3E}">
        <p14:creationId xmlns:p14="http://schemas.microsoft.com/office/powerpoint/2010/main" val="262128438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第二节	国际金融危机的一般理论</a:t>
            </a:r>
            <a:endParaRPr lang="zh-CN" dirty="0"/>
          </a:p>
        </p:txBody>
      </p:sp>
      <p:sp>
        <p:nvSpPr>
          <p:cNvPr id="3" name="内容占位符 2"/>
          <p:cNvSpPr>
            <a:spLocks noGrp="1"/>
          </p:cNvSpPr>
          <p:nvPr>
            <p:ph idx="1"/>
          </p:nvPr>
        </p:nvSpPr>
        <p:spPr>
          <a:xfrm>
            <a:off x="971550" y="1447799"/>
            <a:ext cx="7200900" cy="4841879"/>
          </a:xfrm>
        </p:spPr>
        <p:txBody>
          <a:bodyPr>
            <a:normAutofit fontScale="92500" lnSpcReduction="10000"/>
          </a:bodyPr>
          <a:lstStyle/>
          <a:p>
            <a:pPr marL="514350" indent="-514350">
              <a:lnSpc>
                <a:spcPct val="100000"/>
              </a:lnSpc>
              <a:buFont typeface="+mj-lt"/>
              <a:buAutoNum type="arabicPeriod" startAt="2"/>
            </a:pPr>
            <a:r>
              <a:rPr lang="en-US" altLang="zh-CN" sz="2600" dirty="0" smtClean="0">
                <a:latin typeface="微软雅黑" panose="020B0503020204020204" pitchFamily="34" charset="-122"/>
                <a:ea typeface="微软雅黑" panose="020B0503020204020204" pitchFamily="34" charset="-122"/>
              </a:rPr>
              <a:t>International </a:t>
            </a:r>
            <a:r>
              <a:rPr lang="en-US" altLang="zh-CN" sz="2600" dirty="0">
                <a:latin typeface="微软雅黑" panose="020B0503020204020204" pitchFamily="34" charset="-122"/>
                <a:ea typeface="微软雅黑" panose="020B0503020204020204" pitchFamily="34" charset="-122"/>
              </a:rPr>
              <a:t>Debt Crisis</a:t>
            </a:r>
          </a:p>
          <a:p>
            <a:pPr marL="742950" lvl="1" indent="-514350">
              <a:lnSpc>
                <a:spcPct val="100000"/>
              </a:lnSpc>
              <a:buFont typeface="+mj-ea"/>
              <a:buAutoNum type="circleNumDbPlain" startAt="2"/>
            </a:pPr>
            <a:r>
              <a:rPr lang="zh-CN" altLang="en-US" sz="2400" dirty="0">
                <a:latin typeface="微软雅黑" panose="020B0503020204020204" pitchFamily="34" charset="-122"/>
                <a:ea typeface="微软雅黑" panose="020B0503020204020204" pitchFamily="34" charset="-122"/>
              </a:rPr>
              <a:t>债务危机的解决方案</a:t>
            </a:r>
          </a:p>
          <a:p>
            <a:pPr marL="0" lvl="2" indent="457200">
              <a:lnSpc>
                <a:spcPct val="110000"/>
              </a:lnSpc>
              <a:spcBef>
                <a:spcPts val="1800"/>
              </a:spcBef>
              <a:buNone/>
            </a:pPr>
            <a:r>
              <a:rPr lang="zh-CN" altLang="en-US" sz="2400" dirty="0" smtClean="0">
                <a:latin typeface="微软雅黑" panose="020B0503020204020204" pitchFamily="34" charset="-122"/>
                <a:ea typeface="微软雅黑" panose="020B0503020204020204" pitchFamily="34" charset="-122"/>
              </a:rPr>
              <a:t>债务</a:t>
            </a:r>
            <a:r>
              <a:rPr lang="zh-CN" altLang="en-US" sz="2400" dirty="0">
                <a:latin typeface="微软雅黑" panose="020B0503020204020204" pitchFamily="34" charset="-122"/>
                <a:ea typeface="微软雅黑" panose="020B0503020204020204" pitchFamily="34" charset="-122"/>
              </a:rPr>
              <a:t>危机给世界带来了巨大冲击，债权银行陷入困境，美国</a:t>
            </a:r>
            <a:r>
              <a:rPr lang="en-US" altLang="zh-CN" sz="2400" dirty="0">
                <a:latin typeface="微软雅黑" panose="020B0503020204020204" pitchFamily="34" charset="-122"/>
                <a:ea typeface="微软雅黑" panose="020B0503020204020204" pitchFamily="34" charset="-122"/>
              </a:rPr>
              <a:t>1982</a:t>
            </a:r>
            <a:r>
              <a:rPr lang="zh-CN" altLang="en-US" sz="2400" dirty="0">
                <a:latin typeface="微软雅黑" panose="020B0503020204020204" pitchFamily="34" charset="-122"/>
                <a:ea typeface="微软雅黑" panose="020B0503020204020204" pitchFamily="34" charset="-122"/>
              </a:rPr>
              <a:t>年底，最大的</a:t>
            </a:r>
            <a:r>
              <a:rPr lang="en-US" altLang="zh-CN" sz="2400" dirty="0">
                <a:latin typeface="微软雅黑" panose="020B0503020204020204" pitchFamily="34" charset="-122"/>
                <a:ea typeface="微软雅黑" panose="020B0503020204020204" pitchFamily="34" charset="-122"/>
              </a:rPr>
              <a:t>9</a:t>
            </a:r>
            <a:r>
              <a:rPr lang="zh-CN" altLang="en-US" sz="2400" dirty="0">
                <a:latin typeface="微软雅黑" panose="020B0503020204020204" pitchFamily="34" charset="-122"/>
                <a:ea typeface="微软雅黑" panose="020B0503020204020204" pitchFamily="34" charset="-122"/>
              </a:rPr>
              <a:t>家银行共向拉美国家提供</a:t>
            </a:r>
            <a:r>
              <a:rPr lang="en-US" altLang="zh-CN" sz="2400" dirty="0">
                <a:latin typeface="微软雅黑" panose="020B0503020204020204" pitchFamily="34" charset="-122"/>
                <a:ea typeface="微软雅黑" panose="020B0503020204020204" pitchFamily="34" charset="-122"/>
              </a:rPr>
              <a:t>510</a:t>
            </a:r>
            <a:r>
              <a:rPr lang="zh-CN" altLang="en-US" sz="2400" dirty="0">
                <a:latin typeface="微软雅黑" panose="020B0503020204020204" pitchFamily="34" charset="-122"/>
                <a:ea typeface="微软雅黑" panose="020B0503020204020204" pitchFamily="34" charset="-122"/>
              </a:rPr>
              <a:t>亿美元贷款，相当于这些银行自有资金总额的</a:t>
            </a:r>
            <a:r>
              <a:rPr lang="en-US" altLang="zh-CN" sz="2400" dirty="0">
                <a:latin typeface="微软雅黑" panose="020B0503020204020204" pitchFamily="34" charset="-122"/>
                <a:ea typeface="微软雅黑" panose="020B0503020204020204" pitchFamily="34" charset="-122"/>
              </a:rPr>
              <a:t>176</a:t>
            </a:r>
            <a:r>
              <a:rPr lang="zh-CN" altLang="en-US" sz="2400" dirty="0">
                <a:latin typeface="微软雅黑" panose="020B0503020204020204" pitchFamily="34" charset="-122"/>
                <a:ea typeface="微软雅黑" panose="020B0503020204020204" pitchFamily="34" charset="-122"/>
              </a:rPr>
              <a:t>％，其余银行提供了</a:t>
            </a:r>
            <a:r>
              <a:rPr lang="en-US" altLang="zh-CN" sz="2400" dirty="0">
                <a:latin typeface="微软雅黑" panose="020B0503020204020204" pitchFamily="34" charset="-122"/>
                <a:ea typeface="微软雅黑" panose="020B0503020204020204" pitchFamily="34" charset="-122"/>
              </a:rPr>
              <a:t>790</a:t>
            </a:r>
            <a:r>
              <a:rPr lang="zh-CN" altLang="en-US" sz="2400" dirty="0">
                <a:latin typeface="微软雅黑" panose="020B0503020204020204" pitchFamily="34" charset="-122"/>
                <a:ea typeface="微软雅黑" panose="020B0503020204020204" pitchFamily="34" charset="-122"/>
              </a:rPr>
              <a:t>亿美元。债务国基本丧失了主动从国际金融市场上筹措资金的能力，经济全面紧缩。</a:t>
            </a:r>
          </a:p>
          <a:p>
            <a:pPr marL="0" lvl="2" indent="457200">
              <a:lnSpc>
                <a:spcPct val="110000"/>
              </a:lnSpc>
              <a:spcBef>
                <a:spcPts val="1800"/>
              </a:spcBef>
              <a:buNone/>
            </a:pPr>
            <a:r>
              <a:rPr lang="zh-CN" altLang="en-US" sz="2400" dirty="0" smtClean="0">
                <a:latin typeface="微软雅黑" panose="020B0503020204020204" pitchFamily="34" charset="-122"/>
                <a:ea typeface="微软雅黑" panose="020B0503020204020204" pitchFamily="34" charset="-122"/>
              </a:rPr>
              <a:t>最初</a:t>
            </a:r>
            <a:r>
              <a:rPr lang="zh-CN" altLang="en-US" sz="2400" dirty="0">
                <a:latin typeface="微软雅黑" panose="020B0503020204020204" pitchFamily="34" charset="-122"/>
                <a:ea typeface="微软雅黑" panose="020B0503020204020204" pitchFamily="34" charset="-122"/>
              </a:rPr>
              <a:t>的援助措施（</a:t>
            </a:r>
            <a:r>
              <a:rPr lang="en-US" altLang="zh-CN" sz="2400" dirty="0">
                <a:latin typeface="微软雅黑" panose="020B0503020204020204" pitchFamily="34" charset="-122"/>
                <a:ea typeface="微软雅黑" panose="020B0503020204020204" pitchFamily="34" charset="-122"/>
              </a:rPr>
              <a:t>1982</a:t>
            </a:r>
            <a:r>
              <a:rPr lang="zh-CN" altLang="en-US" sz="2400" dirty="0">
                <a:latin typeface="微软雅黑" panose="020B0503020204020204" pitchFamily="34" charset="-122"/>
                <a:ea typeface="微软雅黑" panose="020B0503020204020204" pitchFamily="34" charset="-122"/>
              </a:rPr>
              <a:t>－</a:t>
            </a:r>
            <a:r>
              <a:rPr lang="en-US" altLang="zh-CN" sz="2400" dirty="0">
                <a:latin typeface="微软雅黑" panose="020B0503020204020204" pitchFamily="34" charset="-122"/>
                <a:ea typeface="微软雅黑" panose="020B0503020204020204" pitchFamily="34" charset="-122"/>
              </a:rPr>
              <a:t>84</a:t>
            </a:r>
            <a:r>
              <a:rPr lang="zh-CN" altLang="en-US" sz="2400" dirty="0">
                <a:latin typeface="微软雅黑" panose="020B0503020204020204" pitchFamily="34" charset="-122"/>
                <a:ea typeface="微软雅黑" panose="020B0503020204020204" pitchFamily="34" charset="-122"/>
              </a:rPr>
              <a:t>）</a:t>
            </a:r>
            <a:r>
              <a:rPr lang="en-US" altLang="zh-CN" sz="2400" dirty="0">
                <a:latin typeface="微软雅黑" panose="020B0503020204020204" pitchFamily="34" charset="-122"/>
                <a:ea typeface="微软雅黑" panose="020B0503020204020204" pitchFamily="34" charset="-122"/>
              </a:rPr>
              <a:t>——</a:t>
            </a:r>
            <a:r>
              <a:rPr lang="zh-CN" altLang="en-US" sz="2400" dirty="0">
                <a:latin typeface="微软雅黑" panose="020B0503020204020204" pitchFamily="34" charset="-122"/>
                <a:ea typeface="微软雅黑" panose="020B0503020204020204" pitchFamily="34" charset="-122"/>
              </a:rPr>
              <a:t>在</a:t>
            </a:r>
            <a:r>
              <a:rPr lang="en-US" altLang="zh-CN" sz="2400" dirty="0">
                <a:latin typeface="微软雅黑" panose="020B0503020204020204" pitchFamily="34" charset="-122"/>
                <a:ea typeface="微软雅黑" panose="020B0503020204020204" pitchFamily="34" charset="-122"/>
              </a:rPr>
              <a:t>IMF</a:t>
            </a:r>
            <a:r>
              <a:rPr lang="zh-CN" altLang="en-US" sz="2400" dirty="0">
                <a:latin typeface="微软雅黑" panose="020B0503020204020204" pitchFamily="34" charset="-122"/>
                <a:ea typeface="微软雅黑" panose="020B0503020204020204" pitchFamily="34" charset="-122"/>
              </a:rPr>
              <a:t>的协调下，一方面，各国政府、银行和国际机构向债务国提供贷款以缓解资金困难，另一方面，重新安排债务，</a:t>
            </a:r>
            <a:r>
              <a:rPr lang="en-US" altLang="zh-CN" sz="2400" dirty="0">
                <a:latin typeface="微软雅黑" panose="020B0503020204020204" pitchFamily="34" charset="-122"/>
                <a:ea typeface="微软雅黑" panose="020B0503020204020204" pitchFamily="34" charset="-122"/>
              </a:rPr>
              <a:t>IMF</a:t>
            </a:r>
            <a:r>
              <a:rPr lang="zh-CN" altLang="en-US" sz="2400" dirty="0">
                <a:latin typeface="微软雅黑" panose="020B0503020204020204" pitchFamily="34" charset="-122"/>
                <a:ea typeface="微软雅黑" panose="020B0503020204020204" pitchFamily="34" charset="-122"/>
              </a:rPr>
              <a:t>要求债务国国内紧缩，债权银行延长债务本金的偿还期限，但是并不减免债务总额。	</a:t>
            </a:r>
          </a:p>
        </p:txBody>
      </p:sp>
      <p:sp>
        <p:nvSpPr>
          <p:cNvPr id="5" name="页脚占位符 4"/>
          <p:cNvSpPr>
            <a:spLocks noGrp="1"/>
          </p:cNvSpPr>
          <p:nvPr>
            <p:ph type="ftr" sz="quarter" idx="11"/>
          </p:nvPr>
        </p:nvSpPr>
        <p:spPr/>
        <p:txBody>
          <a:bodyPr/>
          <a:lstStyle/>
          <a:p>
            <a:r>
              <a:rPr lang="zh-CN" altLang="en-US" smtClean="0"/>
              <a:t>国际金融学 范小云</a:t>
            </a:r>
            <a:endParaRPr lang="zh-CN" altLang="en-US" dirty="0"/>
          </a:p>
        </p:txBody>
      </p:sp>
    </p:spTree>
    <p:extLst>
      <p:ext uri="{BB962C8B-B14F-4D97-AF65-F5344CB8AC3E}">
        <p14:creationId xmlns:p14="http://schemas.microsoft.com/office/powerpoint/2010/main" val="193443884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Effect transition="in" filter="fade">
                                      <p:cBhvr>
                                        <p:cTn id="7" dur="500"/>
                                        <p:tgtEl>
                                          <p:spTgt spid="3">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2" end="2"/>
                                            </p:txEl>
                                          </p:spTgt>
                                        </p:tgtEl>
                                        <p:attrNameLst>
                                          <p:attrName>style.visibility</p:attrName>
                                        </p:attrNameLst>
                                      </p:cBhvr>
                                      <p:to>
                                        <p:strVal val="visible"/>
                                      </p:to>
                                    </p:set>
                                    <p:animEffect transition="in" filter="fade">
                                      <p:cBhvr>
                                        <p:cTn id="12" dur="500"/>
                                        <p:tgtEl>
                                          <p:spTgt spid="3">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
                                            <p:txEl>
                                              <p:pRg st="3" end="3"/>
                                            </p:txEl>
                                          </p:spTgt>
                                        </p:tgtEl>
                                        <p:attrNameLst>
                                          <p:attrName>style.visibility</p:attrName>
                                        </p:attrNameLst>
                                      </p:cBhvr>
                                      <p:to>
                                        <p:strVal val="visible"/>
                                      </p:to>
                                    </p:set>
                                    <p:animEffect transition="in" filter="fade">
                                      <p:cBhvr>
                                        <p:cTn id="17" dur="500"/>
                                        <p:tgtEl>
                                          <p:spTgt spid="3">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第二节	国际金融危机的一般理论</a:t>
            </a:r>
            <a:endParaRPr lang="zh-CN" dirty="0"/>
          </a:p>
        </p:txBody>
      </p:sp>
      <p:sp>
        <p:nvSpPr>
          <p:cNvPr id="3" name="内容占位符 2"/>
          <p:cNvSpPr>
            <a:spLocks noGrp="1"/>
          </p:cNvSpPr>
          <p:nvPr>
            <p:ph idx="1"/>
          </p:nvPr>
        </p:nvSpPr>
        <p:spPr>
          <a:xfrm>
            <a:off x="971550" y="1447799"/>
            <a:ext cx="7200900" cy="4841879"/>
          </a:xfrm>
        </p:spPr>
        <p:txBody>
          <a:bodyPr>
            <a:normAutofit fontScale="92500" lnSpcReduction="10000"/>
          </a:bodyPr>
          <a:lstStyle/>
          <a:p>
            <a:pPr marL="514350" indent="-514350">
              <a:lnSpc>
                <a:spcPct val="100000"/>
              </a:lnSpc>
              <a:buFont typeface="+mj-lt"/>
              <a:buAutoNum type="arabicPeriod" startAt="2"/>
            </a:pPr>
            <a:r>
              <a:rPr lang="en-US" altLang="zh-CN" sz="2600" dirty="0" smtClean="0">
                <a:latin typeface="微软雅黑" panose="020B0503020204020204" pitchFamily="34" charset="-122"/>
                <a:ea typeface="微软雅黑" panose="020B0503020204020204" pitchFamily="34" charset="-122"/>
              </a:rPr>
              <a:t>International </a:t>
            </a:r>
            <a:r>
              <a:rPr lang="en-US" altLang="zh-CN" sz="2600" dirty="0">
                <a:latin typeface="微软雅黑" panose="020B0503020204020204" pitchFamily="34" charset="-122"/>
                <a:ea typeface="微软雅黑" panose="020B0503020204020204" pitchFamily="34" charset="-122"/>
              </a:rPr>
              <a:t>Debt Crisis</a:t>
            </a:r>
          </a:p>
          <a:p>
            <a:pPr marL="742950" lvl="1" indent="-514350">
              <a:lnSpc>
                <a:spcPct val="100000"/>
              </a:lnSpc>
              <a:buFont typeface="+mj-ea"/>
              <a:buAutoNum type="circleNumDbPlain" startAt="2"/>
            </a:pPr>
            <a:r>
              <a:rPr lang="zh-CN" altLang="en-US" sz="2400" dirty="0">
                <a:latin typeface="微软雅黑" panose="020B0503020204020204" pitchFamily="34" charset="-122"/>
                <a:ea typeface="微软雅黑" panose="020B0503020204020204" pitchFamily="34" charset="-122"/>
              </a:rPr>
              <a:t>债务危机的解决方案</a:t>
            </a:r>
          </a:p>
          <a:p>
            <a:pPr marL="0" lvl="2" indent="457200">
              <a:lnSpc>
                <a:spcPct val="110000"/>
              </a:lnSpc>
              <a:spcBef>
                <a:spcPts val="1800"/>
              </a:spcBef>
              <a:buNone/>
            </a:pPr>
            <a:r>
              <a:rPr lang="zh-CN" altLang="en-US" sz="2400" dirty="0">
                <a:latin typeface="微软雅黑" panose="020B0503020204020204" pitchFamily="34" charset="-122"/>
                <a:ea typeface="微软雅黑" panose="020B0503020204020204" pitchFamily="34" charset="-122"/>
              </a:rPr>
              <a:t>贝克计划（</a:t>
            </a:r>
            <a:r>
              <a:rPr lang="en-US" altLang="zh-CN" sz="2400" dirty="0">
                <a:latin typeface="微软雅黑" panose="020B0503020204020204" pitchFamily="34" charset="-122"/>
                <a:ea typeface="微软雅黑" panose="020B0503020204020204" pitchFamily="34" charset="-122"/>
              </a:rPr>
              <a:t>1985</a:t>
            </a:r>
            <a:r>
              <a:rPr lang="zh-CN" altLang="en-US" sz="2400" dirty="0">
                <a:latin typeface="微软雅黑" panose="020B0503020204020204" pitchFamily="34" charset="-122"/>
                <a:ea typeface="微软雅黑" panose="020B0503020204020204" pitchFamily="34" charset="-122"/>
              </a:rPr>
              <a:t>－</a:t>
            </a:r>
            <a:r>
              <a:rPr lang="en-US" altLang="zh-CN" sz="2400" dirty="0">
                <a:latin typeface="微软雅黑" panose="020B0503020204020204" pitchFamily="34" charset="-122"/>
                <a:ea typeface="微软雅黑" panose="020B0503020204020204" pitchFamily="34" charset="-122"/>
              </a:rPr>
              <a:t>88</a:t>
            </a:r>
            <a:r>
              <a:rPr lang="zh-CN" altLang="en-US" sz="2400" dirty="0">
                <a:latin typeface="微软雅黑" panose="020B0503020204020204" pitchFamily="34" charset="-122"/>
                <a:ea typeface="微软雅黑" panose="020B0503020204020204" pitchFamily="34" charset="-122"/>
              </a:rPr>
              <a:t>）</a:t>
            </a:r>
            <a:r>
              <a:rPr lang="en-US" altLang="zh-CN" sz="2400" dirty="0">
                <a:latin typeface="微软雅黑" panose="020B0503020204020204" pitchFamily="34" charset="-122"/>
                <a:ea typeface="微软雅黑" panose="020B0503020204020204" pitchFamily="34" charset="-122"/>
              </a:rPr>
              <a:t>——</a:t>
            </a:r>
            <a:r>
              <a:rPr lang="zh-CN" altLang="en-US" sz="2400" dirty="0">
                <a:latin typeface="微软雅黑" panose="020B0503020204020204" pitchFamily="34" charset="-122"/>
                <a:ea typeface="微软雅黑" panose="020B0503020204020204" pitchFamily="34" charset="-122"/>
              </a:rPr>
              <a:t>通过安排延长原有债务期限、新增贷款来促进债务国的经济增长，同时要求其调整国内政策。在贝克计划执行中，产生了一系列创新手段，如债务资本化、债权交换、债务回购等。	</a:t>
            </a:r>
          </a:p>
          <a:p>
            <a:pPr marL="0" lvl="2" indent="457200">
              <a:lnSpc>
                <a:spcPct val="110000"/>
              </a:lnSpc>
              <a:spcBef>
                <a:spcPts val="1800"/>
              </a:spcBef>
              <a:buNone/>
            </a:pPr>
            <a:r>
              <a:rPr lang="zh-CN" altLang="en-US" sz="2400" dirty="0" smtClean="0">
                <a:latin typeface="微软雅黑" panose="020B0503020204020204" pitchFamily="34" charset="-122"/>
                <a:ea typeface="微软雅黑" panose="020B0503020204020204" pitchFamily="34" charset="-122"/>
              </a:rPr>
              <a:t>布雷</a:t>
            </a:r>
            <a:r>
              <a:rPr lang="zh-CN" altLang="en-US" sz="2400" dirty="0">
                <a:latin typeface="微软雅黑" panose="020B0503020204020204" pitchFamily="34" charset="-122"/>
                <a:ea typeface="微软雅黑" panose="020B0503020204020204" pitchFamily="34" charset="-122"/>
              </a:rPr>
              <a:t>迪计划（</a:t>
            </a:r>
            <a:r>
              <a:rPr lang="en-US" altLang="zh-CN" sz="2400" dirty="0">
                <a:latin typeface="微软雅黑" panose="020B0503020204020204" pitchFamily="34" charset="-122"/>
                <a:ea typeface="微软雅黑" panose="020B0503020204020204" pitchFamily="34" charset="-122"/>
              </a:rPr>
              <a:t>1989</a:t>
            </a:r>
            <a:r>
              <a:rPr lang="zh-CN" altLang="en-US" sz="2400" dirty="0">
                <a:latin typeface="微软雅黑" panose="020B0503020204020204" pitchFamily="34" charset="-122"/>
                <a:ea typeface="微软雅黑" panose="020B0503020204020204" pitchFamily="34" charset="-122"/>
              </a:rPr>
              <a:t>年后）</a:t>
            </a:r>
            <a:r>
              <a:rPr lang="en-US" altLang="zh-CN" sz="2400" dirty="0">
                <a:latin typeface="微软雅黑" panose="020B0503020204020204" pitchFamily="34" charset="-122"/>
                <a:ea typeface="微软雅黑" panose="020B0503020204020204" pitchFamily="34" charset="-122"/>
              </a:rPr>
              <a:t>——</a:t>
            </a:r>
            <a:r>
              <a:rPr lang="zh-CN" altLang="en-US" sz="2400" dirty="0">
                <a:latin typeface="微软雅黑" panose="020B0503020204020204" pitchFamily="34" charset="-122"/>
                <a:ea typeface="微软雅黑" panose="020B0503020204020204" pitchFamily="34" charset="-122"/>
              </a:rPr>
              <a:t>鉴于许多银行对不良债务失去了信心，因此，提出在自愿的、市场导向的基础上，对原有债务采取各种形式的减免。</a:t>
            </a:r>
          </a:p>
          <a:p>
            <a:pPr marL="0" lvl="2" indent="457200">
              <a:lnSpc>
                <a:spcPct val="110000"/>
              </a:lnSpc>
              <a:spcBef>
                <a:spcPts val="1800"/>
              </a:spcBef>
              <a:buNone/>
            </a:pPr>
            <a:r>
              <a:rPr lang="en-US" altLang="zh-CN" sz="2400" dirty="0" smtClean="0">
                <a:latin typeface="微软雅黑" panose="020B0503020204020204" pitchFamily="34" charset="-122"/>
                <a:ea typeface="微软雅黑" panose="020B0503020204020204" pitchFamily="34" charset="-122"/>
              </a:rPr>
              <a:t>1990</a:t>
            </a:r>
            <a:r>
              <a:rPr lang="zh-CN" altLang="en-US" sz="2400" dirty="0">
                <a:latin typeface="微软雅黑" panose="020B0503020204020204" pitchFamily="34" charset="-122"/>
                <a:ea typeface="微软雅黑" panose="020B0503020204020204" pitchFamily="34" charset="-122"/>
              </a:rPr>
              <a:t>年后，美国利率显著下降，债务国的政策调整也初见成效。</a:t>
            </a:r>
            <a:r>
              <a:rPr lang="en-US" altLang="zh-CN" sz="2400" dirty="0">
                <a:latin typeface="微软雅黑" panose="020B0503020204020204" pitchFamily="34" charset="-122"/>
                <a:ea typeface="微软雅黑" panose="020B0503020204020204" pitchFamily="34" charset="-122"/>
              </a:rPr>
              <a:t>1992</a:t>
            </a:r>
            <a:r>
              <a:rPr lang="zh-CN" altLang="en-US" sz="2400" dirty="0">
                <a:latin typeface="微软雅黑" panose="020B0503020204020204" pitchFamily="34" charset="-122"/>
                <a:ea typeface="微软雅黑" panose="020B0503020204020204" pitchFamily="34" charset="-122"/>
              </a:rPr>
              <a:t>年，债务危机基本宣告结束。</a:t>
            </a:r>
          </a:p>
        </p:txBody>
      </p:sp>
      <p:sp>
        <p:nvSpPr>
          <p:cNvPr id="5" name="页脚占位符 4"/>
          <p:cNvSpPr>
            <a:spLocks noGrp="1"/>
          </p:cNvSpPr>
          <p:nvPr>
            <p:ph type="ftr" sz="quarter" idx="11"/>
          </p:nvPr>
        </p:nvSpPr>
        <p:spPr/>
        <p:txBody>
          <a:bodyPr/>
          <a:lstStyle/>
          <a:p>
            <a:r>
              <a:rPr lang="zh-CN" altLang="en-US" smtClean="0"/>
              <a:t>国际金融学 范小云</a:t>
            </a:r>
            <a:endParaRPr lang="zh-CN" altLang="en-US" dirty="0"/>
          </a:p>
        </p:txBody>
      </p:sp>
    </p:spTree>
    <p:extLst>
      <p:ext uri="{BB962C8B-B14F-4D97-AF65-F5344CB8AC3E}">
        <p14:creationId xmlns:p14="http://schemas.microsoft.com/office/powerpoint/2010/main" val="301946408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animEffect transition="in" filter="fade">
                                      <p:cBhvr>
                                        <p:cTn id="7" dur="500"/>
                                        <p:tgtEl>
                                          <p:spTgt spid="3">
                                            <p:txEl>
                                              <p:pRg st="2" end="2"/>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3" end="3"/>
                                            </p:txEl>
                                          </p:spTgt>
                                        </p:tgtEl>
                                        <p:attrNameLst>
                                          <p:attrName>style.visibility</p:attrName>
                                        </p:attrNameLst>
                                      </p:cBhvr>
                                      <p:to>
                                        <p:strVal val="visible"/>
                                      </p:to>
                                    </p:set>
                                    <p:animEffect transition="in" filter="fade">
                                      <p:cBhvr>
                                        <p:cTn id="12" dur="500"/>
                                        <p:tgtEl>
                                          <p:spTgt spid="3">
                                            <p:txEl>
                                              <p:pRg st="3" end="3"/>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
                                            <p:txEl>
                                              <p:pRg st="4" end="4"/>
                                            </p:txEl>
                                          </p:spTgt>
                                        </p:tgtEl>
                                        <p:attrNameLst>
                                          <p:attrName>style.visibility</p:attrName>
                                        </p:attrNameLst>
                                      </p:cBhvr>
                                      <p:to>
                                        <p:strVal val="visible"/>
                                      </p:to>
                                    </p:set>
                                    <p:animEffect transition="in" filter="fade">
                                      <p:cBhvr>
                                        <p:cTn id="17" dur="500"/>
                                        <p:tgtEl>
                                          <p:spTgt spid="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第二节	国际金融危机的一般理论</a:t>
            </a:r>
            <a:endParaRPr lang="zh-CN" dirty="0"/>
          </a:p>
        </p:txBody>
      </p:sp>
      <p:sp>
        <p:nvSpPr>
          <p:cNvPr id="3" name="内容占位符 2"/>
          <p:cNvSpPr>
            <a:spLocks noGrp="1"/>
          </p:cNvSpPr>
          <p:nvPr>
            <p:ph idx="1"/>
          </p:nvPr>
        </p:nvSpPr>
        <p:spPr>
          <a:xfrm>
            <a:off x="945046" y="1341782"/>
            <a:ext cx="7200900" cy="4841879"/>
          </a:xfrm>
        </p:spPr>
        <p:txBody>
          <a:bodyPr>
            <a:normAutofit/>
          </a:bodyPr>
          <a:lstStyle/>
          <a:p>
            <a:pPr marL="514350" indent="-514350">
              <a:lnSpc>
                <a:spcPct val="100000"/>
              </a:lnSpc>
              <a:buFont typeface="+mj-lt"/>
              <a:buAutoNum type="arabicPeriod" startAt="3"/>
            </a:pPr>
            <a:r>
              <a:rPr lang="en-US" altLang="zh-CN" sz="2400" dirty="0">
                <a:latin typeface="微软雅黑" panose="020B0503020204020204" pitchFamily="34" charset="-122"/>
                <a:ea typeface="微软雅黑" panose="020B0503020204020204" pitchFamily="34" charset="-122"/>
              </a:rPr>
              <a:t>The Asian Financial Crash</a:t>
            </a:r>
          </a:p>
          <a:p>
            <a:pPr marL="0" lvl="2" indent="457200">
              <a:lnSpc>
                <a:spcPct val="110000"/>
              </a:lnSpc>
              <a:spcBef>
                <a:spcPts val="1800"/>
              </a:spcBef>
              <a:buNone/>
            </a:pPr>
            <a:r>
              <a:rPr lang="zh-CN" altLang="en-US" sz="2400" dirty="0" smtClean="0">
                <a:latin typeface="微软雅黑" panose="020B0503020204020204" pitchFamily="34" charset="-122"/>
                <a:ea typeface="微软雅黑" panose="020B0503020204020204" pitchFamily="34" charset="-122"/>
              </a:rPr>
              <a:t>亚洲</a:t>
            </a:r>
            <a:r>
              <a:rPr lang="zh-CN" altLang="en-US" sz="2400" dirty="0">
                <a:latin typeface="微软雅黑" panose="020B0503020204020204" pitchFamily="34" charset="-122"/>
                <a:ea typeface="微软雅黑" panose="020B0503020204020204" pitchFamily="34" charset="-122"/>
              </a:rPr>
              <a:t>“四小龙”（香港，新加坡，韩国和台湾）、“四小虎”（印度尼西亚，马来西亚，菲律宾，泰国）在亚洲金融危机发生之前都是经济发展成功的典范。</a:t>
            </a:r>
          </a:p>
          <a:p>
            <a:pPr marL="0" lvl="2" indent="457200">
              <a:lnSpc>
                <a:spcPct val="110000"/>
              </a:lnSpc>
              <a:spcBef>
                <a:spcPts val="1800"/>
              </a:spcBef>
              <a:buNone/>
            </a:pPr>
            <a:r>
              <a:rPr lang="zh-CN" altLang="en-US" sz="2400" dirty="0" smtClean="0">
                <a:latin typeface="微软雅黑" panose="020B0503020204020204" pitchFamily="34" charset="-122"/>
                <a:ea typeface="微软雅黑" panose="020B0503020204020204" pitchFamily="34" charset="-122"/>
              </a:rPr>
              <a:t>到</a:t>
            </a:r>
            <a:r>
              <a:rPr lang="zh-CN" altLang="en-US" sz="2400" dirty="0">
                <a:latin typeface="微软雅黑" panose="020B0503020204020204" pitchFamily="34" charset="-122"/>
                <a:ea typeface="微软雅黑" panose="020B0503020204020204" pitchFamily="34" charset="-122"/>
              </a:rPr>
              <a:t>金融危机结束时，美元相对于马来西亚、菲律宾、泰国、韩国和印度尼西亚的货币，分别升值</a:t>
            </a:r>
            <a:r>
              <a:rPr lang="en-US" altLang="zh-CN" sz="2400" dirty="0">
                <a:latin typeface="微软雅黑" panose="020B0503020204020204" pitchFamily="34" charset="-122"/>
                <a:ea typeface="微软雅黑" panose="020B0503020204020204" pitchFamily="34" charset="-122"/>
              </a:rPr>
              <a:t>52</a:t>
            </a:r>
            <a:r>
              <a:rPr lang="zh-CN" altLang="en-US" sz="2400" dirty="0">
                <a:latin typeface="微软雅黑" panose="020B0503020204020204" pitchFamily="34" charset="-122"/>
                <a:ea typeface="微软雅黑" panose="020B0503020204020204" pitchFamily="34" charset="-122"/>
              </a:rPr>
              <a:t>％、</a:t>
            </a:r>
            <a:r>
              <a:rPr lang="en-US" altLang="zh-CN" sz="2400" dirty="0">
                <a:latin typeface="微软雅黑" panose="020B0503020204020204" pitchFamily="34" charset="-122"/>
                <a:ea typeface="微软雅黑" panose="020B0503020204020204" pitchFamily="34" charset="-122"/>
              </a:rPr>
              <a:t>52</a:t>
            </a:r>
            <a:r>
              <a:rPr lang="zh-CN" altLang="en-US" sz="2400" dirty="0">
                <a:latin typeface="微软雅黑" panose="020B0503020204020204" pitchFamily="34" charset="-122"/>
                <a:ea typeface="微软雅黑" panose="020B0503020204020204" pitchFamily="34" charset="-122"/>
              </a:rPr>
              <a:t>％、</a:t>
            </a:r>
            <a:r>
              <a:rPr lang="en-US" altLang="zh-CN" sz="2400" dirty="0">
                <a:latin typeface="微软雅黑" panose="020B0503020204020204" pitchFamily="34" charset="-122"/>
                <a:ea typeface="微软雅黑" panose="020B0503020204020204" pitchFamily="34" charset="-122"/>
              </a:rPr>
              <a:t>78</a:t>
            </a:r>
            <a:r>
              <a:rPr lang="zh-CN" altLang="en-US" sz="2400" dirty="0">
                <a:latin typeface="微软雅黑" panose="020B0503020204020204" pitchFamily="34" charset="-122"/>
                <a:ea typeface="微软雅黑" panose="020B0503020204020204" pitchFamily="34" charset="-122"/>
              </a:rPr>
              <a:t>％、</a:t>
            </a:r>
            <a:r>
              <a:rPr lang="en-US" altLang="zh-CN" sz="2400" dirty="0">
                <a:latin typeface="微软雅黑" panose="020B0503020204020204" pitchFamily="34" charset="-122"/>
                <a:ea typeface="微软雅黑" panose="020B0503020204020204" pitchFamily="34" charset="-122"/>
              </a:rPr>
              <a:t>107</a:t>
            </a:r>
            <a:r>
              <a:rPr lang="zh-CN" altLang="en-US" sz="2400" dirty="0">
                <a:latin typeface="微软雅黑" panose="020B0503020204020204" pitchFamily="34" charset="-122"/>
                <a:ea typeface="微软雅黑" panose="020B0503020204020204" pitchFamily="34" charset="-122"/>
              </a:rPr>
              <a:t>％、</a:t>
            </a:r>
            <a:r>
              <a:rPr lang="en-US" altLang="zh-CN" sz="2400" dirty="0">
                <a:latin typeface="微软雅黑" panose="020B0503020204020204" pitchFamily="34" charset="-122"/>
                <a:ea typeface="微软雅黑" panose="020B0503020204020204" pitchFamily="34" charset="-122"/>
              </a:rPr>
              <a:t>151</a:t>
            </a:r>
            <a:r>
              <a:rPr lang="zh-CN" altLang="en-US" sz="2400" dirty="0">
                <a:latin typeface="微软雅黑" panose="020B0503020204020204" pitchFamily="34" charset="-122"/>
                <a:ea typeface="微软雅黑" panose="020B0503020204020204" pitchFamily="34" charset="-122"/>
              </a:rPr>
              <a:t>％。许多金融机构、工业商业企业都破产，产出大幅度下跌。</a:t>
            </a:r>
          </a:p>
        </p:txBody>
      </p:sp>
      <p:sp>
        <p:nvSpPr>
          <p:cNvPr id="5" name="页脚占位符 4"/>
          <p:cNvSpPr>
            <a:spLocks noGrp="1"/>
          </p:cNvSpPr>
          <p:nvPr>
            <p:ph type="ftr" sz="quarter" idx="11"/>
          </p:nvPr>
        </p:nvSpPr>
        <p:spPr/>
        <p:txBody>
          <a:bodyPr/>
          <a:lstStyle/>
          <a:p>
            <a:r>
              <a:rPr lang="zh-CN" altLang="en-US" dirty="0" smtClean="0"/>
              <a:t>国际金融学 范小云</a:t>
            </a:r>
            <a:endParaRPr lang="zh-CN" altLang="en-US" dirty="0"/>
          </a:p>
        </p:txBody>
      </p:sp>
    </p:spTree>
    <p:extLst>
      <p:ext uri="{BB962C8B-B14F-4D97-AF65-F5344CB8AC3E}">
        <p14:creationId xmlns:p14="http://schemas.microsoft.com/office/powerpoint/2010/main" val="303942542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Effect transition="in" filter="fade">
                                      <p:cBhvr>
                                        <p:cTn id="7" dur="500"/>
                                        <p:tgtEl>
                                          <p:spTgt spid="3">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2" end="2"/>
                                            </p:txEl>
                                          </p:spTgt>
                                        </p:tgtEl>
                                        <p:attrNameLst>
                                          <p:attrName>style.visibility</p:attrName>
                                        </p:attrNameLst>
                                      </p:cBhvr>
                                      <p:to>
                                        <p:strVal val="visible"/>
                                      </p:to>
                                    </p:set>
                                    <p:animEffect transition="in" filter="fade">
                                      <p:cBhvr>
                                        <p:cTn id="12" dur="500"/>
                                        <p:tgtEl>
                                          <p:spTgt spid="3">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页脚占位符 3"/>
          <p:cNvSpPr>
            <a:spLocks noGrp="1"/>
          </p:cNvSpPr>
          <p:nvPr>
            <p:ph type="ftr" sz="quarter" idx="11"/>
          </p:nvPr>
        </p:nvSpPr>
        <p:spPr/>
        <p:txBody>
          <a:bodyPr/>
          <a:lstStyle/>
          <a:p>
            <a:r>
              <a:rPr lang="zh-CN" altLang="en-US" smtClean="0"/>
              <a:t>国际金融学 范小云</a:t>
            </a:r>
            <a:endParaRPr lang="zh-CN" altLang="en-US" dirty="0"/>
          </a:p>
        </p:txBody>
      </p:sp>
      <p:graphicFrame>
        <p:nvGraphicFramePr>
          <p:cNvPr id="5" name="Group 233"/>
          <p:cNvGraphicFramePr>
            <a:graphicFrameLocks noGrp="1"/>
          </p:cNvGraphicFramePr>
          <p:nvPr/>
        </p:nvGraphicFramePr>
        <p:xfrm>
          <a:off x="622852" y="1033671"/>
          <a:ext cx="8030817" cy="4849945"/>
        </p:xfrm>
        <a:graphic>
          <a:graphicData uri="http://schemas.openxmlformats.org/drawingml/2006/table">
            <a:tbl>
              <a:tblPr/>
              <a:tblGrid>
                <a:gridCol w="1440311">
                  <a:extLst>
                    <a:ext uri="{9D8B030D-6E8A-4147-A177-3AD203B41FA5}">
                      <a16:colId xmlns:a16="http://schemas.microsoft.com/office/drawing/2014/main" val="20000"/>
                    </a:ext>
                  </a:extLst>
                </a:gridCol>
                <a:gridCol w="1854945">
                  <a:extLst>
                    <a:ext uri="{9D8B030D-6E8A-4147-A177-3AD203B41FA5}">
                      <a16:colId xmlns:a16="http://schemas.microsoft.com/office/drawing/2014/main" val="20001"/>
                    </a:ext>
                  </a:extLst>
                </a:gridCol>
                <a:gridCol w="1578520">
                  <a:extLst>
                    <a:ext uri="{9D8B030D-6E8A-4147-A177-3AD203B41FA5}">
                      <a16:colId xmlns:a16="http://schemas.microsoft.com/office/drawing/2014/main" val="20002"/>
                    </a:ext>
                  </a:extLst>
                </a:gridCol>
                <a:gridCol w="1578521">
                  <a:extLst>
                    <a:ext uri="{9D8B030D-6E8A-4147-A177-3AD203B41FA5}">
                      <a16:colId xmlns:a16="http://schemas.microsoft.com/office/drawing/2014/main" val="20003"/>
                    </a:ext>
                  </a:extLst>
                </a:gridCol>
                <a:gridCol w="1578520">
                  <a:extLst>
                    <a:ext uri="{9D8B030D-6E8A-4147-A177-3AD203B41FA5}">
                      <a16:colId xmlns:a16="http://schemas.microsoft.com/office/drawing/2014/main" val="20004"/>
                    </a:ext>
                  </a:extLst>
                </a:gridCol>
              </a:tblGrid>
              <a:tr h="521068">
                <a:tc>
                  <a:txBody>
                    <a:bodyPr/>
                    <a:lstStyle/>
                    <a:p>
                      <a:pPr marL="0" marR="0" lvl="0" indent="0" algn="l" defTabSz="914400" rtl="0" eaLnBrk="1" fontAlgn="b" latinLnBrk="0" hangingPunct="1">
                        <a:lnSpc>
                          <a:spcPct val="100000"/>
                        </a:lnSpc>
                        <a:spcBef>
                          <a:spcPct val="0"/>
                        </a:spcBef>
                        <a:spcAft>
                          <a:spcPct val="0"/>
                        </a:spcAft>
                        <a:buClrTx/>
                        <a:buSzTx/>
                        <a:buFontTx/>
                        <a:buNone/>
                        <a:tabLst/>
                      </a:pPr>
                      <a:r>
                        <a:rPr kumimoji="0" lang="zh-CN" altLang="en-US" sz="2000" b="1" i="0" u="none" strike="noStrike" cap="none" normalizeH="0" baseline="0" dirty="0" smtClean="0">
                          <a:ln>
                            <a:noFill/>
                          </a:ln>
                          <a:solidFill>
                            <a:schemeClr val="tx1"/>
                          </a:solidFill>
                          <a:effectLst/>
                          <a:latin typeface="宋体" pitchFamily="2" charset="-122"/>
                          <a:ea typeface="宋体" pitchFamily="2" charset="-122"/>
                        </a:rPr>
                        <a:t>　</a:t>
                      </a:r>
                      <a:endParaRPr kumimoji="0" lang="zh-CN" altLang="en-US" sz="2000" b="1" i="0" u="none" strike="noStrike" cap="none" normalizeH="0" baseline="0" dirty="0" smtClean="0">
                        <a:ln>
                          <a:noFill/>
                        </a:ln>
                        <a:solidFill>
                          <a:schemeClr val="tx1"/>
                        </a:solidFill>
                        <a:effectLst/>
                        <a:latin typeface="Arial" charset="0"/>
                        <a:ea typeface="宋体" pitchFamily="2"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lumMod val="95000"/>
                      </a:schemeClr>
                    </a:solidFill>
                  </a:tcPr>
                </a:tc>
                <a:tc gridSpan="2">
                  <a:txBody>
                    <a:bodyPr/>
                    <a:lstStyle/>
                    <a:p>
                      <a:pPr marL="0" marR="0" lvl="0" indent="0" algn="l" defTabSz="914400" rtl="0" eaLnBrk="1" fontAlgn="b" latinLnBrk="0" hangingPunct="1">
                        <a:lnSpc>
                          <a:spcPct val="100000"/>
                        </a:lnSpc>
                        <a:spcBef>
                          <a:spcPct val="0"/>
                        </a:spcBef>
                        <a:spcAft>
                          <a:spcPct val="0"/>
                        </a:spcAft>
                        <a:buClrTx/>
                        <a:buSzTx/>
                        <a:buFontTx/>
                        <a:buNone/>
                        <a:tabLst/>
                      </a:pPr>
                      <a:r>
                        <a:rPr kumimoji="0" lang="zh-CN" altLang="en-US" sz="2000" b="1" i="0" u="none" strike="noStrike" cap="none" normalizeH="0" baseline="0" dirty="0" smtClean="0">
                          <a:ln>
                            <a:noFill/>
                          </a:ln>
                          <a:solidFill>
                            <a:schemeClr val="tx1"/>
                          </a:solidFill>
                          <a:effectLst/>
                          <a:latin typeface="宋体" pitchFamily="2" charset="-122"/>
                          <a:ea typeface="宋体" pitchFamily="2" charset="-122"/>
                        </a:rPr>
                        <a:t>对美元汇率（每美元）</a:t>
                      </a:r>
                      <a:endParaRPr kumimoji="0" lang="zh-CN" altLang="en-US" sz="2000" b="1" i="0" u="none" strike="noStrike" cap="none" normalizeH="0" baseline="0" dirty="0" smtClean="0">
                        <a:ln>
                          <a:noFill/>
                        </a:ln>
                        <a:solidFill>
                          <a:schemeClr val="tx1"/>
                        </a:solidFill>
                        <a:effectLst/>
                        <a:latin typeface="Arial" charset="0"/>
                        <a:ea typeface="宋体" pitchFamily="2"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lumMod val="95000"/>
                      </a:schemeClr>
                    </a:solidFill>
                  </a:tcPr>
                </a:tc>
                <a:tc hMerge="1">
                  <a:txBody>
                    <a:bodyPr/>
                    <a:lstStyle/>
                    <a:p>
                      <a:endParaRPr lang="zh-CN" altLang="en-US"/>
                    </a:p>
                  </a:txBody>
                  <a:tcPr/>
                </a:tc>
                <a:tc gridSpan="2">
                  <a:txBody>
                    <a:bodyPr/>
                    <a:lstStyle/>
                    <a:p>
                      <a:pPr marL="0" marR="0" lvl="0" indent="0" algn="l" defTabSz="914400" rtl="0" eaLnBrk="1" fontAlgn="b" latinLnBrk="0" hangingPunct="1">
                        <a:lnSpc>
                          <a:spcPct val="100000"/>
                        </a:lnSpc>
                        <a:spcBef>
                          <a:spcPct val="0"/>
                        </a:spcBef>
                        <a:spcAft>
                          <a:spcPct val="0"/>
                        </a:spcAft>
                        <a:buClrTx/>
                        <a:buSzTx/>
                        <a:buFontTx/>
                        <a:buNone/>
                        <a:tabLst/>
                      </a:pPr>
                      <a:r>
                        <a:rPr kumimoji="0" lang="en-US" altLang="zh-CN" sz="2000" b="1" i="0" u="none" strike="noStrike" cap="none" normalizeH="0" baseline="0" smtClean="0">
                          <a:ln>
                            <a:noFill/>
                          </a:ln>
                          <a:solidFill>
                            <a:schemeClr val="tx1"/>
                          </a:solidFill>
                          <a:effectLst/>
                          <a:latin typeface="宋体" pitchFamily="2" charset="-122"/>
                          <a:ea typeface="宋体" pitchFamily="2" charset="-122"/>
                        </a:rPr>
                        <a:t>GNP</a:t>
                      </a:r>
                      <a:r>
                        <a:rPr kumimoji="0" lang="zh-CN" altLang="en-US" sz="2000" b="1" i="0" u="none" strike="noStrike" cap="none" normalizeH="0" baseline="0" smtClean="0">
                          <a:ln>
                            <a:noFill/>
                          </a:ln>
                          <a:solidFill>
                            <a:schemeClr val="tx1"/>
                          </a:solidFill>
                          <a:effectLst/>
                          <a:latin typeface="宋体" pitchFamily="2" charset="-122"/>
                          <a:ea typeface="宋体" pitchFamily="2" charset="-122"/>
                        </a:rPr>
                        <a:t>（</a:t>
                      </a:r>
                      <a:r>
                        <a:rPr kumimoji="0" lang="en-US" altLang="zh-CN" sz="2000" b="1" i="0" u="none" strike="noStrike" cap="none" normalizeH="0" baseline="0" smtClean="0">
                          <a:ln>
                            <a:noFill/>
                          </a:ln>
                          <a:solidFill>
                            <a:schemeClr val="tx1"/>
                          </a:solidFill>
                          <a:effectLst/>
                          <a:latin typeface="宋体" pitchFamily="2" charset="-122"/>
                          <a:ea typeface="宋体" pitchFamily="2" charset="-122"/>
                        </a:rPr>
                        <a:t>10</a:t>
                      </a:r>
                      <a:r>
                        <a:rPr kumimoji="0" lang="zh-CN" altLang="en-US" sz="2000" b="1" i="0" u="none" strike="noStrike" cap="none" normalizeH="0" baseline="0" smtClean="0">
                          <a:ln>
                            <a:noFill/>
                          </a:ln>
                          <a:solidFill>
                            <a:schemeClr val="tx1"/>
                          </a:solidFill>
                          <a:effectLst/>
                          <a:latin typeface="宋体" pitchFamily="2" charset="-122"/>
                          <a:ea typeface="宋体" pitchFamily="2" charset="-122"/>
                        </a:rPr>
                        <a:t>亿美元）</a:t>
                      </a:r>
                      <a:endParaRPr kumimoji="0" lang="zh-CN" altLang="en-US" sz="2000" b="1" i="0" u="none" strike="noStrike" cap="none" normalizeH="0" baseline="0" smtClean="0">
                        <a:ln>
                          <a:noFill/>
                        </a:ln>
                        <a:solidFill>
                          <a:schemeClr val="tx1"/>
                        </a:solidFill>
                        <a:effectLst/>
                        <a:latin typeface="Arial" charset="0"/>
                        <a:ea typeface="宋体" pitchFamily="2"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lumMod val="95000"/>
                      </a:schemeClr>
                    </a:solidFill>
                  </a:tcPr>
                </a:tc>
                <a:tc hMerge="1">
                  <a:txBody>
                    <a:bodyPr/>
                    <a:lstStyle/>
                    <a:p>
                      <a:endParaRPr lang="zh-CN" altLang="en-US"/>
                    </a:p>
                  </a:txBody>
                  <a:tcPr/>
                </a:tc>
                <a:extLst>
                  <a:ext uri="{0D108BD9-81ED-4DB2-BD59-A6C34878D82A}">
                    <a16:rowId xmlns:a16="http://schemas.microsoft.com/office/drawing/2014/main" val="10000"/>
                  </a:ext>
                </a:extLst>
              </a:tr>
              <a:tr h="921891">
                <a:tc>
                  <a:txBody>
                    <a:bodyPr/>
                    <a:lstStyle/>
                    <a:p>
                      <a:pPr marL="0" marR="0" lvl="0" indent="0" algn="l" defTabSz="914400" rtl="0" eaLnBrk="1" fontAlgn="b" latinLnBrk="0" hangingPunct="1">
                        <a:lnSpc>
                          <a:spcPct val="100000"/>
                        </a:lnSpc>
                        <a:spcBef>
                          <a:spcPct val="0"/>
                        </a:spcBef>
                        <a:spcAft>
                          <a:spcPct val="0"/>
                        </a:spcAft>
                        <a:buClrTx/>
                        <a:buSzTx/>
                        <a:buFontTx/>
                        <a:buNone/>
                        <a:tabLst/>
                      </a:pPr>
                      <a:r>
                        <a:rPr kumimoji="0" lang="zh-CN" altLang="en-US" sz="2000" b="1" i="0" u="none" strike="noStrike" cap="none" normalizeH="0" baseline="0" dirty="0" smtClean="0">
                          <a:ln>
                            <a:noFill/>
                          </a:ln>
                          <a:solidFill>
                            <a:schemeClr val="tx1"/>
                          </a:solidFill>
                          <a:effectLst/>
                          <a:latin typeface="宋体" pitchFamily="2" charset="-122"/>
                          <a:ea typeface="宋体" pitchFamily="2" charset="-122"/>
                        </a:rPr>
                        <a:t>　</a:t>
                      </a:r>
                      <a:endParaRPr kumimoji="0" lang="zh-CN" altLang="en-US" sz="2000" b="1" i="0" u="none" strike="noStrike" cap="none" normalizeH="0" baseline="0" dirty="0" smtClean="0">
                        <a:ln>
                          <a:noFill/>
                        </a:ln>
                        <a:solidFill>
                          <a:schemeClr val="tx1"/>
                        </a:solidFill>
                        <a:effectLst/>
                        <a:latin typeface="Arial" charset="0"/>
                        <a:ea typeface="宋体" pitchFamily="2"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lumMod val="95000"/>
                      </a:schemeClr>
                    </a:solidFill>
                  </a:tcPr>
                </a:tc>
                <a:tc>
                  <a:txBody>
                    <a:bodyPr/>
                    <a:lstStyle/>
                    <a:p>
                      <a:pPr marL="0" marR="0" lvl="0" indent="0" algn="l" defTabSz="914400" rtl="0" eaLnBrk="1" fontAlgn="b" latinLnBrk="0" hangingPunct="1">
                        <a:lnSpc>
                          <a:spcPct val="100000"/>
                        </a:lnSpc>
                        <a:spcBef>
                          <a:spcPct val="0"/>
                        </a:spcBef>
                        <a:spcAft>
                          <a:spcPct val="0"/>
                        </a:spcAft>
                        <a:buClrTx/>
                        <a:buSzTx/>
                        <a:buFontTx/>
                        <a:buNone/>
                        <a:tabLst/>
                      </a:pPr>
                      <a:r>
                        <a:rPr kumimoji="0" lang="en-US" altLang="zh-CN" sz="2000" b="1" i="0" u="none" strike="noStrike" cap="none" normalizeH="0" baseline="0" dirty="0" smtClean="0">
                          <a:ln>
                            <a:noFill/>
                          </a:ln>
                          <a:solidFill>
                            <a:schemeClr val="tx1"/>
                          </a:solidFill>
                          <a:effectLst/>
                          <a:latin typeface="宋体" pitchFamily="2" charset="-122"/>
                          <a:ea typeface="宋体" pitchFamily="2" charset="-122"/>
                        </a:rPr>
                        <a:t>1997</a:t>
                      </a:r>
                      <a:r>
                        <a:rPr kumimoji="0" lang="zh-CN" altLang="en-US" sz="2000" b="1" i="0" u="none" strike="noStrike" cap="none" normalizeH="0" baseline="0" dirty="0" smtClean="0">
                          <a:ln>
                            <a:noFill/>
                          </a:ln>
                          <a:solidFill>
                            <a:schemeClr val="tx1"/>
                          </a:solidFill>
                          <a:effectLst/>
                          <a:latin typeface="宋体" pitchFamily="2" charset="-122"/>
                          <a:ea typeface="宋体" pitchFamily="2" charset="-122"/>
                        </a:rPr>
                        <a:t>年</a:t>
                      </a:r>
                      <a:r>
                        <a:rPr kumimoji="0" lang="en-US" altLang="zh-CN" sz="2000" b="1" i="0" u="none" strike="noStrike" cap="none" normalizeH="0" baseline="0" dirty="0" smtClean="0">
                          <a:ln>
                            <a:noFill/>
                          </a:ln>
                          <a:solidFill>
                            <a:schemeClr val="tx1"/>
                          </a:solidFill>
                          <a:effectLst/>
                          <a:latin typeface="宋体" pitchFamily="2" charset="-122"/>
                          <a:ea typeface="宋体" pitchFamily="2" charset="-122"/>
                        </a:rPr>
                        <a:t>6</a:t>
                      </a:r>
                      <a:r>
                        <a:rPr kumimoji="0" lang="zh-CN" altLang="en-US" sz="2000" b="1" i="0" u="none" strike="noStrike" cap="none" normalizeH="0" baseline="0" dirty="0" smtClean="0">
                          <a:ln>
                            <a:noFill/>
                          </a:ln>
                          <a:solidFill>
                            <a:schemeClr val="tx1"/>
                          </a:solidFill>
                          <a:effectLst/>
                          <a:latin typeface="宋体" pitchFamily="2" charset="-122"/>
                          <a:ea typeface="宋体" pitchFamily="2" charset="-122"/>
                        </a:rPr>
                        <a:t>月</a:t>
                      </a:r>
                      <a:endParaRPr kumimoji="0" lang="zh-CN" altLang="en-US" sz="2000" b="1" i="0" u="none" strike="noStrike" cap="none" normalizeH="0" baseline="0" dirty="0" smtClean="0">
                        <a:ln>
                          <a:noFill/>
                        </a:ln>
                        <a:solidFill>
                          <a:schemeClr val="tx1"/>
                        </a:solidFill>
                        <a:effectLst/>
                        <a:latin typeface="Arial" charset="0"/>
                        <a:ea typeface="宋体" pitchFamily="2"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lumMod val="95000"/>
                      </a:schemeClr>
                    </a:solidFill>
                  </a:tcPr>
                </a:tc>
                <a:tc>
                  <a:txBody>
                    <a:bodyPr/>
                    <a:lstStyle/>
                    <a:p>
                      <a:pPr marL="0" marR="0" lvl="0" indent="0" algn="l" defTabSz="914400" rtl="0" eaLnBrk="1" fontAlgn="b" latinLnBrk="0" hangingPunct="1">
                        <a:lnSpc>
                          <a:spcPct val="100000"/>
                        </a:lnSpc>
                        <a:spcBef>
                          <a:spcPct val="0"/>
                        </a:spcBef>
                        <a:spcAft>
                          <a:spcPct val="0"/>
                        </a:spcAft>
                        <a:buClrTx/>
                        <a:buSzTx/>
                        <a:buFontTx/>
                        <a:buNone/>
                        <a:tabLst/>
                      </a:pPr>
                      <a:r>
                        <a:rPr kumimoji="0" lang="en-US" altLang="zh-CN" sz="2000" b="1" i="0" u="none" strike="noStrike" cap="none" normalizeH="0" baseline="0" dirty="0" smtClean="0">
                          <a:ln>
                            <a:noFill/>
                          </a:ln>
                          <a:solidFill>
                            <a:schemeClr val="tx1"/>
                          </a:solidFill>
                          <a:effectLst/>
                          <a:latin typeface="宋体" pitchFamily="2" charset="-122"/>
                          <a:ea typeface="宋体" pitchFamily="2" charset="-122"/>
                        </a:rPr>
                        <a:t>1998</a:t>
                      </a:r>
                      <a:r>
                        <a:rPr kumimoji="0" lang="zh-CN" altLang="en-US" sz="2000" b="1" i="0" u="none" strike="noStrike" cap="none" normalizeH="0" baseline="0" dirty="0" smtClean="0">
                          <a:ln>
                            <a:noFill/>
                          </a:ln>
                          <a:solidFill>
                            <a:schemeClr val="tx1"/>
                          </a:solidFill>
                          <a:effectLst/>
                          <a:latin typeface="宋体" pitchFamily="2" charset="-122"/>
                          <a:ea typeface="宋体" pitchFamily="2" charset="-122"/>
                        </a:rPr>
                        <a:t>年</a:t>
                      </a:r>
                      <a:r>
                        <a:rPr kumimoji="0" lang="en-US" altLang="zh-CN" sz="2000" b="1" i="0" u="none" strike="noStrike" cap="none" normalizeH="0" baseline="0" dirty="0" smtClean="0">
                          <a:ln>
                            <a:noFill/>
                          </a:ln>
                          <a:solidFill>
                            <a:schemeClr val="tx1"/>
                          </a:solidFill>
                          <a:effectLst/>
                          <a:latin typeface="宋体" pitchFamily="2" charset="-122"/>
                          <a:ea typeface="宋体" pitchFamily="2" charset="-122"/>
                        </a:rPr>
                        <a:t>7</a:t>
                      </a:r>
                      <a:r>
                        <a:rPr kumimoji="0" lang="zh-CN" altLang="en-US" sz="2000" b="1" i="0" u="none" strike="noStrike" cap="none" normalizeH="0" baseline="0" dirty="0" smtClean="0">
                          <a:ln>
                            <a:noFill/>
                          </a:ln>
                          <a:solidFill>
                            <a:schemeClr val="tx1"/>
                          </a:solidFill>
                          <a:effectLst/>
                          <a:latin typeface="宋体" pitchFamily="2" charset="-122"/>
                          <a:ea typeface="宋体" pitchFamily="2" charset="-122"/>
                        </a:rPr>
                        <a:t>月</a:t>
                      </a:r>
                      <a:endParaRPr kumimoji="0" lang="zh-CN" altLang="en-US" sz="2000" b="1" i="0" u="none" strike="noStrike" cap="none" normalizeH="0" baseline="0" dirty="0" smtClean="0">
                        <a:ln>
                          <a:noFill/>
                        </a:ln>
                        <a:solidFill>
                          <a:schemeClr val="tx1"/>
                        </a:solidFill>
                        <a:effectLst/>
                        <a:latin typeface="Arial" charset="0"/>
                        <a:ea typeface="宋体" pitchFamily="2"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lumMod val="95000"/>
                      </a:schemeClr>
                    </a:solidFill>
                  </a:tcPr>
                </a:tc>
                <a:tc>
                  <a:txBody>
                    <a:bodyPr/>
                    <a:lstStyle/>
                    <a:p>
                      <a:pPr marL="0" marR="0" lvl="0" indent="0" algn="l" defTabSz="914400" rtl="0" eaLnBrk="1" fontAlgn="b" latinLnBrk="0" hangingPunct="1">
                        <a:lnSpc>
                          <a:spcPct val="100000"/>
                        </a:lnSpc>
                        <a:spcBef>
                          <a:spcPct val="0"/>
                        </a:spcBef>
                        <a:spcAft>
                          <a:spcPct val="0"/>
                        </a:spcAft>
                        <a:buClrTx/>
                        <a:buSzTx/>
                        <a:buFontTx/>
                        <a:buNone/>
                        <a:tabLst/>
                      </a:pPr>
                      <a:r>
                        <a:rPr kumimoji="0" lang="en-US" altLang="zh-CN" sz="2000" b="1" i="0" u="none" strike="noStrike" cap="none" normalizeH="0" baseline="0" smtClean="0">
                          <a:ln>
                            <a:noFill/>
                          </a:ln>
                          <a:solidFill>
                            <a:schemeClr val="tx1"/>
                          </a:solidFill>
                          <a:effectLst/>
                          <a:latin typeface="宋体" pitchFamily="2" charset="-122"/>
                          <a:ea typeface="宋体" pitchFamily="2" charset="-122"/>
                        </a:rPr>
                        <a:t>1997</a:t>
                      </a:r>
                      <a:r>
                        <a:rPr kumimoji="0" lang="zh-CN" altLang="en-US" sz="2000" b="1" i="0" u="none" strike="noStrike" cap="none" normalizeH="0" baseline="0" smtClean="0">
                          <a:ln>
                            <a:noFill/>
                          </a:ln>
                          <a:solidFill>
                            <a:schemeClr val="tx1"/>
                          </a:solidFill>
                          <a:effectLst/>
                          <a:latin typeface="宋体" pitchFamily="2" charset="-122"/>
                          <a:ea typeface="宋体" pitchFamily="2" charset="-122"/>
                        </a:rPr>
                        <a:t>年</a:t>
                      </a:r>
                      <a:r>
                        <a:rPr kumimoji="0" lang="en-US" altLang="zh-CN" sz="2000" b="1" i="0" u="none" strike="noStrike" cap="none" normalizeH="0" baseline="0" smtClean="0">
                          <a:ln>
                            <a:noFill/>
                          </a:ln>
                          <a:solidFill>
                            <a:schemeClr val="tx1"/>
                          </a:solidFill>
                          <a:effectLst/>
                          <a:latin typeface="宋体" pitchFamily="2" charset="-122"/>
                          <a:ea typeface="宋体" pitchFamily="2" charset="-122"/>
                        </a:rPr>
                        <a:t>6</a:t>
                      </a:r>
                      <a:r>
                        <a:rPr kumimoji="0" lang="zh-CN" altLang="en-US" sz="2000" b="1" i="0" u="none" strike="noStrike" cap="none" normalizeH="0" baseline="0" smtClean="0">
                          <a:ln>
                            <a:noFill/>
                          </a:ln>
                          <a:solidFill>
                            <a:schemeClr val="tx1"/>
                          </a:solidFill>
                          <a:effectLst/>
                          <a:latin typeface="宋体" pitchFamily="2" charset="-122"/>
                          <a:ea typeface="宋体" pitchFamily="2" charset="-122"/>
                        </a:rPr>
                        <a:t>月</a:t>
                      </a:r>
                      <a:endParaRPr kumimoji="0" lang="zh-CN" altLang="en-US" sz="2000" b="1" i="0" u="none" strike="noStrike" cap="none" normalizeH="0" baseline="0" smtClean="0">
                        <a:ln>
                          <a:noFill/>
                        </a:ln>
                        <a:solidFill>
                          <a:schemeClr val="tx1"/>
                        </a:solidFill>
                        <a:effectLst/>
                        <a:latin typeface="Arial" charset="0"/>
                        <a:ea typeface="宋体" pitchFamily="2"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lumMod val="95000"/>
                      </a:schemeClr>
                    </a:solidFill>
                  </a:tcPr>
                </a:tc>
                <a:tc>
                  <a:txBody>
                    <a:bodyPr/>
                    <a:lstStyle/>
                    <a:p>
                      <a:pPr marL="0" marR="0" lvl="0" indent="0" algn="l" defTabSz="914400" rtl="0" eaLnBrk="1" fontAlgn="b" latinLnBrk="0" hangingPunct="1">
                        <a:lnSpc>
                          <a:spcPct val="100000"/>
                        </a:lnSpc>
                        <a:spcBef>
                          <a:spcPct val="0"/>
                        </a:spcBef>
                        <a:spcAft>
                          <a:spcPct val="0"/>
                        </a:spcAft>
                        <a:buClrTx/>
                        <a:buSzTx/>
                        <a:buFontTx/>
                        <a:buNone/>
                        <a:tabLst/>
                      </a:pPr>
                      <a:r>
                        <a:rPr kumimoji="0" lang="en-US" altLang="zh-CN" sz="2000" b="1" i="0" u="none" strike="noStrike" cap="none" normalizeH="0" baseline="0" smtClean="0">
                          <a:ln>
                            <a:noFill/>
                          </a:ln>
                          <a:solidFill>
                            <a:schemeClr val="tx1"/>
                          </a:solidFill>
                          <a:effectLst/>
                          <a:latin typeface="宋体" pitchFamily="2" charset="-122"/>
                          <a:ea typeface="宋体" pitchFamily="2" charset="-122"/>
                        </a:rPr>
                        <a:t>1998</a:t>
                      </a:r>
                      <a:r>
                        <a:rPr kumimoji="0" lang="zh-CN" altLang="en-US" sz="2000" b="1" i="0" u="none" strike="noStrike" cap="none" normalizeH="0" baseline="0" smtClean="0">
                          <a:ln>
                            <a:noFill/>
                          </a:ln>
                          <a:solidFill>
                            <a:schemeClr val="tx1"/>
                          </a:solidFill>
                          <a:effectLst/>
                          <a:latin typeface="宋体" pitchFamily="2" charset="-122"/>
                          <a:ea typeface="宋体" pitchFamily="2" charset="-122"/>
                        </a:rPr>
                        <a:t>年</a:t>
                      </a:r>
                      <a:r>
                        <a:rPr kumimoji="0" lang="en-US" altLang="zh-CN" sz="2000" b="1" i="0" u="none" strike="noStrike" cap="none" normalizeH="0" baseline="0" smtClean="0">
                          <a:ln>
                            <a:noFill/>
                          </a:ln>
                          <a:solidFill>
                            <a:schemeClr val="tx1"/>
                          </a:solidFill>
                          <a:effectLst/>
                          <a:latin typeface="宋体" pitchFamily="2" charset="-122"/>
                          <a:ea typeface="宋体" pitchFamily="2" charset="-122"/>
                        </a:rPr>
                        <a:t>7</a:t>
                      </a:r>
                      <a:r>
                        <a:rPr kumimoji="0" lang="zh-CN" altLang="en-US" sz="2000" b="1" i="0" u="none" strike="noStrike" cap="none" normalizeH="0" baseline="0" smtClean="0">
                          <a:ln>
                            <a:noFill/>
                          </a:ln>
                          <a:solidFill>
                            <a:schemeClr val="tx1"/>
                          </a:solidFill>
                          <a:effectLst/>
                          <a:latin typeface="宋体" pitchFamily="2" charset="-122"/>
                          <a:ea typeface="宋体" pitchFamily="2" charset="-122"/>
                        </a:rPr>
                        <a:t>月</a:t>
                      </a:r>
                      <a:endParaRPr kumimoji="0" lang="zh-CN" altLang="en-US" sz="2000" b="1" i="0" u="none" strike="noStrike" cap="none" normalizeH="0" baseline="0" smtClean="0">
                        <a:ln>
                          <a:noFill/>
                        </a:ln>
                        <a:solidFill>
                          <a:schemeClr val="tx1"/>
                        </a:solidFill>
                        <a:effectLst/>
                        <a:latin typeface="Arial" charset="0"/>
                        <a:ea typeface="宋体" pitchFamily="2"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lumMod val="95000"/>
                      </a:schemeClr>
                    </a:solidFill>
                  </a:tcPr>
                </a:tc>
                <a:extLst>
                  <a:ext uri="{0D108BD9-81ED-4DB2-BD59-A6C34878D82A}">
                    <a16:rowId xmlns:a16="http://schemas.microsoft.com/office/drawing/2014/main" val="10001"/>
                  </a:ext>
                </a:extLst>
              </a:tr>
              <a:tr h="521068">
                <a:tc>
                  <a:txBody>
                    <a:bodyPr/>
                    <a:lstStyle/>
                    <a:p>
                      <a:pPr marL="0" marR="0" lvl="0" indent="0" algn="l" defTabSz="914400" rtl="0" eaLnBrk="1" fontAlgn="b" latinLnBrk="0" hangingPunct="1">
                        <a:lnSpc>
                          <a:spcPct val="100000"/>
                        </a:lnSpc>
                        <a:spcBef>
                          <a:spcPct val="0"/>
                        </a:spcBef>
                        <a:spcAft>
                          <a:spcPct val="0"/>
                        </a:spcAft>
                        <a:buClrTx/>
                        <a:buSzTx/>
                        <a:buFontTx/>
                        <a:buNone/>
                        <a:tabLst/>
                      </a:pPr>
                      <a:r>
                        <a:rPr kumimoji="0" lang="zh-CN" altLang="en-US" sz="2000" b="1" i="0" u="none" strike="noStrike" cap="none" normalizeH="0" baseline="0" smtClean="0">
                          <a:ln>
                            <a:noFill/>
                          </a:ln>
                          <a:solidFill>
                            <a:schemeClr val="tx1"/>
                          </a:solidFill>
                          <a:effectLst/>
                          <a:latin typeface="宋体" pitchFamily="2" charset="-122"/>
                          <a:ea typeface="宋体" pitchFamily="2" charset="-122"/>
                        </a:rPr>
                        <a:t>泰国</a:t>
                      </a:r>
                      <a:endParaRPr kumimoji="0" lang="zh-CN" altLang="en-US" sz="2000" b="1" i="0" u="none" strike="noStrike" cap="none" normalizeH="0" baseline="0" smtClean="0">
                        <a:ln>
                          <a:noFill/>
                        </a:ln>
                        <a:solidFill>
                          <a:schemeClr val="tx1"/>
                        </a:solidFill>
                        <a:effectLst/>
                        <a:latin typeface="Arial" charset="0"/>
                        <a:ea typeface="宋体" pitchFamily="2"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lumMod val="95000"/>
                      </a:schemeClr>
                    </a:solidFill>
                  </a:tcPr>
                </a:tc>
                <a:tc>
                  <a:txBody>
                    <a:bodyPr/>
                    <a:lstStyle/>
                    <a:p>
                      <a:pPr marL="0" marR="0" lvl="0" indent="0" algn="ctr" defTabSz="914400" rtl="0" eaLnBrk="1" fontAlgn="b" latinLnBrk="0" hangingPunct="1">
                        <a:lnSpc>
                          <a:spcPct val="100000"/>
                        </a:lnSpc>
                        <a:spcBef>
                          <a:spcPct val="0"/>
                        </a:spcBef>
                        <a:spcAft>
                          <a:spcPct val="0"/>
                        </a:spcAft>
                        <a:buClrTx/>
                        <a:buSzTx/>
                        <a:buFontTx/>
                        <a:buNone/>
                        <a:tabLst/>
                      </a:pPr>
                      <a:r>
                        <a:rPr kumimoji="0" lang="en-US" altLang="zh-CN" sz="2000" b="1" i="0" u="none" strike="noStrike" cap="none" normalizeH="0" baseline="0" dirty="0" smtClean="0">
                          <a:ln>
                            <a:noFill/>
                          </a:ln>
                          <a:solidFill>
                            <a:schemeClr val="tx1"/>
                          </a:solidFill>
                          <a:effectLst/>
                          <a:latin typeface="宋体" pitchFamily="2" charset="-122"/>
                          <a:ea typeface="宋体" pitchFamily="2" charset="-122"/>
                        </a:rPr>
                        <a:t>24.5</a:t>
                      </a:r>
                      <a:r>
                        <a:rPr kumimoji="0" lang="zh-CN" altLang="en-US" sz="2000" b="1" i="0" u="none" strike="noStrike" cap="none" normalizeH="0" baseline="0" dirty="0" smtClean="0">
                          <a:ln>
                            <a:noFill/>
                          </a:ln>
                          <a:solidFill>
                            <a:schemeClr val="tx1"/>
                          </a:solidFill>
                          <a:effectLst/>
                          <a:latin typeface="宋体" pitchFamily="2" charset="-122"/>
                          <a:ea typeface="宋体" pitchFamily="2" charset="-122"/>
                        </a:rPr>
                        <a:t>泰铢</a:t>
                      </a:r>
                      <a:endParaRPr kumimoji="0" lang="zh-CN" altLang="en-US" sz="2000" b="1" i="0" u="none" strike="noStrike" cap="none" normalizeH="0" baseline="0" dirty="0" smtClean="0">
                        <a:ln>
                          <a:noFill/>
                        </a:ln>
                        <a:solidFill>
                          <a:schemeClr val="tx1"/>
                        </a:solidFill>
                        <a:effectLst/>
                        <a:latin typeface="Arial" charset="0"/>
                        <a:ea typeface="宋体" pitchFamily="2"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lumMod val="95000"/>
                      </a:schemeClr>
                    </a:solidFill>
                  </a:tcPr>
                </a:tc>
                <a:tc>
                  <a:txBody>
                    <a:bodyPr/>
                    <a:lstStyle/>
                    <a:p>
                      <a:pPr marL="0" marR="0" lvl="0" indent="0" algn="ctr" defTabSz="914400" rtl="0" eaLnBrk="1" fontAlgn="b" latinLnBrk="0" hangingPunct="1">
                        <a:lnSpc>
                          <a:spcPct val="100000"/>
                        </a:lnSpc>
                        <a:spcBef>
                          <a:spcPct val="0"/>
                        </a:spcBef>
                        <a:spcAft>
                          <a:spcPct val="0"/>
                        </a:spcAft>
                        <a:buClrTx/>
                        <a:buSzTx/>
                        <a:buFontTx/>
                        <a:buNone/>
                        <a:tabLst/>
                      </a:pPr>
                      <a:r>
                        <a:rPr kumimoji="0" lang="en-US" altLang="zh-CN" sz="2000" b="1" i="0" u="none" strike="noStrike" cap="none" normalizeH="0" baseline="0" dirty="0" smtClean="0">
                          <a:ln>
                            <a:noFill/>
                          </a:ln>
                          <a:solidFill>
                            <a:schemeClr val="tx1"/>
                          </a:solidFill>
                          <a:effectLst/>
                          <a:latin typeface="宋体" pitchFamily="2" charset="-122"/>
                          <a:ea typeface="宋体" pitchFamily="2" charset="-122"/>
                        </a:rPr>
                        <a:t>41</a:t>
                      </a:r>
                      <a:endParaRPr kumimoji="0" lang="en-US" altLang="zh-CN" sz="2000" b="1" i="0" u="none" strike="noStrike" cap="none" normalizeH="0" baseline="0" dirty="0" smtClean="0">
                        <a:ln>
                          <a:noFill/>
                        </a:ln>
                        <a:solidFill>
                          <a:schemeClr val="tx1"/>
                        </a:solidFill>
                        <a:effectLst/>
                        <a:latin typeface="Arial" charset="0"/>
                        <a:ea typeface="宋体" pitchFamily="2"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lumMod val="95000"/>
                      </a:schemeClr>
                    </a:solidFill>
                  </a:tcPr>
                </a:tc>
                <a:tc>
                  <a:txBody>
                    <a:bodyPr/>
                    <a:lstStyle/>
                    <a:p>
                      <a:pPr marL="0" marR="0" lvl="0" indent="0" algn="ctr" defTabSz="914400" rtl="0" eaLnBrk="1" fontAlgn="b" latinLnBrk="0" hangingPunct="1">
                        <a:lnSpc>
                          <a:spcPct val="100000"/>
                        </a:lnSpc>
                        <a:spcBef>
                          <a:spcPct val="0"/>
                        </a:spcBef>
                        <a:spcAft>
                          <a:spcPct val="0"/>
                        </a:spcAft>
                        <a:buClrTx/>
                        <a:buSzTx/>
                        <a:buFontTx/>
                        <a:buNone/>
                        <a:tabLst/>
                      </a:pPr>
                      <a:r>
                        <a:rPr kumimoji="0" lang="en-US" altLang="zh-CN" sz="2000" b="1" i="0" u="none" strike="noStrike" cap="none" normalizeH="0" baseline="0" smtClean="0">
                          <a:ln>
                            <a:noFill/>
                          </a:ln>
                          <a:solidFill>
                            <a:schemeClr val="tx1"/>
                          </a:solidFill>
                          <a:effectLst/>
                          <a:latin typeface="宋体" pitchFamily="2" charset="-122"/>
                          <a:ea typeface="宋体" pitchFamily="2" charset="-122"/>
                        </a:rPr>
                        <a:t>170</a:t>
                      </a:r>
                      <a:endParaRPr kumimoji="0" lang="en-US" altLang="zh-CN" sz="2000" b="1" i="0" u="none" strike="noStrike" cap="none" normalizeH="0" baseline="0" smtClean="0">
                        <a:ln>
                          <a:noFill/>
                        </a:ln>
                        <a:solidFill>
                          <a:schemeClr val="tx1"/>
                        </a:solidFill>
                        <a:effectLst/>
                        <a:latin typeface="Arial" charset="0"/>
                        <a:ea typeface="宋体" pitchFamily="2"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lumMod val="95000"/>
                      </a:schemeClr>
                    </a:solidFill>
                  </a:tcPr>
                </a:tc>
                <a:tc>
                  <a:txBody>
                    <a:bodyPr/>
                    <a:lstStyle/>
                    <a:p>
                      <a:pPr marL="0" marR="0" lvl="0" indent="0" algn="ctr" defTabSz="914400" rtl="0" eaLnBrk="1" fontAlgn="b" latinLnBrk="0" hangingPunct="1">
                        <a:lnSpc>
                          <a:spcPct val="100000"/>
                        </a:lnSpc>
                        <a:spcBef>
                          <a:spcPct val="0"/>
                        </a:spcBef>
                        <a:spcAft>
                          <a:spcPct val="0"/>
                        </a:spcAft>
                        <a:buClrTx/>
                        <a:buSzTx/>
                        <a:buFontTx/>
                        <a:buNone/>
                        <a:tabLst/>
                      </a:pPr>
                      <a:r>
                        <a:rPr kumimoji="0" lang="en-US" altLang="zh-CN" sz="2000" b="1" i="0" u="none" strike="noStrike" cap="none" normalizeH="0" baseline="0" smtClean="0">
                          <a:ln>
                            <a:noFill/>
                          </a:ln>
                          <a:solidFill>
                            <a:schemeClr val="tx1"/>
                          </a:solidFill>
                          <a:effectLst/>
                          <a:latin typeface="宋体" pitchFamily="2" charset="-122"/>
                          <a:ea typeface="宋体" pitchFamily="2" charset="-122"/>
                        </a:rPr>
                        <a:t>102</a:t>
                      </a:r>
                      <a:endParaRPr kumimoji="0" lang="en-US" altLang="zh-CN" sz="2000" b="1" i="0" u="none" strike="noStrike" cap="none" normalizeH="0" baseline="0" smtClean="0">
                        <a:ln>
                          <a:noFill/>
                        </a:ln>
                        <a:solidFill>
                          <a:schemeClr val="tx1"/>
                        </a:solidFill>
                        <a:effectLst/>
                        <a:latin typeface="Arial" charset="0"/>
                        <a:ea typeface="宋体" pitchFamily="2"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lumMod val="95000"/>
                      </a:schemeClr>
                    </a:solidFill>
                  </a:tcPr>
                </a:tc>
                <a:extLst>
                  <a:ext uri="{0D108BD9-81ED-4DB2-BD59-A6C34878D82A}">
                    <a16:rowId xmlns:a16="http://schemas.microsoft.com/office/drawing/2014/main" val="10002"/>
                  </a:ext>
                </a:extLst>
              </a:tr>
              <a:tr h="921891">
                <a:tc>
                  <a:txBody>
                    <a:bodyPr/>
                    <a:lstStyle/>
                    <a:p>
                      <a:pPr marL="0" marR="0" lvl="0" indent="0" algn="l" defTabSz="914400" rtl="0" eaLnBrk="1" fontAlgn="b" latinLnBrk="0" hangingPunct="1">
                        <a:lnSpc>
                          <a:spcPct val="100000"/>
                        </a:lnSpc>
                        <a:spcBef>
                          <a:spcPct val="0"/>
                        </a:spcBef>
                        <a:spcAft>
                          <a:spcPct val="0"/>
                        </a:spcAft>
                        <a:buClrTx/>
                        <a:buSzTx/>
                        <a:buFontTx/>
                        <a:buNone/>
                        <a:tabLst/>
                      </a:pPr>
                      <a:r>
                        <a:rPr kumimoji="0" lang="zh-CN" altLang="en-US" sz="2000" b="1" i="0" u="none" strike="noStrike" cap="none" normalizeH="0" baseline="0" dirty="0" smtClean="0">
                          <a:ln>
                            <a:noFill/>
                          </a:ln>
                          <a:solidFill>
                            <a:schemeClr val="tx1"/>
                          </a:solidFill>
                          <a:effectLst/>
                          <a:latin typeface="宋体" pitchFamily="2" charset="-122"/>
                          <a:ea typeface="宋体" pitchFamily="2" charset="-122"/>
                        </a:rPr>
                        <a:t>印尼</a:t>
                      </a:r>
                      <a:endParaRPr kumimoji="0" lang="zh-CN" altLang="en-US" sz="2000" b="1" i="0" u="none" strike="noStrike" cap="none" normalizeH="0" baseline="0" dirty="0" smtClean="0">
                        <a:ln>
                          <a:noFill/>
                        </a:ln>
                        <a:solidFill>
                          <a:schemeClr val="tx1"/>
                        </a:solidFill>
                        <a:effectLst/>
                        <a:latin typeface="Arial" charset="0"/>
                        <a:ea typeface="宋体" pitchFamily="2"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lumMod val="95000"/>
                      </a:schemeClr>
                    </a:solidFill>
                  </a:tcPr>
                </a:tc>
                <a:tc>
                  <a:txBody>
                    <a:bodyPr/>
                    <a:lstStyle/>
                    <a:p>
                      <a:pPr marL="0" marR="0" lvl="0" indent="0" algn="ctr" defTabSz="914400" rtl="0" eaLnBrk="1" fontAlgn="b" latinLnBrk="0" hangingPunct="1">
                        <a:lnSpc>
                          <a:spcPct val="100000"/>
                        </a:lnSpc>
                        <a:spcBef>
                          <a:spcPct val="0"/>
                        </a:spcBef>
                        <a:spcAft>
                          <a:spcPct val="0"/>
                        </a:spcAft>
                        <a:buClrTx/>
                        <a:buSzTx/>
                        <a:buFontTx/>
                        <a:buNone/>
                        <a:tabLst/>
                      </a:pPr>
                      <a:r>
                        <a:rPr kumimoji="0" lang="en-US" altLang="zh-CN" sz="2000" b="1" i="0" u="none" strike="noStrike" cap="none" normalizeH="0" baseline="0" smtClean="0">
                          <a:ln>
                            <a:noFill/>
                          </a:ln>
                          <a:solidFill>
                            <a:schemeClr val="tx1"/>
                          </a:solidFill>
                          <a:effectLst/>
                          <a:latin typeface="宋体" pitchFamily="2" charset="-122"/>
                          <a:ea typeface="宋体" pitchFamily="2" charset="-122"/>
                        </a:rPr>
                        <a:t>2,380</a:t>
                      </a:r>
                      <a:r>
                        <a:rPr kumimoji="0" lang="zh-CN" altLang="en-US" sz="2000" b="1" i="0" u="none" strike="noStrike" cap="none" normalizeH="0" baseline="0" smtClean="0">
                          <a:ln>
                            <a:noFill/>
                          </a:ln>
                          <a:solidFill>
                            <a:schemeClr val="tx1"/>
                          </a:solidFill>
                          <a:effectLst/>
                          <a:latin typeface="宋体" pitchFamily="2" charset="-122"/>
                          <a:ea typeface="宋体" pitchFamily="2" charset="-122"/>
                        </a:rPr>
                        <a:t>印尼盾</a:t>
                      </a:r>
                      <a:endParaRPr kumimoji="0" lang="zh-CN" altLang="en-US" sz="2000" b="1" i="0" u="none" strike="noStrike" cap="none" normalizeH="0" baseline="0" smtClean="0">
                        <a:ln>
                          <a:noFill/>
                        </a:ln>
                        <a:solidFill>
                          <a:schemeClr val="tx1"/>
                        </a:solidFill>
                        <a:effectLst/>
                        <a:latin typeface="Arial" charset="0"/>
                        <a:ea typeface="宋体" pitchFamily="2"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lumMod val="95000"/>
                      </a:schemeClr>
                    </a:solidFill>
                  </a:tcPr>
                </a:tc>
                <a:tc>
                  <a:txBody>
                    <a:bodyPr/>
                    <a:lstStyle/>
                    <a:p>
                      <a:pPr marL="0" marR="0" lvl="0" indent="0" algn="ctr" defTabSz="914400" rtl="0" eaLnBrk="1" fontAlgn="b" latinLnBrk="0" hangingPunct="1">
                        <a:lnSpc>
                          <a:spcPct val="100000"/>
                        </a:lnSpc>
                        <a:spcBef>
                          <a:spcPct val="0"/>
                        </a:spcBef>
                        <a:spcAft>
                          <a:spcPct val="0"/>
                        </a:spcAft>
                        <a:buClrTx/>
                        <a:buSzTx/>
                        <a:buFontTx/>
                        <a:buNone/>
                        <a:tabLst/>
                      </a:pPr>
                      <a:r>
                        <a:rPr kumimoji="0" lang="en-US" altLang="zh-CN" sz="2000" b="1" i="0" u="none" strike="noStrike" cap="none" normalizeH="0" baseline="0" dirty="0" smtClean="0">
                          <a:ln>
                            <a:noFill/>
                          </a:ln>
                          <a:solidFill>
                            <a:schemeClr val="tx1"/>
                          </a:solidFill>
                          <a:effectLst/>
                          <a:latin typeface="宋体" pitchFamily="2" charset="-122"/>
                          <a:ea typeface="宋体" pitchFamily="2" charset="-122"/>
                        </a:rPr>
                        <a:t>14,150</a:t>
                      </a:r>
                      <a:endParaRPr kumimoji="0" lang="en-US" altLang="zh-CN" sz="2000" b="1" i="0" u="none" strike="noStrike" cap="none" normalizeH="0" baseline="0" dirty="0" smtClean="0">
                        <a:ln>
                          <a:noFill/>
                        </a:ln>
                        <a:solidFill>
                          <a:schemeClr val="tx1"/>
                        </a:solidFill>
                        <a:effectLst/>
                        <a:latin typeface="Arial" charset="0"/>
                        <a:ea typeface="宋体" pitchFamily="2"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lumMod val="95000"/>
                      </a:schemeClr>
                    </a:solidFill>
                  </a:tcPr>
                </a:tc>
                <a:tc>
                  <a:txBody>
                    <a:bodyPr/>
                    <a:lstStyle/>
                    <a:p>
                      <a:pPr marL="0" marR="0" lvl="0" indent="0" algn="ctr" defTabSz="914400" rtl="0" eaLnBrk="1" fontAlgn="b" latinLnBrk="0" hangingPunct="1">
                        <a:lnSpc>
                          <a:spcPct val="100000"/>
                        </a:lnSpc>
                        <a:spcBef>
                          <a:spcPct val="0"/>
                        </a:spcBef>
                        <a:spcAft>
                          <a:spcPct val="0"/>
                        </a:spcAft>
                        <a:buClrTx/>
                        <a:buSzTx/>
                        <a:buFontTx/>
                        <a:buNone/>
                        <a:tabLst/>
                      </a:pPr>
                      <a:r>
                        <a:rPr kumimoji="0" lang="en-US" altLang="zh-CN" sz="2000" b="1" i="0" u="none" strike="noStrike" cap="none" normalizeH="0" baseline="0" dirty="0" smtClean="0">
                          <a:ln>
                            <a:noFill/>
                          </a:ln>
                          <a:solidFill>
                            <a:schemeClr val="tx1"/>
                          </a:solidFill>
                          <a:effectLst/>
                          <a:latin typeface="宋体" pitchFamily="2" charset="-122"/>
                          <a:ea typeface="宋体" pitchFamily="2" charset="-122"/>
                        </a:rPr>
                        <a:t>205</a:t>
                      </a:r>
                      <a:endParaRPr kumimoji="0" lang="en-US" altLang="zh-CN" sz="2000" b="1" i="0" u="none" strike="noStrike" cap="none" normalizeH="0" baseline="0" dirty="0" smtClean="0">
                        <a:ln>
                          <a:noFill/>
                        </a:ln>
                        <a:solidFill>
                          <a:schemeClr val="tx1"/>
                        </a:solidFill>
                        <a:effectLst/>
                        <a:latin typeface="Arial" charset="0"/>
                        <a:ea typeface="宋体" pitchFamily="2"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lumMod val="95000"/>
                      </a:schemeClr>
                    </a:solidFill>
                  </a:tcPr>
                </a:tc>
                <a:tc>
                  <a:txBody>
                    <a:bodyPr/>
                    <a:lstStyle/>
                    <a:p>
                      <a:pPr marL="0" marR="0" lvl="0" indent="0" algn="ctr" defTabSz="914400" rtl="0" eaLnBrk="1" fontAlgn="b" latinLnBrk="0" hangingPunct="1">
                        <a:lnSpc>
                          <a:spcPct val="100000"/>
                        </a:lnSpc>
                        <a:spcBef>
                          <a:spcPct val="0"/>
                        </a:spcBef>
                        <a:spcAft>
                          <a:spcPct val="0"/>
                        </a:spcAft>
                        <a:buClrTx/>
                        <a:buSzTx/>
                        <a:buFontTx/>
                        <a:buNone/>
                        <a:tabLst/>
                      </a:pPr>
                      <a:r>
                        <a:rPr kumimoji="0" lang="en-US" altLang="zh-CN" sz="2000" b="1" i="0" u="none" strike="noStrike" cap="none" normalizeH="0" baseline="0" smtClean="0">
                          <a:ln>
                            <a:noFill/>
                          </a:ln>
                          <a:solidFill>
                            <a:schemeClr val="tx1"/>
                          </a:solidFill>
                          <a:effectLst/>
                          <a:latin typeface="宋体" pitchFamily="2" charset="-122"/>
                          <a:ea typeface="宋体" pitchFamily="2" charset="-122"/>
                        </a:rPr>
                        <a:t>84</a:t>
                      </a:r>
                      <a:endParaRPr kumimoji="0" lang="en-US" altLang="zh-CN" sz="2000" b="1" i="0" u="none" strike="noStrike" cap="none" normalizeH="0" baseline="0" smtClean="0">
                        <a:ln>
                          <a:noFill/>
                        </a:ln>
                        <a:solidFill>
                          <a:schemeClr val="tx1"/>
                        </a:solidFill>
                        <a:effectLst/>
                        <a:latin typeface="Arial" charset="0"/>
                        <a:ea typeface="宋体" pitchFamily="2"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lumMod val="95000"/>
                      </a:schemeClr>
                    </a:solidFill>
                  </a:tcPr>
                </a:tc>
                <a:extLst>
                  <a:ext uri="{0D108BD9-81ED-4DB2-BD59-A6C34878D82A}">
                    <a16:rowId xmlns:a16="http://schemas.microsoft.com/office/drawing/2014/main" val="10003"/>
                  </a:ext>
                </a:extLst>
              </a:tr>
              <a:tr h="521068">
                <a:tc>
                  <a:txBody>
                    <a:bodyPr/>
                    <a:lstStyle/>
                    <a:p>
                      <a:pPr marL="0" marR="0" lvl="0" indent="0" algn="l" defTabSz="914400" rtl="0" eaLnBrk="1" fontAlgn="b" latinLnBrk="0" hangingPunct="1">
                        <a:lnSpc>
                          <a:spcPct val="100000"/>
                        </a:lnSpc>
                        <a:spcBef>
                          <a:spcPct val="0"/>
                        </a:spcBef>
                        <a:spcAft>
                          <a:spcPct val="0"/>
                        </a:spcAft>
                        <a:buClrTx/>
                        <a:buSzTx/>
                        <a:buFontTx/>
                        <a:buNone/>
                        <a:tabLst/>
                      </a:pPr>
                      <a:r>
                        <a:rPr kumimoji="0" lang="zh-CN" altLang="en-US" sz="2000" b="1" i="0" u="none" strike="noStrike" cap="none" normalizeH="0" baseline="0" smtClean="0">
                          <a:ln>
                            <a:noFill/>
                          </a:ln>
                          <a:solidFill>
                            <a:schemeClr val="tx1"/>
                          </a:solidFill>
                          <a:effectLst/>
                          <a:latin typeface="宋体" pitchFamily="2" charset="-122"/>
                          <a:ea typeface="宋体" pitchFamily="2" charset="-122"/>
                        </a:rPr>
                        <a:t>菲律宾</a:t>
                      </a:r>
                      <a:endParaRPr kumimoji="0" lang="zh-CN" altLang="en-US" sz="2000" b="1" i="0" u="none" strike="noStrike" cap="none" normalizeH="0" baseline="0" smtClean="0">
                        <a:ln>
                          <a:noFill/>
                        </a:ln>
                        <a:solidFill>
                          <a:schemeClr val="tx1"/>
                        </a:solidFill>
                        <a:effectLst/>
                        <a:latin typeface="Arial" charset="0"/>
                        <a:ea typeface="宋体" pitchFamily="2"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lumMod val="95000"/>
                      </a:schemeClr>
                    </a:solidFill>
                  </a:tcPr>
                </a:tc>
                <a:tc>
                  <a:txBody>
                    <a:bodyPr/>
                    <a:lstStyle/>
                    <a:p>
                      <a:pPr marL="0" marR="0" lvl="0" indent="0" algn="ctr" defTabSz="914400" rtl="0" eaLnBrk="1" fontAlgn="b" latinLnBrk="0" hangingPunct="1">
                        <a:lnSpc>
                          <a:spcPct val="100000"/>
                        </a:lnSpc>
                        <a:spcBef>
                          <a:spcPct val="0"/>
                        </a:spcBef>
                        <a:spcAft>
                          <a:spcPct val="0"/>
                        </a:spcAft>
                        <a:buClrTx/>
                        <a:buSzTx/>
                        <a:buFontTx/>
                        <a:buNone/>
                        <a:tabLst/>
                      </a:pPr>
                      <a:r>
                        <a:rPr kumimoji="0" lang="en-US" altLang="zh-CN" sz="2000" b="1" i="0" u="none" strike="noStrike" cap="none" normalizeH="0" baseline="0" smtClean="0">
                          <a:ln>
                            <a:noFill/>
                          </a:ln>
                          <a:solidFill>
                            <a:schemeClr val="tx1"/>
                          </a:solidFill>
                          <a:effectLst/>
                          <a:latin typeface="宋体" pitchFamily="2" charset="-122"/>
                          <a:ea typeface="宋体" pitchFamily="2" charset="-122"/>
                        </a:rPr>
                        <a:t>26.3</a:t>
                      </a:r>
                      <a:r>
                        <a:rPr kumimoji="0" lang="zh-CN" altLang="en-US" sz="2000" b="1" i="0" u="none" strike="noStrike" cap="none" normalizeH="0" baseline="0" smtClean="0">
                          <a:ln>
                            <a:noFill/>
                          </a:ln>
                          <a:solidFill>
                            <a:schemeClr val="tx1"/>
                          </a:solidFill>
                          <a:effectLst/>
                          <a:latin typeface="宋体" pitchFamily="2" charset="-122"/>
                          <a:ea typeface="宋体" pitchFamily="2" charset="-122"/>
                        </a:rPr>
                        <a:t>比索</a:t>
                      </a:r>
                      <a:endParaRPr kumimoji="0" lang="zh-CN" altLang="en-US" sz="2000" b="1" i="0" u="none" strike="noStrike" cap="none" normalizeH="0" baseline="0" smtClean="0">
                        <a:ln>
                          <a:noFill/>
                        </a:ln>
                        <a:solidFill>
                          <a:schemeClr val="tx1"/>
                        </a:solidFill>
                        <a:effectLst/>
                        <a:latin typeface="Arial" charset="0"/>
                        <a:ea typeface="宋体" pitchFamily="2"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lumMod val="95000"/>
                      </a:schemeClr>
                    </a:solidFill>
                  </a:tcPr>
                </a:tc>
                <a:tc>
                  <a:txBody>
                    <a:bodyPr/>
                    <a:lstStyle/>
                    <a:p>
                      <a:pPr marL="0" marR="0" lvl="0" indent="0" algn="ctr" defTabSz="914400" rtl="0" eaLnBrk="1" fontAlgn="b" latinLnBrk="0" hangingPunct="1">
                        <a:lnSpc>
                          <a:spcPct val="100000"/>
                        </a:lnSpc>
                        <a:spcBef>
                          <a:spcPct val="0"/>
                        </a:spcBef>
                        <a:spcAft>
                          <a:spcPct val="0"/>
                        </a:spcAft>
                        <a:buClrTx/>
                        <a:buSzTx/>
                        <a:buFontTx/>
                        <a:buNone/>
                        <a:tabLst/>
                      </a:pPr>
                      <a:r>
                        <a:rPr kumimoji="0" lang="en-US" altLang="zh-CN" sz="2000" b="1" i="0" u="none" strike="noStrike" cap="none" normalizeH="0" baseline="0" dirty="0" smtClean="0">
                          <a:ln>
                            <a:noFill/>
                          </a:ln>
                          <a:solidFill>
                            <a:schemeClr val="tx1"/>
                          </a:solidFill>
                          <a:effectLst/>
                          <a:latin typeface="宋体" pitchFamily="2" charset="-122"/>
                          <a:ea typeface="宋体" pitchFamily="2" charset="-122"/>
                        </a:rPr>
                        <a:t>42</a:t>
                      </a:r>
                      <a:endParaRPr kumimoji="0" lang="en-US" altLang="zh-CN" sz="2000" b="1" i="0" u="none" strike="noStrike" cap="none" normalizeH="0" baseline="0" dirty="0" smtClean="0">
                        <a:ln>
                          <a:noFill/>
                        </a:ln>
                        <a:solidFill>
                          <a:schemeClr val="tx1"/>
                        </a:solidFill>
                        <a:effectLst/>
                        <a:latin typeface="Arial" charset="0"/>
                        <a:ea typeface="宋体" pitchFamily="2"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lumMod val="95000"/>
                      </a:schemeClr>
                    </a:solidFill>
                  </a:tcPr>
                </a:tc>
                <a:tc>
                  <a:txBody>
                    <a:bodyPr/>
                    <a:lstStyle/>
                    <a:p>
                      <a:pPr marL="0" marR="0" lvl="0" indent="0" algn="ctr" defTabSz="914400" rtl="0" eaLnBrk="1" fontAlgn="b" latinLnBrk="0" hangingPunct="1">
                        <a:lnSpc>
                          <a:spcPct val="100000"/>
                        </a:lnSpc>
                        <a:spcBef>
                          <a:spcPct val="0"/>
                        </a:spcBef>
                        <a:spcAft>
                          <a:spcPct val="0"/>
                        </a:spcAft>
                        <a:buClrTx/>
                        <a:buSzTx/>
                        <a:buFontTx/>
                        <a:buNone/>
                        <a:tabLst/>
                      </a:pPr>
                      <a:r>
                        <a:rPr kumimoji="0" lang="en-US" altLang="zh-CN" sz="2000" b="1" i="0" u="none" strike="noStrike" cap="none" normalizeH="0" baseline="0" dirty="0" smtClean="0">
                          <a:ln>
                            <a:noFill/>
                          </a:ln>
                          <a:solidFill>
                            <a:schemeClr val="tx1"/>
                          </a:solidFill>
                          <a:effectLst/>
                          <a:latin typeface="宋体" pitchFamily="2" charset="-122"/>
                          <a:ea typeface="宋体" pitchFamily="2" charset="-122"/>
                        </a:rPr>
                        <a:t>75</a:t>
                      </a:r>
                      <a:endParaRPr kumimoji="0" lang="en-US" altLang="zh-CN" sz="2000" b="1" i="0" u="none" strike="noStrike" cap="none" normalizeH="0" baseline="0" dirty="0" smtClean="0">
                        <a:ln>
                          <a:noFill/>
                        </a:ln>
                        <a:solidFill>
                          <a:schemeClr val="tx1"/>
                        </a:solidFill>
                        <a:effectLst/>
                        <a:latin typeface="Arial" charset="0"/>
                        <a:ea typeface="宋体" pitchFamily="2"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lumMod val="95000"/>
                      </a:schemeClr>
                    </a:solidFill>
                  </a:tcPr>
                </a:tc>
                <a:tc>
                  <a:txBody>
                    <a:bodyPr/>
                    <a:lstStyle/>
                    <a:p>
                      <a:pPr marL="0" marR="0" lvl="0" indent="0" algn="ctr" defTabSz="914400" rtl="0" eaLnBrk="1" fontAlgn="b" latinLnBrk="0" hangingPunct="1">
                        <a:lnSpc>
                          <a:spcPct val="100000"/>
                        </a:lnSpc>
                        <a:spcBef>
                          <a:spcPct val="0"/>
                        </a:spcBef>
                        <a:spcAft>
                          <a:spcPct val="0"/>
                        </a:spcAft>
                        <a:buClrTx/>
                        <a:buSzTx/>
                        <a:buFontTx/>
                        <a:buNone/>
                        <a:tabLst/>
                      </a:pPr>
                      <a:r>
                        <a:rPr kumimoji="0" lang="en-US" altLang="zh-CN" sz="2000" b="1" i="0" u="none" strike="noStrike" cap="none" normalizeH="0" baseline="0" dirty="0" smtClean="0">
                          <a:ln>
                            <a:noFill/>
                          </a:ln>
                          <a:solidFill>
                            <a:schemeClr val="tx1"/>
                          </a:solidFill>
                          <a:effectLst/>
                          <a:latin typeface="宋体" pitchFamily="2" charset="-122"/>
                          <a:ea typeface="宋体" pitchFamily="2" charset="-122"/>
                        </a:rPr>
                        <a:t>47</a:t>
                      </a:r>
                      <a:endParaRPr kumimoji="0" lang="en-US" altLang="zh-CN" sz="2000" b="1" i="0" u="none" strike="noStrike" cap="none" normalizeH="0" baseline="0" dirty="0" smtClean="0">
                        <a:ln>
                          <a:noFill/>
                        </a:ln>
                        <a:solidFill>
                          <a:schemeClr val="tx1"/>
                        </a:solidFill>
                        <a:effectLst/>
                        <a:latin typeface="Arial" charset="0"/>
                        <a:ea typeface="宋体" pitchFamily="2"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lumMod val="95000"/>
                      </a:schemeClr>
                    </a:solidFill>
                  </a:tcPr>
                </a:tc>
                <a:extLst>
                  <a:ext uri="{0D108BD9-81ED-4DB2-BD59-A6C34878D82A}">
                    <a16:rowId xmlns:a16="http://schemas.microsoft.com/office/drawing/2014/main" val="10004"/>
                  </a:ext>
                </a:extLst>
              </a:tr>
              <a:tr h="921891">
                <a:tc>
                  <a:txBody>
                    <a:bodyPr/>
                    <a:lstStyle/>
                    <a:p>
                      <a:pPr marL="0" marR="0" lvl="0" indent="0" algn="l" defTabSz="914400" rtl="0" eaLnBrk="1" fontAlgn="b" latinLnBrk="0" hangingPunct="1">
                        <a:lnSpc>
                          <a:spcPct val="100000"/>
                        </a:lnSpc>
                        <a:spcBef>
                          <a:spcPct val="0"/>
                        </a:spcBef>
                        <a:spcAft>
                          <a:spcPct val="0"/>
                        </a:spcAft>
                        <a:buClrTx/>
                        <a:buSzTx/>
                        <a:buFontTx/>
                        <a:buNone/>
                        <a:tabLst/>
                      </a:pPr>
                      <a:r>
                        <a:rPr kumimoji="0" lang="zh-CN" altLang="en-US" sz="2000" b="1" i="0" u="none" strike="noStrike" cap="none" normalizeH="0" baseline="0" smtClean="0">
                          <a:ln>
                            <a:noFill/>
                          </a:ln>
                          <a:solidFill>
                            <a:schemeClr val="tx1"/>
                          </a:solidFill>
                          <a:effectLst/>
                          <a:latin typeface="宋体" pitchFamily="2" charset="-122"/>
                          <a:ea typeface="宋体" pitchFamily="2" charset="-122"/>
                        </a:rPr>
                        <a:t>马来西亚</a:t>
                      </a:r>
                      <a:endParaRPr kumimoji="0" lang="zh-CN" altLang="en-US" sz="2000" b="1" i="0" u="none" strike="noStrike" cap="none" normalizeH="0" baseline="0" smtClean="0">
                        <a:ln>
                          <a:noFill/>
                        </a:ln>
                        <a:solidFill>
                          <a:schemeClr val="tx1"/>
                        </a:solidFill>
                        <a:effectLst/>
                        <a:latin typeface="Arial" charset="0"/>
                        <a:ea typeface="宋体" pitchFamily="2"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lumMod val="95000"/>
                      </a:schemeClr>
                    </a:solidFill>
                  </a:tcPr>
                </a:tc>
                <a:tc>
                  <a:txBody>
                    <a:bodyPr/>
                    <a:lstStyle/>
                    <a:p>
                      <a:pPr marL="0" marR="0" lvl="0" indent="0" algn="ctr" defTabSz="914400" rtl="0" eaLnBrk="1" fontAlgn="b" latinLnBrk="0" hangingPunct="1">
                        <a:lnSpc>
                          <a:spcPct val="100000"/>
                        </a:lnSpc>
                        <a:spcBef>
                          <a:spcPct val="0"/>
                        </a:spcBef>
                        <a:spcAft>
                          <a:spcPct val="0"/>
                        </a:spcAft>
                        <a:buClrTx/>
                        <a:buSzTx/>
                        <a:buFontTx/>
                        <a:buNone/>
                        <a:tabLst/>
                      </a:pPr>
                      <a:r>
                        <a:rPr kumimoji="0" lang="en-US" altLang="zh-CN" sz="2000" b="1" i="0" u="none" strike="noStrike" cap="none" normalizeH="0" baseline="0" smtClean="0">
                          <a:ln>
                            <a:noFill/>
                          </a:ln>
                          <a:solidFill>
                            <a:schemeClr val="tx1"/>
                          </a:solidFill>
                          <a:effectLst/>
                          <a:latin typeface="宋体" pitchFamily="2" charset="-122"/>
                          <a:ea typeface="宋体" pitchFamily="2" charset="-122"/>
                        </a:rPr>
                        <a:t>2.5</a:t>
                      </a:r>
                      <a:r>
                        <a:rPr kumimoji="0" lang="zh-CN" altLang="en-US" sz="2000" b="1" i="0" u="none" strike="noStrike" cap="none" normalizeH="0" baseline="0" smtClean="0">
                          <a:ln>
                            <a:noFill/>
                          </a:ln>
                          <a:solidFill>
                            <a:schemeClr val="tx1"/>
                          </a:solidFill>
                          <a:effectLst/>
                          <a:latin typeface="宋体" pitchFamily="2" charset="-122"/>
                          <a:ea typeface="宋体" pitchFamily="2" charset="-122"/>
                        </a:rPr>
                        <a:t>令吉</a:t>
                      </a:r>
                      <a:endParaRPr kumimoji="0" lang="zh-CN" altLang="en-US" sz="2000" b="1" i="0" u="none" strike="noStrike" cap="none" normalizeH="0" baseline="0" smtClean="0">
                        <a:ln>
                          <a:noFill/>
                        </a:ln>
                        <a:solidFill>
                          <a:schemeClr val="tx1"/>
                        </a:solidFill>
                        <a:effectLst/>
                        <a:latin typeface="Arial" charset="0"/>
                        <a:ea typeface="宋体" pitchFamily="2"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lumMod val="95000"/>
                      </a:schemeClr>
                    </a:solidFill>
                  </a:tcPr>
                </a:tc>
                <a:tc>
                  <a:txBody>
                    <a:bodyPr/>
                    <a:lstStyle/>
                    <a:p>
                      <a:pPr marL="0" marR="0" lvl="0" indent="0" algn="ctr" defTabSz="914400" rtl="0" eaLnBrk="1" fontAlgn="b" latinLnBrk="0" hangingPunct="1">
                        <a:lnSpc>
                          <a:spcPct val="100000"/>
                        </a:lnSpc>
                        <a:spcBef>
                          <a:spcPct val="0"/>
                        </a:spcBef>
                        <a:spcAft>
                          <a:spcPct val="0"/>
                        </a:spcAft>
                        <a:buClrTx/>
                        <a:buSzTx/>
                        <a:buFontTx/>
                        <a:buNone/>
                        <a:tabLst/>
                      </a:pPr>
                      <a:r>
                        <a:rPr kumimoji="0" lang="en-US" altLang="zh-CN" sz="2000" b="1" i="0" u="none" strike="noStrike" cap="none" normalizeH="0" baseline="0" smtClean="0">
                          <a:ln>
                            <a:noFill/>
                          </a:ln>
                          <a:solidFill>
                            <a:schemeClr val="tx1"/>
                          </a:solidFill>
                          <a:effectLst/>
                          <a:latin typeface="宋体" pitchFamily="2" charset="-122"/>
                          <a:ea typeface="宋体" pitchFamily="2" charset="-122"/>
                        </a:rPr>
                        <a:t>4.1</a:t>
                      </a:r>
                      <a:endParaRPr kumimoji="0" lang="en-US" altLang="zh-CN" sz="2000" b="1" i="0" u="none" strike="noStrike" cap="none" normalizeH="0" baseline="0" smtClean="0">
                        <a:ln>
                          <a:noFill/>
                        </a:ln>
                        <a:solidFill>
                          <a:schemeClr val="tx1"/>
                        </a:solidFill>
                        <a:effectLst/>
                        <a:latin typeface="Arial" charset="0"/>
                        <a:ea typeface="宋体" pitchFamily="2"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lumMod val="95000"/>
                      </a:schemeClr>
                    </a:solidFill>
                  </a:tcPr>
                </a:tc>
                <a:tc>
                  <a:txBody>
                    <a:bodyPr/>
                    <a:lstStyle/>
                    <a:p>
                      <a:pPr marL="0" marR="0" lvl="0" indent="0" algn="ctr" defTabSz="914400" rtl="0" eaLnBrk="1" fontAlgn="b" latinLnBrk="0" hangingPunct="1">
                        <a:lnSpc>
                          <a:spcPct val="100000"/>
                        </a:lnSpc>
                        <a:spcBef>
                          <a:spcPct val="0"/>
                        </a:spcBef>
                        <a:spcAft>
                          <a:spcPct val="0"/>
                        </a:spcAft>
                        <a:buClrTx/>
                        <a:buSzTx/>
                        <a:buFontTx/>
                        <a:buNone/>
                        <a:tabLst/>
                      </a:pPr>
                      <a:r>
                        <a:rPr kumimoji="0" lang="en-US" altLang="zh-CN" sz="2000" b="1" i="0" u="none" strike="noStrike" cap="none" normalizeH="0" baseline="0" dirty="0" smtClean="0">
                          <a:ln>
                            <a:noFill/>
                          </a:ln>
                          <a:solidFill>
                            <a:schemeClr val="tx1"/>
                          </a:solidFill>
                          <a:effectLst/>
                          <a:latin typeface="宋体" pitchFamily="2" charset="-122"/>
                          <a:ea typeface="宋体" pitchFamily="2" charset="-122"/>
                        </a:rPr>
                        <a:t>90</a:t>
                      </a:r>
                      <a:endParaRPr kumimoji="0" lang="en-US" altLang="zh-CN" sz="2000" b="1" i="0" u="none" strike="noStrike" cap="none" normalizeH="0" baseline="0" dirty="0" smtClean="0">
                        <a:ln>
                          <a:noFill/>
                        </a:ln>
                        <a:solidFill>
                          <a:schemeClr val="tx1"/>
                        </a:solidFill>
                        <a:effectLst/>
                        <a:latin typeface="Arial" charset="0"/>
                        <a:ea typeface="宋体" pitchFamily="2"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lumMod val="95000"/>
                      </a:schemeClr>
                    </a:solidFill>
                  </a:tcPr>
                </a:tc>
                <a:tc>
                  <a:txBody>
                    <a:bodyPr/>
                    <a:lstStyle/>
                    <a:p>
                      <a:pPr marL="0" marR="0" lvl="0" indent="0" algn="ctr" defTabSz="914400" rtl="0" eaLnBrk="1" fontAlgn="b" latinLnBrk="0" hangingPunct="1">
                        <a:lnSpc>
                          <a:spcPct val="100000"/>
                        </a:lnSpc>
                        <a:spcBef>
                          <a:spcPct val="0"/>
                        </a:spcBef>
                        <a:spcAft>
                          <a:spcPct val="0"/>
                        </a:spcAft>
                        <a:buClrTx/>
                        <a:buSzTx/>
                        <a:buFontTx/>
                        <a:buNone/>
                        <a:tabLst/>
                      </a:pPr>
                      <a:r>
                        <a:rPr kumimoji="0" lang="en-US" altLang="zh-CN" sz="2000" b="1" i="0" u="none" strike="noStrike" cap="none" normalizeH="0" baseline="0" dirty="0" smtClean="0">
                          <a:ln>
                            <a:noFill/>
                          </a:ln>
                          <a:solidFill>
                            <a:schemeClr val="tx1"/>
                          </a:solidFill>
                          <a:effectLst/>
                          <a:latin typeface="宋体" pitchFamily="2" charset="-122"/>
                          <a:ea typeface="宋体" pitchFamily="2" charset="-122"/>
                        </a:rPr>
                        <a:t>55</a:t>
                      </a:r>
                      <a:endParaRPr kumimoji="0" lang="en-US" altLang="zh-CN" sz="2000" b="1" i="0" u="none" strike="noStrike" cap="none" normalizeH="0" baseline="0" dirty="0" smtClean="0">
                        <a:ln>
                          <a:noFill/>
                        </a:ln>
                        <a:solidFill>
                          <a:schemeClr val="tx1"/>
                        </a:solidFill>
                        <a:effectLst/>
                        <a:latin typeface="Arial" charset="0"/>
                        <a:ea typeface="宋体" pitchFamily="2"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lumMod val="95000"/>
                      </a:schemeClr>
                    </a:solidFill>
                  </a:tcPr>
                </a:tc>
                <a:extLst>
                  <a:ext uri="{0D108BD9-81ED-4DB2-BD59-A6C34878D82A}">
                    <a16:rowId xmlns:a16="http://schemas.microsoft.com/office/drawing/2014/main" val="10005"/>
                  </a:ext>
                </a:extLst>
              </a:tr>
              <a:tr h="521068">
                <a:tc>
                  <a:txBody>
                    <a:bodyPr/>
                    <a:lstStyle/>
                    <a:p>
                      <a:pPr marL="0" marR="0" lvl="0" indent="0" algn="l" defTabSz="914400" rtl="0" eaLnBrk="1" fontAlgn="b" latinLnBrk="0" hangingPunct="1">
                        <a:lnSpc>
                          <a:spcPct val="100000"/>
                        </a:lnSpc>
                        <a:spcBef>
                          <a:spcPct val="0"/>
                        </a:spcBef>
                        <a:spcAft>
                          <a:spcPct val="0"/>
                        </a:spcAft>
                        <a:buClrTx/>
                        <a:buSzTx/>
                        <a:buFontTx/>
                        <a:buNone/>
                        <a:tabLst/>
                      </a:pPr>
                      <a:r>
                        <a:rPr kumimoji="0" lang="zh-CN" altLang="en-US" sz="2000" b="1" i="0" u="none" strike="noStrike" cap="none" normalizeH="0" baseline="0" dirty="0" smtClean="0">
                          <a:ln>
                            <a:noFill/>
                          </a:ln>
                          <a:solidFill>
                            <a:schemeClr val="tx1"/>
                          </a:solidFill>
                          <a:effectLst/>
                          <a:latin typeface="宋体" pitchFamily="2" charset="-122"/>
                          <a:ea typeface="宋体" pitchFamily="2" charset="-122"/>
                        </a:rPr>
                        <a:t>韩国</a:t>
                      </a:r>
                      <a:endParaRPr kumimoji="0" lang="zh-CN" altLang="en-US" sz="2000" b="1" i="0" u="none" strike="noStrike" cap="none" normalizeH="0" baseline="0" dirty="0" smtClean="0">
                        <a:ln>
                          <a:noFill/>
                        </a:ln>
                        <a:solidFill>
                          <a:schemeClr val="tx1"/>
                        </a:solidFill>
                        <a:effectLst/>
                        <a:latin typeface="Arial" charset="0"/>
                        <a:ea typeface="宋体" pitchFamily="2"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lumMod val="95000"/>
                      </a:schemeClr>
                    </a:solidFill>
                  </a:tcPr>
                </a:tc>
                <a:tc>
                  <a:txBody>
                    <a:bodyPr/>
                    <a:lstStyle/>
                    <a:p>
                      <a:pPr marL="0" marR="0" lvl="0" indent="0" algn="ctr" defTabSz="914400" rtl="0" eaLnBrk="1" fontAlgn="b" latinLnBrk="0" hangingPunct="1">
                        <a:lnSpc>
                          <a:spcPct val="100000"/>
                        </a:lnSpc>
                        <a:spcBef>
                          <a:spcPct val="0"/>
                        </a:spcBef>
                        <a:spcAft>
                          <a:spcPct val="0"/>
                        </a:spcAft>
                        <a:buClrTx/>
                        <a:buSzTx/>
                        <a:buFontTx/>
                        <a:buNone/>
                        <a:tabLst/>
                      </a:pPr>
                      <a:r>
                        <a:rPr kumimoji="0" lang="en-US" altLang="zh-CN" sz="2000" b="1" i="0" u="none" strike="noStrike" cap="none" normalizeH="0" baseline="0" smtClean="0">
                          <a:ln>
                            <a:noFill/>
                          </a:ln>
                          <a:solidFill>
                            <a:schemeClr val="tx1"/>
                          </a:solidFill>
                          <a:effectLst/>
                          <a:latin typeface="宋体" pitchFamily="2" charset="-122"/>
                          <a:ea typeface="宋体" pitchFamily="2" charset="-122"/>
                        </a:rPr>
                        <a:t>850</a:t>
                      </a:r>
                      <a:r>
                        <a:rPr kumimoji="0" lang="zh-CN" altLang="en-US" sz="2000" b="1" i="0" u="none" strike="noStrike" cap="none" normalizeH="0" baseline="0" smtClean="0">
                          <a:ln>
                            <a:noFill/>
                          </a:ln>
                          <a:solidFill>
                            <a:schemeClr val="tx1"/>
                          </a:solidFill>
                          <a:effectLst/>
                          <a:latin typeface="宋体" pitchFamily="2" charset="-122"/>
                          <a:ea typeface="宋体" pitchFamily="2" charset="-122"/>
                        </a:rPr>
                        <a:t>韩元</a:t>
                      </a:r>
                      <a:endParaRPr kumimoji="0" lang="zh-CN" altLang="en-US" sz="2000" b="1" i="0" u="none" strike="noStrike" cap="none" normalizeH="0" baseline="0" smtClean="0">
                        <a:ln>
                          <a:noFill/>
                        </a:ln>
                        <a:solidFill>
                          <a:schemeClr val="tx1"/>
                        </a:solidFill>
                        <a:effectLst/>
                        <a:latin typeface="Arial" charset="0"/>
                        <a:ea typeface="宋体" pitchFamily="2"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lumMod val="95000"/>
                      </a:schemeClr>
                    </a:solidFill>
                  </a:tcPr>
                </a:tc>
                <a:tc>
                  <a:txBody>
                    <a:bodyPr/>
                    <a:lstStyle/>
                    <a:p>
                      <a:pPr marL="0" marR="0" lvl="0" indent="0" algn="ctr" defTabSz="914400" rtl="0" eaLnBrk="1" fontAlgn="b" latinLnBrk="0" hangingPunct="1">
                        <a:lnSpc>
                          <a:spcPct val="100000"/>
                        </a:lnSpc>
                        <a:spcBef>
                          <a:spcPct val="0"/>
                        </a:spcBef>
                        <a:spcAft>
                          <a:spcPct val="0"/>
                        </a:spcAft>
                        <a:buClrTx/>
                        <a:buSzTx/>
                        <a:buFontTx/>
                        <a:buNone/>
                        <a:tabLst/>
                      </a:pPr>
                      <a:r>
                        <a:rPr kumimoji="0" lang="en-US" altLang="zh-CN" sz="2000" b="1" i="0" u="none" strike="noStrike" cap="none" normalizeH="0" baseline="0" smtClean="0">
                          <a:ln>
                            <a:noFill/>
                          </a:ln>
                          <a:solidFill>
                            <a:schemeClr val="tx1"/>
                          </a:solidFill>
                          <a:effectLst/>
                          <a:latin typeface="宋体" pitchFamily="2" charset="-122"/>
                          <a:ea typeface="宋体" pitchFamily="2" charset="-122"/>
                        </a:rPr>
                        <a:t>1,290</a:t>
                      </a:r>
                      <a:endParaRPr kumimoji="0" lang="en-US" altLang="zh-CN" sz="2000" b="1" i="0" u="none" strike="noStrike" cap="none" normalizeH="0" baseline="0" smtClean="0">
                        <a:ln>
                          <a:noFill/>
                        </a:ln>
                        <a:solidFill>
                          <a:schemeClr val="tx1"/>
                        </a:solidFill>
                        <a:effectLst/>
                        <a:latin typeface="Arial" charset="0"/>
                        <a:ea typeface="宋体" pitchFamily="2"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lumMod val="95000"/>
                      </a:schemeClr>
                    </a:solidFill>
                  </a:tcPr>
                </a:tc>
                <a:tc>
                  <a:txBody>
                    <a:bodyPr/>
                    <a:lstStyle/>
                    <a:p>
                      <a:pPr marL="0" marR="0" lvl="0" indent="0" algn="ctr" defTabSz="914400" rtl="0" eaLnBrk="1" fontAlgn="b" latinLnBrk="0" hangingPunct="1">
                        <a:lnSpc>
                          <a:spcPct val="100000"/>
                        </a:lnSpc>
                        <a:spcBef>
                          <a:spcPct val="0"/>
                        </a:spcBef>
                        <a:spcAft>
                          <a:spcPct val="0"/>
                        </a:spcAft>
                        <a:buClrTx/>
                        <a:buSzTx/>
                        <a:buFontTx/>
                        <a:buNone/>
                        <a:tabLst/>
                      </a:pPr>
                      <a:r>
                        <a:rPr kumimoji="0" lang="en-US" altLang="zh-CN" sz="2000" b="1" i="0" u="none" strike="noStrike" cap="none" normalizeH="0" baseline="0" smtClean="0">
                          <a:ln>
                            <a:noFill/>
                          </a:ln>
                          <a:solidFill>
                            <a:schemeClr val="tx1"/>
                          </a:solidFill>
                          <a:effectLst/>
                          <a:latin typeface="宋体" pitchFamily="2" charset="-122"/>
                          <a:ea typeface="宋体" pitchFamily="2" charset="-122"/>
                        </a:rPr>
                        <a:t>430</a:t>
                      </a:r>
                      <a:endParaRPr kumimoji="0" lang="en-US" altLang="zh-CN" sz="2000" b="1" i="0" u="none" strike="noStrike" cap="none" normalizeH="0" baseline="0" smtClean="0">
                        <a:ln>
                          <a:noFill/>
                        </a:ln>
                        <a:solidFill>
                          <a:schemeClr val="tx1"/>
                        </a:solidFill>
                        <a:effectLst/>
                        <a:latin typeface="Arial" charset="0"/>
                        <a:ea typeface="宋体" pitchFamily="2"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lumMod val="95000"/>
                      </a:schemeClr>
                    </a:solidFill>
                  </a:tcPr>
                </a:tc>
                <a:tc>
                  <a:txBody>
                    <a:bodyPr/>
                    <a:lstStyle/>
                    <a:p>
                      <a:pPr marL="0" marR="0" lvl="0" indent="0" algn="ctr" defTabSz="914400" rtl="0" eaLnBrk="1" fontAlgn="b" latinLnBrk="0" hangingPunct="1">
                        <a:lnSpc>
                          <a:spcPct val="100000"/>
                        </a:lnSpc>
                        <a:spcBef>
                          <a:spcPct val="0"/>
                        </a:spcBef>
                        <a:spcAft>
                          <a:spcPct val="0"/>
                        </a:spcAft>
                        <a:buClrTx/>
                        <a:buSzTx/>
                        <a:buFontTx/>
                        <a:buNone/>
                        <a:tabLst/>
                      </a:pPr>
                      <a:r>
                        <a:rPr kumimoji="0" lang="en-US" altLang="zh-CN" sz="2000" b="1" i="0" u="none" strike="noStrike" cap="none" normalizeH="0" baseline="0" dirty="0" smtClean="0">
                          <a:ln>
                            <a:noFill/>
                          </a:ln>
                          <a:solidFill>
                            <a:schemeClr val="tx1"/>
                          </a:solidFill>
                          <a:effectLst/>
                          <a:latin typeface="宋体" pitchFamily="2" charset="-122"/>
                          <a:ea typeface="宋体" pitchFamily="2" charset="-122"/>
                        </a:rPr>
                        <a:t>283</a:t>
                      </a:r>
                      <a:endParaRPr kumimoji="0" lang="en-US" altLang="zh-CN" sz="2000" b="1" i="0" u="none" strike="noStrike" cap="none" normalizeH="0" baseline="0" dirty="0" smtClean="0">
                        <a:ln>
                          <a:noFill/>
                        </a:ln>
                        <a:solidFill>
                          <a:schemeClr val="tx1"/>
                        </a:solidFill>
                        <a:effectLst/>
                        <a:latin typeface="Arial" charset="0"/>
                        <a:ea typeface="宋体" pitchFamily="2"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lumMod val="95000"/>
                      </a:schemeClr>
                    </a:solidFill>
                  </a:tcPr>
                </a:tc>
                <a:extLst>
                  <a:ext uri="{0D108BD9-81ED-4DB2-BD59-A6C34878D82A}">
                    <a16:rowId xmlns:a16="http://schemas.microsoft.com/office/drawing/2014/main" val="10006"/>
                  </a:ext>
                </a:extLst>
              </a:tr>
            </a:tbl>
          </a:graphicData>
        </a:graphic>
      </p:graphicFrame>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第二节	国际金融危机的一般理论</a:t>
            </a:r>
            <a:endParaRPr lang="zh-CN" dirty="0"/>
          </a:p>
        </p:txBody>
      </p:sp>
      <p:sp>
        <p:nvSpPr>
          <p:cNvPr id="3" name="内容占位符 2"/>
          <p:cNvSpPr>
            <a:spLocks noGrp="1"/>
          </p:cNvSpPr>
          <p:nvPr>
            <p:ph idx="1"/>
          </p:nvPr>
        </p:nvSpPr>
        <p:spPr>
          <a:xfrm>
            <a:off x="971550" y="1447799"/>
            <a:ext cx="7200900" cy="4841879"/>
          </a:xfrm>
        </p:spPr>
        <p:txBody>
          <a:bodyPr>
            <a:normAutofit fontScale="92500" lnSpcReduction="10000"/>
          </a:bodyPr>
          <a:lstStyle/>
          <a:p>
            <a:pPr marL="514350" indent="-514350">
              <a:lnSpc>
                <a:spcPct val="100000"/>
              </a:lnSpc>
              <a:buFont typeface="+mj-lt"/>
              <a:buAutoNum type="arabicPeriod" startAt="3"/>
            </a:pPr>
            <a:r>
              <a:rPr lang="en-US" altLang="zh-CN" sz="2600" dirty="0">
                <a:latin typeface="微软雅黑" panose="020B0503020204020204" pitchFamily="34" charset="-122"/>
                <a:ea typeface="微软雅黑" panose="020B0503020204020204" pitchFamily="34" charset="-122"/>
              </a:rPr>
              <a:t>The Asian Financial Crash</a:t>
            </a:r>
          </a:p>
          <a:p>
            <a:pPr marL="742950" lvl="1" indent="-514350">
              <a:lnSpc>
                <a:spcPct val="100000"/>
              </a:lnSpc>
              <a:buFont typeface="+mj-ea"/>
              <a:buAutoNum type="circleNumDbPlain"/>
            </a:pPr>
            <a:r>
              <a:rPr lang="zh-CN" altLang="en-US" sz="2400" dirty="0">
                <a:latin typeface="微软雅黑" panose="020B0503020204020204" pitchFamily="34" charset="-122"/>
                <a:ea typeface="微软雅黑" panose="020B0503020204020204" pitchFamily="34" charset="-122"/>
              </a:rPr>
              <a:t>根本性原因</a:t>
            </a:r>
          </a:p>
          <a:p>
            <a:pPr marL="0" lvl="2" indent="457200">
              <a:lnSpc>
                <a:spcPct val="110000"/>
              </a:lnSpc>
              <a:spcBef>
                <a:spcPts val="1800"/>
              </a:spcBef>
              <a:buNone/>
            </a:pPr>
            <a:r>
              <a:rPr lang="zh-CN" altLang="en-US" sz="2400" dirty="0" smtClean="0">
                <a:latin typeface="微软雅黑" panose="020B0503020204020204" pitchFamily="34" charset="-122"/>
                <a:ea typeface="微软雅黑" panose="020B0503020204020204" pitchFamily="34" charset="-122"/>
              </a:rPr>
              <a:t>供求</a:t>
            </a:r>
            <a:r>
              <a:rPr lang="zh-CN" altLang="en-US" sz="2400" dirty="0">
                <a:latin typeface="微软雅黑" panose="020B0503020204020204" pitchFamily="34" charset="-122"/>
                <a:ea typeface="微软雅黑" panose="020B0503020204020204" pitchFamily="34" charset="-122"/>
              </a:rPr>
              <a:t>失衡（汽车、电子产品和初级产品等过剩）</a:t>
            </a:r>
          </a:p>
          <a:p>
            <a:pPr marL="0" lvl="2" indent="457200">
              <a:lnSpc>
                <a:spcPct val="110000"/>
              </a:lnSpc>
              <a:spcBef>
                <a:spcPts val="1800"/>
              </a:spcBef>
              <a:buNone/>
            </a:pPr>
            <a:r>
              <a:rPr lang="zh-CN" altLang="en-US" sz="2400" dirty="0" smtClean="0">
                <a:latin typeface="微软雅黑" panose="020B0503020204020204" pitchFamily="34" charset="-122"/>
                <a:ea typeface="微软雅黑" panose="020B0503020204020204" pitchFamily="34" charset="-122"/>
              </a:rPr>
              <a:t>日元</a:t>
            </a:r>
            <a:r>
              <a:rPr lang="zh-CN" altLang="en-US" sz="2400" dirty="0">
                <a:latin typeface="微软雅黑" panose="020B0503020204020204" pitchFamily="34" charset="-122"/>
                <a:ea typeface="微软雅黑" panose="020B0503020204020204" pitchFamily="34" charset="-122"/>
              </a:rPr>
              <a:t>升值引起许多基础产业生产力过剩（日本公司海外过度投资，韩国在汽车和电器方面的过度海外投资等）	</a:t>
            </a:r>
          </a:p>
          <a:p>
            <a:pPr marL="0" lvl="2" indent="457200">
              <a:lnSpc>
                <a:spcPct val="110000"/>
              </a:lnSpc>
              <a:spcBef>
                <a:spcPts val="1800"/>
              </a:spcBef>
              <a:buNone/>
            </a:pPr>
            <a:r>
              <a:rPr lang="zh-CN" altLang="en-US" sz="2400" dirty="0" smtClean="0">
                <a:latin typeface="微软雅黑" panose="020B0503020204020204" pitchFamily="34" charset="-122"/>
                <a:ea typeface="微软雅黑" panose="020B0503020204020204" pitchFamily="34" charset="-122"/>
              </a:rPr>
              <a:t>国际金融市场</a:t>
            </a:r>
            <a:r>
              <a:rPr lang="zh-CN" altLang="en-US" sz="2400" dirty="0">
                <a:latin typeface="微软雅黑" panose="020B0503020204020204" pitchFamily="34" charset="-122"/>
                <a:ea typeface="微软雅黑" panose="020B0503020204020204" pitchFamily="34" charset="-122"/>
              </a:rPr>
              <a:t>失控（机构投资者寻求短期利润，游资规模巨大，银行业追求国际化趋势，国际银行过度借贷导致这些国家积累了大量的短期外债，金融市场自由化改革速度太快，而监管缺乏等）</a:t>
            </a:r>
          </a:p>
          <a:p>
            <a:pPr marL="0" lvl="2" indent="457200">
              <a:lnSpc>
                <a:spcPct val="110000"/>
              </a:lnSpc>
              <a:spcBef>
                <a:spcPts val="1800"/>
              </a:spcBef>
              <a:buNone/>
            </a:pPr>
            <a:r>
              <a:rPr lang="zh-CN" altLang="en-US" sz="2400" dirty="0" smtClean="0">
                <a:latin typeface="微软雅黑" panose="020B0503020204020204" pitchFamily="34" charset="-122"/>
                <a:ea typeface="微软雅黑" panose="020B0503020204020204" pitchFamily="34" charset="-122"/>
              </a:rPr>
              <a:t>日</a:t>
            </a:r>
            <a:r>
              <a:rPr lang="zh-CN" altLang="en-US" sz="2400" dirty="0">
                <a:latin typeface="微软雅黑" panose="020B0503020204020204" pitchFamily="34" charset="-122"/>
                <a:ea typeface="微软雅黑" panose="020B0503020204020204" pitchFamily="34" charset="-122"/>
              </a:rPr>
              <a:t>韩企业过度依赖银行信贷</a:t>
            </a:r>
          </a:p>
        </p:txBody>
      </p:sp>
      <p:sp>
        <p:nvSpPr>
          <p:cNvPr id="5" name="页脚占位符 4"/>
          <p:cNvSpPr>
            <a:spLocks noGrp="1"/>
          </p:cNvSpPr>
          <p:nvPr>
            <p:ph type="ftr" sz="quarter" idx="11"/>
          </p:nvPr>
        </p:nvSpPr>
        <p:spPr/>
        <p:txBody>
          <a:bodyPr/>
          <a:lstStyle/>
          <a:p>
            <a:r>
              <a:rPr lang="zh-CN" altLang="en-US" smtClean="0"/>
              <a:t>国际金融学 范小云</a:t>
            </a:r>
            <a:endParaRPr lang="zh-CN" altLang="en-US" dirty="0"/>
          </a:p>
        </p:txBody>
      </p:sp>
    </p:spTree>
    <p:extLst>
      <p:ext uri="{BB962C8B-B14F-4D97-AF65-F5344CB8AC3E}">
        <p14:creationId xmlns:p14="http://schemas.microsoft.com/office/powerpoint/2010/main" val="136021691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Effect transition="in" filter="fade">
                                      <p:cBhvr>
                                        <p:cTn id="7" dur="500"/>
                                        <p:tgtEl>
                                          <p:spTgt spid="3">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2" end="2"/>
                                            </p:txEl>
                                          </p:spTgt>
                                        </p:tgtEl>
                                        <p:attrNameLst>
                                          <p:attrName>style.visibility</p:attrName>
                                        </p:attrNameLst>
                                      </p:cBhvr>
                                      <p:to>
                                        <p:strVal val="visible"/>
                                      </p:to>
                                    </p:set>
                                    <p:animEffect transition="in" filter="fade">
                                      <p:cBhvr>
                                        <p:cTn id="12" dur="500"/>
                                        <p:tgtEl>
                                          <p:spTgt spid="3">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
                                            <p:txEl>
                                              <p:pRg st="3" end="3"/>
                                            </p:txEl>
                                          </p:spTgt>
                                        </p:tgtEl>
                                        <p:attrNameLst>
                                          <p:attrName>style.visibility</p:attrName>
                                        </p:attrNameLst>
                                      </p:cBhvr>
                                      <p:to>
                                        <p:strVal val="visible"/>
                                      </p:to>
                                    </p:set>
                                    <p:animEffect transition="in" filter="fade">
                                      <p:cBhvr>
                                        <p:cTn id="17" dur="500"/>
                                        <p:tgtEl>
                                          <p:spTgt spid="3">
                                            <p:txEl>
                                              <p:pRg st="3" end="3"/>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3">
                                            <p:txEl>
                                              <p:pRg st="4" end="4"/>
                                            </p:txEl>
                                          </p:spTgt>
                                        </p:tgtEl>
                                        <p:attrNameLst>
                                          <p:attrName>style.visibility</p:attrName>
                                        </p:attrNameLst>
                                      </p:cBhvr>
                                      <p:to>
                                        <p:strVal val="visible"/>
                                      </p:to>
                                    </p:set>
                                    <p:animEffect transition="in" filter="fade">
                                      <p:cBhvr>
                                        <p:cTn id="22" dur="500"/>
                                        <p:tgtEl>
                                          <p:spTgt spid="3">
                                            <p:txEl>
                                              <p:pRg st="4" end="4"/>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animEffect transition="in" filter="fade">
                                      <p:cBhvr>
                                        <p:cTn id="27" dur="500"/>
                                        <p:tgtEl>
                                          <p:spTgt spid="3">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第二节	国际金融危机的一般理论</a:t>
            </a:r>
            <a:endParaRPr lang="zh-CN" dirty="0"/>
          </a:p>
        </p:txBody>
      </p:sp>
      <p:sp>
        <p:nvSpPr>
          <p:cNvPr id="3" name="内容占位符 2"/>
          <p:cNvSpPr>
            <a:spLocks noGrp="1"/>
          </p:cNvSpPr>
          <p:nvPr>
            <p:ph idx="1"/>
          </p:nvPr>
        </p:nvSpPr>
        <p:spPr>
          <a:xfrm>
            <a:off x="971550" y="1447799"/>
            <a:ext cx="7200900" cy="4841879"/>
          </a:xfrm>
        </p:spPr>
        <p:txBody>
          <a:bodyPr>
            <a:normAutofit/>
          </a:bodyPr>
          <a:lstStyle/>
          <a:p>
            <a:pPr marL="514350" indent="-514350">
              <a:lnSpc>
                <a:spcPct val="100000"/>
              </a:lnSpc>
              <a:buFont typeface="+mj-lt"/>
              <a:buAutoNum type="arabicPeriod" startAt="3"/>
            </a:pPr>
            <a:r>
              <a:rPr lang="en-US" altLang="zh-CN" sz="2600" dirty="0">
                <a:latin typeface="微软雅黑" panose="020B0503020204020204" pitchFamily="34" charset="-122"/>
                <a:ea typeface="微软雅黑" panose="020B0503020204020204" pitchFamily="34" charset="-122"/>
              </a:rPr>
              <a:t>The Asian Financial Crash</a:t>
            </a:r>
          </a:p>
          <a:p>
            <a:pPr marL="742950" lvl="1" indent="-514350">
              <a:lnSpc>
                <a:spcPct val="100000"/>
              </a:lnSpc>
              <a:buFont typeface="+mj-ea"/>
              <a:buAutoNum type="circleNumDbPlain" startAt="2"/>
            </a:pPr>
            <a:r>
              <a:rPr lang="zh-CN" altLang="en-US" sz="2400" dirty="0">
                <a:latin typeface="微软雅黑" panose="020B0503020204020204" pitchFamily="34" charset="-122"/>
                <a:ea typeface="微软雅黑" panose="020B0503020204020204" pitchFamily="34" charset="-122"/>
              </a:rPr>
              <a:t>诱发性原因</a:t>
            </a:r>
          </a:p>
          <a:p>
            <a:pPr marL="0" lvl="2" indent="457200">
              <a:lnSpc>
                <a:spcPct val="110000"/>
              </a:lnSpc>
              <a:spcBef>
                <a:spcPts val="1800"/>
              </a:spcBef>
              <a:buNone/>
            </a:pPr>
            <a:r>
              <a:rPr lang="zh-CN" altLang="en-US" sz="2400" dirty="0">
                <a:latin typeface="微软雅黑" panose="020B0503020204020204" pitchFamily="34" charset="-122"/>
                <a:ea typeface="微软雅黑" panose="020B0503020204020204" pitchFamily="34" charset="-122"/>
              </a:rPr>
              <a:t>早在</a:t>
            </a:r>
            <a:r>
              <a:rPr lang="en-US" altLang="zh-CN" sz="2400" dirty="0">
                <a:latin typeface="微软雅黑" panose="020B0503020204020204" pitchFamily="34" charset="-122"/>
                <a:ea typeface="微软雅黑" panose="020B0503020204020204" pitchFamily="34" charset="-122"/>
              </a:rPr>
              <a:t>1997</a:t>
            </a:r>
            <a:r>
              <a:rPr lang="zh-CN" altLang="en-US" sz="2400" dirty="0">
                <a:latin typeface="微软雅黑" panose="020B0503020204020204" pitchFamily="34" charset="-122"/>
                <a:ea typeface="微软雅黑" panose="020B0503020204020204" pitchFamily="34" charset="-122"/>
              </a:rPr>
              <a:t>年初，就有一些迹象：韩国韩宝集团破产、泰国第一金融公司破产、许多国家经常账户恶化等。诱发性事件主要有：</a:t>
            </a:r>
          </a:p>
          <a:p>
            <a:pPr marL="0" lvl="2" indent="457200">
              <a:lnSpc>
                <a:spcPct val="110000"/>
              </a:lnSpc>
              <a:spcBef>
                <a:spcPts val="1800"/>
              </a:spcBef>
              <a:buNone/>
            </a:pPr>
            <a:r>
              <a:rPr lang="en-US" altLang="zh-CN" sz="2400" dirty="0" smtClean="0">
                <a:latin typeface="微软雅黑" panose="020B0503020204020204" pitchFamily="34" charset="-122"/>
                <a:ea typeface="微软雅黑" panose="020B0503020204020204" pitchFamily="34" charset="-122"/>
              </a:rPr>
              <a:t>1997</a:t>
            </a:r>
            <a:r>
              <a:rPr lang="zh-CN" altLang="en-US" sz="2400" dirty="0">
                <a:latin typeface="微软雅黑" panose="020B0503020204020204" pitchFamily="34" charset="-122"/>
                <a:ea typeface="微软雅黑" panose="020B0503020204020204" pitchFamily="34" charset="-122"/>
              </a:rPr>
              <a:t>年</a:t>
            </a:r>
            <a:r>
              <a:rPr lang="en-US" altLang="zh-CN" sz="2400" dirty="0">
                <a:latin typeface="微软雅黑" panose="020B0503020204020204" pitchFamily="34" charset="-122"/>
                <a:ea typeface="微软雅黑" panose="020B0503020204020204" pitchFamily="34" charset="-122"/>
              </a:rPr>
              <a:t>7</a:t>
            </a:r>
            <a:r>
              <a:rPr lang="zh-CN" altLang="en-US" sz="2400" dirty="0">
                <a:latin typeface="微软雅黑" panose="020B0503020204020204" pitchFamily="34" charset="-122"/>
                <a:ea typeface="微软雅黑" panose="020B0503020204020204" pitchFamily="34" charset="-122"/>
              </a:rPr>
              <a:t>月泰铢贬值</a:t>
            </a:r>
          </a:p>
          <a:p>
            <a:pPr marL="0" lvl="2" indent="457200">
              <a:lnSpc>
                <a:spcPct val="110000"/>
              </a:lnSpc>
              <a:spcBef>
                <a:spcPts val="1800"/>
              </a:spcBef>
              <a:buNone/>
            </a:pPr>
            <a:r>
              <a:rPr lang="zh-CN" altLang="en-US" sz="2400" dirty="0" smtClean="0">
                <a:latin typeface="微软雅黑" panose="020B0503020204020204" pitchFamily="34" charset="-122"/>
                <a:ea typeface="微软雅黑" panose="020B0503020204020204" pitchFamily="34" charset="-122"/>
              </a:rPr>
              <a:t>国际</a:t>
            </a:r>
            <a:r>
              <a:rPr lang="zh-CN" altLang="en-US" sz="2400" dirty="0">
                <a:latin typeface="微软雅黑" panose="020B0503020204020204" pitchFamily="34" charset="-122"/>
                <a:ea typeface="微软雅黑" panose="020B0503020204020204" pitchFamily="34" charset="-122"/>
              </a:rPr>
              <a:t>银行业恐慌性撤资（</a:t>
            </a:r>
            <a:r>
              <a:rPr lang="en-US" altLang="zh-CN" sz="2400" dirty="0">
                <a:latin typeface="微软雅黑" panose="020B0503020204020204" pitchFamily="34" charset="-122"/>
                <a:ea typeface="微软雅黑" panose="020B0503020204020204" pitchFamily="34" charset="-122"/>
              </a:rPr>
              <a:t>6</a:t>
            </a:r>
            <a:r>
              <a:rPr lang="zh-CN" altLang="en-US" sz="2400" dirty="0">
                <a:latin typeface="微软雅黑" panose="020B0503020204020204" pitchFamily="34" charset="-122"/>
                <a:ea typeface="微软雅黑" panose="020B0503020204020204" pitchFamily="34" charset="-122"/>
              </a:rPr>
              <a:t>个多月时间收回</a:t>
            </a:r>
            <a:r>
              <a:rPr lang="en-US" altLang="zh-CN" sz="2400" dirty="0">
                <a:latin typeface="微软雅黑" panose="020B0503020204020204" pitchFamily="34" charset="-122"/>
                <a:ea typeface="微软雅黑" panose="020B0503020204020204" pitchFamily="34" charset="-122"/>
              </a:rPr>
              <a:t>800</a:t>
            </a:r>
            <a:r>
              <a:rPr lang="zh-CN" altLang="en-US" sz="2400" dirty="0">
                <a:latin typeface="微软雅黑" panose="020B0503020204020204" pitchFamily="34" charset="-122"/>
                <a:ea typeface="微软雅黑" panose="020B0503020204020204" pitchFamily="34" charset="-122"/>
              </a:rPr>
              <a:t>－</a:t>
            </a:r>
            <a:r>
              <a:rPr lang="en-US" altLang="zh-CN" sz="2400" dirty="0">
                <a:latin typeface="微软雅黑" panose="020B0503020204020204" pitchFamily="34" charset="-122"/>
                <a:ea typeface="微软雅黑" panose="020B0503020204020204" pitchFamily="34" charset="-122"/>
              </a:rPr>
              <a:t>1000</a:t>
            </a:r>
            <a:r>
              <a:rPr lang="zh-CN" altLang="en-US" sz="2400" dirty="0">
                <a:latin typeface="微软雅黑" panose="020B0503020204020204" pitchFamily="34" charset="-122"/>
                <a:ea typeface="微软雅黑" panose="020B0503020204020204" pitchFamily="34" charset="-122"/>
              </a:rPr>
              <a:t>亿美元贷款）</a:t>
            </a:r>
          </a:p>
          <a:p>
            <a:pPr marL="0" lvl="2" indent="457200">
              <a:lnSpc>
                <a:spcPct val="110000"/>
              </a:lnSpc>
              <a:spcBef>
                <a:spcPts val="1800"/>
              </a:spcBef>
              <a:buNone/>
            </a:pPr>
            <a:r>
              <a:rPr lang="zh-CN" altLang="en-US" sz="2400" dirty="0" smtClean="0">
                <a:latin typeface="微软雅黑" panose="020B0503020204020204" pitchFamily="34" charset="-122"/>
                <a:ea typeface="微软雅黑" panose="020B0503020204020204" pitchFamily="34" charset="-122"/>
              </a:rPr>
              <a:t>美国</a:t>
            </a:r>
            <a:r>
              <a:rPr lang="zh-CN" altLang="en-US" sz="2400" dirty="0">
                <a:latin typeface="微软雅黑" panose="020B0503020204020204" pitchFamily="34" charset="-122"/>
                <a:ea typeface="微软雅黑" panose="020B0503020204020204" pitchFamily="34" charset="-122"/>
              </a:rPr>
              <a:t>对冲基金投机性冲击</a:t>
            </a:r>
          </a:p>
        </p:txBody>
      </p:sp>
      <p:sp>
        <p:nvSpPr>
          <p:cNvPr id="5" name="页脚占位符 4"/>
          <p:cNvSpPr>
            <a:spLocks noGrp="1"/>
          </p:cNvSpPr>
          <p:nvPr>
            <p:ph type="ftr" sz="quarter" idx="11"/>
          </p:nvPr>
        </p:nvSpPr>
        <p:spPr/>
        <p:txBody>
          <a:bodyPr/>
          <a:lstStyle/>
          <a:p>
            <a:r>
              <a:rPr lang="zh-CN" altLang="en-US" smtClean="0"/>
              <a:t>国际金融学 范小云</a:t>
            </a:r>
            <a:endParaRPr lang="zh-CN" altLang="en-US" dirty="0"/>
          </a:p>
        </p:txBody>
      </p:sp>
    </p:spTree>
    <p:extLst>
      <p:ext uri="{BB962C8B-B14F-4D97-AF65-F5344CB8AC3E}">
        <p14:creationId xmlns:p14="http://schemas.microsoft.com/office/powerpoint/2010/main" val="209642382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Effect transition="in" filter="fade">
                                      <p:cBhvr>
                                        <p:cTn id="7" dur="500"/>
                                        <p:tgtEl>
                                          <p:spTgt spid="3">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2" end="2"/>
                                            </p:txEl>
                                          </p:spTgt>
                                        </p:tgtEl>
                                        <p:attrNameLst>
                                          <p:attrName>style.visibility</p:attrName>
                                        </p:attrNameLst>
                                      </p:cBhvr>
                                      <p:to>
                                        <p:strVal val="visible"/>
                                      </p:to>
                                    </p:set>
                                    <p:animEffect transition="in" filter="fade">
                                      <p:cBhvr>
                                        <p:cTn id="12" dur="500"/>
                                        <p:tgtEl>
                                          <p:spTgt spid="3">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
                                            <p:txEl>
                                              <p:pRg st="3" end="3"/>
                                            </p:txEl>
                                          </p:spTgt>
                                        </p:tgtEl>
                                        <p:attrNameLst>
                                          <p:attrName>style.visibility</p:attrName>
                                        </p:attrNameLst>
                                      </p:cBhvr>
                                      <p:to>
                                        <p:strVal val="visible"/>
                                      </p:to>
                                    </p:set>
                                    <p:animEffect transition="in" filter="fade">
                                      <p:cBhvr>
                                        <p:cTn id="17" dur="500"/>
                                        <p:tgtEl>
                                          <p:spTgt spid="3">
                                            <p:txEl>
                                              <p:pRg st="3" end="3"/>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3">
                                            <p:txEl>
                                              <p:pRg st="4" end="4"/>
                                            </p:txEl>
                                          </p:spTgt>
                                        </p:tgtEl>
                                        <p:attrNameLst>
                                          <p:attrName>style.visibility</p:attrName>
                                        </p:attrNameLst>
                                      </p:cBhvr>
                                      <p:to>
                                        <p:strVal val="visible"/>
                                      </p:to>
                                    </p:set>
                                    <p:animEffect transition="in" filter="fade">
                                      <p:cBhvr>
                                        <p:cTn id="22" dur="500"/>
                                        <p:tgtEl>
                                          <p:spTgt spid="3">
                                            <p:txEl>
                                              <p:pRg st="4" end="4"/>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animEffect transition="in" filter="fade">
                                      <p:cBhvr>
                                        <p:cTn id="27" dur="500"/>
                                        <p:tgtEl>
                                          <p:spTgt spid="3">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第二节	国际金融危机的一般理论</a:t>
            </a:r>
            <a:endParaRPr lang="zh-CN" dirty="0"/>
          </a:p>
        </p:txBody>
      </p:sp>
      <p:sp>
        <p:nvSpPr>
          <p:cNvPr id="3" name="内容占位符 2"/>
          <p:cNvSpPr>
            <a:spLocks noGrp="1"/>
          </p:cNvSpPr>
          <p:nvPr>
            <p:ph idx="1"/>
          </p:nvPr>
        </p:nvSpPr>
        <p:spPr>
          <a:xfrm>
            <a:off x="971550" y="1447799"/>
            <a:ext cx="7200900" cy="4841879"/>
          </a:xfrm>
        </p:spPr>
        <p:txBody>
          <a:bodyPr>
            <a:normAutofit/>
          </a:bodyPr>
          <a:lstStyle/>
          <a:p>
            <a:pPr marL="514350" indent="-514350">
              <a:lnSpc>
                <a:spcPct val="100000"/>
              </a:lnSpc>
              <a:buFont typeface="+mj-lt"/>
              <a:buAutoNum type="arabicPeriod" startAt="3"/>
            </a:pPr>
            <a:r>
              <a:rPr lang="en-US" altLang="zh-CN" sz="2600" dirty="0">
                <a:latin typeface="微软雅黑" panose="020B0503020204020204" pitchFamily="34" charset="-122"/>
                <a:ea typeface="微软雅黑" panose="020B0503020204020204" pitchFamily="34" charset="-122"/>
              </a:rPr>
              <a:t>The Asian Financial Crash</a:t>
            </a:r>
          </a:p>
          <a:p>
            <a:pPr marL="742950" lvl="1" indent="-514350">
              <a:lnSpc>
                <a:spcPct val="100000"/>
              </a:lnSpc>
              <a:buFont typeface="+mj-ea"/>
              <a:buAutoNum type="circleNumDbPlain" startAt="3"/>
            </a:pPr>
            <a:r>
              <a:rPr lang="zh-CN" altLang="en-US" sz="2400" dirty="0">
                <a:latin typeface="微软雅黑" panose="020B0503020204020204" pitchFamily="34" charset="-122"/>
                <a:ea typeface="微软雅黑" panose="020B0503020204020204" pitchFamily="34" charset="-122"/>
              </a:rPr>
              <a:t>导致危机持续、严重的</a:t>
            </a:r>
            <a:r>
              <a:rPr lang="zh-CN" altLang="en-US" sz="2400" dirty="0" smtClean="0">
                <a:latin typeface="微软雅黑" panose="020B0503020204020204" pitchFamily="34" charset="-122"/>
                <a:ea typeface="微软雅黑" panose="020B0503020204020204" pitchFamily="34" charset="-122"/>
              </a:rPr>
              <a:t>原因</a:t>
            </a:r>
            <a:endParaRPr lang="zh-CN" altLang="en-US" sz="2400" dirty="0">
              <a:latin typeface="微软雅黑" panose="020B0503020204020204" pitchFamily="34" charset="-122"/>
              <a:ea typeface="微软雅黑" panose="020B0503020204020204" pitchFamily="34" charset="-122"/>
            </a:endParaRPr>
          </a:p>
          <a:p>
            <a:pPr marL="800100" lvl="4" indent="-342900">
              <a:lnSpc>
                <a:spcPct val="110000"/>
              </a:lnSpc>
              <a:spcBef>
                <a:spcPts val="1800"/>
              </a:spcBef>
              <a:buFont typeface="Wingdings" panose="05000000000000000000" pitchFamily="2" charset="2"/>
              <a:buChar char="Ø"/>
            </a:pPr>
            <a:r>
              <a:rPr lang="en-US" altLang="zh-CN" sz="2400" dirty="0">
                <a:latin typeface="微软雅黑" panose="020B0503020204020204" pitchFamily="34" charset="-122"/>
                <a:ea typeface="微软雅黑" panose="020B0503020204020204" pitchFamily="34" charset="-122"/>
              </a:rPr>
              <a:t>IMF</a:t>
            </a:r>
            <a:r>
              <a:rPr lang="zh-CN" altLang="en-US" sz="2400" dirty="0">
                <a:latin typeface="微软雅黑" panose="020B0503020204020204" pitchFamily="34" charset="-122"/>
                <a:ea typeface="微软雅黑" panose="020B0503020204020204" pitchFamily="34" charset="-122"/>
              </a:rPr>
              <a:t>救援方案</a:t>
            </a:r>
          </a:p>
          <a:p>
            <a:pPr marL="800100" lvl="4" indent="-342900">
              <a:lnSpc>
                <a:spcPct val="110000"/>
              </a:lnSpc>
              <a:spcBef>
                <a:spcPts val="1800"/>
              </a:spcBef>
              <a:buFont typeface="Wingdings" panose="05000000000000000000" pitchFamily="2" charset="2"/>
              <a:buChar char="Ø"/>
            </a:pPr>
            <a:r>
              <a:rPr lang="zh-CN" altLang="en-US" sz="2400" dirty="0">
                <a:latin typeface="微软雅黑" panose="020B0503020204020204" pitchFamily="34" charset="-122"/>
                <a:ea typeface="微软雅黑" panose="020B0503020204020204" pitchFamily="34" charset="-122"/>
              </a:rPr>
              <a:t>许多区域内银行流动性困难或变得厌恶风险，信用枯竭</a:t>
            </a:r>
          </a:p>
          <a:p>
            <a:pPr marL="800100" lvl="4" indent="-342900">
              <a:lnSpc>
                <a:spcPct val="110000"/>
              </a:lnSpc>
              <a:spcBef>
                <a:spcPts val="1800"/>
              </a:spcBef>
              <a:buFont typeface="Wingdings" panose="05000000000000000000" pitchFamily="2" charset="2"/>
              <a:buChar char="Ø"/>
            </a:pPr>
            <a:r>
              <a:rPr lang="zh-CN" altLang="en-US" sz="2400" dirty="0">
                <a:latin typeface="微软雅黑" panose="020B0503020204020204" pitchFamily="34" charset="-122"/>
                <a:ea typeface="微软雅黑" panose="020B0503020204020204" pitchFamily="34" charset="-122"/>
              </a:rPr>
              <a:t>许多企业背负沉重债务负担，面临破产</a:t>
            </a:r>
          </a:p>
          <a:p>
            <a:pPr marL="800100" lvl="4" indent="-342900">
              <a:lnSpc>
                <a:spcPct val="110000"/>
              </a:lnSpc>
              <a:spcBef>
                <a:spcPts val="1800"/>
              </a:spcBef>
              <a:buFont typeface="Wingdings" panose="05000000000000000000" pitchFamily="2" charset="2"/>
              <a:buChar char="Ø"/>
            </a:pPr>
            <a:r>
              <a:rPr lang="zh-CN" altLang="en-US" sz="2400" dirty="0">
                <a:latin typeface="微软雅黑" panose="020B0503020204020204" pitchFamily="34" charset="-122"/>
                <a:ea typeface="微软雅黑" panose="020B0503020204020204" pitchFamily="34" charset="-122"/>
              </a:rPr>
              <a:t>政府试图通过以邻为壑的政策解决危机（如削减进口）</a:t>
            </a:r>
          </a:p>
        </p:txBody>
      </p:sp>
      <p:sp>
        <p:nvSpPr>
          <p:cNvPr id="5" name="页脚占位符 4"/>
          <p:cNvSpPr>
            <a:spLocks noGrp="1"/>
          </p:cNvSpPr>
          <p:nvPr>
            <p:ph type="ftr" sz="quarter" idx="11"/>
          </p:nvPr>
        </p:nvSpPr>
        <p:spPr/>
        <p:txBody>
          <a:bodyPr/>
          <a:lstStyle/>
          <a:p>
            <a:r>
              <a:rPr lang="zh-CN" altLang="en-US" smtClean="0"/>
              <a:t>国际金融学 范小云</a:t>
            </a:r>
            <a:endParaRPr lang="zh-CN" altLang="en-US" dirty="0"/>
          </a:p>
        </p:txBody>
      </p:sp>
    </p:spTree>
    <p:extLst>
      <p:ext uri="{BB962C8B-B14F-4D97-AF65-F5344CB8AC3E}">
        <p14:creationId xmlns:p14="http://schemas.microsoft.com/office/powerpoint/2010/main" val="72052421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Effect transition="in" filter="fade">
                                      <p:cBhvr>
                                        <p:cTn id="7" dur="500"/>
                                        <p:tgtEl>
                                          <p:spTgt spid="3">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2" end="2"/>
                                            </p:txEl>
                                          </p:spTgt>
                                        </p:tgtEl>
                                        <p:attrNameLst>
                                          <p:attrName>style.visibility</p:attrName>
                                        </p:attrNameLst>
                                      </p:cBhvr>
                                      <p:to>
                                        <p:strVal val="visible"/>
                                      </p:to>
                                    </p:set>
                                    <p:animEffect transition="in" filter="fade">
                                      <p:cBhvr>
                                        <p:cTn id="12" dur="500"/>
                                        <p:tgtEl>
                                          <p:spTgt spid="3">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
                                            <p:txEl>
                                              <p:pRg st="3" end="3"/>
                                            </p:txEl>
                                          </p:spTgt>
                                        </p:tgtEl>
                                        <p:attrNameLst>
                                          <p:attrName>style.visibility</p:attrName>
                                        </p:attrNameLst>
                                      </p:cBhvr>
                                      <p:to>
                                        <p:strVal val="visible"/>
                                      </p:to>
                                    </p:set>
                                    <p:animEffect transition="in" filter="fade">
                                      <p:cBhvr>
                                        <p:cTn id="17" dur="500"/>
                                        <p:tgtEl>
                                          <p:spTgt spid="3">
                                            <p:txEl>
                                              <p:pRg st="3" end="3"/>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3">
                                            <p:txEl>
                                              <p:pRg st="4" end="4"/>
                                            </p:txEl>
                                          </p:spTgt>
                                        </p:tgtEl>
                                        <p:attrNameLst>
                                          <p:attrName>style.visibility</p:attrName>
                                        </p:attrNameLst>
                                      </p:cBhvr>
                                      <p:to>
                                        <p:strVal val="visible"/>
                                      </p:to>
                                    </p:set>
                                    <p:animEffect transition="in" filter="fade">
                                      <p:cBhvr>
                                        <p:cTn id="22" dur="500"/>
                                        <p:tgtEl>
                                          <p:spTgt spid="3">
                                            <p:txEl>
                                              <p:pRg st="4" end="4"/>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animEffect transition="in" filter="fade">
                                      <p:cBhvr>
                                        <p:cTn id="27" dur="500"/>
                                        <p:tgtEl>
                                          <p:spTgt spid="3">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第二节	国际金融危机的一般理论</a:t>
            </a:r>
            <a:endParaRPr lang="zh-CN" dirty="0"/>
          </a:p>
        </p:txBody>
      </p:sp>
      <p:sp>
        <p:nvSpPr>
          <p:cNvPr id="3" name="内容占位符 2"/>
          <p:cNvSpPr>
            <a:spLocks noGrp="1"/>
          </p:cNvSpPr>
          <p:nvPr>
            <p:ph idx="1"/>
          </p:nvPr>
        </p:nvSpPr>
        <p:spPr>
          <a:xfrm>
            <a:off x="971550" y="1447799"/>
            <a:ext cx="7200900" cy="4841879"/>
          </a:xfrm>
        </p:spPr>
        <p:txBody>
          <a:bodyPr>
            <a:normAutofit fontScale="92500" lnSpcReduction="20000"/>
          </a:bodyPr>
          <a:lstStyle/>
          <a:p>
            <a:pPr marL="514350" indent="-514350">
              <a:lnSpc>
                <a:spcPct val="100000"/>
              </a:lnSpc>
              <a:buFont typeface="+mj-lt"/>
              <a:buAutoNum type="arabicPeriod" startAt="3"/>
            </a:pPr>
            <a:r>
              <a:rPr lang="en-US" altLang="zh-CN" sz="2600" dirty="0">
                <a:latin typeface="微软雅黑" panose="020B0503020204020204" pitchFamily="34" charset="-122"/>
                <a:ea typeface="微软雅黑" panose="020B0503020204020204" pitchFamily="34" charset="-122"/>
              </a:rPr>
              <a:t>The Asian Financial Crash</a:t>
            </a:r>
          </a:p>
          <a:p>
            <a:pPr marL="0" lvl="2" indent="457200">
              <a:lnSpc>
                <a:spcPct val="130000"/>
              </a:lnSpc>
              <a:spcBef>
                <a:spcPts val="1800"/>
              </a:spcBef>
              <a:buNone/>
            </a:pPr>
            <a:r>
              <a:rPr lang="zh-CN" altLang="en-US" sz="2600" dirty="0">
                <a:latin typeface="微软雅黑" panose="020B0503020204020204" pitchFamily="34" charset="-122"/>
                <a:ea typeface="微软雅黑" panose="020B0503020204020204" pitchFamily="34" charset="-122"/>
              </a:rPr>
              <a:t>但是，也有一些亮点：</a:t>
            </a:r>
          </a:p>
          <a:p>
            <a:pPr marL="800100" lvl="4" indent="-342900">
              <a:lnSpc>
                <a:spcPct val="110000"/>
              </a:lnSpc>
              <a:spcBef>
                <a:spcPts val="1800"/>
              </a:spcBef>
              <a:buFont typeface="Wingdings" panose="05000000000000000000" pitchFamily="2" charset="2"/>
              <a:buChar char="Ø"/>
            </a:pPr>
            <a:r>
              <a:rPr lang="zh-CN" altLang="en-US" sz="2400" dirty="0" smtClean="0">
                <a:latin typeface="微软雅黑" panose="020B0503020204020204" pitchFamily="34" charset="-122"/>
                <a:ea typeface="微软雅黑" panose="020B0503020204020204" pitchFamily="34" charset="-122"/>
              </a:rPr>
              <a:t>中国</a:t>
            </a:r>
            <a:r>
              <a:rPr lang="zh-CN" altLang="en-US" sz="2400" dirty="0">
                <a:latin typeface="微软雅黑" panose="020B0503020204020204" pitchFamily="34" charset="-122"/>
                <a:ea typeface="微软雅黑" panose="020B0503020204020204" pitchFamily="34" charset="-122"/>
              </a:rPr>
              <a:t>在危机期间仍维持了相当的经济增长速度；</a:t>
            </a:r>
          </a:p>
          <a:p>
            <a:pPr marL="800100" lvl="4" indent="-342900">
              <a:lnSpc>
                <a:spcPct val="110000"/>
              </a:lnSpc>
              <a:spcBef>
                <a:spcPts val="1800"/>
              </a:spcBef>
              <a:buFont typeface="Wingdings" panose="05000000000000000000" pitchFamily="2" charset="2"/>
              <a:buChar char="Ø"/>
            </a:pPr>
            <a:r>
              <a:rPr lang="zh-CN" altLang="en-US" sz="2400" dirty="0" smtClean="0">
                <a:latin typeface="微软雅黑" panose="020B0503020204020204" pitchFamily="34" charset="-122"/>
                <a:ea typeface="微软雅黑" panose="020B0503020204020204" pitchFamily="34" charset="-122"/>
              </a:rPr>
              <a:t>中国</a:t>
            </a:r>
            <a:r>
              <a:rPr lang="zh-CN" altLang="en-US" sz="2400" dirty="0">
                <a:latin typeface="微软雅黑" panose="020B0503020204020204" pitchFamily="34" charset="-122"/>
                <a:ea typeface="微软雅黑" panose="020B0503020204020204" pitchFamily="34" charset="-122"/>
              </a:rPr>
              <a:t>保持人民币汇率稳定，防止各国进一步</a:t>
            </a:r>
            <a:r>
              <a:rPr lang="zh-CN" altLang="en-US" sz="2400" dirty="0" smtClean="0">
                <a:latin typeface="微软雅黑" panose="020B0503020204020204" pitchFamily="34" charset="-122"/>
                <a:ea typeface="微软雅黑" panose="020B0503020204020204" pitchFamily="34" charset="-122"/>
              </a:rPr>
              <a:t>竞争性贬值</a:t>
            </a:r>
            <a:r>
              <a:rPr lang="zh-CN" altLang="en-US" sz="2400" dirty="0">
                <a:latin typeface="微软雅黑" panose="020B0503020204020204" pitchFamily="34" charset="-122"/>
                <a:ea typeface="微软雅黑" panose="020B0503020204020204" pitchFamily="34" charset="-122"/>
              </a:rPr>
              <a:t>，助于区域经济的稳定</a:t>
            </a:r>
          </a:p>
          <a:p>
            <a:pPr marL="800100" lvl="4" indent="-342900">
              <a:lnSpc>
                <a:spcPct val="110000"/>
              </a:lnSpc>
              <a:spcBef>
                <a:spcPts val="1800"/>
              </a:spcBef>
              <a:buFont typeface="Wingdings" panose="05000000000000000000" pitchFamily="2" charset="2"/>
              <a:buChar char="Ø"/>
            </a:pPr>
            <a:r>
              <a:rPr lang="zh-CN" altLang="en-US" sz="2400" dirty="0" smtClean="0">
                <a:latin typeface="微软雅黑" panose="020B0503020204020204" pitchFamily="34" charset="-122"/>
                <a:ea typeface="微软雅黑" panose="020B0503020204020204" pitchFamily="34" charset="-122"/>
              </a:rPr>
              <a:t>中国</a:t>
            </a:r>
            <a:r>
              <a:rPr lang="zh-CN" altLang="en-US" sz="2400" dirty="0">
                <a:latin typeface="微软雅黑" panose="020B0503020204020204" pitchFamily="34" charset="-122"/>
                <a:ea typeface="微软雅黑" panose="020B0503020204020204" pitchFamily="34" charset="-122"/>
              </a:rPr>
              <a:t>维持了进口规模</a:t>
            </a:r>
          </a:p>
          <a:p>
            <a:pPr marL="800100" lvl="4" indent="-342900">
              <a:lnSpc>
                <a:spcPct val="110000"/>
              </a:lnSpc>
              <a:spcBef>
                <a:spcPts val="1800"/>
              </a:spcBef>
              <a:buFont typeface="Wingdings" panose="05000000000000000000" pitchFamily="2" charset="2"/>
              <a:buChar char="Ø"/>
            </a:pPr>
            <a:r>
              <a:rPr lang="zh-CN" altLang="en-US" sz="2400" dirty="0" smtClean="0">
                <a:latin typeface="微软雅黑" panose="020B0503020204020204" pitchFamily="34" charset="-122"/>
                <a:ea typeface="微软雅黑" panose="020B0503020204020204" pitchFamily="34" charset="-122"/>
              </a:rPr>
              <a:t>香港</a:t>
            </a:r>
            <a:r>
              <a:rPr lang="en-US" altLang="zh-CN" sz="2400" dirty="0">
                <a:latin typeface="微软雅黑" panose="020B0503020204020204" pitchFamily="34" charset="-122"/>
                <a:ea typeface="微软雅黑" panose="020B0503020204020204" pitchFamily="34" charset="-122"/>
              </a:rPr>
              <a:t>1997</a:t>
            </a:r>
            <a:r>
              <a:rPr lang="zh-CN" altLang="en-US" sz="2400" dirty="0">
                <a:latin typeface="微软雅黑" panose="020B0503020204020204" pitchFamily="34" charset="-122"/>
                <a:ea typeface="微软雅黑" panose="020B0503020204020204" pitchFamily="34" charset="-122"/>
              </a:rPr>
              <a:t>年</a:t>
            </a:r>
            <a:r>
              <a:rPr lang="en-US" altLang="zh-CN" sz="2400" dirty="0">
                <a:latin typeface="微软雅黑" panose="020B0503020204020204" pitchFamily="34" charset="-122"/>
                <a:ea typeface="微软雅黑" panose="020B0503020204020204" pitchFamily="34" charset="-122"/>
              </a:rPr>
              <a:t>10</a:t>
            </a:r>
            <a:r>
              <a:rPr lang="zh-CN" altLang="en-US" sz="2400" dirty="0">
                <a:latin typeface="微软雅黑" panose="020B0503020204020204" pitchFamily="34" charset="-122"/>
                <a:ea typeface="微软雅黑" panose="020B0503020204020204" pitchFamily="34" charset="-122"/>
              </a:rPr>
              <a:t>月和</a:t>
            </a:r>
            <a:r>
              <a:rPr lang="en-US" altLang="zh-CN" sz="2400" dirty="0">
                <a:latin typeface="微软雅黑" panose="020B0503020204020204" pitchFamily="34" charset="-122"/>
                <a:ea typeface="微软雅黑" panose="020B0503020204020204" pitchFamily="34" charset="-122"/>
              </a:rPr>
              <a:t>1998</a:t>
            </a:r>
            <a:r>
              <a:rPr lang="zh-CN" altLang="en-US" sz="2400" dirty="0">
                <a:latin typeface="微软雅黑" panose="020B0503020204020204" pitchFamily="34" charset="-122"/>
                <a:ea typeface="微软雅黑" panose="020B0503020204020204" pitchFamily="34" charset="-122"/>
              </a:rPr>
              <a:t>年</a:t>
            </a:r>
            <a:r>
              <a:rPr lang="en-US" altLang="zh-CN" sz="2400" dirty="0">
                <a:latin typeface="微软雅黑" panose="020B0503020204020204" pitchFamily="34" charset="-122"/>
                <a:ea typeface="微软雅黑" panose="020B0503020204020204" pitchFamily="34" charset="-122"/>
              </a:rPr>
              <a:t>9</a:t>
            </a:r>
            <a:r>
              <a:rPr lang="zh-CN" altLang="en-US" sz="2400" dirty="0">
                <a:latin typeface="微软雅黑" panose="020B0503020204020204" pitchFamily="34" charset="-122"/>
                <a:ea typeface="微软雅黑" panose="020B0503020204020204" pitchFamily="34" charset="-122"/>
              </a:rPr>
              <a:t>月击退投机性攻击</a:t>
            </a:r>
          </a:p>
          <a:p>
            <a:pPr marL="800100" lvl="4" indent="-342900">
              <a:lnSpc>
                <a:spcPct val="110000"/>
              </a:lnSpc>
              <a:spcBef>
                <a:spcPts val="1800"/>
              </a:spcBef>
              <a:buFont typeface="Wingdings" panose="05000000000000000000" pitchFamily="2" charset="2"/>
              <a:buChar char="Ø"/>
            </a:pPr>
            <a:r>
              <a:rPr lang="zh-CN" altLang="en-US" sz="2400" dirty="0" smtClean="0">
                <a:latin typeface="微软雅黑" panose="020B0503020204020204" pitchFamily="34" charset="-122"/>
                <a:ea typeface="微软雅黑" panose="020B0503020204020204" pitchFamily="34" charset="-122"/>
              </a:rPr>
              <a:t>台湾</a:t>
            </a:r>
            <a:r>
              <a:rPr lang="zh-CN" altLang="en-US" sz="2400" dirty="0">
                <a:latin typeface="微软雅黑" panose="020B0503020204020204" pitchFamily="34" charset="-122"/>
                <a:ea typeface="微软雅黑" panose="020B0503020204020204" pitchFamily="34" charset="-122"/>
              </a:rPr>
              <a:t>在危机中保持了快速的经济增长速度</a:t>
            </a:r>
          </a:p>
          <a:p>
            <a:pPr marL="800100" lvl="4" indent="-342900">
              <a:lnSpc>
                <a:spcPct val="110000"/>
              </a:lnSpc>
              <a:spcBef>
                <a:spcPts val="1800"/>
              </a:spcBef>
              <a:buFont typeface="Wingdings" panose="05000000000000000000" pitchFamily="2" charset="2"/>
              <a:buChar char="Ø"/>
            </a:pPr>
            <a:r>
              <a:rPr lang="zh-CN" altLang="en-US" sz="2400" dirty="0" smtClean="0">
                <a:latin typeface="微软雅黑" panose="020B0503020204020204" pitchFamily="34" charset="-122"/>
                <a:ea typeface="微软雅黑" panose="020B0503020204020204" pitchFamily="34" charset="-122"/>
              </a:rPr>
              <a:t>香港</a:t>
            </a:r>
            <a:r>
              <a:rPr lang="zh-CN" altLang="en-US" sz="2400" dirty="0">
                <a:latin typeface="微软雅黑" panose="020B0503020204020204" pitchFamily="34" charset="-122"/>
                <a:ea typeface="微软雅黑" panose="020B0503020204020204" pitchFamily="34" charset="-122"/>
              </a:rPr>
              <a:t>和新加坡的银行系统没有出现重大的违约或</a:t>
            </a:r>
            <a:r>
              <a:rPr lang="zh-CN" altLang="en-US" sz="2400" dirty="0" smtClean="0">
                <a:latin typeface="微软雅黑" panose="020B0503020204020204" pitchFamily="34" charset="-122"/>
                <a:ea typeface="微软雅黑" panose="020B0503020204020204" pitchFamily="34" charset="-122"/>
              </a:rPr>
              <a:t>破产</a:t>
            </a:r>
            <a:r>
              <a:rPr lang="zh-CN" altLang="en-US" sz="2400" dirty="0">
                <a:latin typeface="微软雅黑" panose="020B0503020204020204" pitchFamily="34" charset="-122"/>
                <a:ea typeface="微软雅黑" panose="020B0503020204020204" pitchFamily="34" charset="-122"/>
              </a:rPr>
              <a:t>。</a:t>
            </a:r>
          </a:p>
        </p:txBody>
      </p:sp>
      <p:sp>
        <p:nvSpPr>
          <p:cNvPr id="5" name="页脚占位符 4"/>
          <p:cNvSpPr>
            <a:spLocks noGrp="1"/>
          </p:cNvSpPr>
          <p:nvPr>
            <p:ph type="ftr" sz="quarter" idx="11"/>
          </p:nvPr>
        </p:nvSpPr>
        <p:spPr/>
        <p:txBody>
          <a:bodyPr/>
          <a:lstStyle/>
          <a:p>
            <a:r>
              <a:rPr lang="zh-CN" altLang="en-US" smtClean="0"/>
              <a:t>国际金融学 范小云</a:t>
            </a:r>
            <a:endParaRPr lang="zh-CN" altLang="en-US" dirty="0"/>
          </a:p>
        </p:txBody>
      </p:sp>
    </p:spTree>
    <p:extLst>
      <p:ext uri="{BB962C8B-B14F-4D97-AF65-F5344CB8AC3E}">
        <p14:creationId xmlns:p14="http://schemas.microsoft.com/office/powerpoint/2010/main" val="353919656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Effect transition="in" filter="fade">
                                      <p:cBhvr>
                                        <p:cTn id="7" dur="500"/>
                                        <p:tgtEl>
                                          <p:spTgt spid="3">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2" end="2"/>
                                            </p:txEl>
                                          </p:spTgt>
                                        </p:tgtEl>
                                        <p:attrNameLst>
                                          <p:attrName>style.visibility</p:attrName>
                                        </p:attrNameLst>
                                      </p:cBhvr>
                                      <p:to>
                                        <p:strVal val="visible"/>
                                      </p:to>
                                    </p:set>
                                    <p:animEffect transition="in" filter="fade">
                                      <p:cBhvr>
                                        <p:cTn id="12" dur="500"/>
                                        <p:tgtEl>
                                          <p:spTgt spid="3">
                                            <p:txEl>
                                              <p:pRg st="2" end="2"/>
                                            </p:txEl>
                                          </p:spTgt>
                                        </p:tgtEl>
                                      </p:cBhvr>
                                    </p:animEffect>
                                  </p:childTnLst>
                                </p:cTn>
                              </p:par>
                              <p:par>
                                <p:cTn id="13" presetID="10" presetClass="entr" presetSubtype="0" fill="hold" nodeType="with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animEffect transition="in" filter="fade">
                                      <p:cBhvr>
                                        <p:cTn id="15" dur="500"/>
                                        <p:tgtEl>
                                          <p:spTgt spid="3">
                                            <p:txEl>
                                              <p:pRg st="3" end="3"/>
                                            </p:txEl>
                                          </p:spTgt>
                                        </p:tgtEl>
                                      </p:cBhvr>
                                    </p:animEffect>
                                  </p:childTnLst>
                                </p:cTn>
                              </p:par>
                              <p:par>
                                <p:cTn id="16" presetID="10" presetClass="entr" presetSubtype="0" fill="hold" nodeType="withEffect">
                                  <p:stCondLst>
                                    <p:cond delay="0"/>
                                  </p:stCondLst>
                                  <p:childTnLst>
                                    <p:set>
                                      <p:cBhvr>
                                        <p:cTn id="17" dur="1" fill="hold">
                                          <p:stCondLst>
                                            <p:cond delay="0"/>
                                          </p:stCondLst>
                                        </p:cTn>
                                        <p:tgtEl>
                                          <p:spTgt spid="3">
                                            <p:txEl>
                                              <p:pRg st="4" end="4"/>
                                            </p:txEl>
                                          </p:spTgt>
                                        </p:tgtEl>
                                        <p:attrNameLst>
                                          <p:attrName>style.visibility</p:attrName>
                                        </p:attrNameLst>
                                      </p:cBhvr>
                                      <p:to>
                                        <p:strVal val="visible"/>
                                      </p:to>
                                    </p:set>
                                    <p:animEffect transition="in" filter="fade">
                                      <p:cBhvr>
                                        <p:cTn id="18" dur="500"/>
                                        <p:tgtEl>
                                          <p:spTgt spid="3">
                                            <p:txEl>
                                              <p:pRg st="4" end="4"/>
                                            </p:txEl>
                                          </p:spTgt>
                                        </p:tgtEl>
                                      </p:cBhvr>
                                    </p:animEffect>
                                  </p:childTnLst>
                                </p:cTn>
                              </p:par>
                              <p:par>
                                <p:cTn id="19" presetID="10" presetClass="entr" presetSubtype="0" fill="hold" nodeType="withEffect">
                                  <p:stCondLst>
                                    <p:cond delay="0"/>
                                  </p:stCondLst>
                                  <p:childTnLst>
                                    <p:set>
                                      <p:cBhvr>
                                        <p:cTn id="20" dur="1" fill="hold">
                                          <p:stCondLst>
                                            <p:cond delay="0"/>
                                          </p:stCondLst>
                                        </p:cTn>
                                        <p:tgtEl>
                                          <p:spTgt spid="3">
                                            <p:txEl>
                                              <p:pRg st="5" end="5"/>
                                            </p:txEl>
                                          </p:spTgt>
                                        </p:tgtEl>
                                        <p:attrNameLst>
                                          <p:attrName>style.visibility</p:attrName>
                                        </p:attrNameLst>
                                      </p:cBhvr>
                                      <p:to>
                                        <p:strVal val="visible"/>
                                      </p:to>
                                    </p:set>
                                    <p:animEffect transition="in" filter="fade">
                                      <p:cBhvr>
                                        <p:cTn id="21" dur="500"/>
                                        <p:tgtEl>
                                          <p:spTgt spid="3">
                                            <p:txEl>
                                              <p:pRg st="5" end="5"/>
                                            </p:txEl>
                                          </p:spTgt>
                                        </p:tgtEl>
                                      </p:cBhvr>
                                    </p:animEffect>
                                  </p:childTnLst>
                                </p:cTn>
                              </p:par>
                              <p:par>
                                <p:cTn id="22" presetID="10" presetClass="entr" presetSubtype="0" fill="hold" nodeType="withEffect">
                                  <p:stCondLst>
                                    <p:cond delay="0"/>
                                  </p:stCondLst>
                                  <p:childTnLst>
                                    <p:set>
                                      <p:cBhvr>
                                        <p:cTn id="23" dur="1" fill="hold">
                                          <p:stCondLst>
                                            <p:cond delay="0"/>
                                          </p:stCondLst>
                                        </p:cTn>
                                        <p:tgtEl>
                                          <p:spTgt spid="3">
                                            <p:txEl>
                                              <p:pRg st="6" end="6"/>
                                            </p:txEl>
                                          </p:spTgt>
                                        </p:tgtEl>
                                        <p:attrNameLst>
                                          <p:attrName>style.visibility</p:attrName>
                                        </p:attrNameLst>
                                      </p:cBhvr>
                                      <p:to>
                                        <p:strVal val="visible"/>
                                      </p:to>
                                    </p:set>
                                    <p:animEffect transition="in" filter="fade">
                                      <p:cBhvr>
                                        <p:cTn id="24" dur="500"/>
                                        <p:tgtEl>
                                          <p:spTgt spid="3">
                                            <p:txEl>
                                              <p:pRg st="6" end="6"/>
                                            </p:txEl>
                                          </p:spTgt>
                                        </p:tgtEl>
                                      </p:cBhvr>
                                    </p:animEffect>
                                  </p:childTnLst>
                                </p:cTn>
                              </p:par>
                              <p:par>
                                <p:cTn id="25" presetID="10" presetClass="entr" presetSubtype="0" fill="hold" nodeType="withEffect">
                                  <p:stCondLst>
                                    <p:cond delay="0"/>
                                  </p:stCondLst>
                                  <p:childTnLst>
                                    <p:set>
                                      <p:cBhvr>
                                        <p:cTn id="26" dur="1" fill="hold">
                                          <p:stCondLst>
                                            <p:cond delay="0"/>
                                          </p:stCondLst>
                                        </p:cTn>
                                        <p:tgtEl>
                                          <p:spTgt spid="3">
                                            <p:txEl>
                                              <p:pRg st="7" end="7"/>
                                            </p:txEl>
                                          </p:spTgt>
                                        </p:tgtEl>
                                        <p:attrNameLst>
                                          <p:attrName>style.visibility</p:attrName>
                                        </p:attrNameLst>
                                      </p:cBhvr>
                                      <p:to>
                                        <p:strVal val="visible"/>
                                      </p:to>
                                    </p:set>
                                    <p:animEffect transition="in" filter="fade">
                                      <p:cBhvr>
                                        <p:cTn id="27" dur="500"/>
                                        <p:tgtEl>
                                          <p:spTgt spid="3">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第二节	国际金融危机的一般理论</a:t>
            </a:r>
            <a:endParaRPr lang="zh-CN" dirty="0"/>
          </a:p>
        </p:txBody>
      </p:sp>
      <p:sp>
        <p:nvSpPr>
          <p:cNvPr id="3" name="内容占位符 2"/>
          <p:cNvSpPr>
            <a:spLocks noGrp="1"/>
          </p:cNvSpPr>
          <p:nvPr>
            <p:ph idx="1"/>
          </p:nvPr>
        </p:nvSpPr>
        <p:spPr>
          <a:xfrm>
            <a:off x="971550" y="1447799"/>
            <a:ext cx="7200900" cy="4841879"/>
          </a:xfrm>
        </p:spPr>
        <p:txBody>
          <a:bodyPr>
            <a:normAutofit fontScale="92500" lnSpcReduction="10000"/>
          </a:bodyPr>
          <a:lstStyle/>
          <a:p>
            <a:pPr marL="514350" indent="-514350">
              <a:lnSpc>
                <a:spcPct val="100000"/>
              </a:lnSpc>
              <a:buFont typeface="+mj-lt"/>
              <a:buAutoNum type="arabicPeriod" startAt="3"/>
            </a:pPr>
            <a:r>
              <a:rPr lang="en-US" altLang="zh-CN" sz="2600" dirty="0">
                <a:latin typeface="微软雅黑" panose="020B0503020204020204" pitchFamily="34" charset="-122"/>
                <a:ea typeface="微软雅黑" panose="020B0503020204020204" pitchFamily="34" charset="-122"/>
              </a:rPr>
              <a:t>The Asian Financial Crash</a:t>
            </a:r>
          </a:p>
          <a:p>
            <a:pPr marL="742950" lvl="1" indent="-514350">
              <a:lnSpc>
                <a:spcPct val="100000"/>
              </a:lnSpc>
              <a:buFont typeface="+mj-ea"/>
              <a:buAutoNum type="circleNumDbPlain" startAt="4"/>
            </a:pPr>
            <a:r>
              <a:rPr lang="zh-CN" altLang="en-US" sz="2400" dirty="0">
                <a:latin typeface="微软雅黑" panose="020B0503020204020204" pitchFamily="34" charset="-122"/>
                <a:ea typeface="微软雅黑" panose="020B0503020204020204" pitchFamily="34" charset="-122"/>
              </a:rPr>
              <a:t>东亚危机的影响</a:t>
            </a:r>
          </a:p>
          <a:p>
            <a:pPr marL="800100" lvl="4" indent="-342900">
              <a:lnSpc>
                <a:spcPct val="110000"/>
              </a:lnSpc>
              <a:spcBef>
                <a:spcPts val="1800"/>
              </a:spcBef>
              <a:buFont typeface="Wingdings" panose="05000000000000000000" pitchFamily="2" charset="2"/>
              <a:buChar char="Ø"/>
            </a:pPr>
            <a:r>
              <a:rPr lang="zh-CN" altLang="en-US" sz="2400" dirty="0">
                <a:latin typeface="微软雅黑" panose="020B0503020204020204" pitchFamily="34" charset="-122"/>
                <a:ea typeface="微软雅黑" panose="020B0503020204020204" pitchFamily="34" charset="-122"/>
              </a:rPr>
              <a:t>日本是最大的输家</a:t>
            </a:r>
          </a:p>
          <a:p>
            <a:pPr marL="800100" lvl="4" indent="-342900">
              <a:lnSpc>
                <a:spcPct val="110000"/>
              </a:lnSpc>
              <a:spcBef>
                <a:spcPts val="1800"/>
              </a:spcBef>
              <a:buFont typeface="Wingdings" panose="05000000000000000000" pitchFamily="2" charset="2"/>
              <a:buChar char="Ø"/>
            </a:pPr>
            <a:r>
              <a:rPr lang="zh-CN" altLang="en-US" sz="2400" dirty="0">
                <a:latin typeface="微软雅黑" panose="020B0503020204020204" pitchFamily="34" charset="-122"/>
                <a:ea typeface="微软雅黑" panose="020B0503020204020204" pitchFamily="34" charset="-122"/>
              </a:rPr>
              <a:t>美国是表面上的赢家</a:t>
            </a:r>
          </a:p>
          <a:p>
            <a:pPr marL="800100" lvl="4" indent="-342900">
              <a:lnSpc>
                <a:spcPct val="110000"/>
              </a:lnSpc>
              <a:spcBef>
                <a:spcPts val="1800"/>
              </a:spcBef>
              <a:buFont typeface="Wingdings" panose="05000000000000000000" pitchFamily="2" charset="2"/>
              <a:buChar char="Ø"/>
            </a:pPr>
            <a:r>
              <a:rPr lang="zh-CN" altLang="en-US" sz="2400" dirty="0">
                <a:latin typeface="微软雅黑" panose="020B0503020204020204" pitchFamily="34" charset="-122"/>
                <a:ea typeface="微软雅黑" panose="020B0503020204020204" pitchFamily="34" charset="-122"/>
              </a:rPr>
              <a:t>中国是最大的政治上的赢家</a:t>
            </a:r>
          </a:p>
          <a:p>
            <a:pPr marL="800100" lvl="4" indent="-342900">
              <a:lnSpc>
                <a:spcPct val="110000"/>
              </a:lnSpc>
              <a:spcBef>
                <a:spcPts val="1800"/>
              </a:spcBef>
              <a:buFont typeface="Wingdings" panose="05000000000000000000" pitchFamily="2" charset="2"/>
              <a:buChar char="Ø"/>
            </a:pPr>
            <a:r>
              <a:rPr lang="zh-CN" altLang="en-US" sz="2400" dirty="0">
                <a:latin typeface="微软雅黑" panose="020B0503020204020204" pitchFamily="34" charset="-122"/>
                <a:ea typeface="微软雅黑" panose="020B0503020204020204" pitchFamily="34" charset="-122"/>
              </a:rPr>
              <a:t>香港和新加坡银行业被证明是这一地区最强大的</a:t>
            </a:r>
          </a:p>
          <a:p>
            <a:pPr marL="800100" lvl="4" indent="-342900">
              <a:lnSpc>
                <a:spcPct val="110000"/>
              </a:lnSpc>
              <a:spcBef>
                <a:spcPts val="1800"/>
              </a:spcBef>
              <a:buFont typeface="Wingdings" panose="05000000000000000000" pitchFamily="2" charset="2"/>
              <a:buChar char="Ø"/>
            </a:pPr>
            <a:r>
              <a:rPr lang="zh-CN" altLang="en-US" sz="2400" dirty="0">
                <a:latin typeface="微软雅黑" panose="020B0503020204020204" pitchFamily="34" charset="-122"/>
                <a:ea typeface="微软雅黑" panose="020B0503020204020204" pitchFamily="34" charset="-122"/>
              </a:rPr>
              <a:t>台湾尽管受到了美国经济衰退的影响，但是</a:t>
            </a:r>
            <a:r>
              <a:rPr lang="en-US" altLang="zh-CN" sz="2400" dirty="0">
                <a:latin typeface="微软雅黑" panose="020B0503020204020204" pitchFamily="34" charset="-122"/>
                <a:ea typeface="微软雅黑" panose="020B0503020204020204" pitchFamily="34" charset="-122"/>
              </a:rPr>
              <a:t>IT</a:t>
            </a:r>
            <a:r>
              <a:rPr lang="zh-CN" altLang="en-US" sz="2400" dirty="0">
                <a:latin typeface="微软雅黑" panose="020B0503020204020204" pitchFamily="34" charset="-122"/>
                <a:ea typeface="微软雅黑" panose="020B0503020204020204" pitchFamily="34" charset="-122"/>
              </a:rPr>
              <a:t>是经济的重要组成部分</a:t>
            </a:r>
          </a:p>
          <a:p>
            <a:pPr marL="800100" lvl="4" indent="-342900">
              <a:lnSpc>
                <a:spcPct val="110000"/>
              </a:lnSpc>
              <a:spcBef>
                <a:spcPts val="1800"/>
              </a:spcBef>
              <a:buFont typeface="Wingdings" panose="05000000000000000000" pitchFamily="2" charset="2"/>
              <a:buChar char="Ø"/>
            </a:pPr>
            <a:r>
              <a:rPr lang="zh-CN" altLang="en-US" sz="2400" dirty="0">
                <a:latin typeface="微软雅黑" panose="020B0503020204020204" pitchFamily="34" charset="-122"/>
                <a:ea typeface="微软雅黑" panose="020B0503020204020204" pitchFamily="34" charset="-122"/>
              </a:rPr>
              <a:t>东南亚国家遭受重大损失</a:t>
            </a:r>
          </a:p>
        </p:txBody>
      </p:sp>
      <p:sp>
        <p:nvSpPr>
          <p:cNvPr id="5" name="页脚占位符 4"/>
          <p:cNvSpPr>
            <a:spLocks noGrp="1"/>
          </p:cNvSpPr>
          <p:nvPr>
            <p:ph type="ftr" sz="quarter" idx="11"/>
          </p:nvPr>
        </p:nvSpPr>
        <p:spPr/>
        <p:txBody>
          <a:bodyPr/>
          <a:lstStyle/>
          <a:p>
            <a:r>
              <a:rPr lang="zh-CN" altLang="en-US" smtClean="0"/>
              <a:t>国际金融学 范小云</a:t>
            </a:r>
            <a:endParaRPr lang="zh-CN" altLang="en-US" dirty="0"/>
          </a:p>
        </p:txBody>
      </p:sp>
    </p:spTree>
    <p:extLst>
      <p:ext uri="{BB962C8B-B14F-4D97-AF65-F5344CB8AC3E}">
        <p14:creationId xmlns:p14="http://schemas.microsoft.com/office/powerpoint/2010/main" val="56303912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Effect transition="in" filter="fade">
                                      <p:cBhvr>
                                        <p:cTn id="7" dur="500"/>
                                        <p:tgtEl>
                                          <p:spTgt spid="3">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2" end="2"/>
                                            </p:txEl>
                                          </p:spTgt>
                                        </p:tgtEl>
                                        <p:attrNameLst>
                                          <p:attrName>style.visibility</p:attrName>
                                        </p:attrNameLst>
                                      </p:cBhvr>
                                      <p:to>
                                        <p:strVal val="visible"/>
                                      </p:to>
                                    </p:set>
                                    <p:animEffect transition="in" filter="fade">
                                      <p:cBhvr>
                                        <p:cTn id="12" dur="500"/>
                                        <p:tgtEl>
                                          <p:spTgt spid="3">
                                            <p:txEl>
                                              <p:pRg st="2" end="2"/>
                                            </p:txEl>
                                          </p:spTgt>
                                        </p:tgtEl>
                                      </p:cBhvr>
                                    </p:animEffect>
                                  </p:childTnLst>
                                </p:cTn>
                              </p:par>
                              <p:par>
                                <p:cTn id="13" presetID="10" presetClass="entr" presetSubtype="0" fill="hold" nodeType="with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animEffect transition="in" filter="fade">
                                      <p:cBhvr>
                                        <p:cTn id="15" dur="500"/>
                                        <p:tgtEl>
                                          <p:spTgt spid="3">
                                            <p:txEl>
                                              <p:pRg st="3" end="3"/>
                                            </p:txEl>
                                          </p:spTgt>
                                        </p:tgtEl>
                                      </p:cBhvr>
                                    </p:animEffect>
                                  </p:childTnLst>
                                </p:cTn>
                              </p:par>
                              <p:par>
                                <p:cTn id="16" presetID="10" presetClass="entr" presetSubtype="0" fill="hold" nodeType="withEffect">
                                  <p:stCondLst>
                                    <p:cond delay="0"/>
                                  </p:stCondLst>
                                  <p:childTnLst>
                                    <p:set>
                                      <p:cBhvr>
                                        <p:cTn id="17" dur="1" fill="hold">
                                          <p:stCondLst>
                                            <p:cond delay="0"/>
                                          </p:stCondLst>
                                        </p:cTn>
                                        <p:tgtEl>
                                          <p:spTgt spid="3">
                                            <p:txEl>
                                              <p:pRg st="4" end="4"/>
                                            </p:txEl>
                                          </p:spTgt>
                                        </p:tgtEl>
                                        <p:attrNameLst>
                                          <p:attrName>style.visibility</p:attrName>
                                        </p:attrNameLst>
                                      </p:cBhvr>
                                      <p:to>
                                        <p:strVal val="visible"/>
                                      </p:to>
                                    </p:set>
                                    <p:animEffect transition="in" filter="fade">
                                      <p:cBhvr>
                                        <p:cTn id="18" dur="500"/>
                                        <p:tgtEl>
                                          <p:spTgt spid="3">
                                            <p:txEl>
                                              <p:pRg st="4" end="4"/>
                                            </p:txEl>
                                          </p:spTgt>
                                        </p:tgtEl>
                                      </p:cBhvr>
                                    </p:animEffect>
                                  </p:childTnLst>
                                </p:cTn>
                              </p:par>
                              <p:par>
                                <p:cTn id="19" presetID="10" presetClass="entr" presetSubtype="0" fill="hold" nodeType="withEffect">
                                  <p:stCondLst>
                                    <p:cond delay="0"/>
                                  </p:stCondLst>
                                  <p:childTnLst>
                                    <p:set>
                                      <p:cBhvr>
                                        <p:cTn id="20" dur="1" fill="hold">
                                          <p:stCondLst>
                                            <p:cond delay="0"/>
                                          </p:stCondLst>
                                        </p:cTn>
                                        <p:tgtEl>
                                          <p:spTgt spid="3">
                                            <p:txEl>
                                              <p:pRg st="5" end="5"/>
                                            </p:txEl>
                                          </p:spTgt>
                                        </p:tgtEl>
                                        <p:attrNameLst>
                                          <p:attrName>style.visibility</p:attrName>
                                        </p:attrNameLst>
                                      </p:cBhvr>
                                      <p:to>
                                        <p:strVal val="visible"/>
                                      </p:to>
                                    </p:set>
                                    <p:animEffect transition="in" filter="fade">
                                      <p:cBhvr>
                                        <p:cTn id="21" dur="500"/>
                                        <p:tgtEl>
                                          <p:spTgt spid="3">
                                            <p:txEl>
                                              <p:pRg st="5" end="5"/>
                                            </p:txEl>
                                          </p:spTgt>
                                        </p:tgtEl>
                                      </p:cBhvr>
                                    </p:animEffect>
                                  </p:childTnLst>
                                </p:cTn>
                              </p:par>
                              <p:par>
                                <p:cTn id="22" presetID="10" presetClass="entr" presetSubtype="0" fill="hold" nodeType="withEffect">
                                  <p:stCondLst>
                                    <p:cond delay="0"/>
                                  </p:stCondLst>
                                  <p:childTnLst>
                                    <p:set>
                                      <p:cBhvr>
                                        <p:cTn id="23" dur="1" fill="hold">
                                          <p:stCondLst>
                                            <p:cond delay="0"/>
                                          </p:stCondLst>
                                        </p:cTn>
                                        <p:tgtEl>
                                          <p:spTgt spid="3">
                                            <p:txEl>
                                              <p:pRg st="6" end="6"/>
                                            </p:txEl>
                                          </p:spTgt>
                                        </p:tgtEl>
                                        <p:attrNameLst>
                                          <p:attrName>style.visibility</p:attrName>
                                        </p:attrNameLst>
                                      </p:cBhvr>
                                      <p:to>
                                        <p:strVal val="visible"/>
                                      </p:to>
                                    </p:set>
                                    <p:animEffect transition="in" filter="fade">
                                      <p:cBhvr>
                                        <p:cTn id="24" dur="500"/>
                                        <p:tgtEl>
                                          <p:spTgt spid="3">
                                            <p:txEl>
                                              <p:pRg st="6" end="6"/>
                                            </p:txEl>
                                          </p:spTgt>
                                        </p:tgtEl>
                                      </p:cBhvr>
                                    </p:animEffect>
                                  </p:childTnLst>
                                </p:cTn>
                              </p:par>
                              <p:par>
                                <p:cTn id="25" presetID="10" presetClass="entr" presetSubtype="0" fill="hold" nodeType="withEffect">
                                  <p:stCondLst>
                                    <p:cond delay="0"/>
                                  </p:stCondLst>
                                  <p:childTnLst>
                                    <p:set>
                                      <p:cBhvr>
                                        <p:cTn id="26" dur="1" fill="hold">
                                          <p:stCondLst>
                                            <p:cond delay="0"/>
                                          </p:stCondLst>
                                        </p:cTn>
                                        <p:tgtEl>
                                          <p:spTgt spid="3">
                                            <p:txEl>
                                              <p:pRg st="7" end="7"/>
                                            </p:txEl>
                                          </p:spTgt>
                                        </p:tgtEl>
                                        <p:attrNameLst>
                                          <p:attrName>style.visibility</p:attrName>
                                        </p:attrNameLst>
                                      </p:cBhvr>
                                      <p:to>
                                        <p:strVal val="visible"/>
                                      </p:to>
                                    </p:set>
                                    <p:animEffect transition="in" filter="fade">
                                      <p:cBhvr>
                                        <p:cTn id="27" dur="500"/>
                                        <p:tgtEl>
                                          <p:spTgt spid="3">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页脚占位符 4"/>
          <p:cNvSpPr>
            <a:spLocks noGrp="1"/>
          </p:cNvSpPr>
          <p:nvPr>
            <p:ph type="ftr" sz="quarter" idx="11"/>
          </p:nvPr>
        </p:nvSpPr>
        <p:spPr/>
        <p:txBody>
          <a:bodyPr/>
          <a:lstStyle/>
          <a:p>
            <a:r>
              <a:rPr lang="zh-CN" altLang="en-US" smtClean="0"/>
              <a:t>国际金融学 范小云</a:t>
            </a:r>
            <a:endParaRPr lang="zh-CN" altLang="en-US" dirty="0"/>
          </a:p>
        </p:txBody>
      </p:sp>
      <p:sp>
        <p:nvSpPr>
          <p:cNvPr id="7" name="Rectangle 4"/>
          <p:cNvSpPr>
            <a:spLocks noChangeArrowheads="1"/>
          </p:cNvSpPr>
          <p:nvPr/>
        </p:nvSpPr>
        <p:spPr bwMode="auto">
          <a:xfrm>
            <a:off x="457201" y="0"/>
            <a:ext cx="8324850" cy="7078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eaLnBrk="0" hangingPunct="0">
              <a:tabLst>
                <a:tab pos="439738" algn="r"/>
                <a:tab pos="2420938" algn="r"/>
                <a:tab pos="3060700" algn="r"/>
                <a:tab pos="3781425" algn="r"/>
                <a:tab pos="4500563" algn="r"/>
                <a:tab pos="5221288" algn="r"/>
              </a:tabLst>
              <a:defRPr>
                <a:solidFill>
                  <a:schemeClr val="tx1"/>
                </a:solidFill>
                <a:latin typeface="Arial" panose="020B0604020202020204" pitchFamily="34" charset="0"/>
                <a:ea typeface="宋体" panose="02010600030101010101" pitchFamily="2" charset="-122"/>
              </a:defRPr>
            </a:lvl1pPr>
            <a:lvl2pPr marL="742950" indent="-285750" eaLnBrk="0" hangingPunct="0">
              <a:tabLst>
                <a:tab pos="439738" algn="r"/>
                <a:tab pos="2420938" algn="r"/>
                <a:tab pos="3060700" algn="r"/>
                <a:tab pos="3781425" algn="r"/>
                <a:tab pos="4500563" algn="r"/>
                <a:tab pos="5221288" algn="r"/>
              </a:tabLst>
              <a:defRPr>
                <a:solidFill>
                  <a:schemeClr val="tx1"/>
                </a:solidFill>
                <a:latin typeface="Arial" panose="020B0604020202020204" pitchFamily="34" charset="0"/>
                <a:ea typeface="宋体" panose="02010600030101010101" pitchFamily="2" charset="-122"/>
              </a:defRPr>
            </a:lvl2pPr>
            <a:lvl3pPr marL="1143000" indent="-228600" eaLnBrk="0" hangingPunct="0">
              <a:tabLst>
                <a:tab pos="439738" algn="r"/>
                <a:tab pos="2420938" algn="r"/>
                <a:tab pos="3060700" algn="r"/>
                <a:tab pos="3781425" algn="r"/>
                <a:tab pos="4500563" algn="r"/>
                <a:tab pos="5221288" algn="r"/>
              </a:tabLst>
              <a:defRPr>
                <a:solidFill>
                  <a:schemeClr val="tx1"/>
                </a:solidFill>
                <a:latin typeface="Arial" panose="020B0604020202020204" pitchFamily="34" charset="0"/>
                <a:ea typeface="宋体" panose="02010600030101010101" pitchFamily="2" charset="-122"/>
              </a:defRPr>
            </a:lvl3pPr>
            <a:lvl4pPr marL="1600200" indent="-228600" eaLnBrk="0" hangingPunct="0">
              <a:tabLst>
                <a:tab pos="439738" algn="r"/>
                <a:tab pos="2420938" algn="r"/>
                <a:tab pos="3060700" algn="r"/>
                <a:tab pos="3781425" algn="r"/>
                <a:tab pos="4500563" algn="r"/>
                <a:tab pos="5221288" algn="r"/>
              </a:tabLst>
              <a:defRPr>
                <a:solidFill>
                  <a:schemeClr val="tx1"/>
                </a:solidFill>
                <a:latin typeface="Arial" panose="020B0604020202020204" pitchFamily="34" charset="0"/>
                <a:ea typeface="宋体" panose="02010600030101010101" pitchFamily="2" charset="-122"/>
              </a:defRPr>
            </a:lvl4pPr>
            <a:lvl5pPr marL="2057400" indent="-228600" eaLnBrk="0" hangingPunct="0">
              <a:tabLst>
                <a:tab pos="439738" algn="r"/>
                <a:tab pos="2420938" algn="r"/>
                <a:tab pos="3060700" algn="r"/>
                <a:tab pos="3781425" algn="r"/>
                <a:tab pos="4500563" algn="r"/>
                <a:tab pos="5221288" algn="r"/>
              </a:tabLst>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tabLst>
                <a:tab pos="439738" algn="r"/>
                <a:tab pos="2420938" algn="r"/>
                <a:tab pos="3060700" algn="r"/>
                <a:tab pos="3781425" algn="r"/>
                <a:tab pos="4500563" algn="r"/>
                <a:tab pos="5221288" algn="r"/>
              </a:tabLs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tabLst>
                <a:tab pos="439738" algn="r"/>
                <a:tab pos="2420938" algn="r"/>
                <a:tab pos="3060700" algn="r"/>
                <a:tab pos="3781425" algn="r"/>
                <a:tab pos="4500563" algn="r"/>
                <a:tab pos="5221288" algn="r"/>
              </a:tabLs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tabLst>
                <a:tab pos="439738" algn="r"/>
                <a:tab pos="2420938" algn="r"/>
                <a:tab pos="3060700" algn="r"/>
                <a:tab pos="3781425" algn="r"/>
                <a:tab pos="4500563" algn="r"/>
                <a:tab pos="5221288" algn="r"/>
              </a:tabLs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tabLst>
                <a:tab pos="439738" algn="r"/>
                <a:tab pos="2420938" algn="r"/>
                <a:tab pos="3060700" algn="r"/>
                <a:tab pos="3781425" algn="r"/>
                <a:tab pos="4500563" algn="r"/>
                <a:tab pos="5221288" algn="r"/>
              </a:tabLs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sz="2000" b="1" dirty="0">
                <a:latin typeface="微软雅黑" panose="020B0503020204020204" pitchFamily="34" charset="-122"/>
                <a:ea typeface="微软雅黑" panose="020B0503020204020204" pitchFamily="34" charset="-122"/>
              </a:rPr>
              <a:t>EMERGING MARKET ECONOMIES’</a:t>
            </a:r>
            <a:br>
              <a:rPr lang="en-US" altLang="zh-CN" sz="2000" b="1" dirty="0">
                <a:latin typeface="微软雅黑" panose="020B0503020204020204" pitchFamily="34" charset="-122"/>
                <a:ea typeface="微软雅黑" panose="020B0503020204020204" pitchFamily="34" charset="-122"/>
              </a:rPr>
            </a:br>
            <a:r>
              <a:rPr lang="en-US" altLang="zh-CN" sz="2000" b="1" dirty="0">
                <a:latin typeface="微软雅黑" panose="020B0503020204020204" pitchFamily="34" charset="-122"/>
                <a:ea typeface="微软雅黑" panose="020B0503020204020204" pitchFamily="34" charset="-122"/>
              </a:rPr>
              <a:t> EXTERNAL </a:t>
            </a:r>
            <a:r>
              <a:rPr lang="en-US" altLang="zh-CN" sz="2000" b="1" dirty="0" smtClean="0">
                <a:latin typeface="微软雅黑" panose="020B0503020204020204" pitchFamily="34" charset="-122"/>
                <a:ea typeface="微软雅黑" panose="020B0503020204020204" pitchFamily="34" charset="-122"/>
              </a:rPr>
              <a:t>FINANCING (billions </a:t>
            </a:r>
            <a:r>
              <a:rPr lang="en-US" altLang="zh-CN" sz="2000" b="1" dirty="0">
                <a:latin typeface="微软雅黑" panose="020B0503020204020204" pitchFamily="34" charset="-122"/>
                <a:ea typeface="微软雅黑" panose="020B0503020204020204" pitchFamily="34" charset="-122"/>
              </a:rPr>
              <a:t>of dollars</a:t>
            </a:r>
            <a:r>
              <a:rPr lang="en-US" altLang="zh-CN" sz="2000" b="1" dirty="0" smtClean="0">
                <a:latin typeface="微软雅黑" panose="020B0503020204020204" pitchFamily="34" charset="-122"/>
                <a:ea typeface="微软雅黑" panose="020B0503020204020204" pitchFamily="34" charset="-122"/>
              </a:rPr>
              <a:t>)</a:t>
            </a:r>
            <a:endParaRPr lang="en-US" altLang="zh-CN" sz="2000" b="1" dirty="0">
              <a:latin typeface="微软雅黑" panose="020B0503020204020204" pitchFamily="34" charset="-122"/>
              <a:ea typeface="微软雅黑" panose="020B0503020204020204" pitchFamily="34" charset="-122"/>
            </a:endParaRPr>
          </a:p>
        </p:txBody>
      </p:sp>
      <p:graphicFrame>
        <p:nvGraphicFramePr>
          <p:cNvPr id="6" name="表格 5"/>
          <p:cNvGraphicFramePr>
            <a:graphicFrameLocks noGrp="1"/>
          </p:cNvGraphicFramePr>
          <p:nvPr>
            <p:extLst>
              <p:ext uri="{D42A27DB-BD31-4B8C-83A1-F6EECF244321}">
                <p14:modId xmlns:p14="http://schemas.microsoft.com/office/powerpoint/2010/main" val="1156198677"/>
              </p:ext>
            </p:extLst>
          </p:nvPr>
        </p:nvGraphicFramePr>
        <p:xfrm>
          <a:off x="583987" y="707886"/>
          <a:ext cx="7992456" cy="5359035"/>
        </p:xfrm>
        <a:graphic>
          <a:graphicData uri="http://schemas.openxmlformats.org/drawingml/2006/table">
            <a:tbl>
              <a:tblPr firstRow="1" firstCol="1" bandRow="1">
                <a:tableStyleId>{69012ECD-51FC-41F1-AA8D-1B2483CD663E}</a:tableStyleId>
              </a:tblPr>
              <a:tblGrid>
                <a:gridCol w="3310096">
                  <a:extLst>
                    <a:ext uri="{9D8B030D-6E8A-4147-A177-3AD203B41FA5}">
                      <a16:colId xmlns:a16="http://schemas.microsoft.com/office/drawing/2014/main" val="20000"/>
                    </a:ext>
                  </a:extLst>
                </a:gridCol>
                <a:gridCol w="936472">
                  <a:extLst>
                    <a:ext uri="{9D8B030D-6E8A-4147-A177-3AD203B41FA5}">
                      <a16:colId xmlns:a16="http://schemas.microsoft.com/office/drawing/2014/main" val="20001"/>
                    </a:ext>
                  </a:extLst>
                </a:gridCol>
                <a:gridCol w="936472">
                  <a:extLst>
                    <a:ext uri="{9D8B030D-6E8A-4147-A177-3AD203B41FA5}">
                      <a16:colId xmlns:a16="http://schemas.microsoft.com/office/drawing/2014/main" val="20002"/>
                    </a:ext>
                  </a:extLst>
                </a:gridCol>
                <a:gridCol w="936472">
                  <a:extLst>
                    <a:ext uri="{9D8B030D-6E8A-4147-A177-3AD203B41FA5}">
                      <a16:colId xmlns:a16="http://schemas.microsoft.com/office/drawing/2014/main" val="20003"/>
                    </a:ext>
                  </a:extLst>
                </a:gridCol>
                <a:gridCol w="936472">
                  <a:extLst>
                    <a:ext uri="{9D8B030D-6E8A-4147-A177-3AD203B41FA5}">
                      <a16:colId xmlns:a16="http://schemas.microsoft.com/office/drawing/2014/main" val="20004"/>
                    </a:ext>
                  </a:extLst>
                </a:gridCol>
                <a:gridCol w="936472">
                  <a:extLst>
                    <a:ext uri="{9D8B030D-6E8A-4147-A177-3AD203B41FA5}">
                      <a16:colId xmlns:a16="http://schemas.microsoft.com/office/drawing/2014/main" val="20005"/>
                    </a:ext>
                  </a:extLst>
                </a:gridCol>
              </a:tblGrid>
              <a:tr h="357269">
                <a:tc>
                  <a:txBody>
                    <a:bodyPr/>
                    <a:lstStyle/>
                    <a:p>
                      <a:pPr algn="l">
                        <a:spcAft>
                          <a:spcPts val="0"/>
                        </a:spcAft>
                      </a:pPr>
                      <a:r>
                        <a:rPr lang="en-US" sz="1600" b="1" i="1" kern="100" dirty="0">
                          <a:effectLst/>
                          <a:latin typeface="微软雅黑" panose="020B0503020204020204" pitchFamily="34" charset="-122"/>
                          <a:ea typeface="微软雅黑" panose="020B0503020204020204" pitchFamily="34" charset="-122"/>
                          <a:cs typeface="Times New Roman" panose="02020603050405020304" pitchFamily="18" charset="0"/>
                        </a:rPr>
                        <a:t> </a:t>
                      </a:r>
                      <a:endParaRPr lang="zh-CN" sz="1600" kern="100" dirty="0">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68580" marR="68580" marT="0" marB="0" anchor="ctr"/>
                </a:tc>
                <a:tc>
                  <a:txBody>
                    <a:bodyPr/>
                    <a:lstStyle/>
                    <a:p>
                      <a:pPr algn="ctr">
                        <a:spcAft>
                          <a:spcPts val="0"/>
                        </a:spcAft>
                      </a:pPr>
                      <a:r>
                        <a:rPr lang="en-US" sz="1600" b="1" i="0" kern="100" dirty="0">
                          <a:effectLst/>
                          <a:latin typeface="微软雅黑" panose="020B0503020204020204" pitchFamily="34" charset="-122"/>
                          <a:ea typeface="微软雅黑" panose="020B0503020204020204" pitchFamily="34" charset="-122"/>
                          <a:cs typeface="Times New Roman" panose="02020603050405020304" pitchFamily="18" charset="0"/>
                        </a:rPr>
                        <a:t>1996</a:t>
                      </a:r>
                      <a:endParaRPr lang="zh-CN" sz="1600" i="0" kern="100" dirty="0">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68580" marR="68580" marT="0" marB="0" anchor="ctr"/>
                </a:tc>
                <a:tc>
                  <a:txBody>
                    <a:bodyPr/>
                    <a:lstStyle/>
                    <a:p>
                      <a:pPr algn="ctr">
                        <a:spcAft>
                          <a:spcPts val="0"/>
                        </a:spcAft>
                      </a:pPr>
                      <a:r>
                        <a:rPr lang="en-US" sz="1600" b="1" i="0" kern="100" dirty="0">
                          <a:effectLst/>
                          <a:latin typeface="微软雅黑" panose="020B0503020204020204" pitchFamily="34" charset="-122"/>
                          <a:ea typeface="微软雅黑" panose="020B0503020204020204" pitchFamily="34" charset="-122"/>
                          <a:cs typeface="Times New Roman" panose="02020603050405020304" pitchFamily="18" charset="0"/>
                        </a:rPr>
                        <a:t>1997</a:t>
                      </a:r>
                      <a:endParaRPr lang="zh-CN" sz="1600" i="0" kern="100" dirty="0">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68580" marR="68580" marT="0" marB="0" anchor="ctr"/>
                </a:tc>
                <a:tc>
                  <a:txBody>
                    <a:bodyPr/>
                    <a:lstStyle/>
                    <a:p>
                      <a:pPr algn="ctr">
                        <a:spcAft>
                          <a:spcPts val="0"/>
                        </a:spcAft>
                      </a:pPr>
                      <a:r>
                        <a:rPr lang="en-US" sz="1600" b="1" i="0" kern="100" dirty="0">
                          <a:effectLst/>
                          <a:latin typeface="微软雅黑" panose="020B0503020204020204" pitchFamily="34" charset="-122"/>
                          <a:ea typeface="微软雅黑" panose="020B0503020204020204" pitchFamily="34" charset="-122"/>
                          <a:cs typeface="Times New Roman" panose="02020603050405020304" pitchFamily="18" charset="0"/>
                        </a:rPr>
                        <a:t>1998</a:t>
                      </a:r>
                      <a:endParaRPr lang="zh-CN" sz="1600" i="0" kern="100" dirty="0">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68580" marR="68580" marT="0" marB="0" anchor="ctr"/>
                </a:tc>
                <a:tc>
                  <a:txBody>
                    <a:bodyPr/>
                    <a:lstStyle/>
                    <a:p>
                      <a:pPr algn="ctr">
                        <a:spcAft>
                          <a:spcPts val="0"/>
                        </a:spcAft>
                      </a:pPr>
                      <a:r>
                        <a:rPr lang="en-US" sz="1600" b="1" i="0" kern="100" dirty="0">
                          <a:effectLst/>
                          <a:latin typeface="微软雅黑" panose="020B0503020204020204" pitchFamily="34" charset="-122"/>
                          <a:ea typeface="微软雅黑" panose="020B0503020204020204" pitchFamily="34" charset="-122"/>
                          <a:cs typeface="Times New Roman" panose="02020603050405020304" pitchFamily="18" charset="0"/>
                        </a:rPr>
                        <a:t>1999c</a:t>
                      </a:r>
                      <a:endParaRPr lang="zh-CN" sz="1600" i="0" kern="100" dirty="0">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68580" marR="68580" marT="0" marB="0" anchor="ctr"/>
                </a:tc>
                <a:tc>
                  <a:txBody>
                    <a:bodyPr/>
                    <a:lstStyle/>
                    <a:p>
                      <a:pPr algn="ctr">
                        <a:spcAft>
                          <a:spcPts val="0"/>
                        </a:spcAft>
                      </a:pPr>
                      <a:r>
                        <a:rPr lang="en-US" sz="1600" b="1" i="0" kern="100" dirty="0">
                          <a:effectLst/>
                          <a:latin typeface="微软雅黑" panose="020B0503020204020204" pitchFamily="34" charset="-122"/>
                          <a:ea typeface="微软雅黑" panose="020B0503020204020204" pitchFamily="34" charset="-122"/>
                          <a:cs typeface="Times New Roman" panose="02020603050405020304" pitchFamily="18" charset="0"/>
                        </a:rPr>
                        <a:t>2000f</a:t>
                      </a:r>
                      <a:endParaRPr lang="zh-CN" sz="1600" i="0" kern="100" dirty="0">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68580" marR="68580" marT="0" marB="0" anchor="ctr"/>
                </a:tc>
                <a:extLst>
                  <a:ext uri="{0D108BD9-81ED-4DB2-BD59-A6C34878D82A}">
                    <a16:rowId xmlns:a16="http://schemas.microsoft.com/office/drawing/2014/main" val="10000"/>
                  </a:ext>
                </a:extLst>
              </a:tr>
              <a:tr h="357269">
                <a:tc>
                  <a:txBody>
                    <a:bodyPr/>
                    <a:lstStyle/>
                    <a:p>
                      <a:pPr algn="l">
                        <a:spcAft>
                          <a:spcPts val="0"/>
                        </a:spcAft>
                      </a:pPr>
                      <a:r>
                        <a:rPr lang="en-US" sz="1600" b="1" kern="100" dirty="0">
                          <a:effectLst/>
                          <a:latin typeface="微软雅黑" panose="020B0503020204020204" pitchFamily="34" charset="-122"/>
                          <a:ea typeface="微软雅黑" panose="020B0503020204020204" pitchFamily="34" charset="-122"/>
                          <a:cs typeface="Times New Roman" panose="02020603050405020304" pitchFamily="18" charset="0"/>
                        </a:rPr>
                        <a:t>Current Account Balance</a:t>
                      </a:r>
                      <a:endParaRPr lang="zh-CN" sz="1600" kern="100" dirty="0">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68580" marR="68580" marT="0" marB="0" anchor="ctr"/>
                </a:tc>
                <a:tc>
                  <a:txBody>
                    <a:bodyPr/>
                    <a:lstStyle/>
                    <a:p>
                      <a:pPr algn="ctr">
                        <a:spcAft>
                          <a:spcPts val="0"/>
                        </a:spcAft>
                      </a:pPr>
                      <a:r>
                        <a:rPr lang="en-US" sz="1600" b="0" kern="100" dirty="0">
                          <a:effectLst/>
                          <a:latin typeface="微软雅黑" panose="020B0503020204020204" pitchFamily="34" charset="-122"/>
                          <a:ea typeface="微软雅黑" panose="020B0503020204020204" pitchFamily="34" charset="-122"/>
                          <a:cs typeface="Times New Roman" panose="02020603050405020304" pitchFamily="18" charset="0"/>
                        </a:rPr>
                        <a:t>-97.2</a:t>
                      </a:r>
                      <a:endParaRPr lang="zh-CN" sz="1600" b="0" kern="100" dirty="0">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68580" marR="68580" marT="0" marB="0" anchor="ctr"/>
                </a:tc>
                <a:tc>
                  <a:txBody>
                    <a:bodyPr/>
                    <a:lstStyle/>
                    <a:p>
                      <a:pPr algn="ctr">
                        <a:spcAft>
                          <a:spcPts val="0"/>
                        </a:spcAft>
                      </a:pPr>
                      <a:r>
                        <a:rPr lang="en-US" sz="1600" b="0" kern="100" dirty="0">
                          <a:effectLst/>
                          <a:latin typeface="微软雅黑" panose="020B0503020204020204" pitchFamily="34" charset="-122"/>
                          <a:ea typeface="微软雅黑" panose="020B0503020204020204" pitchFamily="34" charset="-122"/>
                          <a:cs typeface="Times New Roman" panose="02020603050405020304" pitchFamily="18" charset="0"/>
                        </a:rPr>
                        <a:t>-81.7</a:t>
                      </a:r>
                      <a:endParaRPr lang="zh-CN" sz="1600" b="0" kern="100" dirty="0">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68580" marR="68580" marT="0" marB="0" anchor="ctr"/>
                </a:tc>
                <a:tc>
                  <a:txBody>
                    <a:bodyPr/>
                    <a:lstStyle/>
                    <a:p>
                      <a:pPr algn="ctr">
                        <a:spcAft>
                          <a:spcPts val="0"/>
                        </a:spcAft>
                      </a:pPr>
                      <a:r>
                        <a:rPr lang="en-US" sz="1600" b="0" kern="100">
                          <a:effectLst/>
                          <a:latin typeface="微软雅黑" panose="020B0503020204020204" pitchFamily="34" charset="-122"/>
                          <a:ea typeface="微软雅黑" panose="020B0503020204020204" pitchFamily="34" charset="-122"/>
                          <a:cs typeface="Times New Roman" panose="02020603050405020304" pitchFamily="18" charset="0"/>
                        </a:rPr>
                        <a:t>-10.9</a:t>
                      </a:r>
                      <a:endParaRPr lang="zh-CN" sz="1600" b="0" kern="100">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68580" marR="68580" marT="0" marB="0" anchor="ctr"/>
                </a:tc>
                <a:tc>
                  <a:txBody>
                    <a:bodyPr/>
                    <a:lstStyle/>
                    <a:p>
                      <a:pPr algn="ctr">
                        <a:spcAft>
                          <a:spcPts val="0"/>
                        </a:spcAft>
                      </a:pPr>
                      <a:r>
                        <a:rPr lang="en-US" sz="1600" b="0" kern="100">
                          <a:effectLst/>
                          <a:latin typeface="微软雅黑" panose="020B0503020204020204" pitchFamily="34" charset="-122"/>
                          <a:ea typeface="微软雅黑" panose="020B0503020204020204" pitchFamily="34" charset="-122"/>
                          <a:cs typeface="Times New Roman" panose="02020603050405020304" pitchFamily="18" charset="0"/>
                        </a:rPr>
                        <a:t>19.3</a:t>
                      </a:r>
                      <a:endParaRPr lang="zh-CN" sz="1600" b="0" kern="100">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68580" marR="68580" marT="0" marB="0" anchor="ctr"/>
                </a:tc>
                <a:tc>
                  <a:txBody>
                    <a:bodyPr/>
                    <a:lstStyle/>
                    <a:p>
                      <a:pPr algn="ctr">
                        <a:spcAft>
                          <a:spcPts val="0"/>
                        </a:spcAft>
                      </a:pPr>
                      <a:r>
                        <a:rPr lang="en-US" sz="1600" b="0" kern="100">
                          <a:effectLst/>
                          <a:latin typeface="微软雅黑" panose="020B0503020204020204" pitchFamily="34" charset="-122"/>
                          <a:ea typeface="微软雅黑" panose="020B0503020204020204" pitchFamily="34" charset="-122"/>
                          <a:cs typeface="Times New Roman" panose="02020603050405020304" pitchFamily="18" charset="0"/>
                        </a:rPr>
                        <a:t>4.2</a:t>
                      </a:r>
                      <a:endParaRPr lang="zh-CN" sz="1600" b="0" kern="100">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68580" marR="68580" marT="0" marB="0" anchor="ctr"/>
                </a:tc>
                <a:extLst>
                  <a:ext uri="{0D108BD9-81ED-4DB2-BD59-A6C34878D82A}">
                    <a16:rowId xmlns:a16="http://schemas.microsoft.com/office/drawing/2014/main" val="10001"/>
                  </a:ext>
                </a:extLst>
              </a:tr>
              <a:tr h="357269">
                <a:tc>
                  <a:txBody>
                    <a:bodyPr/>
                    <a:lstStyle/>
                    <a:p>
                      <a:pPr algn="l">
                        <a:spcAft>
                          <a:spcPts val="0"/>
                        </a:spcAft>
                      </a:pPr>
                      <a:r>
                        <a:rPr lang="en-US" sz="1600" b="1" kern="100">
                          <a:effectLst/>
                          <a:latin typeface="微软雅黑" panose="020B0503020204020204" pitchFamily="34" charset="-122"/>
                          <a:ea typeface="微软雅黑" panose="020B0503020204020204" pitchFamily="34" charset="-122"/>
                          <a:cs typeface="Times New Roman" panose="02020603050405020304" pitchFamily="18" charset="0"/>
                        </a:rPr>
                        <a:t>External Financing, net</a:t>
                      </a:r>
                      <a:endParaRPr lang="zh-CN" sz="1600" kern="100">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68580" marR="68580" marT="0" marB="0" anchor="ctr"/>
                </a:tc>
                <a:tc>
                  <a:txBody>
                    <a:bodyPr/>
                    <a:lstStyle/>
                    <a:p>
                      <a:pPr algn="ctr">
                        <a:spcAft>
                          <a:spcPts val="0"/>
                        </a:spcAft>
                      </a:pPr>
                      <a:r>
                        <a:rPr lang="en-US" sz="1600" b="0" kern="100">
                          <a:effectLst/>
                          <a:latin typeface="微软雅黑" panose="020B0503020204020204" pitchFamily="34" charset="-122"/>
                          <a:ea typeface="微软雅黑" panose="020B0503020204020204" pitchFamily="34" charset="-122"/>
                          <a:cs typeface="Times New Roman" panose="02020603050405020304" pitchFamily="18" charset="0"/>
                        </a:rPr>
                        <a:t>337.1</a:t>
                      </a:r>
                      <a:endParaRPr lang="zh-CN" sz="1600" b="0" kern="100">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68580" marR="68580" marT="0" marB="0" anchor="ctr"/>
                </a:tc>
                <a:tc>
                  <a:txBody>
                    <a:bodyPr/>
                    <a:lstStyle/>
                    <a:p>
                      <a:pPr algn="ctr">
                        <a:spcAft>
                          <a:spcPts val="0"/>
                        </a:spcAft>
                      </a:pPr>
                      <a:r>
                        <a:rPr lang="en-US" sz="1600" b="0" kern="100" dirty="0">
                          <a:effectLst/>
                          <a:latin typeface="微软雅黑" panose="020B0503020204020204" pitchFamily="34" charset="-122"/>
                          <a:ea typeface="微软雅黑" panose="020B0503020204020204" pitchFamily="34" charset="-122"/>
                          <a:cs typeface="Times New Roman" panose="02020603050405020304" pitchFamily="18" charset="0"/>
                        </a:rPr>
                        <a:t>311.2</a:t>
                      </a:r>
                      <a:endParaRPr lang="zh-CN" sz="1600" b="0" kern="100" dirty="0">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68580" marR="68580" marT="0" marB="0" anchor="ctr"/>
                </a:tc>
                <a:tc>
                  <a:txBody>
                    <a:bodyPr/>
                    <a:lstStyle/>
                    <a:p>
                      <a:pPr algn="ctr">
                        <a:spcAft>
                          <a:spcPts val="0"/>
                        </a:spcAft>
                      </a:pPr>
                      <a:r>
                        <a:rPr lang="en-US" sz="1600" b="0" kern="100">
                          <a:effectLst/>
                          <a:latin typeface="微软雅黑" panose="020B0503020204020204" pitchFamily="34" charset="-122"/>
                          <a:ea typeface="微软雅黑" panose="020B0503020204020204" pitchFamily="34" charset="-122"/>
                          <a:cs typeface="Times New Roman" panose="02020603050405020304" pitchFamily="18" charset="0"/>
                        </a:rPr>
                        <a:t>185.5</a:t>
                      </a:r>
                      <a:endParaRPr lang="zh-CN" sz="1600" b="0" kern="100">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68580" marR="68580" marT="0" marB="0" anchor="ctr"/>
                </a:tc>
                <a:tc>
                  <a:txBody>
                    <a:bodyPr/>
                    <a:lstStyle/>
                    <a:p>
                      <a:pPr algn="ctr">
                        <a:spcAft>
                          <a:spcPts val="0"/>
                        </a:spcAft>
                      </a:pPr>
                      <a:r>
                        <a:rPr lang="en-US" sz="1600" b="0" kern="100">
                          <a:effectLst/>
                          <a:latin typeface="微软雅黑" panose="020B0503020204020204" pitchFamily="34" charset="-122"/>
                          <a:ea typeface="微软雅黑" panose="020B0503020204020204" pitchFamily="34" charset="-122"/>
                          <a:cs typeface="Times New Roman" panose="02020603050405020304" pitchFamily="18" charset="0"/>
                        </a:rPr>
                        <a:t>155.5</a:t>
                      </a:r>
                      <a:endParaRPr lang="zh-CN" sz="1600" b="0" kern="100">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68580" marR="68580" marT="0" marB="0" anchor="ctr"/>
                </a:tc>
                <a:tc>
                  <a:txBody>
                    <a:bodyPr/>
                    <a:lstStyle/>
                    <a:p>
                      <a:pPr algn="ctr">
                        <a:spcAft>
                          <a:spcPts val="0"/>
                        </a:spcAft>
                      </a:pPr>
                      <a:r>
                        <a:rPr lang="en-US" sz="1600" b="0" kern="100">
                          <a:effectLst/>
                          <a:latin typeface="微软雅黑" panose="020B0503020204020204" pitchFamily="34" charset="-122"/>
                          <a:ea typeface="微软雅黑" panose="020B0503020204020204" pitchFamily="34" charset="-122"/>
                          <a:cs typeface="Times New Roman" panose="02020603050405020304" pitchFamily="18" charset="0"/>
                        </a:rPr>
                        <a:t>198.0</a:t>
                      </a:r>
                      <a:endParaRPr lang="zh-CN" sz="1600" b="0" kern="100">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68580" marR="68580" marT="0" marB="0" anchor="ctr"/>
                </a:tc>
                <a:extLst>
                  <a:ext uri="{0D108BD9-81ED-4DB2-BD59-A6C34878D82A}">
                    <a16:rowId xmlns:a16="http://schemas.microsoft.com/office/drawing/2014/main" val="10002"/>
                  </a:ext>
                </a:extLst>
              </a:tr>
              <a:tr h="357269">
                <a:tc>
                  <a:txBody>
                    <a:bodyPr/>
                    <a:lstStyle/>
                    <a:p>
                      <a:pPr algn="l">
                        <a:spcAft>
                          <a:spcPts val="0"/>
                        </a:spcAft>
                      </a:pPr>
                      <a:r>
                        <a:rPr lang="en-US" sz="1600" b="1" kern="100" dirty="0">
                          <a:effectLst/>
                          <a:latin typeface="微软雅黑" panose="020B0503020204020204" pitchFamily="34" charset="-122"/>
                          <a:ea typeface="微软雅黑" panose="020B0503020204020204" pitchFamily="34" charset="-122"/>
                          <a:cs typeface="Times New Roman" panose="02020603050405020304" pitchFamily="18" charset="0"/>
                        </a:rPr>
                        <a:t>Private flows, net</a:t>
                      </a:r>
                      <a:endParaRPr lang="zh-CN" sz="1600" kern="100" dirty="0">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68580" marR="68580" marT="0" marB="0" anchor="ctr"/>
                </a:tc>
                <a:tc>
                  <a:txBody>
                    <a:bodyPr/>
                    <a:lstStyle/>
                    <a:p>
                      <a:pPr algn="ctr">
                        <a:spcAft>
                          <a:spcPts val="0"/>
                        </a:spcAft>
                      </a:pPr>
                      <a:r>
                        <a:rPr lang="en-US" sz="1600" b="0" kern="100">
                          <a:effectLst/>
                          <a:latin typeface="微软雅黑" panose="020B0503020204020204" pitchFamily="34" charset="-122"/>
                          <a:ea typeface="微软雅黑" panose="020B0503020204020204" pitchFamily="34" charset="-122"/>
                          <a:cs typeface="Times New Roman" panose="02020603050405020304" pitchFamily="18" charset="0"/>
                        </a:rPr>
                        <a:t>329.8</a:t>
                      </a:r>
                      <a:endParaRPr lang="zh-CN" sz="1600" b="0" kern="100">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68580" marR="68580" marT="0" marB="0" anchor="ctr"/>
                </a:tc>
                <a:tc>
                  <a:txBody>
                    <a:bodyPr/>
                    <a:lstStyle/>
                    <a:p>
                      <a:pPr algn="ctr">
                        <a:spcAft>
                          <a:spcPts val="0"/>
                        </a:spcAft>
                      </a:pPr>
                      <a:r>
                        <a:rPr lang="en-US" sz="1600" b="0" kern="100" dirty="0">
                          <a:effectLst/>
                          <a:latin typeface="微软雅黑" panose="020B0503020204020204" pitchFamily="34" charset="-122"/>
                          <a:ea typeface="微软雅黑" panose="020B0503020204020204" pitchFamily="34" charset="-122"/>
                          <a:cs typeface="Times New Roman" panose="02020603050405020304" pitchFamily="18" charset="0"/>
                        </a:rPr>
                        <a:t>266.4</a:t>
                      </a:r>
                      <a:endParaRPr lang="zh-CN" sz="1600" b="0" kern="100" dirty="0">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68580" marR="68580" marT="0" marB="0" anchor="ctr"/>
                </a:tc>
                <a:tc>
                  <a:txBody>
                    <a:bodyPr/>
                    <a:lstStyle/>
                    <a:p>
                      <a:pPr algn="ctr">
                        <a:spcAft>
                          <a:spcPts val="0"/>
                        </a:spcAft>
                      </a:pPr>
                      <a:r>
                        <a:rPr lang="en-US" sz="1600" b="0" kern="100" dirty="0">
                          <a:effectLst/>
                          <a:latin typeface="微软雅黑" panose="020B0503020204020204" pitchFamily="34" charset="-122"/>
                          <a:ea typeface="微软雅黑" panose="020B0503020204020204" pitchFamily="34" charset="-122"/>
                          <a:cs typeface="Times New Roman" panose="02020603050405020304" pitchFamily="18" charset="0"/>
                        </a:rPr>
                        <a:t>137.4</a:t>
                      </a:r>
                      <a:endParaRPr lang="zh-CN" sz="1600" b="0" kern="100" dirty="0">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68580" marR="68580" marT="0" marB="0" anchor="ctr"/>
                </a:tc>
                <a:tc>
                  <a:txBody>
                    <a:bodyPr/>
                    <a:lstStyle/>
                    <a:p>
                      <a:pPr algn="ctr">
                        <a:spcAft>
                          <a:spcPts val="0"/>
                        </a:spcAft>
                      </a:pPr>
                      <a:r>
                        <a:rPr lang="en-US" sz="1600" b="0" kern="100">
                          <a:effectLst/>
                          <a:latin typeface="微软雅黑" panose="020B0503020204020204" pitchFamily="34" charset="-122"/>
                          <a:ea typeface="微软雅黑" panose="020B0503020204020204" pitchFamily="34" charset="-122"/>
                          <a:cs typeface="Times New Roman" panose="02020603050405020304" pitchFamily="18" charset="0"/>
                        </a:rPr>
                        <a:t>150.5</a:t>
                      </a:r>
                      <a:endParaRPr lang="zh-CN" sz="1600" b="0" kern="100">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68580" marR="68580" marT="0" marB="0" anchor="ctr"/>
                </a:tc>
                <a:tc>
                  <a:txBody>
                    <a:bodyPr/>
                    <a:lstStyle/>
                    <a:p>
                      <a:pPr algn="ctr">
                        <a:spcAft>
                          <a:spcPts val="0"/>
                        </a:spcAft>
                      </a:pPr>
                      <a:r>
                        <a:rPr lang="en-US" sz="1600" b="0" kern="100">
                          <a:effectLst/>
                          <a:latin typeface="微软雅黑" panose="020B0503020204020204" pitchFamily="34" charset="-122"/>
                          <a:ea typeface="微软雅黑" panose="020B0503020204020204" pitchFamily="34" charset="-122"/>
                          <a:cs typeface="Times New Roman" panose="02020603050405020304" pitchFamily="18" charset="0"/>
                        </a:rPr>
                        <a:t>198.7</a:t>
                      </a:r>
                      <a:endParaRPr lang="zh-CN" sz="1600" b="0" kern="100">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68580" marR="68580" marT="0" marB="0" anchor="ctr"/>
                </a:tc>
                <a:extLst>
                  <a:ext uri="{0D108BD9-81ED-4DB2-BD59-A6C34878D82A}">
                    <a16:rowId xmlns:a16="http://schemas.microsoft.com/office/drawing/2014/main" val="10003"/>
                  </a:ext>
                </a:extLst>
              </a:tr>
              <a:tr h="357269">
                <a:tc>
                  <a:txBody>
                    <a:bodyPr/>
                    <a:lstStyle/>
                    <a:p>
                      <a:pPr algn="l">
                        <a:spcAft>
                          <a:spcPts val="0"/>
                        </a:spcAft>
                      </a:pPr>
                      <a:r>
                        <a:rPr lang="en-US" sz="1600" b="1" kern="100">
                          <a:effectLst/>
                          <a:latin typeface="微软雅黑" panose="020B0503020204020204" pitchFamily="34" charset="-122"/>
                          <a:ea typeface="微软雅黑" panose="020B0503020204020204" pitchFamily="34" charset="-122"/>
                          <a:cs typeface="Times New Roman" panose="02020603050405020304" pitchFamily="18" charset="0"/>
                        </a:rPr>
                        <a:t>Equity investment, net</a:t>
                      </a:r>
                      <a:endParaRPr lang="zh-CN" sz="1600" kern="100">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68580" marR="68580" marT="0" marB="0" anchor="ctr"/>
                </a:tc>
                <a:tc>
                  <a:txBody>
                    <a:bodyPr/>
                    <a:lstStyle/>
                    <a:p>
                      <a:pPr algn="ctr">
                        <a:spcAft>
                          <a:spcPts val="0"/>
                        </a:spcAft>
                      </a:pPr>
                      <a:r>
                        <a:rPr lang="en-US" sz="1600" b="0" kern="100">
                          <a:effectLst/>
                          <a:latin typeface="微软雅黑" panose="020B0503020204020204" pitchFamily="34" charset="-122"/>
                          <a:ea typeface="微软雅黑" panose="020B0503020204020204" pitchFamily="34" charset="-122"/>
                          <a:cs typeface="Times New Roman" panose="02020603050405020304" pitchFamily="18" charset="0"/>
                        </a:rPr>
                        <a:t>125.4</a:t>
                      </a:r>
                      <a:endParaRPr lang="zh-CN" sz="1600" b="0" kern="100">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68580" marR="68580" marT="0" marB="0" anchor="ctr"/>
                </a:tc>
                <a:tc>
                  <a:txBody>
                    <a:bodyPr/>
                    <a:lstStyle/>
                    <a:p>
                      <a:pPr algn="ctr">
                        <a:spcAft>
                          <a:spcPts val="0"/>
                        </a:spcAft>
                      </a:pPr>
                      <a:r>
                        <a:rPr lang="en-US" sz="1600" b="0" kern="100">
                          <a:effectLst/>
                          <a:latin typeface="微软雅黑" panose="020B0503020204020204" pitchFamily="34" charset="-122"/>
                          <a:ea typeface="微软雅黑" panose="020B0503020204020204" pitchFamily="34" charset="-122"/>
                          <a:cs typeface="Times New Roman" panose="02020603050405020304" pitchFamily="18" charset="0"/>
                        </a:rPr>
                        <a:t>141.8</a:t>
                      </a:r>
                      <a:endParaRPr lang="zh-CN" sz="1600" b="0" kern="100">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68580" marR="68580" marT="0" marB="0" anchor="ctr"/>
                </a:tc>
                <a:tc>
                  <a:txBody>
                    <a:bodyPr/>
                    <a:lstStyle/>
                    <a:p>
                      <a:pPr algn="ctr">
                        <a:spcAft>
                          <a:spcPts val="0"/>
                        </a:spcAft>
                      </a:pPr>
                      <a:r>
                        <a:rPr lang="en-US" sz="1600" b="0" kern="100" dirty="0">
                          <a:effectLst/>
                          <a:latin typeface="微软雅黑" panose="020B0503020204020204" pitchFamily="34" charset="-122"/>
                          <a:ea typeface="微软雅黑" panose="020B0503020204020204" pitchFamily="34" charset="-122"/>
                          <a:cs typeface="Times New Roman" panose="02020603050405020304" pitchFamily="18" charset="0"/>
                        </a:rPr>
                        <a:t>132.9</a:t>
                      </a:r>
                      <a:endParaRPr lang="zh-CN" sz="1600" b="0" kern="100" dirty="0">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68580" marR="68580" marT="0" marB="0" anchor="ctr"/>
                </a:tc>
                <a:tc>
                  <a:txBody>
                    <a:bodyPr/>
                    <a:lstStyle/>
                    <a:p>
                      <a:pPr algn="ctr">
                        <a:spcAft>
                          <a:spcPts val="0"/>
                        </a:spcAft>
                      </a:pPr>
                      <a:r>
                        <a:rPr lang="en-US" sz="1600" b="0" kern="100" dirty="0">
                          <a:effectLst/>
                          <a:latin typeface="微软雅黑" panose="020B0503020204020204" pitchFamily="34" charset="-122"/>
                          <a:ea typeface="微软雅黑" panose="020B0503020204020204" pitchFamily="34" charset="-122"/>
                          <a:cs typeface="Times New Roman" panose="02020603050405020304" pitchFamily="18" charset="0"/>
                        </a:rPr>
                        <a:t>162.4</a:t>
                      </a:r>
                      <a:endParaRPr lang="zh-CN" sz="1600" b="0" kern="100" dirty="0">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68580" marR="68580" marT="0" marB="0" anchor="ctr"/>
                </a:tc>
                <a:tc>
                  <a:txBody>
                    <a:bodyPr/>
                    <a:lstStyle/>
                    <a:p>
                      <a:pPr algn="ctr">
                        <a:spcAft>
                          <a:spcPts val="0"/>
                        </a:spcAft>
                      </a:pPr>
                      <a:r>
                        <a:rPr lang="en-US" sz="1600" b="0" kern="100">
                          <a:effectLst/>
                          <a:latin typeface="微软雅黑" panose="020B0503020204020204" pitchFamily="34" charset="-122"/>
                          <a:ea typeface="微软雅黑" panose="020B0503020204020204" pitchFamily="34" charset="-122"/>
                          <a:cs typeface="Times New Roman" panose="02020603050405020304" pitchFamily="18" charset="0"/>
                        </a:rPr>
                        <a:t>172.4</a:t>
                      </a:r>
                      <a:endParaRPr lang="zh-CN" sz="1600" b="0" kern="100">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68580" marR="68580" marT="0" marB="0" anchor="ctr"/>
                </a:tc>
                <a:extLst>
                  <a:ext uri="{0D108BD9-81ED-4DB2-BD59-A6C34878D82A}">
                    <a16:rowId xmlns:a16="http://schemas.microsoft.com/office/drawing/2014/main" val="10004"/>
                  </a:ext>
                </a:extLst>
              </a:tr>
              <a:tr h="357269">
                <a:tc>
                  <a:txBody>
                    <a:bodyPr/>
                    <a:lstStyle/>
                    <a:p>
                      <a:pPr algn="l">
                        <a:spcAft>
                          <a:spcPts val="0"/>
                        </a:spcAft>
                      </a:pPr>
                      <a:r>
                        <a:rPr lang="en-US" sz="1600" b="0" kern="100" dirty="0">
                          <a:effectLst/>
                          <a:latin typeface="微软雅黑" panose="020B0503020204020204" pitchFamily="34" charset="-122"/>
                          <a:ea typeface="微软雅黑" panose="020B0503020204020204" pitchFamily="34" charset="-122"/>
                          <a:cs typeface="Times New Roman" panose="02020603050405020304" pitchFamily="18" charset="0"/>
                        </a:rPr>
                        <a:t>  Direct investment, net</a:t>
                      </a:r>
                      <a:endParaRPr lang="zh-CN" sz="1600" b="0" kern="100" dirty="0">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68580" marR="68580" marT="0" marB="0" anchor="ctr"/>
                </a:tc>
                <a:tc>
                  <a:txBody>
                    <a:bodyPr/>
                    <a:lstStyle/>
                    <a:p>
                      <a:pPr algn="ctr">
                        <a:spcAft>
                          <a:spcPts val="0"/>
                        </a:spcAft>
                      </a:pPr>
                      <a:r>
                        <a:rPr lang="en-US" sz="1600" b="0" kern="100">
                          <a:effectLst/>
                          <a:latin typeface="微软雅黑" panose="020B0503020204020204" pitchFamily="34" charset="-122"/>
                          <a:ea typeface="微软雅黑" panose="020B0503020204020204" pitchFamily="34" charset="-122"/>
                          <a:cs typeface="Times New Roman" panose="02020603050405020304" pitchFamily="18" charset="0"/>
                        </a:rPr>
                        <a:t>91.7</a:t>
                      </a:r>
                      <a:endParaRPr lang="zh-CN" sz="1600" b="0" kern="100">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68580" marR="68580" marT="0" marB="0" anchor="ctr"/>
                </a:tc>
                <a:tc>
                  <a:txBody>
                    <a:bodyPr/>
                    <a:lstStyle/>
                    <a:p>
                      <a:pPr algn="ctr">
                        <a:spcAft>
                          <a:spcPts val="0"/>
                        </a:spcAft>
                      </a:pPr>
                      <a:r>
                        <a:rPr lang="en-US" sz="1600" b="0" kern="100">
                          <a:effectLst/>
                          <a:latin typeface="微软雅黑" panose="020B0503020204020204" pitchFamily="34" charset="-122"/>
                          <a:ea typeface="微软雅黑" panose="020B0503020204020204" pitchFamily="34" charset="-122"/>
                          <a:cs typeface="Times New Roman" panose="02020603050405020304" pitchFamily="18" charset="0"/>
                        </a:rPr>
                        <a:t>115.9</a:t>
                      </a:r>
                      <a:endParaRPr lang="zh-CN" sz="1600" b="0" kern="100">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68580" marR="68580" marT="0" marB="0" anchor="ctr"/>
                </a:tc>
                <a:tc>
                  <a:txBody>
                    <a:bodyPr/>
                    <a:lstStyle/>
                    <a:p>
                      <a:pPr algn="ctr">
                        <a:spcAft>
                          <a:spcPts val="0"/>
                        </a:spcAft>
                      </a:pPr>
                      <a:r>
                        <a:rPr lang="en-US" sz="1600" b="0" kern="100">
                          <a:effectLst/>
                          <a:latin typeface="微软雅黑" panose="020B0503020204020204" pitchFamily="34" charset="-122"/>
                          <a:ea typeface="微软雅黑" panose="020B0503020204020204" pitchFamily="34" charset="-122"/>
                          <a:cs typeface="Times New Roman" panose="02020603050405020304" pitchFamily="18" charset="0"/>
                        </a:rPr>
                        <a:t>118.8</a:t>
                      </a:r>
                      <a:endParaRPr lang="zh-CN" sz="1600" b="0" kern="100">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68580" marR="68580" marT="0" marB="0" anchor="ctr"/>
                </a:tc>
                <a:tc>
                  <a:txBody>
                    <a:bodyPr/>
                    <a:lstStyle/>
                    <a:p>
                      <a:pPr algn="ctr">
                        <a:spcAft>
                          <a:spcPts val="0"/>
                        </a:spcAft>
                      </a:pPr>
                      <a:r>
                        <a:rPr lang="en-US" sz="1600" b="0" kern="100" dirty="0">
                          <a:effectLst/>
                          <a:latin typeface="微软雅黑" panose="020B0503020204020204" pitchFamily="34" charset="-122"/>
                          <a:ea typeface="微软雅黑" panose="020B0503020204020204" pitchFamily="34" charset="-122"/>
                          <a:cs typeface="Times New Roman" panose="02020603050405020304" pitchFamily="18" charset="0"/>
                        </a:rPr>
                        <a:t>141.4</a:t>
                      </a:r>
                      <a:endParaRPr lang="zh-CN" sz="1600" b="0" kern="100" dirty="0">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68580" marR="68580" marT="0" marB="0" anchor="ctr"/>
                </a:tc>
                <a:tc>
                  <a:txBody>
                    <a:bodyPr/>
                    <a:lstStyle/>
                    <a:p>
                      <a:pPr algn="ctr">
                        <a:spcAft>
                          <a:spcPts val="0"/>
                        </a:spcAft>
                      </a:pPr>
                      <a:r>
                        <a:rPr lang="en-US" sz="1600" b="0" kern="100">
                          <a:effectLst/>
                          <a:latin typeface="微软雅黑" panose="020B0503020204020204" pitchFamily="34" charset="-122"/>
                          <a:ea typeface="微软雅黑" panose="020B0503020204020204" pitchFamily="34" charset="-122"/>
                          <a:cs typeface="Times New Roman" panose="02020603050405020304" pitchFamily="18" charset="0"/>
                        </a:rPr>
                        <a:t>130.0</a:t>
                      </a:r>
                      <a:endParaRPr lang="zh-CN" sz="1600" b="0" kern="100">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68580" marR="68580" marT="0" marB="0" anchor="ctr"/>
                </a:tc>
                <a:extLst>
                  <a:ext uri="{0D108BD9-81ED-4DB2-BD59-A6C34878D82A}">
                    <a16:rowId xmlns:a16="http://schemas.microsoft.com/office/drawing/2014/main" val="10005"/>
                  </a:ext>
                </a:extLst>
              </a:tr>
              <a:tr h="357269">
                <a:tc>
                  <a:txBody>
                    <a:bodyPr/>
                    <a:lstStyle/>
                    <a:p>
                      <a:pPr algn="l">
                        <a:spcAft>
                          <a:spcPts val="0"/>
                        </a:spcAft>
                      </a:pPr>
                      <a:r>
                        <a:rPr lang="en-US" sz="1600" b="0" kern="100" dirty="0">
                          <a:effectLst/>
                          <a:latin typeface="微软雅黑" panose="020B0503020204020204" pitchFamily="34" charset="-122"/>
                          <a:ea typeface="微软雅黑" panose="020B0503020204020204" pitchFamily="34" charset="-122"/>
                          <a:cs typeface="Times New Roman" panose="02020603050405020304" pitchFamily="18" charset="0"/>
                        </a:rPr>
                        <a:t>  Portfolio investment, net</a:t>
                      </a:r>
                      <a:endParaRPr lang="zh-CN" sz="1600" b="0" kern="100" dirty="0">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68580" marR="68580" marT="0" marB="0" anchor="ctr"/>
                </a:tc>
                <a:tc>
                  <a:txBody>
                    <a:bodyPr/>
                    <a:lstStyle/>
                    <a:p>
                      <a:pPr algn="ctr">
                        <a:spcAft>
                          <a:spcPts val="0"/>
                        </a:spcAft>
                      </a:pPr>
                      <a:r>
                        <a:rPr lang="en-US" sz="1600" b="0" kern="100">
                          <a:effectLst/>
                          <a:latin typeface="微软雅黑" panose="020B0503020204020204" pitchFamily="34" charset="-122"/>
                          <a:ea typeface="微软雅黑" panose="020B0503020204020204" pitchFamily="34" charset="-122"/>
                          <a:cs typeface="Times New Roman" panose="02020603050405020304" pitchFamily="18" charset="0"/>
                        </a:rPr>
                        <a:t>33.7</a:t>
                      </a:r>
                      <a:endParaRPr lang="zh-CN" sz="1600" b="0" kern="100">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68580" marR="68580" marT="0" marB="0" anchor="ctr"/>
                </a:tc>
                <a:tc>
                  <a:txBody>
                    <a:bodyPr/>
                    <a:lstStyle/>
                    <a:p>
                      <a:pPr algn="ctr">
                        <a:spcAft>
                          <a:spcPts val="0"/>
                        </a:spcAft>
                      </a:pPr>
                      <a:r>
                        <a:rPr lang="en-US" sz="1600" b="0" kern="100">
                          <a:effectLst/>
                          <a:latin typeface="微软雅黑" panose="020B0503020204020204" pitchFamily="34" charset="-122"/>
                          <a:ea typeface="微软雅黑" panose="020B0503020204020204" pitchFamily="34" charset="-122"/>
                          <a:cs typeface="Times New Roman" panose="02020603050405020304" pitchFamily="18" charset="0"/>
                        </a:rPr>
                        <a:t>25.9</a:t>
                      </a:r>
                      <a:endParaRPr lang="zh-CN" sz="1600" b="0" kern="100">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68580" marR="68580" marT="0" marB="0" anchor="ctr"/>
                </a:tc>
                <a:tc>
                  <a:txBody>
                    <a:bodyPr/>
                    <a:lstStyle/>
                    <a:p>
                      <a:pPr algn="ctr">
                        <a:spcAft>
                          <a:spcPts val="0"/>
                        </a:spcAft>
                      </a:pPr>
                      <a:r>
                        <a:rPr lang="en-US" sz="1600" b="0" kern="100">
                          <a:effectLst/>
                          <a:latin typeface="微软雅黑" panose="020B0503020204020204" pitchFamily="34" charset="-122"/>
                          <a:ea typeface="微软雅黑" panose="020B0503020204020204" pitchFamily="34" charset="-122"/>
                          <a:cs typeface="Times New Roman" panose="02020603050405020304" pitchFamily="18" charset="0"/>
                        </a:rPr>
                        <a:t>14.1</a:t>
                      </a:r>
                      <a:endParaRPr lang="zh-CN" sz="1600" b="0" kern="100">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68580" marR="68580" marT="0" marB="0" anchor="ctr"/>
                </a:tc>
                <a:tc>
                  <a:txBody>
                    <a:bodyPr/>
                    <a:lstStyle/>
                    <a:p>
                      <a:pPr algn="ctr">
                        <a:spcAft>
                          <a:spcPts val="0"/>
                        </a:spcAft>
                      </a:pPr>
                      <a:r>
                        <a:rPr lang="en-US" sz="1600" b="0" kern="100" dirty="0">
                          <a:effectLst/>
                          <a:latin typeface="微软雅黑" panose="020B0503020204020204" pitchFamily="34" charset="-122"/>
                          <a:ea typeface="微软雅黑" panose="020B0503020204020204" pitchFamily="34" charset="-122"/>
                          <a:cs typeface="Times New Roman" panose="02020603050405020304" pitchFamily="18" charset="0"/>
                        </a:rPr>
                        <a:t>21.0</a:t>
                      </a:r>
                      <a:endParaRPr lang="zh-CN" sz="1600" b="0" kern="100" dirty="0">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68580" marR="68580" marT="0" marB="0" anchor="ctr"/>
                </a:tc>
                <a:tc>
                  <a:txBody>
                    <a:bodyPr/>
                    <a:lstStyle/>
                    <a:p>
                      <a:pPr algn="ctr">
                        <a:spcAft>
                          <a:spcPts val="0"/>
                        </a:spcAft>
                      </a:pPr>
                      <a:r>
                        <a:rPr lang="en-US" sz="1600" b="0" kern="100">
                          <a:effectLst/>
                          <a:latin typeface="微软雅黑" panose="020B0503020204020204" pitchFamily="34" charset="-122"/>
                          <a:ea typeface="微软雅黑" panose="020B0503020204020204" pitchFamily="34" charset="-122"/>
                          <a:cs typeface="Times New Roman" panose="02020603050405020304" pitchFamily="18" charset="0"/>
                        </a:rPr>
                        <a:t>42.4</a:t>
                      </a:r>
                      <a:endParaRPr lang="zh-CN" sz="1600" b="0" kern="100">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68580" marR="68580" marT="0" marB="0" anchor="ctr"/>
                </a:tc>
                <a:extLst>
                  <a:ext uri="{0D108BD9-81ED-4DB2-BD59-A6C34878D82A}">
                    <a16:rowId xmlns:a16="http://schemas.microsoft.com/office/drawing/2014/main" val="10006"/>
                  </a:ext>
                </a:extLst>
              </a:tr>
              <a:tr h="357269">
                <a:tc>
                  <a:txBody>
                    <a:bodyPr/>
                    <a:lstStyle/>
                    <a:p>
                      <a:pPr algn="l">
                        <a:spcAft>
                          <a:spcPts val="0"/>
                        </a:spcAft>
                      </a:pPr>
                      <a:r>
                        <a:rPr lang="en-US" sz="1600" b="1" kern="100">
                          <a:effectLst/>
                          <a:latin typeface="微软雅黑" panose="020B0503020204020204" pitchFamily="34" charset="-122"/>
                          <a:ea typeface="微软雅黑" panose="020B0503020204020204" pitchFamily="34" charset="-122"/>
                          <a:cs typeface="Times New Roman" panose="02020603050405020304" pitchFamily="18" charset="0"/>
                        </a:rPr>
                        <a:t>Private Creditors, net</a:t>
                      </a:r>
                      <a:endParaRPr lang="zh-CN" sz="1600" kern="100">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68580" marR="68580" marT="0" marB="0" anchor="ctr"/>
                </a:tc>
                <a:tc>
                  <a:txBody>
                    <a:bodyPr/>
                    <a:lstStyle/>
                    <a:p>
                      <a:pPr algn="ctr">
                        <a:spcAft>
                          <a:spcPts val="0"/>
                        </a:spcAft>
                      </a:pPr>
                      <a:r>
                        <a:rPr lang="en-US" sz="1600" b="0" kern="100">
                          <a:effectLst/>
                          <a:latin typeface="微软雅黑" panose="020B0503020204020204" pitchFamily="34" charset="-122"/>
                          <a:ea typeface="微软雅黑" panose="020B0503020204020204" pitchFamily="34" charset="-122"/>
                          <a:cs typeface="Times New Roman" panose="02020603050405020304" pitchFamily="18" charset="0"/>
                        </a:rPr>
                        <a:t>204.4</a:t>
                      </a:r>
                      <a:endParaRPr lang="zh-CN" sz="1600" b="0" kern="100">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68580" marR="68580" marT="0" marB="0" anchor="ctr"/>
                </a:tc>
                <a:tc>
                  <a:txBody>
                    <a:bodyPr/>
                    <a:lstStyle/>
                    <a:p>
                      <a:pPr algn="ctr">
                        <a:spcAft>
                          <a:spcPts val="0"/>
                        </a:spcAft>
                      </a:pPr>
                      <a:r>
                        <a:rPr lang="en-US" sz="1600" b="0" kern="100">
                          <a:effectLst/>
                          <a:latin typeface="微软雅黑" panose="020B0503020204020204" pitchFamily="34" charset="-122"/>
                          <a:ea typeface="微软雅黑" panose="020B0503020204020204" pitchFamily="34" charset="-122"/>
                          <a:cs typeface="Times New Roman" panose="02020603050405020304" pitchFamily="18" charset="0"/>
                        </a:rPr>
                        <a:t>124.6</a:t>
                      </a:r>
                      <a:endParaRPr lang="zh-CN" sz="1600" b="0" kern="100">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68580" marR="68580" marT="0" marB="0" anchor="ctr"/>
                </a:tc>
                <a:tc>
                  <a:txBody>
                    <a:bodyPr/>
                    <a:lstStyle/>
                    <a:p>
                      <a:pPr algn="ctr">
                        <a:spcAft>
                          <a:spcPts val="0"/>
                        </a:spcAft>
                      </a:pPr>
                      <a:r>
                        <a:rPr lang="en-US" sz="1600" b="0" kern="100">
                          <a:effectLst/>
                          <a:latin typeface="微软雅黑" panose="020B0503020204020204" pitchFamily="34" charset="-122"/>
                          <a:ea typeface="微软雅黑" panose="020B0503020204020204" pitchFamily="34" charset="-122"/>
                          <a:cs typeface="Times New Roman" panose="02020603050405020304" pitchFamily="18" charset="0"/>
                        </a:rPr>
                        <a:t>4.6</a:t>
                      </a:r>
                      <a:endParaRPr lang="zh-CN" sz="1600" b="0" kern="100">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68580" marR="68580" marT="0" marB="0" anchor="ctr"/>
                </a:tc>
                <a:tc>
                  <a:txBody>
                    <a:bodyPr/>
                    <a:lstStyle/>
                    <a:p>
                      <a:pPr algn="ctr">
                        <a:spcAft>
                          <a:spcPts val="0"/>
                        </a:spcAft>
                      </a:pPr>
                      <a:r>
                        <a:rPr lang="en-US" sz="1600" b="0" kern="100" dirty="0">
                          <a:effectLst/>
                          <a:latin typeface="微软雅黑" panose="020B0503020204020204" pitchFamily="34" charset="-122"/>
                          <a:ea typeface="微软雅黑" panose="020B0503020204020204" pitchFamily="34" charset="-122"/>
                          <a:cs typeface="Times New Roman" panose="02020603050405020304" pitchFamily="18" charset="0"/>
                        </a:rPr>
                        <a:t>-11.9</a:t>
                      </a:r>
                      <a:endParaRPr lang="zh-CN" sz="1600" b="0" kern="100" dirty="0">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68580" marR="68580" marT="0" marB="0" anchor="ctr"/>
                </a:tc>
                <a:tc>
                  <a:txBody>
                    <a:bodyPr/>
                    <a:lstStyle/>
                    <a:p>
                      <a:pPr algn="ctr">
                        <a:spcAft>
                          <a:spcPts val="0"/>
                        </a:spcAft>
                      </a:pPr>
                      <a:r>
                        <a:rPr lang="en-US" sz="1600" b="0" kern="100" dirty="0">
                          <a:effectLst/>
                          <a:latin typeface="微软雅黑" panose="020B0503020204020204" pitchFamily="34" charset="-122"/>
                          <a:ea typeface="微软雅黑" panose="020B0503020204020204" pitchFamily="34" charset="-122"/>
                          <a:cs typeface="Times New Roman" panose="02020603050405020304" pitchFamily="18" charset="0"/>
                        </a:rPr>
                        <a:t>26.3</a:t>
                      </a:r>
                      <a:endParaRPr lang="zh-CN" sz="1600" b="0" kern="100" dirty="0">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68580" marR="68580" marT="0" marB="0" anchor="ctr"/>
                </a:tc>
                <a:extLst>
                  <a:ext uri="{0D108BD9-81ED-4DB2-BD59-A6C34878D82A}">
                    <a16:rowId xmlns:a16="http://schemas.microsoft.com/office/drawing/2014/main" val="10007"/>
                  </a:ext>
                </a:extLst>
              </a:tr>
              <a:tr h="357269">
                <a:tc>
                  <a:txBody>
                    <a:bodyPr/>
                    <a:lstStyle/>
                    <a:p>
                      <a:pPr marL="0" algn="l" defTabSz="914400" rtl="0" eaLnBrk="1" latinLnBrk="0" hangingPunct="1">
                        <a:spcAft>
                          <a:spcPts val="0"/>
                        </a:spcAft>
                      </a:pPr>
                      <a:r>
                        <a:rPr lang="en-US" altLang="zh-CN" sz="1600" b="0" kern="100" dirty="0" smtClean="0">
                          <a:effectLst/>
                          <a:latin typeface="微软雅黑" panose="020B0503020204020204" pitchFamily="34" charset="-122"/>
                          <a:ea typeface="微软雅黑" panose="020B0503020204020204" pitchFamily="34" charset="-122"/>
                          <a:cs typeface="Times New Roman" panose="02020603050405020304" pitchFamily="18" charset="0"/>
                        </a:rPr>
                        <a:t>  </a:t>
                      </a:r>
                      <a:r>
                        <a:rPr lang="en-US" sz="1600" b="0" kern="100" dirty="0" smtClean="0">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rPr>
                        <a:t>Commercial </a:t>
                      </a:r>
                      <a:r>
                        <a:rPr lang="en-US" sz="1600" b="0" kern="100" dirty="0">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rPr>
                        <a:t>banks, net</a:t>
                      </a:r>
                      <a:endParaRPr lang="zh-CN" sz="1600" b="0" kern="100" dirty="0">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68580" marR="68580" marT="0" marB="0" anchor="ctr"/>
                </a:tc>
                <a:tc>
                  <a:txBody>
                    <a:bodyPr/>
                    <a:lstStyle/>
                    <a:p>
                      <a:pPr algn="ctr">
                        <a:spcAft>
                          <a:spcPts val="0"/>
                        </a:spcAft>
                      </a:pPr>
                      <a:r>
                        <a:rPr lang="en-US" sz="1600" b="0" kern="100" dirty="0">
                          <a:effectLst/>
                          <a:latin typeface="微软雅黑" panose="020B0503020204020204" pitchFamily="34" charset="-122"/>
                          <a:ea typeface="微软雅黑" panose="020B0503020204020204" pitchFamily="34" charset="-122"/>
                          <a:cs typeface="Times New Roman" panose="02020603050405020304" pitchFamily="18" charset="0"/>
                        </a:rPr>
                        <a:t>116.4</a:t>
                      </a:r>
                      <a:endParaRPr lang="zh-CN" sz="1600" b="0" kern="100" dirty="0">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68580" marR="68580" marT="0" marB="0" anchor="ctr"/>
                </a:tc>
                <a:tc>
                  <a:txBody>
                    <a:bodyPr/>
                    <a:lstStyle/>
                    <a:p>
                      <a:pPr algn="ctr">
                        <a:spcAft>
                          <a:spcPts val="0"/>
                        </a:spcAft>
                      </a:pPr>
                      <a:r>
                        <a:rPr lang="en-US" sz="1600" b="0" kern="100">
                          <a:effectLst/>
                          <a:latin typeface="微软雅黑" panose="020B0503020204020204" pitchFamily="34" charset="-122"/>
                          <a:ea typeface="微软雅黑" panose="020B0503020204020204" pitchFamily="34" charset="-122"/>
                          <a:cs typeface="Times New Roman" panose="02020603050405020304" pitchFamily="18" charset="0"/>
                        </a:rPr>
                        <a:t>35.6</a:t>
                      </a:r>
                      <a:endParaRPr lang="zh-CN" sz="1600" b="0" kern="100">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68580" marR="68580" marT="0" marB="0" anchor="ctr"/>
                </a:tc>
                <a:tc>
                  <a:txBody>
                    <a:bodyPr/>
                    <a:lstStyle/>
                    <a:p>
                      <a:pPr algn="ctr">
                        <a:spcAft>
                          <a:spcPts val="0"/>
                        </a:spcAft>
                      </a:pPr>
                      <a:r>
                        <a:rPr lang="en-US" sz="1600" b="0" kern="100">
                          <a:effectLst/>
                          <a:latin typeface="微软雅黑" panose="020B0503020204020204" pitchFamily="34" charset="-122"/>
                          <a:ea typeface="微软雅黑" panose="020B0503020204020204" pitchFamily="34" charset="-122"/>
                          <a:cs typeface="Times New Roman" panose="02020603050405020304" pitchFamily="18" charset="0"/>
                        </a:rPr>
                        <a:t>-58.8</a:t>
                      </a:r>
                      <a:endParaRPr lang="zh-CN" sz="1600" b="0" kern="100">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68580" marR="68580" marT="0" marB="0" anchor="ctr"/>
                </a:tc>
                <a:tc>
                  <a:txBody>
                    <a:bodyPr/>
                    <a:lstStyle/>
                    <a:p>
                      <a:pPr algn="ctr">
                        <a:spcAft>
                          <a:spcPts val="0"/>
                        </a:spcAft>
                      </a:pPr>
                      <a:r>
                        <a:rPr lang="en-US" sz="1600" b="0" kern="100">
                          <a:effectLst/>
                          <a:latin typeface="微软雅黑" panose="020B0503020204020204" pitchFamily="34" charset="-122"/>
                          <a:ea typeface="微软雅黑" panose="020B0503020204020204" pitchFamily="34" charset="-122"/>
                          <a:cs typeface="Times New Roman" panose="02020603050405020304" pitchFamily="18" charset="0"/>
                        </a:rPr>
                        <a:t>-40.5</a:t>
                      </a:r>
                      <a:endParaRPr lang="zh-CN" sz="1600" b="0" kern="100">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68580" marR="68580" marT="0" marB="0" anchor="ctr"/>
                </a:tc>
                <a:tc>
                  <a:txBody>
                    <a:bodyPr/>
                    <a:lstStyle/>
                    <a:p>
                      <a:pPr algn="ctr">
                        <a:spcAft>
                          <a:spcPts val="0"/>
                        </a:spcAft>
                      </a:pPr>
                      <a:r>
                        <a:rPr lang="en-US" sz="1600" b="0" kern="100" dirty="0">
                          <a:effectLst/>
                          <a:latin typeface="微软雅黑" panose="020B0503020204020204" pitchFamily="34" charset="-122"/>
                          <a:ea typeface="微软雅黑" panose="020B0503020204020204" pitchFamily="34" charset="-122"/>
                          <a:cs typeface="Times New Roman" panose="02020603050405020304" pitchFamily="18" charset="0"/>
                        </a:rPr>
                        <a:t>-11.1</a:t>
                      </a:r>
                      <a:endParaRPr lang="zh-CN" sz="1600" b="0" kern="100" dirty="0">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68580" marR="68580" marT="0" marB="0" anchor="ctr"/>
                </a:tc>
                <a:extLst>
                  <a:ext uri="{0D108BD9-81ED-4DB2-BD59-A6C34878D82A}">
                    <a16:rowId xmlns:a16="http://schemas.microsoft.com/office/drawing/2014/main" val="10008"/>
                  </a:ext>
                </a:extLst>
              </a:tr>
              <a:tr h="357269">
                <a:tc>
                  <a:txBody>
                    <a:bodyPr/>
                    <a:lstStyle/>
                    <a:p>
                      <a:pPr marL="0" algn="l" defTabSz="914400" rtl="0" eaLnBrk="1" latinLnBrk="0" hangingPunct="1">
                        <a:spcAft>
                          <a:spcPts val="0"/>
                        </a:spcAft>
                      </a:pPr>
                      <a:r>
                        <a:rPr lang="en-US" altLang="zh-CN" sz="1600" b="0" kern="100" dirty="0" smtClean="0">
                          <a:effectLst/>
                          <a:latin typeface="微软雅黑" panose="020B0503020204020204" pitchFamily="34" charset="-122"/>
                          <a:ea typeface="微软雅黑" panose="020B0503020204020204" pitchFamily="34" charset="-122"/>
                          <a:cs typeface="Times New Roman" panose="02020603050405020304" pitchFamily="18" charset="0"/>
                        </a:rPr>
                        <a:t>  </a:t>
                      </a:r>
                      <a:r>
                        <a:rPr lang="en-US" sz="1600" b="0" kern="100" dirty="0" smtClean="0">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rPr>
                        <a:t>Nonbanks</a:t>
                      </a:r>
                      <a:r>
                        <a:rPr lang="en-US" sz="1600" b="0" kern="100" dirty="0">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rPr>
                        <a:t>, net</a:t>
                      </a:r>
                      <a:endParaRPr lang="zh-CN" sz="1600" b="0" kern="100" dirty="0">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68580" marR="68580" marT="0" marB="0" anchor="ctr"/>
                </a:tc>
                <a:tc>
                  <a:txBody>
                    <a:bodyPr/>
                    <a:lstStyle/>
                    <a:p>
                      <a:pPr algn="ctr">
                        <a:spcAft>
                          <a:spcPts val="0"/>
                        </a:spcAft>
                      </a:pPr>
                      <a:r>
                        <a:rPr lang="en-US" sz="1600" b="0" kern="100">
                          <a:effectLst/>
                          <a:latin typeface="微软雅黑" panose="020B0503020204020204" pitchFamily="34" charset="-122"/>
                          <a:ea typeface="微软雅黑" panose="020B0503020204020204" pitchFamily="34" charset="-122"/>
                          <a:cs typeface="Times New Roman" panose="02020603050405020304" pitchFamily="18" charset="0"/>
                        </a:rPr>
                        <a:t>88.1</a:t>
                      </a:r>
                      <a:endParaRPr lang="zh-CN" sz="1600" b="0" kern="100">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68580" marR="68580" marT="0" marB="0" anchor="ctr"/>
                </a:tc>
                <a:tc>
                  <a:txBody>
                    <a:bodyPr/>
                    <a:lstStyle/>
                    <a:p>
                      <a:pPr algn="ctr">
                        <a:spcAft>
                          <a:spcPts val="0"/>
                        </a:spcAft>
                      </a:pPr>
                      <a:r>
                        <a:rPr lang="en-US" sz="1600" b="0" kern="100">
                          <a:effectLst/>
                          <a:latin typeface="微软雅黑" panose="020B0503020204020204" pitchFamily="34" charset="-122"/>
                          <a:ea typeface="微软雅黑" panose="020B0503020204020204" pitchFamily="34" charset="-122"/>
                          <a:cs typeface="Times New Roman" panose="02020603050405020304" pitchFamily="18" charset="0"/>
                        </a:rPr>
                        <a:t>89.0</a:t>
                      </a:r>
                      <a:endParaRPr lang="zh-CN" sz="1600" b="0" kern="100">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68580" marR="68580" marT="0" marB="0" anchor="ctr"/>
                </a:tc>
                <a:tc>
                  <a:txBody>
                    <a:bodyPr/>
                    <a:lstStyle/>
                    <a:p>
                      <a:pPr algn="ctr">
                        <a:spcAft>
                          <a:spcPts val="0"/>
                        </a:spcAft>
                      </a:pPr>
                      <a:r>
                        <a:rPr lang="en-US" sz="1600" b="0" kern="100">
                          <a:effectLst/>
                          <a:latin typeface="微软雅黑" panose="020B0503020204020204" pitchFamily="34" charset="-122"/>
                          <a:ea typeface="微软雅黑" panose="020B0503020204020204" pitchFamily="34" charset="-122"/>
                          <a:cs typeface="Times New Roman" panose="02020603050405020304" pitchFamily="18" charset="0"/>
                        </a:rPr>
                        <a:t>63.4</a:t>
                      </a:r>
                      <a:endParaRPr lang="zh-CN" sz="1600" b="0" kern="100">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68580" marR="68580" marT="0" marB="0" anchor="ctr"/>
                </a:tc>
                <a:tc>
                  <a:txBody>
                    <a:bodyPr/>
                    <a:lstStyle/>
                    <a:p>
                      <a:pPr algn="ctr">
                        <a:spcAft>
                          <a:spcPts val="0"/>
                        </a:spcAft>
                      </a:pPr>
                      <a:r>
                        <a:rPr lang="en-US" sz="1600" b="0" kern="100">
                          <a:effectLst/>
                          <a:latin typeface="微软雅黑" panose="020B0503020204020204" pitchFamily="34" charset="-122"/>
                          <a:ea typeface="微软雅黑" panose="020B0503020204020204" pitchFamily="34" charset="-122"/>
                          <a:cs typeface="Times New Roman" panose="02020603050405020304" pitchFamily="18" charset="0"/>
                        </a:rPr>
                        <a:t>28.6</a:t>
                      </a:r>
                      <a:endParaRPr lang="zh-CN" sz="1600" b="0" kern="100">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68580" marR="68580" marT="0" marB="0" anchor="ctr"/>
                </a:tc>
                <a:tc>
                  <a:txBody>
                    <a:bodyPr/>
                    <a:lstStyle/>
                    <a:p>
                      <a:pPr algn="ctr">
                        <a:spcAft>
                          <a:spcPts val="0"/>
                        </a:spcAft>
                      </a:pPr>
                      <a:r>
                        <a:rPr lang="en-US" sz="1600" b="0" kern="100" dirty="0">
                          <a:effectLst/>
                          <a:latin typeface="微软雅黑" panose="020B0503020204020204" pitchFamily="34" charset="-122"/>
                          <a:ea typeface="微软雅黑" panose="020B0503020204020204" pitchFamily="34" charset="-122"/>
                          <a:cs typeface="Times New Roman" panose="02020603050405020304" pitchFamily="18" charset="0"/>
                        </a:rPr>
                        <a:t>37.4</a:t>
                      </a:r>
                      <a:endParaRPr lang="zh-CN" sz="1600" b="0" kern="100" dirty="0">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68580" marR="68580" marT="0" marB="0" anchor="ctr"/>
                </a:tc>
                <a:extLst>
                  <a:ext uri="{0D108BD9-81ED-4DB2-BD59-A6C34878D82A}">
                    <a16:rowId xmlns:a16="http://schemas.microsoft.com/office/drawing/2014/main" val="10009"/>
                  </a:ext>
                </a:extLst>
              </a:tr>
              <a:tr h="357269">
                <a:tc>
                  <a:txBody>
                    <a:bodyPr/>
                    <a:lstStyle/>
                    <a:p>
                      <a:pPr algn="l">
                        <a:spcAft>
                          <a:spcPts val="0"/>
                        </a:spcAft>
                      </a:pPr>
                      <a:r>
                        <a:rPr lang="en-US" sz="1600" b="1" kern="100">
                          <a:effectLst/>
                          <a:latin typeface="微软雅黑" panose="020B0503020204020204" pitchFamily="34" charset="-122"/>
                          <a:ea typeface="微软雅黑" panose="020B0503020204020204" pitchFamily="34" charset="-122"/>
                          <a:cs typeface="Times New Roman" panose="02020603050405020304" pitchFamily="18" charset="0"/>
                        </a:rPr>
                        <a:t>Official flows, net</a:t>
                      </a:r>
                      <a:endParaRPr lang="zh-CN" sz="1600" kern="100">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68580" marR="68580" marT="0" marB="0" anchor="ctr"/>
                </a:tc>
                <a:tc>
                  <a:txBody>
                    <a:bodyPr/>
                    <a:lstStyle/>
                    <a:p>
                      <a:pPr algn="ctr">
                        <a:spcAft>
                          <a:spcPts val="0"/>
                        </a:spcAft>
                      </a:pPr>
                      <a:r>
                        <a:rPr lang="en-US" sz="1600" b="0" kern="100">
                          <a:effectLst/>
                          <a:latin typeface="微软雅黑" panose="020B0503020204020204" pitchFamily="34" charset="-122"/>
                          <a:ea typeface="微软雅黑" panose="020B0503020204020204" pitchFamily="34" charset="-122"/>
                          <a:cs typeface="Times New Roman" panose="02020603050405020304" pitchFamily="18" charset="0"/>
                        </a:rPr>
                        <a:t>7.3</a:t>
                      </a:r>
                      <a:endParaRPr lang="zh-CN" sz="1600" b="0" kern="100">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68580" marR="68580" marT="0" marB="0" anchor="ctr"/>
                </a:tc>
                <a:tc>
                  <a:txBody>
                    <a:bodyPr/>
                    <a:lstStyle/>
                    <a:p>
                      <a:pPr algn="ctr">
                        <a:spcAft>
                          <a:spcPts val="0"/>
                        </a:spcAft>
                      </a:pPr>
                      <a:r>
                        <a:rPr lang="en-US" sz="1600" b="0" kern="100">
                          <a:effectLst/>
                          <a:latin typeface="微软雅黑" panose="020B0503020204020204" pitchFamily="34" charset="-122"/>
                          <a:ea typeface="微软雅黑" panose="020B0503020204020204" pitchFamily="34" charset="-122"/>
                          <a:cs typeface="Times New Roman" panose="02020603050405020304" pitchFamily="18" charset="0"/>
                        </a:rPr>
                        <a:t>44.8</a:t>
                      </a:r>
                      <a:endParaRPr lang="zh-CN" sz="1600" b="0" kern="100">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68580" marR="68580" marT="0" marB="0" anchor="ctr"/>
                </a:tc>
                <a:tc>
                  <a:txBody>
                    <a:bodyPr/>
                    <a:lstStyle/>
                    <a:p>
                      <a:pPr algn="ctr">
                        <a:spcAft>
                          <a:spcPts val="0"/>
                        </a:spcAft>
                      </a:pPr>
                      <a:r>
                        <a:rPr lang="en-US" sz="1600" b="0" kern="100">
                          <a:effectLst/>
                          <a:latin typeface="微软雅黑" panose="020B0503020204020204" pitchFamily="34" charset="-122"/>
                          <a:ea typeface="微软雅黑" panose="020B0503020204020204" pitchFamily="34" charset="-122"/>
                          <a:cs typeface="Times New Roman" panose="02020603050405020304" pitchFamily="18" charset="0"/>
                        </a:rPr>
                        <a:t>48.1</a:t>
                      </a:r>
                      <a:endParaRPr lang="zh-CN" sz="1600" b="0" kern="100">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68580" marR="68580" marT="0" marB="0" anchor="ctr"/>
                </a:tc>
                <a:tc>
                  <a:txBody>
                    <a:bodyPr/>
                    <a:lstStyle/>
                    <a:p>
                      <a:pPr algn="ctr">
                        <a:spcAft>
                          <a:spcPts val="0"/>
                        </a:spcAft>
                      </a:pPr>
                      <a:r>
                        <a:rPr lang="en-US" sz="1600" b="0" kern="100">
                          <a:effectLst/>
                          <a:latin typeface="微软雅黑" panose="020B0503020204020204" pitchFamily="34" charset="-122"/>
                          <a:ea typeface="微软雅黑" panose="020B0503020204020204" pitchFamily="34" charset="-122"/>
                          <a:cs typeface="Times New Roman" panose="02020603050405020304" pitchFamily="18" charset="0"/>
                        </a:rPr>
                        <a:t>5.0</a:t>
                      </a:r>
                      <a:endParaRPr lang="zh-CN" sz="1600" b="0" kern="100">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68580" marR="68580" marT="0" marB="0" anchor="ctr"/>
                </a:tc>
                <a:tc>
                  <a:txBody>
                    <a:bodyPr/>
                    <a:lstStyle/>
                    <a:p>
                      <a:pPr algn="ctr">
                        <a:spcAft>
                          <a:spcPts val="0"/>
                        </a:spcAft>
                      </a:pPr>
                      <a:r>
                        <a:rPr lang="en-US" sz="1600" b="0" kern="100" dirty="0">
                          <a:effectLst/>
                          <a:latin typeface="微软雅黑" panose="020B0503020204020204" pitchFamily="34" charset="-122"/>
                          <a:ea typeface="微软雅黑" panose="020B0503020204020204" pitchFamily="34" charset="-122"/>
                          <a:cs typeface="Times New Roman" panose="02020603050405020304" pitchFamily="18" charset="0"/>
                        </a:rPr>
                        <a:t>-0.8</a:t>
                      </a:r>
                      <a:endParaRPr lang="zh-CN" sz="1600" b="0" kern="100" dirty="0">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68580" marR="68580" marT="0" marB="0" anchor="ctr"/>
                </a:tc>
                <a:extLst>
                  <a:ext uri="{0D108BD9-81ED-4DB2-BD59-A6C34878D82A}">
                    <a16:rowId xmlns:a16="http://schemas.microsoft.com/office/drawing/2014/main" val="10010"/>
                  </a:ext>
                </a:extLst>
              </a:tr>
              <a:tr h="357269">
                <a:tc>
                  <a:txBody>
                    <a:bodyPr/>
                    <a:lstStyle/>
                    <a:p>
                      <a:pPr algn="l">
                        <a:spcAft>
                          <a:spcPts val="0"/>
                        </a:spcAft>
                      </a:pPr>
                      <a:r>
                        <a:rPr lang="en-US" sz="1600" b="0" kern="100" dirty="0">
                          <a:effectLst/>
                          <a:latin typeface="微软雅黑" panose="020B0503020204020204" pitchFamily="34" charset="-122"/>
                          <a:ea typeface="微软雅黑" panose="020B0503020204020204" pitchFamily="34" charset="-122"/>
                          <a:cs typeface="Times New Roman" panose="02020603050405020304" pitchFamily="18" charset="0"/>
                        </a:rPr>
                        <a:t>   IFIs</a:t>
                      </a:r>
                      <a:endParaRPr lang="zh-CN" sz="1600" b="0" kern="100" dirty="0">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68580" marR="68580" marT="0" marB="0" anchor="ctr"/>
                </a:tc>
                <a:tc>
                  <a:txBody>
                    <a:bodyPr/>
                    <a:lstStyle/>
                    <a:p>
                      <a:pPr algn="ctr">
                        <a:spcAft>
                          <a:spcPts val="0"/>
                        </a:spcAft>
                      </a:pPr>
                      <a:r>
                        <a:rPr lang="en-US" sz="1600" b="0" kern="100">
                          <a:effectLst/>
                          <a:latin typeface="微软雅黑" panose="020B0503020204020204" pitchFamily="34" charset="-122"/>
                          <a:ea typeface="微软雅黑" panose="020B0503020204020204" pitchFamily="34" charset="-122"/>
                          <a:cs typeface="Times New Roman" panose="02020603050405020304" pitchFamily="18" charset="0"/>
                        </a:rPr>
                        <a:t>6.1</a:t>
                      </a:r>
                      <a:endParaRPr lang="zh-CN" sz="1600" b="0" kern="100">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68580" marR="68580" marT="0" marB="0" anchor="ctr"/>
                </a:tc>
                <a:tc>
                  <a:txBody>
                    <a:bodyPr/>
                    <a:lstStyle/>
                    <a:p>
                      <a:pPr algn="ctr">
                        <a:spcAft>
                          <a:spcPts val="0"/>
                        </a:spcAft>
                      </a:pPr>
                      <a:r>
                        <a:rPr lang="en-US" sz="1600" b="0" kern="100">
                          <a:effectLst/>
                          <a:latin typeface="微软雅黑" panose="020B0503020204020204" pitchFamily="34" charset="-122"/>
                          <a:ea typeface="微软雅黑" panose="020B0503020204020204" pitchFamily="34" charset="-122"/>
                          <a:cs typeface="Times New Roman" panose="02020603050405020304" pitchFamily="18" charset="0"/>
                        </a:rPr>
                        <a:t>29.6</a:t>
                      </a:r>
                      <a:endParaRPr lang="zh-CN" sz="1600" b="0" kern="100">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68580" marR="68580" marT="0" marB="0" anchor="ctr"/>
                </a:tc>
                <a:tc>
                  <a:txBody>
                    <a:bodyPr/>
                    <a:lstStyle/>
                    <a:p>
                      <a:pPr algn="ctr">
                        <a:spcAft>
                          <a:spcPts val="0"/>
                        </a:spcAft>
                      </a:pPr>
                      <a:r>
                        <a:rPr lang="en-US" sz="1600" b="0" kern="100">
                          <a:effectLst/>
                          <a:latin typeface="微软雅黑" panose="020B0503020204020204" pitchFamily="34" charset="-122"/>
                          <a:ea typeface="微软雅黑" panose="020B0503020204020204" pitchFamily="34" charset="-122"/>
                          <a:cs typeface="Times New Roman" panose="02020603050405020304" pitchFamily="18" charset="0"/>
                        </a:rPr>
                        <a:t>37.7</a:t>
                      </a:r>
                      <a:endParaRPr lang="zh-CN" sz="1600" b="0" kern="100">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68580" marR="68580" marT="0" marB="0" anchor="ctr"/>
                </a:tc>
                <a:tc>
                  <a:txBody>
                    <a:bodyPr/>
                    <a:lstStyle/>
                    <a:p>
                      <a:pPr algn="ctr">
                        <a:spcAft>
                          <a:spcPts val="0"/>
                        </a:spcAft>
                      </a:pPr>
                      <a:r>
                        <a:rPr lang="en-US" sz="1600" b="0" kern="100">
                          <a:effectLst/>
                          <a:latin typeface="微软雅黑" panose="020B0503020204020204" pitchFamily="34" charset="-122"/>
                          <a:ea typeface="微软雅黑" panose="020B0503020204020204" pitchFamily="34" charset="-122"/>
                          <a:cs typeface="Times New Roman" panose="02020603050405020304" pitchFamily="18" charset="0"/>
                        </a:rPr>
                        <a:t>2.6</a:t>
                      </a:r>
                      <a:endParaRPr lang="zh-CN" sz="1600" b="0" kern="100">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68580" marR="68580" marT="0" marB="0" anchor="ctr"/>
                </a:tc>
                <a:tc>
                  <a:txBody>
                    <a:bodyPr/>
                    <a:lstStyle/>
                    <a:p>
                      <a:pPr algn="ctr">
                        <a:spcAft>
                          <a:spcPts val="0"/>
                        </a:spcAft>
                      </a:pPr>
                      <a:r>
                        <a:rPr lang="en-US" sz="1600" b="0" kern="100" dirty="0">
                          <a:effectLst/>
                          <a:latin typeface="微软雅黑" panose="020B0503020204020204" pitchFamily="34" charset="-122"/>
                          <a:ea typeface="微软雅黑" panose="020B0503020204020204" pitchFamily="34" charset="-122"/>
                          <a:cs typeface="Times New Roman" panose="02020603050405020304" pitchFamily="18" charset="0"/>
                        </a:rPr>
                        <a:t>1.3</a:t>
                      </a:r>
                      <a:endParaRPr lang="zh-CN" sz="1600" b="0" kern="100" dirty="0">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68580" marR="68580" marT="0" marB="0" anchor="ctr"/>
                </a:tc>
                <a:extLst>
                  <a:ext uri="{0D108BD9-81ED-4DB2-BD59-A6C34878D82A}">
                    <a16:rowId xmlns:a16="http://schemas.microsoft.com/office/drawing/2014/main" val="10011"/>
                  </a:ext>
                </a:extLst>
              </a:tr>
              <a:tr h="357269">
                <a:tc>
                  <a:txBody>
                    <a:bodyPr/>
                    <a:lstStyle/>
                    <a:p>
                      <a:pPr algn="l">
                        <a:spcAft>
                          <a:spcPts val="0"/>
                        </a:spcAft>
                      </a:pPr>
                      <a:r>
                        <a:rPr lang="en-US" sz="1600" b="0" kern="100" dirty="0">
                          <a:effectLst/>
                          <a:latin typeface="微软雅黑" panose="020B0503020204020204" pitchFamily="34" charset="-122"/>
                          <a:ea typeface="微软雅黑" panose="020B0503020204020204" pitchFamily="34" charset="-122"/>
                          <a:cs typeface="Times New Roman" panose="02020603050405020304" pitchFamily="18" charset="0"/>
                        </a:rPr>
                        <a:t>   Bilateral creditors</a:t>
                      </a:r>
                      <a:endParaRPr lang="zh-CN" sz="1600" b="0" kern="100" dirty="0">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68580" marR="68580" marT="0" marB="0" anchor="ctr"/>
                </a:tc>
                <a:tc>
                  <a:txBody>
                    <a:bodyPr/>
                    <a:lstStyle/>
                    <a:p>
                      <a:pPr algn="ctr">
                        <a:spcAft>
                          <a:spcPts val="0"/>
                        </a:spcAft>
                      </a:pPr>
                      <a:r>
                        <a:rPr lang="en-US" sz="1600" b="0" kern="100">
                          <a:effectLst/>
                          <a:latin typeface="微软雅黑" panose="020B0503020204020204" pitchFamily="34" charset="-122"/>
                          <a:ea typeface="微软雅黑" panose="020B0503020204020204" pitchFamily="34" charset="-122"/>
                          <a:cs typeface="Times New Roman" panose="02020603050405020304" pitchFamily="18" charset="0"/>
                        </a:rPr>
                        <a:t>0.6</a:t>
                      </a:r>
                      <a:endParaRPr lang="zh-CN" sz="1600" b="0" kern="100">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68580" marR="68580" marT="0" marB="0" anchor="ctr"/>
                </a:tc>
                <a:tc>
                  <a:txBody>
                    <a:bodyPr/>
                    <a:lstStyle/>
                    <a:p>
                      <a:pPr algn="ctr">
                        <a:spcAft>
                          <a:spcPts val="0"/>
                        </a:spcAft>
                      </a:pPr>
                      <a:r>
                        <a:rPr lang="en-US" sz="1600" b="0" kern="100">
                          <a:effectLst/>
                          <a:latin typeface="微软雅黑" panose="020B0503020204020204" pitchFamily="34" charset="-122"/>
                          <a:ea typeface="微软雅黑" panose="020B0503020204020204" pitchFamily="34" charset="-122"/>
                          <a:cs typeface="Times New Roman" panose="02020603050405020304" pitchFamily="18" charset="0"/>
                        </a:rPr>
                        <a:t>15.3</a:t>
                      </a:r>
                      <a:endParaRPr lang="zh-CN" sz="1600" b="0" kern="100">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68580" marR="68580" marT="0" marB="0" anchor="ctr"/>
                </a:tc>
                <a:tc>
                  <a:txBody>
                    <a:bodyPr/>
                    <a:lstStyle/>
                    <a:p>
                      <a:pPr algn="ctr">
                        <a:spcAft>
                          <a:spcPts val="0"/>
                        </a:spcAft>
                      </a:pPr>
                      <a:r>
                        <a:rPr lang="en-US" sz="1600" b="0" kern="100">
                          <a:effectLst/>
                          <a:latin typeface="微软雅黑" panose="020B0503020204020204" pitchFamily="34" charset="-122"/>
                          <a:ea typeface="微软雅黑" panose="020B0503020204020204" pitchFamily="34" charset="-122"/>
                          <a:cs typeface="Times New Roman" panose="02020603050405020304" pitchFamily="18" charset="0"/>
                        </a:rPr>
                        <a:t>10.4</a:t>
                      </a:r>
                      <a:endParaRPr lang="zh-CN" sz="1600" b="0" kern="100">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68580" marR="68580" marT="0" marB="0" anchor="ctr"/>
                </a:tc>
                <a:tc>
                  <a:txBody>
                    <a:bodyPr/>
                    <a:lstStyle/>
                    <a:p>
                      <a:pPr algn="ctr">
                        <a:spcAft>
                          <a:spcPts val="0"/>
                        </a:spcAft>
                      </a:pPr>
                      <a:r>
                        <a:rPr lang="en-US" sz="1600" b="0" kern="100">
                          <a:effectLst/>
                          <a:latin typeface="微软雅黑" panose="020B0503020204020204" pitchFamily="34" charset="-122"/>
                          <a:ea typeface="微软雅黑" panose="020B0503020204020204" pitchFamily="34" charset="-122"/>
                          <a:cs typeface="Times New Roman" panose="02020603050405020304" pitchFamily="18" charset="0"/>
                        </a:rPr>
                        <a:t>2.4</a:t>
                      </a:r>
                      <a:endParaRPr lang="zh-CN" sz="1600" b="0" kern="100">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68580" marR="68580" marT="0" marB="0" anchor="ctr"/>
                </a:tc>
                <a:tc>
                  <a:txBody>
                    <a:bodyPr/>
                    <a:lstStyle/>
                    <a:p>
                      <a:pPr algn="ctr">
                        <a:spcAft>
                          <a:spcPts val="0"/>
                        </a:spcAft>
                      </a:pPr>
                      <a:r>
                        <a:rPr lang="en-US" sz="1600" b="0" kern="100" dirty="0">
                          <a:effectLst/>
                          <a:latin typeface="微软雅黑" panose="020B0503020204020204" pitchFamily="34" charset="-122"/>
                          <a:ea typeface="微软雅黑" panose="020B0503020204020204" pitchFamily="34" charset="-122"/>
                          <a:cs typeface="Times New Roman" panose="02020603050405020304" pitchFamily="18" charset="0"/>
                        </a:rPr>
                        <a:t>-2.1</a:t>
                      </a:r>
                      <a:endParaRPr lang="zh-CN" sz="1600" b="0" kern="100" dirty="0">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68580" marR="68580" marT="0" marB="0" anchor="ctr"/>
                </a:tc>
                <a:extLst>
                  <a:ext uri="{0D108BD9-81ED-4DB2-BD59-A6C34878D82A}">
                    <a16:rowId xmlns:a16="http://schemas.microsoft.com/office/drawing/2014/main" val="10012"/>
                  </a:ext>
                </a:extLst>
              </a:tr>
              <a:tr h="357269">
                <a:tc>
                  <a:txBody>
                    <a:bodyPr/>
                    <a:lstStyle/>
                    <a:p>
                      <a:pPr algn="l">
                        <a:spcAft>
                          <a:spcPts val="0"/>
                        </a:spcAft>
                      </a:pPr>
                      <a:r>
                        <a:rPr lang="en-US" sz="1600" b="1" kern="100">
                          <a:effectLst/>
                          <a:latin typeface="微软雅黑" panose="020B0503020204020204" pitchFamily="34" charset="-122"/>
                          <a:ea typeface="微软雅黑" panose="020B0503020204020204" pitchFamily="34" charset="-122"/>
                          <a:cs typeface="Times New Roman" panose="02020603050405020304" pitchFamily="18" charset="0"/>
                        </a:rPr>
                        <a:t>Resident lending/other, net (l)</a:t>
                      </a:r>
                      <a:endParaRPr lang="zh-CN" sz="1600" kern="100">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68580" marR="68580" marT="0" marB="0" anchor="ctr"/>
                </a:tc>
                <a:tc>
                  <a:txBody>
                    <a:bodyPr/>
                    <a:lstStyle/>
                    <a:p>
                      <a:pPr algn="ctr">
                        <a:spcAft>
                          <a:spcPts val="0"/>
                        </a:spcAft>
                      </a:pPr>
                      <a:r>
                        <a:rPr lang="en-US" sz="1600" b="0" kern="100">
                          <a:effectLst/>
                          <a:latin typeface="微软雅黑" panose="020B0503020204020204" pitchFamily="34" charset="-122"/>
                          <a:ea typeface="微软雅黑" panose="020B0503020204020204" pitchFamily="34" charset="-122"/>
                          <a:cs typeface="Times New Roman" panose="02020603050405020304" pitchFamily="18" charset="0"/>
                        </a:rPr>
                        <a:t>-155.1</a:t>
                      </a:r>
                      <a:endParaRPr lang="zh-CN" sz="1600" b="0" kern="100">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68580" marR="68580" marT="0" marB="0" anchor="ctr"/>
                </a:tc>
                <a:tc>
                  <a:txBody>
                    <a:bodyPr/>
                    <a:lstStyle/>
                    <a:p>
                      <a:pPr algn="ctr">
                        <a:spcAft>
                          <a:spcPts val="0"/>
                        </a:spcAft>
                      </a:pPr>
                      <a:r>
                        <a:rPr lang="en-US" sz="1600" b="0" kern="100">
                          <a:effectLst/>
                          <a:latin typeface="微软雅黑" panose="020B0503020204020204" pitchFamily="34" charset="-122"/>
                          <a:ea typeface="微软雅黑" panose="020B0503020204020204" pitchFamily="34" charset="-122"/>
                          <a:cs typeface="Times New Roman" panose="02020603050405020304" pitchFamily="18" charset="0"/>
                        </a:rPr>
                        <a:t>-187.2</a:t>
                      </a:r>
                      <a:endParaRPr lang="zh-CN" sz="1600" b="0" kern="100">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68580" marR="68580" marT="0" marB="0" anchor="ctr"/>
                </a:tc>
                <a:tc>
                  <a:txBody>
                    <a:bodyPr/>
                    <a:lstStyle/>
                    <a:p>
                      <a:pPr algn="ctr">
                        <a:spcAft>
                          <a:spcPts val="0"/>
                        </a:spcAft>
                      </a:pPr>
                      <a:r>
                        <a:rPr lang="en-US" sz="1600" b="0" kern="100">
                          <a:effectLst/>
                          <a:latin typeface="微软雅黑" panose="020B0503020204020204" pitchFamily="34" charset="-122"/>
                          <a:ea typeface="微软雅黑" panose="020B0503020204020204" pitchFamily="34" charset="-122"/>
                          <a:cs typeface="Times New Roman" panose="02020603050405020304" pitchFamily="18" charset="0"/>
                        </a:rPr>
                        <a:t>-132.5</a:t>
                      </a:r>
                      <a:endParaRPr lang="zh-CN" sz="1600" b="0" kern="100">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68580" marR="68580" marT="0" marB="0" anchor="ctr"/>
                </a:tc>
                <a:tc>
                  <a:txBody>
                    <a:bodyPr/>
                    <a:lstStyle/>
                    <a:p>
                      <a:pPr algn="ctr">
                        <a:spcAft>
                          <a:spcPts val="0"/>
                        </a:spcAft>
                      </a:pPr>
                      <a:r>
                        <a:rPr lang="en-US" sz="1600" b="0" kern="100">
                          <a:effectLst/>
                          <a:latin typeface="微软雅黑" panose="020B0503020204020204" pitchFamily="34" charset="-122"/>
                          <a:ea typeface="微软雅黑" panose="020B0503020204020204" pitchFamily="34" charset="-122"/>
                          <a:cs typeface="Times New Roman" panose="02020603050405020304" pitchFamily="18" charset="0"/>
                        </a:rPr>
                        <a:t>-119.1</a:t>
                      </a:r>
                      <a:endParaRPr lang="zh-CN" sz="1600" b="0" kern="100">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68580" marR="68580" marT="0" marB="0" anchor="ctr"/>
                </a:tc>
                <a:tc>
                  <a:txBody>
                    <a:bodyPr/>
                    <a:lstStyle/>
                    <a:p>
                      <a:pPr algn="ctr">
                        <a:spcAft>
                          <a:spcPts val="0"/>
                        </a:spcAft>
                      </a:pPr>
                      <a:r>
                        <a:rPr lang="en-US" sz="1600" b="0" kern="100" dirty="0">
                          <a:effectLst/>
                          <a:latin typeface="微软雅黑" panose="020B0503020204020204" pitchFamily="34" charset="-122"/>
                          <a:ea typeface="微软雅黑" panose="020B0503020204020204" pitchFamily="34" charset="-122"/>
                          <a:cs typeface="Times New Roman" panose="02020603050405020304" pitchFamily="18" charset="0"/>
                        </a:rPr>
                        <a:t>-117.0</a:t>
                      </a:r>
                      <a:endParaRPr lang="zh-CN" sz="1600" b="0" kern="100" dirty="0">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68580" marR="68580" marT="0" marB="0" anchor="ctr"/>
                </a:tc>
                <a:extLst>
                  <a:ext uri="{0D108BD9-81ED-4DB2-BD59-A6C34878D82A}">
                    <a16:rowId xmlns:a16="http://schemas.microsoft.com/office/drawing/2014/main" val="10013"/>
                  </a:ext>
                </a:extLst>
              </a:tr>
              <a:tr h="357269">
                <a:tc>
                  <a:txBody>
                    <a:bodyPr/>
                    <a:lstStyle/>
                    <a:p>
                      <a:pPr algn="l">
                        <a:spcAft>
                          <a:spcPts val="0"/>
                        </a:spcAft>
                      </a:pPr>
                      <a:r>
                        <a:rPr lang="en-US" sz="1600" b="1" kern="100" dirty="0">
                          <a:effectLst/>
                          <a:latin typeface="微软雅黑" panose="020B0503020204020204" pitchFamily="34" charset="-122"/>
                          <a:ea typeface="微软雅黑" panose="020B0503020204020204" pitchFamily="34" charset="-122"/>
                          <a:cs typeface="Times New Roman" panose="02020603050405020304" pitchFamily="18" charset="0"/>
                        </a:rPr>
                        <a:t>Reserves (= increase)</a:t>
                      </a:r>
                      <a:endParaRPr lang="zh-CN" sz="1600" kern="100" dirty="0">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68580" marR="68580" marT="0" marB="0" anchor="ctr"/>
                </a:tc>
                <a:tc>
                  <a:txBody>
                    <a:bodyPr/>
                    <a:lstStyle/>
                    <a:p>
                      <a:pPr algn="ctr">
                        <a:spcAft>
                          <a:spcPts val="0"/>
                        </a:spcAft>
                      </a:pPr>
                      <a:r>
                        <a:rPr lang="en-US" sz="1600" b="0" kern="100" dirty="0">
                          <a:effectLst/>
                          <a:latin typeface="微软雅黑" panose="020B0503020204020204" pitchFamily="34" charset="-122"/>
                          <a:ea typeface="微软雅黑" panose="020B0503020204020204" pitchFamily="34" charset="-122"/>
                          <a:cs typeface="Times New Roman" panose="02020603050405020304" pitchFamily="18" charset="0"/>
                        </a:rPr>
                        <a:t>-84.</a:t>
                      </a:r>
                      <a:endParaRPr lang="zh-CN" sz="1600" b="0" kern="100" dirty="0">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68580" marR="68580" marT="0" marB="0" anchor="ctr"/>
                </a:tc>
                <a:tc>
                  <a:txBody>
                    <a:bodyPr/>
                    <a:lstStyle/>
                    <a:p>
                      <a:pPr algn="ctr">
                        <a:spcAft>
                          <a:spcPts val="0"/>
                        </a:spcAft>
                      </a:pPr>
                      <a:r>
                        <a:rPr lang="en-US" sz="1600" b="0" kern="100" dirty="0">
                          <a:effectLst/>
                          <a:latin typeface="微软雅黑" panose="020B0503020204020204" pitchFamily="34" charset="-122"/>
                          <a:ea typeface="微软雅黑" panose="020B0503020204020204" pitchFamily="34" charset="-122"/>
                          <a:cs typeface="Times New Roman" panose="02020603050405020304" pitchFamily="18" charset="0"/>
                        </a:rPr>
                        <a:t>-42.3</a:t>
                      </a:r>
                      <a:endParaRPr lang="zh-CN" sz="1600" b="0" kern="100" dirty="0">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68580" marR="68580" marT="0" marB="0" anchor="ctr"/>
                </a:tc>
                <a:tc>
                  <a:txBody>
                    <a:bodyPr/>
                    <a:lstStyle/>
                    <a:p>
                      <a:pPr algn="ctr">
                        <a:spcAft>
                          <a:spcPts val="0"/>
                        </a:spcAft>
                      </a:pPr>
                      <a:r>
                        <a:rPr lang="en-US" sz="1600" b="0" kern="100" dirty="0">
                          <a:effectLst/>
                          <a:latin typeface="微软雅黑" panose="020B0503020204020204" pitchFamily="34" charset="-122"/>
                          <a:ea typeface="微软雅黑" panose="020B0503020204020204" pitchFamily="34" charset="-122"/>
                          <a:cs typeface="Times New Roman" panose="02020603050405020304" pitchFamily="18" charset="0"/>
                        </a:rPr>
                        <a:t>-42.2</a:t>
                      </a:r>
                      <a:endParaRPr lang="zh-CN" sz="1600" b="0" kern="100" dirty="0">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68580" marR="68580" marT="0" marB="0" anchor="ctr"/>
                </a:tc>
                <a:tc>
                  <a:txBody>
                    <a:bodyPr/>
                    <a:lstStyle/>
                    <a:p>
                      <a:pPr algn="ctr">
                        <a:spcAft>
                          <a:spcPts val="0"/>
                        </a:spcAft>
                      </a:pPr>
                      <a:r>
                        <a:rPr lang="en-US" sz="1600" b="0" kern="100" dirty="0">
                          <a:effectLst/>
                          <a:latin typeface="微软雅黑" panose="020B0503020204020204" pitchFamily="34" charset="-122"/>
                          <a:ea typeface="微软雅黑" panose="020B0503020204020204" pitchFamily="34" charset="-122"/>
                          <a:cs typeface="Times New Roman" panose="02020603050405020304" pitchFamily="18" charset="0"/>
                        </a:rPr>
                        <a:t>-55.6</a:t>
                      </a:r>
                      <a:endParaRPr lang="zh-CN" sz="1600" b="0" kern="100" dirty="0">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68580" marR="68580" marT="0" marB="0" anchor="ctr"/>
                </a:tc>
                <a:tc>
                  <a:txBody>
                    <a:bodyPr/>
                    <a:lstStyle/>
                    <a:p>
                      <a:pPr algn="ctr">
                        <a:spcAft>
                          <a:spcPts val="0"/>
                        </a:spcAft>
                      </a:pPr>
                      <a:r>
                        <a:rPr lang="en-US" sz="1600" b="0" kern="100" dirty="0">
                          <a:effectLst/>
                          <a:latin typeface="微软雅黑" panose="020B0503020204020204" pitchFamily="34" charset="-122"/>
                          <a:ea typeface="微软雅黑" panose="020B0503020204020204" pitchFamily="34" charset="-122"/>
                          <a:cs typeface="Times New Roman" panose="02020603050405020304" pitchFamily="18" charset="0"/>
                        </a:rPr>
                        <a:t>-85.0</a:t>
                      </a:r>
                      <a:endParaRPr lang="zh-CN" sz="1600" b="0" kern="100" dirty="0">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68580" marR="68580" marT="0" marB="0" anchor="ctr"/>
                </a:tc>
                <a:extLst>
                  <a:ext uri="{0D108BD9-81ED-4DB2-BD59-A6C34878D82A}">
                    <a16:rowId xmlns:a16="http://schemas.microsoft.com/office/drawing/2014/main" val="10014"/>
                  </a:ext>
                </a:extLst>
              </a:tr>
            </a:tbl>
          </a:graphicData>
        </a:graphic>
      </p:graphicFrame>
    </p:spTree>
    <p:extLst>
      <p:ext uri="{BB962C8B-B14F-4D97-AF65-F5344CB8AC3E}">
        <p14:creationId xmlns:p14="http://schemas.microsoft.com/office/powerpoint/2010/main" val="410116897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页脚占位符 4"/>
          <p:cNvSpPr>
            <a:spLocks noGrp="1"/>
          </p:cNvSpPr>
          <p:nvPr>
            <p:ph type="ftr" sz="quarter" idx="11"/>
          </p:nvPr>
        </p:nvSpPr>
        <p:spPr/>
        <p:txBody>
          <a:bodyPr/>
          <a:lstStyle/>
          <a:p>
            <a:r>
              <a:rPr lang="zh-CN" altLang="en-US" smtClean="0"/>
              <a:t>国际金融学 范小云</a:t>
            </a:r>
            <a:endParaRPr lang="zh-CN" altLang="en-US" dirty="0"/>
          </a:p>
        </p:txBody>
      </p:sp>
      <p:sp>
        <p:nvSpPr>
          <p:cNvPr id="7" name="Rectangle 4"/>
          <p:cNvSpPr>
            <a:spLocks noChangeArrowheads="1"/>
          </p:cNvSpPr>
          <p:nvPr/>
        </p:nvSpPr>
        <p:spPr bwMode="auto">
          <a:xfrm>
            <a:off x="457201" y="197056"/>
            <a:ext cx="8324850" cy="8309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eaLnBrk="0" hangingPunct="0">
              <a:tabLst>
                <a:tab pos="439738" algn="r"/>
                <a:tab pos="2420938" algn="r"/>
                <a:tab pos="3060700" algn="r"/>
                <a:tab pos="3781425" algn="r"/>
                <a:tab pos="4500563" algn="r"/>
                <a:tab pos="5221288" algn="r"/>
              </a:tabLst>
              <a:defRPr>
                <a:solidFill>
                  <a:schemeClr val="tx1"/>
                </a:solidFill>
                <a:latin typeface="Arial" panose="020B0604020202020204" pitchFamily="34" charset="0"/>
                <a:ea typeface="宋体" panose="02010600030101010101" pitchFamily="2" charset="-122"/>
              </a:defRPr>
            </a:lvl1pPr>
            <a:lvl2pPr marL="742950" indent="-285750" eaLnBrk="0" hangingPunct="0">
              <a:tabLst>
                <a:tab pos="439738" algn="r"/>
                <a:tab pos="2420938" algn="r"/>
                <a:tab pos="3060700" algn="r"/>
                <a:tab pos="3781425" algn="r"/>
                <a:tab pos="4500563" algn="r"/>
                <a:tab pos="5221288" algn="r"/>
              </a:tabLst>
              <a:defRPr>
                <a:solidFill>
                  <a:schemeClr val="tx1"/>
                </a:solidFill>
                <a:latin typeface="Arial" panose="020B0604020202020204" pitchFamily="34" charset="0"/>
                <a:ea typeface="宋体" panose="02010600030101010101" pitchFamily="2" charset="-122"/>
              </a:defRPr>
            </a:lvl2pPr>
            <a:lvl3pPr marL="1143000" indent="-228600" eaLnBrk="0" hangingPunct="0">
              <a:tabLst>
                <a:tab pos="439738" algn="r"/>
                <a:tab pos="2420938" algn="r"/>
                <a:tab pos="3060700" algn="r"/>
                <a:tab pos="3781425" algn="r"/>
                <a:tab pos="4500563" algn="r"/>
                <a:tab pos="5221288" algn="r"/>
              </a:tabLst>
              <a:defRPr>
                <a:solidFill>
                  <a:schemeClr val="tx1"/>
                </a:solidFill>
                <a:latin typeface="Arial" panose="020B0604020202020204" pitchFamily="34" charset="0"/>
                <a:ea typeface="宋体" panose="02010600030101010101" pitchFamily="2" charset="-122"/>
              </a:defRPr>
            </a:lvl3pPr>
            <a:lvl4pPr marL="1600200" indent="-228600" eaLnBrk="0" hangingPunct="0">
              <a:tabLst>
                <a:tab pos="439738" algn="r"/>
                <a:tab pos="2420938" algn="r"/>
                <a:tab pos="3060700" algn="r"/>
                <a:tab pos="3781425" algn="r"/>
                <a:tab pos="4500563" algn="r"/>
                <a:tab pos="5221288" algn="r"/>
              </a:tabLst>
              <a:defRPr>
                <a:solidFill>
                  <a:schemeClr val="tx1"/>
                </a:solidFill>
                <a:latin typeface="Arial" panose="020B0604020202020204" pitchFamily="34" charset="0"/>
                <a:ea typeface="宋体" panose="02010600030101010101" pitchFamily="2" charset="-122"/>
              </a:defRPr>
            </a:lvl4pPr>
            <a:lvl5pPr marL="2057400" indent="-228600" eaLnBrk="0" hangingPunct="0">
              <a:tabLst>
                <a:tab pos="439738" algn="r"/>
                <a:tab pos="2420938" algn="r"/>
                <a:tab pos="3060700" algn="r"/>
                <a:tab pos="3781425" algn="r"/>
                <a:tab pos="4500563" algn="r"/>
                <a:tab pos="5221288" algn="r"/>
              </a:tabLst>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tabLst>
                <a:tab pos="439738" algn="r"/>
                <a:tab pos="2420938" algn="r"/>
                <a:tab pos="3060700" algn="r"/>
                <a:tab pos="3781425" algn="r"/>
                <a:tab pos="4500563" algn="r"/>
                <a:tab pos="5221288" algn="r"/>
              </a:tabLs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tabLst>
                <a:tab pos="439738" algn="r"/>
                <a:tab pos="2420938" algn="r"/>
                <a:tab pos="3060700" algn="r"/>
                <a:tab pos="3781425" algn="r"/>
                <a:tab pos="4500563" algn="r"/>
                <a:tab pos="5221288" algn="r"/>
              </a:tabLs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tabLst>
                <a:tab pos="439738" algn="r"/>
                <a:tab pos="2420938" algn="r"/>
                <a:tab pos="3060700" algn="r"/>
                <a:tab pos="3781425" algn="r"/>
                <a:tab pos="4500563" algn="r"/>
                <a:tab pos="5221288" algn="r"/>
              </a:tabLs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tabLst>
                <a:tab pos="439738" algn="r"/>
                <a:tab pos="2420938" algn="r"/>
                <a:tab pos="3060700" algn="r"/>
                <a:tab pos="3781425" algn="r"/>
                <a:tab pos="4500563" algn="r"/>
                <a:tab pos="5221288" algn="r"/>
              </a:tabLs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sz="2400" b="1" dirty="0">
                <a:latin typeface="微软雅黑" panose="020B0503020204020204" pitchFamily="34" charset="-122"/>
                <a:ea typeface="微软雅黑" panose="020B0503020204020204" pitchFamily="34" charset="-122"/>
              </a:rPr>
              <a:t>Asia-Pacific:  Short-term Debt and Foreign Reserves at 30 June </a:t>
            </a:r>
            <a:r>
              <a:rPr lang="en-US" altLang="zh-CN" sz="2400" b="1" dirty="0" smtClean="0">
                <a:latin typeface="微软雅黑" panose="020B0503020204020204" pitchFamily="34" charset="-122"/>
                <a:ea typeface="微软雅黑" panose="020B0503020204020204" pitchFamily="34" charset="-122"/>
              </a:rPr>
              <a:t>1997  (US</a:t>
            </a:r>
            <a:r>
              <a:rPr lang="en-US" altLang="zh-CN" sz="2400" b="1" dirty="0">
                <a:latin typeface="微软雅黑" panose="020B0503020204020204" pitchFamily="34" charset="-122"/>
                <a:ea typeface="微软雅黑" panose="020B0503020204020204" pitchFamily="34" charset="-122"/>
              </a:rPr>
              <a:t>$ billions) </a:t>
            </a:r>
          </a:p>
        </p:txBody>
      </p:sp>
      <p:graphicFrame>
        <p:nvGraphicFramePr>
          <p:cNvPr id="3" name="表格 2"/>
          <p:cNvGraphicFramePr>
            <a:graphicFrameLocks noGrp="1"/>
          </p:cNvGraphicFramePr>
          <p:nvPr>
            <p:extLst>
              <p:ext uri="{D42A27DB-BD31-4B8C-83A1-F6EECF244321}">
                <p14:modId xmlns:p14="http://schemas.microsoft.com/office/powerpoint/2010/main" val="2505820873"/>
              </p:ext>
            </p:extLst>
          </p:nvPr>
        </p:nvGraphicFramePr>
        <p:xfrm>
          <a:off x="457201" y="1414731"/>
          <a:ext cx="8198065" cy="4192004"/>
        </p:xfrm>
        <a:graphic>
          <a:graphicData uri="http://schemas.openxmlformats.org/drawingml/2006/table">
            <a:tbl>
              <a:tblPr firstRow="1" firstCol="1" bandRow="1">
                <a:tableStyleId>{69012ECD-51FC-41F1-AA8D-1B2483CD663E}</a:tableStyleId>
              </a:tblPr>
              <a:tblGrid>
                <a:gridCol w="1434661">
                  <a:extLst>
                    <a:ext uri="{9D8B030D-6E8A-4147-A177-3AD203B41FA5}">
                      <a16:colId xmlns:a16="http://schemas.microsoft.com/office/drawing/2014/main" val="20000"/>
                    </a:ext>
                  </a:extLst>
                </a:gridCol>
                <a:gridCol w="2254468">
                  <a:extLst>
                    <a:ext uri="{9D8B030D-6E8A-4147-A177-3AD203B41FA5}">
                      <a16:colId xmlns:a16="http://schemas.microsoft.com/office/drawing/2014/main" val="20001"/>
                    </a:ext>
                  </a:extLst>
                </a:gridCol>
                <a:gridCol w="2254468">
                  <a:extLst>
                    <a:ext uri="{9D8B030D-6E8A-4147-A177-3AD203B41FA5}">
                      <a16:colId xmlns:a16="http://schemas.microsoft.com/office/drawing/2014/main" val="20002"/>
                    </a:ext>
                  </a:extLst>
                </a:gridCol>
                <a:gridCol w="2254468">
                  <a:extLst>
                    <a:ext uri="{9D8B030D-6E8A-4147-A177-3AD203B41FA5}">
                      <a16:colId xmlns:a16="http://schemas.microsoft.com/office/drawing/2014/main" val="20003"/>
                    </a:ext>
                  </a:extLst>
                </a:gridCol>
              </a:tblGrid>
              <a:tr h="944156">
                <a:tc>
                  <a:txBody>
                    <a:bodyPr/>
                    <a:lstStyle/>
                    <a:p>
                      <a:pPr algn="l">
                        <a:spcAft>
                          <a:spcPts val="0"/>
                        </a:spcAft>
                      </a:pPr>
                      <a:endParaRPr lang="zh-CN" sz="2000" kern="100" dirty="0">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68580" marR="68580" marT="0" marB="0" anchor="ct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altLang="zh-CN" sz="1800" kern="100" dirty="0" smtClean="0">
                          <a:effectLst/>
                          <a:latin typeface="微软雅黑" panose="020B0503020204020204" pitchFamily="34" charset="-122"/>
                          <a:ea typeface="微软雅黑" panose="020B0503020204020204" pitchFamily="34" charset="-122"/>
                          <a:cs typeface="Times New Roman" panose="02020603050405020304" pitchFamily="18" charset="0"/>
                        </a:rPr>
                        <a:t>Short-term debt </a:t>
                      </a:r>
                    </a:p>
                  </a:txBody>
                  <a:tcPr marL="68580" marR="68580" marT="0" marB="0" anchor="ctr"/>
                </a:tc>
                <a:tc>
                  <a:txBody>
                    <a:bodyPr/>
                    <a:lstStyle/>
                    <a:p>
                      <a:pPr algn="ctr">
                        <a:spcAft>
                          <a:spcPts val="0"/>
                        </a:spcAft>
                      </a:pPr>
                      <a:r>
                        <a:rPr lang="en-US" altLang="zh-CN" sz="1800" kern="100" dirty="0" smtClean="0">
                          <a:effectLst/>
                          <a:latin typeface="微软雅黑" panose="020B0503020204020204" pitchFamily="34" charset="-122"/>
                          <a:ea typeface="微软雅黑" panose="020B0503020204020204" pitchFamily="34" charset="-122"/>
                          <a:cs typeface="Times New Roman" panose="02020603050405020304" pitchFamily="18" charset="0"/>
                        </a:rPr>
                        <a:t>Foreign Reserves</a:t>
                      </a:r>
                      <a:endParaRPr lang="zh-CN" sz="1800" kern="100" dirty="0">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68580" marR="68580" marT="0" marB="0" anchor="ct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altLang="zh-CN" sz="1800" kern="100" dirty="0" smtClean="0">
                          <a:solidFill>
                            <a:srgbClr val="FFFF00"/>
                          </a:solidFill>
                          <a:effectLst/>
                          <a:latin typeface="微软雅黑" panose="020B0503020204020204" pitchFamily="34" charset="-122"/>
                          <a:ea typeface="微软雅黑" panose="020B0503020204020204" pitchFamily="34" charset="-122"/>
                          <a:cs typeface="Times New Roman" panose="02020603050405020304" pitchFamily="18" charset="0"/>
                        </a:rPr>
                        <a:t>Short-term Debt</a:t>
                      </a:r>
                    </a:p>
                    <a:p>
                      <a:pPr marL="0" marR="0" indent="0" algn="ctr" defTabSz="914400" rtl="0" eaLnBrk="1" fontAlgn="auto" latinLnBrk="0" hangingPunct="1">
                        <a:lnSpc>
                          <a:spcPct val="100000"/>
                        </a:lnSpc>
                        <a:spcBef>
                          <a:spcPts val="0"/>
                        </a:spcBef>
                        <a:spcAft>
                          <a:spcPts val="0"/>
                        </a:spcAft>
                        <a:buClrTx/>
                        <a:buSzTx/>
                        <a:buFontTx/>
                        <a:buNone/>
                        <a:tabLst/>
                        <a:defRPr/>
                      </a:pPr>
                      <a:r>
                        <a:rPr lang="en-US" altLang="zh-CN" sz="1800" b="1" kern="100" dirty="0" smtClean="0">
                          <a:solidFill>
                            <a:srgbClr val="FFFF00"/>
                          </a:solidFill>
                          <a:effectLst/>
                          <a:latin typeface="微软雅黑" panose="020B0503020204020204" pitchFamily="34" charset="-122"/>
                          <a:ea typeface="微软雅黑" panose="020B0503020204020204" pitchFamily="34" charset="-122"/>
                          <a:cs typeface="Times New Roman" panose="02020603050405020304" pitchFamily="18" charset="0"/>
                        </a:rPr>
                        <a:t>As % of Reserves</a:t>
                      </a:r>
                      <a:endParaRPr lang="zh-CN" altLang="zh-CN" sz="1800" b="1" kern="100" dirty="0">
                        <a:solidFill>
                          <a:srgbClr val="FFFF00"/>
                        </a:solidFill>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68580" marR="68580" marT="0" marB="0" anchor="ctr"/>
                </a:tc>
                <a:extLst>
                  <a:ext uri="{0D108BD9-81ED-4DB2-BD59-A6C34878D82A}">
                    <a16:rowId xmlns:a16="http://schemas.microsoft.com/office/drawing/2014/main" val="10000"/>
                  </a:ext>
                </a:extLst>
              </a:tr>
              <a:tr h="541308">
                <a:tc>
                  <a:txBody>
                    <a:bodyPr/>
                    <a:lstStyle/>
                    <a:p>
                      <a:pPr algn="l">
                        <a:spcAft>
                          <a:spcPts val="0"/>
                        </a:spcAft>
                      </a:pPr>
                      <a:r>
                        <a:rPr lang="en-US" sz="1800" b="1" kern="100" dirty="0">
                          <a:effectLst/>
                          <a:latin typeface="微软雅黑" panose="020B0503020204020204" pitchFamily="34" charset="-122"/>
                          <a:ea typeface="微软雅黑" panose="020B0503020204020204" pitchFamily="34" charset="-122"/>
                          <a:cs typeface="Times New Roman" panose="02020603050405020304" pitchFamily="18" charset="0"/>
                        </a:rPr>
                        <a:t>Indonesia</a:t>
                      </a:r>
                      <a:endParaRPr lang="zh-CN" sz="1800" kern="100" dirty="0">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68580" marR="68580" marT="0" marB="0" anchor="ctr"/>
                </a:tc>
                <a:tc>
                  <a:txBody>
                    <a:bodyPr/>
                    <a:lstStyle/>
                    <a:p>
                      <a:pPr algn="ctr">
                        <a:spcAft>
                          <a:spcPts val="0"/>
                        </a:spcAft>
                      </a:pPr>
                      <a:r>
                        <a:rPr lang="en-US" sz="1800" b="0" kern="100" dirty="0">
                          <a:effectLst/>
                          <a:latin typeface="微软雅黑" panose="020B0503020204020204" pitchFamily="34" charset="-122"/>
                          <a:ea typeface="微软雅黑" panose="020B0503020204020204" pitchFamily="34" charset="-122"/>
                          <a:cs typeface="Times New Roman" panose="02020603050405020304" pitchFamily="18" charset="0"/>
                        </a:rPr>
                        <a:t>34.7</a:t>
                      </a:r>
                      <a:endParaRPr lang="zh-CN" sz="1800" b="0" kern="100" dirty="0">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68580" marR="68580" marT="0" marB="0" anchor="ctr"/>
                </a:tc>
                <a:tc>
                  <a:txBody>
                    <a:bodyPr/>
                    <a:lstStyle/>
                    <a:p>
                      <a:pPr algn="ctr">
                        <a:spcAft>
                          <a:spcPts val="0"/>
                        </a:spcAft>
                      </a:pPr>
                      <a:r>
                        <a:rPr lang="en-US" sz="1800" b="0" kern="100" dirty="0">
                          <a:effectLst/>
                          <a:latin typeface="微软雅黑" panose="020B0503020204020204" pitchFamily="34" charset="-122"/>
                          <a:ea typeface="微软雅黑" panose="020B0503020204020204" pitchFamily="34" charset="-122"/>
                          <a:cs typeface="Times New Roman" panose="02020603050405020304" pitchFamily="18" charset="0"/>
                        </a:rPr>
                        <a:t>20.3</a:t>
                      </a:r>
                      <a:endParaRPr lang="zh-CN" sz="1800" b="0" kern="100" dirty="0">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68580" marR="68580" marT="0" marB="0" anchor="ctr"/>
                </a:tc>
                <a:tc>
                  <a:txBody>
                    <a:bodyPr/>
                    <a:lstStyle/>
                    <a:p>
                      <a:pPr algn="ctr">
                        <a:spcAft>
                          <a:spcPts val="0"/>
                        </a:spcAft>
                      </a:pPr>
                      <a:r>
                        <a:rPr lang="en-US" sz="1800" b="0" kern="100" dirty="0">
                          <a:effectLst/>
                          <a:latin typeface="微软雅黑" panose="020B0503020204020204" pitchFamily="34" charset="-122"/>
                          <a:ea typeface="微软雅黑" panose="020B0503020204020204" pitchFamily="34" charset="-122"/>
                          <a:cs typeface="Times New Roman" panose="02020603050405020304" pitchFamily="18" charset="0"/>
                        </a:rPr>
                        <a:t>170</a:t>
                      </a:r>
                      <a:endParaRPr lang="zh-CN" sz="1800" b="0" kern="100" dirty="0">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68580" marR="68580" marT="0" marB="0" anchor="ctr"/>
                </a:tc>
                <a:extLst>
                  <a:ext uri="{0D108BD9-81ED-4DB2-BD59-A6C34878D82A}">
                    <a16:rowId xmlns:a16="http://schemas.microsoft.com/office/drawing/2014/main" val="10001"/>
                  </a:ext>
                </a:extLst>
              </a:tr>
              <a:tr h="541308">
                <a:tc>
                  <a:txBody>
                    <a:bodyPr/>
                    <a:lstStyle/>
                    <a:p>
                      <a:pPr algn="l">
                        <a:spcAft>
                          <a:spcPts val="0"/>
                        </a:spcAft>
                      </a:pPr>
                      <a:r>
                        <a:rPr lang="en-US" sz="1800" b="1" kern="100">
                          <a:effectLst/>
                          <a:latin typeface="微软雅黑" panose="020B0503020204020204" pitchFamily="34" charset="-122"/>
                          <a:ea typeface="微软雅黑" panose="020B0503020204020204" pitchFamily="34" charset="-122"/>
                          <a:cs typeface="Times New Roman" panose="02020603050405020304" pitchFamily="18" charset="0"/>
                        </a:rPr>
                        <a:t>Korea</a:t>
                      </a:r>
                      <a:endParaRPr lang="zh-CN" sz="1800" kern="100">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68580" marR="68580" marT="0" marB="0" anchor="ctr"/>
                </a:tc>
                <a:tc>
                  <a:txBody>
                    <a:bodyPr/>
                    <a:lstStyle/>
                    <a:p>
                      <a:pPr algn="ctr">
                        <a:spcAft>
                          <a:spcPts val="0"/>
                        </a:spcAft>
                      </a:pPr>
                      <a:r>
                        <a:rPr lang="en-US" sz="1800" b="0" kern="100" dirty="0">
                          <a:effectLst/>
                          <a:latin typeface="微软雅黑" panose="020B0503020204020204" pitchFamily="34" charset="-122"/>
                          <a:ea typeface="微软雅黑" panose="020B0503020204020204" pitchFamily="34" charset="-122"/>
                          <a:cs typeface="Times New Roman" panose="02020603050405020304" pitchFamily="18" charset="0"/>
                        </a:rPr>
                        <a:t>70.6</a:t>
                      </a:r>
                      <a:endParaRPr lang="zh-CN" sz="1800" b="0" kern="100" dirty="0">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68580" marR="68580" marT="0" marB="0" anchor="ctr"/>
                </a:tc>
                <a:tc>
                  <a:txBody>
                    <a:bodyPr/>
                    <a:lstStyle/>
                    <a:p>
                      <a:pPr algn="ctr">
                        <a:spcAft>
                          <a:spcPts val="0"/>
                        </a:spcAft>
                      </a:pPr>
                      <a:r>
                        <a:rPr lang="en-US" sz="1800" b="0" kern="100" dirty="0">
                          <a:effectLst/>
                          <a:latin typeface="微软雅黑" panose="020B0503020204020204" pitchFamily="34" charset="-122"/>
                          <a:ea typeface="微软雅黑" panose="020B0503020204020204" pitchFamily="34" charset="-122"/>
                          <a:cs typeface="Times New Roman" panose="02020603050405020304" pitchFamily="18" charset="0"/>
                        </a:rPr>
                        <a:t>34.1</a:t>
                      </a:r>
                      <a:endParaRPr lang="zh-CN" sz="1800" b="0" kern="100" dirty="0">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68580" marR="68580" marT="0" marB="0" anchor="ctr"/>
                </a:tc>
                <a:tc>
                  <a:txBody>
                    <a:bodyPr/>
                    <a:lstStyle/>
                    <a:p>
                      <a:pPr algn="ctr">
                        <a:spcAft>
                          <a:spcPts val="0"/>
                        </a:spcAft>
                      </a:pPr>
                      <a:r>
                        <a:rPr lang="en-US" sz="1800" b="0" kern="100" dirty="0">
                          <a:effectLst/>
                          <a:latin typeface="微软雅黑" panose="020B0503020204020204" pitchFamily="34" charset="-122"/>
                          <a:ea typeface="微软雅黑" panose="020B0503020204020204" pitchFamily="34" charset="-122"/>
                          <a:cs typeface="Times New Roman" panose="02020603050405020304" pitchFamily="18" charset="0"/>
                        </a:rPr>
                        <a:t>207</a:t>
                      </a:r>
                      <a:endParaRPr lang="zh-CN" sz="1800" b="0" kern="100" dirty="0">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68580" marR="68580" marT="0" marB="0" anchor="ctr"/>
                </a:tc>
                <a:extLst>
                  <a:ext uri="{0D108BD9-81ED-4DB2-BD59-A6C34878D82A}">
                    <a16:rowId xmlns:a16="http://schemas.microsoft.com/office/drawing/2014/main" val="10002"/>
                  </a:ext>
                </a:extLst>
              </a:tr>
              <a:tr h="541308">
                <a:tc>
                  <a:txBody>
                    <a:bodyPr/>
                    <a:lstStyle/>
                    <a:p>
                      <a:pPr algn="l">
                        <a:spcAft>
                          <a:spcPts val="0"/>
                        </a:spcAft>
                      </a:pPr>
                      <a:r>
                        <a:rPr lang="en-US" sz="1800" b="1" kern="100">
                          <a:effectLst/>
                          <a:latin typeface="微软雅黑" panose="020B0503020204020204" pitchFamily="34" charset="-122"/>
                          <a:ea typeface="微软雅黑" panose="020B0503020204020204" pitchFamily="34" charset="-122"/>
                          <a:cs typeface="Times New Roman" panose="02020603050405020304" pitchFamily="18" charset="0"/>
                        </a:rPr>
                        <a:t>Malaysia</a:t>
                      </a:r>
                      <a:endParaRPr lang="zh-CN" sz="1800" kern="100">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68580" marR="68580" marT="0" marB="0" anchor="ctr"/>
                </a:tc>
                <a:tc>
                  <a:txBody>
                    <a:bodyPr/>
                    <a:lstStyle/>
                    <a:p>
                      <a:pPr algn="ctr">
                        <a:spcAft>
                          <a:spcPts val="0"/>
                        </a:spcAft>
                      </a:pPr>
                      <a:r>
                        <a:rPr lang="en-US" sz="1800" b="0" kern="100">
                          <a:effectLst/>
                          <a:latin typeface="微软雅黑" panose="020B0503020204020204" pitchFamily="34" charset="-122"/>
                          <a:ea typeface="微软雅黑" panose="020B0503020204020204" pitchFamily="34" charset="-122"/>
                          <a:cs typeface="Times New Roman" panose="02020603050405020304" pitchFamily="18" charset="0"/>
                        </a:rPr>
                        <a:t>16.3</a:t>
                      </a:r>
                      <a:endParaRPr lang="zh-CN" sz="1800" b="0" kern="100">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68580" marR="68580" marT="0" marB="0" anchor="ctr"/>
                </a:tc>
                <a:tc>
                  <a:txBody>
                    <a:bodyPr/>
                    <a:lstStyle/>
                    <a:p>
                      <a:pPr algn="ctr">
                        <a:spcAft>
                          <a:spcPts val="0"/>
                        </a:spcAft>
                      </a:pPr>
                      <a:r>
                        <a:rPr lang="en-US" sz="1800" b="0" kern="100" dirty="0">
                          <a:effectLst/>
                          <a:latin typeface="微软雅黑" panose="020B0503020204020204" pitchFamily="34" charset="-122"/>
                          <a:ea typeface="微软雅黑" panose="020B0503020204020204" pitchFamily="34" charset="-122"/>
                          <a:cs typeface="Times New Roman" panose="02020603050405020304" pitchFamily="18" charset="0"/>
                        </a:rPr>
                        <a:t>26.6</a:t>
                      </a:r>
                      <a:endParaRPr lang="zh-CN" sz="1800" b="0" kern="100" dirty="0">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68580" marR="68580" marT="0" marB="0" anchor="ctr"/>
                </a:tc>
                <a:tc>
                  <a:txBody>
                    <a:bodyPr/>
                    <a:lstStyle/>
                    <a:p>
                      <a:pPr algn="ctr">
                        <a:spcAft>
                          <a:spcPts val="0"/>
                        </a:spcAft>
                      </a:pPr>
                      <a:r>
                        <a:rPr lang="en-US" sz="1800" b="0" kern="100" dirty="0">
                          <a:effectLst/>
                          <a:latin typeface="微软雅黑" panose="020B0503020204020204" pitchFamily="34" charset="-122"/>
                          <a:ea typeface="微软雅黑" panose="020B0503020204020204" pitchFamily="34" charset="-122"/>
                          <a:cs typeface="Times New Roman" panose="02020603050405020304" pitchFamily="18" charset="0"/>
                        </a:rPr>
                        <a:t>61</a:t>
                      </a:r>
                      <a:endParaRPr lang="zh-CN" sz="1800" b="0" kern="100" dirty="0">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68580" marR="68580" marT="0" marB="0" anchor="ctr"/>
                </a:tc>
                <a:extLst>
                  <a:ext uri="{0D108BD9-81ED-4DB2-BD59-A6C34878D82A}">
                    <a16:rowId xmlns:a16="http://schemas.microsoft.com/office/drawing/2014/main" val="10003"/>
                  </a:ext>
                </a:extLst>
              </a:tr>
              <a:tr h="541308">
                <a:tc>
                  <a:txBody>
                    <a:bodyPr/>
                    <a:lstStyle/>
                    <a:p>
                      <a:pPr algn="l">
                        <a:spcAft>
                          <a:spcPts val="0"/>
                        </a:spcAft>
                      </a:pPr>
                      <a:r>
                        <a:rPr lang="en-US" sz="1800" b="1" kern="100" dirty="0" smtClean="0">
                          <a:effectLst/>
                          <a:latin typeface="微软雅黑" panose="020B0503020204020204" pitchFamily="34" charset="-122"/>
                          <a:ea typeface="微软雅黑" panose="020B0503020204020204" pitchFamily="34" charset="-122"/>
                          <a:cs typeface="Times New Roman" panose="02020603050405020304" pitchFamily="18" charset="0"/>
                        </a:rPr>
                        <a:t>Philippines</a:t>
                      </a:r>
                      <a:endParaRPr lang="zh-CN" sz="1800" kern="100" dirty="0">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68580" marR="68580" marT="0" marB="0" anchor="ctr"/>
                </a:tc>
                <a:tc>
                  <a:txBody>
                    <a:bodyPr/>
                    <a:lstStyle/>
                    <a:p>
                      <a:pPr algn="ctr">
                        <a:spcAft>
                          <a:spcPts val="0"/>
                        </a:spcAft>
                      </a:pPr>
                      <a:r>
                        <a:rPr lang="en-US" sz="1800" b="0" kern="100">
                          <a:effectLst/>
                          <a:latin typeface="微软雅黑" panose="020B0503020204020204" pitchFamily="34" charset="-122"/>
                          <a:ea typeface="微软雅黑" panose="020B0503020204020204" pitchFamily="34" charset="-122"/>
                          <a:cs typeface="Times New Roman" panose="02020603050405020304" pitchFamily="18" charset="0"/>
                        </a:rPr>
                        <a:t>8.3</a:t>
                      </a:r>
                      <a:endParaRPr lang="zh-CN" sz="1800" b="0" kern="100">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68580" marR="68580" marT="0" marB="0" anchor="ctr"/>
                </a:tc>
                <a:tc>
                  <a:txBody>
                    <a:bodyPr/>
                    <a:lstStyle/>
                    <a:p>
                      <a:pPr algn="ctr">
                        <a:spcAft>
                          <a:spcPts val="0"/>
                        </a:spcAft>
                      </a:pPr>
                      <a:r>
                        <a:rPr lang="en-US" sz="1800" b="0" kern="100" dirty="0">
                          <a:effectLst/>
                          <a:latin typeface="微软雅黑" panose="020B0503020204020204" pitchFamily="34" charset="-122"/>
                          <a:ea typeface="微软雅黑" panose="020B0503020204020204" pitchFamily="34" charset="-122"/>
                          <a:cs typeface="Times New Roman" panose="02020603050405020304" pitchFamily="18" charset="0"/>
                        </a:rPr>
                        <a:t>9.8</a:t>
                      </a:r>
                      <a:endParaRPr lang="zh-CN" sz="1800" b="0" kern="100" dirty="0">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68580" marR="68580" marT="0" marB="0" anchor="ctr"/>
                </a:tc>
                <a:tc>
                  <a:txBody>
                    <a:bodyPr/>
                    <a:lstStyle/>
                    <a:p>
                      <a:pPr algn="ctr">
                        <a:spcAft>
                          <a:spcPts val="0"/>
                        </a:spcAft>
                      </a:pPr>
                      <a:r>
                        <a:rPr lang="en-US" sz="1800" b="0" kern="100" dirty="0">
                          <a:effectLst/>
                          <a:latin typeface="微软雅黑" panose="020B0503020204020204" pitchFamily="34" charset="-122"/>
                          <a:ea typeface="微软雅黑" panose="020B0503020204020204" pitchFamily="34" charset="-122"/>
                          <a:cs typeface="Times New Roman" panose="02020603050405020304" pitchFamily="18" charset="0"/>
                        </a:rPr>
                        <a:t>85</a:t>
                      </a:r>
                      <a:endParaRPr lang="zh-CN" sz="1800" b="0" kern="100" dirty="0">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68580" marR="68580" marT="0" marB="0" anchor="ctr"/>
                </a:tc>
                <a:extLst>
                  <a:ext uri="{0D108BD9-81ED-4DB2-BD59-A6C34878D82A}">
                    <a16:rowId xmlns:a16="http://schemas.microsoft.com/office/drawing/2014/main" val="10004"/>
                  </a:ext>
                </a:extLst>
              </a:tr>
              <a:tr h="541308">
                <a:tc>
                  <a:txBody>
                    <a:bodyPr/>
                    <a:lstStyle/>
                    <a:p>
                      <a:pPr algn="l">
                        <a:spcAft>
                          <a:spcPts val="0"/>
                        </a:spcAft>
                      </a:pPr>
                      <a:r>
                        <a:rPr lang="en-US" sz="1800" b="1" kern="100">
                          <a:effectLst/>
                          <a:latin typeface="微软雅黑" panose="020B0503020204020204" pitchFamily="34" charset="-122"/>
                          <a:ea typeface="微软雅黑" panose="020B0503020204020204" pitchFamily="34" charset="-122"/>
                          <a:cs typeface="Times New Roman" panose="02020603050405020304" pitchFamily="18" charset="0"/>
                        </a:rPr>
                        <a:t>Thailand</a:t>
                      </a:r>
                      <a:endParaRPr lang="zh-CN" sz="1800" kern="100">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68580" marR="68580" marT="0" marB="0" anchor="ctr"/>
                </a:tc>
                <a:tc>
                  <a:txBody>
                    <a:bodyPr/>
                    <a:lstStyle/>
                    <a:p>
                      <a:pPr algn="ctr">
                        <a:spcAft>
                          <a:spcPts val="0"/>
                        </a:spcAft>
                      </a:pPr>
                      <a:r>
                        <a:rPr lang="en-US" sz="1800" b="0" kern="100">
                          <a:effectLst/>
                          <a:latin typeface="微软雅黑" panose="020B0503020204020204" pitchFamily="34" charset="-122"/>
                          <a:ea typeface="微软雅黑" panose="020B0503020204020204" pitchFamily="34" charset="-122"/>
                          <a:cs typeface="Times New Roman" panose="02020603050405020304" pitchFamily="18" charset="0"/>
                        </a:rPr>
                        <a:t>45.6</a:t>
                      </a:r>
                      <a:endParaRPr lang="zh-CN" sz="1800" b="0" kern="100">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68580" marR="68580" marT="0" marB="0" anchor="ctr"/>
                </a:tc>
                <a:tc>
                  <a:txBody>
                    <a:bodyPr/>
                    <a:lstStyle/>
                    <a:p>
                      <a:pPr algn="ctr">
                        <a:spcAft>
                          <a:spcPts val="0"/>
                        </a:spcAft>
                      </a:pPr>
                      <a:r>
                        <a:rPr lang="en-US" sz="1800" b="0" kern="100" dirty="0">
                          <a:effectLst/>
                          <a:latin typeface="微软雅黑" panose="020B0503020204020204" pitchFamily="34" charset="-122"/>
                          <a:ea typeface="微软雅黑" panose="020B0503020204020204" pitchFamily="34" charset="-122"/>
                          <a:cs typeface="Times New Roman" panose="02020603050405020304" pitchFamily="18" charset="0"/>
                        </a:rPr>
                        <a:t>31.4</a:t>
                      </a:r>
                      <a:endParaRPr lang="zh-CN" sz="1800" b="0" kern="100" dirty="0">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68580" marR="68580" marT="0" marB="0" anchor="ctr"/>
                </a:tc>
                <a:tc>
                  <a:txBody>
                    <a:bodyPr/>
                    <a:lstStyle/>
                    <a:p>
                      <a:pPr algn="ctr">
                        <a:spcAft>
                          <a:spcPts val="0"/>
                        </a:spcAft>
                      </a:pPr>
                      <a:r>
                        <a:rPr lang="en-US" sz="1800" b="0" kern="100" dirty="0">
                          <a:effectLst/>
                          <a:latin typeface="微软雅黑" panose="020B0503020204020204" pitchFamily="34" charset="-122"/>
                          <a:ea typeface="微软雅黑" panose="020B0503020204020204" pitchFamily="34" charset="-122"/>
                          <a:cs typeface="Times New Roman" panose="02020603050405020304" pitchFamily="18" charset="0"/>
                        </a:rPr>
                        <a:t>145</a:t>
                      </a:r>
                      <a:endParaRPr lang="zh-CN" sz="1800" b="0" kern="100" dirty="0">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68580" marR="68580" marT="0" marB="0" anchor="ctr"/>
                </a:tc>
                <a:extLst>
                  <a:ext uri="{0D108BD9-81ED-4DB2-BD59-A6C34878D82A}">
                    <a16:rowId xmlns:a16="http://schemas.microsoft.com/office/drawing/2014/main" val="10005"/>
                  </a:ext>
                </a:extLst>
              </a:tr>
              <a:tr h="541308">
                <a:tc>
                  <a:txBody>
                    <a:bodyPr/>
                    <a:lstStyle/>
                    <a:p>
                      <a:pPr algn="l">
                        <a:spcAft>
                          <a:spcPts val="0"/>
                        </a:spcAft>
                      </a:pPr>
                      <a:r>
                        <a:rPr lang="en-US" sz="1800" b="1" kern="100" dirty="0">
                          <a:effectLst/>
                          <a:latin typeface="微软雅黑" panose="020B0503020204020204" pitchFamily="34" charset="-122"/>
                          <a:ea typeface="微软雅黑" panose="020B0503020204020204" pitchFamily="34" charset="-122"/>
                          <a:cs typeface="Times New Roman" panose="02020603050405020304" pitchFamily="18" charset="0"/>
                        </a:rPr>
                        <a:t>Taiwan</a:t>
                      </a:r>
                      <a:endParaRPr lang="zh-CN" sz="1800" kern="100" dirty="0">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68580" marR="68580" marT="0" marB="0" anchor="ctr"/>
                </a:tc>
                <a:tc>
                  <a:txBody>
                    <a:bodyPr/>
                    <a:lstStyle/>
                    <a:p>
                      <a:pPr algn="ctr">
                        <a:spcAft>
                          <a:spcPts val="0"/>
                        </a:spcAft>
                      </a:pPr>
                      <a:r>
                        <a:rPr lang="en-US" sz="1800" b="0" kern="100" dirty="0">
                          <a:effectLst/>
                          <a:latin typeface="微软雅黑" panose="020B0503020204020204" pitchFamily="34" charset="-122"/>
                          <a:ea typeface="微软雅黑" panose="020B0503020204020204" pitchFamily="34" charset="-122"/>
                          <a:cs typeface="Times New Roman" panose="02020603050405020304" pitchFamily="18" charset="0"/>
                        </a:rPr>
                        <a:t>22.0</a:t>
                      </a:r>
                      <a:endParaRPr lang="zh-CN" sz="1800" b="0" kern="100" dirty="0">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68580" marR="68580" marT="0" marB="0" anchor="ctr"/>
                </a:tc>
                <a:tc>
                  <a:txBody>
                    <a:bodyPr/>
                    <a:lstStyle/>
                    <a:p>
                      <a:pPr algn="ctr">
                        <a:spcAft>
                          <a:spcPts val="0"/>
                        </a:spcAft>
                      </a:pPr>
                      <a:r>
                        <a:rPr lang="en-US" sz="1800" b="0" kern="100" dirty="0">
                          <a:effectLst/>
                          <a:latin typeface="微软雅黑" panose="020B0503020204020204" pitchFamily="34" charset="-122"/>
                          <a:ea typeface="微软雅黑" panose="020B0503020204020204" pitchFamily="34" charset="-122"/>
                          <a:cs typeface="Times New Roman" panose="02020603050405020304" pitchFamily="18" charset="0"/>
                        </a:rPr>
                        <a:t>90.0</a:t>
                      </a:r>
                      <a:endParaRPr lang="zh-CN" sz="1800" b="0" kern="100" dirty="0">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68580" marR="68580" marT="0" marB="0" anchor="ctr"/>
                </a:tc>
                <a:tc>
                  <a:txBody>
                    <a:bodyPr/>
                    <a:lstStyle/>
                    <a:p>
                      <a:pPr algn="ctr">
                        <a:spcAft>
                          <a:spcPts val="0"/>
                        </a:spcAft>
                      </a:pPr>
                      <a:r>
                        <a:rPr lang="en-US" sz="1800" b="0" kern="100" dirty="0">
                          <a:effectLst/>
                          <a:latin typeface="微软雅黑" panose="020B0503020204020204" pitchFamily="34" charset="-122"/>
                          <a:ea typeface="微软雅黑" panose="020B0503020204020204" pitchFamily="34" charset="-122"/>
                          <a:cs typeface="Times New Roman" panose="02020603050405020304" pitchFamily="18" charset="0"/>
                        </a:rPr>
                        <a:t>24</a:t>
                      </a:r>
                      <a:endParaRPr lang="zh-CN" sz="1800" b="0" kern="100" dirty="0">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68580" marR="68580" marT="0" marB="0" anchor="ctr"/>
                </a:tc>
                <a:extLst>
                  <a:ext uri="{0D108BD9-81ED-4DB2-BD59-A6C34878D82A}">
                    <a16:rowId xmlns:a16="http://schemas.microsoft.com/office/drawing/2014/main" val="10006"/>
                  </a:ext>
                </a:extLst>
              </a:tr>
            </a:tbl>
          </a:graphicData>
        </a:graphic>
      </p:graphicFrame>
    </p:spTree>
    <p:extLst>
      <p:ext uri="{BB962C8B-B14F-4D97-AF65-F5344CB8AC3E}">
        <p14:creationId xmlns:p14="http://schemas.microsoft.com/office/powerpoint/2010/main" val="315644298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页脚占位符 4"/>
          <p:cNvSpPr>
            <a:spLocks noGrp="1"/>
          </p:cNvSpPr>
          <p:nvPr>
            <p:ph type="ftr" sz="quarter" idx="11"/>
          </p:nvPr>
        </p:nvSpPr>
        <p:spPr/>
        <p:txBody>
          <a:bodyPr/>
          <a:lstStyle/>
          <a:p>
            <a:r>
              <a:rPr lang="zh-CN" altLang="en-US" smtClean="0"/>
              <a:t>国际金融学 范小云</a:t>
            </a:r>
            <a:endParaRPr lang="zh-CN" altLang="en-US" dirty="0"/>
          </a:p>
        </p:txBody>
      </p:sp>
      <p:sp>
        <p:nvSpPr>
          <p:cNvPr id="7" name="Rectangle 4"/>
          <p:cNvSpPr>
            <a:spLocks noChangeArrowheads="1"/>
          </p:cNvSpPr>
          <p:nvPr/>
        </p:nvSpPr>
        <p:spPr bwMode="auto">
          <a:xfrm>
            <a:off x="457201" y="516886"/>
            <a:ext cx="8324850" cy="12003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eaLnBrk="0" hangingPunct="0">
              <a:tabLst>
                <a:tab pos="439738" algn="r"/>
                <a:tab pos="2420938" algn="r"/>
                <a:tab pos="3060700" algn="r"/>
                <a:tab pos="3781425" algn="r"/>
                <a:tab pos="4500563" algn="r"/>
                <a:tab pos="5221288" algn="r"/>
              </a:tabLst>
              <a:defRPr>
                <a:solidFill>
                  <a:schemeClr val="tx1"/>
                </a:solidFill>
                <a:latin typeface="Arial" panose="020B0604020202020204" pitchFamily="34" charset="0"/>
                <a:ea typeface="宋体" panose="02010600030101010101" pitchFamily="2" charset="-122"/>
              </a:defRPr>
            </a:lvl1pPr>
            <a:lvl2pPr marL="742950" indent="-285750" eaLnBrk="0" hangingPunct="0">
              <a:tabLst>
                <a:tab pos="439738" algn="r"/>
                <a:tab pos="2420938" algn="r"/>
                <a:tab pos="3060700" algn="r"/>
                <a:tab pos="3781425" algn="r"/>
                <a:tab pos="4500563" algn="r"/>
                <a:tab pos="5221288" algn="r"/>
              </a:tabLst>
              <a:defRPr>
                <a:solidFill>
                  <a:schemeClr val="tx1"/>
                </a:solidFill>
                <a:latin typeface="Arial" panose="020B0604020202020204" pitchFamily="34" charset="0"/>
                <a:ea typeface="宋体" panose="02010600030101010101" pitchFamily="2" charset="-122"/>
              </a:defRPr>
            </a:lvl2pPr>
            <a:lvl3pPr marL="1143000" indent="-228600" eaLnBrk="0" hangingPunct="0">
              <a:tabLst>
                <a:tab pos="439738" algn="r"/>
                <a:tab pos="2420938" algn="r"/>
                <a:tab pos="3060700" algn="r"/>
                <a:tab pos="3781425" algn="r"/>
                <a:tab pos="4500563" algn="r"/>
                <a:tab pos="5221288" algn="r"/>
              </a:tabLst>
              <a:defRPr>
                <a:solidFill>
                  <a:schemeClr val="tx1"/>
                </a:solidFill>
                <a:latin typeface="Arial" panose="020B0604020202020204" pitchFamily="34" charset="0"/>
                <a:ea typeface="宋体" panose="02010600030101010101" pitchFamily="2" charset="-122"/>
              </a:defRPr>
            </a:lvl3pPr>
            <a:lvl4pPr marL="1600200" indent="-228600" eaLnBrk="0" hangingPunct="0">
              <a:tabLst>
                <a:tab pos="439738" algn="r"/>
                <a:tab pos="2420938" algn="r"/>
                <a:tab pos="3060700" algn="r"/>
                <a:tab pos="3781425" algn="r"/>
                <a:tab pos="4500563" algn="r"/>
                <a:tab pos="5221288" algn="r"/>
              </a:tabLst>
              <a:defRPr>
                <a:solidFill>
                  <a:schemeClr val="tx1"/>
                </a:solidFill>
                <a:latin typeface="Arial" panose="020B0604020202020204" pitchFamily="34" charset="0"/>
                <a:ea typeface="宋体" panose="02010600030101010101" pitchFamily="2" charset="-122"/>
              </a:defRPr>
            </a:lvl4pPr>
            <a:lvl5pPr marL="2057400" indent="-228600" eaLnBrk="0" hangingPunct="0">
              <a:tabLst>
                <a:tab pos="439738" algn="r"/>
                <a:tab pos="2420938" algn="r"/>
                <a:tab pos="3060700" algn="r"/>
                <a:tab pos="3781425" algn="r"/>
                <a:tab pos="4500563" algn="r"/>
                <a:tab pos="5221288" algn="r"/>
              </a:tabLst>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tabLst>
                <a:tab pos="439738" algn="r"/>
                <a:tab pos="2420938" algn="r"/>
                <a:tab pos="3060700" algn="r"/>
                <a:tab pos="3781425" algn="r"/>
                <a:tab pos="4500563" algn="r"/>
                <a:tab pos="5221288" algn="r"/>
              </a:tabLs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tabLst>
                <a:tab pos="439738" algn="r"/>
                <a:tab pos="2420938" algn="r"/>
                <a:tab pos="3060700" algn="r"/>
                <a:tab pos="3781425" algn="r"/>
                <a:tab pos="4500563" algn="r"/>
                <a:tab pos="5221288" algn="r"/>
              </a:tabLs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tabLst>
                <a:tab pos="439738" algn="r"/>
                <a:tab pos="2420938" algn="r"/>
                <a:tab pos="3060700" algn="r"/>
                <a:tab pos="3781425" algn="r"/>
                <a:tab pos="4500563" algn="r"/>
                <a:tab pos="5221288" algn="r"/>
              </a:tabLs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tabLst>
                <a:tab pos="439738" algn="r"/>
                <a:tab pos="2420938" algn="r"/>
                <a:tab pos="3060700" algn="r"/>
                <a:tab pos="3781425" algn="r"/>
                <a:tab pos="4500563" algn="r"/>
                <a:tab pos="5221288" algn="r"/>
              </a:tabLs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sz="2400" b="1" dirty="0">
                <a:latin typeface="微软雅黑" panose="020B0503020204020204" pitchFamily="34" charset="-122"/>
                <a:ea typeface="微软雅黑" panose="020B0503020204020204" pitchFamily="34" charset="-122"/>
              </a:rPr>
              <a:t>Asia-Pacific:  External Financing </a:t>
            </a:r>
            <a:r>
              <a:rPr lang="en-US" altLang="zh-CN" sz="2400" b="1" dirty="0" smtClean="0">
                <a:latin typeface="微软雅黑" panose="020B0503020204020204" pitchFamily="34" charset="-122"/>
                <a:ea typeface="微软雅黑" panose="020B0503020204020204" pitchFamily="34" charset="-122"/>
              </a:rPr>
              <a:t>by Commercial </a:t>
            </a:r>
            <a:r>
              <a:rPr lang="en-US" altLang="zh-CN" sz="2400" b="1" dirty="0">
                <a:latin typeface="微软雅黑" panose="020B0503020204020204" pitchFamily="34" charset="-122"/>
                <a:ea typeface="微软雅黑" panose="020B0503020204020204" pitchFamily="34" charset="-122"/>
              </a:rPr>
              <a:t>Banks </a:t>
            </a:r>
            <a:r>
              <a:rPr lang="en-US" altLang="zh-CN" sz="2400" b="1" dirty="0" smtClean="0">
                <a:latin typeface="微软雅黑" panose="020B0503020204020204" pitchFamily="34" charset="-122"/>
                <a:ea typeface="微软雅黑" panose="020B0503020204020204" pitchFamily="34" charset="-122"/>
              </a:rPr>
              <a:t>and </a:t>
            </a:r>
            <a:r>
              <a:rPr lang="en-US" altLang="zh-CN" sz="2400" b="1" dirty="0">
                <a:latin typeface="微软雅黑" panose="020B0503020204020204" pitchFamily="34" charset="-122"/>
                <a:ea typeface="微软雅黑" panose="020B0503020204020204" pitchFamily="34" charset="-122"/>
              </a:rPr>
              <a:t>International Financial Institutions</a:t>
            </a:r>
            <a:r>
              <a:rPr lang="en-US" altLang="zh-CN" sz="2400" b="1" dirty="0" smtClean="0">
                <a:latin typeface="微软雅黑" panose="020B0503020204020204" pitchFamily="34" charset="-122"/>
                <a:ea typeface="微软雅黑" panose="020B0503020204020204" pitchFamily="34" charset="-122"/>
              </a:rPr>
              <a:t>,</a:t>
            </a:r>
          </a:p>
          <a:p>
            <a:pPr algn="ctr" eaLnBrk="1" hangingPunct="1"/>
            <a:r>
              <a:rPr lang="en-US" altLang="zh-CN" sz="2400" b="1" dirty="0" smtClean="0">
                <a:latin typeface="微软雅黑" panose="020B0503020204020204" pitchFamily="34" charset="-122"/>
                <a:ea typeface="微软雅黑" panose="020B0503020204020204" pitchFamily="34" charset="-122"/>
              </a:rPr>
              <a:t> 1996-2000 (US</a:t>
            </a:r>
            <a:r>
              <a:rPr lang="en-US" altLang="zh-CN" sz="2400" b="1" dirty="0">
                <a:latin typeface="微软雅黑" panose="020B0503020204020204" pitchFamily="34" charset="-122"/>
                <a:ea typeface="微软雅黑" panose="020B0503020204020204" pitchFamily="34" charset="-122"/>
              </a:rPr>
              <a:t>$ billions)</a:t>
            </a:r>
          </a:p>
        </p:txBody>
      </p:sp>
      <p:graphicFrame>
        <p:nvGraphicFramePr>
          <p:cNvPr id="3" name="表格 2"/>
          <p:cNvGraphicFramePr>
            <a:graphicFrameLocks noGrp="1"/>
          </p:cNvGraphicFramePr>
          <p:nvPr>
            <p:extLst>
              <p:ext uri="{D42A27DB-BD31-4B8C-83A1-F6EECF244321}">
                <p14:modId xmlns:p14="http://schemas.microsoft.com/office/powerpoint/2010/main" val="1741401299"/>
              </p:ext>
            </p:extLst>
          </p:nvPr>
        </p:nvGraphicFramePr>
        <p:xfrm>
          <a:off x="457201" y="2213760"/>
          <a:ext cx="8198063" cy="1878804"/>
        </p:xfrm>
        <a:graphic>
          <a:graphicData uri="http://schemas.openxmlformats.org/drawingml/2006/table">
            <a:tbl>
              <a:tblPr firstRow="1" firstCol="1" bandRow="1">
                <a:tableStyleId>{69012ECD-51FC-41F1-AA8D-1B2483CD663E}</a:tableStyleId>
              </a:tblPr>
              <a:tblGrid>
                <a:gridCol w="2711668">
                  <a:extLst>
                    <a:ext uri="{9D8B030D-6E8A-4147-A177-3AD203B41FA5}">
                      <a16:colId xmlns:a16="http://schemas.microsoft.com/office/drawing/2014/main" val="20000"/>
                    </a:ext>
                  </a:extLst>
                </a:gridCol>
                <a:gridCol w="1097279">
                  <a:extLst>
                    <a:ext uri="{9D8B030D-6E8A-4147-A177-3AD203B41FA5}">
                      <a16:colId xmlns:a16="http://schemas.microsoft.com/office/drawing/2014/main" val="20001"/>
                    </a:ext>
                  </a:extLst>
                </a:gridCol>
                <a:gridCol w="1097279">
                  <a:extLst>
                    <a:ext uri="{9D8B030D-6E8A-4147-A177-3AD203B41FA5}">
                      <a16:colId xmlns:a16="http://schemas.microsoft.com/office/drawing/2014/main" val="20002"/>
                    </a:ext>
                  </a:extLst>
                </a:gridCol>
                <a:gridCol w="1097279">
                  <a:extLst>
                    <a:ext uri="{9D8B030D-6E8A-4147-A177-3AD203B41FA5}">
                      <a16:colId xmlns:a16="http://schemas.microsoft.com/office/drawing/2014/main" val="20003"/>
                    </a:ext>
                  </a:extLst>
                </a:gridCol>
                <a:gridCol w="1097279">
                  <a:extLst>
                    <a:ext uri="{9D8B030D-6E8A-4147-A177-3AD203B41FA5}">
                      <a16:colId xmlns:a16="http://schemas.microsoft.com/office/drawing/2014/main" val="20004"/>
                    </a:ext>
                  </a:extLst>
                </a:gridCol>
                <a:gridCol w="1097279">
                  <a:extLst>
                    <a:ext uri="{9D8B030D-6E8A-4147-A177-3AD203B41FA5}">
                      <a16:colId xmlns:a16="http://schemas.microsoft.com/office/drawing/2014/main" val="20005"/>
                    </a:ext>
                  </a:extLst>
                </a:gridCol>
              </a:tblGrid>
              <a:tr h="626268">
                <a:tc>
                  <a:txBody>
                    <a:bodyPr/>
                    <a:lstStyle/>
                    <a:p>
                      <a:pPr algn="l">
                        <a:spcAft>
                          <a:spcPts val="0"/>
                        </a:spcAft>
                      </a:pPr>
                      <a:endParaRPr lang="zh-CN" sz="2000" kern="100" dirty="0">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68580" marR="68580" marT="0" marB="0" anchor="ct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altLang="zh-CN" sz="1800" kern="100" dirty="0" smtClean="0">
                          <a:effectLst/>
                          <a:latin typeface="微软雅黑" panose="020B0503020204020204" pitchFamily="34" charset="-122"/>
                          <a:ea typeface="微软雅黑" panose="020B0503020204020204" pitchFamily="34" charset="-122"/>
                          <a:cs typeface="Times New Roman" panose="02020603050405020304" pitchFamily="18" charset="0"/>
                        </a:rPr>
                        <a:t>1996</a:t>
                      </a:r>
                    </a:p>
                  </a:txBody>
                  <a:tcPr marL="68580" marR="68580" marT="0" marB="0" anchor="ct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altLang="zh-CN" sz="1800" kern="100" dirty="0" smtClean="0">
                          <a:effectLst/>
                          <a:latin typeface="微软雅黑" panose="020B0503020204020204" pitchFamily="34" charset="-122"/>
                          <a:ea typeface="微软雅黑" panose="020B0503020204020204" pitchFamily="34" charset="-122"/>
                          <a:cs typeface="Times New Roman" panose="02020603050405020304" pitchFamily="18" charset="0"/>
                        </a:rPr>
                        <a:t>1997</a:t>
                      </a:r>
                    </a:p>
                  </a:txBody>
                  <a:tcPr marL="68580" marR="68580" marT="0" marB="0" anchor="ct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altLang="zh-CN" sz="1800" kern="100" dirty="0" smtClean="0">
                          <a:effectLst/>
                          <a:latin typeface="微软雅黑" panose="020B0503020204020204" pitchFamily="34" charset="-122"/>
                          <a:ea typeface="微软雅黑" panose="020B0503020204020204" pitchFamily="34" charset="-122"/>
                          <a:cs typeface="Times New Roman" panose="02020603050405020304" pitchFamily="18" charset="0"/>
                        </a:rPr>
                        <a:t>1998</a:t>
                      </a:r>
                    </a:p>
                  </a:txBody>
                  <a:tcPr marL="68580" marR="68580" marT="0" marB="0" anchor="ctr"/>
                </a:tc>
                <a:tc>
                  <a:txBody>
                    <a:bodyPr/>
                    <a:lstStyle/>
                    <a:p>
                      <a:pPr algn="ctr">
                        <a:spcAft>
                          <a:spcPts val="0"/>
                        </a:spcAft>
                      </a:pPr>
                      <a:r>
                        <a:rPr lang="en-US" altLang="zh-CN" sz="1800" kern="100" dirty="0" smtClean="0">
                          <a:effectLst/>
                          <a:latin typeface="微软雅黑" panose="020B0503020204020204" pitchFamily="34" charset="-122"/>
                          <a:ea typeface="微软雅黑" panose="020B0503020204020204" pitchFamily="34" charset="-122"/>
                          <a:cs typeface="Times New Roman" panose="02020603050405020304" pitchFamily="18" charset="0"/>
                        </a:rPr>
                        <a:t>1999</a:t>
                      </a:r>
                      <a:endParaRPr lang="zh-CN" sz="1800" kern="100" dirty="0">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68580" marR="68580" marT="0" marB="0" anchor="ct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altLang="zh-CN" sz="1800" kern="100" dirty="0" smtClean="0">
                          <a:effectLst/>
                          <a:latin typeface="微软雅黑" panose="020B0503020204020204" pitchFamily="34" charset="-122"/>
                          <a:ea typeface="微软雅黑" panose="020B0503020204020204" pitchFamily="34" charset="-122"/>
                          <a:cs typeface="Times New Roman" panose="02020603050405020304" pitchFamily="18" charset="0"/>
                        </a:rPr>
                        <a:t>2000</a:t>
                      </a:r>
                      <a:endParaRPr lang="zh-CN" sz="1800" kern="100" dirty="0">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68580" marR="68580" marT="0" marB="0" anchor="ctr"/>
                </a:tc>
                <a:extLst>
                  <a:ext uri="{0D108BD9-81ED-4DB2-BD59-A6C34878D82A}">
                    <a16:rowId xmlns:a16="http://schemas.microsoft.com/office/drawing/2014/main" val="10000"/>
                  </a:ext>
                </a:extLst>
              </a:tr>
              <a:tr h="626268">
                <a:tc>
                  <a:txBody>
                    <a:bodyPr/>
                    <a:lstStyle/>
                    <a:p>
                      <a:pPr algn="l">
                        <a:spcAft>
                          <a:spcPts val="0"/>
                        </a:spcAft>
                      </a:pPr>
                      <a:r>
                        <a:rPr lang="en-US" sz="1800" b="1" kern="100" dirty="0" smtClean="0">
                          <a:effectLst/>
                          <a:latin typeface="微软雅黑" panose="020B0503020204020204" pitchFamily="34" charset="-122"/>
                          <a:ea typeface="微软雅黑" panose="020B0503020204020204" pitchFamily="34" charset="-122"/>
                          <a:cs typeface="Times New Roman" panose="02020603050405020304" pitchFamily="18" charset="0"/>
                        </a:rPr>
                        <a:t>Commercial Banks</a:t>
                      </a:r>
                      <a:endParaRPr lang="en-US" sz="1800" b="1" kern="100" dirty="0">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68580" marR="68580" marT="0" marB="0" anchor="ctr"/>
                </a:tc>
                <a:tc>
                  <a:txBody>
                    <a:bodyPr/>
                    <a:lstStyle/>
                    <a:p>
                      <a:pPr algn="ctr">
                        <a:spcAft>
                          <a:spcPts val="0"/>
                        </a:spcAft>
                      </a:pPr>
                      <a:r>
                        <a:rPr lang="en-US" altLang="zh-CN" sz="1800" b="0" kern="100" dirty="0" smtClean="0">
                          <a:effectLst/>
                          <a:latin typeface="微软雅黑" panose="020B0503020204020204" pitchFamily="34" charset="-122"/>
                          <a:ea typeface="微软雅黑" panose="020B0503020204020204" pitchFamily="34" charset="-122"/>
                          <a:cs typeface="Times New Roman" panose="02020603050405020304" pitchFamily="18" charset="0"/>
                        </a:rPr>
                        <a:t>80.1</a:t>
                      </a:r>
                      <a:endParaRPr lang="zh-CN" sz="1800" b="0" kern="100" dirty="0">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68580" marR="68580" marT="0" marB="0" anchor="ctr"/>
                </a:tc>
                <a:tc>
                  <a:txBody>
                    <a:bodyPr/>
                    <a:lstStyle/>
                    <a:p>
                      <a:pPr algn="ctr">
                        <a:spcAft>
                          <a:spcPts val="0"/>
                        </a:spcAft>
                      </a:pPr>
                      <a:r>
                        <a:rPr lang="en-US" altLang="zh-CN" sz="1800" b="0" kern="100" dirty="0" smtClean="0">
                          <a:effectLst/>
                          <a:latin typeface="微软雅黑" panose="020B0503020204020204" pitchFamily="34" charset="-122"/>
                          <a:ea typeface="微软雅黑" panose="020B0503020204020204" pitchFamily="34" charset="-122"/>
                          <a:cs typeface="Times New Roman" panose="02020603050405020304" pitchFamily="18" charset="0"/>
                        </a:rPr>
                        <a:t>(14.5)</a:t>
                      </a:r>
                      <a:endParaRPr lang="zh-CN" sz="1800" b="0" kern="100" dirty="0">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68580" marR="68580" marT="0" marB="0" anchor="ctr"/>
                </a:tc>
                <a:tc>
                  <a:txBody>
                    <a:bodyPr/>
                    <a:lstStyle/>
                    <a:p>
                      <a:pPr algn="ctr">
                        <a:spcAft>
                          <a:spcPts val="0"/>
                        </a:spcAft>
                      </a:pPr>
                      <a:r>
                        <a:rPr lang="en-US" sz="1800" b="0" kern="100" dirty="0" smtClean="0">
                          <a:effectLst/>
                          <a:latin typeface="微软雅黑" panose="020B0503020204020204" pitchFamily="34" charset="-122"/>
                          <a:ea typeface="微软雅黑" panose="020B0503020204020204" pitchFamily="34" charset="-122"/>
                          <a:cs typeface="Times New Roman" panose="02020603050405020304" pitchFamily="18" charset="0"/>
                        </a:rPr>
                        <a:t>(59.6)</a:t>
                      </a:r>
                      <a:endParaRPr lang="zh-CN" sz="1800" b="0" kern="100" dirty="0">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68580" marR="68580" marT="0" marB="0" anchor="ctr"/>
                </a:tc>
                <a:tc>
                  <a:txBody>
                    <a:bodyPr/>
                    <a:lstStyle/>
                    <a:p>
                      <a:pPr algn="ctr">
                        <a:spcAft>
                          <a:spcPts val="0"/>
                        </a:spcAft>
                      </a:pPr>
                      <a:r>
                        <a:rPr lang="en-US" sz="1800" b="0" kern="100" dirty="0" smtClean="0">
                          <a:effectLst/>
                          <a:latin typeface="微软雅黑" panose="020B0503020204020204" pitchFamily="34" charset="-122"/>
                          <a:ea typeface="微软雅黑" panose="020B0503020204020204" pitchFamily="34" charset="-122"/>
                          <a:cs typeface="Times New Roman" panose="02020603050405020304" pitchFamily="18" charset="0"/>
                        </a:rPr>
                        <a:t>(31.8)</a:t>
                      </a:r>
                      <a:endParaRPr lang="zh-CN" sz="1800" b="0" kern="100" dirty="0">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68580" marR="68580" marT="0" marB="0" anchor="ctr"/>
                </a:tc>
                <a:tc>
                  <a:txBody>
                    <a:bodyPr/>
                    <a:lstStyle/>
                    <a:p>
                      <a:pPr algn="ctr">
                        <a:spcAft>
                          <a:spcPts val="0"/>
                        </a:spcAft>
                      </a:pPr>
                      <a:r>
                        <a:rPr lang="en-US" sz="1800" b="0" kern="100" dirty="0" smtClean="0">
                          <a:effectLst/>
                          <a:latin typeface="微软雅黑" panose="020B0503020204020204" pitchFamily="34" charset="-122"/>
                          <a:ea typeface="微软雅黑" panose="020B0503020204020204" pitchFamily="34" charset="-122"/>
                          <a:cs typeface="Times New Roman" panose="02020603050405020304" pitchFamily="18" charset="0"/>
                        </a:rPr>
                        <a:t>(17.6)</a:t>
                      </a:r>
                      <a:endParaRPr lang="zh-CN" sz="1800" b="0" kern="100" dirty="0">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68580" marR="68580" marT="0" marB="0" anchor="ctr"/>
                </a:tc>
                <a:extLst>
                  <a:ext uri="{0D108BD9-81ED-4DB2-BD59-A6C34878D82A}">
                    <a16:rowId xmlns:a16="http://schemas.microsoft.com/office/drawing/2014/main" val="10001"/>
                  </a:ext>
                </a:extLst>
              </a:tr>
              <a:tr h="626268">
                <a:tc>
                  <a:txBody>
                    <a:bodyPr/>
                    <a:lstStyle/>
                    <a:p>
                      <a:pPr algn="l">
                        <a:spcAft>
                          <a:spcPts val="0"/>
                        </a:spcAft>
                      </a:pPr>
                      <a:r>
                        <a:rPr lang="en-US" sz="1800" b="1" kern="100" dirty="0" smtClean="0">
                          <a:effectLst/>
                          <a:latin typeface="微软雅黑" panose="020B0503020204020204" pitchFamily="34" charset="-122"/>
                          <a:ea typeface="微软雅黑" panose="020B0503020204020204" pitchFamily="34" charset="-122"/>
                          <a:cs typeface="Times New Roman" panose="02020603050405020304" pitchFamily="18" charset="0"/>
                        </a:rPr>
                        <a:t>International Financial Institutions</a:t>
                      </a:r>
                      <a:endParaRPr lang="en-US" sz="1800" b="1" kern="100" dirty="0">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68580" marR="68580" marT="0" marB="0" anchor="ctr"/>
                </a:tc>
                <a:tc>
                  <a:txBody>
                    <a:bodyPr/>
                    <a:lstStyle/>
                    <a:p>
                      <a:pPr algn="ctr">
                        <a:spcAft>
                          <a:spcPts val="0"/>
                        </a:spcAft>
                      </a:pPr>
                      <a:r>
                        <a:rPr lang="en-US" altLang="zh-CN" sz="1800" b="0" kern="100" dirty="0" smtClean="0">
                          <a:effectLst/>
                          <a:latin typeface="微软雅黑" panose="020B0503020204020204" pitchFamily="34" charset="-122"/>
                          <a:ea typeface="微软雅黑" panose="020B0503020204020204" pitchFamily="34" charset="-122"/>
                          <a:cs typeface="Times New Roman" panose="02020603050405020304" pitchFamily="18" charset="0"/>
                        </a:rPr>
                        <a:t>0.3</a:t>
                      </a:r>
                      <a:endParaRPr lang="zh-CN" sz="1800" b="0" kern="100" dirty="0">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68580" marR="68580" marT="0" marB="0" anchor="ctr"/>
                </a:tc>
                <a:tc>
                  <a:txBody>
                    <a:bodyPr/>
                    <a:lstStyle/>
                    <a:p>
                      <a:pPr algn="ctr">
                        <a:spcAft>
                          <a:spcPts val="0"/>
                        </a:spcAft>
                      </a:pPr>
                      <a:r>
                        <a:rPr lang="en-US" altLang="zh-CN" sz="1800" b="0" kern="100" dirty="0" smtClean="0">
                          <a:effectLst/>
                          <a:latin typeface="微软雅黑" panose="020B0503020204020204" pitchFamily="34" charset="-122"/>
                          <a:ea typeface="微软雅黑" panose="020B0503020204020204" pitchFamily="34" charset="-122"/>
                          <a:cs typeface="Times New Roman" panose="02020603050405020304" pitchFamily="18" charset="0"/>
                        </a:rPr>
                        <a:t>24.7</a:t>
                      </a:r>
                      <a:endParaRPr lang="zh-CN" sz="1800" b="0" kern="100" dirty="0">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68580" marR="68580" marT="0" marB="0" anchor="ctr"/>
                </a:tc>
                <a:tc>
                  <a:txBody>
                    <a:bodyPr/>
                    <a:lstStyle/>
                    <a:p>
                      <a:pPr algn="ctr">
                        <a:spcAft>
                          <a:spcPts val="0"/>
                        </a:spcAft>
                      </a:pPr>
                      <a:r>
                        <a:rPr lang="en-US" sz="1800" b="0" kern="100" dirty="0" smtClean="0">
                          <a:effectLst/>
                          <a:latin typeface="微软雅黑" panose="020B0503020204020204" pitchFamily="34" charset="-122"/>
                          <a:ea typeface="微软雅黑" panose="020B0503020204020204" pitchFamily="34" charset="-122"/>
                          <a:cs typeface="Times New Roman" panose="02020603050405020304" pitchFamily="18" charset="0"/>
                        </a:rPr>
                        <a:t>22.7</a:t>
                      </a:r>
                      <a:endParaRPr lang="zh-CN" sz="1800" b="0" kern="100" dirty="0">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68580" marR="68580" marT="0" marB="0" anchor="ctr"/>
                </a:tc>
                <a:tc>
                  <a:txBody>
                    <a:bodyPr/>
                    <a:lstStyle/>
                    <a:p>
                      <a:pPr algn="ctr">
                        <a:spcAft>
                          <a:spcPts val="0"/>
                        </a:spcAft>
                      </a:pPr>
                      <a:r>
                        <a:rPr lang="en-US" sz="1800" b="0" kern="100" dirty="0" smtClean="0">
                          <a:effectLst/>
                          <a:latin typeface="微软雅黑" panose="020B0503020204020204" pitchFamily="34" charset="-122"/>
                          <a:ea typeface="微软雅黑" panose="020B0503020204020204" pitchFamily="34" charset="-122"/>
                          <a:cs typeface="Times New Roman" panose="02020603050405020304" pitchFamily="18" charset="0"/>
                        </a:rPr>
                        <a:t>(3.6)</a:t>
                      </a:r>
                      <a:endParaRPr lang="zh-CN" sz="1800" b="0" kern="100" dirty="0">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68580" marR="68580" marT="0" marB="0" anchor="ctr"/>
                </a:tc>
                <a:tc>
                  <a:txBody>
                    <a:bodyPr/>
                    <a:lstStyle/>
                    <a:p>
                      <a:pPr algn="ctr">
                        <a:spcAft>
                          <a:spcPts val="0"/>
                        </a:spcAft>
                      </a:pPr>
                      <a:r>
                        <a:rPr lang="en-US" sz="1800" b="0" kern="100" dirty="0" smtClean="0">
                          <a:effectLst/>
                          <a:latin typeface="微软雅黑" panose="020B0503020204020204" pitchFamily="34" charset="-122"/>
                          <a:ea typeface="微软雅黑" panose="020B0503020204020204" pitchFamily="34" charset="-122"/>
                          <a:cs typeface="Times New Roman" panose="02020603050405020304" pitchFamily="18" charset="0"/>
                        </a:rPr>
                        <a:t>4.9</a:t>
                      </a:r>
                      <a:endParaRPr lang="zh-CN" sz="1800" b="0" kern="100" dirty="0">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68580" marR="68580" marT="0" marB="0" anchor="ctr"/>
                </a:tc>
                <a:extLst>
                  <a:ext uri="{0D108BD9-81ED-4DB2-BD59-A6C34878D82A}">
                    <a16:rowId xmlns:a16="http://schemas.microsoft.com/office/drawing/2014/main" val="10002"/>
                  </a:ext>
                </a:extLst>
              </a:tr>
            </a:tbl>
          </a:graphicData>
        </a:graphic>
      </p:graphicFrame>
    </p:spTree>
    <p:extLst>
      <p:ext uri="{BB962C8B-B14F-4D97-AF65-F5344CB8AC3E}">
        <p14:creationId xmlns:p14="http://schemas.microsoft.com/office/powerpoint/2010/main" val="214847402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第二节	国际金融危机的一般理论</a:t>
            </a:r>
            <a:endParaRPr lang="zh-CN" dirty="0"/>
          </a:p>
        </p:txBody>
      </p:sp>
      <p:sp>
        <p:nvSpPr>
          <p:cNvPr id="3" name="内容占位符 2"/>
          <p:cNvSpPr>
            <a:spLocks noGrp="1"/>
          </p:cNvSpPr>
          <p:nvPr>
            <p:ph idx="1"/>
          </p:nvPr>
        </p:nvSpPr>
        <p:spPr>
          <a:xfrm>
            <a:off x="971550" y="1447799"/>
            <a:ext cx="7200900" cy="4841879"/>
          </a:xfrm>
        </p:spPr>
        <p:txBody>
          <a:bodyPr>
            <a:normAutofit/>
          </a:bodyPr>
          <a:lstStyle/>
          <a:p>
            <a:pPr marL="514350" indent="-514350">
              <a:lnSpc>
                <a:spcPct val="100000"/>
              </a:lnSpc>
              <a:buFont typeface="+mj-lt"/>
              <a:buAutoNum type="arabicPeriod" startAt="4"/>
            </a:pPr>
            <a:r>
              <a:rPr altLang="en-US" sz="2600" dirty="0" smtClean="0">
                <a:latin typeface="微软雅黑" panose="020B0503020204020204" pitchFamily="34" charset="-122"/>
                <a:ea typeface="微软雅黑" panose="020B0503020204020204" pitchFamily="34" charset="-122"/>
              </a:rPr>
              <a:t>次贷危机</a:t>
            </a:r>
            <a:r>
              <a:rPr lang="zh-CN" altLang="en-US" sz="2600" dirty="0" smtClean="0">
                <a:latin typeface="微软雅黑" panose="020B0503020204020204" pitchFamily="34" charset="-122"/>
                <a:ea typeface="微软雅黑" panose="020B0503020204020204" pitchFamily="34" charset="-122"/>
              </a:rPr>
              <a:t>与</a:t>
            </a:r>
            <a:r>
              <a:rPr lang="zh-CN" altLang="en-US" sz="2600" dirty="0">
                <a:latin typeface="微软雅黑" panose="020B0503020204020204" pitchFamily="34" charset="-122"/>
                <a:ea typeface="微软雅黑" panose="020B0503020204020204" pitchFamily="34" charset="-122"/>
              </a:rPr>
              <a:t>大萧条的</a:t>
            </a:r>
            <a:r>
              <a:rPr lang="zh-CN" altLang="en-US" sz="2600" dirty="0" smtClean="0">
                <a:latin typeface="微软雅黑" panose="020B0503020204020204" pitchFamily="34" charset="-122"/>
                <a:ea typeface="微软雅黑" panose="020B0503020204020204" pitchFamily="34" charset="-122"/>
              </a:rPr>
              <a:t>比较</a:t>
            </a:r>
            <a:endParaRPr lang="en-US" altLang="zh-CN" sz="2600" dirty="0" smtClean="0">
              <a:latin typeface="微软雅黑" panose="020B0503020204020204" pitchFamily="34" charset="-122"/>
              <a:ea typeface="微软雅黑" panose="020B0503020204020204" pitchFamily="34" charset="-122"/>
            </a:endParaRPr>
          </a:p>
          <a:p>
            <a:pPr marL="514350" indent="-514350">
              <a:lnSpc>
                <a:spcPct val="100000"/>
              </a:lnSpc>
              <a:buFont typeface="+mj-lt"/>
              <a:buAutoNum type="arabicPeriod" startAt="4"/>
            </a:pPr>
            <a:endParaRPr lang="en-US" altLang="zh-CN" sz="2600" dirty="0">
              <a:latin typeface="微软雅黑" panose="020B0503020204020204" pitchFamily="34" charset="-122"/>
              <a:ea typeface="微软雅黑" panose="020B0503020204020204" pitchFamily="34" charset="-122"/>
            </a:endParaRPr>
          </a:p>
          <a:p>
            <a:pPr marL="0" indent="0">
              <a:lnSpc>
                <a:spcPct val="100000"/>
              </a:lnSpc>
              <a:buNone/>
            </a:pPr>
            <a:r>
              <a:rPr lang="zh-CN" altLang="en-US" sz="2600" dirty="0" smtClean="0">
                <a:latin typeface="微软雅黑" panose="020B0503020204020204" pitchFamily="34" charset="-122"/>
                <a:ea typeface="微软雅黑" panose="020B0503020204020204" pitchFamily="34" charset="-122"/>
              </a:rPr>
              <a:t>刘鹤：</a:t>
            </a:r>
            <a:r>
              <a:rPr lang="en-US" altLang="zh-CN" sz="2800" dirty="0"/>
              <a:t>《</a:t>
            </a:r>
            <a:r>
              <a:rPr lang="zh-CN" altLang="en-US" sz="2800" dirty="0"/>
              <a:t>两次全球大危机的比较研究</a:t>
            </a:r>
            <a:r>
              <a:rPr lang="en-US" altLang="zh-CN" sz="2800" dirty="0"/>
              <a:t>》</a:t>
            </a:r>
            <a:endParaRPr lang="en-US" altLang="zh-CN" sz="2600" dirty="0">
              <a:latin typeface="微软雅黑" panose="020B0503020204020204" pitchFamily="34" charset="-122"/>
              <a:ea typeface="微软雅黑" panose="020B0503020204020204" pitchFamily="34" charset="-122"/>
            </a:endParaRPr>
          </a:p>
          <a:p>
            <a:pPr marL="514350" indent="-514350">
              <a:lnSpc>
                <a:spcPct val="100000"/>
              </a:lnSpc>
              <a:buFont typeface="+mj-lt"/>
              <a:buAutoNum type="arabicPeriod" startAt="4"/>
            </a:pPr>
            <a:endParaRPr lang="zh-CN" altLang="en-US" sz="2400" dirty="0" smtClean="0">
              <a:latin typeface="微软雅黑" panose="020B0503020204020204" pitchFamily="34" charset="-122"/>
              <a:ea typeface="微软雅黑" panose="020B0503020204020204" pitchFamily="34" charset="-122"/>
            </a:endParaRPr>
          </a:p>
        </p:txBody>
      </p:sp>
      <p:sp>
        <p:nvSpPr>
          <p:cNvPr id="5" name="页脚占位符 4"/>
          <p:cNvSpPr>
            <a:spLocks noGrp="1"/>
          </p:cNvSpPr>
          <p:nvPr>
            <p:ph type="ftr" sz="quarter" idx="11"/>
          </p:nvPr>
        </p:nvSpPr>
        <p:spPr/>
        <p:txBody>
          <a:bodyPr/>
          <a:lstStyle/>
          <a:p>
            <a:r>
              <a:rPr lang="zh-CN" altLang="en-US" smtClean="0"/>
              <a:t>国际金融学 范小云</a:t>
            </a:r>
            <a:endParaRPr lang="zh-CN" altLang="en-US" dirty="0"/>
          </a:p>
        </p:txBody>
      </p:sp>
    </p:spTree>
    <p:extLst>
      <p:ext uri="{BB962C8B-B14F-4D97-AF65-F5344CB8AC3E}">
        <p14:creationId xmlns:p14="http://schemas.microsoft.com/office/powerpoint/2010/main" val="384451707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第三节	现代国际金融危机理论</a:t>
            </a:r>
            <a:endParaRPr lang="zh-CN" dirty="0"/>
          </a:p>
        </p:txBody>
      </p:sp>
      <p:sp>
        <p:nvSpPr>
          <p:cNvPr id="3" name="内容占位符 2"/>
          <p:cNvSpPr>
            <a:spLocks noGrp="1"/>
          </p:cNvSpPr>
          <p:nvPr>
            <p:ph idx="1"/>
          </p:nvPr>
        </p:nvSpPr>
        <p:spPr>
          <a:xfrm>
            <a:off x="971550" y="1447799"/>
            <a:ext cx="7200900" cy="4841879"/>
          </a:xfrm>
        </p:spPr>
        <p:txBody>
          <a:bodyPr>
            <a:normAutofit/>
          </a:bodyPr>
          <a:lstStyle/>
          <a:p>
            <a:pPr marL="0" lvl="2" indent="457200">
              <a:lnSpc>
                <a:spcPct val="110000"/>
              </a:lnSpc>
              <a:spcBef>
                <a:spcPts val="1800"/>
              </a:spcBef>
              <a:buNone/>
            </a:pPr>
            <a:r>
              <a:rPr lang="zh-CN" altLang="en-US" sz="2200" dirty="0" smtClean="0">
                <a:latin typeface="微软雅黑" panose="020B0503020204020204" pitchFamily="34" charset="-122"/>
                <a:ea typeface="微软雅黑" panose="020B0503020204020204" pitchFamily="34" charset="-122"/>
              </a:rPr>
              <a:t>国际</a:t>
            </a:r>
            <a:r>
              <a:rPr lang="zh-CN" altLang="en-US" sz="2200" dirty="0">
                <a:latin typeface="微软雅黑" panose="020B0503020204020204" pitchFamily="34" charset="-122"/>
                <a:ea typeface="微软雅黑" panose="020B0503020204020204" pitchFamily="34" charset="-122"/>
              </a:rPr>
              <a:t>金融危机一般包括国际债务危机、银行危机、货币危机、孪生危机。</a:t>
            </a:r>
          </a:p>
          <a:p>
            <a:pPr marL="0" lvl="2" indent="457200">
              <a:lnSpc>
                <a:spcPct val="110000"/>
              </a:lnSpc>
              <a:spcBef>
                <a:spcPts val="1800"/>
              </a:spcBef>
              <a:buNone/>
            </a:pPr>
            <a:r>
              <a:rPr lang="zh-CN" altLang="en-US" sz="2200" dirty="0" smtClean="0">
                <a:latin typeface="微软雅黑" panose="020B0503020204020204" pitchFamily="34" charset="-122"/>
                <a:ea typeface="微软雅黑" panose="020B0503020204020204" pitchFamily="34" charset="-122"/>
              </a:rPr>
              <a:t>货币</a:t>
            </a:r>
            <a:r>
              <a:rPr lang="zh-CN" altLang="en-US" sz="2200" dirty="0">
                <a:latin typeface="微软雅黑" panose="020B0503020204020204" pitchFamily="34" charset="-122"/>
                <a:ea typeface="微软雅黑" panose="020B0503020204020204" pitchFamily="34" charset="-122"/>
              </a:rPr>
              <a:t>危机（</a:t>
            </a:r>
            <a:r>
              <a:rPr lang="en-US" altLang="zh-CN" sz="2200" dirty="0">
                <a:latin typeface="微软雅黑" panose="020B0503020204020204" pitchFamily="34" charset="-122"/>
                <a:ea typeface="微软雅黑" panose="020B0503020204020204" pitchFamily="34" charset="-122"/>
              </a:rPr>
              <a:t>currency crisis</a:t>
            </a:r>
            <a:r>
              <a:rPr lang="zh-CN" altLang="en-US" sz="2200" dirty="0">
                <a:latin typeface="微软雅黑" panose="020B0503020204020204" pitchFamily="34" charset="-122"/>
                <a:ea typeface="微软雅黑" panose="020B0503020204020204" pitchFamily="34" charset="-122"/>
              </a:rPr>
              <a:t>）通常是与对汇率波动采取限制的缺乏弹性的汇率制度相联系的，主要发生于固定汇率制下，指市场参与者通过外汇市场对某国货币进行抛售等操作，最终导致该国固定汇率无法维持，外汇市场动荡不安。</a:t>
            </a:r>
          </a:p>
          <a:p>
            <a:pPr marL="0" lvl="2" indent="457200">
              <a:lnSpc>
                <a:spcPct val="110000"/>
              </a:lnSpc>
              <a:spcBef>
                <a:spcPts val="1800"/>
              </a:spcBef>
              <a:buNone/>
            </a:pPr>
            <a:r>
              <a:rPr lang="zh-CN" altLang="en-US" sz="2200" dirty="0" smtClean="0">
                <a:latin typeface="微软雅黑" panose="020B0503020204020204" pitchFamily="34" charset="-122"/>
                <a:ea typeface="微软雅黑" panose="020B0503020204020204" pitchFamily="34" charset="-122"/>
              </a:rPr>
              <a:t>孪生</a:t>
            </a:r>
            <a:r>
              <a:rPr lang="zh-CN" altLang="en-US" sz="2200" dirty="0">
                <a:latin typeface="微软雅黑" panose="020B0503020204020204" pitchFamily="34" charset="-122"/>
                <a:ea typeface="微软雅黑" panose="020B0503020204020204" pitchFamily="34" charset="-122"/>
              </a:rPr>
              <a:t>危机（</a:t>
            </a:r>
            <a:r>
              <a:rPr lang="en-US" altLang="zh-CN" sz="2200" dirty="0">
                <a:latin typeface="微软雅黑" panose="020B0503020204020204" pitchFamily="34" charset="-122"/>
                <a:ea typeface="微软雅黑" panose="020B0503020204020204" pitchFamily="34" charset="-122"/>
              </a:rPr>
              <a:t>twin crisis</a:t>
            </a:r>
            <a:r>
              <a:rPr lang="zh-CN" altLang="en-US" sz="2200" dirty="0">
                <a:latin typeface="微软雅黑" panose="020B0503020204020204" pitchFamily="34" charset="-122"/>
                <a:ea typeface="微软雅黑" panose="020B0503020204020204" pitchFamily="34" charset="-122"/>
              </a:rPr>
              <a:t>）包括银行危机和货币危机。</a:t>
            </a:r>
          </a:p>
        </p:txBody>
      </p:sp>
      <p:sp>
        <p:nvSpPr>
          <p:cNvPr id="5" name="页脚占位符 4"/>
          <p:cNvSpPr>
            <a:spLocks noGrp="1"/>
          </p:cNvSpPr>
          <p:nvPr>
            <p:ph type="ftr" sz="quarter" idx="11"/>
          </p:nvPr>
        </p:nvSpPr>
        <p:spPr/>
        <p:txBody>
          <a:bodyPr/>
          <a:lstStyle/>
          <a:p>
            <a:r>
              <a:rPr lang="zh-CN" altLang="en-US" smtClean="0"/>
              <a:t>国际金融学 范小云</a:t>
            </a:r>
            <a:endParaRPr lang="zh-CN" altLang="en-US" dirty="0"/>
          </a:p>
        </p:txBody>
      </p:sp>
    </p:spTree>
    <p:extLst>
      <p:ext uri="{BB962C8B-B14F-4D97-AF65-F5344CB8AC3E}">
        <p14:creationId xmlns:p14="http://schemas.microsoft.com/office/powerpoint/2010/main" val="225735227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Effect transition="in" filter="fade">
                                      <p:cBhvr>
                                        <p:cTn id="7" dur="500"/>
                                        <p:tgtEl>
                                          <p:spTgt spid="3">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2" end="2"/>
                                            </p:txEl>
                                          </p:spTgt>
                                        </p:tgtEl>
                                        <p:attrNameLst>
                                          <p:attrName>style.visibility</p:attrName>
                                        </p:attrNameLst>
                                      </p:cBhvr>
                                      <p:to>
                                        <p:strVal val="visible"/>
                                      </p:to>
                                    </p:set>
                                    <p:animEffect transition="in" filter="fade">
                                      <p:cBhvr>
                                        <p:cTn id="12" dur="500"/>
                                        <p:tgtEl>
                                          <p:spTgt spid="3">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第三节	现代国际金融危机理论</a:t>
            </a:r>
            <a:endParaRPr lang="zh-CN" dirty="0"/>
          </a:p>
        </p:txBody>
      </p:sp>
      <p:sp>
        <p:nvSpPr>
          <p:cNvPr id="3" name="内容占位符 2"/>
          <p:cNvSpPr>
            <a:spLocks noGrp="1"/>
          </p:cNvSpPr>
          <p:nvPr>
            <p:ph idx="1"/>
          </p:nvPr>
        </p:nvSpPr>
        <p:spPr>
          <a:xfrm>
            <a:off x="971550" y="1447799"/>
            <a:ext cx="7200900" cy="4841879"/>
          </a:xfrm>
        </p:spPr>
        <p:txBody>
          <a:bodyPr>
            <a:normAutofit/>
          </a:bodyPr>
          <a:lstStyle/>
          <a:p>
            <a:pPr marL="0" lvl="2" indent="457200">
              <a:lnSpc>
                <a:spcPct val="110000"/>
              </a:lnSpc>
              <a:spcBef>
                <a:spcPts val="1800"/>
              </a:spcBef>
              <a:buNone/>
            </a:pPr>
            <a:r>
              <a:rPr lang="zh-CN" altLang="en-US" sz="2200" dirty="0" smtClean="0">
                <a:latin typeface="微软雅黑" panose="020B0503020204020204" pitchFamily="34" charset="-122"/>
                <a:ea typeface="微软雅黑" panose="020B0503020204020204" pitchFamily="34" charset="-122"/>
              </a:rPr>
              <a:t>金融</a:t>
            </a:r>
            <a:r>
              <a:rPr lang="zh-CN" altLang="en-US" sz="2200" dirty="0">
                <a:latin typeface="微软雅黑" panose="020B0503020204020204" pitchFamily="34" charset="-122"/>
                <a:ea typeface="微软雅黑" panose="020B0503020204020204" pitchFamily="34" charset="-122"/>
              </a:rPr>
              <a:t>危机理论的发展来源于对现实世界中金融危机的认知。自</a:t>
            </a:r>
            <a:r>
              <a:rPr lang="en-US" altLang="zh-CN" sz="2200" dirty="0">
                <a:latin typeface="微软雅黑" panose="020B0503020204020204" pitchFamily="34" charset="-122"/>
                <a:ea typeface="微软雅黑" panose="020B0503020204020204" pitchFamily="34" charset="-122"/>
              </a:rPr>
              <a:t>20</a:t>
            </a:r>
            <a:r>
              <a:rPr lang="zh-CN" altLang="en-US" sz="2200" dirty="0">
                <a:latin typeface="微软雅黑" panose="020B0503020204020204" pitchFamily="34" charset="-122"/>
                <a:ea typeface="微软雅黑" panose="020B0503020204020204" pitchFamily="34" charset="-122"/>
              </a:rPr>
              <a:t>世纪 </a:t>
            </a:r>
            <a:r>
              <a:rPr lang="en-US" altLang="zh-CN" sz="2200" dirty="0">
                <a:latin typeface="微软雅黑" panose="020B0503020204020204" pitchFamily="34" charset="-122"/>
                <a:ea typeface="微软雅黑" panose="020B0503020204020204" pitchFamily="34" charset="-122"/>
              </a:rPr>
              <a:t>70</a:t>
            </a:r>
            <a:r>
              <a:rPr lang="zh-CN" altLang="en-US" sz="2200" dirty="0">
                <a:latin typeface="微软雅黑" panose="020B0503020204020204" pitchFamily="34" charset="-122"/>
                <a:ea typeface="微软雅黑" panose="020B0503020204020204" pitchFamily="34" charset="-122"/>
              </a:rPr>
              <a:t>年代以来，金融危机突出表现为区域发生和全球性的货币危机，因此现代金融危机理论的基础是国际货币危机理论。</a:t>
            </a:r>
          </a:p>
        </p:txBody>
      </p:sp>
      <p:sp>
        <p:nvSpPr>
          <p:cNvPr id="5" name="页脚占位符 4"/>
          <p:cNvSpPr>
            <a:spLocks noGrp="1"/>
          </p:cNvSpPr>
          <p:nvPr>
            <p:ph type="ftr" sz="quarter" idx="11"/>
          </p:nvPr>
        </p:nvSpPr>
        <p:spPr/>
        <p:txBody>
          <a:bodyPr/>
          <a:lstStyle/>
          <a:p>
            <a:r>
              <a:rPr lang="zh-CN" altLang="en-US" smtClean="0"/>
              <a:t>国际金融学 范小云</a:t>
            </a:r>
            <a:endParaRPr lang="zh-CN" altLang="en-US" dirty="0"/>
          </a:p>
        </p:txBody>
      </p:sp>
    </p:spTree>
    <p:extLst>
      <p:ext uri="{BB962C8B-B14F-4D97-AF65-F5344CB8AC3E}">
        <p14:creationId xmlns:p14="http://schemas.microsoft.com/office/powerpoint/2010/main" val="349590164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第三节	现代国际金融危机理论</a:t>
            </a:r>
            <a:endParaRPr lang="zh-CN" dirty="0"/>
          </a:p>
        </p:txBody>
      </p:sp>
      <p:sp>
        <p:nvSpPr>
          <p:cNvPr id="3" name="内容占位符 2"/>
          <p:cNvSpPr>
            <a:spLocks noGrp="1"/>
          </p:cNvSpPr>
          <p:nvPr>
            <p:ph idx="1"/>
          </p:nvPr>
        </p:nvSpPr>
        <p:spPr>
          <a:xfrm>
            <a:off x="971550" y="1447799"/>
            <a:ext cx="7200900" cy="4841879"/>
          </a:xfrm>
        </p:spPr>
        <p:txBody>
          <a:bodyPr>
            <a:normAutofit/>
          </a:bodyPr>
          <a:lstStyle/>
          <a:p>
            <a:pPr marL="0" lvl="2" indent="0">
              <a:lnSpc>
                <a:spcPct val="110000"/>
              </a:lnSpc>
              <a:spcBef>
                <a:spcPts val="1800"/>
              </a:spcBef>
              <a:buNone/>
            </a:pPr>
            <a:r>
              <a:rPr lang="zh-CN" altLang="en-US" sz="2800" dirty="0">
                <a:solidFill>
                  <a:schemeClr val="accent1"/>
                </a:solidFill>
                <a:latin typeface="微软雅黑" panose="020B0503020204020204" pitchFamily="34" charset="-122"/>
                <a:ea typeface="微软雅黑" panose="020B0503020204020204" pitchFamily="34" charset="-122"/>
              </a:rPr>
              <a:t>一、传统</a:t>
            </a:r>
            <a:r>
              <a:rPr lang="zh-CN" altLang="en-US" sz="2800" dirty="0" smtClean="0">
                <a:solidFill>
                  <a:schemeClr val="accent1"/>
                </a:solidFill>
                <a:latin typeface="微软雅黑" panose="020B0503020204020204" pitchFamily="34" charset="-122"/>
                <a:ea typeface="微软雅黑" panose="020B0503020204020204" pitchFamily="34" charset="-122"/>
              </a:rPr>
              <a:t>三代</a:t>
            </a:r>
            <a:r>
              <a:rPr altLang="en-US" sz="2800" dirty="0" smtClean="0">
                <a:solidFill>
                  <a:schemeClr val="accent1"/>
                </a:solidFill>
                <a:latin typeface="微软雅黑" panose="020B0503020204020204" pitchFamily="34" charset="-122"/>
                <a:ea typeface="微软雅黑" panose="020B0503020204020204" pitchFamily="34" charset="-122"/>
              </a:rPr>
              <a:t>货币</a:t>
            </a:r>
            <a:r>
              <a:rPr lang="zh-CN" altLang="en-US" sz="2800" dirty="0" smtClean="0">
                <a:solidFill>
                  <a:schemeClr val="accent1"/>
                </a:solidFill>
                <a:latin typeface="微软雅黑" panose="020B0503020204020204" pitchFamily="34" charset="-122"/>
                <a:ea typeface="微软雅黑" panose="020B0503020204020204" pitchFamily="34" charset="-122"/>
              </a:rPr>
              <a:t>危机</a:t>
            </a:r>
            <a:r>
              <a:rPr lang="zh-CN" altLang="en-US" sz="2800" dirty="0">
                <a:solidFill>
                  <a:schemeClr val="accent1"/>
                </a:solidFill>
                <a:latin typeface="微软雅黑" panose="020B0503020204020204" pitchFamily="34" charset="-122"/>
                <a:ea typeface="微软雅黑" panose="020B0503020204020204" pitchFamily="34" charset="-122"/>
              </a:rPr>
              <a:t>理论</a:t>
            </a:r>
            <a:endParaRPr lang="en-US" altLang="zh-CN" sz="2800" dirty="0">
              <a:solidFill>
                <a:schemeClr val="accent1"/>
              </a:solidFill>
              <a:latin typeface="微软雅黑" panose="020B0503020204020204" pitchFamily="34" charset="-122"/>
              <a:ea typeface="微软雅黑" panose="020B0503020204020204" pitchFamily="34" charset="-122"/>
            </a:endParaRPr>
          </a:p>
          <a:p>
            <a:pPr marL="457200" lvl="2" indent="-457200">
              <a:lnSpc>
                <a:spcPct val="110000"/>
              </a:lnSpc>
              <a:spcBef>
                <a:spcPts val="1800"/>
              </a:spcBef>
              <a:buFont typeface="+mj-lt"/>
              <a:buAutoNum type="arabicPeriod"/>
            </a:pPr>
            <a:r>
              <a:rPr lang="zh-CN" altLang="en-US" sz="2200" dirty="0">
                <a:latin typeface="微软雅黑" panose="020B0503020204020204" pitchFamily="34" charset="-122"/>
                <a:ea typeface="微软雅黑" panose="020B0503020204020204" pitchFamily="34" charset="-122"/>
              </a:rPr>
              <a:t>经济基础恶化带来的投机性冲击导致的</a:t>
            </a:r>
            <a:r>
              <a:rPr lang="zh-CN" altLang="en-US" sz="2200" dirty="0" smtClean="0">
                <a:latin typeface="微软雅黑" panose="020B0503020204020204" pitchFamily="34" charset="-122"/>
                <a:ea typeface="微软雅黑" panose="020B0503020204020204" pitchFamily="34" charset="-122"/>
              </a:rPr>
              <a:t>货币危机</a:t>
            </a:r>
            <a:r>
              <a:rPr lang="zh-CN" altLang="en-US" sz="2200" dirty="0">
                <a:latin typeface="微软雅黑" panose="020B0503020204020204" pitchFamily="34" charset="-122"/>
                <a:ea typeface="微软雅黑" panose="020B0503020204020204" pitchFamily="34" charset="-122"/>
              </a:rPr>
              <a:t>（第一代危机模型</a:t>
            </a:r>
            <a:r>
              <a:rPr lang="en-US" altLang="zh-CN" sz="2200" dirty="0">
                <a:latin typeface="微软雅黑" panose="020B0503020204020204" pitchFamily="34" charset="-122"/>
                <a:ea typeface="微软雅黑" panose="020B0503020204020204" pitchFamily="34" charset="-122"/>
              </a:rPr>
              <a:t>——Paul Krugman</a:t>
            </a:r>
            <a:r>
              <a:rPr lang="zh-CN" altLang="en-US" sz="2200" dirty="0">
                <a:latin typeface="微软雅黑" panose="020B0503020204020204" pitchFamily="34" charset="-122"/>
                <a:ea typeface="微软雅黑" panose="020B0503020204020204" pitchFamily="34" charset="-122"/>
              </a:rPr>
              <a:t>）</a:t>
            </a:r>
          </a:p>
          <a:p>
            <a:pPr marL="0" lvl="2" indent="457200">
              <a:lnSpc>
                <a:spcPct val="110000"/>
              </a:lnSpc>
              <a:spcBef>
                <a:spcPts val="1800"/>
              </a:spcBef>
              <a:buNone/>
            </a:pPr>
            <a:r>
              <a:rPr lang="zh-CN" altLang="en-US" sz="2200" dirty="0" smtClean="0">
                <a:latin typeface="微软雅黑" panose="020B0503020204020204" pitchFamily="34" charset="-122"/>
                <a:ea typeface="微软雅黑" panose="020B0503020204020204" pitchFamily="34" charset="-122"/>
              </a:rPr>
              <a:t>货币</a:t>
            </a:r>
            <a:r>
              <a:rPr lang="zh-CN" altLang="en-US" sz="2200" dirty="0">
                <a:latin typeface="微软雅黑" panose="020B0503020204020204" pitchFamily="34" charset="-122"/>
                <a:ea typeface="微软雅黑" panose="020B0503020204020204" pitchFamily="34" charset="-122"/>
              </a:rPr>
              <a:t>危机的发生是由于政府不合理的宏观政策引起的。投机性冲击导致储备急剧下降为零是这种货币危机发生的一般过程。在这一过程中，政府基本处于被动地位。紧缩性财政货币政策是防止危机发生的关键。</a:t>
            </a:r>
          </a:p>
          <a:p>
            <a:pPr marL="0" lvl="2" indent="457200">
              <a:lnSpc>
                <a:spcPct val="110000"/>
              </a:lnSpc>
              <a:spcBef>
                <a:spcPts val="1800"/>
              </a:spcBef>
              <a:buNone/>
            </a:pPr>
            <a:r>
              <a:rPr lang="zh-CN" altLang="en-US" sz="2200" dirty="0" smtClean="0">
                <a:latin typeface="微软雅黑" panose="020B0503020204020204" pitchFamily="34" charset="-122"/>
                <a:ea typeface="微软雅黑" panose="020B0503020204020204" pitchFamily="34" charset="-122"/>
              </a:rPr>
              <a:t>以</a:t>
            </a:r>
            <a:r>
              <a:rPr lang="zh-CN" altLang="en-US" sz="2200" dirty="0">
                <a:latin typeface="微软雅黑" panose="020B0503020204020204" pitchFamily="34" charset="-122"/>
                <a:ea typeface="微软雅黑" panose="020B0503020204020204" pitchFamily="34" charset="-122"/>
              </a:rPr>
              <a:t>克鲁格曼的模型为例，对货币危机的分析主要借助于货币分析法。</a:t>
            </a:r>
          </a:p>
        </p:txBody>
      </p:sp>
      <p:sp>
        <p:nvSpPr>
          <p:cNvPr id="5" name="页脚占位符 4"/>
          <p:cNvSpPr>
            <a:spLocks noGrp="1"/>
          </p:cNvSpPr>
          <p:nvPr>
            <p:ph type="ftr" sz="quarter" idx="11"/>
          </p:nvPr>
        </p:nvSpPr>
        <p:spPr/>
        <p:txBody>
          <a:bodyPr/>
          <a:lstStyle/>
          <a:p>
            <a:r>
              <a:rPr lang="zh-CN" altLang="en-US" smtClean="0"/>
              <a:t>国际金融学 范小云</a:t>
            </a:r>
            <a:endParaRPr lang="zh-CN" altLang="en-US" dirty="0"/>
          </a:p>
        </p:txBody>
      </p:sp>
    </p:spTree>
    <p:extLst>
      <p:ext uri="{BB962C8B-B14F-4D97-AF65-F5344CB8AC3E}">
        <p14:creationId xmlns:p14="http://schemas.microsoft.com/office/powerpoint/2010/main" val="417348375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Effect transition="in" filter="fade">
                                      <p:cBhvr>
                                        <p:cTn id="7" dur="500"/>
                                        <p:tgtEl>
                                          <p:spTgt spid="3">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2" end="2"/>
                                            </p:txEl>
                                          </p:spTgt>
                                        </p:tgtEl>
                                        <p:attrNameLst>
                                          <p:attrName>style.visibility</p:attrName>
                                        </p:attrNameLst>
                                      </p:cBhvr>
                                      <p:to>
                                        <p:strVal val="visible"/>
                                      </p:to>
                                    </p:set>
                                    <p:animEffect transition="in" filter="fade">
                                      <p:cBhvr>
                                        <p:cTn id="12" dur="500"/>
                                        <p:tgtEl>
                                          <p:spTgt spid="3">
                                            <p:txEl>
                                              <p:pRg st="2" end="2"/>
                                            </p:txEl>
                                          </p:spTgt>
                                        </p:tgtEl>
                                      </p:cBhvr>
                                    </p:animEffect>
                                  </p:childTnLst>
                                </p:cTn>
                              </p:par>
                              <p:par>
                                <p:cTn id="13" presetID="10" presetClass="entr" presetSubtype="0" fill="hold" nodeType="with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animEffect transition="in" filter="fade">
                                      <p:cBhvr>
                                        <p:cTn id="15" dur="500"/>
                                        <p:tgtEl>
                                          <p:spTgt spid="3">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altLang="en-US" dirty="0" smtClean="0"/>
              <a:t>第三节	现代国际金融危机理论</a:t>
            </a:r>
            <a:endParaRPr lang="zh-CN" altLang="en-US" dirty="0"/>
          </a:p>
        </p:txBody>
      </p:sp>
      <p:sp>
        <p:nvSpPr>
          <p:cNvPr id="3" name="内容占位符 2"/>
          <p:cNvSpPr>
            <a:spLocks noGrp="1"/>
          </p:cNvSpPr>
          <p:nvPr>
            <p:ph idx="1"/>
          </p:nvPr>
        </p:nvSpPr>
        <p:spPr>
          <a:xfrm>
            <a:off x="971550" y="1348740"/>
            <a:ext cx="7200900" cy="4945380"/>
          </a:xfrm>
        </p:spPr>
        <p:txBody>
          <a:bodyPr>
            <a:normAutofit fontScale="77500" lnSpcReduction="20000"/>
          </a:bodyPr>
          <a:lstStyle/>
          <a:p>
            <a:pPr marL="228600" lvl="2" indent="-228600">
              <a:spcBef>
                <a:spcPts val="1800"/>
              </a:spcBef>
              <a:buNone/>
              <a:defRPr/>
            </a:pPr>
            <a:r>
              <a:rPr altLang="en-US" sz="2800" dirty="0" smtClean="0">
                <a:solidFill>
                  <a:schemeClr val="accent1"/>
                </a:solidFill>
                <a:latin typeface="微软雅黑" panose="020B0503020204020204" pitchFamily="34" charset="-122"/>
                <a:ea typeface="微软雅黑" panose="020B0503020204020204" pitchFamily="34" charset="-122"/>
              </a:rPr>
              <a:t>一、传统三代货币危机理论</a:t>
            </a:r>
          </a:p>
          <a:p>
            <a:pPr marL="228600" lvl="2" indent="-228600">
              <a:lnSpc>
                <a:spcPct val="120000"/>
              </a:lnSpc>
              <a:spcBef>
                <a:spcPts val="1800"/>
              </a:spcBef>
              <a:buNone/>
              <a:defRPr/>
            </a:pPr>
            <a:r>
              <a:rPr lang="en-US" altLang="en-US" sz="2200" dirty="0" smtClean="0">
                <a:latin typeface="微软雅黑" panose="020B0503020204020204" pitchFamily="34" charset="-122"/>
                <a:ea typeface="微软雅黑" panose="020B0503020204020204" pitchFamily="34" charset="-122"/>
              </a:rPr>
              <a:t>	</a:t>
            </a:r>
            <a:r>
              <a:rPr altLang="en-US" sz="2400" dirty="0" smtClean="0">
                <a:latin typeface="微软雅黑" panose="020B0503020204020204" pitchFamily="34" charset="-122"/>
                <a:ea typeface="微软雅黑" panose="020B0503020204020204" pitchFamily="34" charset="-122"/>
              </a:rPr>
              <a:t>经济基础恶化带来的投机性冲击导致的货币危机（第一代货币危机模型</a:t>
            </a:r>
            <a:r>
              <a:rPr lang="en-US" altLang="zh-CN" sz="2400" dirty="0" smtClean="0">
                <a:latin typeface="微软雅黑" panose="020B0503020204020204" pitchFamily="34" charset="-122"/>
                <a:ea typeface="微软雅黑" panose="020B0503020204020204" pitchFamily="34" charset="-122"/>
              </a:rPr>
              <a:t>——Paul </a:t>
            </a:r>
            <a:r>
              <a:rPr lang="en-US" altLang="zh-CN" sz="2400" dirty="0" err="1" smtClean="0">
                <a:latin typeface="微软雅黑" panose="020B0503020204020204" pitchFamily="34" charset="-122"/>
                <a:ea typeface="微软雅黑" panose="020B0503020204020204" pitchFamily="34" charset="-122"/>
              </a:rPr>
              <a:t>Krugman</a:t>
            </a:r>
            <a:r>
              <a:rPr altLang="en-US" sz="2400" dirty="0" smtClean="0">
                <a:latin typeface="微软雅黑" panose="020B0503020204020204" pitchFamily="34" charset="-122"/>
                <a:ea typeface="微软雅黑" panose="020B0503020204020204" pitchFamily="34" charset="-122"/>
              </a:rPr>
              <a:t>）</a:t>
            </a:r>
          </a:p>
          <a:p>
            <a:pPr>
              <a:lnSpc>
                <a:spcPct val="120000"/>
              </a:lnSpc>
              <a:buNone/>
              <a:defRPr/>
            </a:pPr>
            <a:r>
              <a:rPr altLang="en-US" sz="2400" dirty="0" smtClean="0">
                <a:latin typeface="微软雅黑" panose="020B0503020204020204" pitchFamily="34" charset="-122"/>
                <a:ea typeface="微软雅黑" panose="020B0503020204020204" pitchFamily="34" charset="-122"/>
              </a:rPr>
              <a:t>		 </a:t>
            </a:r>
            <a:r>
              <a:rPr lang="en-US" altLang="zh-CN" sz="2400" dirty="0" smtClean="0">
                <a:latin typeface="微软雅黑" panose="020B0503020204020204" pitchFamily="34" charset="-122"/>
                <a:ea typeface="微软雅黑" panose="020B0503020204020204" pitchFamily="34" charset="-122"/>
              </a:rPr>
              <a:t>Ms=</a:t>
            </a:r>
            <a:r>
              <a:rPr lang="en-US" altLang="zh-CN" sz="2400" dirty="0" err="1" smtClean="0">
                <a:latin typeface="微软雅黑" panose="020B0503020204020204" pitchFamily="34" charset="-122"/>
                <a:ea typeface="微软雅黑" panose="020B0503020204020204" pitchFamily="34" charset="-122"/>
              </a:rPr>
              <a:t>Md</a:t>
            </a:r>
            <a:r>
              <a:rPr lang="en-US" altLang="zh-CN" sz="2400" dirty="0" smtClean="0">
                <a:latin typeface="微软雅黑" panose="020B0503020204020204" pitchFamily="34" charset="-122"/>
                <a:ea typeface="微软雅黑" panose="020B0503020204020204" pitchFamily="34" charset="-122"/>
              </a:rPr>
              <a:t>=D+R</a:t>
            </a:r>
          </a:p>
          <a:p>
            <a:pPr>
              <a:lnSpc>
                <a:spcPct val="120000"/>
              </a:lnSpc>
              <a:buNone/>
              <a:defRPr/>
            </a:pPr>
            <a:r>
              <a:rPr lang="en-US" altLang="zh-CN" sz="2400" dirty="0" smtClean="0">
                <a:latin typeface="微软雅黑" panose="020B0503020204020204" pitchFamily="34" charset="-122"/>
                <a:ea typeface="微软雅黑" panose="020B0503020204020204" pitchFamily="34" charset="-122"/>
              </a:rPr>
              <a:t>		</a:t>
            </a:r>
            <a:r>
              <a:rPr altLang="zh-CN" sz="2400" dirty="0" smtClean="0">
                <a:latin typeface="微软雅黑" panose="020B0503020204020204" pitchFamily="34" charset="-122"/>
                <a:ea typeface="微软雅黑" panose="020B0503020204020204" pitchFamily="34" charset="-122"/>
              </a:rPr>
              <a:t>假定一国货币需求稳定，货币供给由国内信贷和外汇储备构成。</a:t>
            </a:r>
            <a:endParaRPr lang="en-US" altLang="zh-CN" sz="2400" dirty="0" smtClean="0">
              <a:latin typeface="微软雅黑" panose="020B0503020204020204" pitchFamily="34" charset="-122"/>
              <a:ea typeface="微软雅黑" panose="020B0503020204020204" pitchFamily="34" charset="-122"/>
            </a:endParaRPr>
          </a:p>
          <a:p>
            <a:pPr>
              <a:buNone/>
              <a:defRPr/>
            </a:pPr>
            <a:r>
              <a:rPr lang="zh-CN" altLang="en-US" sz="2400" b="1" dirty="0">
                <a:solidFill>
                  <a:srgbClr val="0033CC"/>
                </a:solidFill>
                <a:latin typeface="微软雅黑" panose="020B0503020204020204" pitchFamily="34" charset="-122"/>
                <a:ea typeface="微软雅黑" panose="020B0503020204020204" pitchFamily="34" charset="-122"/>
              </a:rPr>
              <a:t>第一代货币危机的逻辑：</a:t>
            </a:r>
          </a:p>
          <a:p>
            <a:pPr>
              <a:lnSpc>
                <a:spcPct val="120000"/>
              </a:lnSpc>
              <a:buNone/>
              <a:defRPr/>
            </a:pPr>
            <a:r>
              <a:rPr lang="zh-CN" altLang="en-US" sz="2400" dirty="0">
                <a:latin typeface="微软雅黑" panose="020B0503020204020204" pitchFamily="34" charset="-122"/>
                <a:ea typeface="微软雅黑" panose="020B0503020204020204" pitchFamily="34" charset="-122"/>
              </a:rPr>
              <a:t>     国内信贷扩张</a:t>
            </a:r>
            <a:r>
              <a:rPr lang="en-US" altLang="zh-CN" sz="2400" dirty="0">
                <a:latin typeface="微软雅黑" panose="020B0503020204020204" pitchFamily="34" charset="-122"/>
                <a:ea typeface="微软雅黑" panose="020B0503020204020204" pitchFamily="34" charset="-122"/>
              </a:rPr>
              <a:t>-&gt;</a:t>
            </a:r>
            <a:r>
              <a:rPr lang="zh-CN" altLang="en-US" sz="2400" dirty="0">
                <a:latin typeface="微软雅黑" panose="020B0503020204020204" pitchFamily="34" charset="-122"/>
                <a:ea typeface="微软雅黑" panose="020B0503020204020204" pitchFamily="34" charset="-122"/>
              </a:rPr>
              <a:t>货币供给增加</a:t>
            </a:r>
            <a:r>
              <a:rPr lang="en-US" altLang="zh-CN" sz="2400" dirty="0">
                <a:latin typeface="微软雅黑" panose="020B0503020204020204" pitchFamily="34" charset="-122"/>
                <a:ea typeface="微软雅黑" panose="020B0503020204020204" pitchFamily="34" charset="-122"/>
              </a:rPr>
              <a:t>-&gt;</a:t>
            </a:r>
            <a:r>
              <a:rPr lang="zh-CN" altLang="en-US" sz="2400" dirty="0">
                <a:latin typeface="微软雅黑" panose="020B0503020204020204" pitchFamily="34" charset="-122"/>
                <a:ea typeface="微软雅黑" panose="020B0503020204020204" pitchFamily="34" charset="-122"/>
              </a:rPr>
              <a:t>对外商品、劳务、金融资产购买增加</a:t>
            </a:r>
            <a:r>
              <a:rPr lang="en-US" altLang="zh-CN" sz="2400" dirty="0">
                <a:latin typeface="微软雅黑" panose="020B0503020204020204" pitchFamily="34" charset="-122"/>
                <a:ea typeface="微软雅黑" panose="020B0503020204020204" pitchFamily="34" charset="-122"/>
              </a:rPr>
              <a:t>-&gt;</a:t>
            </a:r>
            <a:r>
              <a:rPr lang="zh-CN" altLang="en-US" sz="2400" dirty="0">
                <a:latin typeface="微软雅黑" panose="020B0503020204020204" pitchFamily="34" charset="-122"/>
                <a:ea typeface="微软雅黑" panose="020B0503020204020204" pitchFamily="34" charset="-122"/>
              </a:rPr>
              <a:t>固定汇率制下政府对汇率的干预</a:t>
            </a:r>
            <a:r>
              <a:rPr lang="en-US" altLang="zh-CN" sz="2400" dirty="0">
                <a:latin typeface="微软雅黑" panose="020B0503020204020204" pitchFamily="34" charset="-122"/>
                <a:ea typeface="微软雅黑" panose="020B0503020204020204" pitchFamily="34" charset="-122"/>
              </a:rPr>
              <a:t>-&gt;</a:t>
            </a:r>
            <a:r>
              <a:rPr lang="zh-CN" altLang="en-US" sz="2400" dirty="0">
                <a:latin typeface="微软雅黑" panose="020B0503020204020204" pitchFamily="34" charset="-122"/>
                <a:ea typeface="微软雅黑" panose="020B0503020204020204" pitchFamily="34" charset="-122"/>
              </a:rPr>
              <a:t>外汇储备减少</a:t>
            </a:r>
            <a:r>
              <a:rPr lang="en-US" altLang="zh-CN" sz="2400" dirty="0">
                <a:latin typeface="微软雅黑" panose="020B0503020204020204" pitchFamily="34" charset="-122"/>
                <a:ea typeface="微软雅黑" panose="020B0503020204020204" pitchFamily="34" charset="-122"/>
              </a:rPr>
              <a:t>-&gt;</a:t>
            </a:r>
            <a:r>
              <a:rPr lang="zh-CN" altLang="en-US" sz="2400" dirty="0">
                <a:latin typeface="微软雅黑" panose="020B0503020204020204" pitchFamily="34" charset="-122"/>
                <a:ea typeface="微软雅黑" panose="020B0503020204020204" pitchFamily="34" charset="-122"/>
              </a:rPr>
              <a:t>外汇储备枯竭时将放弃干预、汇率被迫浮动或贬值</a:t>
            </a:r>
            <a:r>
              <a:rPr lang="en-US" altLang="zh-CN" sz="2400" dirty="0">
                <a:latin typeface="微软雅黑" panose="020B0503020204020204" pitchFamily="34" charset="-122"/>
                <a:ea typeface="微软雅黑" panose="020B0503020204020204" pitchFamily="34" charset="-122"/>
              </a:rPr>
              <a:t>-&gt;</a:t>
            </a:r>
            <a:r>
              <a:rPr lang="zh-CN" altLang="en-US" sz="2400" dirty="0">
                <a:latin typeface="微软雅黑" panose="020B0503020204020204" pitchFamily="34" charset="-122"/>
                <a:ea typeface="微软雅黑" panose="020B0503020204020204" pitchFamily="34" charset="-122"/>
              </a:rPr>
              <a:t>货币危机</a:t>
            </a:r>
          </a:p>
          <a:p>
            <a:pPr>
              <a:lnSpc>
                <a:spcPct val="120000"/>
              </a:lnSpc>
              <a:buNone/>
              <a:defRPr/>
            </a:pPr>
            <a:r>
              <a:rPr lang="zh-CN" altLang="en-US" sz="2400" dirty="0">
                <a:latin typeface="微软雅黑" panose="020B0503020204020204" pitchFamily="34" charset="-122"/>
                <a:ea typeface="微软雅黑" panose="020B0503020204020204" pitchFamily="34" charset="-122"/>
              </a:rPr>
              <a:t>     若投机者基于经济基本面因素预期固定汇率制会崩溃</a:t>
            </a:r>
            <a:r>
              <a:rPr lang="en-US" altLang="zh-CN" sz="2400" dirty="0">
                <a:latin typeface="微软雅黑" panose="020B0503020204020204" pitchFamily="34" charset="-122"/>
                <a:ea typeface="微软雅黑" panose="020B0503020204020204" pitchFamily="34" charset="-122"/>
              </a:rPr>
              <a:t>-&gt;</a:t>
            </a:r>
            <a:r>
              <a:rPr lang="zh-CN" altLang="en-US" sz="2400" dirty="0">
                <a:latin typeface="微软雅黑" panose="020B0503020204020204" pitchFamily="34" charset="-122"/>
                <a:ea typeface="微软雅黑" panose="020B0503020204020204" pitchFamily="34" charset="-122"/>
              </a:rPr>
              <a:t>投资冲击</a:t>
            </a:r>
            <a:r>
              <a:rPr lang="en-US" altLang="zh-CN" sz="2400" dirty="0">
                <a:latin typeface="微软雅黑" panose="020B0503020204020204" pitchFamily="34" charset="-122"/>
                <a:ea typeface="微软雅黑" panose="020B0503020204020204" pitchFamily="34" charset="-122"/>
              </a:rPr>
              <a:t>-&gt;</a:t>
            </a:r>
            <a:r>
              <a:rPr lang="zh-CN" altLang="en-US" sz="2400" dirty="0">
                <a:latin typeface="微软雅黑" panose="020B0503020204020204" pitchFamily="34" charset="-122"/>
                <a:ea typeface="微软雅黑" panose="020B0503020204020204" pitchFamily="34" charset="-122"/>
              </a:rPr>
              <a:t>加速外汇储备耗尽</a:t>
            </a:r>
            <a:r>
              <a:rPr lang="en-US" altLang="zh-CN" sz="2400" dirty="0">
                <a:latin typeface="微软雅黑" panose="020B0503020204020204" pitchFamily="34" charset="-122"/>
                <a:ea typeface="微软雅黑" panose="020B0503020204020204" pitchFamily="34" charset="-122"/>
              </a:rPr>
              <a:t>-&gt;</a:t>
            </a:r>
            <a:r>
              <a:rPr lang="zh-CN" altLang="en-US" sz="2400" dirty="0">
                <a:latin typeface="微软雅黑" panose="020B0503020204020204" pitchFamily="34" charset="-122"/>
                <a:ea typeface="微软雅黑" panose="020B0503020204020204" pitchFamily="34" charset="-122"/>
              </a:rPr>
              <a:t>货币</a:t>
            </a:r>
            <a:r>
              <a:rPr lang="zh-CN" altLang="en-US" sz="2400" dirty="0" smtClean="0">
                <a:latin typeface="微软雅黑" panose="020B0503020204020204" pitchFamily="34" charset="-122"/>
                <a:ea typeface="微软雅黑" panose="020B0503020204020204" pitchFamily="34" charset="-122"/>
              </a:rPr>
              <a:t>危机</a:t>
            </a:r>
            <a:r>
              <a:rPr altLang="en-US" sz="2400" dirty="0" smtClean="0">
                <a:latin typeface="微软雅黑" panose="020B0503020204020204" pitchFamily="34" charset="-122"/>
                <a:ea typeface="微软雅黑" panose="020B0503020204020204" pitchFamily="34" charset="-122"/>
              </a:rPr>
              <a:t>	</a:t>
            </a:r>
          </a:p>
          <a:p>
            <a:endParaRPr lang="zh-CN" altLang="en-US" dirty="0"/>
          </a:p>
        </p:txBody>
      </p:sp>
      <p:sp>
        <p:nvSpPr>
          <p:cNvPr id="4" name="页脚占位符 3"/>
          <p:cNvSpPr>
            <a:spLocks noGrp="1"/>
          </p:cNvSpPr>
          <p:nvPr>
            <p:ph type="ftr" sz="quarter" idx="11"/>
          </p:nvPr>
        </p:nvSpPr>
        <p:spPr/>
        <p:txBody>
          <a:bodyPr/>
          <a:lstStyle/>
          <a:p>
            <a:r>
              <a:rPr lang="zh-CN" altLang="en-US" smtClean="0"/>
              <a:t>国际金融学 范小云</a:t>
            </a:r>
            <a:endParaRPr lang="zh-CN" altLang="en-US" dirty="0"/>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altLang="en-US" dirty="0" smtClean="0"/>
              <a:t>第三节	现代国际金融危机理论</a:t>
            </a:r>
            <a:endParaRPr lang="zh-CN" altLang="en-US" dirty="0"/>
          </a:p>
        </p:txBody>
      </p:sp>
      <p:sp>
        <p:nvSpPr>
          <p:cNvPr id="3" name="内容占位符 2"/>
          <p:cNvSpPr>
            <a:spLocks noGrp="1"/>
          </p:cNvSpPr>
          <p:nvPr>
            <p:ph idx="1"/>
          </p:nvPr>
        </p:nvSpPr>
        <p:spPr/>
        <p:txBody>
          <a:bodyPr>
            <a:normAutofit/>
          </a:bodyPr>
          <a:lstStyle/>
          <a:p>
            <a:pPr marL="228600" lvl="2" indent="-228600">
              <a:spcBef>
                <a:spcPts val="1800"/>
              </a:spcBef>
              <a:buNone/>
              <a:defRPr/>
            </a:pPr>
            <a:r>
              <a:rPr altLang="en-US" sz="2800" dirty="0" smtClean="0">
                <a:solidFill>
                  <a:schemeClr val="accent1"/>
                </a:solidFill>
                <a:latin typeface="微软雅黑" panose="020B0503020204020204" pitchFamily="34" charset="-122"/>
                <a:ea typeface="微软雅黑" panose="020B0503020204020204" pitchFamily="34" charset="-122"/>
              </a:rPr>
              <a:t>一、传统三代货币危机理论</a:t>
            </a:r>
            <a:endParaRPr altLang="en-US" sz="2600" dirty="0" smtClean="0">
              <a:latin typeface="微软雅黑" panose="020B0503020204020204" pitchFamily="34" charset="-122"/>
              <a:ea typeface="微软雅黑" panose="020B0503020204020204" pitchFamily="34" charset="-122"/>
            </a:endParaRPr>
          </a:p>
          <a:p>
            <a:pPr>
              <a:lnSpc>
                <a:spcPct val="120000"/>
              </a:lnSpc>
              <a:buNone/>
              <a:defRPr/>
            </a:pPr>
            <a:r>
              <a:rPr altLang="en-US" sz="2400" dirty="0" smtClean="0">
                <a:latin typeface="微软雅黑" panose="020B0503020204020204" pitchFamily="34" charset="-122"/>
                <a:ea typeface="微软雅黑" panose="020B0503020204020204" pitchFamily="34" charset="-122"/>
              </a:rPr>
              <a:t>		</a:t>
            </a:r>
            <a:r>
              <a:rPr altLang="zh-CN" dirty="0" smtClean="0">
                <a:latin typeface="微软雅黑" panose="020B0503020204020204" pitchFamily="34" charset="-122"/>
                <a:ea typeface="微软雅黑" panose="020B0503020204020204" pitchFamily="34" charset="-122"/>
              </a:rPr>
              <a:t>第一代理论是以发展中国家</a:t>
            </a:r>
            <a:r>
              <a:rPr lang="en-US" altLang="zh-CN" dirty="0" smtClean="0">
                <a:latin typeface="微软雅黑" panose="020B0503020204020204" pitchFamily="34" charset="-122"/>
                <a:ea typeface="微软雅黑" panose="020B0503020204020204" pitchFamily="34" charset="-122"/>
              </a:rPr>
              <a:t>80</a:t>
            </a:r>
            <a:r>
              <a:rPr altLang="zh-CN" dirty="0" smtClean="0">
                <a:latin typeface="微软雅黑" panose="020B0503020204020204" pitchFamily="34" charset="-122"/>
                <a:ea typeface="微软雅黑" panose="020B0503020204020204" pitchFamily="34" charset="-122"/>
              </a:rPr>
              <a:t>年代中期以前发生的货币危机为考察背景， </a:t>
            </a:r>
            <a:r>
              <a:rPr lang="en-US" altLang="zh-CN" dirty="0" smtClean="0">
                <a:latin typeface="微软雅黑" panose="020B0503020204020204" pitchFamily="34" charset="-122"/>
                <a:ea typeface="微软雅黑" panose="020B0503020204020204" pitchFamily="34" charset="-122"/>
              </a:rPr>
              <a:t>70</a:t>
            </a:r>
            <a:r>
              <a:rPr altLang="en-US" dirty="0" smtClean="0">
                <a:latin typeface="微软雅黑" panose="020B0503020204020204" pitchFamily="34" charset="-122"/>
                <a:ea typeface="微软雅黑" panose="020B0503020204020204" pitchFamily="34" charset="-122"/>
              </a:rPr>
              <a:t>年代以来墨西哥的三次货币危机、</a:t>
            </a:r>
            <a:r>
              <a:rPr lang="en-US" altLang="zh-CN" dirty="0" smtClean="0">
                <a:latin typeface="微软雅黑" panose="020B0503020204020204" pitchFamily="34" charset="-122"/>
                <a:ea typeface="微软雅黑" panose="020B0503020204020204" pitchFamily="34" charset="-122"/>
              </a:rPr>
              <a:t>82</a:t>
            </a:r>
            <a:r>
              <a:rPr altLang="en-US" dirty="0" smtClean="0">
                <a:latin typeface="微软雅黑" panose="020B0503020204020204" pitchFamily="34" charset="-122"/>
                <a:ea typeface="微软雅黑" panose="020B0503020204020204" pitchFamily="34" charset="-122"/>
              </a:rPr>
              <a:t>年智利货币危机等，均属于这种类型。</a:t>
            </a:r>
            <a:r>
              <a:rPr altLang="en-US" sz="2400" dirty="0" smtClean="0">
                <a:latin typeface="微软雅黑" panose="020B0503020204020204" pitchFamily="34" charset="-122"/>
                <a:ea typeface="微软雅黑" panose="020B0503020204020204" pitchFamily="34" charset="-122"/>
              </a:rPr>
              <a:t>	</a:t>
            </a:r>
          </a:p>
          <a:p>
            <a:pPr marL="0" indent="0">
              <a:buNone/>
            </a:pPr>
            <a:endParaRPr lang="zh-CN" altLang="en-US" dirty="0"/>
          </a:p>
        </p:txBody>
      </p:sp>
      <p:sp>
        <p:nvSpPr>
          <p:cNvPr id="4" name="页脚占位符 3"/>
          <p:cNvSpPr>
            <a:spLocks noGrp="1"/>
          </p:cNvSpPr>
          <p:nvPr>
            <p:ph type="ftr" sz="quarter" idx="11"/>
          </p:nvPr>
        </p:nvSpPr>
        <p:spPr/>
        <p:txBody>
          <a:bodyPr/>
          <a:lstStyle/>
          <a:p>
            <a:r>
              <a:rPr lang="zh-CN" altLang="en-US" smtClean="0"/>
              <a:t>国际金融学 范小云</a:t>
            </a:r>
            <a:endParaRPr lang="zh-CN" altLang="en-US" dirty="0"/>
          </a:p>
        </p:txBody>
      </p:sp>
    </p:spTree>
    <p:extLst>
      <p:ext uri="{BB962C8B-B14F-4D97-AF65-F5344CB8AC3E}">
        <p14:creationId xmlns:p14="http://schemas.microsoft.com/office/powerpoint/2010/main" val="389806572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第三节	现代国际金融危机理论</a:t>
            </a:r>
            <a:endParaRPr lang="zh-CN" dirty="0"/>
          </a:p>
        </p:txBody>
      </p:sp>
      <p:sp>
        <p:nvSpPr>
          <p:cNvPr id="3" name="内容占位符 2"/>
          <p:cNvSpPr>
            <a:spLocks noGrp="1"/>
          </p:cNvSpPr>
          <p:nvPr>
            <p:ph idx="1"/>
          </p:nvPr>
        </p:nvSpPr>
        <p:spPr>
          <a:xfrm>
            <a:off x="971550" y="1447799"/>
            <a:ext cx="7200900" cy="4841879"/>
          </a:xfrm>
        </p:spPr>
        <p:txBody>
          <a:bodyPr>
            <a:normAutofit/>
          </a:bodyPr>
          <a:lstStyle/>
          <a:p>
            <a:pPr marL="0" lvl="2" indent="0">
              <a:lnSpc>
                <a:spcPct val="110000"/>
              </a:lnSpc>
              <a:spcBef>
                <a:spcPts val="1800"/>
              </a:spcBef>
              <a:buNone/>
            </a:pPr>
            <a:r>
              <a:rPr lang="zh-CN" altLang="en-US" sz="2800" dirty="0" smtClean="0">
                <a:solidFill>
                  <a:schemeClr val="accent1"/>
                </a:solidFill>
                <a:latin typeface="微软雅黑" panose="020B0503020204020204" pitchFamily="34" charset="-122"/>
                <a:ea typeface="微软雅黑" panose="020B0503020204020204" pitchFamily="34" charset="-122"/>
              </a:rPr>
              <a:t>一、传统三代</a:t>
            </a:r>
            <a:r>
              <a:rPr altLang="en-US" sz="2800" dirty="0" smtClean="0">
                <a:solidFill>
                  <a:schemeClr val="accent1"/>
                </a:solidFill>
                <a:latin typeface="微软雅黑" panose="020B0503020204020204" pitchFamily="34" charset="-122"/>
                <a:ea typeface="微软雅黑" panose="020B0503020204020204" pitchFamily="34" charset="-122"/>
              </a:rPr>
              <a:t>货币</a:t>
            </a:r>
            <a:r>
              <a:rPr lang="zh-CN" altLang="en-US" sz="2800" dirty="0" smtClean="0">
                <a:solidFill>
                  <a:schemeClr val="accent1"/>
                </a:solidFill>
                <a:latin typeface="微软雅黑" panose="020B0503020204020204" pitchFamily="34" charset="-122"/>
                <a:ea typeface="微软雅黑" panose="020B0503020204020204" pitchFamily="34" charset="-122"/>
              </a:rPr>
              <a:t>危机理论</a:t>
            </a:r>
            <a:endParaRPr lang="en-US" altLang="zh-CN" sz="2800" dirty="0">
              <a:solidFill>
                <a:schemeClr val="accent1"/>
              </a:solidFill>
              <a:latin typeface="微软雅黑" panose="020B0503020204020204" pitchFamily="34" charset="-122"/>
              <a:ea typeface="微软雅黑" panose="020B0503020204020204" pitchFamily="34" charset="-122"/>
            </a:endParaRPr>
          </a:p>
          <a:p>
            <a:pPr marL="457200" lvl="2" indent="-457200">
              <a:lnSpc>
                <a:spcPct val="110000"/>
              </a:lnSpc>
              <a:spcBef>
                <a:spcPts val="1800"/>
              </a:spcBef>
              <a:buFont typeface="+mj-lt"/>
              <a:buAutoNum type="arabicPeriod" startAt="2"/>
            </a:pPr>
            <a:r>
              <a:rPr lang="zh-CN" altLang="en-US" sz="2200" dirty="0">
                <a:latin typeface="微软雅黑" panose="020B0503020204020204" pitchFamily="34" charset="-122"/>
                <a:ea typeface="微软雅黑" panose="020B0503020204020204" pitchFamily="34" charset="-122"/>
              </a:rPr>
              <a:t>主要由心理预期带来的投机性冲击所导致的货币危机</a:t>
            </a:r>
            <a:r>
              <a:rPr lang="en-US" altLang="zh-CN" sz="2200" dirty="0">
                <a:latin typeface="微软雅黑" panose="020B0503020204020204" pitchFamily="34" charset="-122"/>
                <a:ea typeface="微软雅黑" panose="020B0503020204020204" pitchFamily="34" charset="-122"/>
              </a:rPr>
              <a:t>(</a:t>
            </a:r>
            <a:r>
              <a:rPr lang="zh-CN" altLang="en-US" sz="2200" dirty="0">
                <a:latin typeface="微软雅黑" panose="020B0503020204020204" pitchFamily="34" charset="-122"/>
                <a:ea typeface="微软雅黑" panose="020B0503020204020204" pitchFamily="34" charset="-122"/>
              </a:rPr>
              <a:t>第二代货币危机理论</a:t>
            </a:r>
            <a:r>
              <a:rPr lang="en-US" altLang="zh-CN" sz="2200" dirty="0">
                <a:latin typeface="微软雅黑" panose="020B0503020204020204" pitchFamily="34" charset="-122"/>
                <a:ea typeface="微软雅黑" panose="020B0503020204020204" pitchFamily="34" charset="-122"/>
              </a:rPr>
              <a:t>——</a:t>
            </a:r>
            <a:r>
              <a:rPr lang="en-US" altLang="zh-CN" sz="2200" dirty="0" err="1">
                <a:latin typeface="微软雅黑" panose="020B0503020204020204" pitchFamily="34" charset="-122"/>
                <a:ea typeface="微软雅黑" panose="020B0503020204020204" pitchFamily="34" charset="-122"/>
              </a:rPr>
              <a:t>Obstfeld</a:t>
            </a:r>
            <a:r>
              <a:rPr lang="en-US" altLang="zh-CN" sz="2200" dirty="0">
                <a:latin typeface="微软雅黑" panose="020B0503020204020204" pitchFamily="34" charset="-122"/>
                <a:ea typeface="微软雅黑" panose="020B0503020204020204" pitchFamily="34" charset="-122"/>
              </a:rPr>
              <a:t>)</a:t>
            </a:r>
          </a:p>
          <a:p>
            <a:pPr marL="0" lvl="2" indent="457200">
              <a:lnSpc>
                <a:spcPct val="110000"/>
              </a:lnSpc>
              <a:spcBef>
                <a:spcPts val="1800"/>
              </a:spcBef>
              <a:buNone/>
            </a:pPr>
            <a:r>
              <a:rPr lang="zh-CN" altLang="en-US" sz="2200" dirty="0">
                <a:latin typeface="微软雅黑" panose="020B0503020204020204" pitchFamily="34" charset="-122"/>
                <a:ea typeface="微软雅黑" panose="020B0503020204020204" pitchFamily="34" charset="-122"/>
              </a:rPr>
              <a:t>欧洲货币危机（</a:t>
            </a:r>
            <a:r>
              <a:rPr lang="en-US" altLang="zh-CN" sz="2200" dirty="0">
                <a:latin typeface="微软雅黑" panose="020B0503020204020204" pitchFamily="34" charset="-122"/>
                <a:ea typeface="微软雅黑" panose="020B0503020204020204" pitchFamily="34" charset="-122"/>
              </a:rPr>
              <a:t>1992</a:t>
            </a:r>
            <a:r>
              <a:rPr lang="zh-CN" altLang="en-US" sz="2200" dirty="0">
                <a:latin typeface="微软雅黑" panose="020B0503020204020204" pitchFamily="34" charset="-122"/>
                <a:ea typeface="微软雅黑" panose="020B0503020204020204" pitchFamily="34" charset="-122"/>
              </a:rPr>
              <a:t>－</a:t>
            </a:r>
            <a:r>
              <a:rPr lang="en-US" altLang="zh-CN" sz="2200" dirty="0">
                <a:latin typeface="微软雅黑" panose="020B0503020204020204" pitchFamily="34" charset="-122"/>
                <a:ea typeface="微软雅黑" panose="020B0503020204020204" pitchFamily="34" charset="-122"/>
              </a:rPr>
              <a:t>1993</a:t>
            </a:r>
            <a:r>
              <a:rPr lang="zh-CN" altLang="en-US" sz="2200" dirty="0">
                <a:latin typeface="微软雅黑" panose="020B0503020204020204" pitchFamily="34" charset="-122"/>
                <a:ea typeface="微软雅黑" panose="020B0503020204020204" pitchFamily="34" charset="-122"/>
              </a:rPr>
              <a:t>的</a:t>
            </a:r>
            <a:r>
              <a:rPr lang="en-US" altLang="zh-CN" sz="2200" dirty="0">
                <a:latin typeface="微软雅黑" panose="020B0503020204020204" pitchFamily="34" charset="-122"/>
                <a:ea typeface="微软雅黑" panose="020B0503020204020204" pitchFamily="34" charset="-122"/>
              </a:rPr>
              <a:t>ERM</a:t>
            </a:r>
            <a:r>
              <a:rPr lang="zh-CN" altLang="en-US" sz="2200" dirty="0">
                <a:latin typeface="微软雅黑" panose="020B0503020204020204" pitchFamily="34" charset="-122"/>
                <a:ea typeface="微软雅黑" panose="020B0503020204020204" pitchFamily="34" charset="-122"/>
              </a:rPr>
              <a:t>危机）是在经济基本面还比较健康、外汇储备尚比较充足的情况下突然发生投机性冲击造成的。</a:t>
            </a:r>
          </a:p>
          <a:p>
            <a:pPr marL="0" lvl="2" indent="457200">
              <a:lnSpc>
                <a:spcPct val="110000"/>
              </a:lnSpc>
              <a:spcBef>
                <a:spcPts val="1800"/>
              </a:spcBef>
              <a:buNone/>
            </a:pPr>
            <a:r>
              <a:rPr lang="zh-CN" altLang="en-US" sz="2200" dirty="0" smtClean="0">
                <a:latin typeface="微软雅黑" panose="020B0503020204020204" pitchFamily="34" charset="-122"/>
                <a:ea typeface="微软雅黑" panose="020B0503020204020204" pitchFamily="34" charset="-122"/>
              </a:rPr>
              <a:t>以</a:t>
            </a:r>
            <a:r>
              <a:rPr lang="zh-CN" altLang="en-US" sz="2200" dirty="0">
                <a:latin typeface="微软雅黑" panose="020B0503020204020204" pitchFamily="34" charset="-122"/>
                <a:ea typeface="微软雅黑" panose="020B0503020204020204" pitchFamily="34" charset="-122"/>
              </a:rPr>
              <a:t>奥伯斯菲尔德（</a:t>
            </a:r>
            <a:r>
              <a:rPr lang="en-US" altLang="zh-CN" sz="2200" dirty="0" err="1">
                <a:latin typeface="微软雅黑" panose="020B0503020204020204" pitchFamily="34" charset="-122"/>
                <a:ea typeface="微软雅黑" panose="020B0503020204020204" pitchFamily="34" charset="-122"/>
              </a:rPr>
              <a:t>Obstfeld</a:t>
            </a:r>
            <a:r>
              <a:rPr lang="zh-CN" altLang="en-US" sz="2200" dirty="0">
                <a:latin typeface="微软雅黑" panose="020B0503020204020204" pitchFamily="34" charset="-122"/>
                <a:ea typeface="微软雅黑" panose="020B0503020204020204" pitchFamily="34" charset="-122"/>
              </a:rPr>
              <a:t>）、马森（</a:t>
            </a:r>
            <a:r>
              <a:rPr lang="en-US" altLang="zh-CN" sz="2200" dirty="0">
                <a:latin typeface="微软雅黑" panose="020B0503020204020204" pitchFamily="34" charset="-122"/>
                <a:ea typeface="微软雅黑" panose="020B0503020204020204" pitchFamily="34" charset="-122"/>
              </a:rPr>
              <a:t>Masson</a:t>
            </a:r>
            <a:r>
              <a:rPr lang="zh-CN" altLang="en-US" sz="2200" dirty="0">
                <a:latin typeface="微软雅黑" panose="020B0503020204020204" pitchFamily="34" charset="-122"/>
                <a:ea typeface="微软雅黑" panose="020B0503020204020204" pitchFamily="34" charset="-122"/>
              </a:rPr>
              <a:t>）、本赛德（</a:t>
            </a:r>
            <a:r>
              <a:rPr lang="en-US" altLang="zh-CN" sz="2200" dirty="0" err="1">
                <a:latin typeface="微软雅黑" panose="020B0503020204020204" pitchFamily="34" charset="-122"/>
                <a:ea typeface="微软雅黑" panose="020B0503020204020204" pitchFamily="34" charset="-122"/>
              </a:rPr>
              <a:t>Bensaid</a:t>
            </a:r>
            <a:r>
              <a:rPr lang="zh-CN" altLang="en-US" sz="2200" dirty="0">
                <a:latin typeface="微软雅黑" panose="020B0503020204020204" pitchFamily="34" charset="-122"/>
                <a:ea typeface="微软雅黑" panose="020B0503020204020204" pitchFamily="34" charset="-122"/>
              </a:rPr>
              <a:t>）等人为代表的第二代理论提出了货币危机的新思路。</a:t>
            </a:r>
          </a:p>
        </p:txBody>
      </p:sp>
      <p:sp>
        <p:nvSpPr>
          <p:cNvPr id="5" name="页脚占位符 4"/>
          <p:cNvSpPr>
            <a:spLocks noGrp="1"/>
          </p:cNvSpPr>
          <p:nvPr>
            <p:ph type="ftr" sz="quarter" idx="11"/>
          </p:nvPr>
        </p:nvSpPr>
        <p:spPr/>
        <p:txBody>
          <a:bodyPr/>
          <a:lstStyle/>
          <a:p>
            <a:r>
              <a:rPr lang="zh-CN" altLang="en-US" smtClean="0"/>
              <a:t>国际金融学 范小云</a:t>
            </a:r>
            <a:endParaRPr lang="zh-CN" altLang="en-US" dirty="0"/>
          </a:p>
        </p:txBody>
      </p:sp>
    </p:spTree>
    <p:extLst>
      <p:ext uri="{BB962C8B-B14F-4D97-AF65-F5344CB8AC3E}">
        <p14:creationId xmlns:p14="http://schemas.microsoft.com/office/powerpoint/2010/main" val="362876908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Effect transition="in" filter="fade">
                                      <p:cBhvr>
                                        <p:cTn id="7" dur="500"/>
                                        <p:tgtEl>
                                          <p:spTgt spid="3">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2" end="2"/>
                                            </p:txEl>
                                          </p:spTgt>
                                        </p:tgtEl>
                                        <p:attrNameLst>
                                          <p:attrName>style.visibility</p:attrName>
                                        </p:attrNameLst>
                                      </p:cBhvr>
                                      <p:to>
                                        <p:strVal val="visible"/>
                                      </p:to>
                                    </p:set>
                                    <p:animEffect transition="in" filter="fade">
                                      <p:cBhvr>
                                        <p:cTn id="12" dur="500"/>
                                        <p:tgtEl>
                                          <p:spTgt spid="3">
                                            <p:txEl>
                                              <p:pRg st="2" end="2"/>
                                            </p:txEl>
                                          </p:spTgt>
                                        </p:tgtEl>
                                      </p:cBhvr>
                                    </p:animEffect>
                                  </p:childTnLst>
                                </p:cTn>
                              </p:par>
                              <p:par>
                                <p:cTn id="13" presetID="10" presetClass="entr" presetSubtype="0" fill="hold" nodeType="with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animEffect transition="in" filter="fade">
                                      <p:cBhvr>
                                        <p:cTn id="15" dur="500"/>
                                        <p:tgtEl>
                                          <p:spTgt spid="3">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第三节	现代国际金融危机理论</a:t>
            </a:r>
            <a:endParaRPr lang="zh-CN" dirty="0"/>
          </a:p>
        </p:txBody>
      </p:sp>
      <p:sp>
        <p:nvSpPr>
          <p:cNvPr id="3" name="内容占位符 2"/>
          <p:cNvSpPr>
            <a:spLocks noGrp="1"/>
          </p:cNvSpPr>
          <p:nvPr>
            <p:ph idx="1"/>
          </p:nvPr>
        </p:nvSpPr>
        <p:spPr>
          <a:xfrm>
            <a:off x="971550" y="1447799"/>
            <a:ext cx="7200900" cy="4841879"/>
          </a:xfrm>
        </p:spPr>
        <p:txBody>
          <a:bodyPr>
            <a:normAutofit lnSpcReduction="10000"/>
          </a:bodyPr>
          <a:lstStyle/>
          <a:p>
            <a:pPr marL="0" lvl="2" indent="0">
              <a:lnSpc>
                <a:spcPct val="110000"/>
              </a:lnSpc>
              <a:spcBef>
                <a:spcPts val="1800"/>
              </a:spcBef>
              <a:buNone/>
            </a:pPr>
            <a:r>
              <a:rPr lang="zh-CN" altLang="en-US" sz="2800" dirty="0" smtClean="0">
                <a:solidFill>
                  <a:schemeClr val="accent1"/>
                </a:solidFill>
                <a:latin typeface="微软雅黑" panose="020B0503020204020204" pitchFamily="34" charset="-122"/>
                <a:ea typeface="微软雅黑" panose="020B0503020204020204" pitchFamily="34" charset="-122"/>
              </a:rPr>
              <a:t>一、传统三代</a:t>
            </a:r>
            <a:r>
              <a:rPr altLang="en-US" sz="2800" dirty="0" smtClean="0">
                <a:solidFill>
                  <a:schemeClr val="accent1"/>
                </a:solidFill>
                <a:latin typeface="微软雅黑" panose="020B0503020204020204" pitchFamily="34" charset="-122"/>
                <a:ea typeface="微软雅黑" panose="020B0503020204020204" pitchFamily="34" charset="-122"/>
              </a:rPr>
              <a:t>货币</a:t>
            </a:r>
            <a:r>
              <a:rPr lang="zh-CN" altLang="en-US" sz="2800" dirty="0" smtClean="0">
                <a:solidFill>
                  <a:schemeClr val="accent1"/>
                </a:solidFill>
                <a:latin typeface="微软雅黑" panose="020B0503020204020204" pitchFamily="34" charset="-122"/>
                <a:ea typeface="微软雅黑" panose="020B0503020204020204" pitchFamily="34" charset="-122"/>
              </a:rPr>
              <a:t>危机理论</a:t>
            </a:r>
            <a:endParaRPr lang="en-US" altLang="zh-CN" sz="2800" dirty="0">
              <a:solidFill>
                <a:schemeClr val="accent1"/>
              </a:solidFill>
              <a:latin typeface="微软雅黑" panose="020B0503020204020204" pitchFamily="34" charset="-122"/>
              <a:ea typeface="微软雅黑" panose="020B0503020204020204" pitchFamily="34" charset="-122"/>
            </a:endParaRPr>
          </a:p>
          <a:p>
            <a:pPr marL="457200" lvl="2" indent="-457200">
              <a:lnSpc>
                <a:spcPct val="110000"/>
              </a:lnSpc>
              <a:spcBef>
                <a:spcPts val="1800"/>
              </a:spcBef>
              <a:buFont typeface="+mj-lt"/>
              <a:buAutoNum type="arabicPeriod" startAt="2"/>
            </a:pPr>
            <a:r>
              <a:rPr lang="zh-CN" altLang="en-US" sz="2200" dirty="0">
                <a:latin typeface="微软雅黑" panose="020B0503020204020204" pitchFamily="34" charset="-122"/>
                <a:ea typeface="微软雅黑" panose="020B0503020204020204" pitchFamily="34" charset="-122"/>
              </a:rPr>
              <a:t>主要由心理预期带来的投机性冲击所导致的货币危机</a:t>
            </a:r>
            <a:r>
              <a:rPr lang="en-US" altLang="zh-CN" sz="2200" dirty="0">
                <a:latin typeface="微软雅黑" panose="020B0503020204020204" pitchFamily="34" charset="-122"/>
                <a:ea typeface="微软雅黑" panose="020B0503020204020204" pitchFamily="34" charset="-122"/>
              </a:rPr>
              <a:t>(</a:t>
            </a:r>
            <a:r>
              <a:rPr lang="zh-CN" altLang="en-US" sz="2200" dirty="0">
                <a:latin typeface="微软雅黑" panose="020B0503020204020204" pitchFamily="34" charset="-122"/>
                <a:ea typeface="微软雅黑" panose="020B0503020204020204" pitchFamily="34" charset="-122"/>
              </a:rPr>
              <a:t>第二代货币危机理论</a:t>
            </a:r>
            <a:r>
              <a:rPr lang="en-US" altLang="zh-CN" sz="2200" dirty="0">
                <a:latin typeface="微软雅黑" panose="020B0503020204020204" pitchFamily="34" charset="-122"/>
                <a:ea typeface="微软雅黑" panose="020B0503020204020204" pitchFamily="34" charset="-122"/>
              </a:rPr>
              <a:t>——</a:t>
            </a:r>
            <a:r>
              <a:rPr lang="en-US" altLang="zh-CN" sz="2200" dirty="0" err="1">
                <a:latin typeface="微软雅黑" panose="020B0503020204020204" pitchFamily="34" charset="-122"/>
                <a:ea typeface="微软雅黑" panose="020B0503020204020204" pitchFamily="34" charset="-122"/>
              </a:rPr>
              <a:t>Obstfeld</a:t>
            </a:r>
            <a:r>
              <a:rPr lang="en-US" altLang="zh-CN" sz="2200" dirty="0">
                <a:latin typeface="微软雅黑" panose="020B0503020204020204" pitchFamily="34" charset="-122"/>
                <a:ea typeface="微软雅黑" panose="020B0503020204020204" pitchFamily="34" charset="-122"/>
              </a:rPr>
              <a:t>)</a:t>
            </a:r>
          </a:p>
          <a:p>
            <a:pPr marL="0" lvl="2" indent="457200">
              <a:lnSpc>
                <a:spcPct val="110000"/>
              </a:lnSpc>
              <a:spcBef>
                <a:spcPts val="1800"/>
              </a:spcBef>
              <a:buNone/>
            </a:pPr>
            <a:r>
              <a:rPr lang="zh-CN" altLang="en-US" sz="2200" dirty="0" smtClean="0">
                <a:latin typeface="微软雅黑" panose="020B0503020204020204" pitchFamily="34" charset="-122"/>
                <a:ea typeface="微软雅黑" panose="020B0503020204020204" pitchFamily="34" charset="-122"/>
              </a:rPr>
              <a:t>预期</a:t>
            </a:r>
            <a:r>
              <a:rPr lang="zh-CN" altLang="en-US" sz="2200" dirty="0">
                <a:latin typeface="微软雅黑" panose="020B0503020204020204" pitchFamily="34" charset="-122"/>
                <a:ea typeface="微软雅黑" panose="020B0503020204020204" pitchFamily="34" charset="-122"/>
              </a:rPr>
              <a:t>自致模型（</a:t>
            </a:r>
            <a:r>
              <a:rPr lang="en-US" altLang="zh-CN" sz="2200" dirty="0">
                <a:latin typeface="微软雅黑" panose="020B0503020204020204" pitchFamily="34" charset="-122"/>
                <a:ea typeface="微软雅黑" panose="020B0503020204020204" pitchFamily="34" charset="-122"/>
              </a:rPr>
              <a:t>expectations self-fulfilling model</a:t>
            </a:r>
            <a:r>
              <a:rPr lang="zh-CN" altLang="en-US" sz="2200" dirty="0">
                <a:latin typeface="微软雅黑" panose="020B0503020204020204" pitchFamily="34" charset="-122"/>
                <a:ea typeface="微软雅黑" panose="020B0503020204020204" pitchFamily="34" charset="-122"/>
              </a:rPr>
              <a:t>）。货币危机的发生不是由于经济基础恶化，而是由于贬值预期的自我实现所导致的。预期实现的方式有多种：</a:t>
            </a:r>
          </a:p>
          <a:p>
            <a:pPr marL="800100" lvl="4" indent="-342900">
              <a:lnSpc>
                <a:spcPct val="110000"/>
              </a:lnSpc>
              <a:spcBef>
                <a:spcPts val="1800"/>
              </a:spcBef>
              <a:buFont typeface="Wingdings" panose="05000000000000000000" pitchFamily="2" charset="2"/>
              <a:buChar char="Ø"/>
            </a:pPr>
            <a:r>
              <a:rPr lang="zh-CN" altLang="en-US" sz="2200" dirty="0" smtClean="0">
                <a:latin typeface="微软雅黑" panose="020B0503020204020204" pitchFamily="34" charset="-122"/>
                <a:ea typeface="微软雅黑" panose="020B0503020204020204" pitchFamily="34" charset="-122"/>
              </a:rPr>
              <a:t>冲击</a:t>
            </a:r>
            <a:r>
              <a:rPr lang="zh-CN" altLang="en-US" sz="2200" dirty="0">
                <a:latin typeface="微软雅黑" panose="020B0503020204020204" pitchFamily="34" charset="-122"/>
                <a:ea typeface="微软雅黑" panose="020B0503020204020204" pitchFamily="34" charset="-122"/>
              </a:rPr>
              <a:t>－政策放松分析；</a:t>
            </a:r>
          </a:p>
          <a:p>
            <a:pPr marL="800100" lvl="4" indent="-342900">
              <a:lnSpc>
                <a:spcPct val="110000"/>
              </a:lnSpc>
              <a:spcBef>
                <a:spcPts val="1800"/>
              </a:spcBef>
              <a:buFont typeface="Wingdings" panose="05000000000000000000" pitchFamily="2" charset="2"/>
              <a:buChar char="Ø"/>
            </a:pPr>
            <a:r>
              <a:rPr lang="zh-CN" altLang="en-US" sz="2200" dirty="0" smtClean="0">
                <a:latin typeface="微软雅黑" panose="020B0503020204020204" pitchFamily="34" charset="-122"/>
                <a:ea typeface="微软雅黑" panose="020B0503020204020204" pitchFamily="34" charset="-122"/>
              </a:rPr>
              <a:t>逃</a:t>
            </a:r>
            <a:r>
              <a:rPr lang="zh-CN" altLang="en-US" sz="2200" dirty="0">
                <a:latin typeface="微软雅黑" panose="020B0503020204020204" pitchFamily="34" charset="-122"/>
                <a:ea typeface="微软雅黑" panose="020B0503020204020204" pitchFamily="34" charset="-122"/>
              </a:rPr>
              <a:t>出条款分析；</a:t>
            </a:r>
          </a:p>
          <a:p>
            <a:pPr marL="800100" lvl="4" indent="-342900">
              <a:lnSpc>
                <a:spcPct val="110000"/>
              </a:lnSpc>
              <a:spcBef>
                <a:spcPts val="1800"/>
              </a:spcBef>
              <a:buFont typeface="Wingdings" panose="05000000000000000000" pitchFamily="2" charset="2"/>
              <a:buChar char="Ø"/>
            </a:pPr>
            <a:r>
              <a:rPr lang="zh-CN" altLang="en-US" sz="2200" dirty="0" smtClean="0">
                <a:latin typeface="微软雅黑" panose="020B0503020204020204" pitchFamily="34" charset="-122"/>
                <a:ea typeface="微软雅黑" panose="020B0503020204020204" pitchFamily="34" charset="-122"/>
              </a:rPr>
              <a:t>恶性循环</a:t>
            </a:r>
            <a:r>
              <a:rPr lang="zh-CN" altLang="en-US" sz="2200" dirty="0">
                <a:latin typeface="微软雅黑" panose="020B0503020204020204" pitchFamily="34" charset="-122"/>
                <a:ea typeface="微软雅黑" panose="020B0503020204020204" pitchFamily="34" charset="-122"/>
              </a:rPr>
              <a:t>分析。</a:t>
            </a:r>
          </a:p>
        </p:txBody>
      </p:sp>
      <p:sp>
        <p:nvSpPr>
          <p:cNvPr id="5" name="页脚占位符 4"/>
          <p:cNvSpPr>
            <a:spLocks noGrp="1"/>
          </p:cNvSpPr>
          <p:nvPr>
            <p:ph type="ftr" sz="quarter" idx="11"/>
          </p:nvPr>
        </p:nvSpPr>
        <p:spPr/>
        <p:txBody>
          <a:bodyPr/>
          <a:lstStyle/>
          <a:p>
            <a:r>
              <a:rPr lang="zh-CN" altLang="en-US" smtClean="0"/>
              <a:t>国际金融学 范小云</a:t>
            </a:r>
            <a:endParaRPr lang="zh-CN" altLang="en-US" dirty="0"/>
          </a:p>
        </p:txBody>
      </p:sp>
    </p:spTree>
    <p:extLst>
      <p:ext uri="{BB962C8B-B14F-4D97-AF65-F5344CB8AC3E}">
        <p14:creationId xmlns:p14="http://schemas.microsoft.com/office/powerpoint/2010/main" val="368648588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animEffect transition="in" filter="fade">
                                      <p:cBhvr>
                                        <p:cTn id="7" dur="500"/>
                                        <p:tgtEl>
                                          <p:spTgt spid="3">
                                            <p:txEl>
                                              <p:pRg st="2" end="2"/>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3" end="3"/>
                                            </p:txEl>
                                          </p:spTgt>
                                        </p:tgtEl>
                                        <p:attrNameLst>
                                          <p:attrName>style.visibility</p:attrName>
                                        </p:attrNameLst>
                                      </p:cBhvr>
                                      <p:to>
                                        <p:strVal val="visible"/>
                                      </p:to>
                                    </p:set>
                                    <p:animEffect transition="in" filter="fade">
                                      <p:cBhvr>
                                        <p:cTn id="12" dur="500"/>
                                        <p:tgtEl>
                                          <p:spTgt spid="3">
                                            <p:txEl>
                                              <p:pRg st="3" end="3"/>
                                            </p:txEl>
                                          </p:spTgt>
                                        </p:tgtEl>
                                      </p:cBhvr>
                                    </p:animEffect>
                                  </p:childTnLst>
                                </p:cTn>
                              </p:par>
                              <p:par>
                                <p:cTn id="13" presetID="10" presetClass="entr" presetSubtype="0" fill="hold" nodeType="with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animEffect transition="in" filter="fade">
                                      <p:cBhvr>
                                        <p:cTn id="15" dur="500"/>
                                        <p:tgtEl>
                                          <p:spTgt spid="3">
                                            <p:txEl>
                                              <p:pRg st="4" end="4"/>
                                            </p:txEl>
                                          </p:spTgt>
                                        </p:tgtEl>
                                      </p:cBhvr>
                                    </p:animEffect>
                                  </p:childTnLst>
                                </p:cTn>
                              </p:par>
                              <p:par>
                                <p:cTn id="16" presetID="10" presetClass="entr" presetSubtype="0" fill="hold" nodeType="withEffect">
                                  <p:stCondLst>
                                    <p:cond delay="0"/>
                                  </p:stCondLst>
                                  <p:childTnLst>
                                    <p:set>
                                      <p:cBhvr>
                                        <p:cTn id="17" dur="1" fill="hold">
                                          <p:stCondLst>
                                            <p:cond delay="0"/>
                                          </p:stCondLst>
                                        </p:cTn>
                                        <p:tgtEl>
                                          <p:spTgt spid="3">
                                            <p:txEl>
                                              <p:pRg st="5" end="5"/>
                                            </p:txEl>
                                          </p:spTgt>
                                        </p:tgtEl>
                                        <p:attrNameLst>
                                          <p:attrName>style.visibility</p:attrName>
                                        </p:attrNameLst>
                                      </p:cBhvr>
                                      <p:to>
                                        <p:strVal val="visible"/>
                                      </p:to>
                                    </p:set>
                                    <p:animEffect transition="in" filter="fade">
                                      <p:cBhvr>
                                        <p:cTn id="18" dur="500"/>
                                        <p:tgtEl>
                                          <p:spTgt spid="3">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第三节	现代国际金融危机理论</a:t>
            </a:r>
            <a:endParaRPr lang="zh-CN" dirty="0"/>
          </a:p>
        </p:txBody>
      </p:sp>
      <p:sp>
        <p:nvSpPr>
          <p:cNvPr id="3" name="内容占位符 2"/>
          <p:cNvSpPr>
            <a:spLocks noGrp="1"/>
          </p:cNvSpPr>
          <p:nvPr>
            <p:ph idx="1"/>
          </p:nvPr>
        </p:nvSpPr>
        <p:spPr>
          <a:xfrm>
            <a:off x="971550" y="1447799"/>
            <a:ext cx="7200900" cy="4841879"/>
          </a:xfrm>
        </p:spPr>
        <p:txBody>
          <a:bodyPr>
            <a:normAutofit lnSpcReduction="10000"/>
          </a:bodyPr>
          <a:lstStyle/>
          <a:p>
            <a:pPr marL="0" lvl="2" indent="0">
              <a:lnSpc>
                <a:spcPct val="110000"/>
              </a:lnSpc>
              <a:spcBef>
                <a:spcPts val="1800"/>
              </a:spcBef>
              <a:buNone/>
            </a:pPr>
            <a:r>
              <a:rPr lang="zh-CN" altLang="en-US" sz="2800" dirty="0" smtClean="0">
                <a:solidFill>
                  <a:schemeClr val="accent1"/>
                </a:solidFill>
                <a:latin typeface="微软雅黑" panose="020B0503020204020204" pitchFamily="34" charset="-122"/>
                <a:ea typeface="微软雅黑" panose="020B0503020204020204" pitchFamily="34" charset="-122"/>
              </a:rPr>
              <a:t>一、传统三代</a:t>
            </a:r>
            <a:r>
              <a:rPr altLang="en-US" sz="2800" dirty="0" smtClean="0">
                <a:solidFill>
                  <a:schemeClr val="accent1"/>
                </a:solidFill>
                <a:latin typeface="微软雅黑" panose="020B0503020204020204" pitchFamily="34" charset="-122"/>
                <a:ea typeface="微软雅黑" panose="020B0503020204020204" pitchFamily="34" charset="-122"/>
              </a:rPr>
              <a:t>货币</a:t>
            </a:r>
            <a:r>
              <a:rPr lang="zh-CN" altLang="en-US" sz="2800" dirty="0" smtClean="0">
                <a:solidFill>
                  <a:schemeClr val="accent1"/>
                </a:solidFill>
                <a:latin typeface="微软雅黑" panose="020B0503020204020204" pitchFamily="34" charset="-122"/>
                <a:ea typeface="微软雅黑" panose="020B0503020204020204" pitchFamily="34" charset="-122"/>
              </a:rPr>
              <a:t>危机理论</a:t>
            </a:r>
            <a:endParaRPr lang="en-US" altLang="zh-CN" sz="2800" dirty="0">
              <a:solidFill>
                <a:schemeClr val="accent1"/>
              </a:solidFill>
              <a:latin typeface="微软雅黑" panose="020B0503020204020204" pitchFamily="34" charset="-122"/>
              <a:ea typeface="微软雅黑" panose="020B0503020204020204" pitchFamily="34" charset="-122"/>
            </a:endParaRPr>
          </a:p>
          <a:p>
            <a:pPr marL="457200" lvl="2" indent="-457200">
              <a:lnSpc>
                <a:spcPct val="110000"/>
              </a:lnSpc>
              <a:spcBef>
                <a:spcPts val="1800"/>
              </a:spcBef>
              <a:buFont typeface="+mj-lt"/>
              <a:buAutoNum type="arabicPeriod" startAt="2"/>
            </a:pPr>
            <a:r>
              <a:rPr lang="zh-CN" altLang="en-US" sz="2200" dirty="0">
                <a:latin typeface="微软雅黑" panose="020B0503020204020204" pitchFamily="34" charset="-122"/>
                <a:ea typeface="微软雅黑" panose="020B0503020204020204" pitchFamily="34" charset="-122"/>
              </a:rPr>
              <a:t>主要由心理预期带来的投机性冲击所导致的货币危机</a:t>
            </a:r>
            <a:r>
              <a:rPr lang="en-US" altLang="zh-CN" sz="2200" dirty="0">
                <a:latin typeface="微软雅黑" panose="020B0503020204020204" pitchFamily="34" charset="-122"/>
                <a:ea typeface="微软雅黑" panose="020B0503020204020204" pitchFamily="34" charset="-122"/>
              </a:rPr>
              <a:t>(</a:t>
            </a:r>
            <a:r>
              <a:rPr lang="zh-CN" altLang="en-US" sz="2200" dirty="0">
                <a:latin typeface="微软雅黑" panose="020B0503020204020204" pitchFamily="34" charset="-122"/>
                <a:ea typeface="微软雅黑" panose="020B0503020204020204" pitchFamily="34" charset="-122"/>
              </a:rPr>
              <a:t>第二代货币危机理论</a:t>
            </a:r>
            <a:r>
              <a:rPr lang="en-US" altLang="zh-CN" sz="2200" dirty="0">
                <a:latin typeface="微软雅黑" panose="020B0503020204020204" pitchFamily="34" charset="-122"/>
                <a:ea typeface="微软雅黑" panose="020B0503020204020204" pitchFamily="34" charset="-122"/>
              </a:rPr>
              <a:t>——</a:t>
            </a:r>
            <a:r>
              <a:rPr lang="en-US" altLang="zh-CN" sz="2200" dirty="0" err="1">
                <a:latin typeface="微软雅黑" panose="020B0503020204020204" pitchFamily="34" charset="-122"/>
                <a:ea typeface="微软雅黑" panose="020B0503020204020204" pitchFamily="34" charset="-122"/>
              </a:rPr>
              <a:t>Obstfeld</a:t>
            </a:r>
            <a:r>
              <a:rPr lang="en-US" altLang="zh-CN" sz="2200" dirty="0">
                <a:latin typeface="微软雅黑" panose="020B0503020204020204" pitchFamily="34" charset="-122"/>
                <a:ea typeface="微软雅黑" panose="020B0503020204020204" pitchFamily="34" charset="-122"/>
              </a:rPr>
              <a:t>)</a:t>
            </a:r>
          </a:p>
          <a:p>
            <a:pPr marL="0" lvl="2" indent="457200">
              <a:lnSpc>
                <a:spcPct val="110000"/>
              </a:lnSpc>
              <a:spcBef>
                <a:spcPts val="1800"/>
              </a:spcBef>
              <a:buNone/>
            </a:pPr>
            <a:r>
              <a:rPr lang="zh-CN" altLang="en-US" sz="2200" dirty="0">
                <a:latin typeface="微软雅黑" panose="020B0503020204020204" pitchFamily="34" charset="-122"/>
                <a:ea typeface="微软雅黑" panose="020B0503020204020204" pitchFamily="34" charset="-122"/>
              </a:rPr>
              <a:t>以恶性循环分析为例，</a:t>
            </a:r>
          </a:p>
          <a:p>
            <a:pPr marL="0" lvl="2" indent="457200">
              <a:lnSpc>
                <a:spcPct val="110000"/>
              </a:lnSpc>
              <a:spcBef>
                <a:spcPts val="1800"/>
              </a:spcBef>
              <a:buNone/>
            </a:pPr>
            <a:r>
              <a:rPr lang="zh-CN" altLang="en-US" sz="2200" dirty="0" smtClean="0">
                <a:latin typeface="微软雅黑" panose="020B0503020204020204" pitchFamily="34" charset="-122"/>
                <a:ea typeface="微软雅黑" panose="020B0503020204020204" pitchFamily="34" charset="-122"/>
              </a:rPr>
              <a:t>当局</a:t>
            </a:r>
            <a:r>
              <a:rPr lang="zh-CN" altLang="en-US" sz="2200" dirty="0">
                <a:latin typeface="微软雅黑" panose="020B0503020204020204" pitchFamily="34" charset="-122"/>
                <a:ea typeface="微软雅黑" panose="020B0503020204020204" pitchFamily="34" charset="-122"/>
              </a:rPr>
              <a:t>为了维持固定汇率制，除了可以动用储备外，还可以通过提高利率来提高投机者进行投机性攻击的成本；但在很多情形下，当局可能发现维持固定汇率并不那么有吸引力或并不可行，当局有很多理由宁愿放弃固定汇率，如：中央银行可能缺少外汇储备；当局面临脆弱的银行体系；当局面临巨额的债务负担；当局不愿意承受高利率带来的经济衰退、失业增加、金融市场低迷等压力</a:t>
            </a:r>
            <a:r>
              <a:rPr lang="zh-CN" altLang="en-US" sz="2200" dirty="0" smtClean="0">
                <a:latin typeface="微软雅黑" panose="020B0503020204020204" pitchFamily="34" charset="-122"/>
                <a:ea typeface="微软雅黑" panose="020B0503020204020204" pitchFamily="34" charset="-122"/>
              </a:rPr>
              <a:t>。</a:t>
            </a:r>
            <a:endParaRPr lang="zh-CN" altLang="en-US" sz="2200" dirty="0">
              <a:latin typeface="微软雅黑" panose="020B0503020204020204" pitchFamily="34" charset="-122"/>
              <a:ea typeface="微软雅黑" panose="020B0503020204020204" pitchFamily="34" charset="-122"/>
            </a:endParaRPr>
          </a:p>
        </p:txBody>
      </p:sp>
      <p:sp>
        <p:nvSpPr>
          <p:cNvPr id="5" name="页脚占位符 4"/>
          <p:cNvSpPr>
            <a:spLocks noGrp="1"/>
          </p:cNvSpPr>
          <p:nvPr>
            <p:ph type="ftr" sz="quarter" idx="11"/>
          </p:nvPr>
        </p:nvSpPr>
        <p:spPr/>
        <p:txBody>
          <a:bodyPr/>
          <a:lstStyle/>
          <a:p>
            <a:r>
              <a:rPr lang="zh-CN" altLang="en-US" smtClean="0"/>
              <a:t>国际金融学 范小云</a:t>
            </a:r>
            <a:endParaRPr lang="zh-CN" altLang="en-US" dirty="0"/>
          </a:p>
        </p:txBody>
      </p:sp>
    </p:spTree>
    <p:extLst>
      <p:ext uri="{BB962C8B-B14F-4D97-AF65-F5344CB8AC3E}">
        <p14:creationId xmlns:p14="http://schemas.microsoft.com/office/powerpoint/2010/main" val="285844164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animEffect transition="in" filter="fade">
                                      <p:cBhvr>
                                        <p:cTn id="7" dur="500"/>
                                        <p:tgtEl>
                                          <p:spTgt spid="3">
                                            <p:txEl>
                                              <p:pRg st="2" end="2"/>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3" end="3"/>
                                            </p:txEl>
                                          </p:spTgt>
                                        </p:tgtEl>
                                        <p:attrNameLst>
                                          <p:attrName>style.visibility</p:attrName>
                                        </p:attrNameLst>
                                      </p:cBhvr>
                                      <p:to>
                                        <p:strVal val="visible"/>
                                      </p:to>
                                    </p:set>
                                    <p:animEffect transition="in" filter="fade">
                                      <p:cBhvr>
                                        <p:cTn id="12" dur="500"/>
                                        <p:tgtEl>
                                          <p:spTgt spid="3">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第三节	现代国际金融危机理论</a:t>
            </a:r>
            <a:endParaRPr lang="zh-CN" dirty="0"/>
          </a:p>
        </p:txBody>
      </p:sp>
      <p:sp>
        <p:nvSpPr>
          <p:cNvPr id="3" name="内容占位符 2"/>
          <p:cNvSpPr>
            <a:spLocks noGrp="1"/>
          </p:cNvSpPr>
          <p:nvPr>
            <p:ph idx="1"/>
          </p:nvPr>
        </p:nvSpPr>
        <p:spPr>
          <a:xfrm>
            <a:off x="971550" y="1447799"/>
            <a:ext cx="7200900" cy="4841879"/>
          </a:xfrm>
        </p:spPr>
        <p:txBody>
          <a:bodyPr>
            <a:normAutofit/>
          </a:bodyPr>
          <a:lstStyle/>
          <a:p>
            <a:pPr marL="0" lvl="2" indent="0">
              <a:lnSpc>
                <a:spcPct val="110000"/>
              </a:lnSpc>
              <a:spcBef>
                <a:spcPts val="1800"/>
              </a:spcBef>
              <a:buNone/>
            </a:pPr>
            <a:r>
              <a:rPr lang="zh-CN" altLang="en-US" sz="2800" dirty="0" smtClean="0">
                <a:solidFill>
                  <a:schemeClr val="accent1"/>
                </a:solidFill>
                <a:latin typeface="微软雅黑" panose="020B0503020204020204" pitchFamily="34" charset="-122"/>
                <a:ea typeface="微软雅黑" panose="020B0503020204020204" pitchFamily="34" charset="-122"/>
              </a:rPr>
              <a:t>一、传统三代</a:t>
            </a:r>
            <a:r>
              <a:rPr altLang="en-US" sz="2800" dirty="0" smtClean="0">
                <a:solidFill>
                  <a:schemeClr val="accent1"/>
                </a:solidFill>
                <a:latin typeface="微软雅黑" panose="020B0503020204020204" pitchFamily="34" charset="-122"/>
                <a:ea typeface="微软雅黑" panose="020B0503020204020204" pitchFamily="34" charset="-122"/>
              </a:rPr>
              <a:t>货币</a:t>
            </a:r>
            <a:r>
              <a:rPr lang="zh-CN" altLang="en-US" sz="2800" dirty="0" smtClean="0">
                <a:solidFill>
                  <a:schemeClr val="accent1"/>
                </a:solidFill>
                <a:latin typeface="微软雅黑" panose="020B0503020204020204" pitchFamily="34" charset="-122"/>
                <a:ea typeface="微软雅黑" panose="020B0503020204020204" pitchFamily="34" charset="-122"/>
              </a:rPr>
              <a:t>危机理论</a:t>
            </a:r>
            <a:endParaRPr lang="en-US" altLang="zh-CN" sz="2800" dirty="0">
              <a:solidFill>
                <a:schemeClr val="accent1"/>
              </a:solidFill>
              <a:latin typeface="微软雅黑" panose="020B0503020204020204" pitchFamily="34" charset="-122"/>
              <a:ea typeface="微软雅黑" panose="020B0503020204020204" pitchFamily="34" charset="-122"/>
            </a:endParaRPr>
          </a:p>
          <a:p>
            <a:pPr marL="457200" lvl="2" indent="-457200">
              <a:lnSpc>
                <a:spcPct val="110000"/>
              </a:lnSpc>
              <a:spcBef>
                <a:spcPts val="1800"/>
              </a:spcBef>
              <a:buFont typeface="+mj-lt"/>
              <a:buAutoNum type="arabicPeriod" startAt="2"/>
            </a:pPr>
            <a:r>
              <a:rPr lang="zh-CN" altLang="en-US" sz="2200" dirty="0">
                <a:latin typeface="微软雅黑" panose="020B0503020204020204" pitchFamily="34" charset="-122"/>
                <a:ea typeface="微软雅黑" panose="020B0503020204020204" pitchFamily="34" charset="-122"/>
              </a:rPr>
              <a:t>主要由心理预期带来的投机性冲击所导致的货币危机</a:t>
            </a:r>
            <a:r>
              <a:rPr lang="en-US" altLang="zh-CN" sz="2200" dirty="0">
                <a:latin typeface="微软雅黑" panose="020B0503020204020204" pitchFamily="34" charset="-122"/>
                <a:ea typeface="微软雅黑" panose="020B0503020204020204" pitchFamily="34" charset="-122"/>
              </a:rPr>
              <a:t>(</a:t>
            </a:r>
            <a:r>
              <a:rPr lang="zh-CN" altLang="en-US" sz="2200" dirty="0">
                <a:latin typeface="微软雅黑" panose="020B0503020204020204" pitchFamily="34" charset="-122"/>
                <a:ea typeface="微软雅黑" panose="020B0503020204020204" pitchFamily="34" charset="-122"/>
              </a:rPr>
              <a:t>第二代货币危机理论</a:t>
            </a:r>
            <a:r>
              <a:rPr lang="en-US" altLang="zh-CN" sz="2200" dirty="0">
                <a:latin typeface="微软雅黑" panose="020B0503020204020204" pitchFamily="34" charset="-122"/>
                <a:ea typeface="微软雅黑" panose="020B0503020204020204" pitchFamily="34" charset="-122"/>
              </a:rPr>
              <a:t>——</a:t>
            </a:r>
            <a:r>
              <a:rPr lang="en-US" altLang="zh-CN" sz="2200" dirty="0" err="1">
                <a:latin typeface="微软雅黑" panose="020B0503020204020204" pitchFamily="34" charset="-122"/>
                <a:ea typeface="微软雅黑" panose="020B0503020204020204" pitchFamily="34" charset="-122"/>
              </a:rPr>
              <a:t>Obstfeld</a:t>
            </a:r>
            <a:r>
              <a:rPr lang="en-US" altLang="zh-CN" sz="2200" dirty="0">
                <a:latin typeface="微软雅黑" panose="020B0503020204020204" pitchFamily="34" charset="-122"/>
                <a:ea typeface="微软雅黑" panose="020B0503020204020204" pitchFamily="34" charset="-122"/>
              </a:rPr>
              <a:t>)</a:t>
            </a:r>
          </a:p>
          <a:p>
            <a:pPr marL="0" lvl="2" indent="457200">
              <a:lnSpc>
                <a:spcPct val="110000"/>
              </a:lnSpc>
              <a:spcBef>
                <a:spcPts val="1800"/>
              </a:spcBef>
              <a:buNone/>
            </a:pPr>
            <a:r>
              <a:rPr lang="zh-CN" altLang="en-US" sz="2200" dirty="0">
                <a:latin typeface="微软雅黑" panose="020B0503020204020204" pitchFamily="34" charset="-122"/>
                <a:ea typeface="微软雅黑" panose="020B0503020204020204" pitchFamily="34" charset="-122"/>
              </a:rPr>
              <a:t>当局也有很多理由</a:t>
            </a:r>
            <a:r>
              <a:rPr lang="zh-CN" altLang="en-US" sz="2200" dirty="0" smtClean="0">
                <a:latin typeface="微软雅黑" panose="020B0503020204020204" pitchFamily="34" charset="-122"/>
                <a:ea typeface="微软雅黑" panose="020B0503020204020204" pitchFamily="34" charset="-122"/>
              </a:rPr>
              <a:t>愿意维持</a:t>
            </a:r>
            <a:r>
              <a:rPr lang="zh-CN" altLang="en-US" sz="2200" dirty="0">
                <a:latin typeface="微软雅黑" panose="020B0503020204020204" pitchFamily="34" charset="-122"/>
                <a:ea typeface="微软雅黑" panose="020B0503020204020204" pitchFamily="34" charset="-122"/>
              </a:rPr>
              <a:t>固定汇率，如：当局坚信维持固定汇率制有利于国际贸易和国际投资；有利于提高国家的信誉或出于对国际合作的承诺等</a:t>
            </a:r>
            <a:r>
              <a:rPr lang="zh-CN" altLang="en-US" sz="2200" dirty="0" smtClean="0">
                <a:latin typeface="微软雅黑" panose="020B0503020204020204" pitchFamily="34" charset="-122"/>
                <a:ea typeface="微软雅黑" panose="020B0503020204020204" pitchFamily="34" charset="-122"/>
              </a:rPr>
              <a:t>。</a:t>
            </a:r>
            <a:endParaRPr lang="en-US" altLang="zh-CN" sz="2200" dirty="0" smtClean="0">
              <a:latin typeface="微软雅黑" panose="020B0503020204020204" pitchFamily="34" charset="-122"/>
              <a:ea typeface="微软雅黑" panose="020B0503020204020204" pitchFamily="34" charset="-122"/>
            </a:endParaRPr>
          </a:p>
          <a:p>
            <a:pPr marL="0" lvl="2" indent="457200">
              <a:lnSpc>
                <a:spcPct val="110000"/>
              </a:lnSpc>
              <a:spcBef>
                <a:spcPts val="1800"/>
              </a:spcBef>
              <a:buNone/>
            </a:pPr>
            <a:r>
              <a:rPr lang="zh-CN" altLang="en-US" sz="2000" dirty="0">
                <a:solidFill>
                  <a:srgbClr val="0033CC"/>
                </a:solidFill>
                <a:latin typeface="隶书" pitchFamily="49" charset="-122"/>
                <a:ea typeface="隶书" pitchFamily="49" charset="-122"/>
              </a:rPr>
              <a:t>当局通过权衡维持固定汇率所付出的成本与得到的好处，来决定是否放弃固定汇率</a:t>
            </a:r>
            <a:r>
              <a:rPr lang="zh-CN" altLang="en-US" sz="2000" dirty="0" smtClean="0">
                <a:solidFill>
                  <a:srgbClr val="0033CC"/>
                </a:solidFill>
                <a:latin typeface="隶书" pitchFamily="49" charset="-122"/>
                <a:ea typeface="隶书" pitchFamily="49" charset="-122"/>
              </a:rPr>
              <a:t>。</a:t>
            </a:r>
            <a:endParaRPr lang="zh-CN" altLang="en-US" sz="2200" dirty="0">
              <a:latin typeface="微软雅黑" panose="020B0503020204020204" pitchFamily="34" charset="-122"/>
              <a:ea typeface="微软雅黑" panose="020B0503020204020204" pitchFamily="34" charset="-122"/>
            </a:endParaRPr>
          </a:p>
        </p:txBody>
      </p:sp>
      <p:sp>
        <p:nvSpPr>
          <p:cNvPr id="5" name="页脚占位符 4"/>
          <p:cNvSpPr>
            <a:spLocks noGrp="1"/>
          </p:cNvSpPr>
          <p:nvPr>
            <p:ph type="ftr" sz="quarter" idx="11"/>
          </p:nvPr>
        </p:nvSpPr>
        <p:spPr/>
        <p:txBody>
          <a:bodyPr/>
          <a:lstStyle/>
          <a:p>
            <a:r>
              <a:rPr lang="zh-CN" altLang="en-US" smtClean="0"/>
              <a:t>国际金融学 范小云</a:t>
            </a:r>
            <a:endParaRPr lang="zh-CN" altLang="en-US" dirty="0"/>
          </a:p>
        </p:txBody>
      </p:sp>
    </p:spTree>
    <p:extLst>
      <p:ext uri="{BB962C8B-B14F-4D97-AF65-F5344CB8AC3E}">
        <p14:creationId xmlns:p14="http://schemas.microsoft.com/office/powerpoint/2010/main" val="91721862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第三节	现代国际金融危机理论</a:t>
            </a:r>
            <a:endParaRPr lang="zh-CN" dirty="0"/>
          </a:p>
        </p:txBody>
      </p:sp>
      <p:sp>
        <p:nvSpPr>
          <p:cNvPr id="3" name="内容占位符 2"/>
          <p:cNvSpPr>
            <a:spLocks noGrp="1"/>
          </p:cNvSpPr>
          <p:nvPr>
            <p:ph idx="1"/>
          </p:nvPr>
        </p:nvSpPr>
        <p:spPr>
          <a:xfrm>
            <a:off x="971550" y="1447799"/>
            <a:ext cx="7200900" cy="4841879"/>
          </a:xfrm>
        </p:spPr>
        <p:txBody>
          <a:bodyPr>
            <a:normAutofit/>
          </a:bodyPr>
          <a:lstStyle/>
          <a:p>
            <a:pPr marL="0" lvl="2" indent="0">
              <a:lnSpc>
                <a:spcPct val="110000"/>
              </a:lnSpc>
              <a:spcBef>
                <a:spcPts val="1800"/>
              </a:spcBef>
              <a:buNone/>
            </a:pPr>
            <a:r>
              <a:rPr lang="zh-CN" altLang="en-US" sz="2800" dirty="0" smtClean="0">
                <a:solidFill>
                  <a:schemeClr val="accent1"/>
                </a:solidFill>
                <a:latin typeface="微软雅黑" panose="020B0503020204020204" pitchFamily="34" charset="-122"/>
                <a:ea typeface="微软雅黑" panose="020B0503020204020204" pitchFamily="34" charset="-122"/>
              </a:rPr>
              <a:t>一、传统三代</a:t>
            </a:r>
            <a:r>
              <a:rPr altLang="en-US" sz="2800" dirty="0" smtClean="0">
                <a:solidFill>
                  <a:schemeClr val="accent1"/>
                </a:solidFill>
                <a:latin typeface="微软雅黑" panose="020B0503020204020204" pitchFamily="34" charset="-122"/>
                <a:ea typeface="微软雅黑" panose="020B0503020204020204" pitchFamily="34" charset="-122"/>
              </a:rPr>
              <a:t>货币</a:t>
            </a:r>
            <a:r>
              <a:rPr lang="zh-CN" altLang="en-US" sz="2800" dirty="0" smtClean="0">
                <a:solidFill>
                  <a:schemeClr val="accent1"/>
                </a:solidFill>
                <a:latin typeface="微软雅黑" panose="020B0503020204020204" pitchFamily="34" charset="-122"/>
                <a:ea typeface="微软雅黑" panose="020B0503020204020204" pitchFamily="34" charset="-122"/>
              </a:rPr>
              <a:t>危机理论</a:t>
            </a:r>
            <a:endParaRPr lang="en-US" altLang="zh-CN" sz="2800" dirty="0">
              <a:solidFill>
                <a:schemeClr val="accent1"/>
              </a:solidFill>
              <a:latin typeface="微软雅黑" panose="020B0503020204020204" pitchFamily="34" charset="-122"/>
              <a:ea typeface="微软雅黑" panose="020B0503020204020204" pitchFamily="34" charset="-122"/>
            </a:endParaRPr>
          </a:p>
          <a:p>
            <a:pPr marL="457200" lvl="2" indent="-457200">
              <a:lnSpc>
                <a:spcPct val="110000"/>
              </a:lnSpc>
              <a:spcBef>
                <a:spcPts val="1800"/>
              </a:spcBef>
              <a:buFont typeface="+mj-lt"/>
              <a:buAutoNum type="arabicPeriod" startAt="2"/>
            </a:pPr>
            <a:r>
              <a:rPr lang="zh-CN" altLang="en-US" sz="2200" dirty="0">
                <a:latin typeface="微软雅黑" panose="020B0503020204020204" pitchFamily="34" charset="-122"/>
                <a:ea typeface="微软雅黑" panose="020B0503020204020204" pitchFamily="34" charset="-122"/>
              </a:rPr>
              <a:t>主要由心理预期带来的投机性冲击所导致的货币危机</a:t>
            </a:r>
            <a:r>
              <a:rPr lang="en-US" altLang="zh-CN" sz="2200" dirty="0">
                <a:latin typeface="微软雅黑" panose="020B0503020204020204" pitchFamily="34" charset="-122"/>
                <a:ea typeface="微软雅黑" panose="020B0503020204020204" pitchFamily="34" charset="-122"/>
              </a:rPr>
              <a:t>(</a:t>
            </a:r>
            <a:r>
              <a:rPr lang="zh-CN" altLang="en-US" sz="2200" dirty="0">
                <a:latin typeface="微软雅黑" panose="020B0503020204020204" pitchFamily="34" charset="-122"/>
                <a:ea typeface="微软雅黑" panose="020B0503020204020204" pitchFamily="34" charset="-122"/>
              </a:rPr>
              <a:t>第二代货币危机理论</a:t>
            </a:r>
            <a:r>
              <a:rPr lang="en-US" altLang="zh-CN" sz="2200" dirty="0">
                <a:latin typeface="微软雅黑" panose="020B0503020204020204" pitchFamily="34" charset="-122"/>
                <a:ea typeface="微软雅黑" panose="020B0503020204020204" pitchFamily="34" charset="-122"/>
              </a:rPr>
              <a:t>——</a:t>
            </a:r>
            <a:r>
              <a:rPr lang="en-US" altLang="zh-CN" sz="2200" dirty="0" err="1">
                <a:latin typeface="微软雅黑" panose="020B0503020204020204" pitchFamily="34" charset="-122"/>
                <a:ea typeface="微软雅黑" panose="020B0503020204020204" pitchFamily="34" charset="-122"/>
              </a:rPr>
              <a:t>Obstfeld</a:t>
            </a:r>
            <a:r>
              <a:rPr lang="en-US" altLang="zh-CN" sz="2200" dirty="0">
                <a:latin typeface="微软雅黑" panose="020B0503020204020204" pitchFamily="34" charset="-122"/>
                <a:ea typeface="微软雅黑" panose="020B0503020204020204" pitchFamily="34" charset="-122"/>
              </a:rPr>
              <a:t>)</a:t>
            </a:r>
          </a:p>
          <a:p>
            <a:pPr marL="0" lvl="2" indent="457200">
              <a:lnSpc>
                <a:spcPct val="110000"/>
              </a:lnSpc>
              <a:spcBef>
                <a:spcPts val="1800"/>
              </a:spcBef>
              <a:buNone/>
            </a:pPr>
            <a:r>
              <a:rPr lang="zh-CN" altLang="en-US" sz="2200" dirty="0" smtClean="0">
                <a:latin typeface="微软雅黑" panose="020B0503020204020204" pitchFamily="34" charset="-122"/>
                <a:ea typeface="微软雅黑" panose="020B0503020204020204" pitchFamily="34" charset="-122"/>
              </a:rPr>
              <a:t>经济</a:t>
            </a:r>
            <a:r>
              <a:rPr lang="zh-CN" altLang="en-US" sz="2200" dirty="0">
                <a:latin typeface="微软雅黑" panose="020B0503020204020204" pitchFamily="34" charset="-122"/>
                <a:ea typeface="微软雅黑" panose="020B0503020204020204" pitchFamily="34" charset="-122"/>
              </a:rPr>
              <a:t>中存在一个基本面薄弱区（危机区），在这个区域里，危机有可能发生，也有可能不发生。如果市场对当局维持固定汇率的信心不足，预期汇率贬值时，就会要求提高利率和工资率等，使维持固定汇率的成本升高，而当局通过提高利率维持固定汇率的努力在增加政府坚持固定汇率制的成本的同时，本身也会加强市场的贬值预期。期间，如果没有足以改变市场预期贬值的消息出现，当局可能最终放弃固定汇率。</a:t>
            </a:r>
          </a:p>
          <a:p>
            <a:pPr marL="0" lvl="2" indent="457200">
              <a:lnSpc>
                <a:spcPct val="110000"/>
              </a:lnSpc>
              <a:spcBef>
                <a:spcPts val="1800"/>
              </a:spcBef>
              <a:buNone/>
            </a:pPr>
            <a:endParaRPr lang="zh-CN" altLang="en-US" sz="2200" dirty="0">
              <a:latin typeface="微软雅黑" panose="020B0503020204020204" pitchFamily="34" charset="-122"/>
              <a:ea typeface="微软雅黑" panose="020B0503020204020204" pitchFamily="34" charset="-122"/>
            </a:endParaRPr>
          </a:p>
        </p:txBody>
      </p:sp>
      <p:sp>
        <p:nvSpPr>
          <p:cNvPr id="5" name="页脚占位符 4"/>
          <p:cNvSpPr>
            <a:spLocks noGrp="1"/>
          </p:cNvSpPr>
          <p:nvPr>
            <p:ph type="ftr" sz="quarter" idx="11"/>
          </p:nvPr>
        </p:nvSpPr>
        <p:spPr/>
        <p:txBody>
          <a:bodyPr/>
          <a:lstStyle/>
          <a:p>
            <a:r>
              <a:rPr lang="zh-CN" altLang="en-US" dirty="0" smtClean="0"/>
              <a:t>国际金融学 范小云</a:t>
            </a:r>
            <a:endParaRPr lang="zh-CN" altLang="en-US" dirty="0"/>
          </a:p>
        </p:txBody>
      </p:sp>
    </p:spTree>
    <p:extLst>
      <p:ext uri="{BB962C8B-B14F-4D97-AF65-F5344CB8AC3E}">
        <p14:creationId xmlns:p14="http://schemas.microsoft.com/office/powerpoint/2010/main" val="172909764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第三节	现代国际金融危机理论</a:t>
            </a:r>
            <a:endParaRPr lang="zh-CN" dirty="0"/>
          </a:p>
        </p:txBody>
      </p:sp>
      <p:sp>
        <p:nvSpPr>
          <p:cNvPr id="3" name="内容占位符 2"/>
          <p:cNvSpPr>
            <a:spLocks noGrp="1"/>
          </p:cNvSpPr>
          <p:nvPr>
            <p:ph idx="1"/>
          </p:nvPr>
        </p:nvSpPr>
        <p:spPr>
          <a:xfrm>
            <a:off x="971550" y="1447799"/>
            <a:ext cx="7200900" cy="4841879"/>
          </a:xfrm>
        </p:spPr>
        <p:txBody>
          <a:bodyPr>
            <a:normAutofit/>
          </a:bodyPr>
          <a:lstStyle/>
          <a:p>
            <a:pPr marL="0" lvl="2" indent="0">
              <a:lnSpc>
                <a:spcPct val="110000"/>
              </a:lnSpc>
              <a:spcBef>
                <a:spcPts val="1800"/>
              </a:spcBef>
              <a:buNone/>
            </a:pPr>
            <a:r>
              <a:rPr lang="zh-CN" altLang="en-US" sz="2800" dirty="0" smtClean="0">
                <a:solidFill>
                  <a:schemeClr val="accent1"/>
                </a:solidFill>
                <a:latin typeface="微软雅黑" panose="020B0503020204020204" pitchFamily="34" charset="-122"/>
                <a:ea typeface="微软雅黑" panose="020B0503020204020204" pitchFamily="34" charset="-122"/>
              </a:rPr>
              <a:t>一、传统三代</a:t>
            </a:r>
            <a:r>
              <a:rPr altLang="en-US" sz="2800" dirty="0" smtClean="0">
                <a:solidFill>
                  <a:schemeClr val="accent1"/>
                </a:solidFill>
                <a:latin typeface="微软雅黑" panose="020B0503020204020204" pitchFamily="34" charset="-122"/>
                <a:ea typeface="微软雅黑" panose="020B0503020204020204" pitchFamily="34" charset="-122"/>
              </a:rPr>
              <a:t>货币</a:t>
            </a:r>
            <a:r>
              <a:rPr lang="zh-CN" altLang="en-US" sz="2800" dirty="0" smtClean="0">
                <a:solidFill>
                  <a:schemeClr val="accent1"/>
                </a:solidFill>
                <a:latin typeface="微软雅黑" panose="020B0503020204020204" pitchFamily="34" charset="-122"/>
                <a:ea typeface="微软雅黑" panose="020B0503020204020204" pitchFamily="34" charset="-122"/>
              </a:rPr>
              <a:t>危机理论</a:t>
            </a:r>
            <a:endParaRPr lang="en-US" altLang="zh-CN" sz="2800" dirty="0">
              <a:solidFill>
                <a:schemeClr val="accent1"/>
              </a:solidFill>
              <a:latin typeface="微软雅黑" panose="020B0503020204020204" pitchFamily="34" charset="-122"/>
              <a:ea typeface="微软雅黑" panose="020B0503020204020204" pitchFamily="34" charset="-122"/>
            </a:endParaRPr>
          </a:p>
          <a:p>
            <a:pPr marL="457200" lvl="2" indent="-457200">
              <a:lnSpc>
                <a:spcPct val="110000"/>
              </a:lnSpc>
              <a:spcBef>
                <a:spcPts val="1800"/>
              </a:spcBef>
              <a:buFont typeface="+mj-lt"/>
              <a:buAutoNum type="arabicPeriod" startAt="2"/>
            </a:pPr>
            <a:r>
              <a:rPr lang="zh-CN" altLang="en-US" sz="2200" dirty="0">
                <a:latin typeface="微软雅黑" panose="020B0503020204020204" pitchFamily="34" charset="-122"/>
                <a:ea typeface="微软雅黑" panose="020B0503020204020204" pitchFamily="34" charset="-122"/>
              </a:rPr>
              <a:t>主要由心理预期带来的投机性冲击所导致的货币危机</a:t>
            </a:r>
            <a:r>
              <a:rPr lang="en-US" altLang="zh-CN" sz="2200" dirty="0">
                <a:latin typeface="微软雅黑" panose="020B0503020204020204" pitchFamily="34" charset="-122"/>
                <a:ea typeface="微软雅黑" panose="020B0503020204020204" pitchFamily="34" charset="-122"/>
              </a:rPr>
              <a:t>(</a:t>
            </a:r>
            <a:r>
              <a:rPr lang="zh-CN" altLang="en-US" sz="2200" dirty="0">
                <a:latin typeface="微软雅黑" panose="020B0503020204020204" pitchFamily="34" charset="-122"/>
                <a:ea typeface="微软雅黑" panose="020B0503020204020204" pitchFamily="34" charset="-122"/>
              </a:rPr>
              <a:t>第二代货币危机理论</a:t>
            </a:r>
            <a:r>
              <a:rPr lang="en-US" altLang="zh-CN" sz="2200" dirty="0">
                <a:latin typeface="微软雅黑" panose="020B0503020204020204" pitchFamily="34" charset="-122"/>
                <a:ea typeface="微软雅黑" panose="020B0503020204020204" pitchFamily="34" charset="-122"/>
              </a:rPr>
              <a:t>——</a:t>
            </a:r>
            <a:r>
              <a:rPr lang="en-US" altLang="zh-CN" sz="2200" dirty="0" err="1">
                <a:latin typeface="微软雅黑" panose="020B0503020204020204" pitchFamily="34" charset="-122"/>
                <a:ea typeface="微软雅黑" panose="020B0503020204020204" pitchFamily="34" charset="-122"/>
              </a:rPr>
              <a:t>Obstfeld</a:t>
            </a:r>
            <a:r>
              <a:rPr lang="en-US" altLang="zh-CN" sz="2200" dirty="0" smtClean="0">
                <a:latin typeface="微软雅黑" panose="020B0503020204020204" pitchFamily="34" charset="-122"/>
                <a:ea typeface="微软雅黑" panose="020B0503020204020204" pitchFamily="34" charset="-122"/>
              </a:rPr>
              <a:t>)</a:t>
            </a:r>
          </a:p>
          <a:p>
            <a:pPr marL="0" lvl="2" indent="457200">
              <a:lnSpc>
                <a:spcPct val="110000"/>
              </a:lnSpc>
              <a:spcBef>
                <a:spcPts val="1800"/>
              </a:spcBef>
              <a:buNone/>
            </a:pPr>
            <a:r>
              <a:rPr lang="zh-CN" altLang="en-US" sz="2200" dirty="0" smtClean="0">
                <a:latin typeface="微软雅黑" panose="020B0503020204020204" pitchFamily="34" charset="-122"/>
                <a:ea typeface="微软雅黑" panose="020B0503020204020204" pitchFamily="34" charset="-122"/>
              </a:rPr>
              <a:t>按照</a:t>
            </a:r>
            <a:r>
              <a:rPr lang="zh-CN" altLang="en-US" sz="2200" dirty="0">
                <a:latin typeface="微软雅黑" panose="020B0503020204020204" pitchFamily="34" charset="-122"/>
                <a:ea typeface="微软雅黑" panose="020B0503020204020204" pitchFamily="34" charset="-122"/>
              </a:rPr>
              <a:t>这一逻辑，贬值预期可以自发引起贬值，即货币危机会“自我实现”；如果市场认为政府维持固定汇率的决心是可信的，维持固定汇率的成本就不会升高，固定汇率也就得到维持。如果私人部门预期贬值，明智的政府最好选择贬值</a:t>
            </a:r>
            <a:r>
              <a:rPr altLang="en-US" sz="2200" dirty="0" smtClean="0">
                <a:latin typeface="微软雅黑" panose="020B0503020204020204" pitchFamily="34" charset="-122"/>
                <a:ea typeface="微软雅黑" panose="020B0503020204020204" pitchFamily="34" charset="-122"/>
              </a:rPr>
              <a:t>；如果私人部门没有预期贬值，政府就什么也不需要做。因此，这时存在由预期决定的多重均衡。</a:t>
            </a:r>
          </a:p>
          <a:p>
            <a:pPr marL="0" lvl="2" indent="457200">
              <a:lnSpc>
                <a:spcPct val="110000"/>
              </a:lnSpc>
              <a:spcBef>
                <a:spcPts val="1800"/>
              </a:spcBef>
              <a:buNone/>
            </a:pPr>
            <a:endParaRPr lang="zh-CN" altLang="en-US" sz="2200" dirty="0">
              <a:latin typeface="微软雅黑" panose="020B0503020204020204" pitchFamily="34" charset="-122"/>
              <a:ea typeface="微软雅黑" panose="020B0503020204020204" pitchFamily="34" charset="-122"/>
            </a:endParaRPr>
          </a:p>
        </p:txBody>
      </p:sp>
      <p:sp>
        <p:nvSpPr>
          <p:cNvPr id="5" name="页脚占位符 4"/>
          <p:cNvSpPr>
            <a:spLocks noGrp="1"/>
          </p:cNvSpPr>
          <p:nvPr>
            <p:ph type="ftr" sz="quarter" idx="11"/>
          </p:nvPr>
        </p:nvSpPr>
        <p:spPr/>
        <p:txBody>
          <a:bodyPr/>
          <a:lstStyle/>
          <a:p>
            <a:r>
              <a:rPr lang="zh-CN" altLang="en-US" smtClean="0"/>
              <a:t>国际金融学 范小云</a:t>
            </a:r>
            <a:endParaRPr lang="zh-CN" altLang="en-US" dirty="0"/>
          </a:p>
        </p:txBody>
      </p:sp>
    </p:spTree>
    <p:extLst>
      <p:ext uri="{BB962C8B-B14F-4D97-AF65-F5344CB8AC3E}">
        <p14:creationId xmlns:p14="http://schemas.microsoft.com/office/powerpoint/2010/main" val="330934624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第三节	现代国际金融危机理论</a:t>
            </a:r>
            <a:endParaRPr lang="zh-CN" dirty="0"/>
          </a:p>
        </p:txBody>
      </p:sp>
      <p:sp>
        <p:nvSpPr>
          <p:cNvPr id="3" name="内容占位符 2"/>
          <p:cNvSpPr>
            <a:spLocks noGrp="1"/>
          </p:cNvSpPr>
          <p:nvPr>
            <p:ph idx="1"/>
          </p:nvPr>
        </p:nvSpPr>
        <p:spPr>
          <a:xfrm>
            <a:off x="971550" y="1447799"/>
            <a:ext cx="7200900" cy="4841879"/>
          </a:xfrm>
        </p:spPr>
        <p:txBody>
          <a:bodyPr>
            <a:normAutofit/>
          </a:bodyPr>
          <a:lstStyle/>
          <a:p>
            <a:pPr marL="0" lvl="2" indent="0">
              <a:lnSpc>
                <a:spcPct val="110000"/>
              </a:lnSpc>
              <a:spcBef>
                <a:spcPts val="1800"/>
              </a:spcBef>
              <a:buNone/>
            </a:pPr>
            <a:r>
              <a:rPr lang="zh-CN" altLang="en-US" sz="2800" dirty="0" smtClean="0">
                <a:solidFill>
                  <a:schemeClr val="accent1"/>
                </a:solidFill>
                <a:latin typeface="微软雅黑" panose="020B0503020204020204" pitchFamily="34" charset="-122"/>
                <a:ea typeface="微软雅黑" panose="020B0503020204020204" pitchFamily="34" charset="-122"/>
              </a:rPr>
              <a:t>一、传统三代</a:t>
            </a:r>
            <a:r>
              <a:rPr altLang="en-US" sz="2800" dirty="0" smtClean="0">
                <a:solidFill>
                  <a:schemeClr val="accent1"/>
                </a:solidFill>
                <a:latin typeface="微软雅黑" panose="020B0503020204020204" pitchFamily="34" charset="-122"/>
                <a:ea typeface="微软雅黑" panose="020B0503020204020204" pitchFamily="34" charset="-122"/>
              </a:rPr>
              <a:t>货币</a:t>
            </a:r>
            <a:r>
              <a:rPr lang="zh-CN" altLang="en-US" sz="2800" dirty="0" smtClean="0">
                <a:solidFill>
                  <a:schemeClr val="accent1"/>
                </a:solidFill>
                <a:latin typeface="微软雅黑" panose="020B0503020204020204" pitchFamily="34" charset="-122"/>
                <a:ea typeface="微软雅黑" panose="020B0503020204020204" pitchFamily="34" charset="-122"/>
              </a:rPr>
              <a:t>危机理论</a:t>
            </a:r>
            <a:endParaRPr lang="en-US" altLang="zh-CN" sz="2800" dirty="0">
              <a:solidFill>
                <a:schemeClr val="accent1"/>
              </a:solidFill>
              <a:latin typeface="微软雅黑" panose="020B0503020204020204" pitchFamily="34" charset="-122"/>
              <a:ea typeface="微软雅黑" panose="020B0503020204020204" pitchFamily="34" charset="-122"/>
            </a:endParaRPr>
          </a:p>
          <a:p>
            <a:pPr marL="457200" lvl="2" indent="-457200">
              <a:lnSpc>
                <a:spcPct val="110000"/>
              </a:lnSpc>
              <a:spcBef>
                <a:spcPts val="1800"/>
              </a:spcBef>
              <a:buFont typeface="+mj-lt"/>
              <a:buAutoNum type="arabicPeriod" startAt="2"/>
            </a:pPr>
            <a:r>
              <a:rPr lang="zh-CN" altLang="en-US" sz="2200" dirty="0">
                <a:latin typeface="微软雅黑" panose="020B0503020204020204" pitchFamily="34" charset="-122"/>
                <a:ea typeface="微软雅黑" panose="020B0503020204020204" pitchFamily="34" charset="-122"/>
              </a:rPr>
              <a:t>主要由心理预期带来的投机性冲击所导致的货币危机</a:t>
            </a:r>
            <a:r>
              <a:rPr lang="en-US" altLang="zh-CN" sz="2200" dirty="0">
                <a:latin typeface="微软雅黑" panose="020B0503020204020204" pitchFamily="34" charset="-122"/>
                <a:ea typeface="微软雅黑" panose="020B0503020204020204" pitchFamily="34" charset="-122"/>
              </a:rPr>
              <a:t>(</a:t>
            </a:r>
            <a:r>
              <a:rPr lang="zh-CN" altLang="en-US" sz="2200" dirty="0">
                <a:latin typeface="微软雅黑" panose="020B0503020204020204" pitchFamily="34" charset="-122"/>
                <a:ea typeface="微软雅黑" panose="020B0503020204020204" pitchFamily="34" charset="-122"/>
              </a:rPr>
              <a:t>第二代货币危机理论</a:t>
            </a:r>
            <a:r>
              <a:rPr lang="en-US" altLang="zh-CN" sz="2200" dirty="0">
                <a:latin typeface="微软雅黑" panose="020B0503020204020204" pitchFamily="34" charset="-122"/>
                <a:ea typeface="微软雅黑" panose="020B0503020204020204" pitchFamily="34" charset="-122"/>
              </a:rPr>
              <a:t>——</a:t>
            </a:r>
            <a:r>
              <a:rPr lang="en-US" altLang="zh-CN" sz="2200" dirty="0" err="1">
                <a:latin typeface="微软雅黑" panose="020B0503020204020204" pitchFamily="34" charset="-122"/>
                <a:ea typeface="微软雅黑" panose="020B0503020204020204" pitchFamily="34" charset="-122"/>
              </a:rPr>
              <a:t>Obstfeld</a:t>
            </a:r>
            <a:r>
              <a:rPr lang="en-US" altLang="zh-CN" sz="2200" dirty="0">
                <a:latin typeface="微软雅黑" panose="020B0503020204020204" pitchFamily="34" charset="-122"/>
                <a:ea typeface="微软雅黑" panose="020B0503020204020204" pitchFamily="34" charset="-122"/>
              </a:rPr>
              <a:t>)</a:t>
            </a:r>
          </a:p>
          <a:p>
            <a:pPr marL="0" lvl="2" indent="457200">
              <a:lnSpc>
                <a:spcPct val="110000"/>
              </a:lnSpc>
              <a:spcBef>
                <a:spcPts val="1800"/>
              </a:spcBef>
              <a:buNone/>
            </a:pPr>
            <a:r>
              <a:rPr lang="zh-CN" altLang="en-US" sz="2200" dirty="0" smtClean="0">
                <a:latin typeface="微软雅黑" panose="020B0503020204020204" pitchFamily="34" charset="-122"/>
                <a:ea typeface="微软雅黑" panose="020B0503020204020204" pitchFamily="34" charset="-122"/>
              </a:rPr>
              <a:t>政府</a:t>
            </a:r>
            <a:r>
              <a:rPr lang="zh-CN" altLang="en-US" sz="2200" dirty="0">
                <a:latin typeface="微软雅黑" panose="020B0503020204020204" pitchFamily="34" charset="-122"/>
                <a:ea typeface="微软雅黑" panose="020B0503020204020204" pitchFamily="34" charset="-122"/>
              </a:rPr>
              <a:t>为抵御投机性冲击而持续提高利率直至最终放弃固定汇率是这一危机发生的一般过程。预期因素决定了货币危机是否会发生、发生到什么程度，而利率水平则是决定固定汇率制度放弃与否的中心变量。</a:t>
            </a:r>
          </a:p>
        </p:txBody>
      </p:sp>
      <p:sp>
        <p:nvSpPr>
          <p:cNvPr id="5" name="页脚占位符 4"/>
          <p:cNvSpPr>
            <a:spLocks noGrp="1"/>
          </p:cNvSpPr>
          <p:nvPr>
            <p:ph type="ftr" sz="quarter" idx="11"/>
          </p:nvPr>
        </p:nvSpPr>
        <p:spPr/>
        <p:txBody>
          <a:bodyPr/>
          <a:lstStyle/>
          <a:p>
            <a:r>
              <a:rPr lang="zh-CN" altLang="en-US" smtClean="0"/>
              <a:t>国际金融学 范小云</a:t>
            </a:r>
            <a:endParaRPr lang="zh-CN" altLang="en-US" dirty="0"/>
          </a:p>
        </p:txBody>
      </p:sp>
    </p:spTree>
    <p:extLst>
      <p:ext uri="{BB962C8B-B14F-4D97-AF65-F5344CB8AC3E}">
        <p14:creationId xmlns:p14="http://schemas.microsoft.com/office/powerpoint/2010/main" val="428712170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第三节	现代国际金融危机理论</a:t>
            </a:r>
            <a:endParaRPr lang="zh-CN" dirty="0"/>
          </a:p>
        </p:txBody>
      </p:sp>
      <p:sp>
        <p:nvSpPr>
          <p:cNvPr id="3" name="内容占位符 2"/>
          <p:cNvSpPr>
            <a:spLocks noGrp="1"/>
          </p:cNvSpPr>
          <p:nvPr>
            <p:ph idx="1"/>
          </p:nvPr>
        </p:nvSpPr>
        <p:spPr>
          <a:xfrm>
            <a:off x="971550" y="1447799"/>
            <a:ext cx="7200900" cy="4841879"/>
          </a:xfrm>
        </p:spPr>
        <p:txBody>
          <a:bodyPr>
            <a:normAutofit lnSpcReduction="10000"/>
          </a:bodyPr>
          <a:lstStyle/>
          <a:p>
            <a:pPr marL="0" lvl="2" indent="0">
              <a:lnSpc>
                <a:spcPct val="110000"/>
              </a:lnSpc>
              <a:spcBef>
                <a:spcPts val="1800"/>
              </a:spcBef>
              <a:buNone/>
            </a:pPr>
            <a:r>
              <a:rPr lang="zh-CN" altLang="en-US" sz="2800" dirty="0" smtClean="0">
                <a:solidFill>
                  <a:schemeClr val="accent1"/>
                </a:solidFill>
                <a:latin typeface="微软雅黑" panose="020B0503020204020204" pitchFamily="34" charset="-122"/>
                <a:ea typeface="微软雅黑" panose="020B0503020204020204" pitchFamily="34" charset="-122"/>
              </a:rPr>
              <a:t>一、传统三代</a:t>
            </a:r>
            <a:r>
              <a:rPr altLang="en-US" sz="2800" dirty="0" smtClean="0">
                <a:solidFill>
                  <a:schemeClr val="accent1"/>
                </a:solidFill>
                <a:latin typeface="微软雅黑" panose="020B0503020204020204" pitchFamily="34" charset="-122"/>
                <a:ea typeface="微软雅黑" panose="020B0503020204020204" pitchFamily="34" charset="-122"/>
              </a:rPr>
              <a:t>货币</a:t>
            </a:r>
            <a:r>
              <a:rPr lang="zh-CN" altLang="en-US" sz="2800" dirty="0" smtClean="0">
                <a:solidFill>
                  <a:schemeClr val="accent1"/>
                </a:solidFill>
                <a:latin typeface="微软雅黑" panose="020B0503020204020204" pitchFamily="34" charset="-122"/>
                <a:ea typeface="微软雅黑" panose="020B0503020204020204" pitchFamily="34" charset="-122"/>
              </a:rPr>
              <a:t>危机理论</a:t>
            </a:r>
            <a:endParaRPr lang="en-US" altLang="zh-CN" sz="2800" dirty="0">
              <a:solidFill>
                <a:schemeClr val="accent1"/>
              </a:solidFill>
              <a:latin typeface="微软雅黑" panose="020B0503020204020204" pitchFamily="34" charset="-122"/>
              <a:ea typeface="微软雅黑" panose="020B0503020204020204" pitchFamily="34" charset="-122"/>
            </a:endParaRPr>
          </a:p>
          <a:p>
            <a:pPr marL="457200" lvl="2" indent="-457200">
              <a:lnSpc>
                <a:spcPct val="110000"/>
              </a:lnSpc>
              <a:spcBef>
                <a:spcPts val="1800"/>
              </a:spcBef>
              <a:buFont typeface="+mj-lt"/>
              <a:buAutoNum type="arabicPeriod" startAt="3"/>
            </a:pPr>
            <a:r>
              <a:rPr lang="zh-CN" altLang="en-US" sz="2200" dirty="0">
                <a:latin typeface="微软雅黑" panose="020B0503020204020204" pitchFamily="34" charset="-122"/>
                <a:ea typeface="微软雅黑" panose="020B0503020204020204" pitchFamily="34" charset="-122"/>
              </a:rPr>
              <a:t>第三代货币危机理论</a:t>
            </a:r>
          </a:p>
          <a:p>
            <a:pPr marL="0" lvl="2" indent="457200">
              <a:lnSpc>
                <a:spcPct val="110000"/>
              </a:lnSpc>
              <a:spcBef>
                <a:spcPts val="1800"/>
              </a:spcBef>
              <a:buNone/>
            </a:pPr>
            <a:r>
              <a:rPr lang="zh-CN" altLang="en-US" sz="2200" dirty="0">
                <a:solidFill>
                  <a:schemeClr val="accent1"/>
                </a:solidFill>
                <a:latin typeface="微软雅黑" panose="020B0503020204020204" pitchFamily="34" charset="-122"/>
                <a:ea typeface="微软雅黑" panose="020B0503020204020204" pitchFamily="34" charset="-122"/>
              </a:rPr>
              <a:t>道德风险</a:t>
            </a:r>
            <a:r>
              <a:rPr lang="zh-CN" altLang="en-US" sz="2200" dirty="0" smtClean="0">
                <a:solidFill>
                  <a:schemeClr val="accent1"/>
                </a:solidFill>
                <a:latin typeface="微软雅黑" panose="020B0503020204020204" pitchFamily="34" charset="-122"/>
                <a:ea typeface="微软雅黑" panose="020B0503020204020204" pitchFamily="34" charset="-122"/>
              </a:rPr>
              <a:t>论</a:t>
            </a:r>
            <a:endParaRPr lang="en-US" altLang="zh-CN" sz="2200" dirty="0" smtClean="0">
              <a:solidFill>
                <a:schemeClr val="accent1"/>
              </a:solidFill>
              <a:latin typeface="微软雅黑" panose="020B0503020204020204" pitchFamily="34" charset="-122"/>
              <a:ea typeface="微软雅黑" panose="020B0503020204020204" pitchFamily="34" charset="-122"/>
            </a:endParaRPr>
          </a:p>
          <a:p>
            <a:pPr marL="0" lvl="2" indent="457200">
              <a:lnSpc>
                <a:spcPct val="110000"/>
              </a:lnSpc>
              <a:spcBef>
                <a:spcPts val="1800"/>
              </a:spcBef>
              <a:buNone/>
            </a:pPr>
            <a:r>
              <a:rPr lang="zh-CN" altLang="en-US" sz="2200" dirty="0">
                <a:latin typeface="微软雅黑" panose="020B0503020204020204" pitchFamily="34" charset="-122"/>
                <a:ea typeface="微软雅黑" panose="020B0503020204020204" pitchFamily="34" charset="-122"/>
              </a:rPr>
              <a:t>由于政府对金融中介的隐性担保以及监管不力，导致金融中介存在严重的道德风险问题：</a:t>
            </a:r>
          </a:p>
          <a:p>
            <a:pPr marL="571500" lvl="3" indent="-342900">
              <a:lnSpc>
                <a:spcPct val="110000"/>
              </a:lnSpc>
              <a:spcBef>
                <a:spcPts val="1800"/>
              </a:spcBef>
              <a:buFont typeface="Wingdings" panose="05000000000000000000" pitchFamily="2" charset="2"/>
              <a:buChar char="Ø"/>
            </a:pPr>
            <a:r>
              <a:rPr lang="zh-CN" altLang="en-US" sz="2000" dirty="0">
                <a:latin typeface="微软雅黑" panose="020B0503020204020204" pitchFamily="34" charset="-122"/>
                <a:ea typeface="微软雅黑" panose="020B0503020204020204" pitchFamily="34" charset="-122"/>
              </a:rPr>
              <a:t>金融中介的经理会选择高风险项目，将过多风险贷款投向房地产和证券市场，导致资产泡沫产生；</a:t>
            </a:r>
          </a:p>
          <a:p>
            <a:pPr marL="571500" lvl="3" indent="-342900">
              <a:lnSpc>
                <a:spcPct val="110000"/>
              </a:lnSpc>
              <a:spcBef>
                <a:spcPts val="1800"/>
              </a:spcBef>
              <a:buFont typeface="Wingdings" panose="05000000000000000000" pitchFamily="2" charset="2"/>
              <a:buChar char="Ø"/>
            </a:pPr>
            <a:r>
              <a:rPr lang="zh-CN" altLang="en-US" sz="2000" dirty="0">
                <a:latin typeface="微软雅黑" panose="020B0503020204020204" pitchFamily="34" charset="-122"/>
                <a:ea typeface="微软雅黑" panose="020B0503020204020204" pitchFamily="34" charset="-122"/>
              </a:rPr>
              <a:t>国外债权人会低估东道国金融中介资产组合的真实风险，愿意借钱给金融中介或为那些无利可图和高风险的工程和企业融资；</a:t>
            </a:r>
          </a:p>
        </p:txBody>
      </p:sp>
      <p:sp>
        <p:nvSpPr>
          <p:cNvPr id="5" name="页脚占位符 4"/>
          <p:cNvSpPr>
            <a:spLocks noGrp="1"/>
          </p:cNvSpPr>
          <p:nvPr>
            <p:ph type="ftr" sz="quarter" idx="11"/>
          </p:nvPr>
        </p:nvSpPr>
        <p:spPr/>
        <p:txBody>
          <a:bodyPr/>
          <a:lstStyle/>
          <a:p>
            <a:r>
              <a:rPr lang="zh-CN" altLang="en-US" smtClean="0"/>
              <a:t>国际金融学 范小云</a:t>
            </a:r>
            <a:endParaRPr lang="zh-CN" altLang="en-US" dirty="0"/>
          </a:p>
        </p:txBody>
      </p:sp>
    </p:spTree>
    <p:extLst>
      <p:ext uri="{BB962C8B-B14F-4D97-AF65-F5344CB8AC3E}">
        <p14:creationId xmlns:p14="http://schemas.microsoft.com/office/powerpoint/2010/main" val="382456784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animEffect transition="in" filter="fade">
                                      <p:cBhvr>
                                        <p:cTn id="7" dur="500"/>
                                        <p:tgtEl>
                                          <p:spTgt spid="3">
                                            <p:txEl>
                                              <p:pRg st="2" end="2"/>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3" end="3"/>
                                            </p:txEl>
                                          </p:spTgt>
                                        </p:tgtEl>
                                        <p:attrNameLst>
                                          <p:attrName>style.visibility</p:attrName>
                                        </p:attrNameLst>
                                      </p:cBhvr>
                                      <p:to>
                                        <p:strVal val="visible"/>
                                      </p:to>
                                    </p:set>
                                    <p:animEffect transition="in" filter="fade">
                                      <p:cBhvr>
                                        <p:cTn id="12" dur="500"/>
                                        <p:tgtEl>
                                          <p:spTgt spid="3">
                                            <p:txEl>
                                              <p:pRg st="3" end="3"/>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
                                            <p:txEl>
                                              <p:pRg st="4" end="4"/>
                                            </p:txEl>
                                          </p:spTgt>
                                        </p:tgtEl>
                                        <p:attrNameLst>
                                          <p:attrName>style.visibility</p:attrName>
                                        </p:attrNameLst>
                                      </p:cBhvr>
                                      <p:to>
                                        <p:strVal val="visible"/>
                                      </p:to>
                                    </p:set>
                                    <p:animEffect transition="in" filter="fade">
                                      <p:cBhvr>
                                        <p:cTn id="17" dur="500"/>
                                        <p:tgtEl>
                                          <p:spTgt spid="3">
                                            <p:txEl>
                                              <p:pRg st="4" end="4"/>
                                            </p:txEl>
                                          </p:spTgt>
                                        </p:tgtEl>
                                      </p:cBhvr>
                                    </p:animEffect>
                                  </p:childTnLst>
                                </p:cTn>
                              </p:par>
                              <p:par>
                                <p:cTn id="18" presetID="10" presetClass="entr" presetSubtype="0" fill="hold" nodeType="withEffect">
                                  <p:stCondLst>
                                    <p:cond delay="0"/>
                                  </p:stCondLst>
                                  <p:childTnLst>
                                    <p:set>
                                      <p:cBhvr>
                                        <p:cTn id="19" dur="1" fill="hold">
                                          <p:stCondLst>
                                            <p:cond delay="0"/>
                                          </p:stCondLst>
                                        </p:cTn>
                                        <p:tgtEl>
                                          <p:spTgt spid="3">
                                            <p:txEl>
                                              <p:pRg st="5" end="5"/>
                                            </p:txEl>
                                          </p:spTgt>
                                        </p:tgtEl>
                                        <p:attrNameLst>
                                          <p:attrName>style.visibility</p:attrName>
                                        </p:attrNameLst>
                                      </p:cBhvr>
                                      <p:to>
                                        <p:strVal val="visible"/>
                                      </p:to>
                                    </p:set>
                                    <p:animEffect transition="in" filter="fade">
                                      <p:cBhvr>
                                        <p:cTn id="20" dur="500"/>
                                        <p:tgtEl>
                                          <p:spTgt spid="3">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第三节	现代国际金融危机理论</a:t>
            </a:r>
            <a:endParaRPr lang="zh-CN" dirty="0"/>
          </a:p>
        </p:txBody>
      </p:sp>
      <p:sp>
        <p:nvSpPr>
          <p:cNvPr id="3" name="内容占位符 2"/>
          <p:cNvSpPr>
            <a:spLocks noGrp="1"/>
          </p:cNvSpPr>
          <p:nvPr>
            <p:ph idx="1"/>
          </p:nvPr>
        </p:nvSpPr>
        <p:spPr>
          <a:xfrm>
            <a:off x="971550" y="1447799"/>
            <a:ext cx="7200900" cy="4841879"/>
          </a:xfrm>
        </p:spPr>
        <p:txBody>
          <a:bodyPr>
            <a:normAutofit lnSpcReduction="10000"/>
          </a:bodyPr>
          <a:lstStyle/>
          <a:p>
            <a:pPr marL="0" lvl="2" indent="0">
              <a:lnSpc>
                <a:spcPct val="110000"/>
              </a:lnSpc>
              <a:spcBef>
                <a:spcPts val="1800"/>
              </a:spcBef>
              <a:buNone/>
            </a:pPr>
            <a:r>
              <a:rPr lang="zh-CN" altLang="en-US" sz="2800" dirty="0" smtClean="0">
                <a:solidFill>
                  <a:schemeClr val="accent1"/>
                </a:solidFill>
                <a:latin typeface="微软雅黑" panose="020B0503020204020204" pitchFamily="34" charset="-122"/>
                <a:ea typeface="微软雅黑" panose="020B0503020204020204" pitchFamily="34" charset="-122"/>
              </a:rPr>
              <a:t>一、传统三代</a:t>
            </a:r>
            <a:r>
              <a:rPr altLang="en-US" sz="2800" dirty="0" smtClean="0">
                <a:solidFill>
                  <a:schemeClr val="accent1"/>
                </a:solidFill>
                <a:latin typeface="微软雅黑" panose="020B0503020204020204" pitchFamily="34" charset="-122"/>
                <a:ea typeface="微软雅黑" panose="020B0503020204020204" pitchFamily="34" charset="-122"/>
              </a:rPr>
              <a:t>货币</a:t>
            </a:r>
            <a:r>
              <a:rPr lang="zh-CN" altLang="en-US" sz="2800" dirty="0" smtClean="0">
                <a:solidFill>
                  <a:schemeClr val="accent1"/>
                </a:solidFill>
                <a:latin typeface="微软雅黑" panose="020B0503020204020204" pitchFamily="34" charset="-122"/>
                <a:ea typeface="微软雅黑" panose="020B0503020204020204" pitchFamily="34" charset="-122"/>
              </a:rPr>
              <a:t>危机理论</a:t>
            </a:r>
            <a:endParaRPr lang="en-US" altLang="zh-CN" sz="2800" dirty="0">
              <a:solidFill>
                <a:schemeClr val="accent1"/>
              </a:solidFill>
              <a:latin typeface="微软雅黑" panose="020B0503020204020204" pitchFamily="34" charset="-122"/>
              <a:ea typeface="微软雅黑" panose="020B0503020204020204" pitchFamily="34" charset="-122"/>
            </a:endParaRPr>
          </a:p>
          <a:p>
            <a:pPr marL="457200" lvl="2" indent="-457200">
              <a:lnSpc>
                <a:spcPct val="110000"/>
              </a:lnSpc>
              <a:spcBef>
                <a:spcPts val="1800"/>
              </a:spcBef>
              <a:buFont typeface="+mj-lt"/>
              <a:buAutoNum type="arabicPeriod" startAt="3"/>
            </a:pPr>
            <a:r>
              <a:rPr lang="zh-CN" altLang="en-US" sz="2200" dirty="0">
                <a:latin typeface="微软雅黑" panose="020B0503020204020204" pitchFamily="34" charset="-122"/>
                <a:ea typeface="微软雅黑" panose="020B0503020204020204" pitchFamily="34" charset="-122"/>
              </a:rPr>
              <a:t>第三代货币危机理论</a:t>
            </a:r>
          </a:p>
          <a:p>
            <a:pPr marL="0" lvl="2" indent="457200">
              <a:lnSpc>
                <a:spcPct val="110000"/>
              </a:lnSpc>
              <a:spcBef>
                <a:spcPts val="1800"/>
              </a:spcBef>
              <a:buNone/>
            </a:pPr>
            <a:r>
              <a:rPr lang="zh-CN" altLang="en-US" sz="2200" dirty="0" smtClean="0">
                <a:solidFill>
                  <a:schemeClr val="accent1"/>
                </a:solidFill>
                <a:latin typeface="微软雅黑" panose="020B0503020204020204" pitchFamily="34" charset="-122"/>
                <a:ea typeface="微软雅黑" panose="020B0503020204020204" pitchFamily="34" charset="-122"/>
              </a:rPr>
              <a:t>道德</a:t>
            </a:r>
            <a:r>
              <a:rPr lang="zh-CN" altLang="en-US" sz="2200" dirty="0">
                <a:solidFill>
                  <a:schemeClr val="accent1"/>
                </a:solidFill>
                <a:latin typeface="微软雅黑" panose="020B0503020204020204" pitchFamily="34" charset="-122"/>
                <a:ea typeface="微软雅黑" panose="020B0503020204020204" pitchFamily="34" charset="-122"/>
              </a:rPr>
              <a:t>风险</a:t>
            </a:r>
            <a:r>
              <a:rPr lang="zh-CN" altLang="en-US" sz="2200" dirty="0" smtClean="0">
                <a:solidFill>
                  <a:schemeClr val="accent1"/>
                </a:solidFill>
                <a:latin typeface="微软雅黑" panose="020B0503020204020204" pitchFamily="34" charset="-122"/>
                <a:ea typeface="微软雅黑" panose="020B0503020204020204" pitchFamily="34" charset="-122"/>
              </a:rPr>
              <a:t>论</a:t>
            </a:r>
            <a:endParaRPr lang="en-US" altLang="zh-CN" sz="2200" dirty="0" smtClean="0">
              <a:solidFill>
                <a:schemeClr val="accent1"/>
              </a:solidFill>
              <a:latin typeface="微软雅黑" panose="020B0503020204020204" pitchFamily="34" charset="-122"/>
              <a:ea typeface="微软雅黑" panose="020B0503020204020204" pitchFamily="34" charset="-122"/>
            </a:endParaRPr>
          </a:p>
          <a:p>
            <a:pPr marL="571500" lvl="3" indent="-342900">
              <a:lnSpc>
                <a:spcPct val="110000"/>
              </a:lnSpc>
              <a:spcBef>
                <a:spcPts val="1800"/>
              </a:spcBef>
              <a:buFont typeface="Wingdings" panose="05000000000000000000" pitchFamily="2" charset="2"/>
              <a:buChar char="Ø"/>
            </a:pPr>
            <a:r>
              <a:rPr lang="zh-CN" altLang="en-US" sz="2000" dirty="0" smtClean="0">
                <a:latin typeface="微软雅黑" panose="020B0503020204020204" pitchFamily="34" charset="-122"/>
                <a:ea typeface="微软雅黑" panose="020B0503020204020204" pitchFamily="34" charset="-122"/>
              </a:rPr>
              <a:t>随着</a:t>
            </a:r>
            <a:r>
              <a:rPr lang="zh-CN" altLang="en-US" sz="2000" dirty="0">
                <a:latin typeface="微软雅黑" panose="020B0503020204020204" pitchFamily="34" charset="-122"/>
                <a:ea typeface="微软雅黑" panose="020B0503020204020204" pitchFamily="34" charset="-122"/>
              </a:rPr>
              <a:t>金融中介以外币计价的负债比例上升、以本币计价的资产风险不断加大，关于金融中介资产未来回报的不利消息或不利预期就会引发国外投资者对国内金融中介的挤兑，产生对外汇储备的突然需求，迫使货币贬值；</a:t>
            </a:r>
          </a:p>
          <a:p>
            <a:pPr marL="571500" lvl="3" indent="-342900">
              <a:lnSpc>
                <a:spcPct val="110000"/>
              </a:lnSpc>
              <a:spcBef>
                <a:spcPts val="1800"/>
              </a:spcBef>
              <a:buFont typeface="Wingdings" panose="05000000000000000000" pitchFamily="2" charset="2"/>
              <a:buChar char="Ø"/>
            </a:pPr>
            <a:r>
              <a:rPr lang="zh-CN" altLang="en-US" sz="2000" dirty="0">
                <a:latin typeface="微软雅黑" panose="020B0503020204020204" pitchFamily="34" charset="-122"/>
                <a:ea typeface="微软雅黑" panose="020B0503020204020204" pitchFamily="34" charset="-122"/>
              </a:rPr>
              <a:t>国外债权人不愿对国内积累的企业损失进行融资时，就迫使政府介入，对企业挽救，如果政府求助于扩张性政策，可能会引发第一代模型所描述的预期引起投机性冲击导致货币危机。</a:t>
            </a:r>
          </a:p>
        </p:txBody>
      </p:sp>
      <p:sp>
        <p:nvSpPr>
          <p:cNvPr id="5" name="页脚占位符 4"/>
          <p:cNvSpPr>
            <a:spLocks noGrp="1"/>
          </p:cNvSpPr>
          <p:nvPr>
            <p:ph type="ftr" sz="quarter" idx="11"/>
          </p:nvPr>
        </p:nvSpPr>
        <p:spPr/>
        <p:txBody>
          <a:bodyPr/>
          <a:lstStyle/>
          <a:p>
            <a:r>
              <a:rPr lang="zh-CN" altLang="en-US" smtClean="0"/>
              <a:t>国际金融学 范小云</a:t>
            </a:r>
            <a:endParaRPr lang="zh-CN" altLang="en-US" dirty="0"/>
          </a:p>
        </p:txBody>
      </p:sp>
    </p:spTree>
    <p:extLst>
      <p:ext uri="{BB962C8B-B14F-4D97-AF65-F5344CB8AC3E}">
        <p14:creationId xmlns:p14="http://schemas.microsoft.com/office/powerpoint/2010/main" val="122758151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3" end="3"/>
                                            </p:txEl>
                                          </p:spTgt>
                                        </p:tgtEl>
                                        <p:attrNameLst>
                                          <p:attrName>style.visibility</p:attrName>
                                        </p:attrNameLst>
                                      </p:cBhvr>
                                      <p:to>
                                        <p:strVal val="visible"/>
                                      </p:to>
                                    </p:set>
                                    <p:animEffect transition="in" filter="fade">
                                      <p:cBhvr>
                                        <p:cTn id="7" dur="500"/>
                                        <p:tgtEl>
                                          <p:spTgt spid="3">
                                            <p:txEl>
                                              <p:pRg st="3" end="3"/>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3">
                                            <p:txEl>
                                              <p:pRg st="4" end="4"/>
                                            </p:txEl>
                                          </p:spTgt>
                                        </p:tgtEl>
                                        <p:attrNameLst>
                                          <p:attrName>style.visibility</p:attrName>
                                        </p:attrNameLst>
                                      </p:cBhvr>
                                      <p:to>
                                        <p:strVal val="visible"/>
                                      </p:to>
                                    </p:set>
                                    <p:animEffect transition="in" filter="fade">
                                      <p:cBhvr>
                                        <p:cTn id="10" dur="500"/>
                                        <p:tgtEl>
                                          <p:spTgt spid="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第三节	现代国际金融危机理论</a:t>
            </a:r>
            <a:endParaRPr lang="zh-CN" dirty="0"/>
          </a:p>
        </p:txBody>
      </p:sp>
      <p:sp>
        <p:nvSpPr>
          <p:cNvPr id="3" name="内容占位符 2"/>
          <p:cNvSpPr>
            <a:spLocks noGrp="1"/>
          </p:cNvSpPr>
          <p:nvPr>
            <p:ph idx="1"/>
          </p:nvPr>
        </p:nvSpPr>
        <p:spPr>
          <a:xfrm>
            <a:off x="971550" y="1447799"/>
            <a:ext cx="7200900" cy="4841879"/>
          </a:xfrm>
        </p:spPr>
        <p:txBody>
          <a:bodyPr>
            <a:normAutofit lnSpcReduction="10000"/>
          </a:bodyPr>
          <a:lstStyle/>
          <a:p>
            <a:pPr marL="0" lvl="2" indent="0">
              <a:lnSpc>
                <a:spcPct val="110000"/>
              </a:lnSpc>
              <a:spcBef>
                <a:spcPts val="1800"/>
              </a:spcBef>
              <a:buNone/>
            </a:pPr>
            <a:r>
              <a:rPr lang="zh-CN" altLang="en-US" sz="2800" dirty="0" smtClean="0">
                <a:solidFill>
                  <a:schemeClr val="accent1"/>
                </a:solidFill>
                <a:latin typeface="微软雅黑" panose="020B0503020204020204" pitchFamily="34" charset="-122"/>
                <a:ea typeface="微软雅黑" panose="020B0503020204020204" pitchFamily="34" charset="-122"/>
              </a:rPr>
              <a:t>一、传统三代</a:t>
            </a:r>
            <a:r>
              <a:rPr altLang="en-US" sz="2800" dirty="0" smtClean="0">
                <a:solidFill>
                  <a:schemeClr val="accent1"/>
                </a:solidFill>
                <a:latin typeface="微软雅黑" panose="020B0503020204020204" pitchFamily="34" charset="-122"/>
                <a:ea typeface="微软雅黑" panose="020B0503020204020204" pitchFamily="34" charset="-122"/>
              </a:rPr>
              <a:t>货币</a:t>
            </a:r>
            <a:r>
              <a:rPr lang="zh-CN" altLang="en-US" sz="2800" dirty="0" smtClean="0">
                <a:solidFill>
                  <a:schemeClr val="accent1"/>
                </a:solidFill>
                <a:latin typeface="微软雅黑" panose="020B0503020204020204" pitchFamily="34" charset="-122"/>
                <a:ea typeface="微软雅黑" panose="020B0503020204020204" pitchFamily="34" charset="-122"/>
              </a:rPr>
              <a:t>危机理论</a:t>
            </a:r>
            <a:endParaRPr lang="en-US" altLang="zh-CN" sz="2800" dirty="0">
              <a:solidFill>
                <a:schemeClr val="accent1"/>
              </a:solidFill>
              <a:latin typeface="微软雅黑" panose="020B0503020204020204" pitchFamily="34" charset="-122"/>
              <a:ea typeface="微软雅黑" panose="020B0503020204020204" pitchFamily="34" charset="-122"/>
            </a:endParaRPr>
          </a:p>
          <a:p>
            <a:pPr marL="457200" lvl="2" indent="-457200">
              <a:lnSpc>
                <a:spcPct val="110000"/>
              </a:lnSpc>
              <a:spcBef>
                <a:spcPts val="1800"/>
              </a:spcBef>
              <a:buFont typeface="+mj-lt"/>
              <a:buAutoNum type="arabicPeriod" startAt="3"/>
            </a:pPr>
            <a:r>
              <a:rPr lang="zh-CN" altLang="en-US" sz="2200" dirty="0">
                <a:latin typeface="微软雅黑" panose="020B0503020204020204" pitchFamily="34" charset="-122"/>
                <a:ea typeface="微软雅黑" panose="020B0503020204020204" pitchFamily="34" charset="-122"/>
              </a:rPr>
              <a:t>第三代货币危机理论</a:t>
            </a:r>
          </a:p>
          <a:p>
            <a:pPr marL="0" lvl="2" indent="457200">
              <a:lnSpc>
                <a:spcPct val="110000"/>
              </a:lnSpc>
              <a:spcBef>
                <a:spcPts val="1800"/>
              </a:spcBef>
              <a:buNone/>
            </a:pPr>
            <a:r>
              <a:rPr lang="zh-CN" altLang="en-US" sz="2200" dirty="0" smtClean="0">
                <a:solidFill>
                  <a:schemeClr val="accent1"/>
                </a:solidFill>
                <a:latin typeface="微软雅黑" panose="020B0503020204020204" pitchFamily="34" charset="-122"/>
                <a:ea typeface="微软雅黑" panose="020B0503020204020204" pitchFamily="34" charset="-122"/>
              </a:rPr>
              <a:t>金融</a:t>
            </a:r>
            <a:r>
              <a:rPr lang="zh-CN" altLang="en-US" sz="2200" dirty="0">
                <a:solidFill>
                  <a:schemeClr val="accent1"/>
                </a:solidFill>
                <a:latin typeface="微软雅黑" panose="020B0503020204020204" pitchFamily="34" charset="-122"/>
                <a:ea typeface="微软雅黑" panose="020B0503020204020204" pitchFamily="34" charset="-122"/>
              </a:rPr>
              <a:t>恐慌论</a:t>
            </a:r>
          </a:p>
          <a:p>
            <a:pPr marL="571500" lvl="3" indent="-342900">
              <a:lnSpc>
                <a:spcPct val="110000"/>
              </a:lnSpc>
              <a:spcBef>
                <a:spcPts val="1800"/>
              </a:spcBef>
              <a:buFont typeface="Wingdings" panose="05000000000000000000" pitchFamily="2" charset="2"/>
              <a:buChar char="Ø"/>
            </a:pPr>
            <a:r>
              <a:rPr lang="zh-CN" altLang="en-US" sz="2000" dirty="0">
                <a:latin typeface="微软雅黑" panose="020B0503020204020204" pitchFamily="34" charset="-122"/>
                <a:ea typeface="微软雅黑" panose="020B0503020204020204" pitchFamily="34" charset="-122"/>
              </a:rPr>
              <a:t>货币危机的本质与经典的银行挤兑模型相似，只是在国际程度上的挤兑而已。</a:t>
            </a:r>
          </a:p>
          <a:p>
            <a:pPr marL="571500" lvl="3" indent="-342900">
              <a:lnSpc>
                <a:spcPct val="110000"/>
              </a:lnSpc>
              <a:spcBef>
                <a:spcPts val="1800"/>
              </a:spcBef>
              <a:buFont typeface="Wingdings" panose="05000000000000000000" pitchFamily="2" charset="2"/>
              <a:buChar char="Ø"/>
            </a:pPr>
            <a:r>
              <a:rPr lang="zh-CN" altLang="en-US" sz="2000" dirty="0">
                <a:latin typeface="微软雅黑" panose="020B0503020204020204" pitchFamily="34" charset="-122"/>
                <a:ea typeface="微软雅黑" panose="020B0503020204020204" pitchFamily="34" charset="-122"/>
              </a:rPr>
              <a:t>货币危机发生的国家不是从长期上无力偿还外债，而是短期的流动性不足。通过国内金融机构，短期外债被转化为缺少流动性的长期贷款。这种短期债务与长期资产在期限上的不匹配性，容易使投资者产生恐慌心理，使得外资撤离该国或该地区，导致了该国或该地区资产价格的下降以及货币的贬值。</a:t>
            </a:r>
          </a:p>
        </p:txBody>
      </p:sp>
      <p:sp>
        <p:nvSpPr>
          <p:cNvPr id="5" name="页脚占位符 4"/>
          <p:cNvSpPr>
            <a:spLocks noGrp="1"/>
          </p:cNvSpPr>
          <p:nvPr>
            <p:ph type="ftr" sz="quarter" idx="11"/>
          </p:nvPr>
        </p:nvSpPr>
        <p:spPr/>
        <p:txBody>
          <a:bodyPr/>
          <a:lstStyle/>
          <a:p>
            <a:r>
              <a:rPr lang="zh-CN" altLang="en-US" smtClean="0"/>
              <a:t>国际金融学 范小云</a:t>
            </a:r>
            <a:endParaRPr lang="zh-CN" altLang="en-US" dirty="0"/>
          </a:p>
        </p:txBody>
      </p:sp>
    </p:spTree>
    <p:extLst>
      <p:ext uri="{BB962C8B-B14F-4D97-AF65-F5344CB8AC3E}">
        <p14:creationId xmlns:p14="http://schemas.microsoft.com/office/powerpoint/2010/main" val="397059154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animEffect transition="in" filter="fade">
                                      <p:cBhvr>
                                        <p:cTn id="7" dur="500"/>
                                        <p:tgtEl>
                                          <p:spTgt spid="3">
                                            <p:txEl>
                                              <p:pRg st="2" end="2"/>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
                                            <p:txEl>
                                              <p:pRg st="3" end="3"/>
                                            </p:txEl>
                                          </p:spTgt>
                                        </p:tgtEl>
                                        <p:attrNameLst>
                                          <p:attrName>style.visibility</p:attrName>
                                        </p:attrNameLst>
                                      </p:cBhvr>
                                      <p:to>
                                        <p:strVal val="visible"/>
                                      </p:to>
                                    </p:set>
                                    <p:animEffect transition="in" filter="fade">
                                      <p:cBhvr>
                                        <p:cTn id="17" dur="500"/>
                                        <p:tgtEl>
                                          <p:spTgt spid="3">
                                            <p:txEl>
                                              <p:pRg st="3" end="3"/>
                                            </p:txEl>
                                          </p:spTgt>
                                        </p:tgtEl>
                                      </p:cBhvr>
                                    </p:animEffect>
                                  </p:childTnLst>
                                </p:cTn>
                              </p:par>
                              <p:par>
                                <p:cTn id="18" presetID="10" presetClass="entr" presetSubtype="0" fill="hold" nodeType="withEffect">
                                  <p:stCondLst>
                                    <p:cond delay="0"/>
                                  </p:stCondLst>
                                  <p:childTnLst>
                                    <p:set>
                                      <p:cBhvr>
                                        <p:cTn id="19" dur="1" fill="hold">
                                          <p:stCondLst>
                                            <p:cond delay="0"/>
                                          </p:stCondLst>
                                        </p:cTn>
                                        <p:tgtEl>
                                          <p:spTgt spid="3">
                                            <p:txEl>
                                              <p:pRg st="4" end="4"/>
                                            </p:txEl>
                                          </p:spTgt>
                                        </p:tgtEl>
                                        <p:attrNameLst>
                                          <p:attrName>style.visibility</p:attrName>
                                        </p:attrNameLst>
                                      </p:cBhvr>
                                      <p:to>
                                        <p:strVal val="visible"/>
                                      </p:to>
                                    </p:set>
                                    <p:animEffect transition="in" filter="fade">
                                      <p:cBhvr>
                                        <p:cTn id="20" dur="500"/>
                                        <p:tgtEl>
                                          <p:spTgt spid="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第三节	现代国际金融危机理论</a:t>
            </a:r>
            <a:endParaRPr lang="zh-CN" dirty="0"/>
          </a:p>
        </p:txBody>
      </p:sp>
      <p:sp>
        <p:nvSpPr>
          <p:cNvPr id="3" name="内容占位符 2"/>
          <p:cNvSpPr>
            <a:spLocks noGrp="1"/>
          </p:cNvSpPr>
          <p:nvPr>
            <p:ph idx="1"/>
          </p:nvPr>
        </p:nvSpPr>
        <p:spPr>
          <a:xfrm>
            <a:off x="971550" y="1447799"/>
            <a:ext cx="7200900" cy="4841879"/>
          </a:xfrm>
        </p:spPr>
        <p:txBody>
          <a:bodyPr>
            <a:normAutofit/>
          </a:bodyPr>
          <a:lstStyle/>
          <a:p>
            <a:pPr marL="0" lvl="2" indent="0">
              <a:lnSpc>
                <a:spcPct val="110000"/>
              </a:lnSpc>
              <a:spcBef>
                <a:spcPts val="1800"/>
              </a:spcBef>
              <a:buNone/>
            </a:pPr>
            <a:r>
              <a:rPr lang="zh-CN" altLang="en-US" sz="2800" dirty="0">
                <a:solidFill>
                  <a:schemeClr val="accent1"/>
                </a:solidFill>
                <a:latin typeface="微软雅黑" panose="020B0503020204020204" pitchFamily="34" charset="-122"/>
                <a:ea typeface="微软雅黑" panose="020B0503020204020204" pitchFamily="34" charset="-122"/>
              </a:rPr>
              <a:t>二、次贷危机后金融危机理论的最新发展</a:t>
            </a:r>
          </a:p>
          <a:p>
            <a:pPr marL="0" lvl="2" indent="457200">
              <a:lnSpc>
                <a:spcPct val="110000"/>
              </a:lnSpc>
              <a:spcBef>
                <a:spcPts val="1800"/>
              </a:spcBef>
              <a:buNone/>
            </a:pPr>
            <a:r>
              <a:rPr lang="zh-CN" altLang="en-US" sz="2400" dirty="0">
                <a:solidFill>
                  <a:schemeClr val="accent1"/>
                </a:solidFill>
                <a:latin typeface="微软雅黑" panose="020B0503020204020204" pitchFamily="34" charset="-122"/>
                <a:ea typeface="微软雅黑" panose="020B0503020204020204" pitchFamily="34" charset="-122"/>
              </a:rPr>
              <a:t>新型金融危机？</a:t>
            </a:r>
          </a:p>
          <a:p>
            <a:pPr marL="0" lvl="2" indent="457200">
              <a:lnSpc>
                <a:spcPct val="110000"/>
              </a:lnSpc>
              <a:spcBef>
                <a:spcPts val="1800"/>
              </a:spcBef>
              <a:buNone/>
            </a:pPr>
            <a:r>
              <a:rPr lang="zh-CN" altLang="en-US" sz="2200" dirty="0">
                <a:solidFill>
                  <a:schemeClr val="accent1"/>
                </a:solidFill>
                <a:latin typeface="微软雅黑" panose="020B0503020204020204" pitchFamily="34" charset="-122"/>
                <a:ea typeface="微软雅黑" panose="020B0503020204020204" pitchFamily="34" charset="-122"/>
              </a:rPr>
              <a:t>第一，</a:t>
            </a:r>
            <a:r>
              <a:rPr lang="zh-CN" altLang="en-US" sz="2200" dirty="0">
                <a:latin typeface="微软雅黑" panose="020B0503020204020204" pitchFamily="34" charset="-122"/>
                <a:ea typeface="微软雅黑" panose="020B0503020204020204" pitchFamily="34" charset="-122"/>
              </a:rPr>
              <a:t>诱发因素上更具综合性、多元化。危机的触发既有系统性因素，也有偶发性因素。如斯蒂格利茨（</a:t>
            </a:r>
            <a:r>
              <a:rPr lang="en-US" altLang="zh-CN" sz="2200" dirty="0" err="1">
                <a:latin typeface="微软雅黑" panose="020B0503020204020204" pitchFamily="34" charset="-122"/>
                <a:ea typeface="微软雅黑" panose="020B0503020204020204" pitchFamily="34" charset="-122"/>
              </a:rPr>
              <a:t>Stiglitz</a:t>
            </a:r>
            <a:r>
              <a:rPr lang="zh-CN" altLang="en-US" sz="2200" dirty="0">
                <a:latin typeface="微软雅黑" panose="020B0503020204020204" pitchFamily="34" charset="-122"/>
                <a:ea typeface="微软雅黑" panose="020B0503020204020204" pitchFamily="34" charset="-122"/>
              </a:rPr>
              <a:t>）认为，金融市场化和金融深化使得新兴市场国家的的系统风险加剧；有人认为是金融创新工具原因（现金流的时间结构及其组合变化，以及由此带来的风险匹配状态的变化）等。</a:t>
            </a:r>
          </a:p>
        </p:txBody>
      </p:sp>
      <p:sp>
        <p:nvSpPr>
          <p:cNvPr id="5" name="页脚占位符 4"/>
          <p:cNvSpPr>
            <a:spLocks noGrp="1"/>
          </p:cNvSpPr>
          <p:nvPr>
            <p:ph type="ftr" sz="quarter" idx="11"/>
          </p:nvPr>
        </p:nvSpPr>
        <p:spPr/>
        <p:txBody>
          <a:bodyPr/>
          <a:lstStyle/>
          <a:p>
            <a:r>
              <a:rPr lang="zh-CN" altLang="en-US" smtClean="0"/>
              <a:t>国际金融学 范小云</a:t>
            </a:r>
            <a:endParaRPr lang="zh-CN" altLang="en-US" dirty="0"/>
          </a:p>
        </p:txBody>
      </p:sp>
    </p:spTree>
    <p:extLst>
      <p:ext uri="{BB962C8B-B14F-4D97-AF65-F5344CB8AC3E}">
        <p14:creationId xmlns:p14="http://schemas.microsoft.com/office/powerpoint/2010/main" val="49922422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Effect transition="in" filter="fade">
                                      <p:cBhvr>
                                        <p:cTn id="7" dur="500"/>
                                        <p:tgtEl>
                                          <p:spTgt spid="3">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2" end="2"/>
                                            </p:txEl>
                                          </p:spTgt>
                                        </p:tgtEl>
                                        <p:attrNameLst>
                                          <p:attrName>style.visibility</p:attrName>
                                        </p:attrNameLst>
                                      </p:cBhvr>
                                      <p:to>
                                        <p:strVal val="visible"/>
                                      </p:to>
                                    </p:set>
                                    <p:animEffect transition="in" filter="fade">
                                      <p:cBhvr>
                                        <p:cTn id="12" dur="500"/>
                                        <p:tgtEl>
                                          <p:spTgt spid="3">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第三节	现代国际金融危机理论</a:t>
            </a:r>
            <a:endParaRPr lang="zh-CN" dirty="0"/>
          </a:p>
        </p:txBody>
      </p:sp>
      <p:sp>
        <p:nvSpPr>
          <p:cNvPr id="3" name="内容占位符 2"/>
          <p:cNvSpPr>
            <a:spLocks noGrp="1"/>
          </p:cNvSpPr>
          <p:nvPr>
            <p:ph idx="1"/>
          </p:nvPr>
        </p:nvSpPr>
        <p:spPr>
          <a:xfrm>
            <a:off x="971550" y="1447799"/>
            <a:ext cx="7200900" cy="4841879"/>
          </a:xfrm>
        </p:spPr>
        <p:txBody>
          <a:bodyPr>
            <a:normAutofit/>
          </a:bodyPr>
          <a:lstStyle/>
          <a:p>
            <a:pPr marL="0" lvl="2" indent="0">
              <a:lnSpc>
                <a:spcPct val="110000"/>
              </a:lnSpc>
              <a:spcBef>
                <a:spcPts val="1800"/>
              </a:spcBef>
              <a:buNone/>
            </a:pPr>
            <a:r>
              <a:rPr lang="zh-CN" altLang="en-US" sz="2800" dirty="0">
                <a:solidFill>
                  <a:schemeClr val="accent1"/>
                </a:solidFill>
                <a:latin typeface="微软雅黑" panose="020B0503020204020204" pitchFamily="34" charset="-122"/>
                <a:ea typeface="微软雅黑" panose="020B0503020204020204" pitchFamily="34" charset="-122"/>
              </a:rPr>
              <a:t>二、次贷危机后金融危机理论的最新发展</a:t>
            </a:r>
          </a:p>
          <a:p>
            <a:pPr marL="0" lvl="2" indent="457200">
              <a:lnSpc>
                <a:spcPct val="110000"/>
              </a:lnSpc>
              <a:spcBef>
                <a:spcPts val="1800"/>
              </a:spcBef>
              <a:buNone/>
            </a:pPr>
            <a:r>
              <a:rPr lang="zh-CN" altLang="en-US" sz="2400" dirty="0">
                <a:solidFill>
                  <a:schemeClr val="accent1"/>
                </a:solidFill>
                <a:latin typeface="微软雅黑" panose="020B0503020204020204" pitchFamily="34" charset="-122"/>
                <a:ea typeface="微软雅黑" panose="020B0503020204020204" pitchFamily="34" charset="-122"/>
              </a:rPr>
              <a:t>新型金融危机？</a:t>
            </a:r>
          </a:p>
          <a:p>
            <a:pPr marL="0" lvl="2" indent="457200">
              <a:lnSpc>
                <a:spcPct val="110000"/>
              </a:lnSpc>
              <a:spcBef>
                <a:spcPts val="1800"/>
              </a:spcBef>
              <a:buNone/>
            </a:pPr>
            <a:r>
              <a:rPr lang="zh-CN" altLang="en-US" sz="2200" dirty="0" smtClean="0">
                <a:solidFill>
                  <a:schemeClr val="accent1"/>
                </a:solidFill>
                <a:latin typeface="微软雅黑" panose="020B0503020204020204" pitchFamily="34" charset="-122"/>
                <a:ea typeface="微软雅黑" panose="020B0503020204020204" pitchFamily="34" charset="-122"/>
              </a:rPr>
              <a:t>第二</a:t>
            </a:r>
            <a:r>
              <a:rPr lang="zh-CN" altLang="en-US" sz="2200" dirty="0">
                <a:solidFill>
                  <a:schemeClr val="accent1"/>
                </a:solidFill>
                <a:latin typeface="微软雅黑" panose="020B0503020204020204" pitchFamily="34" charset="-122"/>
                <a:ea typeface="微软雅黑" panose="020B0503020204020204" pitchFamily="34" charset="-122"/>
              </a:rPr>
              <a:t>，</a:t>
            </a:r>
            <a:r>
              <a:rPr lang="zh-CN" altLang="en-US" sz="2200" dirty="0">
                <a:latin typeface="微软雅黑" panose="020B0503020204020204" pitchFamily="34" charset="-122"/>
                <a:ea typeface="微软雅黑" panose="020B0503020204020204" pitchFamily="34" charset="-122"/>
              </a:rPr>
              <a:t>危机更具传染性，传染的渠道更加复杂，嵌套于市场、机构和价格变量的联动机制之内。</a:t>
            </a:r>
          </a:p>
          <a:p>
            <a:pPr marL="0" lvl="2" indent="457200">
              <a:lnSpc>
                <a:spcPct val="110000"/>
              </a:lnSpc>
              <a:spcBef>
                <a:spcPts val="1800"/>
              </a:spcBef>
              <a:buNone/>
            </a:pPr>
            <a:r>
              <a:rPr lang="zh-CN" altLang="en-US" sz="2200" dirty="0" smtClean="0">
                <a:solidFill>
                  <a:schemeClr val="accent1"/>
                </a:solidFill>
                <a:latin typeface="微软雅黑" panose="020B0503020204020204" pitchFamily="34" charset="-122"/>
                <a:ea typeface="微软雅黑" panose="020B0503020204020204" pitchFamily="34" charset="-122"/>
              </a:rPr>
              <a:t>第三</a:t>
            </a:r>
            <a:r>
              <a:rPr lang="zh-CN" altLang="en-US" sz="2200" dirty="0">
                <a:solidFill>
                  <a:schemeClr val="accent1"/>
                </a:solidFill>
                <a:latin typeface="微软雅黑" panose="020B0503020204020204" pitchFamily="34" charset="-122"/>
                <a:ea typeface="微软雅黑" panose="020B0503020204020204" pitchFamily="34" charset="-122"/>
              </a:rPr>
              <a:t>，</a:t>
            </a:r>
            <a:r>
              <a:rPr lang="zh-CN" altLang="en-US" sz="2200" dirty="0">
                <a:latin typeface="微软雅黑" panose="020B0503020204020204" pitchFamily="34" charset="-122"/>
                <a:ea typeface="微软雅黑" panose="020B0503020204020204" pitchFamily="34" charset="-122"/>
              </a:rPr>
              <a:t>危机的治理举措不仅影响宏观经济金融的运行，更主要的是，治理危机的政府在很多情形下成为加重或者恶化金融危机的关键性角色。 </a:t>
            </a:r>
          </a:p>
          <a:p>
            <a:pPr marL="0" lvl="2" indent="457200">
              <a:lnSpc>
                <a:spcPct val="110000"/>
              </a:lnSpc>
              <a:spcBef>
                <a:spcPts val="1800"/>
              </a:spcBef>
              <a:buNone/>
            </a:pPr>
            <a:r>
              <a:rPr lang="zh-CN" altLang="en-US" sz="2200" dirty="0" smtClean="0">
                <a:solidFill>
                  <a:schemeClr val="accent1"/>
                </a:solidFill>
                <a:latin typeface="微软雅黑" panose="020B0503020204020204" pitchFamily="34" charset="-122"/>
                <a:ea typeface="微软雅黑" panose="020B0503020204020204" pitchFamily="34" charset="-122"/>
              </a:rPr>
              <a:t>第四</a:t>
            </a:r>
            <a:r>
              <a:rPr lang="zh-CN" altLang="en-US" sz="2200" dirty="0">
                <a:solidFill>
                  <a:schemeClr val="accent1"/>
                </a:solidFill>
                <a:latin typeface="微软雅黑" panose="020B0503020204020204" pitchFamily="34" charset="-122"/>
                <a:ea typeface="微软雅黑" panose="020B0503020204020204" pitchFamily="34" charset="-122"/>
              </a:rPr>
              <a:t>，</a:t>
            </a:r>
            <a:r>
              <a:rPr lang="zh-CN" altLang="en-US" sz="2200" dirty="0">
                <a:latin typeface="微软雅黑" panose="020B0503020204020204" pitchFamily="34" charset="-122"/>
                <a:ea typeface="微软雅黑" panose="020B0503020204020204" pitchFamily="34" charset="-122"/>
              </a:rPr>
              <a:t>危机的表现形式也日具复合状态。 </a:t>
            </a:r>
          </a:p>
        </p:txBody>
      </p:sp>
      <p:sp>
        <p:nvSpPr>
          <p:cNvPr id="5" name="页脚占位符 4"/>
          <p:cNvSpPr>
            <a:spLocks noGrp="1"/>
          </p:cNvSpPr>
          <p:nvPr>
            <p:ph type="ftr" sz="quarter" idx="11"/>
          </p:nvPr>
        </p:nvSpPr>
        <p:spPr/>
        <p:txBody>
          <a:bodyPr/>
          <a:lstStyle/>
          <a:p>
            <a:r>
              <a:rPr lang="zh-CN" altLang="en-US" smtClean="0"/>
              <a:t>国际金融学 范小云</a:t>
            </a:r>
            <a:endParaRPr lang="zh-CN" altLang="en-US" dirty="0"/>
          </a:p>
        </p:txBody>
      </p:sp>
    </p:spTree>
    <p:extLst>
      <p:ext uri="{BB962C8B-B14F-4D97-AF65-F5344CB8AC3E}">
        <p14:creationId xmlns:p14="http://schemas.microsoft.com/office/powerpoint/2010/main" val="145063973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animEffect transition="in" filter="fade">
                                      <p:cBhvr>
                                        <p:cTn id="7" dur="500"/>
                                        <p:tgtEl>
                                          <p:spTgt spid="3">
                                            <p:txEl>
                                              <p:pRg st="2" end="2"/>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3">
                                            <p:txEl>
                                              <p:pRg st="3" end="3"/>
                                            </p:txEl>
                                          </p:spTgt>
                                        </p:tgtEl>
                                        <p:attrNameLst>
                                          <p:attrName>style.visibility</p:attrName>
                                        </p:attrNameLst>
                                      </p:cBhvr>
                                      <p:to>
                                        <p:strVal val="visible"/>
                                      </p:to>
                                    </p:set>
                                    <p:animEffect transition="in" filter="fade">
                                      <p:cBhvr>
                                        <p:cTn id="10" dur="500"/>
                                        <p:tgtEl>
                                          <p:spTgt spid="3">
                                            <p:txEl>
                                              <p:pRg st="3" end="3"/>
                                            </p:txEl>
                                          </p:spTgt>
                                        </p:tgtEl>
                                      </p:cBhvr>
                                    </p:animEffect>
                                  </p:childTnLst>
                                </p:cTn>
                              </p:par>
                              <p:par>
                                <p:cTn id="11" presetID="10" presetClass="entr" presetSubtype="0" fill="hold" nodeType="withEffect">
                                  <p:stCondLst>
                                    <p:cond delay="0"/>
                                  </p:stCondLst>
                                  <p:childTnLst>
                                    <p:set>
                                      <p:cBhvr>
                                        <p:cTn id="12" dur="1" fill="hold">
                                          <p:stCondLst>
                                            <p:cond delay="0"/>
                                          </p:stCondLst>
                                        </p:cTn>
                                        <p:tgtEl>
                                          <p:spTgt spid="3">
                                            <p:txEl>
                                              <p:pRg st="4" end="4"/>
                                            </p:txEl>
                                          </p:spTgt>
                                        </p:tgtEl>
                                        <p:attrNameLst>
                                          <p:attrName>style.visibility</p:attrName>
                                        </p:attrNameLst>
                                      </p:cBhvr>
                                      <p:to>
                                        <p:strVal val="visible"/>
                                      </p:to>
                                    </p:set>
                                    <p:animEffect transition="in" filter="fade">
                                      <p:cBhvr>
                                        <p:cTn id="13" dur="500"/>
                                        <p:tgtEl>
                                          <p:spTgt spid="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第三节	现代国际金融危机理论</a:t>
            </a:r>
            <a:endParaRPr lang="zh-CN" dirty="0"/>
          </a:p>
        </p:txBody>
      </p:sp>
      <p:sp>
        <p:nvSpPr>
          <p:cNvPr id="3" name="内容占位符 2"/>
          <p:cNvSpPr>
            <a:spLocks noGrp="1"/>
          </p:cNvSpPr>
          <p:nvPr>
            <p:ph idx="1"/>
          </p:nvPr>
        </p:nvSpPr>
        <p:spPr>
          <a:xfrm>
            <a:off x="971550" y="1447799"/>
            <a:ext cx="7200900" cy="4841879"/>
          </a:xfrm>
        </p:spPr>
        <p:txBody>
          <a:bodyPr>
            <a:normAutofit fontScale="92500" lnSpcReduction="20000"/>
          </a:bodyPr>
          <a:lstStyle/>
          <a:p>
            <a:pPr marL="0" lvl="2" indent="0">
              <a:lnSpc>
                <a:spcPct val="110000"/>
              </a:lnSpc>
              <a:spcBef>
                <a:spcPts val="1800"/>
              </a:spcBef>
              <a:buNone/>
            </a:pPr>
            <a:r>
              <a:rPr lang="zh-CN" altLang="en-US" sz="2800" dirty="0">
                <a:solidFill>
                  <a:schemeClr val="accent1"/>
                </a:solidFill>
                <a:latin typeface="微软雅黑" panose="020B0503020204020204" pitchFamily="34" charset="-122"/>
                <a:ea typeface="微软雅黑" panose="020B0503020204020204" pitchFamily="34" charset="-122"/>
              </a:rPr>
              <a:t>二、次贷危机后金融危机理论的最新发展</a:t>
            </a:r>
          </a:p>
          <a:p>
            <a:pPr marL="0" lvl="2" indent="457200">
              <a:lnSpc>
                <a:spcPct val="120000"/>
              </a:lnSpc>
              <a:spcBef>
                <a:spcPts val="1800"/>
              </a:spcBef>
              <a:buNone/>
            </a:pPr>
            <a:r>
              <a:rPr lang="zh-CN" altLang="en-US" sz="2400" dirty="0">
                <a:latin typeface="微软雅黑" panose="020B0503020204020204" pitchFamily="34" charset="-122"/>
                <a:ea typeface="微软雅黑" panose="020B0503020204020204" pitchFamily="34" charset="-122"/>
              </a:rPr>
              <a:t>尽管危机发生的形式更具多样化，但是一些基本的运行机理依然得以维持。</a:t>
            </a:r>
          </a:p>
          <a:p>
            <a:pPr marL="0" lvl="2" indent="457200">
              <a:lnSpc>
                <a:spcPct val="120000"/>
              </a:lnSpc>
              <a:spcBef>
                <a:spcPts val="1800"/>
              </a:spcBef>
              <a:buNone/>
            </a:pPr>
            <a:r>
              <a:rPr lang="zh-CN" altLang="en-US" sz="2400" dirty="0">
                <a:latin typeface="微软雅黑" panose="020B0503020204020204" pitchFamily="34" charset="-122"/>
                <a:ea typeface="微软雅黑" panose="020B0503020204020204" pitchFamily="34" charset="-122"/>
              </a:rPr>
              <a:t>如莱因哈特和罗格夫（</a:t>
            </a:r>
            <a:r>
              <a:rPr lang="en-US" altLang="zh-CN" sz="2400" dirty="0">
                <a:latin typeface="微软雅黑" panose="020B0503020204020204" pitchFamily="34" charset="-122"/>
                <a:ea typeface="微软雅黑" panose="020B0503020204020204" pitchFamily="34" charset="-122"/>
              </a:rPr>
              <a:t>Reinhart and </a:t>
            </a:r>
            <a:r>
              <a:rPr lang="en-US" altLang="zh-CN" sz="2400" dirty="0" err="1">
                <a:latin typeface="微软雅黑" panose="020B0503020204020204" pitchFamily="34" charset="-122"/>
                <a:ea typeface="微软雅黑" panose="020B0503020204020204" pitchFamily="34" charset="-122"/>
              </a:rPr>
              <a:t>Rogoff</a:t>
            </a:r>
            <a:r>
              <a:rPr lang="en-US" altLang="zh-CN" sz="2400" dirty="0">
                <a:latin typeface="微软雅黑" panose="020B0503020204020204" pitchFamily="34" charset="-122"/>
                <a:ea typeface="微软雅黑" panose="020B0503020204020204" pitchFamily="34" charset="-122"/>
              </a:rPr>
              <a:t>, 2008</a:t>
            </a:r>
            <a:r>
              <a:rPr lang="zh-CN" altLang="en-US" sz="2400" dirty="0">
                <a:latin typeface="微软雅黑" panose="020B0503020204020204" pitchFamily="34" charset="-122"/>
                <a:ea typeface="微软雅黑" panose="020B0503020204020204" pitchFamily="34" charset="-122"/>
              </a:rPr>
              <a:t>）分析了次债危机前后美国的主要经济指标（物价、实体经济增长和公债等），发现变量之间的互动机制仍然是一致的。</a:t>
            </a:r>
          </a:p>
          <a:p>
            <a:pPr marL="0" lvl="2" indent="457200">
              <a:lnSpc>
                <a:spcPct val="120000"/>
              </a:lnSpc>
              <a:spcBef>
                <a:spcPts val="1800"/>
              </a:spcBef>
              <a:buNone/>
            </a:pPr>
            <a:r>
              <a:rPr lang="zh-CN" altLang="en-US" sz="2400" dirty="0">
                <a:latin typeface="微软雅黑" panose="020B0503020204020204" pitchFamily="34" charset="-122"/>
                <a:ea typeface="微软雅黑" panose="020B0503020204020204" pitchFamily="34" charset="-122"/>
              </a:rPr>
              <a:t>德姆雅克（</a:t>
            </a:r>
            <a:r>
              <a:rPr lang="en-US" altLang="zh-CN" sz="2400" dirty="0" err="1">
                <a:latin typeface="微软雅黑" panose="020B0503020204020204" pitchFamily="34" charset="-122"/>
                <a:ea typeface="微软雅黑" panose="020B0503020204020204" pitchFamily="34" charset="-122"/>
              </a:rPr>
              <a:t>Demyanyk</a:t>
            </a:r>
            <a:r>
              <a:rPr lang="zh-CN" altLang="en-US" sz="2400" dirty="0">
                <a:latin typeface="微软雅黑" panose="020B0503020204020204" pitchFamily="34" charset="-122"/>
                <a:ea typeface="微软雅黑" panose="020B0503020204020204" pitchFamily="34" charset="-122"/>
              </a:rPr>
              <a:t>，</a:t>
            </a:r>
            <a:r>
              <a:rPr lang="en-US" altLang="zh-CN" sz="2400" dirty="0">
                <a:latin typeface="微软雅黑" panose="020B0503020204020204" pitchFamily="34" charset="-122"/>
                <a:ea typeface="微软雅黑" panose="020B0503020204020204" pitchFamily="34" charset="-122"/>
              </a:rPr>
              <a:t>2008</a:t>
            </a:r>
            <a:r>
              <a:rPr lang="zh-CN" altLang="en-US" sz="2400" dirty="0">
                <a:latin typeface="微软雅黑" panose="020B0503020204020204" pitchFamily="34" charset="-122"/>
                <a:ea typeface="微软雅黑" panose="020B0503020204020204" pitchFamily="34" charset="-122"/>
              </a:rPr>
              <a:t>）从借款人特征、信贷特征和房价的上涨程度等指标入手分析了信贷质量，发现次债危机表现遵循了经典的信贷周期（</a:t>
            </a:r>
            <a:r>
              <a:rPr lang="en-US" altLang="zh-CN" sz="2400" dirty="0">
                <a:latin typeface="微软雅黑" panose="020B0503020204020204" pitchFamily="34" charset="-122"/>
                <a:ea typeface="微软雅黑" panose="020B0503020204020204" pitchFamily="34" charset="-122"/>
              </a:rPr>
              <a:t>classical ending boom-bust scenario</a:t>
            </a:r>
            <a:r>
              <a:rPr lang="zh-CN" altLang="en-US" sz="2400" dirty="0">
                <a:latin typeface="微软雅黑" panose="020B0503020204020204" pitchFamily="34" charset="-122"/>
                <a:ea typeface="微软雅黑" panose="020B0503020204020204" pitchFamily="34" charset="-122"/>
              </a:rPr>
              <a:t>）。</a:t>
            </a:r>
          </a:p>
        </p:txBody>
      </p:sp>
      <p:sp>
        <p:nvSpPr>
          <p:cNvPr id="5" name="页脚占位符 4"/>
          <p:cNvSpPr>
            <a:spLocks noGrp="1"/>
          </p:cNvSpPr>
          <p:nvPr>
            <p:ph type="ftr" sz="quarter" idx="11"/>
          </p:nvPr>
        </p:nvSpPr>
        <p:spPr/>
        <p:txBody>
          <a:bodyPr/>
          <a:lstStyle/>
          <a:p>
            <a:r>
              <a:rPr lang="zh-CN" altLang="en-US" smtClean="0"/>
              <a:t>国际金融学 范小云</a:t>
            </a:r>
            <a:endParaRPr lang="zh-CN" altLang="en-US" dirty="0"/>
          </a:p>
        </p:txBody>
      </p:sp>
    </p:spTree>
    <p:extLst>
      <p:ext uri="{BB962C8B-B14F-4D97-AF65-F5344CB8AC3E}">
        <p14:creationId xmlns:p14="http://schemas.microsoft.com/office/powerpoint/2010/main" val="316582245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Effect transition="in" filter="fade">
                                      <p:cBhvr>
                                        <p:cTn id="7" dur="500"/>
                                        <p:tgtEl>
                                          <p:spTgt spid="3">
                                            <p:txEl>
                                              <p:pRg st="1" end="1"/>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3">
                                            <p:txEl>
                                              <p:pRg st="2" end="2"/>
                                            </p:txEl>
                                          </p:spTgt>
                                        </p:tgtEl>
                                        <p:attrNameLst>
                                          <p:attrName>style.visibility</p:attrName>
                                        </p:attrNameLst>
                                      </p:cBhvr>
                                      <p:to>
                                        <p:strVal val="visible"/>
                                      </p:to>
                                    </p:set>
                                    <p:animEffect transition="in" filter="fade">
                                      <p:cBhvr>
                                        <p:cTn id="10" dur="500"/>
                                        <p:tgtEl>
                                          <p:spTgt spid="3">
                                            <p:txEl>
                                              <p:pRg st="2" end="2"/>
                                            </p:txEl>
                                          </p:spTgt>
                                        </p:tgtEl>
                                      </p:cBhvr>
                                    </p:animEffect>
                                  </p:childTnLst>
                                </p:cTn>
                              </p:par>
                              <p:par>
                                <p:cTn id="11" presetID="10" presetClass="entr" presetSubtype="0" fill="hold" nodeType="withEffect">
                                  <p:stCondLst>
                                    <p:cond delay="0"/>
                                  </p:stCondLst>
                                  <p:childTnLst>
                                    <p:set>
                                      <p:cBhvr>
                                        <p:cTn id="12" dur="1" fill="hold">
                                          <p:stCondLst>
                                            <p:cond delay="0"/>
                                          </p:stCondLst>
                                        </p:cTn>
                                        <p:tgtEl>
                                          <p:spTgt spid="3">
                                            <p:txEl>
                                              <p:pRg st="3" end="3"/>
                                            </p:txEl>
                                          </p:spTgt>
                                        </p:tgtEl>
                                        <p:attrNameLst>
                                          <p:attrName>style.visibility</p:attrName>
                                        </p:attrNameLst>
                                      </p:cBhvr>
                                      <p:to>
                                        <p:strVal val="visible"/>
                                      </p:to>
                                    </p:set>
                                    <p:animEffect transition="in" filter="fade">
                                      <p:cBhvr>
                                        <p:cTn id="13" dur="500"/>
                                        <p:tgtEl>
                                          <p:spTgt spid="3">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algn="ctr"/>
            <a:r>
              <a:rPr lang="zh-CN" altLang="en-US" dirty="0"/>
              <a:t>讨论：“这次不一样”综合症</a:t>
            </a:r>
            <a:br>
              <a:rPr lang="zh-CN" altLang="en-US" dirty="0"/>
            </a:br>
            <a:r>
              <a:rPr lang="zh-CN" altLang="en-US" dirty="0"/>
              <a:t>（</a:t>
            </a:r>
            <a:r>
              <a:rPr lang="en-US" altLang="zh-CN" dirty="0"/>
              <a:t>Reinhart and </a:t>
            </a:r>
            <a:r>
              <a:rPr lang="en-US" altLang="zh-CN" dirty="0" err="1" smtClean="0"/>
              <a:t>Rogoff</a:t>
            </a:r>
            <a:r>
              <a:rPr lang="en-US" altLang="zh-CN" dirty="0" smtClean="0"/>
              <a:t> (</a:t>
            </a:r>
            <a:r>
              <a:rPr lang="en-US" altLang="zh-CN" dirty="0"/>
              <a:t>2010) </a:t>
            </a:r>
            <a:r>
              <a:rPr lang="zh-CN" altLang="en-US" dirty="0"/>
              <a:t>）</a:t>
            </a:r>
            <a:endParaRPr lang="zh-CN" dirty="0"/>
          </a:p>
        </p:txBody>
      </p:sp>
      <p:sp>
        <p:nvSpPr>
          <p:cNvPr id="3" name="内容占位符 2"/>
          <p:cNvSpPr>
            <a:spLocks noGrp="1"/>
          </p:cNvSpPr>
          <p:nvPr>
            <p:ph idx="1"/>
          </p:nvPr>
        </p:nvSpPr>
        <p:spPr>
          <a:xfrm>
            <a:off x="971550" y="1447799"/>
            <a:ext cx="7200900" cy="4841879"/>
          </a:xfrm>
        </p:spPr>
        <p:txBody>
          <a:bodyPr>
            <a:normAutofit/>
          </a:bodyPr>
          <a:lstStyle/>
          <a:p>
            <a:pPr marL="0" lvl="2" indent="457200">
              <a:lnSpc>
                <a:spcPct val="100000"/>
              </a:lnSpc>
              <a:spcBef>
                <a:spcPts val="1800"/>
              </a:spcBef>
              <a:buNone/>
            </a:pPr>
            <a:r>
              <a:rPr lang="zh-CN" altLang="en-US" sz="2400" dirty="0">
                <a:latin typeface="微软雅黑" panose="020B0503020204020204" pitchFamily="34" charset="-122"/>
                <a:ea typeface="微软雅黑" panose="020B0503020204020204" pitchFamily="34" charset="-122"/>
              </a:rPr>
              <a:t> “这次不一样”综合症的本质是人们认为金融危机是一件在别的时间、别的国家、发生在别人身上的事情。因为我们比别人做的好，同时从历史中吸取了教训，金融危机不会发生在我们自己身上。然而事实并非如此 。</a:t>
            </a:r>
          </a:p>
        </p:txBody>
      </p:sp>
      <p:sp>
        <p:nvSpPr>
          <p:cNvPr id="5" name="页脚占位符 4"/>
          <p:cNvSpPr>
            <a:spLocks noGrp="1"/>
          </p:cNvSpPr>
          <p:nvPr>
            <p:ph type="ftr" sz="quarter" idx="11"/>
          </p:nvPr>
        </p:nvSpPr>
        <p:spPr/>
        <p:txBody>
          <a:bodyPr/>
          <a:lstStyle/>
          <a:p>
            <a:r>
              <a:rPr lang="zh-CN" altLang="en-US" smtClean="0"/>
              <a:t>国际金融学 范小云</a:t>
            </a:r>
            <a:endParaRPr lang="zh-CN" altLang="en-US" dirty="0"/>
          </a:p>
        </p:txBody>
      </p:sp>
    </p:spTree>
    <p:extLst>
      <p:ext uri="{BB962C8B-B14F-4D97-AF65-F5344CB8AC3E}">
        <p14:creationId xmlns:p14="http://schemas.microsoft.com/office/powerpoint/2010/main" val="6843607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algn="ctr"/>
            <a:r>
              <a:rPr lang="zh-CN" altLang="en-US" dirty="0"/>
              <a:t>讨论：“这次不一样”综合症</a:t>
            </a:r>
            <a:br>
              <a:rPr lang="zh-CN" altLang="en-US" dirty="0"/>
            </a:br>
            <a:r>
              <a:rPr lang="zh-CN" altLang="en-US" dirty="0"/>
              <a:t>（</a:t>
            </a:r>
            <a:r>
              <a:rPr lang="en-US" altLang="zh-CN" dirty="0"/>
              <a:t>Reinhart and </a:t>
            </a:r>
            <a:r>
              <a:rPr lang="en-US" altLang="zh-CN" dirty="0" err="1" smtClean="0"/>
              <a:t>Rogoff</a:t>
            </a:r>
            <a:r>
              <a:rPr lang="en-US" altLang="zh-CN" dirty="0" smtClean="0"/>
              <a:t> (</a:t>
            </a:r>
            <a:r>
              <a:rPr lang="en-US" altLang="zh-CN" dirty="0"/>
              <a:t>2010) </a:t>
            </a:r>
            <a:r>
              <a:rPr lang="zh-CN" altLang="en-US" dirty="0"/>
              <a:t>）</a:t>
            </a:r>
            <a:endParaRPr lang="zh-CN" dirty="0"/>
          </a:p>
        </p:txBody>
      </p:sp>
      <p:sp>
        <p:nvSpPr>
          <p:cNvPr id="3" name="内容占位符 2"/>
          <p:cNvSpPr>
            <a:spLocks noGrp="1"/>
          </p:cNvSpPr>
          <p:nvPr>
            <p:ph idx="1"/>
          </p:nvPr>
        </p:nvSpPr>
        <p:spPr>
          <a:xfrm>
            <a:off x="971550" y="1447799"/>
            <a:ext cx="7200900" cy="4841879"/>
          </a:xfrm>
        </p:spPr>
        <p:txBody>
          <a:bodyPr>
            <a:normAutofit/>
          </a:bodyPr>
          <a:lstStyle/>
          <a:p>
            <a:pPr marL="457200" lvl="2" indent="-457200">
              <a:lnSpc>
                <a:spcPct val="100000"/>
              </a:lnSpc>
              <a:spcBef>
                <a:spcPts val="1800"/>
              </a:spcBef>
              <a:buFont typeface="+mj-lt"/>
              <a:buAutoNum type="arabicPeriod"/>
            </a:pPr>
            <a:r>
              <a:rPr lang="en-US" altLang="zh-CN" sz="2800" dirty="0" smtClean="0">
                <a:latin typeface="微软雅黑" panose="020B0503020204020204" pitchFamily="34" charset="-122"/>
                <a:ea typeface="微软雅黑" panose="020B0503020204020204" pitchFamily="34" charset="-122"/>
              </a:rPr>
              <a:t>20</a:t>
            </a:r>
            <a:r>
              <a:rPr lang="zh-CN" altLang="en-US" sz="2800" dirty="0">
                <a:latin typeface="微软雅黑" panose="020B0503020204020204" pitchFamily="34" charset="-122"/>
                <a:ea typeface="微软雅黑" panose="020B0503020204020204" pitchFamily="34" charset="-122"/>
              </a:rPr>
              <a:t>世纪</a:t>
            </a:r>
            <a:r>
              <a:rPr lang="en-US" altLang="zh-CN" sz="2800" dirty="0">
                <a:latin typeface="微软雅黑" panose="020B0503020204020204" pitchFamily="34" charset="-122"/>
                <a:ea typeface="微软雅黑" panose="020B0503020204020204" pitchFamily="34" charset="-122"/>
              </a:rPr>
              <a:t>30</a:t>
            </a:r>
            <a:r>
              <a:rPr lang="zh-CN" altLang="en-US" sz="2800" dirty="0">
                <a:latin typeface="微软雅黑" panose="020B0503020204020204" pitchFamily="34" charset="-122"/>
                <a:ea typeface="微软雅黑" panose="020B0503020204020204" pitchFamily="34" charset="-122"/>
              </a:rPr>
              <a:t>年代新兴市场债务危机的</a:t>
            </a:r>
            <a:r>
              <a:rPr lang="zh-CN" altLang="en-US" sz="2800" dirty="0" smtClean="0">
                <a:latin typeface="微软雅黑" panose="020B0503020204020204" pitchFamily="34" charset="-122"/>
                <a:ea typeface="微软雅黑" panose="020B0503020204020204" pitchFamily="34" charset="-122"/>
              </a:rPr>
              <a:t>形成</a:t>
            </a:r>
            <a:endParaRPr lang="en-US" altLang="zh-CN" sz="2800" dirty="0" smtClean="0">
              <a:latin typeface="微软雅黑" panose="020B0503020204020204" pitchFamily="34" charset="-122"/>
              <a:ea typeface="微软雅黑" panose="020B0503020204020204" pitchFamily="34" charset="-122"/>
            </a:endParaRPr>
          </a:p>
          <a:p>
            <a:pPr marL="685800" lvl="3" indent="-457200">
              <a:lnSpc>
                <a:spcPct val="100000"/>
              </a:lnSpc>
              <a:spcBef>
                <a:spcPts val="1800"/>
              </a:spcBef>
              <a:buFont typeface="Wingdings" panose="05000000000000000000" pitchFamily="2" charset="2"/>
              <a:buChar char="Ø"/>
            </a:pPr>
            <a:r>
              <a:rPr lang="zh-CN" altLang="en-US" sz="2200" dirty="0">
                <a:solidFill>
                  <a:schemeClr val="accent1"/>
                </a:solidFill>
                <a:latin typeface="微软雅黑" panose="020B0503020204020204" pitchFamily="34" charset="-122"/>
                <a:ea typeface="微软雅黑" panose="020B0503020204020204" pitchFamily="34" charset="-122"/>
              </a:rPr>
              <a:t>该时期的主要观点有：</a:t>
            </a:r>
            <a:r>
              <a:rPr lang="zh-CN" altLang="en-US" sz="2200" dirty="0">
                <a:latin typeface="微软雅黑" panose="020B0503020204020204" pitchFamily="34" charset="-122"/>
                <a:ea typeface="微软雅黑" panose="020B0503020204020204" pitchFamily="34" charset="-122"/>
              </a:rPr>
              <a:t>不可能再次发生世界大战，更加稳定的政局和强劲的全球经济增长可以无限期延续下去，发展中国家的债务水平较低。</a:t>
            </a:r>
          </a:p>
          <a:p>
            <a:pPr marL="685800" lvl="3" indent="-457200">
              <a:lnSpc>
                <a:spcPct val="100000"/>
              </a:lnSpc>
              <a:spcBef>
                <a:spcPts val="1800"/>
              </a:spcBef>
              <a:buFont typeface="Wingdings" panose="05000000000000000000" pitchFamily="2" charset="2"/>
              <a:buChar char="Ø"/>
            </a:pPr>
            <a:r>
              <a:rPr lang="zh-CN" altLang="en-US" sz="2200" dirty="0">
                <a:solidFill>
                  <a:schemeClr val="accent1"/>
                </a:solidFill>
                <a:latin typeface="微软雅黑" panose="020B0503020204020204" pitchFamily="34" charset="-122"/>
                <a:ea typeface="微软雅黑" panose="020B0503020204020204" pitchFamily="34" charset="-122"/>
              </a:rPr>
              <a:t>现实：</a:t>
            </a:r>
            <a:r>
              <a:rPr lang="en-US" altLang="zh-CN" sz="2200" dirty="0">
                <a:latin typeface="微软雅黑" panose="020B0503020204020204" pitchFamily="34" charset="-122"/>
                <a:ea typeface="微软雅黑" panose="020B0503020204020204" pitchFamily="34" charset="-122"/>
              </a:rPr>
              <a:t>1929</a:t>
            </a:r>
            <a:r>
              <a:rPr lang="zh-CN" altLang="en-US" sz="2200" dirty="0">
                <a:latin typeface="微软雅黑" panose="020B0503020204020204" pitchFamily="34" charset="-122"/>
                <a:ea typeface="微软雅黑" panose="020B0503020204020204" pitchFamily="34" charset="-122"/>
              </a:rPr>
              <a:t>年全球股市的崩盘标志着大萧条的开始，经济紧缩大幅减少了财政收入，与此同时全球通货紧缩推高了实际利率，随后发生了历史上最大规模的违约风潮。</a:t>
            </a:r>
          </a:p>
          <a:p>
            <a:pPr marL="0" lvl="2" indent="0">
              <a:lnSpc>
                <a:spcPct val="100000"/>
              </a:lnSpc>
              <a:spcBef>
                <a:spcPts val="1800"/>
              </a:spcBef>
              <a:buNone/>
            </a:pPr>
            <a:endParaRPr lang="zh-CN" altLang="en-US" sz="2400" dirty="0">
              <a:latin typeface="微软雅黑" panose="020B0503020204020204" pitchFamily="34" charset="-122"/>
              <a:ea typeface="微软雅黑" panose="020B0503020204020204" pitchFamily="34" charset="-122"/>
            </a:endParaRPr>
          </a:p>
        </p:txBody>
      </p:sp>
      <p:sp>
        <p:nvSpPr>
          <p:cNvPr id="5" name="页脚占位符 4"/>
          <p:cNvSpPr>
            <a:spLocks noGrp="1"/>
          </p:cNvSpPr>
          <p:nvPr>
            <p:ph type="ftr" sz="quarter" idx="11"/>
          </p:nvPr>
        </p:nvSpPr>
        <p:spPr/>
        <p:txBody>
          <a:bodyPr/>
          <a:lstStyle/>
          <a:p>
            <a:r>
              <a:rPr lang="zh-CN" altLang="en-US" smtClean="0"/>
              <a:t>国际金融学 范小云</a:t>
            </a:r>
            <a:endParaRPr lang="zh-CN" altLang="en-US" dirty="0"/>
          </a:p>
        </p:txBody>
      </p:sp>
    </p:spTree>
    <p:extLst>
      <p:ext uri="{BB962C8B-B14F-4D97-AF65-F5344CB8AC3E}">
        <p14:creationId xmlns:p14="http://schemas.microsoft.com/office/powerpoint/2010/main" val="399280182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Effect transition="in" filter="fade">
                                      <p:cBhvr>
                                        <p:cTn id="7" dur="500"/>
                                        <p:tgtEl>
                                          <p:spTgt spid="3">
                                            <p:txEl>
                                              <p:pRg st="1" end="1"/>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3">
                                            <p:txEl>
                                              <p:pRg st="2" end="2"/>
                                            </p:txEl>
                                          </p:spTgt>
                                        </p:tgtEl>
                                        <p:attrNameLst>
                                          <p:attrName>style.visibility</p:attrName>
                                        </p:attrNameLst>
                                      </p:cBhvr>
                                      <p:to>
                                        <p:strVal val="visible"/>
                                      </p:to>
                                    </p:set>
                                    <p:animEffect transition="in" filter="fade">
                                      <p:cBhvr>
                                        <p:cTn id="10" dur="500"/>
                                        <p:tgtEl>
                                          <p:spTgt spid="3">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algn="ctr"/>
            <a:r>
              <a:rPr lang="zh-CN" altLang="en-US" dirty="0"/>
              <a:t>讨论：“这次不一样”综合症</a:t>
            </a:r>
            <a:br>
              <a:rPr lang="zh-CN" altLang="en-US" dirty="0"/>
            </a:br>
            <a:r>
              <a:rPr lang="zh-CN" altLang="en-US" dirty="0"/>
              <a:t>（</a:t>
            </a:r>
            <a:r>
              <a:rPr lang="en-US" altLang="zh-CN" dirty="0"/>
              <a:t>Reinhart and </a:t>
            </a:r>
            <a:r>
              <a:rPr lang="en-US" altLang="zh-CN" dirty="0" err="1" smtClean="0"/>
              <a:t>Rogoff</a:t>
            </a:r>
            <a:r>
              <a:rPr lang="en-US" altLang="zh-CN" dirty="0" smtClean="0"/>
              <a:t> (</a:t>
            </a:r>
            <a:r>
              <a:rPr lang="en-US" altLang="zh-CN" dirty="0"/>
              <a:t>2010) </a:t>
            </a:r>
            <a:r>
              <a:rPr lang="zh-CN" altLang="en-US" dirty="0"/>
              <a:t>）</a:t>
            </a:r>
            <a:endParaRPr lang="zh-CN" dirty="0"/>
          </a:p>
        </p:txBody>
      </p:sp>
      <p:sp>
        <p:nvSpPr>
          <p:cNvPr id="3" name="内容占位符 2"/>
          <p:cNvSpPr>
            <a:spLocks noGrp="1"/>
          </p:cNvSpPr>
          <p:nvPr>
            <p:ph idx="1"/>
          </p:nvPr>
        </p:nvSpPr>
        <p:spPr>
          <a:xfrm>
            <a:off x="971550" y="1447799"/>
            <a:ext cx="7200900" cy="4841879"/>
          </a:xfrm>
        </p:spPr>
        <p:txBody>
          <a:bodyPr>
            <a:normAutofit/>
          </a:bodyPr>
          <a:lstStyle/>
          <a:p>
            <a:pPr marL="457200" lvl="2" indent="-457200">
              <a:lnSpc>
                <a:spcPct val="100000"/>
              </a:lnSpc>
              <a:spcBef>
                <a:spcPts val="1800"/>
              </a:spcBef>
              <a:buFont typeface="+mj-lt"/>
              <a:buAutoNum type="arabicPeriod" startAt="2"/>
            </a:pPr>
            <a:r>
              <a:rPr lang="en-US" altLang="zh-CN" sz="2800" dirty="0" smtClean="0">
                <a:latin typeface="微软雅黑" panose="020B0503020204020204" pitchFamily="34" charset="-122"/>
                <a:ea typeface="微软雅黑" panose="020B0503020204020204" pitchFamily="34" charset="-122"/>
              </a:rPr>
              <a:t>20</a:t>
            </a:r>
            <a:r>
              <a:rPr lang="zh-CN" altLang="en-US" sz="2800" dirty="0">
                <a:latin typeface="微软雅黑" panose="020B0503020204020204" pitchFamily="34" charset="-122"/>
                <a:ea typeface="微软雅黑" panose="020B0503020204020204" pitchFamily="34" charset="-122"/>
              </a:rPr>
              <a:t>世纪</a:t>
            </a:r>
            <a:r>
              <a:rPr lang="en-US" altLang="zh-CN" sz="2800" dirty="0">
                <a:latin typeface="微软雅黑" panose="020B0503020204020204" pitchFamily="34" charset="-122"/>
                <a:ea typeface="微软雅黑" panose="020B0503020204020204" pitchFamily="34" charset="-122"/>
              </a:rPr>
              <a:t>80</a:t>
            </a:r>
            <a:r>
              <a:rPr lang="zh-CN" altLang="en-US" sz="2800" dirty="0">
                <a:latin typeface="微软雅黑" panose="020B0503020204020204" pitchFamily="34" charset="-122"/>
                <a:ea typeface="微软雅黑" panose="020B0503020204020204" pitchFamily="34" charset="-122"/>
              </a:rPr>
              <a:t>年代的债务危机</a:t>
            </a:r>
          </a:p>
          <a:p>
            <a:pPr marL="685800" lvl="3" indent="-457200">
              <a:lnSpc>
                <a:spcPct val="100000"/>
              </a:lnSpc>
              <a:spcBef>
                <a:spcPts val="1800"/>
              </a:spcBef>
              <a:buFont typeface="Wingdings" panose="05000000000000000000" pitchFamily="2" charset="2"/>
              <a:buChar char="Ø"/>
            </a:pPr>
            <a:r>
              <a:rPr lang="zh-CN" altLang="en-US" sz="2200" dirty="0">
                <a:solidFill>
                  <a:schemeClr val="accent1"/>
                </a:solidFill>
                <a:latin typeface="微软雅黑" panose="020B0503020204020204" pitchFamily="34" charset="-122"/>
                <a:ea typeface="微软雅黑" panose="020B0503020204020204" pitchFamily="34" charset="-122"/>
              </a:rPr>
              <a:t>该时期的主要观点有：</a:t>
            </a:r>
            <a:r>
              <a:rPr lang="zh-CN" altLang="en-US" sz="2200" dirty="0">
                <a:latin typeface="微软雅黑" panose="020B0503020204020204" pitchFamily="34" charset="-122"/>
                <a:ea typeface="微软雅黑" panose="020B0503020204020204" pitchFamily="34" charset="-122"/>
              </a:rPr>
              <a:t>商品价格强劲，实际利率水平低，政府部门的技术专家增多，将资金投资于高回报的基础设施，债务采取的是银行贷款形式，银行有动力监控贷款人，确保资金安全。</a:t>
            </a:r>
          </a:p>
          <a:p>
            <a:pPr marL="685800" lvl="3" indent="-457200">
              <a:lnSpc>
                <a:spcPct val="100000"/>
              </a:lnSpc>
              <a:spcBef>
                <a:spcPts val="1800"/>
              </a:spcBef>
              <a:buFont typeface="Wingdings" panose="05000000000000000000" pitchFamily="2" charset="2"/>
              <a:buChar char="Ø"/>
            </a:pPr>
            <a:r>
              <a:rPr lang="zh-CN" altLang="en-US" sz="2200" dirty="0">
                <a:solidFill>
                  <a:schemeClr val="accent1"/>
                </a:solidFill>
                <a:latin typeface="微软雅黑" panose="020B0503020204020204" pitchFamily="34" charset="-122"/>
                <a:ea typeface="微软雅黑" panose="020B0503020204020204" pitchFamily="34" charset="-122"/>
              </a:rPr>
              <a:t>现实： </a:t>
            </a:r>
            <a:r>
              <a:rPr lang="en-US" altLang="zh-CN" sz="2200" dirty="0">
                <a:latin typeface="微软雅黑" panose="020B0503020204020204" pitchFamily="34" charset="-122"/>
                <a:ea typeface="微软雅黑" panose="020B0503020204020204" pitchFamily="34" charset="-122"/>
              </a:rPr>
              <a:t>80</a:t>
            </a:r>
            <a:r>
              <a:rPr lang="zh-CN" altLang="en-US" sz="2200" dirty="0">
                <a:latin typeface="微软雅黑" panose="020B0503020204020204" pitchFamily="34" charset="-122"/>
                <a:ea typeface="微软雅黑" panose="020B0503020204020204" pitchFamily="34" charset="-122"/>
              </a:rPr>
              <a:t>年代初发达国家的中央银行大幅上调利率，债务负担显著加重，商品价格全面崩盘。 </a:t>
            </a:r>
          </a:p>
          <a:p>
            <a:pPr marL="0" lvl="2" indent="0">
              <a:lnSpc>
                <a:spcPct val="100000"/>
              </a:lnSpc>
              <a:spcBef>
                <a:spcPts val="1800"/>
              </a:spcBef>
              <a:buNone/>
            </a:pPr>
            <a:endParaRPr lang="zh-CN" altLang="en-US" sz="2400" dirty="0">
              <a:latin typeface="微软雅黑" panose="020B0503020204020204" pitchFamily="34" charset="-122"/>
              <a:ea typeface="微软雅黑" panose="020B0503020204020204" pitchFamily="34" charset="-122"/>
            </a:endParaRPr>
          </a:p>
        </p:txBody>
      </p:sp>
      <p:sp>
        <p:nvSpPr>
          <p:cNvPr id="5" name="页脚占位符 4"/>
          <p:cNvSpPr>
            <a:spLocks noGrp="1"/>
          </p:cNvSpPr>
          <p:nvPr>
            <p:ph type="ftr" sz="quarter" idx="11"/>
          </p:nvPr>
        </p:nvSpPr>
        <p:spPr/>
        <p:txBody>
          <a:bodyPr/>
          <a:lstStyle/>
          <a:p>
            <a:r>
              <a:rPr lang="zh-CN" altLang="en-US" smtClean="0"/>
              <a:t>国际金融学 范小云</a:t>
            </a:r>
            <a:endParaRPr lang="zh-CN" altLang="en-US" dirty="0"/>
          </a:p>
        </p:txBody>
      </p:sp>
    </p:spTree>
    <p:extLst>
      <p:ext uri="{BB962C8B-B14F-4D97-AF65-F5344CB8AC3E}">
        <p14:creationId xmlns:p14="http://schemas.microsoft.com/office/powerpoint/2010/main" val="165509846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Effect transition="in" filter="fade">
                                      <p:cBhvr>
                                        <p:cTn id="7" dur="500"/>
                                        <p:tgtEl>
                                          <p:spTgt spid="3">
                                            <p:txEl>
                                              <p:pRg st="1" end="1"/>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3">
                                            <p:txEl>
                                              <p:pRg st="2" end="2"/>
                                            </p:txEl>
                                          </p:spTgt>
                                        </p:tgtEl>
                                        <p:attrNameLst>
                                          <p:attrName>style.visibility</p:attrName>
                                        </p:attrNameLst>
                                      </p:cBhvr>
                                      <p:to>
                                        <p:strVal val="visible"/>
                                      </p:to>
                                    </p:set>
                                    <p:animEffect transition="in" filter="fade">
                                      <p:cBhvr>
                                        <p:cTn id="10" dur="500"/>
                                        <p:tgtEl>
                                          <p:spTgt spid="3">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algn="ctr"/>
            <a:r>
              <a:rPr lang="zh-CN" altLang="en-US" dirty="0"/>
              <a:t>讨论：“这次不一样”综合症</a:t>
            </a:r>
            <a:br>
              <a:rPr lang="zh-CN" altLang="en-US" dirty="0"/>
            </a:br>
            <a:r>
              <a:rPr lang="zh-CN" altLang="en-US" dirty="0"/>
              <a:t>（</a:t>
            </a:r>
            <a:r>
              <a:rPr lang="en-US" altLang="zh-CN" dirty="0"/>
              <a:t>Reinhart and </a:t>
            </a:r>
            <a:r>
              <a:rPr lang="en-US" altLang="zh-CN" dirty="0" err="1" smtClean="0"/>
              <a:t>Rogoff</a:t>
            </a:r>
            <a:r>
              <a:rPr lang="en-US" altLang="zh-CN" dirty="0" smtClean="0"/>
              <a:t> (</a:t>
            </a:r>
            <a:r>
              <a:rPr lang="en-US" altLang="zh-CN" dirty="0"/>
              <a:t>2010) </a:t>
            </a:r>
            <a:r>
              <a:rPr lang="zh-CN" altLang="en-US" dirty="0"/>
              <a:t>）</a:t>
            </a:r>
            <a:endParaRPr lang="zh-CN" dirty="0"/>
          </a:p>
        </p:txBody>
      </p:sp>
      <p:sp>
        <p:nvSpPr>
          <p:cNvPr id="3" name="内容占位符 2"/>
          <p:cNvSpPr>
            <a:spLocks noGrp="1"/>
          </p:cNvSpPr>
          <p:nvPr>
            <p:ph idx="1"/>
          </p:nvPr>
        </p:nvSpPr>
        <p:spPr>
          <a:xfrm>
            <a:off x="971550" y="1447799"/>
            <a:ext cx="7200900" cy="4841879"/>
          </a:xfrm>
        </p:spPr>
        <p:txBody>
          <a:bodyPr>
            <a:normAutofit/>
          </a:bodyPr>
          <a:lstStyle/>
          <a:p>
            <a:pPr marL="514350" lvl="2" indent="-514350">
              <a:lnSpc>
                <a:spcPct val="100000"/>
              </a:lnSpc>
              <a:spcBef>
                <a:spcPts val="1800"/>
              </a:spcBef>
              <a:buFont typeface="+mj-lt"/>
              <a:buAutoNum type="arabicPeriod" startAt="3"/>
            </a:pPr>
            <a:r>
              <a:rPr lang="en-US" altLang="zh-CN" sz="2800" dirty="0" smtClean="0">
                <a:latin typeface="微软雅黑" panose="020B0503020204020204" pitchFamily="34" charset="-122"/>
                <a:ea typeface="微软雅黑" panose="020B0503020204020204" pitchFamily="34" charset="-122"/>
              </a:rPr>
              <a:t>20</a:t>
            </a:r>
            <a:r>
              <a:rPr lang="zh-CN" altLang="en-US" sz="2800" dirty="0">
                <a:latin typeface="微软雅黑" panose="020B0503020204020204" pitchFamily="34" charset="-122"/>
                <a:ea typeface="微软雅黑" panose="020B0503020204020204" pitchFamily="34" charset="-122"/>
              </a:rPr>
              <a:t>世纪</a:t>
            </a:r>
            <a:r>
              <a:rPr lang="en-US" altLang="zh-CN" sz="2800" dirty="0">
                <a:latin typeface="微软雅黑" panose="020B0503020204020204" pitchFamily="34" charset="-122"/>
                <a:ea typeface="微软雅黑" panose="020B0503020204020204" pitchFamily="34" charset="-122"/>
              </a:rPr>
              <a:t>90</a:t>
            </a:r>
            <a:r>
              <a:rPr lang="zh-CN" altLang="en-US" sz="2800" dirty="0">
                <a:latin typeface="微软雅黑" panose="020B0503020204020204" pitchFamily="34" charset="-122"/>
                <a:ea typeface="微软雅黑" panose="020B0503020204020204" pitchFamily="34" charset="-122"/>
              </a:rPr>
              <a:t>年代亚洲金融危机</a:t>
            </a:r>
          </a:p>
          <a:p>
            <a:pPr marL="685800" lvl="3" indent="-457200">
              <a:lnSpc>
                <a:spcPct val="100000"/>
              </a:lnSpc>
              <a:spcBef>
                <a:spcPts val="1800"/>
              </a:spcBef>
              <a:buFont typeface="Wingdings" panose="05000000000000000000" pitchFamily="2" charset="2"/>
              <a:buChar char="Ø"/>
            </a:pPr>
            <a:r>
              <a:rPr lang="zh-CN" altLang="en-US" sz="2200" dirty="0">
                <a:solidFill>
                  <a:schemeClr val="accent1"/>
                </a:solidFill>
                <a:latin typeface="微软雅黑" panose="020B0503020204020204" pitchFamily="34" charset="-122"/>
                <a:ea typeface="微软雅黑" panose="020B0503020204020204" pitchFamily="34" charset="-122"/>
              </a:rPr>
              <a:t>该时期的主要观点有：</a:t>
            </a:r>
            <a:r>
              <a:rPr lang="zh-CN" altLang="en-US" sz="2200" dirty="0">
                <a:latin typeface="微软雅黑" panose="020B0503020204020204" pitchFamily="34" charset="-122"/>
                <a:ea typeface="微软雅黑" panose="020B0503020204020204" pitchFamily="34" charset="-122"/>
              </a:rPr>
              <a:t>亚洲地区拥有保守的财政政策、稳定的汇率、较高的经济增长和储蓄率，同时该地区没有发生金融危机的历史记录。</a:t>
            </a:r>
          </a:p>
          <a:p>
            <a:pPr marL="685800" lvl="3" indent="-457200">
              <a:lnSpc>
                <a:spcPct val="100000"/>
              </a:lnSpc>
              <a:spcBef>
                <a:spcPts val="1800"/>
              </a:spcBef>
              <a:buFont typeface="Wingdings" panose="05000000000000000000" pitchFamily="2" charset="2"/>
              <a:buChar char="Ø"/>
            </a:pPr>
            <a:r>
              <a:rPr lang="zh-CN" altLang="en-US" sz="2200" dirty="0">
                <a:solidFill>
                  <a:schemeClr val="accent1"/>
                </a:solidFill>
                <a:latin typeface="微软雅黑" panose="020B0503020204020204" pitchFamily="34" charset="-122"/>
                <a:ea typeface="微软雅黑" panose="020B0503020204020204" pitchFamily="34" charset="-122"/>
              </a:rPr>
              <a:t>现实：</a:t>
            </a:r>
            <a:r>
              <a:rPr lang="zh-CN" altLang="en-US" sz="2200" dirty="0">
                <a:latin typeface="微软雅黑" panose="020B0503020204020204" pitchFamily="34" charset="-122"/>
                <a:ea typeface="微软雅黑" panose="020B0503020204020204" pitchFamily="34" charset="-122"/>
              </a:rPr>
              <a:t>盯住美元制度使得亚洲地区极易受到信心危机的影响。</a:t>
            </a:r>
          </a:p>
          <a:p>
            <a:pPr marL="0" lvl="2" indent="0">
              <a:lnSpc>
                <a:spcPct val="100000"/>
              </a:lnSpc>
              <a:spcBef>
                <a:spcPts val="1800"/>
              </a:spcBef>
              <a:buNone/>
            </a:pPr>
            <a:endParaRPr lang="zh-CN" altLang="en-US" sz="2400" dirty="0">
              <a:latin typeface="微软雅黑" panose="020B0503020204020204" pitchFamily="34" charset="-122"/>
              <a:ea typeface="微软雅黑" panose="020B0503020204020204" pitchFamily="34" charset="-122"/>
            </a:endParaRPr>
          </a:p>
        </p:txBody>
      </p:sp>
      <p:sp>
        <p:nvSpPr>
          <p:cNvPr id="5" name="页脚占位符 4"/>
          <p:cNvSpPr>
            <a:spLocks noGrp="1"/>
          </p:cNvSpPr>
          <p:nvPr>
            <p:ph type="ftr" sz="quarter" idx="11"/>
          </p:nvPr>
        </p:nvSpPr>
        <p:spPr/>
        <p:txBody>
          <a:bodyPr/>
          <a:lstStyle/>
          <a:p>
            <a:r>
              <a:rPr lang="zh-CN" altLang="en-US" smtClean="0"/>
              <a:t>国际金融学 范小云</a:t>
            </a:r>
            <a:endParaRPr lang="zh-CN" altLang="en-US" dirty="0"/>
          </a:p>
        </p:txBody>
      </p:sp>
    </p:spTree>
    <p:extLst>
      <p:ext uri="{BB962C8B-B14F-4D97-AF65-F5344CB8AC3E}">
        <p14:creationId xmlns:p14="http://schemas.microsoft.com/office/powerpoint/2010/main" val="387629392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Effect transition="in" filter="fade">
                                      <p:cBhvr>
                                        <p:cTn id="7" dur="500"/>
                                        <p:tgtEl>
                                          <p:spTgt spid="3">
                                            <p:txEl>
                                              <p:pRg st="1" end="1"/>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3">
                                            <p:txEl>
                                              <p:pRg st="2" end="2"/>
                                            </p:txEl>
                                          </p:spTgt>
                                        </p:tgtEl>
                                        <p:attrNameLst>
                                          <p:attrName>style.visibility</p:attrName>
                                        </p:attrNameLst>
                                      </p:cBhvr>
                                      <p:to>
                                        <p:strVal val="visible"/>
                                      </p:to>
                                    </p:set>
                                    <p:animEffect transition="in" filter="fade">
                                      <p:cBhvr>
                                        <p:cTn id="10" dur="500"/>
                                        <p:tgtEl>
                                          <p:spTgt spid="3">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algn="ctr"/>
            <a:r>
              <a:rPr lang="zh-CN" altLang="en-US" dirty="0"/>
              <a:t>讨论：“这次不一样”综合症</a:t>
            </a:r>
            <a:br>
              <a:rPr lang="zh-CN" altLang="en-US" dirty="0"/>
            </a:br>
            <a:r>
              <a:rPr lang="zh-CN" altLang="en-US" dirty="0"/>
              <a:t>（</a:t>
            </a:r>
            <a:r>
              <a:rPr lang="en-US" altLang="zh-CN" dirty="0"/>
              <a:t>Reinhart and </a:t>
            </a:r>
            <a:r>
              <a:rPr lang="en-US" altLang="zh-CN" dirty="0" err="1" smtClean="0"/>
              <a:t>Rogoff</a:t>
            </a:r>
            <a:r>
              <a:rPr lang="en-US" altLang="zh-CN" dirty="0" smtClean="0"/>
              <a:t> (</a:t>
            </a:r>
            <a:r>
              <a:rPr lang="en-US" altLang="zh-CN" dirty="0"/>
              <a:t>2010) </a:t>
            </a:r>
            <a:r>
              <a:rPr lang="zh-CN" altLang="en-US" dirty="0"/>
              <a:t>）</a:t>
            </a:r>
            <a:endParaRPr lang="zh-CN" dirty="0"/>
          </a:p>
        </p:txBody>
      </p:sp>
      <p:sp>
        <p:nvSpPr>
          <p:cNvPr id="3" name="内容占位符 2"/>
          <p:cNvSpPr>
            <a:spLocks noGrp="1"/>
          </p:cNvSpPr>
          <p:nvPr>
            <p:ph idx="1"/>
          </p:nvPr>
        </p:nvSpPr>
        <p:spPr>
          <a:xfrm>
            <a:off x="971550" y="1447799"/>
            <a:ext cx="7200900" cy="4841879"/>
          </a:xfrm>
        </p:spPr>
        <p:txBody>
          <a:bodyPr>
            <a:normAutofit/>
          </a:bodyPr>
          <a:lstStyle/>
          <a:p>
            <a:pPr marL="514350" lvl="2" indent="-514350">
              <a:lnSpc>
                <a:spcPct val="100000"/>
              </a:lnSpc>
              <a:spcBef>
                <a:spcPts val="1800"/>
              </a:spcBef>
              <a:buFont typeface="+mj-lt"/>
              <a:buAutoNum type="arabicPeriod" startAt="3"/>
            </a:pPr>
            <a:r>
              <a:rPr lang="en-US" altLang="zh-CN" sz="2800" dirty="0">
                <a:latin typeface="微软雅黑" panose="020B0503020204020204" pitchFamily="34" charset="-122"/>
                <a:ea typeface="微软雅黑" panose="020B0503020204020204" pitchFamily="34" charset="-122"/>
              </a:rPr>
              <a:t>20</a:t>
            </a:r>
            <a:r>
              <a:rPr lang="zh-CN" altLang="en-US" sz="2800" dirty="0">
                <a:latin typeface="微软雅黑" panose="020B0503020204020204" pitchFamily="34" charset="-122"/>
                <a:ea typeface="微软雅黑" panose="020B0503020204020204" pitchFamily="34" charset="-122"/>
              </a:rPr>
              <a:t>世纪</a:t>
            </a:r>
            <a:r>
              <a:rPr lang="en-US" altLang="zh-CN" sz="2800" dirty="0">
                <a:latin typeface="微软雅黑" panose="020B0503020204020204" pitchFamily="34" charset="-122"/>
                <a:ea typeface="微软雅黑" panose="020B0503020204020204" pitchFamily="34" charset="-122"/>
              </a:rPr>
              <a:t>90</a:t>
            </a:r>
            <a:r>
              <a:rPr lang="zh-CN" altLang="en-US" sz="2800" dirty="0">
                <a:latin typeface="微软雅黑" panose="020B0503020204020204" pitchFamily="34" charset="-122"/>
                <a:ea typeface="微软雅黑" panose="020B0503020204020204" pitchFamily="34" charset="-122"/>
              </a:rPr>
              <a:t>年代和</a:t>
            </a:r>
            <a:r>
              <a:rPr lang="en-US" altLang="zh-CN" sz="2800" dirty="0">
                <a:latin typeface="微软雅黑" panose="020B0503020204020204" pitchFamily="34" charset="-122"/>
                <a:ea typeface="微软雅黑" panose="020B0503020204020204" pitchFamily="34" charset="-122"/>
              </a:rPr>
              <a:t>21</a:t>
            </a:r>
            <a:r>
              <a:rPr lang="zh-CN" altLang="en-US" sz="2800" dirty="0">
                <a:latin typeface="微软雅黑" panose="020B0503020204020204" pitchFamily="34" charset="-122"/>
                <a:ea typeface="微软雅黑" panose="020B0503020204020204" pitchFamily="34" charset="-122"/>
              </a:rPr>
              <a:t>世纪初拉丁美洲债券</a:t>
            </a:r>
            <a:r>
              <a:rPr lang="zh-CN" altLang="en-US" sz="2800" dirty="0" smtClean="0">
                <a:latin typeface="微软雅黑" panose="020B0503020204020204" pitchFamily="34" charset="-122"/>
                <a:ea typeface="微软雅黑" panose="020B0503020204020204" pitchFamily="34" charset="-122"/>
              </a:rPr>
              <a:t>危机</a:t>
            </a:r>
            <a:endParaRPr lang="en-US" altLang="zh-CN" sz="2800" dirty="0" smtClean="0">
              <a:latin typeface="微软雅黑" panose="020B0503020204020204" pitchFamily="34" charset="-122"/>
              <a:ea typeface="微软雅黑" panose="020B0503020204020204" pitchFamily="34" charset="-122"/>
            </a:endParaRPr>
          </a:p>
          <a:p>
            <a:pPr marL="685800" lvl="3" indent="-457200">
              <a:lnSpc>
                <a:spcPct val="100000"/>
              </a:lnSpc>
              <a:spcBef>
                <a:spcPts val="1800"/>
              </a:spcBef>
              <a:buFont typeface="Wingdings" panose="05000000000000000000" pitchFamily="2" charset="2"/>
              <a:buChar char="Ø"/>
            </a:pPr>
            <a:r>
              <a:rPr lang="zh-CN" altLang="en-US" sz="2200" dirty="0" smtClean="0">
                <a:solidFill>
                  <a:schemeClr val="accent1"/>
                </a:solidFill>
                <a:latin typeface="微软雅黑" panose="020B0503020204020204" pitchFamily="34" charset="-122"/>
                <a:ea typeface="微软雅黑" panose="020B0503020204020204" pitchFamily="34" charset="-122"/>
              </a:rPr>
              <a:t>该</a:t>
            </a:r>
            <a:r>
              <a:rPr lang="zh-CN" altLang="en-US" sz="2200" dirty="0">
                <a:solidFill>
                  <a:schemeClr val="accent1"/>
                </a:solidFill>
                <a:latin typeface="微软雅黑" panose="020B0503020204020204" pitchFamily="34" charset="-122"/>
                <a:ea typeface="微软雅黑" panose="020B0503020204020204" pitchFamily="34" charset="-122"/>
              </a:rPr>
              <a:t>时期的主要观点有：</a:t>
            </a:r>
            <a:r>
              <a:rPr lang="zh-CN" altLang="en-US" sz="2200" dirty="0">
                <a:latin typeface="微软雅黑" panose="020B0503020204020204" pitchFamily="34" charset="-122"/>
                <a:ea typeface="微软雅黑" panose="020B0503020204020204" pitchFamily="34" charset="-122"/>
              </a:rPr>
              <a:t>债务采用的是债券形式而非银行贷款。由于债券形式下债权人的数量要远多于贷款形式下银行的数量，因此各国在违约之前都会权衡再三，因为债权人谈判会变得更困难。</a:t>
            </a:r>
          </a:p>
          <a:p>
            <a:pPr marL="685800" lvl="3" indent="-457200">
              <a:lnSpc>
                <a:spcPct val="100000"/>
              </a:lnSpc>
              <a:spcBef>
                <a:spcPts val="1800"/>
              </a:spcBef>
              <a:buFont typeface="Wingdings" panose="05000000000000000000" pitchFamily="2" charset="2"/>
              <a:buChar char="Ø"/>
            </a:pPr>
            <a:r>
              <a:rPr lang="zh-CN" altLang="en-US" sz="2200" dirty="0">
                <a:solidFill>
                  <a:schemeClr val="accent1"/>
                </a:solidFill>
                <a:latin typeface="微软雅黑" panose="020B0503020204020204" pitchFamily="34" charset="-122"/>
                <a:ea typeface="微软雅黑" panose="020B0503020204020204" pitchFamily="34" charset="-122"/>
              </a:rPr>
              <a:t>现实：</a:t>
            </a:r>
            <a:r>
              <a:rPr lang="en-US" altLang="zh-CN" sz="2200" dirty="0">
                <a:latin typeface="微软雅黑" panose="020B0503020204020204" pitchFamily="34" charset="-122"/>
                <a:ea typeface="微软雅黑" panose="020B0503020204020204" pitchFamily="34" charset="-122"/>
              </a:rPr>
              <a:t>20</a:t>
            </a:r>
            <a:r>
              <a:rPr lang="zh-CN" altLang="en-US" sz="2200" dirty="0">
                <a:latin typeface="微软雅黑" panose="020B0503020204020204" pitchFamily="34" charset="-122"/>
                <a:ea typeface="微软雅黑" panose="020B0503020204020204" pitchFamily="34" charset="-122"/>
              </a:rPr>
              <a:t>世纪</a:t>
            </a:r>
            <a:r>
              <a:rPr lang="en-US" altLang="zh-CN" sz="2200" dirty="0">
                <a:latin typeface="微软雅黑" panose="020B0503020204020204" pitchFamily="34" charset="-122"/>
                <a:ea typeface="微软雅黑" panose="020B0503020204020204" pitchFamily="34" charset="-122"/>
              </a:rPr>
              <a:t>90</a:t>
            </a:r>
            <a:r>
              <a:rPr lang="zh-CN" altLang="en-US" sz="2200" dirty="0">
                <a:latin typeface="微软雅黑" panose="020B0503020204020204" pitchFamily="34" charset="-122"/>
                <a:ea typeface="微软雅黑" panose="020B0503020204020204" pitchFamily="34" charset="-122"/>
              </a:rPr>
              <a:t>年代的借款泡沫以一系列金融危机而告终。</a:t>
            </a:r>
            <a:r>
              <a:rPr lang="en-US" altLang="zh-CN" sz="2200" dirty="0">
                <a:latin typeface="微软雅黑" panose="020B0503020204020204" pitchFamily="34" charset="-122"/>
                <a:ea typeface="微软雅黑" panose="020B0503020204020204" pitchFamily="34" charset="-122"/>
              </a:rPr>
              <a:t>1994</a:t>
            </a:r>
            <a:r>
              <a:rPr lang="zh-CN" altLang="en-US" sz="2200" dirty="0">
                <a:latin typeface="微软雅黑" panose="020B0503020204020204" pitchFamily="34" charset="-122"/>
                <a:ea typeface="微软雅黑" panose="020B0503020204020204" pitchFamily="34" charset="-122"/>
              </a:rPr>
              <a:t>年</a:t>
            </a:r>
            <a:r>
              <a:rPr lang="en-US" altLang="zh-CN" sz="2200" dirty="0">
                <a:latin typeface="微软雅黑" panose="020B0503020204020204" pitchFamily="34" charset="-122"/>
                <a:ea typeface="微软雅黑" panose="020B0503020204020204" pitchFamily="34" charset="-122"/>
              </a:rPr>
              <a:t>12</a:t>
            </a:r>
            <a:r>
              <a:rPr lang="zh-CN" altLang="en-US" sz="2200" dirty="0">
                <a:latin typeface="微软雅黑" panose="020B0503020204020204" pitchFamily="34" charset="-122"/>
                <a:ea typeface="微软雅黑" panose="020B0503020204020204" pitchFamily="34" charset="-122"/>
              </a:rPr>
              <a:t>月墨西哥的大崩盘，随后是阿根廷</a:t>
            </a:r>
            <a:r>
              <a:rPr lang="en-US" altLang="zh-CN" sz="2200" dirty="0">
                <a:latin typeface="微软雅黑" panose="020B0503020204020204" pitchFamily="34" charset="-122"/>
                <a:ea typeface="微软雅黑" panose="020B0503020204020204" pitchFamily="34" charset="-122"/>
              </a:rPr>
              <a:t>1000</a:t>
            </a:r>
            <a:r>
              <a:rPr lang="zh-CN" altLang="en-US" sz="2200" dirty="0">
                <a:latin typeface="微软雅黑" panose="020B0503020204020204" pitchFamily="34" charset="-122"/>
                <a:ea typeface="微软雅黑" panose="020B0503020204020204" pitchFamily="34" charset="-122"/>
              </a:rPr>
              <a:t>亿美元的债券违约，</a:t>
            </a:r>
            <a:r>
              <a:rPr lang="en-US" altLang="zh-CN" sz="2200" dirty="0">
                <a:latin typeface="微软雅黑" panose="020B0503020204020204" pitchFamily="34" charset="-122"/>
                <a:ea typeface="微软雅黑" panose="020B0503020204020204" pitchFamily="34" charset="-122"/>
              </a:rPr>
              <a:t>1998</a:t>
            </a:r>
            <a:r>
              <a:rPr lang="zh-CN" altLang="en-US" sz="2200" dirty="0">
                <a:latin typeface="微软雅黑" panose="020B0503020204020204" pitchFamily="34" charset="-122"/>
                <a:ea typeface="微软雅黑" panose="020B0503020204020204" pitchFamily="34" charset="-122"/>
              </a:rPr>
              <a:t>年和</a:t>
            </a:r>
            <a:r>
              <a:rPr lang="en-US" altLang="zh-CN" sz="2200" dirty="0">
                <a:latin typeface="微软雅黑" panose="020B0503020204020204" pitchFamily="34" charset="-122"/>
                <a:ea typeface="微软雅黑" panose="020B0503020204020204" pitchFamily="34" charset="-122"/>
              </a:rPr>
              <a:t>2002</a:t>
            </a:r>
            <a:r>
              <a:rPr lang="zh-CN" altLang="en-US" sz="2200" dirty="0">
                <a:latin typeface="微软雅黑" panose="020B0503020204020204" pitchFamily="34" charset="-122"/>
                <a:ea typeface="微软雅黑" panose="020B0503020204020204" pitchFamily="34" charset="-122"/>
              </a:rPr>
              <a:t>年巴西的金融危机以及</a:t>
            </a:r>
            <a:r>
              <a:rPr lang="en-US" altLang="zh-CN" sz="2200" dirty="0">
                <a:latin typeface="微软雅黑" panose="020B0503020204020204" pitchFamily="34" charset="-122"/>
                <a:ea typeface="微软雅黑" panose="020B0503020204020204" pitchFamily="34" charset="-122"/>
              </a:rPr>
              <a:t>2002</a:t>
            </a:r>
            <a:r>
              <a:rPr lang="zh-CN" altLang="en-US" sz="2200" dirty="0">
                <a:latin typeface="微软雅黑" panose="020B0503020204020204" pitchFamily="34" charset="-122"/>
                <a:ea typeface="微软雅黑" panose="020B0503020204020204" pitchFamily="34" charset="-122"/>
              </a:rPr>
              <a:t>年乌拉圭的违约。</a:t>
            </a:r>
          </a:p>
          <a:p>
            <a:pPr marL="0" lvl="2" indent="0">
              <a:lnSpc>
                <a:spcPct val="100000"/>
              </a:lnSpc>
              <a:spcBef>
                <a:spcPts val="1800"/>
              </a:spcBef>
              <a:buNone/>
            </a:pPr>
            <a:endParaRPr lang="zh-CN" altLang="en-US" sz="2400" dirty="0">
              <a:latin typeface="微软雅黑" panose="020B0503020204020204" pitchFamily="34" charset="-122"/>
              <a:ea typeface="微软雅黑" panose="020B0503020204020204" pitchFamily="34" charset="-122"/>
            </a:endParaRPr>
          </a:p>
        </p:txBody>
      </p:sp>
      <p:sp>
        <p:nvSpPr>
          <p:cNvPr id="5" name="页脚占位符 4"/>
          <p:cNvSpPr>
            <a:spLocks noGrp="1"/>
          </p:cNvSpPr>
          <p:nvPr>
            <p:ph type="ftr" sz="quarter" idx="11"/>
          </p:nvPr>
        </p:nvSpPr>
        <p:spPr/>
        <p:txBody>
          <a:bodyPr/>
          <a:lstStyle/>
          <a:p>
            <a:r>
              <a:rPr lang="zh-CN" altLang="en-US" smtClean="0"/>
              <a:t>国际金融学 范小云</a:t>
            </a:r>
            <a:endParaRPr lang="zh-CN" altLang="en-US" dirty="0"/>
          </a:p>
        </p:txBody>
      </p:sp>
    </p:spTree>
    <p:extLst>
      <p:ext uri="{BB962C8B-B14F-4D97-AF65-F5344CB8AC3E}">
        <p14:creationId xmlns:p14="http://schemas.microsoft.com/office/powerpoint/2010/main" val="155345558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Effect transition="in" filter="fade">
                                      <p:cBhvr>
                                        <p:cTn id="7" dur="500"/>
                                        <p:tgtEl>
                                          <p:spTgt spid="3">
                                            <p:txEl>
                                              <p:pRg st="1" end="1"/>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3">
                                            <p:txEl>
                                              <p:pRg st="2" end="2"/>
                                            </p:txEl>
                                          </p:spTgt>
                                        </p:tgtEl>
                                        <p:attrNameLst>
                                          <p:attrName>style.visibility</p:attrName>
                                        </p:attrNameLst>
                                      </p:cBhvr>
                                      <p:to>
                                        <p:strVal val="visible"/>
                                      </p:to>
                                    </p:set>
                                    <p:animEffect transition="in" filter="fade">
                                      <p:cBhvr>
                                        <p:cTn id="10" dur="500"/>
                                        <p:tgtEl>
                                          <p:spTgt spid="3">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algn="ctr"/>
            <a:r>
              <a:rPr lang="zh-CN" altLang="en-US" dirty="0"/>
              <a:t>讨论：“这次不一样”综合症</a:t>
            </a:r>
            <a:br>
              <a:rPr lang="zh-CN" altLang="en-US" dirty="0"/>
            </a:br>
            <a:r>
              <a:rPr lang="zh-CN" altLang="en-US" dirty="0"/>
              <a:t>（</a:t>
            </a:r>
            <a:r>
              <a:rPr lang="en-US" altLang="zh-CN" dirty="0"/>
              <a:t>Reinhart and </a:t>
            </a:r>
            <a:r>
              <a:rPr lang="en-US" altLang="zh-CN" dirty="0" err="1" smtClean="0"/>
              <a:t>Rogoff</a:t>
            </a:r>
            <a:r>
              <a:rPr lang="en-US" altLang="zh-CN" dirty="0" smtClean="0"/>
              <a:t> (</a:t>
            </a:r>
            <a:r>
              <a:rPr lang="en-US" altLang="zh-CN" dirty="0"/>
              <a:t>2010) </a:t>
            </a:r>
            <a:r>
              <a:rPr lang="zh-CN" altLang="en-US" dirty="0"/>
              <a:t>）</a:t>
            </a:r>
            <a:endParaRPr lang="zh-CN" dirty="0"/>
          </a:p>
        </p:txBody>
      </p:sp>
      <p:sp>
        <p:nvSpPr>
          <p:cNvPr id="3" name="内容占位符 2"/>
          <p:cNvSpPr>
            <a:spLocks noGrp="1"/>
          </p:cNvSpPr>
          <p:nvPr>
            <p:ph idx="1"/>
          </p:nvPr>
        </p:nvSpPr>
        <p:spPr>
          <a:xfrm>
            <a:off x="971550" y="1447799"/>
            <a:ext cx="7200900" cy="4841879"/>
          </a:xfrm>
        </p:spPr>
        <p:txBody>
          <a:bodyPr>
            <a:normAutofit/>
          </a:bodyPr>
          <a:lstStyle/>
          <a:p>
            <a:pPr marL="514350" lvl="2" indent="-514350">
              <a:lnSpc>
                <a:spcPct val="100000"/>
              </a:lnSpc>
              <a:spcBef>
                <a:spcPts val="1800"/>
              </a:spcBef>
              <a:buFont typeface="+mj-lt"/>
              <a:buAutoNum type="arabicPeriod" startAt="4"/>
            </a:pPr>
            <a:r>
              <a:rPr lang="en-US" altLang="zh-CN" sz="2800" dirty="0">
                <a:latin typeface="微软雅黑" panose="020B0503020204020204" pitchFamily="34" charset="-122"/>
                <a:ea typeface="微软雅黑" panose="020B0503020204020204" pitchFamily="34" charset="-122"/>
              </a:rPr>
              <a:t>21</a:t>
            </a:r>
            <a:r>
              <a:rPr lang="zh-CN" altLang="en-US" sz="2800" dirty="0">
                <a:latin typeface="微软雅黑" panose="020B0503020204020204" pitchFamily="34" charset="-122"/>
                <a:ea typeface="微软雅黑" panose="020B0503020204020204" pitchFamily="34" charset="-122"/>
              </a:rPr>
              <a:t>世纪头十年后期金融危机前的美国</a:t>
            </a:r>
          </a:p>
          <a:p>
            <a:pPr marL="685800" lvl="3" indent="-457200">
              <a:lnSpc>
                <a:spcPct val="100000"/>
              </a:lnSpc>
              <a:spcBef>
                <a:spcPts val="1800"/>
              </a:spcBef>
              <a:buFont typeface="Wingdings" panose="05000000000000000000" pitchFamily="2" charset="2"/>
              <a:buChar char="Ø"/>
            </a:pPr>
            <a:r>
              <a:rPr lang="zh-CN" altLang="en-US" sz="2200" dirty="0">
                <a:solidFill>
                  <a:schemeClr val="accent1"/>
                </a:solidFill>
                <a:latin typeface="微软雅黑" panose="020B0503020204020204" pitchFamily="34" charset="-122"/>
                <a:ea typeface="微软雅黑" panose="020B0503020204020204" pitchFamily="34" charset="-122"/>
              </a:rPr>
              <a:t>该时期的主要观点有：</a:t>
            </a:r>
            <a:r>
              <a:rPr lang="zh-CN" altLang="en-US" sz="2200" dirty="0">
                <a:latin typeface="微软雅黑" panose="020B0503020204020204" pitchFamily="34" charset="-122"/>
                <a:ea typeface="微软雅黑" panose="020B0503020204020204" pitchFamily="34" charset="-122"/>
              </a:rPr>
              <a:t>由于全球一体化、技术快速进步、更高级的金融系统、对货币政策更深刻的理解以及债务证券化的出现，一切都变得很好。</a:t>
            </a:r>
          </a:p>
          <a:p>
            <a:pPr marL="685800" lvl="3" indent="-457200">
              <a:lnSpc>
                <a:spcPct val="100000"/>
              </a:lnSpc>
              <a:spcBef>
                <a:spcPts val="1800"/>
              </a:spcBef>
              <a:buFont typeface="Wingdings" panose="05000000000000000000" pitchFamily="2" charset="2"/>
              <a:buChar char="Ø"/>
            </a:pPr>
            <a:r>
              <a:rPr lang="zh-CN" altLang="en-US" sz="2200" dirty="0">
                <a:solidFill>
                  <a:schemeClr val="accent1"/>
                </a:solidFill>
                <a:latin typeface="微软雅黑" panose="020B0503020204020204" pitchFamily="34" charset="-122"/>
                <a:ea typeface="微软雅黑" panose="020B0503020204020204" pitchFamily="34" charset="-122"/>
              </a:rPr>
              <a:t>现实：</a:t>
            </a:r>
            <a:r>
              <a:rPr lang="zh-CN" altLang="en-US" sz="2200" dirty="0">
                <a:latin typeface="微软雅黑" panose="020B0503020204020204" pitchFamily="34" charset="-122"/>
                <a:ea typeface="微软雅黑" panose="020B0503020204020204" pitchFamily="34" charset="-122"/>
              </a:rPr>
              <a:t>次贷危机发生了，它是大萧条以来最严重的金融危机，同时也是自第二次世界大战以来唯一的全球性金融危机。</a:t>
            </a:r>
          </a:p>
          <a:p>
            <a:pPr marL="0" lvl="2" indent="0">
              <a:lnSpc>
                <a:spcPct val="100000"/>
              </a:lnSpc>
              <a:spcBef>
                <a:spcPts val="1800"/>
              </a:spcBef>
              <a:buNone/>
            </a:pPr>
            <a:endParaRPr lang="zh-CN" altLang="en-US" sz="2400" dirty="0">
              <a:latin typeface="微软雅黑" panose="020B0503020204020204" pitchFamily="34" charset="-122"/>
              <a:ea typeface="微软雅黑" panose="020B0503020204020204" pitchFamily="34" charset="-122"/>
            </a:endParaRPr>
          </a:p>
        </p:txBody>
      </p:sp>
      <p:sp>
        <p:nvSpPr>
          <p:cNvPr id="5" name="页脚占位符 4"/>
          <p:cNvSpPr>
            <a:spLocks noGrp="1"/>
          </p:cNvSpPr>
          <p:nvPr>
            <p:ph type="ftr" sz="quarter" idx="11"/>
          </p:nvPr>
        </p:nvSpPr>
        <p:spPr/>
        <p:txBody>
          <a:bodyPr/>
          <a:lstStyle/>
          <a:p>
            <a:r>
              <a:rPr lang="zh-CN" altLang="en-US" smtClean="0"/>
              <a:t>国际金融学 范小云</a:t>
            </a:r>
            <a:endParaRPr lang="zh-CN" altLang="en-US" dirty="0"/>
          </a:p>
        </p:txBody>
      </p:sp>
    </p:spTree>
    <p:extLst>
      <p:ext uri="{BB962C8B-B14F-4D97-AF65-F5344CB8AC3E}">
        <p14:creationId xmlns:p14="http://schemas.microsoft.com/office/powerpoint/2010/main" val="64756089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Effect transition="in" filter="fade">
                                      <p:cBhvr>
                                        <p:cTn id="7" dur="500"/>
                                        <p:tgtEl>
                                          <p:spTgt spid="3">
                                            <p:txEl>
                                              <p:pRg st="1" end="1"/>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3">
                                            <p:txEl>
                                              <p:pRg st="2" end="2"/>
                                            </p:txEl>
                                          </p:spTgt>
                                        </p:tgtEl>
                                        <p:attrNameLst>
                                          <p:attrName>style.visibility</p:attrName>
                                        </p:attrNameLst>
                                      </p:cBhvr>
                                      <p:to>
                                        <p:strVal val="visible"/>
                                      </p:to>
                                    </p:set>
                                    <p:animEffect transition="in" filter="fade">
                                      <p:cBhvr>
                                        <p:cTn id="10" dur="500"/>
                                        <p:tgtEl>
                                          <p:spTgt spid="3">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Diamond Grid 16x9">
  <a:themeElements>
    <a:clrScheme name="蓝色 II">
      <a:dk1>
        <a:sysClr val="windowText" lastClr="000000"/>
      </a:dk1>
      <a:lt1>
        <a:sysClr val="window" lastClr="FFFFFF"/>
      </a:lt1>
      <a:dk2>
        <a:srgbClr val="335B74"/>
      </a:dk2>
      <a:lt2>
        <a:srgbClr val="DFE3E5"/>
      </a:lt2>
      <a:accent1>
        <a:srgbClr val="1CADE4"/>
      </a:accent1>
      <a:accent2>
        <a:srgbClr val="2683C6"/>
      </a:accent2>
      <a:accent3>
        <a:srgbClr val="27CED7"/>
      </a:accent3>
      <a:accent4>
        <a:srgbClr val="42BA97"/>
      </a:accent4>
      <a:accent5>
        <a:srgbClr val="3E8853"/>
      </a:accent5>
      <a:accent6>
        <a:srgbClr val="62A39F"/>
      </a:accent6>
      <a:hlink>
        <a:srgbClr val="6EAC1C"/>
      </a:hlink>
      <a:folHlink>
        <a:srgbClr val="B26B02"/>
      </a:folHlink>
    </a:clrScheme>
    <a:fontScheme name="Arial">
      <a:majorFont>
        <a:latin typeface="Arial"/>
        <a:ea typeface=""/>
        <a:cs typeface=""/>
        <a:font script="Jpan" typeface="ＭＳ ゴシック"/>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Arial"/>
        <a:ea typeface=""/>
        <a:cs typeface=""/>
        <a:font script="Jpan" typeface="ＭＳ ゴシック"/>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15_4109default" id="{E728D685-11FC-4812-BA85-57AC6F9C9F40}" vid="{BC4E008B-95FF-4815-904E-143A8EDFC1D4}"/>
    </a:ext>
  </a:extLst>
</a:theme>
</file>

<file path=ppt/theme/theme2.xml><?xml version="1.0" encoding="utf-8"?>
<a:theme xmlns:a="http://schemas.openxmlformats.org/drawingml/2006/main" name="Office Theme">
  <a:themeElements>
    <a:clrScheme name="DiamondGrid">
      <a:dk1>
        <a:srgbClr val="2D2E2D"/>
      </a:dk1>
      <a:lt1>
        <a:sysClr val="window" lastClr="FFFFFF"/>
      </a:lt1>
      <a:dk2>
        <a:srgbClr val="000000"/>
      </a:dk2>
      <a:lt2>
        <a:srgbClr val="EAEAEA"/>
      </a:lt2>
      <a:accent1>
        <a:srgbClr val="D15A3E"/>
      </a:accent1>
      <a:accent2>
        <a:srgbClr val="B2B2B2"/>
      </a:accent2>
      <a:accent3>
        <a:srgbClr val="4F91A1"/>
      </a:accent3>
      <a:accent4>
        <a:srgbClr val="F0BA34"/>
      </a:accent4>
      <a:accent5>
        <a:srgbClr val="AEB733"/>
      </a:accent5>
      <a:accent6>
        <a:srgbClr val="926397"/>
      </a:accent6>
      <a:hlink>
        <a:srgbClr val="4F91A1"/>
      </a:hlink>
      <a:folHlink>
        <a:srgbClr val="808080"/>
      </a:folHlink>
    </a:clrScheme>
    <a:fontScheme name="Arial">
      <a:majorFont>
        <a:latin typeface="Arial"/>
        <a:ea typeface=""/>
        <a:cs typeface=""/>
        <a:font script="Jpan" typeface="ＭＳ ゴシック"/>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Arial"/>
        <a:ea typeface=""/>
        <a:cs typeface=""/>
        <a:font script="Jpan" typeface="ＭＳ ゴシック"/>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Office">
      <a:fillStyleLst>
        <a:solidFill>
          <a:schemeClr val="phClr"/>
        </a:solidFill>
        <a:gradFill rotWithShape="1">
          <a:gsLst>
            <a:gs pos="0">
              <a:schemeClr val="phClr">
                <a:lumMod val="157000"/>
                <a:satMod val="101000"/>
              </a:schemeClr>
            </a:gs>
            <a:gs pos="50000">
              <a:schemeClr val="phClr">
                <a:lumMod val="137000"/>
                <a:satMod val="103000"/>
              </a:schemeClr>
            </a:gs>
            <a:gs pos="100000">
              <a:schemeClr val="phClr">
                <a:lumMod val="115000"/>
                <a:satMod val="109000"/>
              </a:schemeClr>
            </a:gs>
          </a:gsLst>
          <a:lin ang="5400000" scaled="0"/>
        </a:gradFill>
        <a:gradFill rotWithShape="1">
          <a:gsLst>
            <a:gs pos="0">
              <a:schemeClr val="phClr">
                <a:satMod val="103000"/>
                <a:lumMod val="118000"/>
              </a:schemeClr>
            </a:gs>
            <a:gs pos="50000">
              <a:schemeClr val="phClr">
                <a:satMod val="89000"/>
                <a:lumMod val="91000"/>
              </a:schemeClr>
            </a:gs>
            <a:gs pos="100000">
              <a:schemeClr val="phClr">
                <a:lumMod val="69000"/>
              </a:schemeClr>
            </a:gs>
          </a:gsLst>
          <a:lin ang="5400000" scaled="0"/>
        </a:gradFill>
      </a:fillStyleLst>
      <a:lnStyleLst>
        <a:ln w="6350" cap="flat" cmpd="sng" algn="ctr">
          <a:solidFill>
            <a:schemeClr val="phClr"/>
          </a:solidFill>
          <a:prstDash val="solid"/>
        </a:ln>
        <a:ln w="12700" cap="flat" cmpd="sng" algn="ctr">
          <a:solidFill>
            <a:schemeClr val="phClr"/>
          </a:solidFill>
          <a:prstDash val="solid"/>
        </a:ln>
        <a:ln w="19050" cap="flat" cmpd="sng" algn="ctr">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gradFill rotWithShape="1">
          <a:gsLst>
            <a:gs pos="0">
              <a:schemeClr val="phClr">
                <a:tint val="100000"/>
                <a:satMod val="100000"/>
                <a:shade val="0"/>
              </a:schemeClr>
            </a:gs>
            <a:gs pos="0">
              <a:scrgbClr r="0" g="0" b="0"/>
            </a:gs>
            <a:gs pos="100000">
              <a:schemeClr val="phClr">
                <a:shade val="100000"/>
                <a:satMod val="100000"/>
              </a:schemeClr>
            </a:gs>
          </a:gsLst>
          <a:lin ang="5400000" scaled="0"/>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DiamondGrid">
      <a:dk1>
        <a:srgbClr val="2D2E2D"/>
      </a:dk1>
      <a:lt1>
        <a:sysClr val="window" lastClr="FFFFFF"/>
      </a:lt1>
      <a:dk2>
        <a:srgbClr val="000000"/>
      </a:dk2>
      <a:lt2>
        <a:srgbClr val="EAEAEA"/>
      </a:lt2>
      <a:accent1>
        <a:srgbClr val="D15A3E"/>
      </a:accent1>
      <a:accent2>
        <a:srgbClr val="B2B2B2"/>
      </a:accent2>
      <a:accent3>
        <a:srgbClr val="4F91A1"/>
      </a:accent3>
      <a:accent4>
        <a:srgbClr val="F0BA34"/>
      </a:accent4>
      <a:accent5>
        <a:srgbClr val="AEB733"/>
      </a:accent5>
      <a:accent6>
        <a:srgbClr val="926397"/>
      </a:accent6>
      <a:hlink>
        <a:srgbClr val="4F91A1"/>
      </a:hlink>
      <a:folHlink>
        <a:srgbClr val="808080"/>
      </a:folHlink>
    </a:clrScheme>
    <a:fontScheme name="Arial">
      <a:majorFont>
        <a:latin typeface="Arial"/>
        <a:ea typeface=""/>
        <a:cs typeface=""/>
        <a:font script="Jpan" typeface="ＭＳ ゴシック"/>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Arial"/>
        <a:ea typeface=""/>
        <a:cs typeface=""/>
        <a:font script="Jpan" typeface="ＭＳ ゴシック"/>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Office">
      <a:fillStyleLst>
        <a:solidFill>
          <a:schemeClr val="phClr"/>
        </a:solidFill>
        <a:gradFill rotWithShape="1">
          <a:gsLst>
            <a:gs pos="0">
              <a:schemeClr val="phClr">
                <a:lumMod val="157000"/>
                <a:satMod val="101000"/>
              </a:schemeClr>
            </a:gs>
            <a:gs pos="50000">
              <a:schemeClr val="phClr">
                <a:lumMod val="137000"/>
                <a:satMod val="103000"/>
              </a:schemeClr>
            </a:gs>
            <a:gs pos="100000">
              <a:schemeClr val="phClr">
                <a:lumMod val="115000"/>
                <a:satMod val="109000"/>
              </a:schemeClr>
            </a:gs>
          </a:gsLst>
          <a:lin ang="5400000" scaled="0"/>
        </a:gradFill>
        <a:gradFill rotWithShape="1">
          <a:gsLst>
            <a:gs pos="0">
              <a:schemeClr val="phClr">
                <a:satMod val="103000"/>
                <a:lumMod val="118000"/>
              </a:schemeClr>
            </a:gs>
            <a:gs pos="50000">
              <a:schemeClr val="phClr">
                <a:satMod val="89000"/>
                <a:lumMod val="91000"/>
              </a:schemeClr>
            </a:gs>
            <a:gs pos="100000">
              <a:schemeClr val="phClr">
                <a:lumMod val="69000"/>
              </a:schemeClr>
            </a:gs>
          </a:gsLst>
          <a:lin ang="5400000" scaled="0"/>
        </a:gradFill>
      </a:fillStyleLst>
      <a:lnStyleLst>
        <a:ln w="6350" cap="flat" cmpd="sng" algn="ctr">
          <a:solidFill>
            <a:schemeClr val="phClr"/>
          </a:solidFill>
          <a:prstDash val="solid"/>
        </a:ln>
        <a:ln w="12700" cap="flat" cmpd="sng" algn="ctr">
          <a:solidFill>
            <a:schemeClr val="phClr"/>
          </a:solidFill>
          <a:prstDash val="solid"/>
        </a:ln>
        <a:ln w="19050" cap="flat" cmpd="sng" algn="ctr">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gradFill rotWithShape="1">
          <a:gsLst>
            <a:gs pos="0">
              <a:schemeClr val="phClr">
                <a:tint val="100000"/>
                <a:satMod val="100000"/>
                <a:shade val="0"/>
              </a:schemeClr>
            </a:gs>
            <a:gs pos="0">
              <a:scrgbClr r="0" g="0" b="0"/>
            </a:gs>
            <a:gs pos="100000">
              <a:schemeClr val="phClr">
                <a:shade val="100000"/>
                <a:satMod val="100000"/>
              </a:schemeClr>
            </a:gs>
          </a:gsLst>
          <a:lin ang="5400000" scaled="0"/>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item1.xml><?xml version="1.0" encoding="utf-8"?>
<?mso-contentType ?>
<FormTemplates xmlns="http://schemas.microsoft.com/sharepoint/v3/contenttype/forms">
  <Display>DocumentLibraryForm</Display>
  <Edit>AssetEditForm</Edit>
  <New>DocumentLibraryForm</New>
</FormTemplates>
</file>

<file path=customXml/itemProps1.xml><?xml version="1.0" encoding="utf-8"?>
<ds:datastoreItem xmlns:ds="http://schemas.openxmlformats.org/officeDocument/2006/customXml" ds:itemID="{27087C0F-7449-45C4-B248-63D02665BF1F}">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菱形网格演示文稿（宽屏）</Template>
  <TotalTime>0</TotalTime>
  <Words>8339</Words>
  <Application>Microsoft Office PowerPoint</Application>
  <PresentationFormat>全屏显示(4:3)</PresentationFormat>
  <Paragraphs>1033</Paragraphs>
  <Slides>85</Slides>
  <Notes>77</Notes>
  <HiddenSlides>0</HiddenSlides>
  <MMClips>0</MMClips>
  <ScaleCrop>false</ScaleCrop>
  <HeadingPairs>
    <vt:vector size="6" baseType="variant">
      <vt:variant>
        <vt:lpstr>已用的字体</vt:lpstr>
      </vt:variant>
      <vt:variant>
        <vt:i4>9</vt:i4>
      </vt:variant>
      <vt:variant>
        <vt:lpstr>主题</vt:lpstr>
      </vt:variant>
      <vt:variant>
        <vt:i4>1</vt:i4>
      </vt:variant>
      <vt:variant>
        <vt:lpstr>幻灯片标题</vt:lpstr>
      </vt:variant>
      <vt:variant>
        <vt:i4>85</vt:i4>
      </vt:variant>
    </vt:vector>
  </HeadingPairs>
  <TitlesOfParts>
    <vt:vector size="95" baseType="lpstr">
      <vt:lpstr>Microsoft YaHei UI</vt:lpstr>
      <vt:lpstr>隶书</vt:lpstr>
      <vt:lpstr>宋体</vt:lpstr>
      <vt:lpstr>微软雅黑</vt:lpstr>
      <vt:lpstr>幼圆</vt:lpstr>
      <vt:lpstr>Arial</vt:lpstr>
      <vt:lpstr>Calibri</vt:lpstr>
      <vt:lpstr>Times New Roman</vt:lpstr>
      <vt:lpstr>Wingdings</vt:lpstr>
      <vt:lpstr>Diamond Grid 16x9</vt:lpstr>
      <vt:lpstr>国际金融学</vt:lpstr>
      <vt:lpstr>第六章    国际资本流动 与国际金融危机</vt:lpstr>
      <vt:lpstr>第一节 国际资本流动概述</vt:lpstr>
      <vt:lpstr>PowerPoint 演示文稿</vt:lpstr>
      <vt:lpstr>PowerPoint 演示文稿</vt:lpstr>
      <vt:lpstr>PowerPoint 演示文稿</vt:lpstr>
      <vt:lpstr>第一节 国际资本流动概述</vt:lpstr>
      <vt:lpstr>第一节 国际资本流动概述</vt:lpstr>
      <vt:lpstr>第一节 国际资本流动概述</vt:lpstr>
      <vt:lpstr>第一节 国际资本流动概述</vt:lpstr>
      <vt:lpstr>第一节 国际资本流动概述</vt:lpstr>
      <vt:lpstr>第一节 国际资本流动概述</vt:lpstr>
      <vt:lpstr>第一节 国际资本流动概述</vt:lpstr>
      <vt:lpstr>第一节 国际资本流动概述</vt:lpstr>
      <vt:lpstr>第一节 国际资本流动概述</vt:lpstr>
      <vt:lpstr>第一节 国际资本流动概述</vt:lpstr>
      <vt:lpstr>第一节 国际资本流动概述</vt:lpstr>
      <vt:lpstr>第一节 国际资本流动概述</vt:lpstr>
      <vt:lpstr>第一节 国际资本流动概述</vt:lpstr>
      <vt:lpstr>第一节 国际资本流动概述</vt:lpstr>
      <vt:lpstr>第一节 国际资本流动概述</vt:lpstr>
      <vt:lpstr>第一节 国际资本流动概述</vt:lpstr>
      <vt:lpstr>第二节 国际金融危机的一般理论</vt:lpstr>
      <vt:lpstr>第二节 国际金融危机的一般理论</vt:lpstr>
      <vt:lpstr>第二节 国际金融危机的一般理论</vt:lpstr>
      <vt:lpstr>第二节 国际金融危机的一般理论</vt:lpstr>
      <vt:lpstr>第二节 国际金融危机的一般理论</vt:lpstr>
      <vt:lpstr>第二节 国际金融危机的一般理论</vt:lpstr>
      <vt:lpstr>第二节 国际金融危机的一般理论</vt:lpstr>
      <vt:lpstr>第二节 国际金融危机的一般理论</vt:lpstr>
      <vt:lpstr>第二节 国际金融危机的一般理论</vt:lpstr>
      <vt:lpstr>第二节 国际金融危机的一般理论</vt:lpstr>
      <vt:lpstr>第二节 国际金融危机的一般理论</vt:lpstr>
      <vt:lpstr>第二节 国际金融危机的一般理论</vt:lpstr>
      <vt:lpstr>PowerPoint 演示文稿</vt:lpstr>
      <vt:lpstr>第二节 国际金融危机的一般理论</vt:lpstr>
      <vt:lpstr>第二节 国际金融危机的一般理论</vt:lpstr>
      <vt:lpstr>第二节 国际金融危机的一般理论</vt:lpstr>
      <vt:lpstr>PowerPoint 演示文稿</vt:lpstr>
      <vt:lpstr>PowerPoint 演示文稿</vt:lpstr>
      <vt:lpstr>PowerPoint 演示文稿</vt:lpstr>
      <vt:lpstr>PowerPoint 演示文稿</vt:lpstr>
      <vt:lpstr>第二节 国际金融危机的一般理论</vt:lpstr>
      <vt:lpstr>第二节 国际金融危机的一般理论</vt:lpstr>
      <vt:lpstr>第二节 国际金融危机的一般理论</vt:lpstr>
      <vt:lpstr>PowerPoint 演示文稿</vt:lpstr>
      <vt:lpstr>PowerPoint 演示文稿</vt:lpstr>
      <vt:lpstr>PowerPoint 演示文稿</vt:lpstr>
      <vt:lpstr>第二节 国际金融危机的一般理论</vt:lpstr>
      <vt:lpstr>第二节 国际金融危机的一般理论</vt:lpstr>
      <vt:lpstr>第二节 国际金融危机的一般理论</vt:lpstr>
      <vt:lpstr>PowerPoint 演示文稿</vt:lpstr>
      <vt:lpstr>第二节 国际金融危机的一般理论</vt:lpstr>
      <vt:lpstr>第二节 国际金融危机的一般理论</vt:lpstr>
      <vt:lpstr>第二节 国际金融危机的一般理论</vt:lpstr>
      <vt:lpstr>第二节 国际金融危机的一般理论</vt:lpstr>
      <vt:lpstr>第二节 国际金融危机的一般理论</vt:lpstr>
      <vt:lpstr>PowerPoint 演示文稿</vt:lpstr>
      <vt:lpstr>PowerPoint 演示文稿</vt:lpstr>
      <vt:lpstr>PowerPoint 演示文稿</vt:lpstr>
      <vt:lpstr>第二节 国际金融危机的一般理论</vt:lpstr>
      <vt:lpstr>第三节 现代国际金融危机理论</vt:lpstr>
      <vt:lpstr>第三节 现代国际金融危机理论</vt:lpstr>
      <vt:lpstr>第三节 现代国际金融危机理论</vt:lpstr>
      <vt:lpstr>第三节 现代国际金融危机理论</vt:lpstr>
      <vt:lpstr>第三节 现代国际金融危机理论</vt:lpstr>
      <vt:lpstr>第三节 现代国际金融危机理论</vt:lpstr>
      <vt:lpstr>第三节 现代国际金融危机理论</vt:lpstr>
      <vt:lpstr>第三节 现代国际金融危机理论</vt:lpstr>
      <vt:lpstr>第三节 现代国际金融危机理论</vt:lpstr>
      <vt:lpstr>第三节 现代国际金融危机理论</vt:lpstr>
      <vt:lpstr>第三节 现代国际金融危机理论</vt:lpstr>
      <vt:lpstr>第三节 现代国际金融危机理论</vt:lpstr>
      <vt:lpstr>第三节 现代国际金融危机理论</vt:lpstr>
      <vt:lpstr>第三节 现代国际金融危机理论</vt:lpstr>
      <vt:lpstr>第三节 现代国际金融危机理论</vt:lpstr>
      <vt:lpstr>第三节 现代国际金融危机理论</vt:lpstr>
      <vt:lpstr>第三节 现代国际金融危机理论</vt:lpstr>
      <vt:lpstr>第三节 现代国际金融危机理论</vt:lpstr>
      <vt:lpstr>讨论：“这次不一样”综合症 （Reinhart and Rogoff (2010) ）</vt:lpstr>
      <vt:lpstr>讨论：“这次不一样”综合症 （Reinhart and Rogoff (2010) ）</vt:lpstr>
      <vt:lpstr>讨论：“这次不一样”综合症 （Reinhart and Rogoff (2010) ）</vt:lpstr>
      <vt:lpstr>讨论：“这次不一样”综合症 （Reinhart and Rogoff (2010) ）</vt:lpstr>
      <vt:lpstr>讨论：“这次不一样”综合症 （Reinhart and Rogoff (2010) ）</vt:lpstr>
      <vt:lpstr>讨论：“这次不一样”综合症 （Reinhart and Rogoff (2010)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keywords/>
  <cp:lastModifiedBy/>
  <cp:revision>1</cp:revision>
  <dcterms:created xsi:type="dcterms:W3CDTF">2015-03-10T15:06:14Z</dcterms:created>
  <dcterms:modified xsi:type="dcterms:W3CDTF">2022-05-23T04:42:53Z</dcterms:modified>
  <cp:version/>
</cp:coreProperties>
</file>

<file path=docProps/custom.xml><?xml version="1.0" encoding="utf-8"?>
<Properties xmlns="http://schemas.openxmlformats.org/officeDocument/2006/custom-properties" xmlns:vt="http://schemas.openxmlformats.org/officeDocument/2006/docPropsVTypes">
  <property fmtid="{D5CDD505-2E9C-101B-9397-08002B2CF9AE}" pid="2" name="_TemplateID">
    <vt:lpwstr>TC030310159991</vt:lpwstr>
  </property>
</Properties>
</file>