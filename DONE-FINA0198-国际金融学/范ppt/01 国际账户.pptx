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omments/comment1.xml" ContentType="application/vnd.openxmlformats-officedocument.presentationml.comments+xml"/>
  <Override PartName="/ppt/notesSlides/notesSlide27.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8.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9.xml" ContentType="application/vnd.openxmlformats-officedocument.presentationml.notesSlid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0.xml" ContentType="application/vnd.openxmlformats-officedocument.presentationml.notesSlid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2"/>
  </p:sldMasterIdLst>
  <p:notesMasterIdLst>
    <p:notesMasterId r:id="rId53"/>
  </p:notesMasterIdLst>
  <p:handoutMasterIdLst>
    <p:handoutMasterId r:id="rId54"/>
  </p:handoutMasterIdLst>
  <p:sldIdLst>
    <p:sldId id="275" r:id="rId3"/>
    <p:sldId id="276" r:id="rId4"/>
    <p:sldId id="277" r:id="rId5"/>
    <p:sldId id="278" r:id="rId6"/>
    <p:sldId id="279" r:id="rId7"/>
    <p:sldId id="281" r:id="rId8"/>
    <p:sldId id="282" r:id="rId9"/>
    <p:sldId id="280" r:id="rId10"/>
    <p:sldId id="284" r:id="rId11"/>
    <p:sldId id="285" r:id="rId12"/>
    <p:sldId id="319" r:id="rId13"/>
    <p:sldId id="320" r:id="rId14"/>
    <p:sldId id="283" r:id="rId15"/>
    <p:sldId id="321" r:id="rId16"/>
    <p:sldId id="322" r:id="rId17"/>
    <p:sldId id="323" r:id="rId18"/>
    <p:sldId id="286" r:id="rId19"/>
    <p:sldId id="287" r:id="rId20"/>
    <p:sldId id="325" r:id="rId21"/>
    <p:sldId id="288" r:id="rId22"/>
    <p:sldId id="289" r:id="rId23"/>
    <p:sldId id="290" r:id="rId24"/>
    <p:sldId id="291" r:id="rId25"/>
    <p:sldId id="292" r:id="rId26"/>
    <p:sldId id="293" r:id="rId27"/>
    <p:sldId id="294" r:id="rId28"/>
    <p:sldId id="295" r:id="rId29"/>
    <p:sldId id="296" r:id="rId30"/>
    <p:sldId id="297" r:id="rId31"/>
    <p:sldId id="298" r:id="rId32"/>
    <p:sldId id="299" r:id="rId33"/>
    <p:sldId id="300" r:id="rId34"/>
    <p:sldId id="317" r:id="rId35"/>
    <p:sldId id="301" r:id="rId36"/>
    <p:sldId id="302" r:id="rId37"/>
    <p:sldId id="303" r:id="rId38"/>
    <p:sldId id="304" r:id="rId39"/>
    <p:sldId id="305" r:id="rId40"/>
    <p:sldId id="306" r:id="rId41"/>
    <p:sldId id="307" r:id="rId42"/>
    <p:sldId id="308" r:id="rId43"/>
    <p:sldId id="309" r:id="rId44"/>
    <p:sldId id="310" r:id="rId45"/>
    <p:sldId id="311" r:id="rId46"/>
    <p:sldId id="312" r:id="rId47"/>
    <p:sldId id="318" r:id="rId48"/>
    <p:sldId id="313" r:id="rId49"/>
    <p:sldId id="315" r:id="rId50"/>
    <p:sldId id="316" r:id="rId51"/>
    <p:sldId id="314" r:id="rId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880"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作者" initials="A"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5050"/>
    <a:srgbClr val="FFCCFF"/>
    <a:srgbClr val="A50021"/>
    <a:srgbClr val="FF6699"/>
    <a:srgbClr val="FF3399"/>
    <a:srgbClr val="CC99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napVertSplitter="1" vertBarState="minimized" horzBarState="maximized">
    <p:restoredLeft sz="16985" autoAdjust="0"/>
    <p:restoredTop sz="94660"/>
  </p:normalViewPr>
  <p:slideViewPr>
    <p:cSldViewPr snapToGrid="0">
      <p:cViewPr varScale="1">
        <p:scale>
          <a:sx n="100" d="100"/>
          <a:sy n="100" d="100"/>
        </p:scale>
        <p:origin x="1404" y="52"/>
      </p:cViewPr>
      <p:guideLst>
        <p:guide pos="2880"/>
        <p:guide orient="horz" pos="216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76" d="100"/>
          <a:sy n="76" d="100"/>
        </p:scale>
        <p:origin x="-2920"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charts/_rels/chart1.xml.rels><?xml version="1.0" encoding="UTF-8" standalone="yes"?>
<Relationships xmlns="http://schemas.openxmlformats.org/package/2006/relationships"><Relationship Id="rId1" Type="http://schemas.openxmlformats.org/officeDocument/2006/relationships/oleObject" Target="&#22270;&#34920;%20&#22312;%20&#31532;&#19968;&#21333;&#20803;&#22269;&#38469;&#25910;&#25903;%20(&#20860;&#23481;&#27169;&#24335;)" TargetMode="External"/></Relationships>
</file>

<file path=ppt/charts/_rels/chart2.xml.rels><?xml version="1.0" encoding="UTF-8" standalone="yes"?>
<Relationships xmlns="http://schemas.openxmlformats.org/package/2006/relationships"><Relationship Id="rId3" Type="http://schemas.openxmlformats.org/officeDocument/2006/relationships/oleObject" Target="file:///D:\&#25105;&#30340;&#25991;&#26723;\&#20010;&#20154;&#36164;&#26009;\2014&#21338;\&#21161;&#25945;\&#22269;&#38469;&#37329;&#34701;&#35838;&#20214;&#65288;2015&#65289;\&#36164;&#26009;\&#23545;&#22806;&#20928;&#22836;&#23544;.xlsx"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oleObject" Target="file:///D:\&#25105;&#30340;&#25991;&#26723;\&#20010;&#20154;&#36164;&#26009;\2014&#21338;\&#21161;&#25945;\&#22269;&#38469;&#37329;&#34701;&#35838;&#20214;&#65288;2015&#65289;\&#36164;&#26009;\&#23545;&#22806;&#20928;&#22836;&#23544;.xlsx"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oleObject" Target="file:///D:\&#25105;&#30340;&#25991;&#26723;\&#20010;&#20154;&#36164;&#26009;\2014&#21338;\&#21161;&#25945;\&#22269;&#38469;&#37329;&#34701;&#35838;&#20214;&#65288;2015&#65289;\&#36164;&#26009;\&#23545;&#22806;&#20928;&#22836;&#23544;.xlsx" TargetMode="External"/><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oleObject" Target="file:///D:\&#25105;&#30340;&#25991;&#26723;\&#20010;&#20154;&#36164;&#26009;\2014&#21338;\&#21161;&#25945;\&#22269;&#38469;&#37329;&#34701;&#35838;&#20214;&#65288;2015&#65289;\&#36164;&#26009;\&#23545;&#22806;&#20928;&#22836;&#23544;.xlsx" TargetMode="External"/><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3" Type="http://schemas.openxmlformats.org/officeDocument/2006/relationships/oleObject" Target="file:///D:\&#25105;&#30340;&#25991;&#26723;\&#20010;&#20154;&#36164;&#26009;\2014&#21338;\&#21161;&#25945;\&#22269;&#38469;&#37329;&#34701;&#35838;&#20214;&#65288;2015&#65289;\&#36164;&#26009;\&#22833;&#34913;&#34920;\&#19990;&#30028;.xlsx" TargetMode="External"/><Relationship Id="rId2" Type="http://schemas.microsoft.com/office/2011/relationships/chartColorStyle" Target="colors5.xml"/><Relationship Id="rId1" Type="http://schemas.microsoft.com/office/2011/relationships/chartStyle" Target="style5.xml"/></Relationships>
</file>

<file path=ppt/charts/_rels/chart7.xml.rels><?xml version="1.0" encoding="UTF-8" standalone="yes"?>
<Relationships xmlns="http://schemas.openxmlformats.org/package/2006/relationships"><Relationship Id="rId3" Type="http://schemas.openxmlformats.org/officeDocument/2006/relationships/oleObject" Target="file:///D:\&#25105;&#30340;&#25991;&#26723;\&#20010;&#20154;&#36164;&#26009;\2014&#21338;\&#21161;&#25945;\&#22269;&#38469;&#37329;&#34701;&#35838;&#20214;&#65288;2015&#65289;\&#36164;&#26009;\&#22833;&#34913;&#34920;\&#19990;&#30028;.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1320779781260006"/>
          <c:y val="0.12957284738272803"/>
          <c:w val="0.86046641906858645"/>
          <c:h val="0.57425939224488498"/>
        </c:manualLayout>
      </c:layout>
      <c:barChart>
        <c:barDir val="col"/>
        <c:grouping val="clustered"/>
        <c:varyColors val="0"/>
        <c:ser>
          <c:idx val="0"/>
          <c:order val="0"/>
          <c:spPr>
            <a:gradFill rotWithShape="0">
              <a:gsLst>
                <a:gs pos="0">
                  <a:srgbClr val="99CCFF"/>
                </a:gs>
                <a:gs pos="100000">
                  <a:srgbClr val="99CCFF">
                    <a:gamma/>
                    <a:shade val="66667"/>
                    <a:invGamma/>
                  </a:srgbClr>
                </a:gs>
              </a:gsLst>
              <a:path path="rect">
                <a:fillToRect l="50000" t="50000" r="50000" b="50000"/>
              </a:path>
            </a:gradFill>
            <a:ln w="25400">
              <a:noFill/>
            </a:ln>
          </c:spPr>
          <c:invertIfNegative val="0"/>
          <c:cat>
            <c:numRef>
              <c:f>'[图表 在 第一单元国际收支 (兼容模式)]Sheet1'!$A$1:$W$1</c:f>
              <c:numCache>
                <c:formatCode>General</c:formatCode>
                <c:ptCount val="23"/>
                <c:pt idx="0">
                  <c:v>1993</c:v>
                </c:pt>
                <c:pt idx="1">
                  <c:v>1994</c:v>
                </c:pt>
                <c:pt idx="2">
                  <c:v>1995</c:v>
                </c:pt>
                <c:pt idx="3">
                  <c:v>1996</c:v>
                </c:pt>
                <c:pt idx="4">
                  <c:v>1997</c:v>
                </c:pt>
                <c:pt idx="5">
                  <c:v>1998</c:v>
                </c:pt>
                <c:pt idx="6">
                  <c:v>1999</c:v>
                </c:pt>
                <c:pt idx="7">
                  <c:v>2000</c:v>
                </c:pt>
                <c:pt idx="8">
                  <c:v>2001</c:v>
                </c:pt>
                <c:pt idx="9">
                  <c:v>2002</c:v>
                </c:pt>
                <c:pt idx="10">
                  <c:v>2003</c:v>
                </c:pt>
                <c:pt idx="11">
                  <c:v>2004</c:v>
                </c:pt>
                <c:pt idx="12">
                  <c:v>2005</c:v>
                </c:pt>
                <c:pt idx="13">
                  <c:v>2006</c:v>
                </c:pt>
                <c:pt idx="14">
                  <c:v>2007</c:v>
                </c:pt>
                <c:pt idx="15">
                  <c:v>2008</c:v>
                </c:pt>
                <c:pt idx="16">
                  <c:v>2009</c:v>
                </c:pt>
                <c:pt idx="17">
                  <c:v>2010</c:v>
                </c:pt>
                <c:pt idx="18">
                  <c:v>2011</c:v>
                </c:pt>
                <c:pt idx="19">
                  <c:v>2012</c:v>
                </c:pt>
                <c:pt idx="20">
                  <c:v>2013</c:v>
                </c:pt>
                <c:pt idx="21">
                  <c:v>2014</c:v>
                </c:pt>
                <c:pt idx="22">
                  <c:v>2015</c:v>
                </c:pt>
              </c:numCache>
            </c:numRef>
          </c:cat>
          <c:val>
            <c:numRef>
              <c:f>'[图表 在 第一单元国际收支 (兼容模式)]Sheet1'!$A$2:$W$2</c:f>
              <c:numCache>
                <c:formatCode>General</c:formatCode>
                <c:ptCount val="23"/>
                <c:pt idx="0">
                  <c:v>211.99</c:v>
                </c:pt>
                <c:pt idx="1">
                  <c:v>516.20000000000005</c:v>
                </c:pt>
                <c:pt idx="2">
                  <c:v>735.97</c:v>
                </c:pt>
                <c:pt idx="3">
                  <c:v>1050.49</c:v>
                </c:pt>
                <c:pt idx="4">
                  <c:v>1398.9</c:v>
                </c:pt>
                <c:pt idx="5">
                  <c:v>1449.59</c:v>
                </c:pt>
                <c:pt idx="6">
                  <c:v>1546.75</c:v>
                </c:pt>
                <c:pt idx="7">
                  <c:v>1655.74</c:v>
                </c:pt>
                <c:pt idx="8">
                  <c:v>2121.65</c:v>
                </c:pt>
                <c:pt idx="9">
                  <c:v>2864.07</c:v>
                </c:pt>
                <c:pt idx="10">
                  <c:v>4032.51</c:v>
                </c:pt>
                <c:pt idx="11">
                  <c:v>6099.3200000000024</c:v>
                </c:pt>
                <c:pt idx="12">
                  <c:v>8188</c:v>
                </c:pt>
                <c:pt idx="13">
                  <c:v>10663</c:v>
                </c:pt>
                <c:pt idx="14">
                  <c:v>15282.49</c:v>
                </c:pt>
                <c:pt idx="15">
                  <c:v>19460.3</c:v>
                </c:pt>
                <c:pt idx="16">
                  <c:v>23991.52</c:v>
                </c:pt>
                <c:pt idx="17">
                  <c:v>28473</c:v>
                </c:pt>
                <c:pt idx="18">
                  <c:v>31811.480000000021</c:v>
                </c:pt>
                <c:pt idx="19">
                  <c:v>33115.89</c:v>
                </c:pt>
                <c:pt idx="20">
                  <c:v>38213.15</c:v>
                </c:pt>
                <c:pt idx="21">
                  <c:v>38430.18</c:v>
                </c:pt>
                <c:pt idx="22">
                  <c:v>33303.619999999995</c:v>
                </c:pt>
              </c:numCache>
            </c:numRef>
          </c:val>
          <c:extLst>
            <c:ext xmlns:c16="http://schemas.microsoft.com/office/drawing/2014/chart" uri="{C3380CC4-5D6E-409C-BE32-E72D297353CC}">
              <c16:uniqueId val="{00000000-65CE-41A0-89D0-A9BB9494E5FF}"/>
            </c:ext>
          </c:extLst>
        </c:ser>
        <c:dLbls>
          <c:showLegendKey val="0"/>
          <c:showVal val="0"/>
          <c:showCatName val="0"/>
          <c:showSerName val="0"/>
          <c:showPercent val="0"/>
          <c:showBubbleSize val="0"/>
        </c:dLbls>
        <c:gapWidth val="150"/>
        <c:axId val="347578368"/>
        <c:axId val="347581824"/>
      </c:barChart>
      <c:catAx>
        <c:axId val="347578368"/>
        <c:scaling>
          <c:orientation val="minMax"/>
        </c:scaling>
        <c:delete val="0"/>
        <c:axPos val="b"/>
        <c:numFmt formatCode="General" sourceLinked="1"/>
        <c:majorTickMark val="in"/>
        <c:minorTickMark val="none"/>
        <c:tickLblPos val="nextTo"/>
        <c:spPr>
          <a:ln w="3175">
            <a:solidFill>
              <a:srgbClr val="000000"/>
            </a:solidFill>
            <a:prstDash val="solid"/>
          </a:ln>
        </c:spPr>
        <c:txPr>
          <a:bodyPr rot="-2700000" vert="horz"/>
          <a:lstStyle/>
          <a:p>
            <a:pPr>
              <a:defRPr sz="1475" b="0" i="0" u="none" strike="noStrike" baseline="0">
                <a:solidFill>
                  <a:srgbClr val="000000"/>
                </a:solidFill>
                <a:latin typeface="宋体"/>
                <a:ea typeface="宋体"/>
                <a:cs typeface="宋体"/>
              </a:defRPr>
            </a:pPr>
            <a:endParaRPr lang="zh-CN"/>
          </a:p>
        </c:txPr>
        <c:crossAx val="347581824"/>
        <c:crosses val="autoZero"/>
        <c:auto val="1"/>
        <c:lblAlgn val="ctr"/>
        <c:lblOffset val="100"/>
        <c:tickLblSkip val="2"/>
        <c:tickMarkSkip val="1"/>
        <c:noMultiLvlLbl val="0"/>
      </c:catAx>
      <c:valAx>
        <c:axId val="347581824"/>
        <c:scaling>
          <c:orientation val="minMax"/>
        </c:scaling>
        <c:delete val="0"/>
        <c:axPos val="l"/>
        <c:majorGridlines>
          <c:spPr>
            <a:ln w="3175">
              <a:solidFill>
                <a:srgbClr val="000000"/>
              </a:solidFill>
              <a:prstDash val="solid"/>
            </a:ln>
          </c:spPr>
        </c:majorGridlines>
        <c:numFmt formatCode="General" sourceLinked="1"/>
        <c:majorTickMark val="in"/>
        <c:minorTickMark val="none"/>
        <c:tickLblPos val="nextTo"/>
        <c:spPr>
          <a:ln w="3175">
            <a:solidFill>
              <a:srgbClr val="000000"/>
            </a:solidFill>
            <a:prstDash val="solid"/>
          </a:ln>
        </c:spPr>
        <c:txPr>
          <a:bodyPr rot="0" vert="horz"/>
          <a:lstStyle/>
          <a:p>
            <a:pPr>
              <a:defRPr sz="1475" b="0" i="0" u="none" strike="noStrike" baseline="0">
                <a:solidFill>
                  <a:srgbClr val="000000"/>
                </a:solidFill>
                <a:latin typeface="宋体"/>
                <a:ea typeface="宋体"/>
                <a:cs typeface="宋体"/>
              </a:defRPr>
            </a:pPr>
            <a:endParaRPr lang="zh-CN"/>
          </a:p>
        </c:txPr>
        <c:crossAx val="347578368"/>
        <c:crosses val="autoZero"/>
        <c:crossBetween val="between"/>
      </c:valAx>
      <c:spPr>
        <a:solidFill>
          <a:srgbClr val="FFFFFF"/>
        </a:solidFill>
        <a:ln w="3175">
          <a:solidFill>
            <a:srgbClr val="000000"/>
          </a:solidFill>
          <a:prstDash val="solid"/>
        </a:ln>
      </c:spPr>
    </c:plotArea>
    <c:plotVisOnly val="1"/>
    <c:dispBlanksAs val="gap"/>
    <c:showDLblsOverMax val="0"/>
  </c:chart>
  <c:spPr>
    <a:solidFill>
      <a:srgbClr val="FFFFFF"/>
    </a:solidFill>
    <a:ln w="3175">
      <a:noFill/>
      <a:prstDash val="solid"/>
    </a:ln>
  </c:spPr>
  <c:txPr>
    <a:bodyPr/>
    <a:lstStyle/>
    <a:p>
      <a:pPr>
        <a:defRPr sz="1475" b="0" i="0" u="none" strike="noStrike" baseline="0">
          <a:solidFill>
            <a:srgbClr val="000000"/>
          </a:solidFill>
          <a:latin typeface="宋体"/>
          <a:ea typeface="宋体"/>
          <a:cs typeface="宋体"/>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r>
              <a:rPr lang="zh-CN" altLang="en-US" sz="2000">
                <a:latin typeface="微软雅黑" panose="020B0503020204020204" pitchFamily="34" charset="-122"/>
                <a:ea typeface="微软雅黑" panose="020B0503020204020204" pitchFamily="34" charset="-122"/>
              </a:rPr>
              <a:t>中美对外净头寸比较</a:t>
            </a:r>
          </a:p>
        </c:rich>
      </c:tx>
      <c:layout>
        <c:manualLayout>
          <c:xMode val="edge"/>
          <c:yMode val="edge"/>
          <c:x val="0.35236408789564322"/>
          <c:y val="2.8235103703978786E-3"/>
        </c:manualLayout>
      </c:layout>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title>
    <c:autoTitleDeleted val="0"/>
    <c:plotArea>
      <c:layout>
        <c:manualLayout>
          <c:layoutTarget val="inner"/>
          <c:xMode val="edge"/>
          <c:yMode val="edge"/>
          <c:x val="8.5372160736066668E-2"/>
          <c:y val="0.10785809614919854"/>
          <c:w val="0.8969757268923807"/>
          <c:h val="0.79910857108809863"/>
        </c:manualLayout>
      </c:layout>
      <c:lineChart>
        <c:grouping val="standard"/>
        <c:varyColors val="0"/>
        <c:ser>
          <c:idx val="0"/>
          <c:order val="0"/>
          <c:tx>
            <c:v>中国</c:v>
          </c:tx>
          <c:spPr>
            <a:ln w="28575" cap="rnd">
              <a:solidFill>
                <a:schemeClr val="accent1"/>
              </a:solidFill>
              <a:round/>
            </a:ln>
            <a:effectLst/>
          </c:spPr>
          <c:marker>
            <c:symbol val="none"/>
          </c:marker>
          <c:cat>
            <c:numRef>
              <c:f>中美对外净头寸比较!$A$11:$A$31</c:f>
              <c:numCache>
                <c:formatCode>General</c:formatCode>
                <c:ptCount val="21"/>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numCache>
            </c:numRef>
          </c:cat>
          <c:val>
            <c:numRef>
              <c:f>中美对外净头寸比较!$B$11:$B$31</c:f>
              <c:numCache>
                <c:formatCode>0.0%</c:formatCode>
                <c:ptCount val="21"/>
                <c:pt idx="0">
                  <c:v>9.2217306880963308E-3</c:v>
                </c:pt>
                <c:pt idx="1">
                  <c:v>3.9040551884591754E-2</c:v>
                </c:pt>
                <c:pt idx="2">
                  <c:v>-4.1206952487844652E-2</c:v>
                </c:pt>
                <c:pt idx="3">
                  <c:v>-9.1454693239939225E-2</c:v>
                </c:pt>
                <c:pt idx="4">
                  <c:v>-0.1106111883980806</c:v>
                </c:pt>
                <c:pt idx="5">
                  <c:v>-0.1323454332583584</c:v>
                </c:pt>
                <c:pt idx="6">
                  <c:v>-0.13617791771946061</c:v>
                </c:pt>
                <c:pt idx="7">
                  <c:v>-0.10603873741042356</c:v>
                </c:pt>
                <c:pt idx="8">
                  <c:v>-7.9294365552514012E-2</c:v>
                </c:pt>
                <c:pt idx="9">
                  <c:v>-6.9483945676524952E-2</c:v>
                </c:pt>
                <c:pt idx="10">
                  <c:v>-3.22534742516506E-2</c:v>
                </c:pt>
                <c:pt idx="11">
                  <c:v>-4.36025679933695E-2</c:v>
                </c:pt>
                <c:pt idx="12">
                  <c:v>-4.6010983003702387E-3</c:v>
                </c:pt>
                <c:pt idx="13">
                  <c:v>1.5509561488579179E-2</c:v>
                </c:pt>
                <c:pt idx="14">
                  <c:v>6.909773082954962E-2</c:v>
                </c:pt>
                <c:pt idx="15">
                  <c:v>9.9143431764445553E-2</c:v>
                </c:pt>
                <c:pt idx="16">
                  <c:v>0.1213199982787843</c:v>
                </c:pt>
                <c:pt idx="17">
                  <c:v>0.16110463802732944</c:v>
                </c:pt>
                <c:pt idx="18">
                  <c:v>0.23446395547798202</c:v>
                </c:pt>
                <c:pt idx="19">
                  <c:v>0.25156908822765794</c:v>
                </c:pt>
                <c:pt idx="20">
                  <c:v>0.24340735125130314</c:v>
                </c:pt>
              </c:numCache>
            </c:numRef>
          </c:val>
          <c:smooth val="0"/>
          <c:extLst>
            <c:ext xmlns:c16="http://schemas.microsoft.com/office/drawing/2014/chart" uri="{C3380CC4-5D6E-409C-BE32-E72D297353CC}">
              <c16:uniqueId val="{00000000-BEC8-4680-A66C-DA553A1393AC}"/>
            </c:ext>
          </c:extLst>
        </c:ser>
        <c:ser>
          <c:idx val="1"/>
          <c:order val="1"/>
          <c:tx>
            <c:v>美国</c:v>
          </c:tx>
          <c:spPr>
            <a:ln w="28575" cap="rnd">
              <a:solidFill>
                <a:srgbClr val="FF3399"/>
              </a:solidFill>
              <a:round/>
            </a:ln>
            <a:effectLst/>
          </c:spPr>
          <c:marker>
            <c:symbol val="none"/>
          </c:marker>
          <c:cat>
            <c:numRef>
              <c:f>中美对外净头寸比较!$A$11:$A$31</c:f>
              <c:numCache>
                <c:formatCode>General</c:formatCode>
                <c:ptCount val="21"/>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numCache>
            </c:numRef>
          </c:cat>
          <c:val>
            <c:numRef>
              <c:f>中美对外净头寸比较!$C$11:$C$31</c:f>
              <c:numCache>
                <c:formatCode>0.0%</c:formatCode>
                <c:ptCount val="21"/>
                <c:pt idx="0">
                  <c:v>-5.7370797721516729E-2</c:v>
                </c:pt>
                <c:pt idx="1">
                  <c:v>-6.4137037105672534E-2</c:v>
                </c:pt>
                <c:pt idx="2">
                  <c:v>-7.8550112932217031E-2</c:v>
                </c:pt>
                <c:pt idx="3">
                  <c:v>-5.8051960122147972E-2</c:v>
                </c:pt>
                <c:pt idx="4">
                  <c:v>-5.6253978218214887E-2</c:v>
                </c:pt>
                <c:pt idx="5">
                  <c:v>-7.167908109129327E-2</c:v>
                </c:pt>
                <c:pt idx="6">
                  <c:v>-7.1447084279414388E-2</c:v>
                </c:pt>
                <c:pt idx="7">
                  <c:v>-0.10346457802976741</c:v>
                </c:pt>
                <c:pt idx="8">
                  <c:v>-0.10617578671718857</c:v>
                </c:pt>
                <c:pt idx="9">
                  <c:v>-8.6276414246089367E-2</c:v>
                </c:pt>
                <c:pt idx="10">
                  <c:v>-0.14156831827448671</c:v>
                </c:pt>
                <c:pt idx="11">
                  <c:v>-0.18931812050046651</c:v>
                </c:pt>
                <c:pt idx="12">
                  <c:v>-0.2006399617707682</c:v>
                </c:pt>
                <c:pt idx="13">
                  <c:v>-0.19766974015801839</c:v>
                </c:pt>
                <c:pt idx="14">
                  <c:v>-0.19942506842348773</c:v>
                </c:pt>
                <c:pt idx="15">
                  <c:v>-0.16347894683281841</c:v>
                </c:pt>
                <c:pt idx="16">
                  <c:v>-0.17588361324669602</c:v>
                </c:pt>
                <c:pt idx="17">
                  <c:v>-0.14320300029719163</c:v>
                </c:pt>
                <c:pt idx="18">
                  <c:v>-0.24269368064654226</c:v>
                </c:pt>
                <c:pt idx="19">
                  <c:v>-0.18985074833272494</c:v>
                </c:pt>
                <c:pt idx="20">
                  <c:v>-0.19363553631610084</c:v>
                </c:pt>
              </c:numCache>
            </c:numRef>
          </c:val>
          <c:smooth val="0"/>
          <c:extLst>
            <c:ext xmlns:c16="http://schemas.microsoft.com/office/drawing/2014/chart" uri="{C3380CC4-5D6E-409C-BE32-E72D297353CC}">
              <c16:uniqueId val="{00000001-BEC8-4680-A66C-DA553A1393AC}"/>
            </c:ext>
          </c:extLst>
        </c:ser>
        <c:dLbls>
          <c:showLegendKey val="0"/>
          <c:showVal val="0"/>
          <c:showCatName val="0"/>
          <c:showSerName val="0"/>
          <c:showPercent val="0"/>
          <c:showBubbleSize val="0"/>
        </c:dLbls>
        <c:smooth val="0"/>
        <c:axId val="347631616"/>
        <c:axId val="347633152"/>
      </c:lineChart>
      <c:catAx>
        <c:axId val="3476316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347633152"/>
        <c:crosses val="autoZero"/>
        <c:auto val="1"/>
        <c:lblAlgn val="ctr"/>
        <c:lblOffset val="100"/>
        <c:noMultiLvlLbl val="0"/>
      </c:catAx>
      <c:valAx>
        <c:axId val="3476331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347631616"/>
        <c:crosses val="autoZero"/>
        <c:crossBetween val="between"/>
        <c:dispUnits>
          <c:custUnit val="1"/>
          <c:dispUnitsLbl>
            <c:layout>
              <c:manualLayout>
                <c:xMode val="edge"/>
                <c:yMode val="edge"/>
                <c:x val="1.6047374883230103E-2"/>
                <c:y val="2.0329274666864686E-2"/>
              </c:manualLayout>
            </c:layout>
            <c:tx>
              <c:rich>
                <a:bodyPr rot="0" spcFirstLastPara="1" vertOverflow="ellipsis" wrap="square" anchor="ctr" anchorCtr="1"/>
                <a:lstStyle/>
                <a:p>
                  <a:pPr>
                    <a:defRPr sz="14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r>
                    <a:rPr lang="zh-CN" altLang="en-US" sz="1400" b="0" dirty="0">
                      <a:latin typeface="微软雅黑" panose="020B0503020204020204" pitchFamily="34" charset="-122"/>
                      <a:ea typeface="微软雅黑" panose="020B0503020204020204" pitchFamily="34" charset="-122"/>
                    </a:rPr>
                    <a:t>（</a:t>
                  </a:r>
                  <a:r>
                    <a:rPr lang="en-US" altLang="zh-CN" sz="1400" b="0" dirty="0">
                      <a:latin typeface="微软雅黑" panose="020B0503020204020204" pitchFamily="34" charset="-122"/>
                      <a:ea typeface="微软雅黑" panose="020B0503020204020204" pitchFamily="34" charset="-122"/>
                    </a:rPr>
                    <a:t>NFA/GDP</a:t>
                  </a:r>
                  <a:r>
                    <a:rPr lang="zh-CN" altLang="en-US" sz="1400" b="0" dirty="0">
                      <a:latin typeface="微软雅黑" panose="020B0503020204020204" pitchFamily="34" charset="-122"/>
                      <a:ea typeface="微软雅黑" panose="020B0503020204020204" pitchFamily="34" charset="-122"/>
                    </a:rPr>
                    <a:t>）</a:t>
                  </a:r>
                  <a:endParaRPr lang="en-US" altLang="zh-CN" sz="1400" b="0" dirty="0">
                    <a:latin typeface="微软雅黑" panose="020B0503020204020204" pitchFamily="34" charset="-122"/>
                    <a:ea typeface="微软雅黑" panose="020B0503020204020204" pitchFamily="34" charset="-122"/>
                  </a:endParaRPr>
                </a:p>
              </c:rich>
            </c:tx>
            <c:spPr>
              <a:noFill/>
              <a:ln>
                <a:noFill/>
              </a:ln>
              <a:effectLst/>
            </c:spPr>
            <c:txPr>
              <a:bodyPr rot="0" spcFirstLastPara="1" vertOverflow="ellipsis" wrap="square" anchor="ctr" anchorCtr="1"/>
              <a:lstStyle/>
              <a:p>
                <a:pPr>
                  <a:defRPr sz="14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dispUnitsLbl>
        </c:dispUnits>
      </c:valAx>
      <c:spPr>
        <a:no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r>
              <a:rPr lang="zh-CN" altLang="en-US" sz="1800">
                <a:latin typeface="微软雅黑" panose="020B0503020204020204" pitchFamily="34" charset="-122"/>
                <a:ea typeface="微软雅黑" panose="020B0503020204020204" pitchFamily="34" charset="-122"/>
              </a:rPr>
              <a:t>中美对外资产结构比较</a:t>
            </a:r>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title>
    <c:autoTitleDeleted val="0"/>
    <c:plotArea>
      <c:layout>
        <c:manualLayout>
          <c:layoutTarget val="inner"/>
          <c:xMode val="edge"/>
          <c:yMode val="edge"/>
          <c:x val="7.2179006597402187E-2"/>
          <c:y val="0.1891882703855145"/>
          <c:w val="0.9077915011581128"/>
          <c:h val="0.67377606065982165"/>
        </c:manualLayout>
      </c:layout>
      <c:lineChart>
        <c:grouping val="standard"/>
        <c:varyColors val="0"/>
        <c:ser>
          <c:idx val="0"/>
          <c:order val="0"/>
          <c:tx>
            <c:strRef>
              <c:f>中美风险资产占比!$I$10</c:f>
              <c:strCache>
                <c:ptCount val="1"/>
                <c:pt idx="0">
                  <c:v>中国</c:v>
                </c:pt>
              </c:strCache>
            </c:strRef>
          </c:tx>
          <c:spPr>
            <a:ln w="28575" cap="rnd">
              <a:solidFill>
                <a:schemeClr val="accent1"/>
              </a:solidFill>
              <a:round/>
            </a:ln>
            <a:effectLst/>
          </c:spPr>
          <c:marker>
            <c:symbol val="none"/>
          </c:marker>
          <c:cat>
            <c:numRef>
              <c:f>中美风险资产占比!$H$11:$H$31</c:f>
              <c:numCache>
                <c:formatCode>General</c:formatCode>
                <c:ptCount val="21"/>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numCache>
            </c:numRef>
          </c:cat>
          <c:val>
            <c:numRef>
              <c:f>中美风险资产占比!$I$11:$I$31</c:f>
              <c:numCache>
                <c:formatCode>General</c:formatCode>
                <c:ptCount val="21"/>
                <c:pt idx="0">
                  <c:v>8.2561940558200361E-2</c:v>
                </c:pt>
                <c:pt idx="1">
                  <c:v>7.9898780740085384E-2</c:v>
                </c:pt>
                <c:pt idx="2">
                  <c:v>0.16879182338633633</c:v>
                </c:pt>
                <c:pt idx="3">
                  <c:v>0.23199491441371811</c:v>
                </c:pt>
                <c:pt idx="4">
                  <c:v>0.15198614514419762</c:v>
                </c:pt>
                <c:pt idx="5">
                  <c:v>0.14620036976098241</c:v>
                </c:pt>
                <c:pt idx="6">
                  <c:v>0.12735334040294691</c:v>
                </c:pt>
                <c:pt idx="7">
                  <c:v>9.4267264792694525E-2</c:v>
                </c:pt>
                <c:pt idx="8">
                  <c:v>9.3905502929892193E-2</c:v>
                </c:pt>
                <c:pt idx="9">
                  <c:v>8.8383830981219505E-2</c:v>
                </c:pt>
                <c:pt idx="10">
                  <c:v>7.2840186696705639E-2</c:v>
                </c:pt>
                <c:pt idx="11">
                  <c:v>8.0983513260272158E-2</c:v>
                </c:pt>
                <c:pt idx="12">
                  <c:v>7.6465241417407293E-2</c:v>
                </c:pt>
                <c:pt idx="13">
                  <c:v>6.6616289692927003E-2</c:v>
                </c:pt>
                <c:pt idx="14">
                  <c:v>5.6643564759015254E-2</c:v>
                </c:pt>
                <c:pt idx="15">
                  <c:v>5.2711961963103286E-2</c:v>
                </c:pt>
                <c:pt idx="16">
                  <c:v>5.3675382916872856E-2</c:v>
                </c:pt>
                <c:pt idx="17">
                  <c:v>4.8119481352471398E-2</c:v>
                </c:pt>
                <c:pt idx="18">
                  <c:v>5.7350232379349775E-2</c:v>
                </c:pt>
                <c:pt idx="19">
                  <c:v>7.0211831868882538E-2</c:v>
                </c:pt>
                <c:pt idx="20">
                  <c:v>7.4486544570690913E-2</c:v>
                </c:pt>
              </c:numCache>
            </c:numRef>
          </c:val>
          <c:smooth val="0"/>
          <c:extLst>
            <c:ext xmlns:c16="http://schemas.microsoft.com/office/drawing/2014/chart" uri="{C3380CC4-5D6E-409C-BE32-E72D297353CC}">
              <c16:uniqueId val="{00000000-FBD2-44DD-960F-009B7D5E4978}"/>
            </c:ext>
          </c:extLst>
        </c:ser>
        <c:ser>
          <c:idx val="1"/>
          <c:order val="1"/>
          <c:tx>
            <c:strRef>
              <c:f>中美风险资产占比!$J$10</c:f>
              <c:strCache>
                <c:ptCount val="1"/>
                <c:pt idx="0">
                  <c:v>美国</c:v>
                </c:pt>
              </c:strCache>
            </c:strRef>
          </c:tx>
          <c:spPr>
            <a:ln w="28575" cap="rnd">
              <a:solidFill>
                <a:srgbClr val="FF3399"/>
              </a:solidFill>
              <a:round/>
            </a:ln>
            <a:effectLst/>
          </c:spPr>
          <c:marker>
            <c:symbol val="none"/>
          </c:marker>
          <c:cat>
            <c:numRef>
              <c:f>中美风险资产占比!$H$11:$H$31</c:f>
              <c:numCache>
                <c:formatCode>General</c:formatCode>
                <c:ptCount val="21"/>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numCache>
            </c:numRef>
          </c:cat>
          <c:val>
            <c:numRef>
              <c:f>中美风险资产占比!$J$11:$J$31</c:f>
              <c:numCache>
                <c:formatCode>General</c:formatCode>
                <c:ptCount val="21"/>
                <c:pt idx="0">
                  <c:v>0.29695812363228324</c:v>
                </c:pt>
                <c:pt idx="1">
                  <c:v>0.29325202818188162</c:v>
                </c:pt>
                <c:pt idx="2">
                  <c:v>0.29575474977445143</c:v>
                </c:pt>
                <c:pt idx="3">
                  <c:v>0.27291995257287188</c:v>
                </c:pt>
                <c:pt idx="4">
                  <c:v>0.27244987392117082</c:v>
                </c:pt>
                <c:pt idx="5">
                  <c:v>0.26159762591382418</c:v>
                </c:pt>
                <c:pt idx="6">
                  <c:v>0.25150111361745947</c:v>
                </c:pt>
                <c:pt idx="7">
                  <c:v>0.2377712571208784</c:v>
                </c:pt>
                <c:pt idx="8">
                  <c:v>0.23823909941679258</c:v>
                </c:pt>
                <c:pt idx="9">
                  <c:v>0.23978314155395941</c:v>
                </c:pt>
                <c:pt idx="10">
                  <c:v>0.24835586525920209</c:v>
                </c:pt>
                <c:pt idx="11">
                  <c:v>0.2714937423970345</c:v>
                </c:pt>
                <c:pt idx="12">
                  <c:v>0.28467794008245889</c:v>
                </c:pt>
                <c:pt idx="13">
                  <c:v>0.27285860515665433</c:v>
                </c:pt>
                <c:pt idx="14">
                  <c:v>0.27078271414222782</c:v>
                </c:pt>
                <c:pt idx="15">
                  <c:v>0.22419786110448298</c:v>
                </c:pt>
                <c:pt idx="16">
                  <c:v>0.20669869048453421</c:v>
                </c:pt>
                <c:pt idx="17">
                  <c:v>0.19541839172668846</c:v>
                </c:pt>
                <c:pt idx="18">
                  <c:v>0.19485349805367469</c:v>
                </c:pt>
                <c:pt idx="19">
                  <c:v>0.22345276898566005</c:v>
                </c:pt>
                <c:pt idx="20">
                  <c:v>0.2220477649449619</c:v>
                </c:pt>
              </c:numCache>
            </c:numRef>
          </c:val>
          <c:smooth val="0"/>
          <c:extLst>
            <c:ext xmlns:c16="http://schemas.microsoft.com/office/drawing/2014/chart" uri="{C3380CC4-5D6E-409C-BE32-E72D297353CC}">
              <c16:uniqueId val="{00000001-FBD2-44DD-960F-009B7D5E4978}"/>
            </c:ext>
          </c:extLst>
        </c:ser>
        <c:dLbls>
          <c:showLegendKey val="0"/>
          <c:showVal val="0"/>
          <c:showCatName val="0"/>
          <c:showSerName val="0"/>
          <c:showPercent val="0"/>
          <c:showBubbleSize val="0"/>
        </c:dLbls>
        <c:smooth val="0"/>
        <c:axId val="250827904"/>
        <c:axId val="250829440"/>
      </c:lineChart>
      <c:catAx>
        <c:axId val="2508279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250829440"/>
        <c:crosses val="autoZero"/>
        <c:auto val="1"/>
        <c:lblAlgn val="ctr"/>
        <c:lblOffset val="100"/>
        <c:noMultiLvlLbl val="0"/>
      </c:catAx>
      <c:valAx>
        <c:axId val="2508294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250827904"/>
        <c:crosses val="autoZero"/>
        <c:crossBetween val="between"/>
        <c:dispUnits>
          <c:custUnit val="1"/>
        </c:dispUnits>
      </c:valAx>
      <c:spPr>
        <a:noFill/>
        <a:ln>
          <a:noFill/>
        </a:ln>
        <a:effectLst/>
      </c:spPr>
    </c:plotArea>
    <c:legend>
      <c:legendPos val="b"/>
      <c:layout>
        <c:manualLayout>
          <c:xMode val="edge"/>
          <c:yMode val="edge"/>
          <c:x val="0.74945814990289927"/>
          <c:y val="7.9469746508937913E-2"/>
          <c:w val="0.19847405951354286"/>
          <c:h val="7.1551025457092673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r>
              <a:rPr lang="zh-CN" altLang="zh-CN" sz="2000" b="1" i="0" u="none" strike="noStrike" baseline="0">
                <a:effectLst/>
                <a:latin typeface="微软雅黑" panose="020B0503020204020204" pitchFamily="34" charset="-122"/>
                <a:ea typeface="微软雅黑" panose="020B0503020204020204" pitchFamily="34" charset="-122"/>
              </a:rPr>
              <a:t>中国的对外负债结构</a:t>
            </a:r>
            <a:endParaRPr lang="zh-CN" altLang="en-US" sz="2000">
              <a:latin typeface="微软雅黑" panose="020B0503020204020204" pitchFamily="34" charset="-122"/>
              <a:ea typeface="微软雅黑" panose="020B0503020204020204" pitchFamily="34" charset="-122"/>
            </a:endParaRPr>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title>
    <c:autoTitleDeleted val="0"/>
    <c:plotArea>
      <c:layout>
        <c:manualLayout>
          <c:layoutTarget val="inner"/>
          <c:xMode val="edge"/>
          <c:yMode val="edge"/>
          <c:x val="8.4414260717410441E-2"/>
          <c:y val="0.17685185185185184"/>
          <c:w val="0.8850301837270329"/>
          <c:h val="0.68751793849183152"/>
        </c:manualLayout>
      </c:layout>
      <c:lineChart>
        <c:grouping val="standard"/>
        <c:varyColors val="0"/>
        <c:ser>
          <c:idx val="0"/>
          <c:order val="0"/>
          <c:tx>
            <c:strRef>
              <c:f>中美对外负债结构!$B$33</c:f>
              <c:strCache>
                <c:ptCount val="1"/>
                <c:pt idx="0">
                  <c:v>直接投资负债</c:v>
                </c:pt>
              </c:strCache>
            </c:strRef>
          </c:tx>
          <c:spPr>
            <a:ln w="28575" cap="rnd">
              <a:solidFill>
                <a:srgbClr val="CC9900"/>
              </a:solidFill>
              <a:round/>
            </a:ln>
            <a:effectLst/>
          </c:spPr>
          <c:marker>
            <c:symbol val="none"/>
          </c:marker>
          <c:cat>
            <c:numRef>
              <c:f>中美对外负债结构!$A$34:$A$54</c:f>
              <c:numCache>
                <c:formatCode>General</c:formatCode>
                <c:ptCount val="21"/>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numCache>
            </c:numRef>
          </c:cat>
          <c:val>
            <c:numRef>
              <c:f>中美对外负债结构!$B$34:$B$54</c:f>
              <c:numCache>
                <c:formatCode>General</c:formatCode>
                <c:ptCount val="21"/>
                <c:pt idx="0">
                  <c:v>0.22854858027921121</c:v>
                </c:pt>
                <c:pt idx="1">
                  <c:v>0.25137060275909923</c:v>
                </c:pt>
                <c:pt idx="2">
                  <c:v>0.30049945845475184</c:v>
                </c:pt>
                <c:pt idx="3">
                  <c:v>0.41312760061950482</c:v>
                </c:pt>
                <c:pt idx="4">
                  <c:v>0.44950657841006147</c:v>
                </c:pt>
                <c:pt idx="5">
                  <c:v>0.5130382580094146</c:v>
                </c:pt>
                <c:pt idx="6">
                  <c:v>0.55862376491961652</c:v>
                </c:pt>
                <c:pt idx="7">
                  <c:v>0.57852718030791317</c:v>
                </c:pt>
                <c:pt idx="8">
                  <c:v>0.62817570776994169</c:v>
                </c:pt>
                <c:pt idx="9">
                  <c:v>0.63583502909145961</c:v>
                </c:pt>
                <c:pt idx="10">
                  <c:v>0.6648083836296339</c:v>
                </c:pt>
                <c:pt idx="11">
                  <c:v>0.64265948000736595</c:v>
                </c:pt>
                <c:pt idx="12">
                  <c:v>0.66137322381674268</c:v>
                </c:pt>
                <c:pt idx="13">
                  <c:v>0.63765755425226445</c:v>
                </c:pt>
                <c:pt idx="14">
                  <c:v>0.62646641530264457</c:v>
                </c:pt>
                <c:pt idx="15">
                  <c:v>0.62032134770281477</c:v>
                </c:pt>
                <c:pt idx="16">
                  <c:v>0.56379696081522768</c:v>
                </c:pt>
                <c:pt idx="17">
                  <c:v>0.54042096340131551</c:v>
                </c:pt>
                <c:pt idx="18">
                  <c:v>0.67233538273998583</c:v>
                </c:pt>
                <c:pt idx="19">
                  <c:v>0.62265845222454619</c:v>
                </c:pt>
                <c:pt idx="20">
                  <c:v>0.60441478619696087</c:v>
                </c:pt>
              </c:numCache>
            </c:numRef>
          </c:val>
          <c:smooth val="0"/>
          <c:extLst>
            <c:ext xmlns:c16="http://schemas.microsoft.com/office/drawing/2014/chart" uri="{C3380CC4-5D6E-409C-BE32-E72D297353CC}">
              <c16:uniqueId val="{00000000-81C5-42D9-BD0E-1D379C81E385}"/>
            </c:ext>
          </c:extLst>
        </c:ser>
        <c:ser>
          <c:idx val="1"/>
          <c:order val="1"/>
          <c:tx>
            <c:strRef>
              <c:f>中美对外负债结构!$C$33</c:f>
              <c:strCache>
                <c:ptCount val="1"/>
                <c:pt idx="0">
                  <c:v>权益负债</c:v>
                </c:pt>
              </c:strCache>
            </c:strRef>
          </c:tx>
          <c:spPr>
            <a:ln w="28575" cap="rnd">
              <a:solidFill>
                <a:srgbClr val="FF3399"/>
              </a:solidFill>
              <a:round/>
            </a:ln>
            <a:effectLst/>
          </c:spPr>
          <c:marker>
            <c:symbol val="none"/>
          </c:marker>
          <c:cat>
            <c:numRef>
              <c:f>中美对外负债结构!$A$34:$A$54</c:f>
              <c:numCache>
                <c:formatCode>General</c:formatCode>
                <c:ptCount val="21"/>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numCache>
            </c:numRef>
          </c:cat>
          <c:val>
            <c:numRef>
              <c:f>中美对外负债结构!$C$34:$C$54</c:f>
              <c:numCache>
                <c:formatCode>General</c:formatCode>
                <c:ptCount val="21"/>
                <c:pt idx="0">
                  <c:v>2.8651924287764096E-2</c:v>
                </c:pt>
                <c:pt idx="1">
                  <c:v>2.5707905715835186E-2</c:v>
                </c:pt>
                <c:pt idx="2">
                  <c:v>2.1846113316087191E-2</c:v>
                </c:pt>
                <c:pt idx="3">
                  <c:v>3.5620354441637039E-2</c:v>
                </c:pt>
                <c:pt idx="4">
                  <c:v>3.6636478742160451E-2</c:v>
                </c:pt>
                <c:pt idx="5">
                  <c:v>2.6757597394787069E-2</c:v>
                </c:pt>
                <c:pt idx="6">
                  <c:v>3.400012282529688E-2</c:v>
                </c:pt>
                <c:pt idx="7">
                  <c:v>3.3479589029968039E-2</c:v>
                </c:pt>
                <c:pt idx="8">
                  <c:v>1.9145234097493101E-2</c:v>
                </c:pt>
                <c:pt idx="9">
                  <c:v>2.553942476585927E-2</c:v>
                </c:pt>
                <c:pt idx="10">
                  <c:v>3.0792863236124551E-2</c:v>
                </c:pt>
                <c:pt idx="11">
                  <c:v>2.398729358648179E-2</c:v>
                </c:pt>
                <c:pt idx="12">
                  <c:v>2.7542495575828052E-2</c:v>
                </c:pt>
                <c:pt idx="13">
                  <c:v>6.5597307379168981E-2</c:v>
                </c:pt>
                <c:pt idx="14">
                  <c:v>7.1873979249619774E-2</c:v>
                </c:pt>
                <c:pt idx="15">
                  <c:v>9.9157909934647237E-2</c:v>
                </c:pt>
                <c:pt idx="16">
                  <c:v>0.1938930532421258</c:v>
                </c:pt>
                <c:pt idx="17">
                  <c:v>0.24548577218541082</c:v>
                </c:pt>
                <c:pt idx="18">
                  <c:v>0.11821179044957369</c:v>
                </c:pt>
                <c:pt idx="19">
                  <c:v>0.17381448980116068</c:v>
                </c:pt>
                <c:pt idx="20">
                  <c:v>0.15752163957418824</c:v>
                </c:pt>
              </c:numCache>
            </c:numRef>
          </c:val>
          <c:smooth val="0"/>
          <c:extLst>
            <c:ext xmlns:c16="http://schemas.microsoft.com/office/drawing/2014/chart" uri="{C3380CC4-5D6E-409C-BE32-E72D297353CC}">
              <c16:uniqueId val="{00000001-81C5-42D9-BD0E-1D379C81E385}"/>
            </c:ext>
          </c:extLst>
        </c:ser>
        <c:ser>
          <c:idx val="2"/>
          <c:order val="2"/>
          <c:tx>
            <c:strRef>
              <c:f>中美对外负债结构!$D$33</c:f>
              <c:strCache>
                <c:ptCount val="1"/>
                <c:pt idx="0">
                  <c:v>债务负债</c:v>
                </c:pt>
              </c:strCache>
            </c:strRef>
          </c:tx>
          <c:spPr>
            <a:ln w="28575" cap="rnd">
              <a:solidFill>
                <a:schemeClr val="accent3"/>
              </a:solidFill>
              <a:round/>
            </a:ln>
            <a:effectLst/>
          </c:spPr>
          <c:marker>
            <c:symbol val="none"/>
          </c:marker>
          <c:cat>
            <c:numRef>
              <c:f>中美对外负债结构!$A$34:$A$54</c:f>
              <c:numCache>
                <c:formatCode>General</c:formatCode>
                <c:ptCount val="21"/>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numCache>
            </c:numRef>
          </c:cat>
          <c:val>
            <c:numRef>
              <c:f>中美对外负债结构!$D$34:$D$54</c:f>
              <c:numCache>
                <c:formatCode>General</c:formatCode>
                <c:ptCount val="21"/>
                <c:pt idx="0">
                  <c:v>0.74279949543302637</c:v>
                </c:pt>
                <c:pt idx="1">
                  <c:v>0.72292149152506702</c:v>
                </c:pt>
                <c:pt idx="2">
                  <c:v>0.67765442822916266</c:v>
                </c:pt>
                <c:pt idx="3">
                  <c:v>0.55125204493885827</c:v>
                </c:pt>
                <c:pt idx="4">
                  <c:v>0.5138569428477775</c:v>
                </c:pt>
                <c:pt idx="5">
                  <c:v>0.46020414459579873</c:v>
                </c:pt>
                <c:pt idx="6">
                  <c:v>0.40737611225508713</c:v>
                </c:pt>
                <c:pt idx="7">
                  <c:v>0.38799323066211777</c:v>
                </c:pt>
                <c:pt idx="8">
                  <c:v>0.35267905813256539</c:v>
                </c:pt>
                <c:pt idx="9">
                  <c:v>0.33862554614268192</c:v>
                </c:pt>
                <c:pt idx="10">
                  <c:v>0.30439875313424336</c:v>
                </c:pt>
                <c:pt idx="11">
                  <c:v>0.33335322640615228</c:v>
                </c:pt>
                <c:pt idx="12">
                  <c:v>0.31108428060742993</c:v>
                </c:pt>
                <c:pt idx="13">
                  <c:v>0.29674513836856659</c:v>
                </c:pt>
                <c:pt idx="14">
                  <c:v>0.30165960544773512</c:v>
                </c:pt>
                <c:pt idx="15">
                  <c:v>0.28052074236253832</c:v>
                </c:pt>
                <c:pt idx="16">
                  <c:v>0.24230998594264591</c:v>
                </c:pt>
                <c:pt idx="17">
                  <c:v>0.21409326441327409</c:v>
                </c:pt>
                <c:pt idx="18">
                  <c:v>0.20945282681044086</c:v>
                </c:pt>
                <c:pt idx="19">
                  <c:v>0.20352705797429593</c:v>
                </c:pt>
                <c:pt idx="20">
                  <c:v>0.23806357422884986</c:v>
                </c:pt>
              </c:numCache>
            </c:numRef>
          </c:val>
          <c:smooth val="0"/>
          <c:extLst>
            <c:ext xmlns:c16="http://schemas.microsoft.com/office/drawing/2014/chart" uri="{C3380CC4-5D6E-409C-BE32-E72D297353CC}">
              <c16:uniqueId val="{00000002-81C5-42D9-BD0E-1D379C81E385}"/>
            </c:ext>
          </c:extLst>
        </c:ser>
        <c:dLbls>
          <c:showLegendKey val="0"/>
          <c:showVal val="0"/>
          <c:showCatName val="0"/>
          <c:showSerName val="0"/>
          <c:showPercent val="0"/>
          <c:showBubbleSize val="0"/>
        </c:dLbls>
        <c:smooth val="0"/>
        <c:axId val="250966400"/>
        <c:axId val="250967936"/>
      </c:lineChart>
      <c:catAx>
        <c:axId val="250966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250967936"/>
        <c:crosses val="autoZero"/>
        <c:auto val="1"/>
        <c:lblAlgn val="ctr"/>
        <c:lblOffset val="100"/>
        <c:noMultiLvlLbl val="0"/>
      </c:catAx>
      <c:valAx>
        <c:axId val="2509679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250966400"/>
        <c:crosses val="autoZero"/>
        <c:crossBetween val="between"/>
        <c:dispUnits>
          <c:custUnit val="1"/>
          <c:dispUnitsLbl>
            <c:layout>
              <c:manualLayout>
                <c:xMode val="edge"/>
                <c:yMode val="edge"/>
                <c:x val="3.888888888888889E-2"/>
                <c:y val="6.1111111111111123E-2"/>
              </c:manualLayout>
            </c:layout>
            <c:tx>
              <c:rich>
                <a:bodyPr rot="0" spcFirstLastPara="1" vertOverflow="ellipsis" wrap="square" anchor="ctr" anchorCtr="1"/>
                <a:lstStyle/>
                <a:p>
                  <a:pPr>
                    <a:defRPr sz="14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r>
                    <a:rPr lang="en-US" altLang="zh-CN" sz="1400">
                      <a:latin typeface="微软雅黑" panose="020B0503020204020204" pitchFamily="34" charset="-122"/>
                      <a:ea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rPr>
                    <a:t>对外总负债</a:t>
                  </a:r>
                  <a:endParaRPr lang="en-US" altLang="zh-CN" sz="1400">
                    <a:latin typeface="微软雅黑" panose="020B0503020204020204" pitchFamily="34" charset="-122"/>
                    <a:ea typeface="微软雅黑" panose="020B0503020204020204" pitchFamily="34" charset="-122"/>
                  </a:endParaRPr>
                </a:p>
              </c:rich>
            </c:tx>
            <c:spPr>
              <a:noFill/>
              <a:ln>
                <a:noFill/>
              </a:ln>
              <a:effectLst/>
            </c:spPr>
            <c:txPr>
              <a:bodyPr rot="0" spcFirstLastPara="1" vertOverflow="ellipsis" wrap="square" anchor="ctr" anchorCtr="1"/>
              <a:lstStyle/>
              <a:p>
                <a:pPr>
                  <a:defRPr sz="14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dispUnitsLbl>
        </c:dispUnits>
      </c:valAx>
      <c:spPr>
        <a:noFill/>
        <a:ln>
          <a:noFill/>
        </a:ln>
        <a:effectLst/>
      </c:spPr>
    </c:plotArea>
    <c:legend>
      <c:legendPos val="b"/>
      <c:layout>
        <c:manualLayout>
          <c:xMode val="edge"/>
          <c:yMode val="edge"/>
          <c:x val="0.42606150255740138"/>
          <c:y val="9.9415607908924383E-2"/>
          <c:w val="0.5635827101204115"/>
          <c:h val="7.1282769035660054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r>
              <a:rPr lang="zh-CN" altLang="en-US" sz="2000" b="1" i="0" baseline="0">
                <a:effectLst/>
                <a:latin typeface="微软雅黑" panose="020B0503020204020204" pitchFamily="34" charset="-122"/>
                <a:ea typeface="微软雅黑" panose="020B0503020204020204" pitchFamily="34" charset="-122"/>
              </a:rPr>
              <a:t>美国</a:t>
            </a:r>
            <a:r>
              <a:rPr lang="zh-CN" altLang="zh-CN" sz="2000" b="1" i="0" baseline="0">
                <a:effectLst/>
                <a:latin typeface="微软雅黑" panose="020B0503020204020204" pitchFamily="34" charset="-122"/>
                <a:ea typeface="微软雅黑" panose="020B0503020204020204" pitchFamily="34" charset="-122"/>
              </a:rPr>
              <a:t>的对外负债结构</a:t>
            </a:r>
            <a:endParaRPr lang="zh-CN" altLang="zh-CN" sz="2000">
              <a:effectLst/>
              <a:latin typeface="微软雅黑" panose="020B0503020204020204" pitchFamily="34" charset="-122"/>
              <a:ea typeface="微软雅黑" panose="020B0503020204020204" pitchFamily="34" charset="-122"/>
            </a:endParaRPr>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title>
    <c:autoTitleDeleted val="0"/>
    <c:plotArea>
      <c:layout>
        <c:manualLayout>
          <c:layoutTarget val="inner"/>
          <c:xMode val="edge"/>
          <c:yMode val="edge"/>
          <c:x val="9.5525371828521527E-2"/>
          <c:y val="0.17898483120832062"/>
          <c:w val="0.87391907261592394"/>
          <c:h val="0.66432742476072004"/>
        </c:manualLayout>
      </c:layout>
      <c:lineChart>
        <c:grouping val="standard"/>
        <c:varyColors val="0"/>
        <c:ser>
          <c:idx val="0"/>
          <c:order val="0"/>
          <c:tx>
            <c:strRef>
              <c:f>中美对外负债结构!$F$33</c:f>
              <c:strCache>
                <c:ptCount val="1"/>
                <c:pt idx="0">
                  <c:v>直接投资负债</c:v>
                </c:pt>
              </c:strCache>
            </c:strRef>
          </c:tx>
          <c:spPr>
            <a:ln w="28575" cap="rnd">
              <a:solidFill>
                <a:srgbClr val="CC9900"/>
              </a:solidFill>
              <a:round/>
            </a:ln>
            <a:effectLst/>
          </c:spPr>
          <c:marker>
            <c:symbol val="none"/>
          </c:marker>
          <c:cat>
            <c:numRef>
              <c:f>中美对外负债结构!$E$34:$E$54</c:f>
              <c:numCache>
                <c:formatCode>General</c:formatCode>
                <c:ptCount val="21"/>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numCache>
            </c:numRef>
          </c:cat>
          <c:val>
            <c:numRef>
              <c:f>中美对外负债结构!$F$34:$F$54</c:f>
              <c:numCache>
                <c:formatCode>General</c:formatCode>
                <c:ptCount val="21"/>
                <c:pt idx="0">
                  <c:v>0.20974344564702693</c:v>
                </c:pt>
                <c:pt idx="1">
                  <c:v>0.20688927589296482</c:v>
                </c:pt>
                <c:pt idx="2">
                  <c:v>0.19698350212581173</c:v>
                </c:pt>
                <c:pt idx="3">
                  <c:v>0.19529035679125212</c:v>
                </c:pt>
                <c:pt idx="4">
                  <c:v>0.18808939437103309</c:v>
                </c:pt>
                <c:pt idx="5">
                  <c:v>0.17364276876142953</c:v>
                </c:pt>
                <c:pt idx="6">
                  <c:v>0.16585362055945255</c:v>
                </c:pt>
                <c:pt idx="7">
                  <c:v>0.15392672503959598</c:v>
                </c:pt>
                <c:pt idx="8">
                  <c:v>0.15452772287920424</c:v>
                </c:pt>
                <c:pt idx="9">
                  <c:v>0.16430023762717624</c:v>
                </c:pt>
                <c:pt idx="10">
                  <c:v>0.18757321834964205</c:v>
                </c:pt>
                <c:pt idx="11">
                  <c:v>0.18554817354909725</c:v>
                </c:pt>
                <c:pt idx="12">
                  <c:v>0.17253301524895587</c:v>
                </c:pt>
                <c:pt idx="13">
                  <c:v>0.16245515242034916</c:v>
                </c:pt>
                <c:pt idx="14">
                  <c:v>0.15031629356044643</c:v>
                </c:pt>
                <c:pt idx="15">
                  <c:v>0.13718295794619448</c:v>
                </c:pt>
                <c:pt idx="16">
                  <c:v>0.12960825930070738</c:v>
                </c:pt>
                <c:pt idx="17">
                  <c:v>0.11615964001649126</c:v>
                </c:pt>
                <c:pt idx="18">
                  <c:v>0.10549655291154421</c:v>
                </c:pt>
                <c:pt idx="19">
                  <c:v>0.11692047196370189</c:v>
                </c:pt>
                <c:pt idx="20">
                  <c:v>0.11668969324750196</c:v>
                </c:pt>
              </c:numCache>
            </c:numRef>
          </c:val>
          <c:smooth val="0"/>
          <c:extLst>
            <c:ext xmlns:c16="http://schemas.microsoft.com/office/drawing/2014/chart" uri="{C3380CC4-5D6E-409C-BE32-E72D297353CC}">
              <c16:uniqueId val="{00000000-270C-4375-A34B-DF889610CFE3}"/>
            </c:ext>
          </c:extLst>
        </c:ser>
        <c:ser>
          <c:idx val="1"/>
          <c:order val="1"/>
          <c:tx>
            <c:strRef>
              <c:f>中美对外负债结构!$G$33</c:f>
              <c:strCache>
                <c:ptCount val="1"/>
                <c:pt idx="0">
                  <c:v>权益负债</c:v>
                </c:pt>
              </c:strCache>
            </c:strRef>
          </c:tx>
          <c:spPr>
            <a:ln w="28575" cap="rnd">
              <a:solidFill>
                <a:srgbClr val="FF3399"/>
              </a:solidFill>
              <a:round/>
            </a:ln>
            <a:effectLst/>
          </c:spPr>
          <c:marker>
            <c:symbol val="none"/>
          </c:marker>
          <c:cat>
            <c:numRef>
              <c:f>中美对外负债结构!$E$34:$E$54</c:f>
              <c:numCache>
                <c:formatCode>General</c:formatCode>
                <c:ptCount val="21"/>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numCache>
            </c:numRef>
          </c:cat>
          <c:val>
            <c:numRef>
              <c:f>中美对外负债结构!$G$34:$G$54</c:f>
              <c:numCache>
                <c:formatCode>General</c:formatCode>
                <c:ptCount val="21"/>
                <c:pt idx="0">
                  <c:v>0.10118442586038659</c:v>
                </c:pt>
                <c:pt idx="1">
                  <c:v>0.11595525577823391</c:v>
                </c:pt>
                <c:pt idx="2">
                  <c:v>0.11994967034513596</c:v>
                </c:pt>
                <c:pt idx="3">
                  <c:v>0.12294497856724602</c:v>
                </c:pt>
                <c:pt idx="4">
                  <c:v>0.12105031203052365</c:v>
                </c:pt>
                <c:pt idx="5">
                  <c:v>0.14030838005487622</c:v>
                </c:pt>
                <c:pt idx="6">
                  <c:v>0.14956630249941918</c:v>
                </c:pt>
                <c:pt idx="7">
                  <c:v>0.17797511430535221</c:v>
                </c:pt>
                <c:pt idx="8">
                  <c:v>0.21000354556980971</c:v>
                </c:pt>
                <c:pt idx="9">
                  <c:v>0.24033153867697721</c:v>
                </c:pt>
                <c:pt idx="10">
                  <c:v>0.21690187398055308</c:v>
                </c:pt>
                <c:pt idx="11">
                  <c:v>0.19217206175240995</c:v>
                </c:pt>
                <c:pt idx="12">
                  <c:v>0.15365039781635251</c:v>
                </c:pt>
                <c:pt idx="13">
                  <c:v>0.18901887987785157</c:v>
                </c:pt>
                <c:pt idx="14">
                  <c:v>0.18313957801074032</c:v>
                </c:pt>
                <c:pt idx="15">
                  <c:v>0.16583148003544937</c:v>
                </c:pt>
                <c:pt idx="16">
                  <c:v>0.16798600145936893</c:v>
                </c:pt>
                <c:pt idx="17">
                  <c:v>0.16001698818698423</c:v>
                </c:pt>
                <c:pt idx="18">
                  <c:v>9.3836950931270077E-2</c:v>
                </c:pt>
                <c:pt idx="19">
                  <c:v>0.13971084314586699</c:v>
                </c:pt>
                <c:pt idx="20">
                  <c:v>0.15402410886664875</c:v>
                </c:pt>
              </c:numCache>
            </c:numRef>
          </c:val>
          <c:smooth val="0"/>
          <c:extLst>
            <c:ext xmlns:c16="http://schemas.microsoft.com/office/drawing/2014/chart" uri="{C3380CC4-5D6E-409C-BE32-E72D297353CC}">
              <c16:uniqueId val="{00000001-270C-4375-A34B-DF889610CFE3}"/>
            </c:ext>
          </c:extLst>
        </c:ser>
        <c:ser>
          <c:idx val="2"/>
          <c:order val="2"/>
          <c:tx>
            <c:strRef>
              <c:f>中美对外负债结构!$H$33</c:f>
              <c:strCache>
                <c:ptCount val="1"/>
                <c:pt idx="0">
                  <c:v>债务负债</c:v>
                </c:pt>
              </c:strCache>
            </c:strRef>
          </c:tx>
          <c:spPr>
            <a:ln w="28575" cap="rnd">
              <a:solidFill>
                <a:schemeClr val="accent3"/>
              </a:solidFill>
              <a:round/>
            </a:ln>
            <a:effectLst/>
          </c:spPr>
          <c:marker>
            <c:symbol val="none"/>
          </c:marker>
          <c:cat>
            <c:numRef>
              <c:f>中美对外负债结构!$E$34:$E$54</c:f>
              <c:numCache>
                <c:formatCode>General</c:formatCode>
                <c:ptCount val="21"/>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numCache>
            </c:numRef>
          </c:cat>
          <c:val>
            <c:numRef>
              <c:f>中美对外负债结构!$H$34:$H$54</c:f>
              <c:numCache>
                <c:formatCode>General</c:formatCode>
                <c:ptCount val="21"/>
                <c:pt idx="0">
                  <c:v>0.68907212849258703</c:v>
                </c:pt>
                <c:pt idx="1">
                  <c:v>0.67715546832880347</c:v>
                </c:pt>
                <c:pt idx="2">
                  <c:v>0.68306682752905235</c:v>
                </c:pt>
                <c:pt idx="3">
                  <c:v>0.68176466464150265</c:v>
                </c:pt>
                <c:pt idx="4">
                  <c:v>0.69086029359844459</c:v>
                </c:pt>
                <c:pt idx="5">
                  <c:v>0.68604885118369585</c:v>
                </c:pt>
                <c:pt idx="6">
                  <c:v>0.68458007694112855</c:v>
                </c:pt>
                <c:pt idx="7">
                  <c:v>0.66809816065505279</c:v>
                </c:pt>
                <c:pt idx="8">
                  <c:v>0.63546873155098604</c:v>
                </c:pt>
                <c:pt idx="9">
                  <c:v>0.59536822369584652</c:v>
                </c:pt>
                <c:pt idx="10">
                  <c:v>0.59552490766980481</c:v>
                </c:pt>
                <c:pt idx="11">
                  <c:v>0.62227976469849478</c:v>
                </c:pt>
                <c:pt idx="12">
                  <c:v>0.67381658693469182</c:v>
                </c:pt>
                <c:pt idx="13">
                  <c:v>0.64852596770179971</c:v>
                </c:pt>
                <c:pt idx="14">
                  <c:v>0.66654412842881472</c:v>
                </c:pt>
                <c:pt idx="15">
                  <c:v>0.61550158593451809</c:v>
                </c:pt>
                <c:pt idx="16">
                  <c:v>0.6314566461178307</c:v>
                </c:pt>
                <c:pt idx="17">
                  <c:v>0.60063564482874865</c:v>
                </c:pt>
                <c:pt idx="18">
                  <c:v>0.53805493306381158</c:v>
                </c:pt>
                <c:pt idx="19">
                  <c:v>0.58218679162843456</c:v>
                </c:pt>
                <c:pt idx="20">
                  <c:v>0.57382083132026762</c:v>
                </c:pt>
              </c:numCache>
            </c:numRef>
          </c:val>
          <c:smooth val="0"/>
          <c:extLst>
            <c:ext xmlns:c16="http://schemas.microsoft.com/office/drawing/2014/chart" uri="{C3380CC4-5D6E-409C-BE32-E72D297353CC}">
              <c16:uniqueId val="{00000002-270C-4375-A34B-DF889610CFE3}"/>
            </c:ext>
          </c:extLst>
        </c:ser>
        <c:dLbls>
          <c:showLegendKey val="0"/>
          <c:showVal val="0"/>
          <c:showCatName val="0"/>
          <c:showSerName val="0"/>
          <c:showPercent val="0"/>
          <c:showBubbleSize val="0"/>
        </c:dLbls>
        <c:smooth val="0"/>
        <c:axId val="251041664"/>
        <c:axId val="251043200"/>
      </c:lineChart>
      <c:catAx>
        <c:axId val="251041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251043200"/>
        <c:crosses val="autoZero"/>
        <c:auto val="1"/>
        <c:lblAlgn val="ctr"/>
        <c:lblOffset val="100"/>
        <c:noMultiLvlLbl val="0"/>
      </c:catAx>
      <c:valAx>
        <c:axId val="2510432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251041664"/>
        <c:crosses val="autoZero"/>
        <c:crossBetween val="between"/>
        <c:dispUnits>
          <c:custUnit val="1"/>
          <c:dispUnitsLbl>
            <c:layout>
              <c:manualLayout>
                <c:xMode val="edge"/>
                <c:yMode val="edge"/>
                <c:x val="4.3253308879565959E-2"/>
                <c:y val="8.1669985303506026E-2"/>
              </c:manualLayout>
            </c:layout>
            <c:tx>
              <c:rich>
                <a:bodyPr rot="0" spcFirstLastPara="1" vertOverflow="ellipsis" wrap="square" anchor="ctr" anchorCtr="1"/>
                <a:lstStyle/>
                <a:p>
                  <a:pPr>
                    <a:defRPr sz="14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r>
                    <a:rPr lang="en-US" altLang="zh-CN" sz="1400" b="0" i="0" kern="1200" baseline="0">
                      <a:solidFill>
                        <a:srgbClr val="595959"/>
                      </a:solidFill>
                      <a:effectLst/>
                      <a:latin typeface="微软雅黑" panose="020B0503020204020204" pitchFamily="34" charset="-122"/>
                      <a:ea typeface="微软雅黑" panose="020B0503020204020204" pitchFamily="34" charset="-122"/>
                    </a:rPr>
                    <a:t>%</a:t>
                  </a:r>
                  <a:r>
                    <a:rPr lang="zh-CN" altLang="zh-CN" sz="1400" b="0" i="0" kern="1200" baseline="0">
                      <a:solidFill>
                        <a:srgbClr val="595959"/>
                      </a:solidFill>
                      <a:effectLst/>
                      <a:latin typeface="微软雅黑" panose="020B0503020204020204" pitchFamily="34" charset="-122"/>
                      <a:ea typeface="微软雅黑" panose="020B0503020204020204" pitchFamily="34" charset="-122"/>
                    </a:rPr>
                    <a:t>对外总负债</a:t>
                  </a:r>
                  <a:endParaRPr lang="zh-CN" altLang="zh-CN" sz="1400">
                    <a:effectLst/>
                    <a:latin typeface="微软雅黑" panose="020B0503020204020204" pitchFamily="34" charset="-122"/>
                    <a:ea typeface="微软雅黑" panose="020B0503020204020204" pitchFamily="34" charset="-122"/>
                  </a:endParaRPr>
                </a:p>
              </c:rich>
            </c:tx>
            <c:spPr>
              <a:noFill/>
              <a:ln>
                <a:noFill/>
              </a:ln>
              <a:effectLst/>
            </c:spPr>
            <c:txPr>
              <a:bodyPr rot="0" spcFirstLastPara="1" vertOverflow="ellipsis" wrap="square" anchor="ctr" anchorCtr="1"/>
              <a:lstStyle/>
              <a:p>
                <a:pPr>
                  <a:defRPr sz="14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dispUnitsLbl>
        </c:dispUnits>
      </c:valAx>
      <c:spPr>
        <a:noFill/>
        <a:ln>
          <a:noFill/>
        </a:ln>
        <a:effectLst/>
      </c:spPr>
    </c:plotArea>
    <c:legend>
      <c:legendPos val="b"/>
      <c:layout>
        <c:manualLayout>
          <c:xMode val="edge"/>
          <c:yMode val="edge"/>
          <c:x val="0.45747743065532925"/>
          <c:y val="0.11413188084371811"/>
          <c:w val="0.51661748427704357"/>
          <c:h val="6.4259402271698518E-2"/>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r>
              <a:rPr lang="zh-CN" altLang="en-US" sz="1600" dirty="0">
                <a:latin typeface="微软雅黑" panose="020B0503020204020204" pitchFamily="34" charset="-122"/>
                <a:ea typeface="微软雅黑" panose="020B0503020204020204" pitchFamily="34" charset="-122"/>
              </a:rPr>
              <a:t>经常账户余额占全球</a:t>
            </a:r>
            <a:r>
              <a:rPr lang="en-US" altLang="zh-CN" sz="1600" dirty="0">
                <a:latin typeface="微软雅黑" panose="020B0503020204020204" pitchFamily="34" charset="-122"/>
                <a:ea typeface="微软雅黑" panose="020B0503020204020204" pitchFamily="34" charset="-122"/>
              </a:rPr>
              <a:t>GDP</a:t>
            </a:r>
            <a:r>
              <a:rPr lang="zh-CN" altLang="en-US" sz="1600" dirty="0">
                <a:latin typeface="微软雅黑" panose="020B0503020204020204" pitchFamily="34" charset="-122"/>
                <a:ea typeface="微软雅黑" panose="020B0503020204020204" pitchFamily="34" charset="-122"/>
              </a:rPr>
              <a:t>的百分比</a:t>
            </a:r>
          </a:p>
        </c:rich>
      </c:tx>
      <c:layout>
        <c:manualLayout>
          <c:xMode val="edge"/>
          <c:yMode val="edge"/>
          <c:x val="0.31136053692015137"/>
          <c:y val="0"/>
        </c:manualLayout>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title>
    <c:autoTitleDeleted val="0"/>
    <c:plotArea>
      <c:layout>
        <c:manualLayout>
          <c:layoutTarget val="inner"/>
          <c:xMode val="edge"/>
          <c:yMode val="edge"/>
          <c:x val="0.10039258962427425"/>
          <c:y val="9.3155520436005182E-2"/>
          <c:w val="0.88073316902700405"/>
          <c:h val="0.79541711478675148"/>
        </c:manualLayout>
      </c:layout>
      <c:barChart>
        <c:barDir val="col"/>
        <c:grouping val="stacked"/>
        <c:varyColors val="0"/>
        <c:ser>
          <c:idx val="0"/>
          <c:order val="0"/>
          <c:tx>
            <c:strRef>
              <c:f>Sheet1!$B$21</c:f>
              <c:strCache>
                <c:ptCount val="1"/>
                <c:pt idx="0">
                  <c:v>美国</c:v>
                </c:pt>
              </c:strCache>
            </c:strRef>
          </c:tx>
          <c:spPr>
            <a:solidFill>
              <a:schemeClr val="accent3"/>
            </a:solidFill>
            <a:ln>
              <a:noFill/>
            </a:ln>
            <a:effectLst/>
          </c:spPr>
          <c:invertIfNegative val="0"/>
          <c:cat>
            <c:numRef>
              <c:f>Sheet1!$A$22:$A$39</c:f>
              <c:numCache>
                <c:formatCode>General</c:formatCode>
                <c:ptCount val="18"/>
                <c:pt idx="0">
                  <c:v>1997</c:v>
                </c:pt>
                <c:pt idx="1">
                  <c:v>1998</c:v>
                </c:pt>
                <c:pt idx="2">
                  <c:v>1999</c:v>
                </c:pt>
                <c:pt idx="3">
                  <c:v>2000</c:v>
                </c:pt>
                <c:pt idx="4">
                  <c:v>2001</c:v>
                </c:pt>
                <c:pt idx="5">
                  <c:v>2002</c:v>
                </c:pt>
                <c:pt idx="6">
                  <c:v>2003</c:v>
                </c:pt>
                <c:pt idx="7">
                  <c:v>2004</c:v>
                </c:pt>
                <c:pt idx="8">
                  <c:v>2005</c:v>
                </c:pt>
                <c:pt idx="9">
                  <c:v>2006</c:v>
                </c:pt>
                <c:pt idx="10">
                  <c:v>2007</c:v>
                </c:pt>
                <c:pt idx="11">
                  <c:v>2008</c:v>
                </c:pt>
                <c:pt idx="12">
                  <c:v>2009</c:v>
                </c:pt>
                <c:pt idx="13">
                  <c:v>2010</c:v>
                </c:pt>
                <c:pt idx="14">
                  <c:v>2011</c:v>
                </c:pt>
                <c:pt idx="15">
                  <c:v>2012</c:v>
                </c:pt>
                <c:pt idx="16">
                  <c:v>2013</c:v>
                </c:pt>
                <c:pt idx="17">
                  <c:v>2014</c:v>
                </c:pt>
              </c:numCache>
            </c:numRef>
          </c:cat>
          <c:val>
            <c:numRef>
              <c:f>Sheet1!$B$22:$B$39</c:f>
              <c:numCache>
                <c:formatCode>0.00%</c:formatCode>
                <c:ptCount val="18"/>
                <c:pt idx="0">
                  <c:v>-4.5443087215786254E-3</c:v>
                </c:pt>
                <c:pt idx="1">
                  <c:v>-6.9926541138815692E-3</c:v>
                </c:pt>
                <c:pt idx="2">
                  <c:v>-9.2507964845433416E-3</c:v>
                </c:pt>
                <c:pt idx="3">
                  <c:v>-1.2484009267216828E-2</c:v>
                </c:pt>
                <c:pt idx="4">
                  <c:v>-1.208871031515108E-2</c:v>
                </c:pt>
                <c:pt idx="5">
                  <c:v>-1.3478755504250105E-2</c:v>
                </c:pt>
                <c:pt idx="6">
                  <c:v>-1.3651789192522983E-2</c:v>
                </c:pt>
                <c:pt idx="7">
                  <c:v>-1.4737662309153578E-2</c:v>
                </c:pt>
                <c:pt idx="8">
                  <c:v>-1.601141978429774E-2</c:v>
                </c:pt>
                <c:pt idx="9">
                  <c:v>-1.5989056678834105E-2</c:v>
                </c:pt>
                <c:pt idx="10">
                  <c:v>-1.2643604166385543E-2</c:v>
                </c:pt>
                <c:pt idx="11">
                  <c:v>-1.102007347464614E-2</c:v>
                </c:pt>
                <c:pt idx="12">
                  <c:v>-6.4472174126594247E-3</c:v>
                </c:pt>
                <c:pt idx="13">
                  <c:v>-6.8799798800147022E-3</c:v>
                </c:pt>
                <c:pt idx="14">
                  <c:v>-6.4313553259657506E-3</c:v>
                </c:pt>
                <c:pt idx="15">
                  <c:v>-6.3387652412738487E-3</c:v>
                </c:pt>
                <c:pt idx="16">
                  <c:v>-5.358219220865627E-3</c:v>
                </c:pt>
                <c:pt idx="17">
                  <c:v>-5.5527125193741084E-3</c:v>
                </c:pt>
              </c:numCache>
            </c:numRef>
          </c:val>
          <c:extLst>
            <c:ext xmlns:c16="http://schemas.microsoft.com/office/drawing/2014/chart" uri="{C3380CC4-5D6E-409C-BE32-E72D297353CC}">
              <c16:uniqueId val="{00000000-C6E9-4512-9CF7-F381DDD03963}"/>
            </c:ext>
          </c:extLst>
        </c:ser>
        <c:ser>
          <c:idx val="1"/>
          <c:order val="1"/>
          <c:tx>
            <c:strRef>
              <c:f>Sheet1!$C$21</c:f>
              <c:strCache>
                <c:ptCount val="1"/>
                <c:pt idx="0">
                  <c:v>石油国家</c:v>
                </c:pt>
              </c:strCache>
            </c:strRef>
          </c:tx>
          <c:spPr>
            <a:solidFill>
              <a:srgbClr val="FFC000"/>
            </a:solidFill>
            <a:ln>
              <a:noFill/>
            </a:ln>
            <a:effectLst/>
          </c:spPr>
          <c:invertIfNegative val="0"/>
          <c:cat>
            <c:numRef>
              <c:f>Sheet1!$A$22:$A$39</c:f>
              <c:numCache>
                <c:formatCode>General</c:formatCode>
                <c:ptCount val="18"/>
                <c:pt idx="0">
                  <c:v>1997</c:v>
                </c:pt>
                <c:pt idx="1">
                  <c:v>1998</c:v>
                </c:pt>
                <c:pt idx="2">
                  <c:v>1999</c:v>
                </c:pt>
                <c:pt idx="3">
                  <c:v>2000</c:v>
                </c:pt>
                <c:pt idx="4">
                  <c:v>2001</c:v>
                </c:pt>
                <c:pt idx="5">
                  <c:v>2002</c:v>
                </c:pt>
                <c:pt idx="6">
                  <c:v>2003</c:v>
                </c:pt>
                <c:pt idx="7">
                  <c:v>2004</c:v>
                </c:pt>
                <c:pt idx="8">
                  <c:v>2005</c:v>
                </c:pt>
                <c:pt idx="9">
                  <c:v>2006</c:v>
                </c:pt>
                <c:pt idx="10">
                  <c:v>2007</c:v>
                </c:pt>
                <c:pt idx="11">
                  <c:v>2008</c:v>
                </c:pt>
                <c:pt idx="12">
                  <c:v>2009</c:v>
                </c:pt>
                <c:pt idx="13">
                  <c:v>2010</c:v>
                </c:pt>
                <c:pt idx="14">
                  <c:v>2011</c:v>
                </c:pt>
                <c:pt idx="15">
                  <c:v>2012</c:v>
                </c:pt>
                <c:pt idx="16">
                  <c:v>2013</c:v>
                </c:pt>
                <c:pt idx="17">
                  <c:v>2014</c:v>
                </c:pt>
              </c:numCache>
            </c:numRef>
          </c:cat>
          <c:val>
            <c:numRef>
              <c:f>Sheet1!$C$22:$C$39</c:f>
              <c:numCache>
                <c:formatCode>0.00%</c:formatCode>
                <c:ptCount val="18"/>
                <c:pt idx="0">
                  <c:v>7.9489880032445844E-4</c:v>
                </c:pt>
                <c:pt idx="1">
                  <c:v>2.4364684732957648E-3</c:v>
                </c:pt>
                <c:pt idx="2">
                  <c:v>2.4259996695674608E-3</c:v>
                </c:pt>
                <c:pt idx="3">
                  <c:v>2.5679085858461735E-3</c:v>
                </c:pt>
                <c:pt idx="4">
                  <c:v>3.0179270204203626E-3</c:v>
                </c:pt>
                <c:pt idx="5">
                  <c:v>2.8934939301861065E-3</c:v>
                </c:pt>
                <c:pt idx="6">
                  <c:v>3.7906216260724652E-3</c:v>
                </c:pt>
                <c:pt idx="7">
                  <c:v>3.5925042998897682E-3</c:v>
                </c:pt>
                <c:pt idx="8">
                  <c:v>3.6008371438373461E-3</c:v>
                </c:pt>
                <c:pt idx="9">
                  <c:v>3.8452372618674644E-3</c:v>
                </c:pt>
                <c:pt idx="10">
                  <c:v>3.2414580656859424E-3</c:v>
                </c:pt>
                <c:pt idx="11">
                  <c:v>2.5441555968726904E-3</c:v>
                </c:pt>
                <c:pt idx="12">
                  <c:v>3.3651598327324754E-3</c:v>
                </c:pt>
                <c:pt idx="13">
                  <c:v>4.1642529988966427E-3</c:v>
                </c:pt>
                <c:pt idx="14">
                  <c:v>3.4647370066481827E-3</c:v>
                </c:pt>
                <c:pt idx="15">
                  <c:v>3.7541173771206198E-3</c:v>
                </c:pt>
                <c:pt idx="16">
                  <c:v>4.8800216998139464E-3</c:v>
                </c:pt>
                <c:pt idx="17">
                  <c:v>4.4626032821872101E-3</c:v>
                </c:pt>
              </c:numCache>
            </c:numRef>
          </c:val>
          <c:extLst>
            <c:ext xmlns:c16="http://schemas.microsoft.com/office/drawing/2014/chart" uri="{C3380CC4-5D6E-409C-BE32-E72D297353CC}">
              <c16:uniqueId val="{00000001-C6E9-4512-9CF7-F381DDD03963}"/>
            </c:ext>
          </c:extLst>
        </c:ser>
        <c:ser>
          <c:idx val="2"/>
          <c:order val="2"/>
          <c:tx>
            <c:strRef>
              <c:f>Sheet1!$D$21</c:f>
              <c:strCache>
                <c:ptCount val="1"/>
                <c:pt idx="0">
                  <c:v>德国</c:v>
                </c:pt>
              </c:strCache>
            </c:strRef>
          </c:tx>
          <c:spPr>
            <a:solidFill>
              <a:srgbClr val="FF3399"/>
            </a:solidFill>
            <a:ln>
              <a:noFill/>
            </a:ln>
            <a:effectLst/>
          </c:spPr>
          <c:invertIfNegative val="0"/>
          <c:cat>
            <c:numRef>
              <c:f>Sheet1!$A$22:$A$39</c:f>
              <c:numCache>
                <c:formatCode>General</c:formatCode>
                <c:ptCount val="18"/>
                <c:pt idx="0">
                  <c:v>1997</c:v>
                </c:pt>
                <c:pt idx="1">
                  <c:v>1998</c:v>
                </c:pt>
                <c:pt idx="2">
                  <c:v>1999</c:v>
                </c:pt>
                <c:pt idx="3">
                  <c:v>2000</c:v>
                </c:pt>
                <c:pt idx="4">
                  <c:v>2001</c:v>
                </c:pt>
                <c:pt idx="5">
                  <c:v>2002</c:v>
                </c:pt>
                <c:pt idx="6">
                  <c:v>2003</c:v>
                </c:pt>
                <c:pt idx="7">
                  <c:v>2004</c:v>
                </c:pt>
                <c:pt idx="8">
                  <c:v>2005</c:v>
                </c:pt>
                <c:pt idx="9">
                  <c:v>2006</c:v>
                </c:pt>
                <c:pt idx="10">
                  <c:v>2007</c:v>
                </c:pt>
                <c:pt idx="11">
                  <c:v>2008</c:v>
                </c:pt>
                <c:pt idx="12">
                  <c:v>2009</c:v>
                </c:pt>
                <c:pt idx="13">
                  <c:v>2010</c:v>
                </c:pt>
                <c:pt idx="14">
                  <c:v>2011</c:v>
                </c:pt>
                <c:pt idx="15">
                  <c:v>2012</c:v>
                </c:pt>
                <c:pt idx="16">
                  <c:v>2013</c:v>
                </c:pt>
                <c:pt idx="17">
                  <c:v>2014</c:v>
                </c:pt>
              </c:numCache>
            </c:numRef>
          </c:cat>
          <c:val>
            <c:numRef>
              <c:f>Sheet1!$D$22:$D$39</c:f>
              <c:numCache>
                <c:formatCode>0.00%</c:formatCode>
                <c:ptCount val="18"/>
                <c:pt idx="0">
                  <c:v>-3.2325561613844505E-4</c:v>
                </c:pt>
                <c:pt idx="1">
                  <c:v>-5.3095348255738221E-4</c:v>
                </c:pt>
                <c:pt idx="2">
                  <c:v>-9.7580273415086706E-4</c:v>
                </c:pt>
                <c:pt idx="3">
                  <c:v>-1.0379102887484659E-3</c:v>
                </c:pt>
                <c:pt idx="4">
                  <c:v>-2.1653384028530042E-4</c:v>
                </c:pt>
                <c:pt idx="5">
                  <c:v>1.1575505782515409E-3</c:v>
                </c:pt>
                <c:pt idx="6">
                  <c:v>9.3943314076385428E-4</c:v>
                </c:pt>
                <c:pt idx="7">
                  <c:v>2.9506484924876225E-3</c:v>
                </c:pt>
                <c:pt idx="8">
                  <c:v>2.8737834432029544E-3</c:v>
                </c:pt>
                <c:pt idx="9">
                  <c:v>3.4360003681705052E-3</c:v>
                </c:pt>
                <c:pt idx="10">
                  <c:v>4.1749958773628845E-3</c:v>
                </c:pt>
                <c:pt idx="11">
                  <c:v>3.4915093810300988E-3</c:v>
                </c:pt>
                <c:pt idx="12">
                  <c:v>3.3761988058099881E-3</c:v>
                </c:pt>
                <c:pt idx="13">
                  <c:v>3.0157506021939035E-3</c:v>
                </c:pt>
                <c:pt idx="14">
                  <c:v>3.1943609217888152E-3</c:v>
                </c:pt>
                <c:pt idx="15">
                  <c:v>3.4707955510136297E-3</c:v>
                </c:pt>
                <c:pt idx="16">
                  <c:v>3.4128049839531197E-3</c:v>
                </c:pt>
                <c:pt idx="17">
                  <c:v>3.0536253032132877E-3</c:v>
                </c:pt>
              </c:numCache>
            </c:numRef>
          </c:val>
          <c:extLst>
            <c:ext xmlns:c16="http://schemas.microsoft.com/office/drawing/2014/chart" uri="{C3380CC4-5D6E-409C-BE32-E72D297353CC}">
              <c16:uniqueId val="{00000002-C6E9-4512-9CF7-F381DDD03963}"/>
            </c:ext>
          </c:extLst>
        </c:ser>
        <c:ser>
          <c:idx val="3"/>
          <c:order val="3"/>
          <c:tx>
            <c:strRef>
              <c:f>Sheet1!$E$21</c:f>
              <c:strCache>
                <c:ptCount val="1"/>
                <c:pt idx="0">
                  <c:v>欧洲除德国</c:v>
                </c:pt>
              </c:strCache>
            </c:strRef>
          </c:tx>
          <c:spPr>
            <a:solidFill>
              <a:srgbClr val="00B050"/>
            </a:solidFill>
            <a:ln>
              <a:noFill/>
            </a:ln>
            <a:effectLst/>
          </c:spPr>
          <c:invertIfNegative val="0"/>
          <c:cat>
            <c:numRef>
              <c:f>Sheet1!$A$22:$A$39</c:f>
              <c:numCache>
                <c:formatCode>General</c:formatCode>
                <c:ptCount val="18"/>
                <c:pt idx="0">
                  <c:v>1997</c:v>
                </c:pt>
                <c:pt idx="1">
                  <c:v>1998</c:v>
                </c:pt>
                <c:pt idx="2">
                  <c:v>1999</c:v>
                </c:pt>
                <c:pt idx="3">
                  <c:v>2000</c:v>
                </c:pt>
                <c:pt idx="4">
                  <c:v>2001</c:v>
                </c:pt>
                <c:pt idx="5">
                  <c:v>2002</c:v>
                </c:pt>
                <c:pt idx="6">
                  <c:v>2003</c:v>
                </c:pt>
                <c:pt idx="7">
                  <c:v>2004</c:v>
                </c:pt>
                <c:pt idx="8">
                  <c:v>2005</c:v>
                </c:pt>
                <c:pt idx="9">
                  <c:v>2006</c:v>
                </c:pt>
                <c:pt idx="10">
                  <c:v>2007</c:v>
                </c:pt>
                <c:pt idx="11">
                  <c:v>2008</c:v>
                </c:pt>
                <c:pt idx="12">
                  <c:v>2009</c:v>
                </c:pt>
                <c:pt idx="13">
                  <c:v>2010</c:v>
                </c:pt>
                <c:pt idx="14">
                  <c:v>2011</c:v>
                </c:pt>
                <c:pt idx="15">
                  <c:v>2012</c:v>
                </c:pt>
                <c:pt idx="16">
                  <c:v>2013</c:v>
                </c:pt>
                <c:pt idx="17">
                  <c:v>2014</c:v>
                </c:pt>
              </c:numCache>
            </c:numRef>
          </c:cat>
          <c:val>
            <c:numRef>
              <c:f>Sheet1!$E$22:$E$39</c:f>
              <c:numCache>
                <c:formatCode>0.00%</c:formatCode>
                <c:ptCount val="18"/>
                <c:pt idx="0">
                  <c:v>3.2153115560879606E-3</c:v>
                </c:pt>
                <c:pt idx="1">
                  <c:v>2.2170315440992196E-3</c:v>
                </c:pt>
                <c:pt idx="2">
                  <c:v>1.9187375097844822E-3</c:v>
                </c:pt>
                <c:pt idx="3">
                  <c:v>-6.9295328209268242E-5</c:v>
                </c:pt>
                <c:pt idx="4">
                  <c:v>2.2797059445373759E-4</c:v>
                </c:pt>
                <c:pt idx="5">
                  <c:v>2.3848366641405014E-4</c:v>
                </c:pt>
                <c:pt idx="6">
                  <c:v>-4.9176481167201574E-5</c:v>
                </c:pt>
                <c:pt idx="7">
                  <c:v>-1.9505421753819303E-4</c:v>
                </c:pt>
                <c:pt idx="8">
                  <c:v>-1.9380580919536859E-3</c:v>
                </c:pt>
                <c:pt idx="9">
                  <c:v>-2.5560260925384351E-3</c:v>
                </c:pt>
                <c:pt idx="10">
                  <c:v>-3.6214813734302786E-3</c:v>
                </c:pt>
                <c:pt idx="11">
                  <c:v>-5.2290789656645482E-3</c:v>
                </c:pt>
                <c:pt idx="12">
                  <c:v>-2.6962861051243792E-3</c:v>
                </c:pt>
                <c:pt idx="13">
                  <c:v>-2.0949897510880258E-3</c:v>
                </c:pt>
                <c:pt idx="14">
                  <c:v>-1.9392844046287434E-3</c:v>
                </c:pt>
                <c:pt idx="15">
                  <c:v>-1.5599622153185882E-4</c:v>
                </c:pt>
                <c:pt idx="16">
                  <c:v>1.3534940333677747E-3</c:v>
                </c:pt>
                <c:pt idx="17">
                  <c:v>1.2309438978622201E-3</c:v>
                </c:pt>
              </c:numCache>
            </c:numRef>
          </c:val>
          <c:extLst>
            <c:ext xmlns:c16="http://schemas.microsoft.com/office/drawing/2014/chart" uri="{C3380CC4-5D6E-409C-BE32-E72D297353CC}">
              <c16:uniqueId val="{00000003-C6E9-4512-9CF7-F381DDD03963}"/>
            </c:ext>
          </c:extLst>
        </c:ser>
        <c:ser>
          <c:idx val="4"/>
          <c:order val="4"/>
          <c:tx>
            <c:strRef>
              <c:f>Sheet1!$F$21</c:f>
              <c:strCache>
                <c:ptCount val="1"/>
                <c:pt idx="0">
                  <c:v>日本</c:v>
                </c:pt>
              </c:strCache>
            </c:strRef>
          </c:tx>
          <c:spPr>
            <a:solidFill>
              <a:srgbClr val="7030A0"/>
            </a:solidFill>
            <a:ln>
              <a:noFill/>
            </a:ln>
            <a:effectLst/>
          </c:spPr>
          <c:invertIfNegative val="0"/>
          <c:cat>
            <c:numRef>
              <c:f>Sheet1!$A$22:$A$39</c:f>
              <c:numCache>
                <c:formatCode>General</c:formatCode>
                <c:ptCount val="18"/>
                <c:pt idx="0">
                  <c:v>1997</c:v>
                </c:pt>
                <c:pt idx="1">
                  <c:v>1998</c:v>
                </c:pt>
                <c:pt idx="2">
                  <c:v>1999</c:v>
                </c:pt>
                <c:pt idx="3">
                  <c:v>2000</c:v>
                </c:pt>
                <c:pt idx="4">
                  <c:v>2001</c:v>
                </c:pt>
                <c:pt idx="5">
                  <c:v>2002</c:v>
                </c:pt>
                <c:pt idx="6">
                  <c:v>2003</c:v>
                </c:pt>
                <c:pt idx="7">
                  <c:v>2004</c:v>
                </c:pt>
                <c:pt idx="8">
                  <c:v>2005</c:v>
                </c:pt>
                <c:pt idx="9">
                  <c:v>2006</c:v>
                </c:pt>
                <c:pt idx="10">
                  <c:v>2007</c:v>
                </c:pt>
                <c:pt idx="11">
                  <c:v>2008</c:v>
                </c:pt>
                <c:pt idx="12">
                  <c:v>2009</c:v>
                </c:pt>
                <c:pt idx="13">
                  <c:v>2010</c:v>
                </c:pt>
                <c:pt idx="14">
                  <c:v>2011</c:v>
                </c:pt>
                <c:pt idx="15">
                  <c:v>2012</c:v>
                </c:pt>
                <c:pt idx="16">
                  <c:v>2013</c:v>
                </c:pt>
                <c:pt idx="17">
                  <c:v>2014</c:v>
                </c:pt>
              </c:numCache>
            </c:numRef>
          </c:cat>
          <c:val>
            <c:numRef>
              <c:f>Sheet1!$F$22:$F$39</c:f>
              <c:numCache>
                <c:formatCode>0.00%</c:formatCode>
                <c:ptCount val="18"/>
                <c:pt idx="0">
                  <c:v>3.0728336561476116E-3</c:v>
                </c:pt>
                <c:pt idx="1">
                  <c:v>3.7421328333115005E-3</c:v>
                </c:pt>
                <c:pt idx="2">
                  <c:v>3.5761590979479629E-3</c:v>
                </c:pt>
                <c:pt idx="3">
                  <c:v>3.9708350552057356E-3</c:v>
                </c:pt>
                <c:pt idx="4">
                  <c:v>2.6355296651361226E-3</c:v>
                </c:pt>
                <c:pt idx="5">
                  <c:v>3.2109228991280886E-3</c:v>
                </c:pt>
                <c:pt idx="6">
                  <c:v>3.6506336237722152E-3</c:v>
                </c:pt>
                <c:pt idx="7">
                  <c:v>4.2333601870064947E-3</c:v>
                </c:pt>
                <c:pt idx="8">
                  <c:v>3.6543851031768004E-3</c:v>
                </c:pt>
                <c:pt idx="9">
                  <c:v>3.4592488608238578E-3</c:v>
                </c:pt>
                <c:pt idx="10">
                  <c:v>3.7322863175124009E-3</c:v>
                </c:pt>
                <c:pt idx="11">
                  <c:v>2.2886037518984703E-3</c:v>
                </c:pt>
                <c:pt idx="12">
                  <c:v>2.4592190790025613E-3</c:v>
                </c:pt>
                <c:pt idx="13">
                  <c:v>3.3730700356938183E-3</c:v>
                </c:pt>
                <c:pt idx="14">
                  <c:v>1.7707386374733879E-3</c:v>
                </c:pt>
                <c:pt idx="15">
                  <c:v>8.0733100521687099E-4</c:v>
                </c:pt>
                <c:pt idx="16">
                  <c:v>4.5025882318670417E-4</c:v>
                </c:pt>
                <c:pt idx="17">
                  <c:v>5.8520473777591293E-4</c:v>
                </c:pt>
              </c:numCache>
            </c:numRef>
          </c:val>
          <c:extLst>
            <c:ext xmlns:c16="http://schemas.microsoft.com/office/drawing/2014/chart" uri="{C3380CC4-5D6E-409C-BE32-E72D297353CC}">
              <c16:uniqueId val="{00000004-C6E9-4512-9CF7-F381DDD03963}"/>
            </c:ext>
          </c:extLst>
        </c:ser>
        <c:ser>
          <c:idx val="5"/>
          <c:order val="5"/>
          <c:tx>
            <c:strRef>
              <c:f>Sheet1!$G$21</c:f>
              <c:strCache>
                <c:ptCount val="1"/>
                <c:pt idx="0">
                  <c:v>亚洲其他新兴国家</c:v>
                </c:pt>
              </c:strCache>
            </c:strRef>
          </c:tx>
          <c:spPr>
            <a:solidFill>
              <a:schemeClr val="accent6"/>
            </a:solidFill>
            <a:ln>
              <a:noFill/>
            </a:ln>
            <a:effectLst/>
          </c:spPr>
          <c:invertIfNegative val="0"/>
          <c:cat>
            <c:numRef>
              <c:f>Sheet1!$A$22:$A$39</c:f>
              <c:numCache>
                <c:formatCode>General</c:formatCode>
                <c:ptCount val="18"/>
                <c:pt idx="0">
                  <c:v>1997</c:v>
                </c:pt>
                <c:pt idx="1">
                  <c:v>1998</c:v>
                </c:pt>
                <c:pt idx="2">
                  <c:v>1999</c:v>
                </c:pt>
                <c:pt idx="3">
                  <c:v>2000</c:v>
                </c:pt>
                <c:pt idx="4">
                  <c:v>2001</c:v>
                </c:pt>
                <c:pt idx="5">
                  <c:v>2002</c:v>
                </c:pt>
                <c:pt idx="6">
                  <c:v>2003</c:v>
                </c:pt>
                <c:pt idx="7">
                  <c:v>2004</c:v>
                </c:pt>
                <c:pt idx="8">
                  <c:v>2005</c:v>
                </c:pt>
                <c:pt idx="9">
                  <c:v>2006</c:v>
                </c:pt>
                <c:pt idx="10">
                  <c:v>2007</c:v>
                </c:pt>
                <c:pt idx="11">
                  <c:v>2008</c:v>
                </c:pt>
                <c:pt idx="12">
                  <c:v>2009</c:v>
                </c:pt>
                <c:pt idx="13">
                  <c:v>2010</c:v>
                </c:pt>
                <c:pt idx="14">
                  <c:v>2011</c:v>
                </c:pt>
                <c:pt idx="15">
                  <c:v>2012</c:v>
                </c:pt>
                <c:pt idx="16">
                  <c:v>2013</c:v>
                </c:pt>
                <c:pt idx="17">
                  <c:v>2014</c:v>
                </c:pt>
              </c:numCache>
            </c:numRef>
          </c:cat>
          <c:val>
            <c:numRef>
              <c:f>Sheet1!$G$22:$G$39</c:f>
              <c:numCache>
                <c:formatCode>0.00%</c:formatCode>
                <c:ptCount val="18"/>
                <c:pt idx="0">
                  <c:v>-7.9480192051942201E-4</c:v>
                </c:pt>
                <c:pt idx="1">
                  <c:v>7.2363139668077771E-4</c:v>
                </c:pt>
                <c:pt idx="2">
                  <c:v>7.5158065142791341E-4</c:v>
                </c:pt>
                <c:pt idx="3">
                  <c:v>6.7851675538241763E-4</c:v>
                </c:pt>
                <c:pt idx="4">
                  <c:v>7.1406322616890904E-4</c:v>
                </c:pt>
                <c:pt idx="5">
                  <c:v>7.9636772751341981E-4</c:v>
                </c:pt>
                <c:pt idx="6">
                  <c:v>1.0740531033200783E-3</c:v>
                </c:pt>
                <c:pt idx="7">
                  <c:v>5.2579529241250319E-4</c:v>
                </c:pt>
                <c:pt idx="8">
                  <c:v>2.2284800567466681E-4</c:v>
                </c:pt>
                <c:pt idx="9">
                  <c:v>8.0955492831972739E-4</c:v>
                </c:pt>
                <c:pt idx="10">
                  <c:v>7.4848757321144786E-4</c:v>
                </c:pt>
                <c:pt idx="11">
                  <c:v>8.4980658113327224E-5</c:v>
                </c:pt>
                <c:pt idx="12">
                  <c:v>5.3657536008088922E-4</c:v>
                </c:pt>
                <c:pt idx="13">
                  <c:v>-9.5157066346698857E-6</c:v>
                </c:pt>
                <c:pt idx="14">
                  <c:v>-5.0924959652554362E-4</c:v>
                </c:pt>
                <c:pt idx="15">
                  <c:v>-1.2777272312171619E-3</c:v>
                </c:pt>
                <c:pt idx="16">
                  <c:v>-5.7252242050382892E-4</c:v>
                </c:pt>
                <c:pt idx="17">
                  <c:v>-4.5664962253733971E-4</c:v>
                </c:pt>
              </c:numCache>
            </c:numRef>
          </c:val>
          <c:extLst>
            <c:ext xmlns:c16="http://schemas.microsoft.com/office/drawing/2014/chart" uri="{C3380CC4-5D6E-409C-BE32-E72D297353CC}">
              <c16:uniqueId val="{00000005-C6E9-4512-9CF7-F381DDD03963}"/>
            </c:ext>
          </c:extLst>
        </c:ser>
        <c:ser>
          <c:idx val="6"/>
          <c:order val="6"/>
          <c:tx>
            <c:strRef>
              <c:f>Sheet1!$H$21</c:f>
              <c:strCache>
                <c:ptCount val="1"/>
                <c:pt idx="0">
                  <c:v>中国</c:v>
                </c:pt>
              </c:strCache>
            </c:strRef>
          </c:tx>
          <c:spPr>
            <a:solidFill>
              <a:srgbClr val="FF0000"/>
            </a:solidFill>
            <a:ln>
              <a:noFill/>
            </a:ln>
            <a:effectLst/>
          </c:spPr>
          <c:invertIfNegative val="0"/>
          <c:cat>
            <c:numRef>
              <c:f>Sheet1!$A$22:$A$39</c:f>
              <c:numCache>
                <c:formatCode>General</c:formatCode>
                <c:ptCount val="18"/>
                <c:pt idx="0">
                  <c:v>1997</c:v>
                </c:pt>
                <c:pt idx="1">
                  <c:v>1998</c:v>
                </c:pt>
                <c:pt idx="2">
                  <c:v>1999</c:v>
                </c:pt>
                <c:pt idx="3">
                  <c:v>2000</c:v>
                </c:pt>
                <c:pt idx="4">
                  <c:v>2001</c:v>
                </c:pt>
                <c:pt idx="5">
                  <c:v>2002</c:v>
                </c:pt>
                <c:pt idx="6">
                  <c:v>2003</c:v>
                </c:pt>
                <c:pt idx="7">
                  <c:v>2004</c:v>
                </c:pt>
                <c:pt idx="8">
                  <c:v>2005</c:v>
                </c:pt>
                <c:pt idx="9">
                  <c:v>2006</c:v>
                </c:pt>
                <c:pt idx="10">
                  <c:v>2007</c:v>
                </c:pt>
                <c:pt idx="11">
                  <c:v>2008</c:v>
                </c:pt>
                <c:pt idx="12">
                  <c:v>2009</c:v>
                </c:pt>
                <c:pt idx="13">
                  <c:v>2010</c:v>
                </c:pt>
                <c:pt idx="14">
                  <c:v>2011</c:v>
                </c:pt>
                <c:pt idx="15">
                  <c:v>2012</c:v>
                </c:pt>
                <c:pt idx="16">
                  <c:v>2013</c:v>
                </c:pt>
                <c:pt idx="17">
                  <c:v>2014</c:v>
                </c:pt>
              </c:numCache>
            </c:numRef>
          </c:cat>
          <c:val>
            <c:numRef>
              <c:f>Sheet1!$H$22:$H$39</c:f>
              <c:numCache>
                <c:formatCode>0.00%</c:formatCode>
                <c:ptCount val="18"/>
                <c:pt idx="0">
                  <c:v>1.3033886036926841E-3</c:v>
                </c:pt>
                <c:pt idx="1">
                  <c:v>1.0232803431136504E-3</c:v>
                </c:pt>
                <c:pt idx="2">
                  <c:v>6.6095899437319404E-4</c:v>
                </c:pt>
                <c:pt idx="3">
                  <c:v>6.2095300466822581E-4</c:v>
                </c:pt>
                <c:pt idx="4">
                  <c:v>5.3217602351152029E-4</c:v>
                </c:pt>
                <c:pt idx="5">
                  <c:v>1.0422663086635997E-3</c:v>
                </c:pt>
                <c:pt idx="6">
                  <c:v>1.1273407173644058E-3</c:v>
                </c:pt>
                <c:pt idx="7">
                  <c:v>1.6031512650572881E-3</c:v>
                </c:pt>
                <c:pt idx="8">
                  <c:v>2.8433901971278053E-3</c:v>
                </c:pt>
                <c:pt idx="9">
                  <c:v>4.5950556540770146E-3</c:v>
                </c:pt>
                <c:pt idx="10">
                  <c:v>6.2137857360679361E-3</c:v>
                </c:pt>
                <c:pt idx="11">
                  <c:v>6.7498074413718688E-3</c:v>
                </c:pt>
                <c:pt idx="12">
                  <c:v>4.1185697452731677E-3</c:v>
                </c:pt>
                <c:pt idx="13">
                  <c:v>3.6855540631772926E-3</c:v>
                </c:pt>
                <c:pt idx="14">
                  <c:v>1.9055136461656463E-3</c:v>
                </c:pt>
                <c:pt idx="15">
                  <c:v>2.9632540919120056E-3</c:v>
                </c:pt>
                <c:pt idx="16">
                  <c:v>2.4472398373756301E-3</c:v>
                </c:pt>
                <c:pt idx="17">
                  <c:v>2.3877208875042167E-3</c:v>
                </c:pt>
              </c:numCache>
            </c:numRef>
          </c:val>
          <c:extLst>
            <c:ext xmlns:c16="http://schemas.microsoft.com/office/drawing/2014/chart" uri="{C3380CC4-5D6E-409C-BE32-E72D297353CC}">
              <c16:uniqueId val="{00000006-C6E9-4512-9CF7-F381DDD03963}"/>
            </c:ext>
          </c:extLst>
        </c:ser>
        <c:dLbls>
          <c:showLegendKey val="0"/>
          <c:showVal val="0"/>
          <c:showCatName val="0"/>
          <c:showSerName val="0"/>
          <c:showPercent val="0"/>
          <c:showBubbleSize val="0"/>
        </c:dLbls>
        <c:gapWidth val="150"/>
        <c:overlap val="100"/>
        <c:axId val="347722496"/>
        <c:axId val="347724032"/>
      </c:barChart>
      <c:catAx>
        <c:axId val="347722496"/>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2700000" spcFirstLastPara="1" vertOverflow="ellipsis" wrap="square" anchor="b" anchorCtr="1"/>
          <a:lstStyle/>
          <a:p>
            <a:pPr>
              <a:defRPr sz="12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347724032"/>
        <c:crosses val="autoZero"/>
        <c:auto val="1"/>
        <c:lblAlgn val="ctr"/>
        <c:lblOffset val="100"/>
        <c:noMultiLvlLbl val="0"/>
      </c:catAx>
      <c:valAx>
        <c:axId val="347724032"/>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347722496"/>
        <c:crosses val="autoZero"/>
        <c:crossBetween val="between"/>
      </c:valAx>
      <c:spPr>
        <a:noFill/>
        <a:ln>
          <a:noFill/>
        </a:ln>
        <a:effectLst/>
      </c:spPr>
    </c:plotArea>
    <c:legend>
      <c:legendPos val="b"/>
      <c:layout>
        <c:manualLayout>
          <c:xMode val="edge"/>
          <c:yMode val="edge"/>
          <c:x val="0.11830055628347409"/>
          <c:y val="0.79701644305051234"/>
          <c:w val="0.83889571772241356"/>
          <c:h val="6.5990097158686298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r>
              <a:rPr lang="zh-CN" altLang="en-US" sz="1600" dirty="0">
                <a:latin typeface="微软雅黑" panose="020B0503020204020204" pitchFamily="34" charset="-122"/>
                <a:ea typeface="微软雅黑" panose="020B0503020204020204" pitchFamily="34" charset="-122"/>
              </a:rPr>
              <a:t>全球失衡的规模（</a:t>
            </a:r>
            <a:r>
              <a:rPr lang="en-US" altLang="zh-CN" sz="1600" dirty="0">
                <a:latin typeface="微软雅黑" panose="020B0503020204020204" pitchFamily="34" charset="-122"/>
                <a:ea typeface="微软雅黑" panose="020B0503020204020204" pitchFamily="34" charset="-122"/>
              </a:rPr>
              <a:t>1980-2014</a:t>
            </a:r>
            <a:r>
              <a:rPr lang="zh-CN" altLang="en-US" sz="1600" dirty="0">
                <a:latin typeface="微软雅黑" panose="020B0503020204020204" pitchFamily="34" charset="-122"/>
                <a:ea typeface="微软雅黑" panose="020B0503020204020204" pitchFamily="34" charset="-122"/>
              </a:rPr>
              <a:t>）</a:t>
            </a: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title>
    <c:autoTitleDeleted val="0"/>
    <c:plotArea>
      <c:layout/>
      <c:lineChart>
        <c:grouping val="standard"/>
        <c:varyColors val="0"/>
        <c:ser>
          <c:idx val="0"/>
          <c:order val="0"/>
          <c:tx>
            <c:strRef>
              <c:f>Sheet2!$B$11</c:f>
              <c:strCache>
                <c:ptCount val="1"/>
                <c:pt idx="0">
                  <c:v>所有国家</c:v>
                </c:pt>
              </c:strCache>
            </c:strRef>
          </c:tx>
          <c:spPr>
            <a:ln w="38100" cap="rnd">
              <a:solidFill>
                <a:srgbClr val="FF0000"/>
              </a:solidFill>
              <a:round/>
            </a:ln>
            <a:effectLst/>
          </c:spPr>
          <c:marker>
            <c:symbol val="none"/>
          </c:marker>
          <c:cat>
            <c:numRef>
              <c:f>Sheet2!$A$12:$A$46</c:f>
              <c:numCache>
                <c:formatCode>General</c:formatCode>
                <c:ptCount val="35"/>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numCache>
            </c:numRef>
          </c:cat>
          <c:val>
            <c:numRef>
              <c:f>Sheet2!$B$12:$B$46</c:f>
              <c:numCache>
                <c:formatCode>General</c:formatCode>
                <c:ptCount val="35"/>
                <c:pt idx="0">
                  <c:v>-4.8635111431412411E-3</c:v>
                </c:pt>
                <c:pt idx="1">
                  <c:v>-6.9137822731931602E-3</c:v>
                </c:pt>
                <c:pt idx="2">
                  <c:v>-8.9913828320181705E-3</c:v>
                </c:pt>
                <c:pt idx="3">
                  <c:v>-7.3915738441843095E-3</c:v>
                </c:pt>
                <c:pt idx="4">
                  <c:v>-6.8934536442728511E-3</c:v>
                </c:pt>
                <c:pt idx="5">
                  <c:v>-5.5780686371111887E-3</c:v>
                </c:pt>
                <c:pt idx="6">
                  <c:v>-4.5072680377617287E-3</c:v>
                </c:pt>
                <c:pt idx="7">
                  <c:v>-3.9921403368030697E-3</c:v>
                </c:pt>
                <c:pt idx="8">
                  <c:v>-3.3208286772482398E-3</c:v>
                </c:pt>
                <c:pt idx="9">
                  <c:v>-4.5698017498508516E-3</c:v>
                </c:pt>
                <c:pt idx="10">
                  <c:v>-4.9407247845065895E-3</c:v>
                </c:pt>
                <c:pt idx="11">
                  <c:v>-5.9740030580903965E-3</c:v>
                </c:pt>
                <c:pt idx="12">
                  <c:v>-4.7617449435387394E-3</c:v>
                </c:pt>
                <c:pt idx="13">
                  <c:v>-2.0258826178343741E-3</c:v>
                </c:pt>
                <c:pt idx="14">
                  <c:v>-2.6659002507370693E-3</c:v>
                </c:pt>
                <c:pt idx="15">
                  <c:v>-2.2588808679548642E-3</c:v>
                </c:pt>
                <c:pt idx="16">
                  <c:v>-1.6972424712472808E-3</c:v>
                </c:pt>
                <c:pt idx="17">
                  <c:v>-3.5503219219041617E-4</c:v>
                </c:pt>
                <c:pt idx="18">
                  <c:v>-2.9676170398026586E-3</c:v>
                </c:pt>
                <c:pt idx="19">
                  <c:v>-3.662116635174992E-3</c:v>
                </c:pt>
                <c:pt idx="20">
                  <c:v>-4.824292121628747E-3</c:v>
                </c:pt>
                <c:pt idx="21">
                  <c:v>-5.3325242390384366E-3</c:v>
                </c:pt>
                <c:pt idx="22">
                  <c:v>-3.9162519512701225E-3</c:v>
                </c:pt>
                <c:pt idx="23">
                  <c:v>-1.7461054937121026E-3</c:v>
                </c:pt>
                <c:pt idx="24">
                  <c:v>4.1898985355307098E-4</c:v>
                </c:pt>
                <c:pt idx="25">
                  <c:v>1.0652027274619801E-3</c:v>
                </c:pt>
                <c:pt idx="26">
                  <c:v>3.7107012276551923E-3</c:v>
                </c:pt>
                <c:pt idx="27">
                  <c:v>4.6048268695620485E-3</c:v>
                </c:pt>
                <c:pt idx="28">
                  <c:v>2.4598650555296827E-3</c:v>
                </c:pt>
                <c:pt idx="29">
                  <c:v>3.0258468581211805E-3</c:v>
                </c:pt>
                <c:pt idx="30">
                  <c:v>4.7470512855363302E-3</c:v>
                </c:pt>
                <c:pt idx="31">
                  <c:v>4.7057983790232015E-3</c:v>
                </c:pt>
                <c:pt idx="32">
                  <c:v>4.7160000670265099E-3</c:v>
                </c:pt>
                <c:pt idx="33">
                  <c:v>5.5258781820831616E-3</c:v>
                </c:pt>
                <c:pt idx="34">
                  <c:v>4.5762245116323088E-3</c:v>
                </c:pt>
              </c:numCache>
            </c:numRef>
          </c:val>
          <c:smooth val="0"/>
          <c:extLst>
            <c:ext xmlns:c16="http://schemas.microsoft.com/office/drawing/2014/chart" uri="{C3380CC4-5D6E-409C-BE32-E72D297353CC}">
              <c16:uniqueId val="{00000000-4C16-4A9E-B04E-E02D8E5B6AB4}"/>
            </c:ext>
          </c:extLst>
        </c:ser>
        <c:ser>
          <c:idx val="1"/>
          <c:order val="1"/>
          <c:tx>
            <c:strRef>
              <c:f>Sheet2!$C$11</c:f>
              <c:strCache>
                <c:ptCount val="1"/>
                <c:pt idx="0">
                  <c:v>发达国家</c:v>
                </c:pt>
              </c:strCache>
            </c:strRef>
          </c:tx>
          <c:spPr>
            <a:ln w="28575" cap="rnd">
              <a:solidFill>
                <a:srgbClr val="00B050"/>
              </a:solidFill>
              <a:prstDash val="sysDash"/>
              <a:round/>
            </a:ln>
            <a:effectLst/>
          </c:spPr>
          <c:marker>
            <c:symbol val="none"/>
          </c:marker>
          <c:cat>
            <c:numRef>
              <c:f>Sheet2!$A$12:$A$46</c:f>
              <c:numCache>
                <c:formatCode>General</c:formatCode>
                <c:ptCount val="35"/>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numCache>
            </c:numRef>
          </c:cat>
          <c:val>
            <c:numRef>
              <c:f>Sheet2!$C$12:$C$46</c:f>
              <c:numCache>
                <c:formatCode>General</c:formatCode>
                <c:ptCount val="35"/>
                <c:pt idx="0">
                  <c:v>-8.1173904844599309E-3</c:v>
                </c:pt>
                <c:pt idx="1">
                  <c:v>-4.5092699170433169E-3</c:v>
                </c:pt>
                <c:pt idx="2">
                  <c:v>-3.6968988222594412E-3</c:v>
                </c:pt>
                <c:pt idx="3">
                  <c:v>-2.7653182146477797E-3</c:v>
                </c:pt>
                <c:pt idx="4">
                  <c:v>-4.5277008202995375E-3</c:v>
                </c:pt>
                <c:pt idx="5">
                  <c:v>-4.6166834417540846E-3</c:v>
                </c:pt>
                <c:pt idx="6">
                  <c:v>-1.0526590564204875E-3</c:v>
                </c:pt>
                <c:pt idx="7">
                  <c:v>-2.449633972671293E-3</c:v>
                </c:pt>
                <c:pt idx="8">
                  <c:v>-1.6224102751711069E-3</c:v>
                </c:pt>
                <c:pt idx="9">
                  <c:v>-3.1797825297172882E-3</c:v>
                </c:pt>
                <c:pt idx="10">
                  <c:v>-3.7943623929628696E-3</c:v>
                </c:pt>
                <c:pt idx="11">
                  <c:v>-1.3128588955964901E-3</c:v>
                </c:pt>
                <c:pt idx="12">
                  <c:v>-1.1499883422021852E-3</c:v>
                </c:pt>
                <c:pt idx="13">
                  <c:v>2.3848873512093854E-3</c:v>
                </c:pt>
                <c:pt idx="14">
                  <c:v>7.1882649512868793E-4</c:v>
                </c:pt>
                <c:pt idx="15">
                  <c:v>1.027870447952828E-3</c:v>
                </c:pt>
                <c:pt idx="16">
                  <c:v>6.0644736101846206E-4</c:v>
                </c:pt>
                <c:pt idx="17">
                  <c:v>1.8743335880411084E-3</c:v>
                </c:pt>
                <c:pt idx="18">
                  <c:v>3.946548298396514E-4</c:v>
                </c:pt>
                <c:pt idx="19">
                  <c:v>-3.5498021254988777E-3</c:v>
                </c:pt>
                <c:pt idx="20">
                  <c:v>-7.7929586889518522E-3</c:v>
                </c:pt>
                <c:pt idx="21">
                  <c:v>-6.9973976185742316E-3</c:v>
                </c:pt>
                <c:pt idx="22">
                  <c:v>-6.5890638952618812E-3</c:v>
                </c:pt>
                <c:pt idx="23">
                  <c:v>-5.8657224921939005E-3</c:v>
                </c:pt>
                <c:pt idx="24">
                  <c:v>-4.6540243256886406E-3</c:v>
                </c:pt>
                <c:pt idx="25">
                  <c:v>-8.2781966198586538E-3</c:v>
                </c:pt>
                <c:pt idx="26">
                  <c:v>-8.8494505308941186E-3</c:v>
                </c:pt>
                <c:pt idx="27">
                  <c:v>-6.0153291198014524E-3</c:v>
                </c:pt>
                <c:pt idx="28">
                  <c:v>-8.3060689061373247E-3</c:v>
                </c:pt>
                <c:pt idx="29">
                  <c:v>-1.1516594903465303E-3</c:v>
                </c:pt>
                <c:pt idx="30">
                  <c:v>-2.5952772525111221E-4</c:v>
                </c:pt>
                <c:pt idx="31">
                  <c:v>-1.1311943982208357E-3</c:v>
                </c:pt>
                <c:pt idx="32">
                  <c:v>-6.2027036281730378E-4</c:v>
                </c:pt>
                <c:pt idx="33">
                  <c:v>2.4307336493221972E-3</c:v>
                </c:pt>
                <c:pt idx="34">
                  <c:v>1.6135554636529596E-3</c:v>
                </c:pt>
              </c:numCache>
            </c:numRef>
          </c:val>
          <c:smooth val="0"/>
          <c:extLst>
            <c:ext xmlns:c16="http://schemas.microsoft.com/office/drawing/2014/chart" uri="{C3380CC4-5D6E-409C-BE32-E72D297353CC}">
              <c16:uniqueId val="{00000001-4C16-4A9E-B04E-E02D8E5B6AB4}"/>
            </c:ext>
          </c:extLst>
        </c:ser>
        <c:ser>
          <c:idx val="2"/>
          <c:order val="2"/>
          <c:tx>
            <c:strRef>
              <c:f>Sheet2!$D$11</c:f>
              <c:strCache>
                <c:ptCount val="1"/>
                <c:pt idx="0">
                  <c:v>G7</c:v>
                </c:pt>
              </c:strCache>
            </c:strRef>
          </c:tx>
          <c:spPr>
            <a:ln w="28575" cap="rnd">
              <a:solidFill>
                <a:schemeClr val="accent1"/>
              </a:solidFill>
              <a:prstDash val="lgDash"/>
              <a:round/>
            </a:ln>
            <a:effectLst/>
          </c:spPr>
          <c:marker>
            <c:symbol val="none"/>
          </c:marker>
          <c:cat>
            <c:numRef>
              <c:f>Sheet2!$A$12:$A$46</c:f>
              <c:numCache>
                <c:formatCode>General</c:formatCode>
                <c:ptCount val="35"/>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numCache>
            </c:numRef>
          </c:cat>
          <c:val>
            <c:numRef>
              <c:f>Sheet2!$D$12:$D$46</c:f>
              <c:numCache>
                <c:formatCode>General</c:formatCode>
                <c:ptCount val="35"/>
                <c:pt idx="0">
                  <c:v>-4.1552477775473103E-3</c:v>
                </c:pt>
                <c:pt idx="1">
                  <c:v>-1.5721163477840281E-3</c:v>
                </c:pt>
                <c:pt idx="2">
                  <c:v>-9.7214411624751279E-4</c:v>
                </c:pt>
                <c:pt idx="3">
                  <c:v>-1.570836350069528E-3</c:v>
                </c:pt>
                <c:pt idx="4">
                  <c:v>-4.9228864652235424E-3</c:v>
                </c:pt>
                <c:pt idx="5">
                  <c:v>-5.2018494626161248E-3</c:v>
                </c:pt>
                <c:pt idx="6">
                  <c:v>-2.4785158302975691E-3</c:v>
                </c:pt>
                <c:pt idx="7">
                  <c:v>-3.9468082957270076E-3</c:v>
                </c:pt>
                <c:pt idx="8">
                  <c:v>-2.836154886563563E-3</c:v>
                </c:pt>
                <c:pt idx="9">
                  <c:v>-3.2055408330018491E-3</c:v>
                </c:pt>
                <c:pt idx="10">
                  <c:v>-3.3580626054272888E-3</c:v>
                </c:pt>
                <c:pt idx="11">
                  <c:v>-1.1291703612773922E-3</c:v>
                </c:pt>
                <c:pt idx="12">
                  <c:v>-1.2764410183079319E-3</c:v>
                </c:pt>
                <c:pt idx="13">
                  <c:v>5.2036621706103253E-4</c:v>
                </c:pt>
                <c:pt idx="14">
                  <c:v>-7.2340827636835413E-4</c:v>
                </c:pt>
                <c:pt idx="15">
                  <c:v>-4.7165150191648885E-4</c:v>
                </c:pt>
                <c:pt idx="16">
                  <c:v>-5.2427605828504482E-4</c:v>
                </c:pt>
                <c:pt idx="17">
                  <c:v>1.8352264400747079E-4</c:v>
                </c:pt>
                <c:pt idx="18">
                  <c:v>-2.2713624240351228E-3</c:v>
                </c:pt>
                <c:pt idx="19">
                  <c:v>-6.0729657410068787E-3</c:v>
                </c:pt>
                <c:pt idx="20">
                  <c:v>-9.7718569850192439E-3</c:v>
                </c:pt>
                <c:pt idx="21">
                  <c:v>-9.4307352554705015E-3</c:v>
                </c:pt>
                <c:pt idx="22">
                  <c:v>-9.3427631432600397E-3</c:v>
                </c:pt>
                <c:pt idx="23">
                  <c:v>-9.5553202288398108E-3</c:v>
                </c:pt>
                <c:pt idx="24">
                  <c:v>-7.9484826186414833E-3</c:v>
                </c:pt>
                <c:pt idx="25">
                  <c:v>-1.04857558132292E-2</c:v>
                </c:pt>
                <c:pt idx="26">
                  <c:v>-1.094149775470696E-2</c:v>
                </c:pt>
                <c:pt idx="27">
                  <c:v>-6.5763737152023565E-3</c:v>
                </c:pt>
                <c:pt idx="28">
                  <c:v>-7.4755855945731675E-3</c:v>
                </c:pt>
                <c:pt idx="29">
                  <c:v>-3.10769102354561E-3</c:v>
                </c:pt>
                <c:pt idx="30">
                  <c:v>-3.9424161507392074E-3</c:v>
                </c:pt>
                <c:pt idx="31">
                  <c:v>-4.2615840947120339E-3</c:v>
                </c:pt>
                <c:pt idx="32">
                  <c:v>-5.0861316786406903E-3</c:v>
                </c:pt>
                <c:pt idx="33">
                  <c:v>-4.0213384716619345E-3</c:v>
                </c:pt>
                <c:pt idx="34">
                  <c:v>-4.2839378288547312E-3</c:v>
                </c:pt>
              </c:numCache>
            </c:numRef>
          </c:val>
          <c:smooth val="0"/>
          <c:extLst>
            <c:ext xmlns:c16="http://schemas.microsoft.com/office/drawing/2014/chart" uri="{C3380CC4-5D6E-409C-BE32-E72D297353CC}">
              <c16:uniqueId val="{00000002-4C16-4A9E-B04E-E02D8E5B6AB4}"/>
            </c:ext>
          </c:extLst>
        </c:ser>
        <c:dLbls>
          <c:showLegendKey val="0"/>
          <c:showVal val="0"/>
          <c:showCatName val="0"/>
          <c:showSerName val="0"/>
          <c:showPercent val="0"/>
          <c:showBubbleSize val="0"/>
        </c:dLbls>
        <c:smooth val="0"/>
        <c:axId val="347772416"/>
        <c:axId val="347773952"/>
      </c:lineChart>
      <c:catAx>
        <c:axId val="347772416"/>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b" anchorCtr="1"/>
          <a:lstStyle/>
          <a:p>
            <a:pPr>
              <a:defRPr sz="14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347773952"/>
        <c:crosses val="autoZero"/>
        <c:auto val="1"/>
        <c:lblAlgn val="ctr"/>
        <c:lblOffset val="100"/>
        <c:noMultiLvlLbl val="0"/>
      </c:catAx>
      <c:valAx>
        <c:axId val="3477739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347772416"/>
        <c:crosses val="autoZero"/>
        <c:crossBetween val="between"/>
        <c:dispUnits>
          <c:custUnit val="1"/>
        </c:dispUnits>
      </c:valAx>
      <c:spPr>
        <a:noFill/>
        <a:ln>
          <a:noFill/>
        </a:ln>
        <a:effectLst/>
      </c:spPr>
    </c:plotArea>
    <c:legend>
      <c:legendPos val="b"/>
      <c:layout>
        <c:manualLayout>
          <c:xMode val="edge"/>
          <c:yMode val="edge"/>
          <c:x val="0.28601801156296686"/>
          <c:y val="0.93421750018441752"/>
          <c:w val="0.42796397687406812"/>
          <c:h val="6.5782499815582568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1" dt="2018-03-20T05:46:34.240" idx="1">
    <p:pos x="10" y="10"/>
    <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latinLnBrk="0">
              <a:defRPr lang="zh-CN" sz="1200"/>
            </a:lvl1pPr>
          </a:lstStyle>
          <a:p>
            <a:endParaRPr lang="zh-CN" dirty="0">
              <a:ea typeface="Microsoft YaHei UI"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latinLnBrk="0">
              <a:defRPr lang="zh-CN" sz="1200"/>
            </a:lvl1pPr>
          </a:lstStyle>
          <a:p>
            <a:fld id="{59041DB8-B66F-4DC8-A96E-33677E0F90FF}" type="datetimeFigureOut">
              <a:rPr lang="en-US" altLang="zh-CN" smtClean="0">
                <a:ea typeface="Microsoft YaHei UI" panose="020B0503020204020204" pitchFamily="34" charset="-122"/>
              </a:rPr>
              <a:pPr/>
              <a:t>3/2/2021</a:t>
            </a:fld>
            <a:endParaRPr lang="zh-CN" dirty="0">
              <a:ea typeface="Microsoft YaHei UI"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latinLnBrk="0">
              <a:defRPr lang="zh-CN" sz="1200"/>
            </a:lvl1pPr>
          </a:lstStyle>
          <a:p>
            <a:endParaRPr lang="zh-CN" dirty="0">
              <a:ea typeface="Microsoft YaHei UI" panose="020B0503020204020204" pitchFamily="34" charset="-122"/>
            </a:endParaRPr>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latinLnBrk="0">
              <a:defRPr lang="zh-CN" sz="1200"/>
            </a:lvl1pPr>
          </a:lstStyle>
          <a:p>
            <a:fld id="{1604A0D4-B89B-4ADD-AF9E-38636B40EE4E}" type="slidenum">
              <a:rPr lang="zh-CN" smtClean="0">
                <a:ea typeface="Microsoft YaHei UI" panose="020B0503020204020204" pitchFamily="34" charset="-122"/>
              </a:rPr>
              <a:pPr/>
              <a:t>‹#›</a:t>
            </a:fld>
            <a:endParaRPr lang="zh-CN" dirty="0">
              <a:ea typeface="Microsoft YaHei UI" panose="020B0503020204020204" pitchFamily="34" charset="-122"/>
            </a:endParaRPr>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latinLnBrk="0">
              <a:defRPr lang="zh-CN" sz="1200">
                <a:ea typeface="Microsoft YaHei UI"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latinLnBrk="0">
              <a:defRPr lang="zh-CN" sz="1200">
                <a:ea typeface="Microsoft YaHei UI" panose="020B0503020204020204" pitchFamily="34" charset="-122"/>
              </a:defRPr>
            </a:lvl1pPr>
          </a:lstStyle>
          <a:p>
            <a:fld id="{DEB49C4A-65AC-492D-9701-81B46C3AD0E4}" type="datetimeFigureOut">
              <a:rPr lang="en-US" altLang="zh-CN" smtClean="0"/>
              <a:pPr/>
              <a:t>3/2/2021</a:t>
            </a:fld>
            <a:endParaRPr lang="zh-CN" altLang="en-US" dirty="0"/>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dirty="0"/>
          </a:p>
        </p:txBody>
      </p:sp>
      <p:sp>
        <p:nvSpPr>
          <p:cNvPr id="5" name="备注占位符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zh-CN" dirty="0"/>
              <a:t>单击此处编辑母版文本样式</a:t>
            </a:r>
          </a:p>
          <a:p>
            <a:pPr lvl="1"/>
            <a:r>
              <a:rPr lang="zh-CN" dirty="0"/>
              <a:t>第二级</a:t>
            </a:r>
          </a:p>
          <a:p>
            <a:pPr lvl="2"/>
            <a:r>
              <a:rPr lang="zh-CN" dirty="0"/>
              <a:t>第三级</a:t>
            </a:r>
          </a:p>
          <a:p>
            <a:pPr lvl="3"/>
            <a:r>
              <a:rPr lang="zh-CN" dirty="0"/>
              <a:t>第四级</a:t>
            </a:r>
          </a:p>
          <a:p>
            <a:pPr lvl="4"/>
            <a:r>
              <a:rPr lang="zh-CN"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latinLnBrk="0">
              <a:defRPr lang="zh-CN" sz="1200">
                <a:ea typeface="Microsoft YaHei UI" panose="020B0503020204020204" pitchFamily="34" charset="-122"/>
              </a:defRPr>
            </a:lvl1pPr>
          </a:lstStyle>
          <a:p>
            <a:endParaRPr lang="zh-CN" altLang="en-US" dirty="0"/>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latinLnBrk="0">
              <a:defRPr lang="zh-CN" sz="1200">
                <a:ea typeface="Microsoft YaHei UI" panose="020B0503020204020204" pitchFamily="34" charset="-122"/>
              </a:defRPr>
            </a:lvl1pPr>
          </a:lstStyle>
          <a:p>
            <a:fld id="{82869989-EB00-4EE7-BCB5-25BDC5BB29F8}" type="slidenum">
              <a:rPr lang="en-US" altLang="zh-CN" smtClean="0"/>
              <a:pPr/>
              <a:t>‹#›</a:t>
            </a:fld>
            <a:endParaRPr lang="en-US" altLang="zh-CN" dirty="0"/>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notesStyle>
    <a:lvl1pPr marL="0" algn="l" defTabSz="914400" rtl="0" eaLnBrk="1" latinLnBrk="0" hangingPunct="1">
      <a:defRPr lang="zh-CN" sz="1200" kern="1200">
        <a:solidFill>
          <a:schemeClr val="tx1"/>
        </a:solidFill>
        <a:latin typeface="+mn-lt"/>
        <a:ea typeface="Microsoft YaHei UI" panose="020B0503020204020204" pitchFamily="34" charset="-122"/>
        <a:cs typeface="+mn-cs"/>
      </a:defRPr>
    </a:lvl1pPr>
    <a:lvl2pPr marL="457200" algn="l" defTabSz="914400" rtl="0" eaLnBrk="1" latinLnBrk="0" hangingPunct="1">
      <a:defRPr lang="zh-CN" sz="1200" kern="1200">
        <a:solidFill>
          <a:schemeClr val="tx1"/>
        </a:solidFill>
        <a:latin typeface="+mn-lt"/>
        <a:ea typeface="Microsoft YaHei UI" panose="020B0503020204020204" pitchFamily="34" charset="-122"/>
        <a:cs typeface="+mn-cs"/>
      </a:defRPr>
    </a:lvl2pPr>
    <a:lvl3pPr marL="914400" algn="l" defTabSz="914400" rtl="0" eaLnBrk="1" latinLnBrk="0" hangingPunct="1">
      <a:defRPr lang="zh-CN" sz="1200" kern="1200">
        <a:solidFill>
          <a:schemeClr val="tx1"/>
        </a:solidFill>
        <a:latin typeface="+mn-lt"/>
        <a:ea typeface="Microsoft YaHei UI" panose="020B0503020204020204" pitchFamily="34" charset="-122"/>
        <a:cs typeface="+mn-cs"/>
      </a:defRPr>
    </a:lvl3pPr>
    <a:lvl4pPr marL="1371600" algn="l" defTabSz="914400" rtl="0" eaLnBrk="1" latinLnBrk="0" hangingPunct="1">
      <a:defRPr lang="zh-CN" sz="1200" kern="1200">
        <a:solidFill>
          <a:schemeClr val="tx1"/>
        </a:solidFill>
        <a:latin typeface="+mn-lt"/>
        <a:ea typeface="Microsoft YaHei UI" panose="020B0503020204020204" pitchFamily="34" charset="-122"/>
        <a:cs typeface="+mn-cs"/>
      </a:defRPr>
    </a:lvl4pPr>
    <a:lvl5pPr marL="1828800" algn="l" defTabSz="914400" rtl="0" eaLnBrk="1" latinLnBrk="0" hangingPunct="1">
      <a:defRPr lang="zh-CN" sz="1200" kern="1200">
        <a:solidFill>
          <a:schemeClr val="tx1"/>
        </a:solidFill>
        <a:latin typeface="+mn-lt"/>
        <a:ea typeface="Microsoft YaHei UI" panose="020B0503020204020204" pitchFamily="34" charset="-122"/>
        <a:cs typeface="+mn-cs"/>
      </a:defRPr>
    </a:lvl5pPr>
    <a:lvl6pPr marL="2286000" algn="l" defTabSz="914400" rtl="0" eaLnBrk="1" latinLnBrk="0" hangingPunct="1">
      <a:defRPr lang="zh-CN" sz="1200" kern="1200">
        <a:solidFill>
          <a:schemeClr val="tx1"/>
        </a:solidFill>
        <a:latin typeface="+mn-lt"/>
        <a:ea typeface="+mn-ea"/>
        <a:cs typeface="+mn-cs"/>
      </a:defRPr>
    </a:lvl6pPr>
    <a:lvl7pPr marL="2743200" algn="l" defTabSz="914400" rtl="0" eaLnBrk="1" latinLnBrk="0" hangingPunct="1">
      <a:defRPr lang="zh-CN" sz="1200" kern="1200">
        <a:solidFill>
          <a:schemeClr val="tx1"/>
        </a:solidFill>
        <a:latin typeface="+mn-lt"/>
        <a:ea typeface="+mn-ea"/>
        <a:cs typeface="+mn-cs"/>
      </a:defRPr>
    </a:lvl7pPr>
    <a:lvl8pPr marL="3200400" algn="l" defTabSz="914400" rtl="0" eaLnBrk="1" latinLnBrk="0" hangingPunct="1">
      <a:defRPr lang="zh-CN" sz="1200" kern="1200">
        <a:solidFill>
          <a:schemeClr val="tx1"/>
        </a:solidFill>
        <a:latin typeface="+mn-lt"/>
        <a:ea typeface="+mn-ea"/>
        <a:cs typeface="+mn-cs"/>
      </a:defRPr>
    </a:lvl8pPr>
    <a:lvl9pPr marL="3657600" algn="l" defTabSz="914400" rtl="0" eaLnBrk="1" latinLnBrk="0" hangingPunct="1">
      <a:defRPr lang="zh-CN"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a:t>
            </a:fld>
            <a:endParaRPr lang="zh-CN"/>
          </a:p>
        </p:txBody>
      </p:sp>
    </p:spTree>
    <p:extLst>
      <p:ext uri="{BB962C8B-B14F-4D97-AF65-F5344CB8AC3E}">
        <p14:creationId xmlns:p14="http://schemas.microsoft.com/office/powerpoint/2010/main" val="2428611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a:t>
            </a:fld>
            <a:endParaRPr lang="zh-CN"/>
          </a:p>
        </p:txBody>
      </p:sp>
    </p:spTree>
    <p:extLst>
      <p:ext uri="{BB962C8B-B14F-4D97-AF65-F5344CB8AC3E}">
        <p14:creationId xmlns:p14="http://schemas.microsoft.com/office/powerpoint/2010/main" val="3275288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a:t>
            </a:fld>
            <a:endParaRPr lang="zh-CN"/>
          </a:p>
        </p:txBody>
      </p:sp>
    </p:spTree>
    <p:extLst>
      <p:ext uri="{BB962C8B-B14F-4D97-AF65-F5344CB8AC3E}">
        <p14:creationId xmlns:p14="http://schemas.microsoft.com/office/powerpoint/2010/main" val="4269545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a:t>
            </a:fld>
            <a:endParaRPr lang="zh-CN"/>
          </a:p>
        </p:txBody>
      </p:sp>
    </p:spTree>
    <p:extLst>
      <p:ext uri="{BB962C8B-B14F-4D97-AF65-F5344CB8AC3E}">
        <p14:creationId xmlns:p14="http://schemas.microsoft.com/office/powerpoint/2010/main" val="32678255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a:t>
            </a:fld>
            <a:endParaRPr lang="zh-CN"/>
          </a:p>
        </p:txBody>
      </p:sp>
    </p:spTree>
    <p:extLst>
      <p:ext uri="{BB962C8B-B14F-4D97-AF65-F5344CB8AC3E}">
        <p14:creationId xmlns:p14="http://schemas.microsoft.com/office/powerpoint/2010/main" val="1572547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a:t>
            </a:fld>
            <a:endParaRPr lang="zh-CN"/>
          </a:p>
        </p:txBody>
      </p:sp>
    </p:spTree>
    <p:extLst>
      <p:ext uri="{BB962C8B-B14F-4D97-AF65-F5344CB8AC3E}">
        <p14:creationId xmlns:p14="http://schemas.microsoft.com/office/powerpoint/2010/main" val="2125861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9</a:t>
            </a:fld>
            <a:endParaRPr lang="zh-CN"/>
          </a:p>
        </p:txBody>
      </p:sp>
    </p:spTree>
    <p:extLst>
      <p:ext uri="{BB962C8B-B14F-4D97-AF65-F5344CB8AC3E}">
        <p14:creationId xmlns:p14="http://schemas.microsoft.com/office/powerpoint/2010/main" val="14714935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10</a:t>
            </a:fld>
            <a:endParaRPr lang="zh-CN"/>
          </a:p>
        </p:txBody>
      </p:sp>
    </p:spTree>
    <p:extLst>
      <p:ext uri="{BB962C8B-B14F-4D97-AF65-F5344CB8AC3E}">
        <p14:creationId xmlns:p14="http://schemas.microsoft.com/office/powerpoint/2010/main" val="2313022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11</a:t>
            </a:fld>
            <a:endParaRPr lang="zh-CN"/>
          </a:p>
        </p:txBody>
      </p:sp>
    </p:spTree>
    <p:extLst>
      <p:ext uri="{BB962C8B-B14F-4D97-AF65-F5344CB8AC3E}">
        <p14:creationId xmlns:p14="http://schemas.microsoft.com/office/powerpoint/2010/main" val="2313022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12</a:t>
            </a:fld>
            <a:endParaRPr lang="zh-CN"/>
          </a:p>
        </p:txBody>
      </p:sp>
    </p:spTree>
    <p:extLst>
      <p:ext uri="{BB962C8B-B14F-4D97-AF65-F5344CB8AC3E}">
        <p14:creationId xmlns:p14="http://schemas.microsoft.com/office/powerpoint/2010/main" val="2313022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13</a:t>
            </a:fld>
            <a:endParaRPr lang="zh-CN"/>
          </a:p>
        </p:txBody>
      </p:sp>
    </p:spTree>
    <p:extLst>
      <p:ext uri="{BB962C8B-B14F-4D97-AF65-F5344CB8AC3E}">
        <p14:creationId xmlns:p14="http://schemas.microsoft.com/office/powerpoint/2010/main" val="10649489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14</a:t>
            </a:fld>
            <a:endParaRPr lang="zh-CN"/>
          </a:p>
        </p:txBody>
      </p:sp>
    </p:spTree>
    <p:extLst>
      <p:ext uri="{BB962C8B-B14F-4D97-AF65-F5344CB8AC3E}">
        <p14:creationId xmlns:p14="http://schemas.microsoft.com/office/powerpoint/2010/main" val="2313022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15</a:t>
            </a:fld>
            <a:endParaRPr lang="zh-CN"/>
          </a:p>
        </p:txBody>
      </p:sp>
    </p:spTree>
    <p:extLst>
      <p:ext uri="{BB962C8B-B14F-4D97-AF65-F5344CB8AC3E}">
        <p14:creationId xmlns:p14="http://schemas.microsoft.com/office/powerpoint/2010/main" val="2313022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16</a:t>
            </a:fld>
            <a:endParaRPr lang="zh-CN"/>
          </a:p>
        </p:txBody>
      </p:sp>
    </p:spTree>
    <p:extLst>
      <p:ext uri="{BB962C8B-B14F-4D97-AF65-F5344CB8AC3E}">
        <p14:creationId xmlns:p14="http://schemas.microsoft.com/office/powerpoint/2010/main" val="2313022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17</a:t>
            </a:fld>
            <a:endParaRPr lang="zh-CN"/>
          </a:p>
        </p:txBody>
      </p:sp>
    </p:spTree>
    <p:extLst>
      <p:ext uri="{BB962C8B-B14F-4D97-AF65-F5344CB8AC3E}">
        <p14:creationId xmlns:p14="http://schemas.microsoft.com/office/powerpoint/2010/main" val="19169716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18</a:t>
            </a:fld>
            <a:endParaRPr lang="zh-CN"/>
          </a:p>
        </p:txBody>
      </p:sp>
    </p:spTree>
    <p:extLst>
      <p:ext uri="{BB962C8B-B14F-4D97-AF65-F5344CB8AC3E}">
        <p14:creationId xmlns:p14="http://schemas.microsoft.com/office/powerpoint/2010/main" val="2956698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20</a:t>
            </a:fld>
            <a:endParaRPr lang="zh-CN"/>
          </a:p>
        </p:txBody>
      </p:sp>
    </p:spTree>
    <p:extLst>
      <p:ext uri="{BB962C8B-B14F-4D97-AF65-F5344CB8AC3E}">
        <p14:creationId xmlns:p14="http://schemas.microsoft.com/office/powerpoint/2010/main" val="19395051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21</a:t>
            </a:fld>
            <a:endParaRPr lang="zh-CN"/>
          </a:p>
        </p:txBody>
      </p:sp>
    </p:spTree>
    <p:extLst>
      <p:ext uri="{BB962C8B-B14F-4D97-AF65-F5344CB8AC3E}">
        <p14:creationId xmlns:p14="http://schemas.microsoft.com/office/powerpoint/2010/main" val="3340485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22</a:t>
            </a:fld>
            <a:endParaRPr lang="zh-CN"/>
          </a:p>
        </p:txBody>
      </p:sp>
    </p:spTree>
    <p:extLst>
      <p:ext uri="{BB962C8B-B14F-4D97-AF65-F5344CB8AC3E}">
        <p14:creationId xmlns:p14="http://schemas.microsoft.com/office/powerpoint/2010/main" val="17356676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23</a:t>
            </a:fld>
            <a:endParaRPr lang="zh-CN"/>
          </a:p>
        </p:txBody>
      </p:sp>
    </p:spTree>
    <p:extLst>
      <p:ext uri="{BB962C8B-B14F-4D97-AF65-F5344CB8AC3E}">
        <p14:creationId xmlns:p14="http://schemas.microsoft.com/office/powerpoint/2010/main" val="8222624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24</a:t>
            </a:fld>
            <a:endParaRPr lang="zh-CN"/>
          </a:p>
        </p:txBody>
      </p:sp>
    </p:spTree>
    <p:extLst>
      <p:ext uri="{BB962C8B-B14F-4D97-AF65-F5344CB8AC3E}">
        <p14:creationId xmlns:p14="http://schemas.microsoft.com/office/powerpoint/2010/main" val="4739480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25</a:t>
            </a:fld>
            <a:endParaRPr lang="zh-CN"/>
          </a:p>
        </p:txBody>
      </p:sp>
    </p:spTree>
    <p:extLst>
      <p:ext uri="{BB962C8B-B14F-4D97-AF65-F5344CB8AC3E}">
        <p14:creationId xmlns:p14="http://schemas.microsoft.com/office/powerpoint/2010/main" val="24901170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26</a:t>
            </a:fld>
            <a:endParaRPr lang="zh-CN"/>
          </a:p>
        </p:txBody>
      </p:sp>
    </p:spTree>
    <p:extLst>
      <p:ext uri="{BB962C8B-B14F-4D97-AF65-F5344CB8AC3E}">
        <p14:creationId xmlns:p14="http://schemas.microsoft.com/office/powerpoint/2010/main" val="4847454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27</a:t>
            </a:fld>
            <a:endParaRPr lang="zh-CN"/>
          </a:p>
        </p:txBody>
      </p:sp>
    </p:spTree>
    <p:extLst>
      <p:ext uri="{BB962C8B-B14F-4D97-AF65-F5344CB8AC3E}">
        <p14:creationId xmlns:p14="http://schemas.microsoft.com/office/powerpoint/2010/main" val="4173484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28</a:t>
            </a:fld>
            <a:endParaRPr lang="zh-CN"/>
          </a:p>
        </p:txBody>
      </p:sp>
    </p:spTree>
    <p:extLst>
      <p:ext uri="{BB962C8B-B14F-4D97-AF65-F5344CB8AC3E}">
        <p14:creationId xmlns:p14="http://schemas.microsoft.com/office/powerpoint/2010/main" val="18385631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29</a:t>
            </a:fld>
            <a:endParaRPr lang="zh-CN"/>
          </a:p>
        </p:txBody>
      </p:sp>
    </p:spTree>
    <p:extLst>
      <p:ext uri="{BB962C8B-B14F-4D97-AF65-F5344CB8AC3E}">
        <p14:creationId xmlns:p14="http://schemas.microsoft.com/office/powerpoint/2010/main" val="31147279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30</a:t>
            </a:fld>
            <a:endParaRPr lang="zh-CN"/>
          </a:p>
        </p:txBody>
      </p:sp>
    </p:spTree>
    <p:extLst>
      <p:ext uri="{BB962C8B-B14F-4D97-AF65-F5344CB8AC3E}">
        <p14:creationId xmlns:p14="http://schemas.microsoft.com/office/powerpoint/2010/main" val="14072602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31</a:t>
            </a:fld>
            <a:endParaRPr lang="zh-CN"/>
          </a:p>
        </p:txBody>
      </p:sp>
    </p:spTree>
    <p:extLst>
      <p:ext uri="{BB962C8B-B14F-4D97-AF65-F5344CB8AC3E}">
        <p14:creationId xmlns:p14="http://schemas.microsoft.com/office/powerpoint/2010/main" val="34821367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32</a:t>
            </a:fld>
            <a:endParaRPr lang="zh-CN"/>
          </a:p>
        </p:txBody>
      </p:sp>
    </p:spTree>
    <p:extLst>
      <p:ext uri="{BB962C8B-B14F-4D97-AF65-F5344CB8AC3E}">
        <p14:creationId xmlns:p14="http://schemas.microsoft.com/office/powerpoint/2010/main" val="29040293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33</a:t>
            </a:fld>
            <a:endParaRPr lang="zh-CN"/>
          </a:p>
        </p:txBody>
      </p:sp>
    </p:spTree>
    <p:extLst>
      <p:ext uri="{BB962C8B-B14F-4D97-AF65-F5344CB8AC3E}">
        <p14:creationId xmlns:p14="http://schemas.microsoft.com/office/powerpoint/2010/main" val="28388732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34</a:t>
            </a:fld>
            <a:endParaRPr lang="zh-CN"/>
          </a:p>
        </p:txBody>
      </p:sp>
    </p:spTree>
    <p:extLst>
      <p:ext uri="{BB962C8B-B14F-4D97-AF65-F5344CB8AC3E}">
        <p14:creationId xmlns:p14="http://schemas.microsoft.com/office/powerpoint/2010/main" val="11039120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35</a:t>
            </a:fld>
            <a:endParaRPr lang="zh-CN"/>
          </a:p>
        </p:txBody>
      </p:sp>
    </p:spTree>
    <p:extLst>
      <p:ext uri="{BB962C8B-B14F-4D97-AF65-F5344CB8AC3E}">
        <p14:creationId xmlns:p14="http://schemas.microsoft.com/office/powerpoint/2010/main" val="8687465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36</a:t>
            </a:fld>
            <a:endParaRPr lang="zh-CN"/>
          </a:p>
        </p:txBody>
      </p:sp>
    </p:spTree>
    <p:extLst>
      <p:ext uri="{BB962C8B-B14F-4D97-AF65-F5344CB8AC3E}">
        <p14:creationId xmlns:p14="http://schemas.microsoft.com/office/powerpoint/2010/main" val="8597642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37</a:t>
            </a:fld>
            <a:endParaRPr lang="zh-CN"/>
          </a:p>
        </p:txBody>
      </p:sp>
    </p:spTree>
    <p:extLst>
      <p:ext uri="{BB962C8B-B14F-4D97-AF65-F5344CB8AC3E}">
        <p14:creationId xmlns:p14="http://schemas.microsoft.com/office/powerpoint/2010/main" val="34262568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38</a:t>
            </a:fld>
            <a:endParaRPr lang="zh-CN"/>
          </a:p>
        </p:txBody>
      </p:sp>
    </p:spTree>
    <p:extLst>
      <p:ext uri="{BB962C8B-B14F-4D97-AF65-F5344CB8AC3E}">
        <p14:creationId xmlns:p14="http://schemas.microsoft.com/office/powerpoint/2010/main" val="23308230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39</a:t>
            </a:fld>
            <a:endParaRPr lang="zh-CN"/>
          </a:p>
        </p:txBody>
      </p:sp>
    </p:spTree>
    <p:extLst>
      <p:ext uri="{BB962C8B-B14F-4D97-AF65-F5344CB8AC3E}">
        <p14:creationId xmlns:p14="http://schemas.microsoft.com/office/powerpoint/2010/main" val="328656705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40</a:t>
            </a:fld>
            <a:endParaRPr lang="zh-CN"/>
          </a:p>
        </p:txBody>
      </p:sp>
    </p:spTree>
    <p:extLst>
      <p:ext uri="{BB962C8B-B14F-4D97-AF65-F5344CB8AC3E}">
        <p14:creationId xmlns:p14="http://schemas.microsoft.com/office/powerpoint/2010/main" val="31268443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41</a:t>
            </a:fld>
            <a:endParaRPr lang="zh-CN"/>
          </a:p>
        </p:txBody>
      </p:sp>
    </p:spTree>
    <p:extLst>
      <p:ext uri="{BB962C8B-B14F-4D97-AF65-F5344CB8AC3E}">
        <p14:creationId xmlns:p14="http://schemas.microsoft.com/office/powerpoint/2010/main" val="4062629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70384" y="1909346"/>
            <a:ext cx="7203233" cy="3383280"/>
          </a:xfrm>
        </p:spPr>
        <p:txBody>
          <a:bodyPr anchor="b">
            <a:normAutofit/>
          </a:bodyPr>
          <a:lstStyle>
            <a:lvl1pPr algn="l" latinLnBrk="0">
              <a:lnSpc>
                <a:spcPct val="76000"/>
              </a:lnSpc>
              <a:defRPr lang="zh-CN" sz="8000" cap="none" baseline="0">
                <a:solidFill>
                  <a:schemeClr val="tx1"/>
                </a:solidFill>
              </a:defRPr>
            </a:lvl1pPr>
          </a:lstStyle>
          <a:p>
            <a:r>
              <a:rPr lang="zh-CN" altLang="en-US"/>
              <a:t>单击此处编辑母版标题样式</a:t>
            </a:r>
            <a:endParaRPr lang="zh-CN" dirty="0"/>
          </a:p>
        </p:txBody>
      </p:sp>
      <p:sp>
        <p:nvSpPr>
          <p:cNvPr id="3" name="副标题 2"/>
          <p:cNvSpPr>
            <a:spLocks noGrp="1"/>
          </p:cNvSpPr>
          <p:nvPr>
            <p:ph type="subTitle" idx="1"/>
          </p:nvPr>
        </p:nvSpPr>
        <p:spPr>
          <a:xfrm>
            <a:off x="970384" y="5432564"/>
            <a:ext cx="7203233" cy="457200"/>
          </a:xfrm>
        </p:spPr>
        <p:txBody>
          <a:bodyPr>
            <a:normAutofit/>
          </a:bodyPr>
          <a:lstStyle>
            <a:lvl1pPr marL="0" indent="0" algn="l" latinLnBrk="0">
              <a:spcBef>
                <a:spcPts val="0"/>
              </a:spcBef>
              <a:buNone/>
              <a:defRPr lang="zh-CN" sz="2000" b="0">
                <a:solidFill>
                  <a:schemeClr val="accent1"/>
                </a:solidFill>
              </a:defRPr>
            </a:lvl1pPr>
            <a:lvl2pPr marL="457200" indent="0" algn="ctr" latinLnBrk="0">
              <a:buNone/>
              <a:defRPr lang="zh-CN" sz="2000"/>
            </a:lvl2pPr>
            <a:lvl3pPr marL="914400" indent="0" algn="ctr" latinLnBrk="0">
              <a:buNone/>
              <a:defRPr lang="zh-CN" sz="1800"/>
            </a:lvl3pPr>
            <a:lvl4pPr marL="1371600" indent="0" algn="ctr" latinLnBrk="0">
              <a:buNone/>
              <a:defRPr lang="zh-CN" sz="1600"/>
            </a:lvl4pPr>
            <a:lvl5pPr marL="1828800" indent="0" algn="ctr" latinLnBrk="0">
              <a:buNone/>
              <a:defRPr lang="zh-CN" sz="1600"/>
            </a:lvl5pPr>
            <a:lvl6pPr marL="2286000" indent="0" algn="ctr" latinLnBrk="0">
              <a:buNone/>
              <a:defRPr lang="zh-CN" sz="1600"/>
            </a:lvl6pPr>
            <a:lvl7pPr marL="2743200" indent="0" algn="ctr" latinLnBrk="0">
              <a:buNone/>
              <a:defRPr lang="zh-CN" sz="1600"/>
            </a:lvl7pPr>
            <a:lvl8pPr marL="3200400" indent="0" algn="ctr" latinLnBrk="0">
              <a:buNone/>
              <a:defRPr lang="zh-CN" sz="1600"/>
            </a:lvl8pPr>
            <a:lvl9pPr marL="3657600" indent="0" algn="ctr" latinLnBrk="0">
              <a:buNone/>
              <a:defRPr lang="zh-CN" sz="1600"/>
            </a:lvl9pPr>
          </a:lstStyle>
          <a:p>
            <a:r>
              <a:rPr lang="zh-CN" altLang="en-US"/>
              <a:t>单击此处编辑母版副标题样式</a:t>
            </a:r>
            <a:endParaRPr lang="zh-CN"/>
          </a:p>
        </p:txBody>
      </p:sp>
      <p:cxnSp>
        <p:nvCxnSpPr>
          <p:cNvPr id="58" name="直线连接线 57"/>
          <p:cNvCxnSpPr/>
          <p:nvPr userDrawn="1"/>
        </p:nvCxnSpPr>
        <p:spPr>
          <a:xfrm>
            <a:off x="971550" y="5294175"/>
            <a:ext cx="72009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8" name="直接连接符 7"/>
          <p:cNvCxnSpPr>
            <a:endCxn id="3" idx="3"/>
          </p:cNvCxnSpPr>
          <p:nvPr userDrawn="1"/>
        </p:nvCxnSpPr>
        <p:spPr>
          <a:xfrm>
            <a:off x="8172450" y="1143000"/>
            <a:ext cx="1167" cy="4518164"/>
          </a:xfrm>
          <a:prstGeom prst="line">
            <a:avLst/>
          </a:prstGeom>
          <a:ln w="190500" cmpd="sng"/>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71550" y="18386"/>
            <a:ext cx="7200900" cy="1142385"/>
          </a:xfrm>
        </p:spPr>
        <p:txBody>
          <a:bodyPr/>
          <a:lstStyle/>
          <a:p>
            <a:r>
              <a:rPr lang="zh-CN" altLang="en-US" dirty="0"/>
              <a:t>单击此处编辑母版标题样式</a:t>
            </a:r>
            <a:endParaRPr lang="zh-CN" dirty="0"/>
          </a:p>
        </p:txBody>
      </p:sp>
      <p:sp>
        <p:nvSpPr>
          <p:cNvPr id="3" name="内容占位符 2"/>
          <p:cNvSpPr>
            <a:spLocks noGrp="1"/>
          </p:cNvSpPr>
          <p:nvPr>
            <p:ph idx="1"/>
          </p:nvPr>
        </p:nvSpPr>
        <p:spPr>
          <a:xfrm>
            <a:off x="971550" y="1447800"/>
            <a:ext cx="7200900" cy="45593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dirty="0"/>
          </a:p>
        </p:txBody>
      </p:sp>
      <p:sp>
        <p:nvSpPr>
          <p:cNvPr id="4" name="日期占位符 3"/>
          <p:cNvSpPr>
            <a:spLocks noGrp="1"/>
          </p:cNvSpPr>
          <p:nvPr>
            <p:ph type="dt" sz="half" idx="10"/>
          </p:nvPr>
        </p:nvSpPr>
        <p:spPr/>
        <p:txBody>
          <a:bodyPr/>
          <a:lstStyle/>
          <a:p>
            <a:fld id="{955AE237-00C5-49C3-9620-3A7E1C66D777}" type="datetime1">
              <a:rPr lang="zh-CN" altLang="en-US" smtClean="0"/>
              <a:pPr/>
              <a:t>2021/3/2</a:t>
            </a:fld>
            <a:endParaRPr lang="zh-CN"/>
          </a:p>
        </p:txBody>
      </p:sp>
      <p:sp>
        <p:nvSpPr>
          <p:cNvPr id="5" name="页脚占位符 4"/>
          <p:cNvSpPr>
            <a:spLocks noGrp="1"/>
          </p:cNvSpPr>
          <p:nvPr>
            <p:ph type="ftr" sz="quarter" idx="11"/>
          </p:nvPr>
        </p:nvSpPr>
        <p:spPr/>
        <p:txBody>
          <a:bodyPr/>
          <a:lstStyle>
            <a:lvl1pPr>
              <a:defRPr sz="1600">
                <a:solidFill>
                  <a:schemeClr val="accent1"/>
                </a:solidFill>
                <a:latin typeface="微软雅黑" panose="020B0503020204020204" pitchFamily="34" charset="-122"/>
                <a:ea typeface="微软雅黑" panose="020B0503020204020204" pitchFamily="34" charset="-122"/>
              </a:defRPr>
            </a:lvl1pPr>
          </a:lstStyle>
          <a:p>
            <a:r>
              <a:rPr lang="zh-CN" altLang="en-US" dirty="0"/>
              <a:t>国际金融学 范小云</a:t>
            </a:r>
          </a:p>
        </p:txBody>
      </p:sp>
      <p:sp>
        <p:nvSpPr>
          <p:cNvPr id="6" name="幻灯片编号占位符 5"/>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组 6"/>
          <p:cNvGrpSpPr/>
          <p:nvPr userDrawn="1"/>
        </p:nvGrpSpPr>
        <p:grpSpPr bwMode="hidden">
          <a:xfrm>
            <a:off x="-1" y="0"/>
            <a:ext cx="9144002" cy="6858000"/>
            <a:chOff x="-1" y="0"/>
            <a:chExt cx="12192002" cy="6858000"/>
          </a:xfrm>
        </p:grpSpPr>
        <p:cxnSp>
          <p:nvCxnSpPr>
            <p:cNvPr id="8" name="直线连接线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直线连接线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线连接线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线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线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线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线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线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线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线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线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线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线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线连接线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线连接线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线连接线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组 23"/>
            <p:cNvGrpSpPr/>
            <p:nvPr userDrawn="1"/>
          </p:nvGrpSpPr>
          <p:grpSpPr bwMode="hidden">
            <a:xfrm>
              <a:off x="-1" y="0"/>
              <a:ext cx="12192001" cy="6858000"/>
              <a:chOff x="-1" y="0"/>
              <a:chExt cx="12192001" cy="6858000"/>
            </a:xfrm>
          </p:grpSpPr>
          <p:cxnSp>
            <p:nvCxnSpPr>
              <p:cNvPr id="42" name="直线连接线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直线连接线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直线连接线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线连接线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线连接线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组 46"/>
              <p:cNvGrpSpPr/>
              <p:nvPr/>
            </p:nvGrpSpPr>
            <p:grpSpPr bwMode="hidden">
              <a:xfrm>
                <a:off x="6327885" y="0"/>
                <a:ext cx="5864115" cy="5898673"/>
                <a:chOff x="6327885" y="0"/>
                <a:chExt cx="5864115" cy="5898673"/>
              </a:xfrm>
            </p:grpSpPr>
            <p:cxnSp>
              <p:nvCxnSpPr>
                <p:cNvPr id="53" name="直线连接线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线连接线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直线连接线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线连接线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线连接线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直线连接线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直线连接线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直线连接线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线连接线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线连接线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组 24"/>
            <p:cNvGrpSpPr/>
            <p:nvPr userDrawn="1"/>
          </p:nvGrpSpPr>
          <p:grpSpPr bwMode="hidden">
            <a:xfrm flipH="1">
              <a:off x="0" y="0"/>
              <a:ext cx="12192001" cy="6858000"/>
              <a:chOff x="-1" y="0"/>
              <a:chExt cx="12192001" cy="6858000"/>
            </a:xfrm>
          </p:grpSpPr>
          <p:cxnSp>
            <p:nvCxnSpPr>
              <p:cNvPr id="26" name="直线连接线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直线连接线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直线连接线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线连接线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线连接线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组 30"/>
              <p:cNvGrpSpPr/>
              <p:nvPr/>
            </p:nvGrpSpPr>
            <p:grpSpPr bwMode="hidden">
              <a:xfrm>
                <a:off x="6327885" y="0"/>
                <a:ext cx="5864115" cy="5898673"/>
                <a:chOff x="6327885" y="0"/>
                <a:chExt cx="5864115" cy="5898673"/>
              </a:xfrm>
            </p:grpSpPr>
            <p:cxnSp>
              <p:nvCxnSpPr>
                <p:cNvPr id="37" name="直线连接线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直线连接线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直线连接线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线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线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直线连接线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直线连接线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直线连接线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线连接线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线连接线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971550" y="2541573"/>
            <a:ext cx="7200900" cy="2743200"/>
          </a:xfrm>
        </p:spPr>
        <p:txBody>
          <a:bodyPr anchor="b">
            <a:normAutofit/>
          </a:bodyPr>
          <a:lstStyle>
            <a:lvl1pPr latinLnBrk="0">
              <a:lnSpc>
                <a:spcPct val="85000"/>
              </a:lnSpc>
              <a:defRPr lang="zh-CN" sz="6000" cap="none" baseline="0">
                <a:solidFill>
                  <a:schemeClr val="tx1"/>
                </a:solidFill>
              </a:defRPr>
            </a:lvl1pPr>
          </a:lstStyle>
          <a:p>
            <a:r>
              <a:rPr lang="zh-CN" altLang="en-US"/>
              <a:t>单击此处编辑母版标题样式</a:t>
            </a:r>
            <a:endParaRPr lang="zh-CN" dirty="0"/>
          </a:p>
        </p:txBody>
      </p:sp>
      <p:sp>
        <p:nvSpPr>
          <p:cNvPr id="3" name="文本占位符 2"/>
          <p:cNvSpPr>
            <a:spLocks noGrp="1"/>
          </p:cNvSpPr>
          <p:nvPr>
            <p:ph type="body" idx="1"/>
          </p:nvPr>
        </p:nvSpPr>
        <p:spPr>
          <a:xfrm>
            <a:off x="971550" y="5431536"/>
            <a:ext cx="7200900" cy="457200"/>
          </a:xfrm>
        </p:spPr>
        <p:txBody>
          <a:bodyPr>
            <a:normAutofit/>
          </a:bodyPr>
          <a:lstStyle>
            <a:lvl1pPr marL="0" indent="0" latinLnBrk="0">
              <a:spcBef>
                <a:spcPts val="0"/>
              </a:spcBef>
              <a:buNone/>
              <a:defRPr lang="zh-CN" sz="2000" b="0">
                <a:solidFill>
                  <a:schemeClr val="tx1"/>
                </a:solidFill>
              </a:defRPr>
            </a:lvl1pPr>
            <a:lvl2pPr marL="457200" indent="0" latinLnBrk="0">
              <a:buNone/>
              <a:defRPr lang="zh-CN" sz="2000"/>
            </a:lvl2pPr>
            <a:lvl3pPr marL="914400" indent="0" latinLnBrk="0">
              <a:buNone/>
              <a:defRPr lang="zh-CN" sz="1800"/>
            </a:lvl3pPr>
            <a:lvl4pPr marL="1371600" indent="0" latinLnBrk="0">
              <a:buNone/>
              <a:defRPr lang="zh-CN" sz="1600"/>
            </a:lvl4pPr>
            <a:lvl5pPr marL="1828800" indent="0" latinLnBrk="0">
              <a:buNone/>
              <a:defRPr lang="zh-CN" sz="1600"/>
            </a:lvl5pPr>
            <a:lvl6pPr marL="2286000" indent="0" latinLnBrk="0">
              <a:buNone/>
              <a:defRPr lang="zh-CN" sz="1600"/>
            </a:lvl6pPr>
            <a:lvl7pPr marL="2743200" indent="0" latinLnBrk="0">
              <a:buNone/>
              <a:defRPr lang="zh-CN" sz="1600"/>
            </a:lvl7pPr>
            <a:lvl8pPr marL="3200400" indent="0" latinLnBrk="0">
              <a:buNone/>
              <a:defRPr lang="zh-CN" sz="1600"/>
            </a:lvl8pPr>
            <a:lvl9pPr marL="3657600" indent="0" latinLnBrk="0">
              <a:buNone/>
              <a:defRPr lang="zh-CN" sz="1600"/>
            </a:lvl9pPr>
          </a:lstStyle>
          <a:p>
            <a:pPr lvl="0"/>
            <a:r>
              <a:rPr lang="zh-CN" altLang="en-US"/>
              <a:t>单击此处编辑母版文本样式</a:t>
            </a:r>
          </a:p>
        </p:txBody>
      </p:sp>
      <p:cxnSp>
        <p:nvCxnSpPr>
          <p:cNvPr id="58" name="直线连接线 57"/>
          <p:cNvCxnSpPr/>
          <p:nvPr userDrawn="1"/>
        </p:nvCxnSpPr>
        <p:spPr>
          <a:xfrm>
            <a:off x="971550" y="5294175"/>
            <a:ext cx="7200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78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p>
        </p:txBody>
      </p:sp>
      <p:sp>
        <p:nvSpPr>
          <p:cNvPr id="3" name="内容占位符 2"/>
          <p:cNvSpPr>
            <a:spLocks noGrp="1"/>
          </p:cNvSpPr>
          <p:nvPr>
            <p:ph sz="half" idx="1"/>
          </p:nvPr>
        </p:nvSpPr>
        <p:spPr>
          <a:xfrm>
            <a:off x="971550" y="1981200"/>
            <a:ext cx="3429000" cy="3810001"/>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800"/>
            </a:lvl6pPr>
            <a:lvl7pPr latinLnBrk="0">
              <a:defRPr lang="zh-CN" sz="1800"/>
            </a:lvl7pPr>
            <a:lvl8pPr latinLnBrk="0">
              <a:defRPr lang="zh-CN" sz="1800"/>
            </a:lvl8pPr>
            <a:lvl9pPr latinLnBrk="0">
              <a:defRPr lang="zh-CN"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dirty="0"/>
          </a:p>
        </p:txBody>
      </p:sp>
      <p:sp>
        <p:nvSpPr>
          <p:cNvPr id="4" name="内容占位符 3"/>
          <p:cNvSpPr>
            <a:spLocks noGrp="1"/>
          </p:cNvSpPr>
          <p:nvPr>
            <p:ph sz="half" idx="2"/>
          </p:nvPr>
        </p:nvSpPr>
        <p:spPr>
          <a:xfrm>
            <a:off x="4743450" y="1981200"/>
            <a:ext cx="3429000" cy="3810001"/>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800"/>
            </a:lvl6pPr>
            <a:lvl7pPr latinLnBrk="0">
              <a:defRPr lang="zh-CN" sz="1800"/>
            </a:lvl7pPr>
            <a:lvl8pPr latinLnBrk="0">
              <a:defRPr lang="zh-CN" sz="1800"/>
            </a:lvl8pPr>
            <a:lvl9pPr latinLnBrk="0">
              <a:defRPr lang="zh-CN"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p>
        </p:txBody>
      </p:sp>
      <p:sp>
        <p:nvSpPr>
          <p:cNvPr id="5" name="日期占位符 4"/>
          <p:cNvSpPr>
            <a:spLocks noGrp="1"/>
          </p:cNvSpPr>
          <p:nvPr>
            <p:ph type="dt" sz="half" idx="10"/>
          </p:nvPr>
        </p:nvSpPr>
        <p:spPr/>
        <p:txBody>
          <a:bodyPr/>
          <a:lstStyle/>
          <a:p>
            <a:fld id="{4563F93A-6675-49B1-B272-AB78494A47C1}" type="datetime1">
              <a:rPr lang="zh-CN" altLang="en-US" smtClean="0"/>
              <a:pPr/>
              <a:t>2021/3/2</a:t>
            </a:fld>
            <a:endParaRPr lang="zh-CN"/>
          </a:p>
        </p:txBody>
      </p:sp>
      <p:sp>
        <p:nvSpPr>
          <p:cNvPr id="6" name="页脚占位符 5"/>
          <p:cNvSpPr>
            <a:spLocks noGrp="1"/>
          </p:cNvSpPr>
          <p:nvPr>
            <p:ph type="ftr" sz="quarter" idx="11"/>
          </p:nvPr>
        </p:nvSpPr>
        <p:spPr/>
        <p:txBody>
          <a:bodyPr/>
          <a:lstStyle/>
          <a:p>
            <a:r>
              <a:rPr lang="zh-CN" altLang="en-US"/>
              <a:t>国际金融学 范小云</a:t>
            </a:r>
            <a:endParaRPr lang="zh-CN"/>
          </a:p>
        </p:txBody>
      </p:sp>
      <p:sp>
        <p:nvSpPr>
          <p:cNvPr id="7" name="幻灯片编号占位符 6"/>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p>
        </p:txBody>
      </p:sp>
      <p:sp>
        <p:nvSpPr>
          <p:cNvPr id="3" name="文本占位符 2"/>
          <p:cNvSpPr>
            <a:spLocks noGrp="1"/>
          </p:cNvSpPr>
          <p:nvPr>
            <p:ph type="body" idx="1"/>
          </p:nvPr>
        </p:nvSpPr>
        <p:spPr>
          <a:xfrm>
            <a:off x="971550" y="1818322"/>
            <a:ext cx="3429000" cy="641350"/>
          </a:xfrm>
        </p:spPr>
        <p:txBody>
          <a:bodyPr anchor="ctr">
            <a:normAutofit/>
          </a:bodyPr>
          <a:lstStyle>
            <a:lvl1pPr marL="0" indent="0" latinLnBrk="0">
              <a:spcBef>
                <a:spcPts val="0"/>
              </a:spcBef>
              <a:buNone/>
              <a:defRPr lang="zh-CN" sz="20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a:t>单击此处编辑母版文本样式</a:t>
            </a:r>
          </a:p>
        </p:txBody>
      </p:sp>
      <p:sp>
        <p:nvSpPr>
          <p:cNvPr id="4" name="内容占位符 3"/>
          <p:cNvSpPr>
            <a:spLocks noGrp="1"/>
          </p:cNvSpPr>
          <p:nvPr>
            <p:ph sz="half" idx="2"/>
          </p:nvPr>
        </p:nvSpPr>
        <p:spPr>
          <a:xfrm>
            <a:off x="971550" y="2503714"/>
            <a:ext cx="3429000" cy="3287487"/>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600"/>
            </a:lvl6pPr>
            <a:lvl7pPr latinLnBrk="0">
              <a:defRPr lang="zh-CN" sz="1600"/>
            </a:lvl7pPr>
            <a:lvl8pPr latinLnBrk="0">
              <a:defRPr lang="zh-CN" sz="1600"/>
            </a:lvl8pPr>
            <a:lvl9pPr latinLnBrk="0">
              <a:defRPr lang="zh-CN"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dirty="0"/>
          </a:p>
        </p:txBody>
      </p:sp>
      <p:sp>
        <p:nvSpPr>
          <p:cNvPr id="5" name="文本占位符 4"/>
          <p:cNvSpPr>
            <a:spLocks noGrp="1"/>
          </p:cNvSpPr>
          <p:nvPr>
            <p:ph type="body" sz="quarter" idx="3"/>
          </p:nvPr>
        </p:nvSpPr>
        <p:spPr>
          <a:xfrm>
            <a:off x="4743450" y="1818322"/>
            <a:ext cx="3429000" cy="641350"/>
          </a:xfrm>
        </p:spPr>
        <p:txBody>
          <a:bodyPr anchor="ctr">
            <a:normAutofit/>
          </a:bodyPr>
          <a:lstStyle>
            <a:lvl1pPr marL="0" indent="0" latinLnBrk="0">
              <a:spcBef>
                <a:spcPts val="0"/>
              </a:spcBef>
              <a:buNone/>
              <a:defRPr lang="zh-CN" sz="20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a:t>单击此处编辑母版文本样式</a:t>
            </a:r>
          </a:p>
        </p:txBody>
      </p:sp>
      <p:sp>
        <p:nvSpPr>
          <p:cNvPr id="6" name="内容占位符 5"/>
          <p:cNvSpPr>
            <a:spLocks noGrp="1"/>
          </p:cNvSpPr>
          <p:nvPr>
            <p:ph sz="quarter" idx="4"/>
          </p:nvPr>
        </p:nvSpPr>
        <p:spPr>
          <a:xfrm>
            <a:off x="4743450" y="2503714"/>
            <a:ext cx="3429000" cy="3287487"/>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600"/>
            </a:lvl6pPr>
            <a:lvl7pPr latinLnBrk="0">
              <a:defRPr lang="zh-CN" sz="1600"/>
            </a:lvl7pPr>
            <a:lvl8pPr latinLnBrk="0">
              <a:defRPr lang="zh-CN" sz="1600"/>
            </a:lvl8pPr>
            <a:lvl9pPr latinLnBrk="0">
              <a:defRPr lang="zh-CN"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p>
        </p:txBody>
      </p:sp>
      <p:sp>
        <p:nvSpPr>
          <p:cNvPr id="7" name="日期占位符 6"/>
          <p:cNvSpPr>
            <a:spLocks noGrp="1"/>
          </p:cNvSpPr>
          <p:nvPr>
            <p:ph type="dt" sz="half" idx="10"/>
          </p:nvPr>
        </p:nvSpPr>
        <p:spPr/>
        <p:txBody>
          <a:bodyPr/>
          <a:lstStyle/>
          <a:p>
            <a:fld id="{EFE3F164-49FE-47CA-AD0E-694FC8244535}" type="datetime1">
              <a:rPr lang="zh-CN" altLang="en-US" smtClean="0"/>
              <a:pPr/>
              <a:t>2021/3/2</a:t>
            </a:fld>
            <a:endParaRPr lang="zh-CN"/>
          </a:p>
        </p:txBody>
      </p:sp>
      <p:sp>
        <p:nvSpPr>
          <p:cNvPr id="8" name="页脚占位符 7"/>
          <p:cNvSpPr>
            <a:spLocks noGrp="1"/>
          </p:cNvSpPr>
          <p:nvPr>
            <p:ph type="ftr" sz="quarter" idx="11"/>
          </p:nvPr>
        </p:nvSpPr>
        <p:spPr/>
        <p:txBody>
          <a:bodyPr/>
          <a:lstStyle/>
          <a:p>
            <a:r>
              <a:rPr lang="zh-CN" altLang="en-US"/>
              <a:t>国际金融学 范小云</a:t>
            </a:r>
            <a:endParaRPr lang="zh-CN"/>
          </a:p>
        </p:txBody>
      </p:sp>
      <p:sp>
        <p:nvSpPr>
          <p:cNvPr id="9" name="幻灯片编号占位符 8"/>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dirty="0"/>
          </a:p>
        </p:txBody>
      </p:sp>
      <p:sp>
        <p:nvSpPr>
          <p:cNvPr id="3" name="日期占位符 2"/>
          <p:cNvSpPr>
            <a:spLocks noGrp="1"/>
          </p:cNvSpPr>
          <p:nvPr>
            <p:ph type="dt" sz="half" idx="10"/>
          </p:nvPr>
        </p:nvSpPr>
        <p:spPr/>
        <p:txBody>
          <a:bodyPr/>
          <a:lstStyle/>
          <a:p>
            <a:fld id="{CBD9AAED-D86B-4435-A478-E7982A9F3D12}" type="datetime1">
              <a:rPr lang="zh-CN" altLang="en-US" smtClean="0"/>
              <a:pPr/>
              <a:t>2021/3/2</a:t>
            </a:fld>
            <a:endParaRPr lang="zh-CN"/>
          </a:p>
        </p:txBody>
      </p:sp>
      <p:sp>
        <p:nvSpPr>
          <p:cNvPr id="4" name="页脚占位符 3"/>
          <p:cNvSpPr>
            <a:spLocks noGrp="1"/>
          </p:cNvSpPr>
          <p:nvPr>
            <p:ph type="ftr" sz="quarter" idx="11"/>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zh-CN" altLang="en-US" sz="1600" dirty="0">
                <a:solidFill>
                  <a:srgbClr val="1CADE4"/>
                </a:solidFill>
                <a:latin typeface="微软雅黑" panose="020B0503020204020204" pitchFamily="34" charset="-122"/>
                <a:ea typeface="微软雅黑" panose="020B0503020204020204" pitchFamily="34" charset="-122"/>
              </a:rPr>
              <a:t>国际金融学 范小云</a:t>
            </a:r>
          </a:p>
        </p:txBody>
      </p:sp>
      <p:sp>
        <p:nvSpPr>
          <p:cNvPr id="5" name="幻灯片编号占位符 4"/>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12" name="日期占位符 211"/>
          <p:cNvSpPr>
            <a:spLocks noGrp="1"/>
          </p:cNvSpPr>
          <p:nvPr>
            <p:ph type="dt" sz="half" idx="10"/>
          </p:nvPr>
        </p:nvSpPr>
        <p:spPr/>
        <p:txBody>
          <a:bodyPr/>
          <a:lstStyle/>
          <a:p>
            <a:fld id="{8FD5366B-5DD5-4ECC-82BD-E5089146864D}" type="datetime1">
              <a:rPr lang="zh-CN" altLang="en-US" smtClean="0"/>
              <a:pPr/>
              <a:t>2021/3/2</a:t>
            </a:fld>
            <a:endParaRPr lang="zh-CN"/>
          </a:p>
        </p:txBody>
      </p:sp>
      <p:sp>
        <p:nvSpPr>
          <p:cNvPr id="213" name="页脚占位符 212"/>
          <p:cNvSpPr>
            <a:spLocks noGrp="1"/>
          </p:cNvSpPr>
          <p:nvPr>
            <p:ph type="ftr" sz="quarter" idx="11"/>
          </p:nvPr>
        </p:nvSpPr>
        <p:spPr/>
        <p:txBody>
          <a:bodyPr/>
          <a:lstStyle/>
          <a:p>
            <a:r>
              <a:rPr lang="zh-CN" altLang="en-US"/>
              <a:t>国际金融学 范小云</a:t>
            </a:r>
            <a:endParaRPr lang="zh-CN"/>
          </a:p>
        </p:txBody>
      </p:sp>
      <p:sp>
        <p:nvSpPr>
          <p:cNvPr id="214" name="幻灯片编号占位符 213"/>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题注">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组 8"/>
          <p:cNvGrpSpPr/>
          <p:nvPr userDrawn="1"/>
        </p:nvGrpSpPr>
        <p:grpSpPr bwMode="hidden">
          <a:xfrm>
            <a:off x="-1" y="0"/>
            <a:ext cx="9144002" cy="6858000"/>
            <a:chOff x="-1" y="0"/>
            <a:chExt cx="12192002" cy="6858000"/>
          </a:xfrm>
        </p:grpSpPr>
        <p:cxnSp>
          <p:nvCxnSpPr>
            <p:cNvPr id="10" name="直线连接线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线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线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线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线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线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线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线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线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线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线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线连接线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线连接线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线连接线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线连接线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线连接线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组 25"/>
            <p:cNvGrpSpPr/>
            <p:nvPr userDrawn="1"/>
          </p:nvGrpSpPr>
          <p:grpSpPr bwMode="hidden">
            <a:xfrm>
              <a:off x="-1" y="0"/>
              <a:ext cx="12192001" cy="6858000"/>
              <a:chOff x="-1" y="0"/>
              <a:chExt cx="12192001" cy="6858000"/>
            </a:xfrm>
          </p:grpSpPr>
          <p:cxnSp>
            <p:nvCxnSpPr>
              <p:cNvPr id="44" name="直线连接线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线连接线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线连接线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直线连接线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直线连接线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组 48"/>
              <p:cNvGrpSpPr/>
              <p:nvPr/>
            </p:nvGrpSpPr>
            <p:grpSpPr bwMode="hidden">
              <a:xfrm>
                <a:off x="6327885" y="0"/>
                <a:ext cx="5864115" cy="5898673"/>
                <a:chOff x="6327885" y="0"/>
                <a:chExt cx="5864115" cy="5898673"/>
              </a:xfrm>
            </p:grpSpPr>
            <p:cxnSp>
              <p:nvCxnSpPr>
                <p:cNvPr id="55" name="直线连接线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线连接线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线连接线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直线连接线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直线连接线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直线连接线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线连接线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线连接线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线连接线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线连接线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 26"/>
            <p:cNvGrpSpPr/>
            <p:nvPr userDrawn="1"/>
          </p:nvGrpSpPr>
          <p:grpSpPr bwMode="hidden">
            <a:xfrm flipH="1">
              <a:off x="0" y="0"/>
              <a:ext cx="12192001" cy="6858000"/>
              <a:chOff x="-1" y="0"/>
              <a:chExt cx="12192001" cy="6858000"/>
            </a:xfrm>
          </p:grpSpPr>
          <p:cxnSp>
            <p:nvCxnSpPr>
              <p:cNvPr id="28" name="直线连接线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线连接线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线连接线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直线连接线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直线连接线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组 32"/>
              <p:cNvGrpSpPr/>
              <p:nvPr/>
            </p:nvGrpSpPr>
            <p:grpSpPr bwMode="hidden">
              <a:xfrm>
                <a:off x="6327885" y="0"/>
                <a:ext cx="5864115" cy="5898673"/>
                <a:chOff x="6327885" y="0"/>
                <a:chExt cx="5864115" cy="5898673"/>
              </a:xfrm>
            </p:grpSpPr>
            <p:cxnSp>
              <p:nvCxnSpPr>
                <p:cNvPr id="39" name="直线连接线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线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线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线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直线连接线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直线连接线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线连接线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线连接线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直线连接线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直线连接线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矩形 6"/>
          <p:cNvSpPr/>
          <p:nvPr userDrawn="1"/>
        </p:nvSpPr>
        <p:spPr>
          <a:xfrm>
            <a:off x="0" y="0"/>
            <a:ext cx="54864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ea typeface="Microsoft YaHei UI" panose="020B0503020204020204" pitchFamily="34" charset="-122"/>
            </a:endParaRPr>
          </a:p>
        </p:txBody>
      </p:sp>
      <p:sp>
        <p:nvSpPr>
          <p:cNvPr id="2" name="标题 1"/>
          <p:cNvSpPr>
            <a:spLocks noGrp="1"/>
          </p:cNvSpPr>
          <p:nvPr>
            <p:ph type="title"/>
          </p:nvPr>
        </p:nvSpPr>
        <p:spPr>
          <a:xfrm>
            <a:off x="5934864" y="571500"/>
            <a:ext cx="2743200" cy="2197100"/>
          </a:xfrm>
        </p:spPr>
        <p:txBody>
          <a:bodyPr anchor="b">
            <a:normAutofit/>
          </a:bodyPr>
          <a:lstStyle>
            <a:lvl1pPr latinLnBrk="0">
              <a:defRPr lang="zh-CN" sz="2600">
                <a:solidFill>
                  <a:schemeClr val="bg1"/>
                </a:solidFill>
              </a:defRPr>
            </a:lvl1pPr>
          </a:lstStyle>
          <a:p>
            <a:r>
              <a:rPr lang="zh-CN" altLang="en-US"/>
              <a:t>单击此处编辑母版标题样式</a:t>
            </a:r>
            <a:endParaRPr lang="zh-CN" dirty="0"/>
          </a:p>
        </p:txBody>
      </p:sp>
      <p:sp>
        <p:nvSpPr>
          <p:cNvPr id="3" name="内容占位符 2"/>
          <p:cNvSpPr>
            <a:spLocks noGrp="1"/>
          </p:cNvSpPr>
          <p:nvPr>
            <p:ph idx="1"/>
          </p:nvPr>
        </p:nvSpPr>
        <p:spPr>
          <a:xfrm>
            <a:off x="407398" y="571500"/>
            <a:ext cx="4663440" cy="5715000"/>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2000"/>
            </a:lvl6pPr>
            <a:lvl7pPr latinLnBrk="0">
              <a:defRPr lang="zh-CN" sz="2000"/>
            </a:lvl7pPr>
            <a:lvl8pPr latinLnBrk="0">
              <a:defRPr lang="zh-CN" sz="2000"/>
            </a:lvl8pPr>
            <a:lvl9pPr latinLnBrk="0">
              <a:defRPr lang="zh-CN"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dirty="0"/>
          </a:p>
        </p:txBody>
      </p:sp>
      <p:sp>
        <p:nvSpPr>
          <p:cNvPr id="4" name="文本占位符 3"/>
          <p:cNvSpPr>
            <a:spLocks noGrp="1"/>
          </p:cNvSpPr>
          <p:nvPr>
            <p:ph type="body" sz="half" idx="2"/>
          </p:nvPr>
        </p:nvSpPr>
        <p:spPr>
          <a:xfrm>
            <a:off x="5934864" y="2995012"/>
            <a:ext cx="2743200" cy="2285950"/>
          </a:xfrm>
        </p:spPr>
        <p:txBody>
          <a:bodyPr>
            <a:normAutofit/>
          </a:bodyPr>
          <a:lstStyle>
            <a:lvl1pPr marL="0" indent="0" latinLnBrk="0">
              <a:spcBef>
                <a:spcPts val="1200"/>
              </a:spcBef>
              <a:buNone/>
              <a:defRPr lang="zh-CN" sz="1600">
                <a:solidFill>
                  <a:schemeClr val="bg1"/>
                </a:solidFill>
              </a:defRPr>
            </a:lvl1pPr>
            <a:lvl2pPr marL="457200" indent="0" latinLnBrk="0">
              <a:buNone/>
              <a:defRPr lang="zh-CN" sz="1400"/>
            </a:lvl2pPr>
            <a:lvl3pPr marL="914400" indent="0" latinLnBrk="0">
              <a:buNone/>
              <a:defRPr lang="zh-CN" sz="1200"/>
            </a:lvl3pPr>
            <a:lvl4pPr marL="1371600" indent="0" latinLnBrk="0">
              <a:buNone/>
              <a:defRPr lang="zh-CN" sz="1000"/>
            </a:lvl4pPr>
            <a:lvl5pPr marL="1828800" indent="0" latinLnBrk="0">
              <a:buNone/>
              <a:defRPr lang="zh-CN" sz="1000"/>
            </a:lvl5pPr>
            <a:lvl6pPr marL="2286000" indent="0" latinLnBrk="0">
              <a:buNone/>
              <a:defRPr lang="zh-CN" sz="1000"/>
            </a:lvl6pPr>
            <a:lvl7pPr marL="2743200" indent="0" latinLnBrk="0">
              <a:buNone/>
              <a:defRPr lang="zh-CN" sz="1000"/>
            </a:lvl7pPr>
            <a:lvl8pPr marL="3200400" indent="0" latinLnBrk="0">
              <a:buNone/>
              <a:defRPr lang="zh-CN" sz="1000"/>
            </a:lvl8pPr>
            <a:lvl9pPr marL="3657600" indent="0" latinLnBrk="0">
              <a:buNone/>
              <a:defRPr lang="zh-CN" sz="1000"/>
            </a:lvl9pPr>
          </a:lstStyle>
          <a:p>
            <a:pPr lvl="0"/>
            <a:r>
              <a:rPr lang="zh-CN" altLang="en-US"/>
              <a:t>单击此处编辑母版文本样式</a:t>
            </a:r>
          </a:p>
        </p:txBody>
      </p:sp>
      <p:cxnSp>
        <p:nvCxnSpPr>
          <p:cNvPr id="60" name="直线连接线 59"/>
          <p:cNvCxnSpPr/>
          <p:nvPr userDrawn="1"/>
        </p:nvCxnSpPr>
        <p:spPr>
          <a:xfrm>
            <a:off x="5942317" y="2895600"/>
            <a:ext cx="274448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日期占位符 4"/>
          <p:cNvSpPr>
            <a:spLocks noGrp="1"/>
          </p:cNvSpPr>
          <p:nvPr>
            <p:ph type="dt" sz="half" idx="10"/>
          </p:nvPr>
        </p:nvSpPr>
        <p:spPr/>
        <p:txBody>
          <a:bodyPr/>
          <a:lstStyle/>
          <a:p>
            <a:fld id="{4E4E324D-2A43-40A1-B3DC-C387EAFC4699}" type="datetime1">
              <a:rPr lang="zh-CN" altLang="en-US" smtClean="0"/>
              <a:pPr/>
              <a:t>2021/3/2</a:t>
            </a:fld>
            <a:endParaRPr lang="zh-CN"/>
          </a:p>
        </p:txBody>
      </p:sp>
      <p:sp>
        <p:nvSpPr>
          <p:cNvPr id="6" name="页脚占位符 5"/>
          <p:cNvSpPr>
            <a:spLocks noGrp="1"/>
          </p:cNvSpPr>
          <p:nvPr>
            <p:ph type="ftr" sz="quarter" idx="11"/>
          </p:nvPr>
        </p:nvSpPr>
        <p:spPr/>
        <p:txBody>
          <a:bodyPr/>
          <a:lstStyle/>
          <a:p>
            <a:r>
              <a:rPr lang="zh-CN" altLang="en-US"/>
              <a:t>国际金融学 范小云</a:t>
            </a:r>
            <a:endParaRPr lang="zh-CN"/>
          </a:p>
        </p:txBody>
      </p:sp>
      <p:sp>
        <p:nvSpPr>
          <p:cNvPr id="8" name="幻灯片编号占位符 7"/>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题注">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组 7"/>
          <p:cNvGrpSpPr/>
          <p:nvPr/>
        </p:nvGrpSpPr>
        <p:grpSpPr bwMode="hidden">
          <a:xfrm>
            <a:off x="-1" y="0"/>
            <a:ext cx="9144002" cy="6858000"/>
            <a:chOff x="-1" y="0"/>
            <a:chExt cx="12192002" cy="6858000"/>
          </a:xfrm>
        </p:grpSpPr>
        <p:cxnSp>
          <p:nvCxnSpPr>
            <p:cNvPr id="9" name="直线连接线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线连接线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线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线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线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线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线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线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线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线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线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线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线连接线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线连接线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线连接线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线连接线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组 24"/>
            <p:cNvGrpSpPr/>
            <p:nvPr/>
          </p:nvGrpSpPr>
          <p:grpSpPr bwMode="hidden">
            <a:xfrm>
              <a:off x="-1" y="0"/>
              <a:ext cx="12192001" cy="6858000"/>
              <a:chOff x="-1" y="0"/>
              <a:chExt cx="12192001" cy="6858000"/>
            </a:xfrm>
          </p:grpSpPr>
          <p:cxnSp>
            <p:nvCxnSpPr>
              <p:cNvPr id="43" name="直线连接线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直线连接线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线连接线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线连接线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直线连接线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组 47"/>
              <p:cNvGrpSpPr/>
              <p:nvPr/>
            </p:nvGrpSpPr>
            <p:grpSpPr bwMode="hidden">
              <a:xfrm>
                <a:off x="6327885" y="0"/>
                <a:ext cx="5864115" cy="5898673"/>
                <a:chOff x="6327885" y="0"/>
                <a:chExt cx="5864115" cy="5898673"/>
              </a:xfrm>
            </p:grpSpPr>
            <p:cxnSp>
              <p:nvCxnSpPr>
                <p:cNvPr id="54" name="直线连接线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直线连接线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线连接线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线连接线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直线连接线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直线连接线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直线连接线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线连接线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线连接线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线连接线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组 25"/>
            <p:cNvGrpSpPr/>
            <p:nvPr/>
          </p:nvGrpSpPr>
          <p:grpSpPr bwMode="hidden">
            <a:xfrm flipH="1">
              <a:off x="0" y="0"/>
              <a:ext cx="12192001" cy="6858000"/>
              <a:chOff x="-1" y="0"/>
              <a:chExt cx="12192001" cy="6858000"/>
            </a:xfrm>
          </p:grpSpPr>
          <p:cxnSp>
            <p:nvCxnSpPr>
              <p:cNvPr id="27" name="直线连接线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直线连接线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线连接线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线连接线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直线连接线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组 31"/>
              <p:cNvGrpSpPr/>
              <p:nvPr/>
            </p:nvGrpSpPr>
            <p:grpSpPr bwMode="hidden">
              <a:xfrm>
                <a:off x="6327885" y="0"/>
                <a:ext cx="5864115" cy="5898673"/>
                <a:chOff x="6327885" y="0"/>
                <a:chExt cx="5864115" cy="5898673"/>
              </a:xfrm>
            </p:grpSpPr>
            <p:cxnSp>
              <p:nvCxnSpPr>
                <p:cNvPr id="38" name="直线连接线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直线连接线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线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线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线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直线连接线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直线连接线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线连接线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线连接线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直线连接线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矩形 59"/>
          <p:cNvSpPr/>
          <p:nvPr/>
        </p:nvSpPr>
        <p:spPr>
          <a:xfrm>
            <a:off x="0" y="0"/>
            <a:ext cx="54864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ea typeface="Microsoft YaHei UI" panose="020B0503020204020204" pitchFamily="34" charset="-122"/>
            </a:endParaRPr>
          </a:p>
        </p:txBody>
      </p:sp>
      <p:sp>
        <p:nvSpPr>
          <p:cNvPr id="3" name="图片占位符 2"/>
          <p:cNvSpPr>
            <a:spLocks noGrp="1"/>
          </p:cNvSpPr>
          <p:nvPr>
            <p:ph type="pic" idx="1"/>
          </p:nvPr>
        </p:nvSpPr>
        <p:spPr>
          <a:xfrm>
            <a:off x="3309" y="-159"/>
            <a:ext cx="5486400" cy="6858000"/>
          </a:xfrm>
        </p:spPr>
        <p:txBody>
          <a:bodyPr tIns="457200">
            <a:normAutofit/>
          </a:bodyPr>
          <a:lstStyle>
            <a:lvl1pPr marL="0" indent="0" algn="ctr" latinLnBrk="0">
              <a:buNone/>
              <a:defRPr lang="zh-CN" sz="2000"/>
            </a:lvl1pPr>
            <a:lvl2pPr marL="457200" indent="0" latinLnBrk="0">
              <a:buNone/>
              <a:defRPr lang="zh-CN" sz="2800"/>
            </a:lvl2pPr>
            <a:lvl3pPr marL="914400" indent="0" latinLnBrk="0">
              <a:buNone/>
              <a:defRPr lang="zh-CN" sz="2400"/>
            </a:lvl3pPr>
            <a:lvl4pPr marL="1371600" indent="0" latinLnBrk="0">
              <a:buNone/>
              <a:defRPr lang="zh-CN" sz="2000"/>
            </a:lvl4pPr>
            <a:lvl5pPr marL="1828800" indent="0" latinLnBrk="0">
              <a:buNone/>
              <a:defRPr lang="zh-CN" sz="2000"/>
            </a:lvl5pPr>
            <a:lvl6pPr marL="2286000" indent="0" latinLnBrk="0">
              <a:buNone/>
              <a:defRPr lang="zh-CN" sz="2000"/>
            </a:lvl6pPr>
            <a:lvl7pPr marL="2743200" indent="0" latinLnBrk="0">
              <a:buNone/>
              <a:defRPr lang="zh-CN" sz="2000"/>
            </a:lvl7pPr>
            <a:lvl8pPr marL="3200400" indent="0" latinLnBrk="0">
              <a:buNone/>
              <a:defRPr lang="zh-CN" sz="2000"/>
            </a:lvl8pPr>
            <a:lvl9pPr marL="3657600" indent="0" latinLnBrk="0">
              <a:buNone/>
              <a:defRPr lang="zh-CN" sz="2000"/>
            </a:lvl9pPr>
          </a:lstStyle>
          <a:p>
            <a:r>
              <a:rPr lang="zh-CN" altLang="en-US"/>
              <a:t>单击图标添加图片</a:t>
            </a:r>
            <a:endParaRPr lang="zh-CN" dirty="0"/>
          </a:p>
        </p:txBody>
      </p:sp>
      <p:cxnSp>
        <p:nvCxnSpPr>
          <p:cNvPr id="59" name="直线连接线 58"/>
          <p:cNvCxnSpPr/>
          <p:nvPr/>
        </p:nvCxnSpPr>
        <p:spPr>
          <a:xfrm>
            <a:off x="5942317" y="2895600"/>
            <a:ext cx="274448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5932170" y="576072"/>
            <a:ext cx="2743200" cy="2194560"/>
          </a:xfrm>
        </p:spPr>
        <p:txBody>
          <a:bodyPr anchor="b">
            <a:normAutofit/>
          </a:bodyPr>
          <a:lstStyle>
            <a:lvl1pPr latinLnBrk="0">
              <a:defRPr lang="zh-CN" sz="2600">
                <a:solidFill>
                  <a:schemeClr val="bg1"/>
                </a:solidFill>
              </a:defRPr>
            </a:lvl1pPr>
          </a:lstStyle>
          <a:p>
            <a:r>
              <a:rPr lang="zh-CN" altLang="en-US"/>
              <a:t>单击此处编辑母版标题样式</a:t>
            </a:r>
            <a:endParaRPr lang="zh-CN" dirty="0"/>
          </a:p>
        </p:txBody>
      </p:sp>
      <p:sp>
        <p:nvSpPr>
          <p:cNvPr id="4" name="文本占位符 3"/>
          <p:cNvSpPr>
            <a:spLocks noGrp="1"/>
          </p:cNvSpPr>
          <p:nvPr>
            <p:ph type="body" sz="half" idx="2"/>
          </p:nvPr>
        </p:nvSpPr>
        <p:spPr>
          <a:xfrm>
            <a:off x="5932170" y="2999232"/>
            <a:ext cx="2743200" cy="2286000"/>
          </a:xfrm>
        </p:spPr>
        <p:txBody>
          <a:bodyPr/>
          <a:lstStyle>
            <a:lvl1pPr marL="0" indent="0" latinLnBrk="0">
              <a:spcBef>
                <a:spcPts val="1200"/>
              </a:spcBef>
              <a:buNone/>
              <a:defRPr lang="zh-CN" sz="1600">
                <a:solidFill>
                  <a:schemeClr val="bg1"/>
                </a:solidFill>
              </a:defRPr>
            </a:lvl1pPr>
            <a:lvl2pPr marL="457200" indent="0" latinLnBrk="0">
              <a:buNone/>
              <a:defRPr lang="zh-CN" sz="1400"/>
            </a:lvl2pPr>
            <a:lvl3pPr marL="914400" indent="0" latinLnBrk="0">
              <a:buNone/>
              <a:defRPr lang="zh-CN" sz="1200"/>
            </a:lvl3pPr>
            <a:lvl4pPr marL="1371600" indent="0" latinLnBrk="0">
              <a:buNone/>
              <a:defRPr lang="zh-CN" sz="1000"/>
            </a:lvl4pPr>
            <a:lvl5pPr marL="1828800" indent="0" latinLnBrk="0">
              <a:buNone/>
              <a:defRPr lang="zh-CN" sz="1000"/>
            </a:lvl5pPr>
            <a:lvl6pPr marL="2286000" indent="0" latinLnBrk="0">
              <a:buNone/>
              <a:defRPr lang="zh-CN" sz="1000"/>
            </a:lvl6pPr>
            <a:lvl7pPr marL="2743200" indent="0" latinLnBrk="0">
              <a:buNone/>
              <a:defRPr lang="zh-CN" sz="1000"/>
            </a:lvl7pPr>
            <a:lvl8pPr marL="3200400" indent="0" latinLnBrk="0">
              <a:buNone/>
              <a:defRPr lang="zh-CN" sz="1000"/>
            </a:lvl8pPr>
            <a:lvl9pPr marL="3657600" indent="0" latinLnBrk="0">
              <a:buNone/>
              <a:defRPr lang="zh-CN" sz="1000"/>
            </a:lvl9pPr>
          </a:lstStyle>
          <a:p>
            <a:pPr lvl="0"/>
            <a:r>
              <a:rPr lang="zh-CN" altLang="en-US"/>
              <a:t>单击此处编辑母版文本样式</a:t>
            </a:r>
          </a:p>
        </p:txBody>
      </p:sp>
    </p:spTree>
    <p:extLst>
      <p:ext uri="{BB962C8B-B14F-4D97-AF65-F5344CB8AC3E}">
        <p14:creationId xmlns:p14="http://schemas.microsoft.com/office/powerpoint/2010/main" val="6203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dirty="0"/>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dirty="0"/>
          </a:p>
        </p:txBody>
      </p:sp>
      <p:sp>
        <p:nvSpPr>
          <p:cNvPr id="4" name="日期占位符 3"/>
          <p:cNvSpPr>
            <a:spLocks noGrp="1"/>
          </p:cNvSpPr>
          <p:nvPr>
            <p:ph type="dt" sz="half" idx="10"/>
          </p:nvPr>
        </p:nvSpPr>
        <p:spPr/>
        <p:txBody>
          <a:bodyPr/>
          <a:lstStyle/>
          <a:p>
            <a:fld id="{3B70A53E-5BDE-449A-8325-0FD352C24776}" type="datetime1">
              <a:rPr lang="zh-CN" altLang="en-US" smtClean="0"/>
              <a:pPr/>
              <a:t>2021/3/2</a:t>
            </a:fld>
            <a:endParaRPr lang="zh-CN"/>
          </a:p>
        </p:txBody>
      </p:sp>
      <p:sp>
        <p:nvSpPr>
          <p:cNvPr id="5" name="页脚占位符 4"/>
          <p:cNvSpPr>
            <a:spLocks noGrp="1"/>
          </p:cNvSpPr>
          <p:nvPr>
            <p:ph type="ftr" sz="quarter" idx="11"/>
          </p:nvPr>
        </p:nvSpPr>
        <p:spPr/>
        <p:txBody>
          <a:bodyPr/>
          <a:lstStyle/>
          <a:p>
            <a:r>
              <a:rPr lang="zh-CN" altLang="en-US"/>
              <a:t>国际金融学 范小云</a:t>
            </a:r>
            <a:endParaRPr lang="zh-CN"/>
          </a:p>
        </p:txBody>
      </p:sp>
      <p:sp>
        <p:nvSpPr>
          <p:cNvPr id="6" name="幻灯片编号占位符 5"/>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06985" y="489857"/>
            <a:ext cx="1265465" cy="5301343"/>
          </a:xfrm>
        </p:spPr>
        <p:txBody>
          <a:bodyPr vert="eaVert"/>
          <a:lstStyle/>
          <a:p>
            <a:r>
              <a:rPr lang="zh-CN" altLang="en-US"/>
              <a:t>单击此处编辑母版标题样式</a:t>
            </a:r>
            <a:endParaRPr lang="zh-CN" dirty="0"/>
          </a:p>
        </p:txBody>
      </p:sp>
      <p:sp>
        <p:nvSpPr>
          <p:cNvPr id="3" name="竖排文字占位符 2"/>
          <p:cNvSpPr>
            <a:spLocks noGrp="1"/>
          </p:cNvSpPr>
          <p:nvPr>
            <p:ph type="body" orient="vert" idx="1"/>
          </p:nvPr>
        </p:nvSpPr>
        <p:spPr>
          <a:xfrm>
            <a:off x="971549" y="489857"/>
            <a:ext cx="5690508" cy="530134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dirty="0"/>
          </a:p>
        </p:txBody>
      </p:sp>
      <p:sp>
        <p:nvSpPr>
          <p:cNvPr id="4" name="日期占位符 3"/>
          <p:cNvSpPr>
            <a:spLocks noGrp="1"/>
          </p:cNvSpPr>
          <p:nvPr>
            <p:ph type="dt" sz="half" idx="10"/>
          </p:nvPr>
        </p:nvSpPr>
        <p:spPr/>
        <p:txBody>
          <a:bodyPr/>
          <a:lstStyle/>
          <a:p>
            <a:fld id="{27B70614-4D03-45B4-BA67-24D892EC8565}" type="datetime1">
              <a:rPr lang="zh-CN" altLang="en-US" smtClean="0"/>
              <a:pPr/>
              <a:t>2021/3/2</a:t>
            </a:fld>
            <a:endParaRPr lang="zh-CN"/>
          </a:p>
        </p:txBody>
      </p:sp>
      <p:sp>
        <p:nvSpPr>
          <p:cNvPr id="5" name="页脚占位符 4"/>
          <p:cNvSpPr>
            <a:spLocks noGrp="1"/>
          </p:cNvSpPr>
          <p:nvPr>
            <p:ph type="ftr" sz="quarter" idx="11"/>
          </p:nvPr>
        </p:nvSpPr>
        <p:spPr/>
        <p:txBody>
          <a:bodyPr/>
          <a:lstStyle/>
          <a:p>
            <a:r>
              <a:rPr lang="zh-CN" altLang="en-US"/>
              <a:t>国际金融学 范小云</a:t>
            </a:r>
            <a:endParaRPr lang="zh-CN"/>
          </a:p>
        </p:txBody>
      </p:sp>
      <p:sp>
        <p:nvSpPr>
          <p:cNvPr id="6" name="幻灯片编号占位符 5"/>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971550" y="503854"/>
            <a:ext cx="7200900" cy="1142385"/>
          </a:xfrm>
          <a:prstGeom prst="rect">
            <a:avLst/>
          </a:prstGeom>
        </p:spPr>
        <p:txBody>
          <a:bodyPr vert="horz" lIns="91440" tIns="45720" rIns="91440" bIns="45720" rtlCol="0" anchor="b">
            <a:normAutofit/>
          </a:bodyPr>
          <a:lstStyle/>
          <a:p>
            <a:r>
              <a:rPr lang="zh-CN" dirty="0"/>
              <a:t>单击此处编辑母版标题样式</a:t>
            </a:r>
          </a:p>
        </p:txBody>
      </p:sp>
      <p:sp>
        <p:nvSpPr>
          <p:cNvPr id="3" name="文本占位符 2"/>
          <p:cNvSpPr>
            <a:spLocks noGrp="1"/>
          </p:cNvSpPr>
          <p:nvPr>
            <p:ph type="body" idx="1"/>
          </p:nvPr>
        </p:nvSpPr>
        <p:spPr>
          <a:xfrm>
            <a:off x="971550" y="1981202"/>
            <a:ext cx="7200900" cy="3809999"/>
          </a:xfrm>
          <a:prstGeom prst="rect">
            <a:avLst/>
          </a:prstGeom>
        </p:spPr>
        <p:txBody>
          <a:bodyPr vert="horz" lIns="91440" tIns="45720" rIns="91440" bIns="45720" rtlCol="0">
            <a:normAutofit/>
          </a:bodyPr>
          <a:lstStyle/>
          <a:p>
            <a:pPr lvl="0"/>
            <a:r>
              <a:rPr lang="zh-CN" dirty="0"/>
              <a:t>单击此处编辑母版文本样式</a:t>
            </a:r>
          </a:p>
          <a:p>
            <a:pPr lvl="1"/>
            <a:r>
              <a:rPr lang="zh-CN" dirty="0"/>
              <a:t>第二级</a:t>
            </a:r>
          </a:p>
          <a:p>
            <a:pPr lvl="2"/>
            <a:r>
              <a:rPr lang="zh-CN" dirty="0"/>
              <a:t>第三级</a:t>
            </a:r>
          </a:p>
          <a:p>
            <a:pPr lvl="3"/>
            <a:r>
              <a:rPr lang="zh-CN" dirty="0"/>
              <a:t>第四级</a:t>
            </a:r>
          </a:p>
          <a:p>
            <a:pPr lvl="4"/>
            <a:r>
              <a:rPr lang="zh-CN" dirty="0"/>
              <a:t>第五级</a:t>
            </a:r>
          </a:p>
        </p:txBody>
      </p:sp>
      <p:sp>
        <p:nvSpPr>
          <p:cNvPr id="4" name="日期占位符 3"/>
          <p:cNvSpPr>
            <a:spLocks noGrp="1"/>
          </p:cNvSpPr>
          <p:nvPr>
            <p:ph type="dt" sz="half" idx="2"/>
          </p:nvPr>
        </p:nvSpPr>
        <p:spPr>
          <a:xfrm>
            <a:off x="6970531" y="6289679"/>
            <a:ext cx="724460" cy="222436"/>
          </a:xfrm>
          <a:prstGeom prst="rect">
            <a:avLst/>
          </a:prstGeom>
        </p:spPr>
        <p:txBody>
          <a:bodyPr vert="horz" lIns="91440" tIns="45720" rIns="91440" bIns="45720" rtlCol="0" anchor="ctr"/>
          <a:lstStyle>
            <a:lvl1pPr algn="r" latinLnBrk="0">
              <a:defRPr lang="zh-CN" sz="800">
                <a:solidFill>
                  <a:schemeClr val="tx1">
                    <a:lumMod val="50000"/>
                    <a:lumOff val="50000"/>
                  </a:schemeClr>
                </a:solidFill>
                <a:ea typeface="Microsoft YaHei UI" panose="020B0503020204020204" pitchFamily="34" charset="-122"/>
              </a:defRPr>
            </a:lvl1pPr>
          </a:lstStyle>
          <a:p>
            <a:fld id="{27321F5A-E3A2-4B01-A540-357B93D3E2B1}" type="datetime1">
              <a:rPr lang="zh-CN" altLang="en-US" smtClean="0"/>
              <a:pPr/>
              <a:t>2021/3/2</a:t>
            </a:fld>
            <a:endParaRPr lang="zh-CN" altLang="en-US" dirty="0"/>
          </a:p>
        </p:txBody>
      </p:sp>
      <p:sp>
        <p:nvSpPr>
          <p:cNvPr id="5" name="页脚占位符 4"/>
          <p:cNvSpPr>
            <a:spLocks noGrp="1"/>
          </p:cNvSpPr>
          <p:nvPr>
            <p:ph type="ftr" sz="quarter" idx="3"/>
          </p:nvPr>
        </p:nvSpPr>
        <p:spPr>
          <a:xfrm>
            <a:off x="457201" y="6289679"/>
            <a:ext cx="4596023" cy="222436"/>
          </a:xfrm>
          <a:prstGeom prst="rect">
            <a:avLst/>
          </a:prstGeom>
        </p:spPr>
        <p:txBody>
          <a:bodyPr vert="horz" lIns="91440" tIns="45720" rIns="91440" bIns="45720" rtlCol="0" anchor="ctr"/>
          <a:lstStyle>
            <a:lvl1pPr algn="l" latinLnBrk="0">
              <a:defRPr lang="zh-CN" sz="800">
                <a:solidFill>
                  <a:schemeClr val="tx1">
                    <a:lumMod val="50000"/>
                    <a:lumOff val="50000"/>
                  </a:schemeClr>
                </a:solidFill>
                <a:ea typeface="Microsoft YaHei UI" panose="020B0503020204020204" pitchFamily="34" charset="-122"/>
              </a:defRPr>
            </a:lvl1pPr>
          </a:lstStyle>
          <a:p>
            <a:r>
              <a:rPr lang="zh-CN" altLang="en-US"/>
              <a:t>国际金融学 范小云</a:t>
            </a:r>
            <a:endParaRPr lang="zh-CN" altLang="en-US" dirty="0"/>
          </a:p>
        </p:txBody>
      </p:sp>
      <p:sp>
        <p:nvSpPr>
          <p:cNvPr id="6" name="幻灯片编号占位符 5"/>
          <p:cNvSpPr>
            <a:spLocks noGrp="1"/>
          </p:cNvSpPr>
          <p:nvPr>
            <p:ph type="sldNum" sz="quarter" idx="4"/>
          </p:nvPr>
        </p:nvSpPr>
        <p:spPr>
          <a:xfrm>
            <a:off x="7998983" y="6289679"/>
            <a:ext cx="689162" cy="222436"/>
          </a:xfrm>
          <a:prstGeom prst="rect">
            <a:avLst/>
          </a:prstGeom>
        </p:spPr>
        <p:txBody>
          <a:bodyPr vert="horz" lIns="91440" tIns="45720" rIns="91440" bIns="45720" rtlCol="0" anchor="ctr"/>
          <a:lstStyle>
            <a:lvl1pPr algn="r" latinLnBrk="0">
              <a:defRPr lang="zh-CN" sz="800">
                <a:solidFill>
                  <a:schemeClr val="tx1">
                    <a:lumMod val="50000"/>
                    <a:lumOff val="50000"/>
                  </a:schemeClr>
                </a:solidFill>
                <a:ea typeface="Microsoft YaHei UI" panose="020B0503020204020204" pitchFamily="34" charset="-122"/>
              </a:defRPr>
            </a:lvl1pPr>
          </a:lstStyle>
          <a:p>
            <a:fld id="{E31375A4-56A4-47D6-9801-1991572033F7}" type="slidenum">
              <a:rPr lang="en-US" altLang="zh-CN" smtClean="0"/>
              <a:pPr/>
              <a:t>‹#›</a:t>
            </a:fld>
            <a:endParaRPr lang="en-US" altLang="zh-CN" dirty="0"/>
          </a:p>
        </p:txBody>
      </p:sp>
      <p:cxnSp>
        <p:nvCxnSpPr>
          <p:cNvPr id="148" name="直线连接线 147"/>
          <p:cNvCxnSpPr/>
          <p:nvPr userDrawn="1"/>
        </p:nvCxnSpPr>
        <p:spPr>
          <a:xfrm>
            <a:off x="457200" y="6172200"/>
            <a:ext cx="82296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9"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l" defTabSz="914400" rtl="0" eaLnBrk="1" latinLnBrk="0" hangingPunct="1">
        <a:lnSpc>
          <a:spcPct val="90000"/>
        </a:lnSpc>
        <a:spcBef>
          <a:spcPct val="0"/>
        </a:spcBef>
        <a:buNone/>
        <a:defRPr lang="zh-CN" sz="3200" b="1" kern="1200">
          <a:solidFill>
            <a:schemeClr val="accent1"/>
          </a:solidFill>
          <a:latin typeface="+mj-lt"/>
          <a:ea typeface="Microsoft YaHei UI" panose="020B0503020204020204" pitchFamily="34" charset="-122"/>
          <a:cs typeface="+mj-cs"/>
        </a:defRPr>
      </a:lvl1pPr>
    </p:titleStyle>
    <p:bodyStyle>
      <a:lvl1pPr marL="228600" indent="-228600" algn="l" defTabSz="914400" rtl="0" eaLnBrk="1" latinLnBrk="0" hangingPunct="1">
        <a:lnSpc>
          <a:spcPct val="90000"/>
        </a:lnSpc>
        <a:spcBef>
          <a:spcPts val="1800"/>
        </a:spcBef>
        <a:buClr>
          <a:schemeClr val="accent1"/>
        </a:buClr>
        <a:buSzPct val="100000"/>
        <a:buFont typeface="Arial" pitchFamily="34" charset="0"/>
        <a:buChar char="▪"/>
        <a:defRPr lang="zh-CN" sz="2000" kern="1200">
          <a:solidFill>
            <a:schemeClr val="tx1"/>
          </a:solidFill>
          <a:latin typeface="+mn-lt"/>
          <a:ea typeface="Microsoft YaHei UI" panose="020B0503020204020204" pitchFamily="34" charset="-122"/>
          <a:cs typeface="+mn-cs"/>
        </a:defRPr>
      </a:lvl1pPr>
      <a:lvl2pPr marL="457200" indent="-182880" algn="l" defTabSz="914400" rtl="0" eaLnBrk="1" latinLnBrk="0" hangingPunct="1">
        <a:lnSpc>
          <a:spcPct val="90000"/>
        </a:lnSpc>
        <a:spcBef>
          <a:spcPts val="1200"/>
        </a:spcBef>
        <a:buClr>
          <a:schemeClr val="accent1"/>
        </a:buClr>
        <a:buSzPct val="100000"/>
        <a:buFont typeface="Arial" pitchFamily="34" charset="0"/>
        <a:buChar char="▪"/>
        <a:defRPr lang="zh-CN" sz="1800" kern="1200">
          <a:solidFill>
            <a:schemeClr val="tx1"/>
          </a:solidFill>
          <a:latin typeface="+mn-lt"/>
          <a:ea typeface="Microsoft YaHei UI" panose="020B0503020204020204" pitchFamily="34" charset="-122"/>
          <a:cs typeface="+mn-cs"/>
        </a:defRPr>
      </a:lvl2pPr>
      <a:lvl3pPr marL="685800" indent="-179388" algn="l" defTabSz="914400" rtl="0" eaLnBrk="1" latinLnBrk="0" hangingPunct="1">
        <a:lnSpc>
          <a:spcPct val="90000"/>
        </a:lnSpc>
        <a:spcBef>
          <a:spcPts val="800"/>
        </a:spcBef>
        <a:buClr>
          <a:schemeClr val="accent1"/>
        </a:buClr>
        <a:buSzPct val="100000"/>
        <a:buFont typeface="Arial" pitchFamily="34" charset="0"/>
        <a:buChar char="▪"/>
        <a:defRPr lang="zh-CN" sz="1600" kern="1200">
          <a:solidFill>
            <a:schemeClr val="tx1"/>
          </a:solidFill>
          <a:latin typeface="+mn-lt"/>
          <a:ea typeface="Microsoft YaHei UI" panose="020B0503020204020204" pitchFamily="34" charset="-122"/>
          <a:cs typeface="+mn-cs"/>
        </a:defRPr>
      </a:lvl3pPr>
      <a:lvl4pPr marL="914400" indent="-182880" algn="l" defTabSz="914400" rtl="0" eaLnBrk="1" latinLnBrk="0" hangingPunct="1">
        <a:lnSpc>
          <a:spcPct val="90000"/>
        </a:lnSpc>
        <a:spcBef>
          <a:spcPts val="800"/>
        </a:spcBef>
        <a:buClr>
          <a:schemeClr val="accent1"/>
        </a:buClr>
        <a:buSzPct val="100000"/>
        <a:buFont typeface="Arial" pitchFamily="34" charset="0"/>
        <a:buChar char="▪"/>
        <a:defRPr lang="zh-CN" sz="1400" kern="1200">
          <a:solidFill>
            <a:schemeClr val="tx1"/>
          </a:solidFill>
          <a:latin typeface="+mn-lt"/>
          <a:ea typeface="Microsoft YaHei UI" panose="020B0503020204020204" pitchFamily="34" charset="-122"/>
          <a:cs typeface="+mn-cs"/>
        </a:defRPr>
      </a:lvl4pPr>
      <a:lvl5pPr marL="1143000" indent="-179388"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icrosoft YaHei UI" panose="020B0503020204020204" pitchFamily="34" charset="-122"/>
          <a:cs typeface="+mn-cs"/>
        </a:defRPr>
      </a:lvl5pPr>
      <a:lvl6pPr marL="1371600" indent="-182880"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8pPr>
      <a:lvl9pPr marL="2057400" indent="-179388"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9pPr>
    </p:bodyStyle>
    <p:otherStyle>
      <a:defPPr>
        <a:defRPr lang="zh-CN"/>
      </a:defPPr>
      <a:lvl1pPr marL="0" algn="l" defTabSz="914400" rtl="0" eaLnBrk="1" latinLnBrk="0" hangingPunct="1">
        <a:defRPr lang="zh-CN" sz="1800" kern="1200">
          <a:solidFill>
            <a:schemeClr val="tx1"/>
          </a:solidFill>
          <a:latin typeface="+mn-lt"/>
          <a:ea typeface="+mn-ea"/>
          <a:cs typeface="+mn-cs"/>
        </a:defRPr>
      </a:lvl1pPr>
      <a:lvl2pPr marL="457200" algn="l" defTabSz="914400" rtl="0" eaLnBrk="1" latinLnBrk="0" hangingPunct="1">
        <a:defRPr lang="zh-CN" sz="1800" kern="1200">
          <a:solidFill>
            <a:schemeClr val="tx1"/>
          </a:solidFill>
          <a:latin typeface="+mn-lt"/>
          <a:ea typeface="+mn-ea"/>
          <a:cs typeface="+mn-cs"/>
        </a:defRPr>
      </a:lvl2pPr>
      <a:lvl3pPr marL="914400" algn="l" defTabSz="914400" rtl="0" eaLnBrk="1" latinLnBrk="0" hangingPunct="1">
        <a:defRPr lang="zh-CN" sz="1800" kern="1200">
          <a:solidFill>
            <a:schemeClr val="tx1"/>
          </a:solidFill>
          <a:latin typeface="+mn-lt"/>
          <a:ea typeface="+mn-ea"/>
          <a:cs typeface="+mn-cs"/>
        </a:defRPr>
      </a:lvl3pPr>
      <a:lvl4pPr marL="1371600" algn="l" defTabSz="914400" rtl="0" eaLnBrk="1" latinLnBrk="0" hangingPunct="1">
        <a:defRPr lang="zh-CN" sz="1800" kern="1200">
          <a:solidFill>
            <a:schemeClr val="tx1"/>
          </a:solidFill>
          <a:latin typeface="+mn-lt"/>
          <a:ea typeface="+mn-ea"/>
          <a:cs typeface="+mn-cs"/>
        </a:defRPr>
      </a:lvl4pPr>
      <a:lvl5pPr marL="1828800" algn="l" defTabSz="914400" rtl="0" eaLnBrk="1" latinLnBrk="0" hangingPunct="1">
        <a:defRPr lang="zh-CN" sz="1800" kern="1200">
          <a:solidFill>
            <a:schemeClr val="tx1"/>
          </a:solidFill>
          <a:latin typeface="+mn-lt"/>
          <a:ea typeface="+mn-ea"/>
          <a:cs typeface="+mn-cs"/>
        </a:defRPr>
      </a:lvl5pPr>
      <a:lvl6pPr marL="2286000" algn="l" defTabSz="914400" rtl="0" eaLnBrk="1" latinLnBrk="0" hangingPunct="1">
        <a:defRPr lang="zh-CN" sz="1800" kern="1200">
          <a:solidFill>
            <a:schemeClr val="tx1"/>
          </a:solidFill>
          <a:latin typeface="+mn-lt"/>
          <a:ea typeface="+mn-ea"/>
          <a:cs typeface="+mn-cs"/>
        </a:defRPr>
      </a:lvl6pPr>
      <a:lvl7pPr marL="2743200" algn="l" defTabSz="914400" rtl="0" eaLnBrk="1" latinLnBrk="0" hangingPunct="1">
        <a:defRPr lang="zh-CN" sz="1800" kern="1200">
          <a:solidFill>
            <a:schemeClr val="tx1"/>
          </a:solidFill>
          <a:latin typeface="+mn-lt"/>
          <a:ea typeface="+mn-ea"/>
          <a:cs typeface="+mn-cs"/>
        </a:defRPr>
      </a:lvl7pPr>
      <a:lvl8pPr marL="3200400" algn="l" defTabSz="914400" rtl="0" eaLnBrk="1" latinLnBrk="0" hangingPunct="1">
        <a:defRPr lang="zh-CN" sz="1800" kern="1200">
          <a:solidFill>
            <a:schemeClr val="tx1"/>
          </a:solidFill>
          <a:latin typeface="+mn-lt"/>
          <a:ea typeface="+mn-ea"/>
          <a:cs typeface="+mn-cs"/>
        </a:defRPr>
      </a:lvl8pPr>
      <a:lvl9pPr marL="3657600" algn="l" defTabSz="914400" rtl="0" eaLnBrk="1" latinLnBrk="0" hangingPunct="1">
        <a:defRPr lang="zh-CN"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16155" y="1639229"/>
            <a:ext cx="7200900" cy="1817649"/>
          </a:xfrm>
        </p:spPr>
        <p:txBody>
          <a:bodyPr>
            <a:noAutofit/>
          </a:bodyPr>
          <a:lstStyle/>
          <a:p>
            <a:pPr algn="ctr">
              <a:lnSpc>
                <a:spcPct val="100000"/>
              </a:lnSpc>
            </a:pPr>
            <a:r>
              <a:rPr lang="zh-CN" altLang="en-US" sz="4000" dirty="0">
                <a:latin typeface="微软雅黑" panose="020B0503020204020204" pitchFamily="34" charset="-122"/>
                <a:ea typeface="微软雅黑" panose="020B0503020204020204" pitchFamily="34" charset="-122"/>
              </a:rPr>
              <a:t>第一部分</a:t>
            </a:r>
            <a:br>
              <a:rPr lang="en-US" altLang="zh-CN" sz="4000" dirty="0">
                <a:latin typeface="微软雅黑" panose="020B0503020204020204" pitchFamily="34" charset="-122"/>
                <a:ea typeface="微软雅黑" panose="020B0503020204020204" pitchFamily="34" charset="-122"/>
              </a:rPr>
            </a:br>
            <a:r>
              <a:rPr lang="zh-CN" altLang="en-US" sz="4000" dirty="0">
                <a:latin typeface="微软雅黑" panose="020B0503020204020204" pitchFamily="34" charset="-122"/>
                <a:ea typeface="微软雅黑" panose="020B0503020204020204" pitchFamily="34" charset="-122"/>
              </a:rPr>
              <a:t>国 际 </a:t>
            </a:r>
            <a:r>
              <a:rPr altLang="en-US" sz="4000" dirty="0">
                <a:latin typeface="微软雅黑" panose="020B0503020204020204" pitchFamily="34" charset="-122"/>
                <a:ea typeface="微软雅黑" panose="020B0503020204020204" pitchFamily="34" charset="-122"/>
              </a:rPr>
              <a:t>账 户</a:t>
            </a:r>
            <a:endParaRPr lang="zh-CN" altLang="en-US" sz="4000"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11"/>
          </p:nvPr>
        </p:nvSpPr>
        <p:spPr/>
        <p:txBody>
          <a:bodyPr/>
          <a:lstStyle/>
          <a:p>
            <a:pPr lvl="0"/>
            <a:r>
              <a:rPr lang="zh-CN" altLang="en-US" sz="1600" dirty="0">
                <a:solidFill>
                  <a:srgbClr val="1CADE4"/>
                </a:solidFill>
                <a:latin typeface="微软雅黑" panose="020B0503020204020204" pitchFamily="34" charset="-122"/>
                <a:ea typeface="微软雅黑" panose="020B0503020204020204" pitchFamily="34" charset="-122"/>
              </a:rPr>
              <a:t>国际金融学 范小云</a:t>
            </a:r>
          </a:p>
        </p:txBody>
      </p:sp>
    </p:spTree>
    <p:extLst>
      <p:ext uri="{BB962C8B-B14F-4D97-AF65-F5344CB8AC3E}">
        <p14:creationId xmlns:p14="http://schemas.microsoft.com/office/powerpoint/2010/main" val="510345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a:t>
            </a:r>
            <a:r>
              <a:rPr lang="en-US" altLang="zh-CN" dirty="0"/>
              <a:t>	</a:t>
            </a:r>
            <a:r>
              <a:rPr lang="zh-CN" altLang="en-US" dirty="0"/>
              <a:t>国际收支的概念</a:t>
            </a:r>
            <a:endParaRPr lang="zh-CN" dirty="0"/>
          </a:p>
        </p:txBody>
      </p:sp>
      <p:sp>
        <p:nvSpPr>
          <p:cNvPr id="3" name="内容占位符 2"/>
          <p:cNvSpPr>
            <a:spLocks noGrp="1"/>
          </p:cNvSpPr>
          <p:nvPr>
            <p:ph idx="1"/>
          </p:nvPr>
        </p:nvSpPr>
        <p:spPr/>
        <p:txBody>
          <a:bodyPr>
            <a:normAutofit/>
          </a:bodyPr>
          <a:lstStyle/>
          <a:p>
            <a:pPr marL="0" indent="0">
              <a:lnSpc>
                <a:spcPct val="100000"/>
              </a:lnSpc>
              <a:buNone/>
            </a:pPr>
            <a:r>
              <a:rPr lang="en-US" altLang="zh-CN" sz="2800" dirty="0"/>
              <a:t>       </a:t>
            </a:r>
            <a:r>
              <a:rPr lang="zh-CN" altLang="en-US" sz="2400" b="1" dirty="0">
                <a:latin typeface="楷体" pitchFamily="49" charset="-122"/>
                <a:ea typeface="楷体" pitchFamily="49" charset="-122"/>
              </a:rPr>
              <a:t>据国际货币基金组织（</a:t>
            </a:r>
            <a:r>
              <a:rPr lang="en-US" altLang="zh-CN" sz="2400" b="1" dirty="0">
                <a:latin typeface="楷体" pitchFamily="49" charset="-122"/>
                <a:ea typeface="楷体" pitchFamily="49" charset="-122"/>
              </a:rPr>
              <a:t>IMF</a:t>
            </a:r>
            <a:r>
              <a:rPr lang="zh-CN" altLang="en-US" sz="2400" b="1" dirty="0">
                <a:latin typeface="楷体" pitchFamily="49" charset="-122"/>
                <a:ea typeface="楷体" pitchFamily="49" charset="-122"/>
              </a:rPr>
              <a:t>）的解释，国际收支（</a:t>
            </a:r>
            <a:r>
              <a:rPr lang="en-US" altLang="zh-CN" sz="2400" b="1" dirty="0">
                <a:latin typeface="楷体" pitchFamily="49" charset="-122"/>
                <a:ea typeface="楷体" pitchFamily="49" charset="-122"/>
              </a:rPr>
              <a:t>Balance of Payments</a:t>
            </a:r>
            <a:r>
              <a:rPr lang="zh-CN" altLang="en-US" sz="2400" b="1" dirty="0">
                <a:latin typeface="楷体" pitchFamily="49" charset="-122"/>
                <a:ea typeface="楷体" pitchFamily="49" charset="-122"/>
              </a:rPr>
              <a:t>）是指一国（或地区）的</a:t>
            </a:r>
            <a:r>
              <a:rPr lang="zh-CN" altLang="en-US" sz="2400" b="1" dirty="0">
                <a:solidFill>
                  <a:schemeClr val="accent1"/>
                </a:solidFill>
                <a:latin typeface="楷体" pitchFamily="49" charset="-122"/>
                <a:ea typeface="楷体" pitchFamily="49" charset="-122"/>
              </a:rPr>
              <a:t>居民</a:t>
            </a:r>
            <a:r>
              <a:rPr lang="zh-CN" altLang="en-US" sz="2400" b="1" dirty="0">
                <a:latin typeface="楷体" pitchFamily="49" charset="-122"/>
                <a:ea typeface="楷体" pitchFamily="49" charset="-122"/>
              </a:rPr>
              <a:t>在</a:t>
            </a:r>
            <a:r>
              <a:rPr lang="zh-CN" altLang="en-US" sz="2400" b="1" dirty="0">
                <a:solidFill>
                  <a:schemeClr val="accent1"/>
                </a:solidFill>
                <a:latin typeface="楷体" pitchFamily="49" charset="-122"/>
                <a:ea typeface="楷体" pitchFamily="49" charset="-122"/>
              </a:rPr>
              <a:t>一定时期</a:t>
            </a:r>
            <a:r>
              <a:rPr lang="zh-CN" altLang="en-US" sz="2400" b="1" dirty="0">
                <a:latin typeface="楷体" pitchFamily="49" charset="-122"/>
                <a:ea typeface="楷体" pitchFamily="49" charset="-122"/>
              </a:rPr>
              <a:t>内（一年、一季、一月）与非居民之间的</a:t>
            </a:r>
            <a:r>
              <a:rPr lang="zh-CN" altLang="en-US" sz="2400" b="1" dirty="0">
                <a:solidFill>
                  <a:schemeClr val="accent1"/>
                </a:solidFill>
                <a:latin typeface="楷体" pitchFamily="49" charset="-122"/>
                <a:ea typeface="楷体" pitchFamily="49" charset="-122"/>
              </a:rPr>
              <a:t>经济交易</a:t>
            </a:r>
            <a:r>
              <a:rPr lang="zh-CN" altLang="en-US" sz="2400" b="1" dirty="0">
                <a:latin typeface="楷体" pitchFamily="49" charset="-122"/>
                <a:ea typeface="楷体" pitchFamily="49" charset="-122"/>
              </a:rPr>
              <a:t>的系统记录。</a:t>
            </a:r>
            <a:endParaRPr lang="en-US" altLang="zh-CN" sz="2400" b="1" dirty="0">
              <a:latin typeface="楷体" pitchFamily="49" charset="-122"/>
              <a:ea typeface="楷体" pitchFamily="49" charset="-122"/>
            </a:endParaRPr>
          </a:p>
          <a:p>
            <a:pPr marL="0" indent="0">
              <a:lnSpc>
                <a:spcPct val="100000"/>
              </a:lnSpc>
              <a:buNone/>
            </a:pPr>
            <a:endParaRPr lang="en-US" altLang="zh-CN" sz="2400" dirty="0"/>
          </a:p>
          <a:p>
            <a:pPr marL="0" indent="0">
              <a:lnSpc>
                <a:spcPct val="100000"/>
              </a:lnSpc>
              <a:buNone/>
            </a:pPr>
            <a:r>
              <a:rPr lang="en-US" altLang="zh-CN" sz="2400" b="1" dirty="0">
                <a:latin typeface="楷体" pitchFamily="49" charset="-122"/>
                <a:ea typeface="楷体" pitchFamily="49" charset="-122"/>
              </a:rPr>
              <a:t>1</a:t>
            </a:r>
            <a:r>
              <a:rPr lang="zh-CN" altLang="en-US" sz="2400" b="1" dirty="0">
                <a:latin typeface="楷体" pitchFamily="49" charset="-122"/>
                <a:ea typeface="楷体" pitchFamily="49" charset="-122"/>
              </a:rPr>
              <a:t>、</a:t>
            </a:r>
            <a:r>
              <a:rPr lang="zh-CN" altLang="en-US" sz="2400" b="1" dirty="0">
                <a:solidFill>
                  <a:srgbClr val="C00000"/>
                </a:solidFill>
                <a:latin typeface="楷体" pitchFamily="49" charset="-122"/>
                <a:ea typeface="楷体" pitchFamily="49" charset="-122"/>
              </a:rPr>
              <a:t>居民与非居民</a:t>
            </a:r>
            <a:r>
              <a:rPr lang="zh-CN" altLang="en-US" sz="2400" b="1" dirty="0">
                <a:latin typeface="楷体" pitchFamily="49" charset="-122"/>
                <a:ea typeface="楷体" pitchFamily="49" charset="-122"/>
              </a:rPr>
              <a:t>的概念：是一个经济概念，包括自然人居民和法人居民。</a:t>
            </a:r>
          </a:p>
          <a:p>
            <a:pPr marL="0" indent="0">
              <a:lnSpc>
                <a:spcPct val="100000"/>
              </a:lnSpc>
              <a:buNone/>
            </a:pPr>
            <a:r>
              <a:rPr lang="en-US" altLang="zh-CN" sz="2400" b="1" dirty="0">
                <a:latin typeface="楷体" pitchFamily="49" charset="-122"/>
                <a:ea typeface="楷体" pitchFamily="49" charset="-122"/>
              </a:rPr>
              <a:t>2</a:t>
            </a:r>
            <a:r>
              <a:rPr lang="zh-CN" altLang="en-US" sz="2400" b="1" dirty="0">
                <a:latin typeface="楷体" pitchFamily="49" charset="-122"/>
                <a:ea typeface="楷体" pitchFamily="49" charset="-122"/>
              </a:rPr>
              <a:t>、国际收支是一个</a:t>
            </a:r>
            <a:r>
              <a:rPr lang="zh-CN" altLang="en-US" sz="2400" b="1" dirty="0">
                <a:solidFill>
                  <a:srgbClr val="C00000"/>
                </a:solidFill>
                <a:latin typeface="楷体" pitchFamily="49" charset="-122"/>
                <a:ea typeface="楷体" pitchFamily="49" charset="-122"/>
              </a:rPr>
              <a:t>流量</a:t>
            </a:r>
            <a:r>
              <a:rPr lang="zh-CN" altLang="en-US" sz="2400" b="1" dirty="0">
                <a:latin typeface="楷体" pitchFamily="49" charset="-122"/>
                <a:ea typeface="楷体" pitchFamily="49" charset="-122"/>
              </a:rPr>
              <a:t>概念</a:t>
            </a:r>
          </a:p>
          <a:p>
            <a:pPr marL="0" indent="0">
              <a:lnSpc>
                <a:spcPct val="100000"/>
              </a:lnSpc>
              <a:buNone/>
            </a:pPr>
            <a:endParaRPr lang="zh-CN" altLang="en-US" sz="2800" dirty="0"/>
          </a:p>
          <a:p>
            <a:pPr marL="0" indent="0">
              <a:lnSpc>
                <a:spcPct val="100000"/>
              </a:lnSpc>
              <a:buNone/>
            </a:pPr>
            <a:endParaRPr lang="zh-CN" altLang="en-US" sz="2800" dirty="0"/>
          </a:p>
        </p:txBody>
      </p:sp>
      <p:sp>
        <p:nvSpPr>
          <p:cNvPr id="5" name="页脚占位符 4"/>
          <p:cNvSpPr>
            <a:spLocks noGrp="1"/>
          </p:cNvSpPr>
          <p:nvPr>
            <p:ph type="ftr" sz="quarter" idx="11"/>
          </p:nvPr>
        </p:nvSpPr>
        <p:spPr/>
        <p:txBody>
          <a:bodyPr/>
          <a:lstStyle/>
          <a:p>
            <a:r>
              <a:rPr lang="zh-CN" altLang="en-US"/>
              <a:t>国际金融学 范小云</a:t>
            </a:r>
            <a:endParaRPr lang="zh-CN" altLang="en-US" dirty="0"/>
          </a:p>
        </p:txBody>
      </p:sp>
    </p:spTree>
    <p:extLst>
      <p:ext uri="{BB962C8B-B14F-4D97-AF65-F5344CB8AC3E}">
        <p14:creationId xmlns:p14="http://schemas.microsoft.com/office/powerpoint/2010/main" val="3858406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a:t>
            </a:r>
            <a:r>
              <a:rPr lang="en-US" altLang="zh-CN" dirty="0"/>
              <a:t>	</a:t>
            </a:r>
            <a:r>
              <a:rPr lang="zh-CN" altLang="en-US" dirty="0"/>
              <a:t>国际收支的概念</a:t>
            </a:r>
            <a:endParaRPr lang="zh-CN" dirty="0"/>
          </a:p>
        </p:txBody>
      </p:sp>
      <p:sp>
        <p:nvSpPr>
          <p:cNvPr id="3" name="内容占位符 2"/>
          <p:cNvSpPr>
            <a:spLocks noGrp="1"/>
          </p:cNvSpPr>
          <p:nvPr>
            <p:ph idx="1"/>
          </p:nvPr>
        </p:nvSpPr>
        <p:spPr>
          <a:xfrm>
            <a:off x="928519" y="1447800"/>
            <a:ext cx="7200900" cy="4559300"/>
          </a:xfrm>
        </p:spPr>
        <p:txBody>
          <a:bodyPr>
            <a:normAutofit/>
          </a:bodyPr>
          <a:lstStyle/>
          <a:p>
            <a:pPr marL="0" indent="0">
              <a:lnSpc>
                <a:spcPct val="100000"/>
              </a:lnSpc>
              <a:buNone/>
            </a:pPr>
            <a:r>
              <a:rPr lang="en-US" altLang="zh-CN" sz="2400" b="1" dirty="0">
                <a:latin typeface="楷体" pitchFamily="49" charset="-122"/>
                <a:ea typeface="楷体" pitchFamily="49" charset="-122"/>
              </a:rPr>
              <a:t>3</a:t>
            </a:r>
            <a:r>
              <a:rPr lang="zh-CN" altLang="en-US" sz="2400" b="1" dirty="0">
                <a:latin typeface="楷体" pitchFamily="49" charset="-122"/>
                <a:ea typeface="楷体" pitchFamily="49" charset="-122"/>
              </a:rPr>
              <a:t>、以</a:t>
            </a:r>
            <a:r>
              <a:rPr lang="zh-CN" altLang="en-US" sz="2400" b="1" dirty="0">
                <a:solidFill>
                  <a:srgbClr val="C00000"/>
                </a:solidFill>
                <a:latin typeface="楷体" pitchFamily="49" charset="-122"/>
                <a:ea typeface="楷体" pitchFamily="49" charset="-122"/>
              </a:rPr>
              <a:t>交易</a:t>
            </a:r>
            <a:r>
              <a:rPr lang="zh-CN" altLang="en-US" sz="2400" b="1" dirty="0">
                <a:latin typeface="楷体" pitchFamily="49" charset="-122"/>
                <a:ea typeface="楷体" pitchFamily="49" charset="-122"/>
              </a:rPr>
              <a:t>为基础，而非支付基础。经济交易的类型包括五类</a:t>
            </a:r>
            <a:endParaRPr lang="en-US" altLang="zh-CN" sz="2400" b="1" dirty="0">
              <a:latin typeface="楷体" pitchFamily="49" charset="-122"/>
              <a:ea typeface="楷体" pitchFamily="49" charset="-122"/>
            </a:endParaRPr>
          </a:p>
          <a:p>
            <a:pPr marL="0" indent="0">
              <a:lnSpc>
                <a:spcPct val="100000"/>
              </a:lnSpc>
              <a:buNone/>
            </a:pPr>
            <a:r>
              <a:rPr lang="en-US" altLang="zh-CN" sz="2400" b="1" dirty="0">
                <a:latin typeface="楷体" pitchFamily="49" charset="-122"/>
                <a:ea typeface="楷体" pitchFamily="49" charset="-122"/>
              </a:rPr>
              <a:t>	</a:t>
            </a:r>
            <a:r>
              <a:rPr lang="zh-CN" altLang="en-US" sz="2400" b="1" dirty="0">
                <a:latin typeface="楷体" pitchFamily="49" charset="-122"/>
                <a:ea typeface="楷体" pitchFamily="49" charset="-122"/>
              </a:rPr>
              <a:t>（</a:t>
            </a:r>
            <a:r>
              <a:rPr lang="en-US" altLang="zh-CN" sz="2400" b="1" dirty="0">
                <a:latin typeface="楷体" pitchFamily="49" charset="-122"/>
                <a:ea typeface="楷体" pitchFamily="49" charset="-122"/>
              </a:rPr>
              <a:t>1</a:t>
            </a:r>
            <a:r>
              <a:rPr lang="zh-CN" altLang="en-US" sz="2400" b="1" dirty="0">
                <a:latin typeface="楷体" pitchFamily="49" charset="-122"/>
                <a:ea typeface="楷体" pitchFamily="49" charset="-122"/>
              </a:rPr>
              <a:t>）</a:t>
            </a:r>
            <a:r>
              <a:rPr lang="zh-CN" altLang="en-US" sz="2400" b="1" u="sng" dirty="0">
                <a:latin typeface="楷体" pitchFamily="49" charset="-122"/>
                <a:ea typeface="楷体" pitchFamily="49" charset="-122"/>
              </a:rPr>
              <a:t>金融资产</a:t>
            </a:r>
            <a:r>
              <a:rPr lang="zh-CN" altLang="en-US" sz="2400" b="1" dirty="0">
                <a:latin typeface="楷体" pitchFamily="49" charset="-122"/>
                <a:ea typeface="楷体" pitchFamily="49" charset="-122"/>
              </a:rPr>
              <a:t>与</a:t>
            </a:r>
            <a:r>
              <a:rPr lang="zh-CN" altLang="en-US" sz="2400" b="1" u="sng" dirty="0">
                <a:latin typeface="楷体" pitchFamily="49" charset="-122"/>
                <a:ea typeface="楷体" pitchFamily="49" charset="-122"/>
              </a:rPr>
              <a:t>商品和劳务</a:t>
            </a:r>
            <a:r>
              <a:rPr lang="zh-CN" altLang="en-US" sz="2400" b="1" dirty="0">
                <a:latin typeface="楷体" pitchFamily="49" charset="-122"/>
                <a:ea typeface="楷体" pitchFamily="49" charset="-122"/>
              </a:rPr>
              <a:t>之间的交换</a:t>
            </a:r>
            <a:endParaRPr lang="en-US" altLang="zh-CN" sz="2400" b="1" dirty="0">
              <a:latin typeface="楷体" pitchFamily="49" charset="-122"/>
              <a:ea typeface="楷体" pitchFamily="49" charset="-122"/>
            </a:endParaRPr>
          </a:p>
          <a:p>
            <a:pPr marL="0" indent="0">
              <a:lnSpc>
                <a:spcPct val="100000"/>
              </a:lnSpc>
              <a:buNone/>
            </a:pPr>
            <a:r>
              <a:rPr lang="en-US" altLang="zh-CN" sz="2400" b="1" dirty="0">
                <a:latin typeface="楷体" pitchFamily="49" charset="-122"/>
                <a:ea typeface="楷体" pitchFamily="49" charset="-122"/>
              </a:rPr>
              <a:t>	</a:t>
            </a:r>
            <a:r>
              <a:rPr lang="zh-CN" altLang="en-US" sz="2400" b="1" dirty="0">
                <a:latin typeface="楷体" pitchFamily="49" charset="-122"/>
                <a:ea typeface="楷体" pitchFamily="49" charset="-122"/>
              </a:rPr>
              <a:t>（</a:t>
            </a:r>
            <a:r>
              <a:rPr lang="en-US" altLang="zh-CN" sz="2400" b="1" dirty="0">
                <a:latin typeface="楷体" pitchFamily="49" charset="-122"/>
                <a:ea typeface="楷体" pitchFamily="49" charset="-122"/>
              </a:rPr>
              <a:t>2</a:t>
            </a:r>
            <a:r>
              <a:rPr lang="zh-CN" altLang="en-US" sz="2400" b="1" dirty="0">
                <a:latin typeface="楷体" pitchFamily="49" charset="-122"/>
                <a:ea typeface="楷体" pitchFamily="49" charset="-122"/>
              </a:rPr>
              <a:t>）</a:t>
            </a:r>
            <a:r>
              <a:rPr lang="zh-CN" altLang="en-US" sz="2400" b="1" u="sng" dirty="0">
                <a:latin typeface="楷体" pitchFamily="49" charset="-122"/>
                <a:ea typeface="楷体" pitchFamily="49" charset="-122"/>
              </a:rPr>
              <a:t>商品和劳务</a:t>
            </a:r>
            <a:r>
              <a:rPr lang="zh-CN" altLang="en-US" sz="2400" b="1" dirty="0">
                <a:latin typeface="楷体" pitchFamily="49" charset="-122"/>
                <a:ea typeface="楷体" pitchFamily="49" charset="-122"/>
              </a:rPr>
              <a:t>与</a:t>
            </a:r>
            <a:r>
              <a:rPr lang="zh-CN" altLang="en-US" sz="2400" b="1" u="sng" dirty="0">
                <a:latin typeface="楷体" pitchFamily="49" charset="-122"/>
                <a:ea typeface="楷体" pitchFamily="49" charset="-122"/>
              </a:rPr>
              <a:t>商品和劳务</a:t>
            </a:r>
            <a:r>
              <a:rPr lang="zh-CN" altLang="en-US" sz="2400" b="1" dirty="0">
                <a:latin typeface="楷体" pitchFamily="49" charset="-122"/>
                <a:ea typeface="楷体" pitchFamily="49" charset="-122"/>
              </a:rPr>
              <a:t>之间的交换；</a:t>
            </a:r>
            <a:endParaRPr lang="en-US" altLang="zh-CN" sz="2400" b="1" dirty="0">
              <a:latin typeface="楷体" pitchFamily="49" charset="-122"/>
              <a:ea typeface="楷体" pitchFamily="49" charset="-122"/>
            </a:endParaRPr>
          </a:p>
          <a:p>
            <a:pPr marL="0" indent="0">
              <a:lnSpc>
                <a:spcPct val="100000"/>
              </a:lnSpc>
              <a:buNone/>
            </a:pPr>
            <a:r>
              <a:rPr lang="en-US" altLang="zh-CN" sz="2400" b="1" dirty="0">
                <a:latin typeface="楷体" pitchFamily="49" charset="-122"/>
                <a:ea typeface="楷体" pitchFamily="49" charset="-122"/>
              </a:rPr>
              <a:t>	</a:t>
            </a:r>
            <a:r>
              <a:rPr lang="zh-CN" altLang="en-US" sz="2400" b="1" dirty="0">
                <a:latin typeface="楷体" pitchFamily="49" charset="-122"/>
                <a:ea typeface="楷体" pitchFamily="49" charset="-122"/>
              </a:rPr>
              <a:t>（</a:t>
            </a:r>
            <a:r>
              <a:rPr lang="en-US" altLang="zh-CN" sz="2400" b="1" dirty="0">
                <a:latin typeface="楷体" pitchFamily="49" charset="-122"/>
                <a:ea typeface="楷体" pitchFamily="49" charset="-122"/>
              </a:rPr>
              <a:t>3</a:t>
            </a:r>
            <a:r>
              <a:rPr lang="zh-CN" altLang="en-US" sz="2400" b="1" dirty="0">
                <a:latin typeface="楷体" pitchFamily="49" charset="-122"/>
                <a:ea typeface="楷体" pitchFamily="49" charset="-122"/>
              </a:rPr>
              <a:t>）</a:t>
            </a:r>
            <a:r>
              <a:rPr lang="zh-CN" altLang="en-US" sz="2400" b="1" u="sng" dirty="0">
                <a:latin typeface="楷体" pitchFamily="49" charset="-122"/>
                <a:ea typeface="楷体" pitchFamily="49" charset="-122"/>
              </a:rPr>
              <a:t>金融资产</a:t>
            </a:r>
            <a:r>
              <a:rPr lang="zh-CN" altLang="en-US" sz="2400" b="1" dirty="0">
                <a:latin typeface="楷体" pitchFamily="49" charset="-122"/>
                <a:ea typeface="楷体" pitchFamily="49" charset="-122"/>
              </a:rPr>
              <a:t>与</a:t>
            </a:r>
            <a:r>
              <a:rPr lang="zh-CN" altLang="en-US" sz="2400" b="1" u="sng" dirty="0">
                <a:latin typeface="楷体" pitchFamily="49" charset="-122"/>
                <a:ea typeface="楷体" pitchFamily="49" charset="-122"/>
              </a:rPr>
              <a:t>金融资产</a:t>
            </a:r>
            <a:r>
              <a:rPr lang="zh-CN" altLang="en-US" sz="2400" b="1" dirty="0">
                <a:latin typeface="楷体" pitchFamily="49" charset="-122"/>
                <a:ea typeface="楷体" pitchFamily="49" charset="-122"/>
              </a:rPr>
              <a:t>之间的交换；</a:t>
            </a:r>
            <a:endParaRPr lang="en-US" altLang="zh-CN" sz="2400" b="1" dirty="0">
              <a:latin typeface="楷体" pitchFamily="49" charset="-122"/>
              <a:ea typeface="楷体" pitchFamily="49" charset="-122"/>
            </a:endParaRPr>
          </a:p>
          <a:p>
            <a:pPr marL="0" indent="0">
              <a:lnSpc>
                <a:spcPct val="100000"/>
              </a:lnSpc>
              <a:buNone/>
            </a:pPr>
            <a:r>
              <a:rPr lang="en-US" altLang="zh-CN" sz="2400" b="1" dirty="0">
                <a:latin typeface="楷体" pitchFamily="49" charset="-122"/>
                <a:ea typeface="楷体" pitchFamily="49" charset="-122"/>
              </a:rPr>
              <a:t>	</a:t>
            </a:r>
            <a:r>
              <a:rPr lang="zh-CN" altLang="en-US" sz="2400" b="1" dirty="0">
                <a:latin typeface="楷体" pitchFamily="49" charset="-122"/>
                <a:ea typeface="楷体" pitchFamily="49" charset="-122"/>
              </a:rPr>
              <a:t>（</a:t>
            </a:r>
            <a:r>
              <a:rPr lang="en-US" altLang="zh-CN" sz="2400" b="1" dirty="0">
                <a:latin typeface="楷体" pitchFamily="49" charset="-122"/>
                <a:ea typeface="楷体" pitchFamily="49" charset="-122"/>
              </a:rPr>
              <a:t>4</a:t>
            </a:r>
            <a:r>
              <a:rPr lang="zh-CN" altLang="en-US" sz="2400" b="1" dirty="0">
                <a:latin typeface="楷体" pitchFamily="49" charset="-122"/>
                <a:ea typeface="楷体" pitchFamily="49" charset="-122"/>
              </a:rPr>
              <a:t>）无偿的、单向的</a:t>
            </a:r>
            <a:r>
              <a:rPr lang="zh-CN" altLang="en-US" sz="2400" b="1" u="sng" dirty="0">
                <a:latin typeface="楷体" pitchFamily="49" charset="-122"/>
                <a:ea typeface="楷体" pitchFamily="49" charset="-122"/>
              </a:rPr>
              <a:t>商品和劳务转移</a:t>
            </a:r>
            <a:r>
              <a:rPr lang="zh-CN" altLang="en-US" sz="2400" b="1" dirty="0">
                <a:latin typeface="楷体" pitchFamily="49" charset="-122"/>
                <a:ea typeface="楷体" pitchFamily="49" charset="-122"/>
              </a:rPr>
              <a:t>；</a:t>
            </a:r>
            <a:endParaRPr lang="en-US" altLang="zh-CN" sz="2400" b="1" dirty="0">
              <a:latin typeface="楷体" pitchFamily="49" charset="-122"/>
              <a:ea typeface="楷体" pitchFamily="49" charset="-122"/>
            </a:endParaRPr>
          </a:p>
          <a:p>
            <a:pPr marL="0" indent="0">
              <a:lnSpc>
                <a:spcPct val="100000"/>
              </a:lnSpc>
              <a:buNone/>
            </a:pPr>
            <a:r>
              <a:rPr lang="en-US" altLang="zh-CN" sz="2400" b="1" dirty="0">
                <a:latin typeface="楷体" pitchFamily="49" charset="-122"/>
                <a:ea typeface="楷体" pitchFamily="49" charset="-122"/>
              </a:rPr>
              <a:t>	</a:t>
            </a:r>
            <a:r>
              <a:rPr lang="zh-CN" altLang="en-US" sz="2400" b="1" dirty="0">
                <a:latin typeface="楷体" pitchFamily="49" charset="-122"/>
                <a:ea typeface="楷体" pitchFamily="49" charset="-122"/>
              </a:rPr>
              <a:t>（</a:t>
            </a:r>
            <a:r>
              <a:rPr lang="en-US" altLang="zh-CN" sz="2400" b="1" dirty="0">
                <a:latin typeface="楷体" pitchFamily="49" charset="-122"/>
                <a:ea typeface="楷体" pitchFamily="49" charset="-122"/>
              </a:rPr>
              <a:t>5</a:t>
            </a:r>
            <a:r>
              <a:rPr lang="zh-CN" altLang="en-US" sz="2400" b="1" dirty="0">
                <a:latin typeface="楷体" pitchFamily="49" charset="-122"/>
                <a:ea typeface="楷体" pitchFamily="49" charset="-122"/>
              </a:rPr>
              <a:t>）无偿的、单向的</a:t>
            </a:r>
            <a:r>
              <a:rPr lang="zh-CN" altLang="en-US" sz="2400" b="1" u="sng" dirty="0">
                <a:latin typeface="楷体" pitchFamily="49" charset="-122"/>
                <a:ea typeface="楷体" pitchFamily="49" charset="-122"/>
              </a:rPr>
              <a:t>金融资产转移</a:t>
            </a:r>
            <a:r>
              <a:rPr lang="zh-CN" altLang="en-US" sz="2400" b="1" dirty="0">
                <a:latin typeface="楷体" pitchFamily="49" charset="-122"/>
                <a:ea typeface="楷体" pitchFamily="49" charset="-122"/>
              </a:rPr>
              <a:t>。</a:t>
            </a:r>
          </a:p>
          <a:p>
            <a:pPr marL="0" indent="0">
              <a:lnSpc>
                <a:spcPct val="100000"/>
              </a:lnSpc>
              <a:buNone/>
            </a:pPr>
            <a:endParaRPr lang="zh-CN" altLang="en-US" sz="3200" dirty="0"/>
          </a:p>
          <a:p>
            <a:pPr marL="0" indent="0">
              <a:lnSpc>
                <a:spcPct val="100000"/>
              </a:lnSpc>
              <a:buNone/>
            </a:pPr>
            <a:endParaRPr lang="zh-CN" altLang="en-US" sz="3200" dirty="0"/>
          </a:p>
        </p:txBody>
      </p:sp>
      <p:sp>
        <p:nvSpPr>
          <p:cNvPr id="5" name="页脚占位符 4"/>
          <p:cNvSpPr>
            <a:spLocks noGrp="1"/>
          </p:cNvSpPr>
          <p:nvPr>
            <p:ph type="ftr" sz="quarter" idx="11"/>
          </p:nvPr>
        </p:nvSpPr>
        <p:spPr/>
        <p:txBody>
          <a:bodyPr/>
          <a:lstStyle/>
          <a:p>
            <a:r>
              <a:rPr lang="zh-CN" altLang="en-US"/>
              <a:t>国际金融学 范小云</a:t>
            </a:r>
            <a:endParaRPr lang="zh-CN" altLang="en-US" dirty="0"/>
          </a:p>
        </p:txBody>
      </p:sp>
    </p:spTree>
    <p:extLst>
      <p:ext uri="{BB962C8B-B14F-4D97-AF65-F5344CB8AC3E}">
        <p14:creationId xmlns:p14="http://schemas.microsoft.com/office/powerpoint/2010/main" val="1331332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a:t>
            </a:r>
            <a:r>
              <a:rPr lang="en-US" altLang="zh-CN" dirty="0"/>
              <a:t>	</a:t>
            </a:r>
            <a:r>
              <a:rPr lang="zh-CN" altLang="en-US" dirty="0"/>
              <a:t>国际收支平衡表</a:t>
            </a:r>
            <a:endParaRPr lang="zh-CN" dirty="0"/>
          </a:p>
        </p:txBody>
      </p:sp>
      <p:sp>
        <p:nvSpPr>
          <p:cNvPr id="3" name="内容占位符 2"/>
          <p:cNvSpPr>
            <a:spLocks noGrp="1"/>
          </p:cNvSpPr>
          <p:nvPr>
            <p:ph idx="1"/>
          </p:nvPr>
        </p:nvSpPr>
        <p:spPr/>
        <p:txBody>
          <a:bodyPr>
            <a:normAutofit/>
          </a:bodyPr>
          <a:lstStyle/>
          <a:p>
            <a:pPr marL="0" indent="0">
              <a:lnSpc>
                <a:spcPct val="150000"/>
              </a:lnSpc>
              <a:buNone/>
            </a:pPr>
            <a:r>
              <a:rPr lang="en-US" altLang="zh-CN" sz="3200" b="1" dirty="0">
                <a:latin typeface="楷体" pitchFamily="49" charset="-122"/>
                <a:ea typeface="楷体" pitchFamily="49" charset="-122"/>
              </a:rPr>
              <a:t>	</a:t>
            </a:r>
            <a:r>
              <a:rPr lang="zh-CN" altLang="en-US" sz="2400" b="1" dirty="0">
                <a:latin typeface="楷体" pitchFamily="49" charset="-122"/>
                <a:ea typeface="楷体" pitchFamily="49" charset="-122"/>
              </a:rPr>
              <a:t>国际收支平衡表是一国对其一定时期（一年、一季度、一月）内的国际经济交易，根据交易的特征和经济分析的需要，分类设置科目和账户，并按照复式簿记的原理进行系统记录的报表。</a:t>
            </a:r>
          </a:p>
        </p:txBody>
      </p:sp>
      <p:sp>
        <p:nvSpPr>
          <p:cNvPr id="5" name="页脚占位符 4"/>
          <p:cNvSpPr>
            <a:spLocks noGrp="1"/>
          </p:cNvSpPr>
          <p:nvPr>
            <p:ph type="ftr" sz="quarter" idx="11"/>
          </p:nvPr>
        </p:nvSpPr>
        <p:spPr/>
        <p:txBody>
          <a:bodyPr/>
          <a:lstStyle/>
          <a:p>
            <a:r>
              <a:rPr lang="zh-CN" altLang="en-US"/>
              <a:t>国际金融学 范小云</a:t>
            </a:r>
            <a:endParaRPr lang="zh-CN" altLang="en-US" dirty="0"/>
          </a:p>
        </p:txBody>
      </p:sp>
    </p:spTree>
    <p:extLst>
      <p:ext uri="{BB962C8B-B14F-4D97-AF65-F5344CB8AC3E}">
        <p14:creationId xmlns:p14="http://schemas.microsoft.com/office/powerpoint/2010/main" val="4206691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a:t>
            </a:r>
            <a:r>
              <a:rPr lang="en-US" altLang="zh-CN" dirty="0"/>
              <a:t>	</a:t>
            </a:r>
            <a:r>
              <a:rPr lang="zh-CN" altLang="en-US" dirty="0"/>
              <a:t>国际收支平衡表</a:t>
            </a:r>
            <a:endParaRPr lang="zh-CN" dirty="0"/>
          </a:p>
        </p:txBody>
      </p:sp>
      <p:sp>
        <p:nvSpPr>
          <p:cNvPr id="3" name="内容占位符 2"/>
          <p:cNvSpPr>
            <a:spLocks noGrp="1"/>
          </p:cNvSpPr>
          <p:nvPr>
            <p:ph idx="1"/>
          </p:nvPr>
        </p:nvSpPr>
        <p:spPr/>
        <p:txBody>
          <a:bodyPr>
            <a:normAutofit/>
          </a:bodyPr>
          <a:lstStyle/>
          <a:p>
            <a:pPr marL="0" indent="0">
              <a:lnSpc>
                <a:spcPct val="150000"/>
              </a:lnSpc>
              <a:buNone/>
            </a:pPr>
            <a:r>
              <a:rPr lang="zh-CN" altLang="en-US" sz="2400" b="1" dirty="0">
                <a:latin typeface="楷体" pitchFamily="49" charset="-122"/>
                <a:ea typeface="楷体" pitchFamily="49" charset="-122"/>
              </a:rPr>
              <a:t>一、编制原则</a:t>
            </a:r>
          </a:p>
          <a:p>
            <a:pPr marL="0" indent="0">
              <a:lnSpc>
                <a:spcPct val="150000"/>
              </a:lnSpc>
              <a:buNone/>
            </a:pPr>
            <a:r>
              <a:rPr lang="zh-CN" altLang="en-US" sz="2400" b="1" dirty="0">
                <a:latin typeface="楷体" pitchFamily="49" charset="-122"/>
                <a:ea typeface="楷体" pitchFamily="49" charset="-122"/>
              </a:rPr>
              <a:t>	按照复式簿记的记账方法编制：即每笔交易都是由两笔价值相等、方向相反的账目表示。借方表示资产（资源）持有量的增加和负债减少，贷方表示资产（资源）持有量的减少和负债增加。</a:t>
            </a:r>
          </a:p>
        </p:txBody>
      </p:sp>
      <p:sp>
        <p:nvSpPr>
          <p:cNvPr id="5" name="页脚占位符 4"/>
          <p:cNvSpPr>
            <a:spLocks noGrp="1"/>
          </p:cNvSpPr>
          <p:nvPr>
            <p:ph type="ftr" sz="quarter" idx="11"/>
          </p:nvPr>
        </p:nvSpPr>
        <p:spPr/>
        <p:txBody>
          <a:bodyPr/>
          <a:lstStyle/>
          <a:p>
            <a:r>
              <a:rPr lang="zh-CN" altLang="en-US"/>
              <a:t>国际金融学 范小云</a:t>
            </a:r>
            <a:endParaRPr lang="zh-CN" altLang="en-US" dirty="0"/>
          </a:p>
        </p:txBody>
      </p:sp>
    </p:spTree>
    <p:extLst>
      <p:ext uri="{BB962C8B-B14F-4D97-AF65-F5344CB8AC3E}">
        <p14:creationId xmlns:p14="http://schemas.microsoft.com/office/powerpoint/2010/main" val="624538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a:t>
            </a:r>
            <a:r>
              <a:rPr lang="en-US" altLang="zh-CN" dirty="0"/>
              <a:t>	</a:t>
            </a:r>
            <a:r>
              <a:rPr lang="zh-CN" altLang="en-US" dirty="0"/>
              <a:t>国际收支平衡表</a:t>
            </a:r>
            <a:endParaRPr lang="zh-CN" dirty="0"/>
          </a:p>
        </p:txBody>
      </p:sp>
      <p:sp>
        <p:nvSpPr>
          <p:cNvPr id="5" name="页脚占位符 4"/>
          <p:cNvSpPr>
            <a:spLocks noGrp="1"/>
          </p:cNvSpPr>
          <p:nvPr>
            <p:ph type="ftr" sz="quarter" idx="11"/>
          </p:nvPr>
        </p:nvSpPr>
        <p:spPr/>
        <p:txBody>
          <a:bodyPr/>
          <a:lstStyle/>
          <a:p>
            <a:r>
              <a:rPr lang="zh-CN" altLang="en-US"/>
              <a:t>国际金融学 范小云</a:t>
            </a:r>
            <a:endParaRPr lang="zh-CN" altLang="en-US" dirty="0"/>
          </a:p>
        </p:txBody>
      </p:sp>
      <p:sp>
        <p:nvSpPr>
          <p:cNvPr id="7" name="Line 5"/>
          <p:cNvSpPr>
            <a:spLocks noChangeShapeType="1"/>
          </p:cNvSpPr>
          <p:nvPr/>
        </p:nvSpPr>
        <p:spPr bwMode="auto">
          <a:xfrm>
            <a:off x="758283" y="2444380"/>
            <a:ext cx="7359805" cy="0"/>
          </a:xfrm>
          <a:prstGeom prst="line">
            <a:avLst/>
          </a:prstGeom>
          <a:noFill/>
          <a:ln w="508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2000" b="1">
              <a:solidFill>
                <a:schemeClr val="accent1">
                  <a:lumMod val="75000"/>
                </a:schemeClr>
              </a:solidFill>
            </a:endParaRPr>
          </a:p>
        </p:txBody>
      </p:sp>
      <p:sp>
        <p:nvSpPr>
          <p:cNvPr id="8" name="Line 6"/>
          <p:cNvSpPr>
            <a:spLocks noChangeShapeType="1"/>
          </p:cNvSpPr>
          <p:nvPr/>
        </p:nvSpPr>
        <p:spPr bwMode="auto">
          <a:xfrm>
            <a:off x="4412360" y="2444380"/>
            <a:ext cx="0" cy="2447925"/>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2000" b="1">
              <a:solidFill>
                <a:schemeClr val="accent1">
                  <a:lumMod val="75000"/>
                </a:schemeClr>
              </a:solidFill>
            </a:endParaRPr>
          </a:p>
        </p:txBody>
      </p:sp>
      <p:sp>
        <p:nvSpPr>
          <p:cNvPr id="9" name="Text Box 7"/>
          <p:cNvSpPr txBox="1">
            <a:spLocks noChangeArrowheads="1"/>
          </p:cNvSpPr>
          <p:nvPr/>
        </p:nvSpPr>
        <p:spPr bwMode="auto">
          <a:xfrm>
            <a:off x="2107309" y="1709367"/>
            <a:ext cx="2160587" cy="40011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solidFill>
                  <a:schemeClr val="accent1">
                    <a:lumMod val="75000"/>
                  </a:schemeClr>
                </a:solidFill>
                <a:latin typeface="微软雅黑" panose="020B0503020204020204" pitchFamily="34" charset="-122"/>
                <a:ea typeface="微软雅黑" panose="020B0503020204020204" pitchFamily="34" charset="-122"/>
              </a:rPr>
              <a:t>借（</a:t>
            </a:r>
            <a:r>
              <a:rPr lang="en-US" altLang="zh-CN" sz="2000" b="1" dirty="0">
                <a:solidFill>
                  <a:schemeClr val="accent1">
                    <a:lumMod val="75000"/>
                  </a:schemeClr>
                </a:solidFill>
                <a:latin typeface="微软雅黑" panose="020B0503020204020204" pitchFamily="34" charset="-122"/>
                <a:ea typeface="微软雅黑" panose="020B0503020204020204" pitchFamily="34" charset="-122"/>
              </a:rPr>
              <a:t>-</a:t>
            </a:r>
            <a:r>
              <a:rPr lang="zh-CN" altLang="en-US" sz="2000" b="1" dirty="0">
                <a:solidFill>
                  <a:schemeClr val="accent1">
                    <a:lumMod val="75000"/>
                  </a:schemeClr>
                </a:solidFill>
                <a:latin typeface="微软雅黑" panose="020B0503020204020204" pitchFamily="34" charset="-122"/>
                <a:ea typeface="微软雅黑" panose="020B0503020204020204" pitchFamily="34" charset="-122"/>
              </a:rPr>
              <a:t>）</a:t>
            </a:r>
          </a:p>
        </p:txBody>
      </p:sp>
      <p:sp>
        <p:nvSpPr>
          <p:cNvPr id="10" name="Text Box 8"/>
          <p:cNvSpPr txBox="1">
            <a:spLocks noChangeArrowheads="1"/>
          </p:cNvSpPr>
          <p:nvPr/>
        </p:nvSpPr>
        <p:spPr bwMode="auto">
          <a:xfrm>
            <a:off x="5142068" y="1709367"/>
            <a:ext cx="2160587" cy="40011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solidFill>
                  <a:schemeClr val="accent1">
                    <a:lumMod val="75000"/>
                  </a:schemeClr>
                </a:solidFill>
                <a:latin typeface="微软雅黑" panose="020B0503020204020204" pitchFamily="34" charset="-122"/>
                <a:ea typeface="微软雅黑" panose="020B0503020204020204" pitchFamily="34" charset="-122"/>
              </a:rPr>
              <a:t>贷（</a:t>
            </a:r>
            <a:r>
              <a:rPr lang="en-US" altLang="zh-CN" sz="2000" b="1" dirty="0">
                <a:solidFill>
                  <a:schemeClr val="accent1">
                    <a:lumMod val="75000"/>
                  </a:schemeClr>
                </a:solidFill>
                <a:latin typeface="微软雅黑" panose="020B0503020204020204" pitchFamily="34" charset="-122"/>
                <a:ea typeface="微软雅黑" panose="020B0503020204020204" pitchFamily="34" charset="-122"/>
              </a:rPr>
              <a:t>+</a:t>
            </a:r>
            <a:r>
              <a:rPr lang="zh-CN" altLang="en-US" sz="2000" b="1" dirty="0">
                <a:solidFill>
                  <a:schemeClr val="accent1">
                    <a:lumMod val="75000"/>
                  </a:schemeClr>
                </a:solidFill>
                <a:latin typeface="微软雅黑" panose="020B0503020204020204" pitchFamily="34" charset="-122"/>
                <a:ea typeface="微软雅黑" panose="020B0503020204020204" pitchFamily="34" charset="-122"/>
              </a:rPr>
              <a:t>）</a:t>
            </a:r>
          </a:p>
        </p:txBody>
      </p:sp>
      <p:sp>
        <p:nvSpPr>
          <p:cNvPr id="11" name="Text Box 9"/>
          <p:cNvSpPr txBox="1">
            <a:spLocks noChangeArrowheads="1"/>
          </p:cNvSpPr>
          <p:nvPr/>
        </p:nvSpPr>
        <p:spPr bwMode="auto">
          <a:xfrm>
            <a:off x="2107310" y="2947617"/>
            <a:ext cx="2160587" cy="86177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solidFill>
                  <a:schemeClr val="accent1">
                    <a:lumMod val="75000"/>
                  </a:schemeClr>
                </a:solidFill>
                <a:latin typeface="微软雅黑" panose="020B0503020204020204" pitchFamily="34" charset="-122"/>
                <a:ea typeface="微软雅黑" panose="020B0503020204020204" pitchFamily="34" charset="-122"/>
              </a:rPr>
              <a:t>资产增加</a:t>
            </a:r>
          </a:p>
          <a:p>
            <a:pPr eaLnBrk="1" hangingPunct="1">
              <a:spcBef>
                <a:spcPct val="50000"/>
              </a:spcBef>
            </a:pPr>
            <a:r>
              <a:rPr lang="zh-CN" altLang="en-US" sz="2000" b="1" dirty="0">
                <a:solidFill>
                  <a:schemeClr val="accent1">
                    <a:lumMod val="75000"/>
                  </a:schemeClr>
                </a:solidFill>
                <a:latin typeface="微软雅黑" panose="020B0503020204020204" pitchFamily="34" charset="-122"/>
                <a:ea typeface="微软雅黑" panose="020B0503020204020204" pitchFamily="34" charset="-122"/>
              </a:rPr>
              <a:t>负债减少</a:t>
            </a:r>
          </a:p>
        </p:txBody>
      </p:sp>
      <p:sp>
        <p:nvSpPr>
          <p:cNvPr id="12" name="Text Box 10"/>
          <p:cNvSpPr txBox="1">
            <a:spLocks noChangeArrowheads="1"/>
          </p:cNvSpPr>
          <p:nvPr/>
        </p:nvSpPr>
        <p:spPr bwMode="auto">
          <a:xfrm>
            <a:off x="4988622" y="2947617"/>
            <a:ext cx="2160588" cy="86177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solidFill>
                  <a:schemeClr val="accent1">
                    <a:lumMod val="75000"/>
                  </a:schemeClr>
                </a:solidFill>
                <a:latin typeface="微软雅黑" panose="020B0503020204020204" pitchFamily="34" charset="-122"/>
                <a:ea typeface="微软雅黑" panose="020B0503020204020204" pitchFamily="34" charset="-122"/>
              </a:rPr>
              <a:t>资产减少</a:t>
            </a:r>
          </a:p>
          <a:p>
            <a:pPr eaLnBrk="1" hangingPunct="1">
              <a:spcBef>
                <a:spcPct val="50000"/>
              </a:spcBef>
            </a:pPr>
            <a:r>
              <a:rPr lang="zh-CN" altLang="en-US" sz="2000" b="1" dirty="0">
                <a:solidFill>
                  <a:schemeClr val="accent1">
                    <a:lumMod val="75000"/>
                  </a:schemeClr>
                </a:solidFill>
                <a:latin typeface="微软雅黑" panose="020B0503020204020204" pitchFamily="34" charset="-122"/>
                <a:ea typeface="微软雅黑" panose="020B0503020204020204" pitchFamily="34" charset="-122"/>
              </a:rPr>
              <a:t>负债增加</a:t>
            </a:r>
          </a:p>
        </p:txBody>
      </p:sp>
    </p:spTree>
    <p:extLst>
      <p:ext uri="{BB962C8B-B14F-4D97-AF65-F5344CB8AC3E}">
        <p14:creationId xmlns:p14="http://schemas.microsoft.com/office/powerpoint/2010/main" val="652650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a:t>
            </a:r>
            <a:r>
              <a:rPr lang="en-US" altLang="zh-CN" dirty="0"/>
              <a:t>	</a:t>
            </a:r>
            <a:r>
              <a:rPr lang="zh-CN" altLang="en-US" dirty="0"/>
              <a:t>国际收支平衡表</a:t>
            </a:r>
            <a:endParaRPr lang="zh-CN" dirty="0"/>
          </a:p>
        </p:txBody>
      </p:sp>
      <p:sp>
        <p:nvSpPr>
          <p:cNvPr id="3" name="内容占位符 2"/>
          <p:cNvSpPr>
            <a:spLocks noGrp="1"/>
          </p:cNvSpPr>
          <p:nvPr>
            <p:ph idx="1"/>
          </p:nvPr>
        </p:nvSpPr>
        <p:spPr>
          <a:xfrm>
            <a:off x="613187" y="1447800"/>
            <a:ext cx="7559264" cy="4559300"/>
          </a:xfrm>
        </p:spPr>
        <p:txBody>
          <a:bodyPr>
            <a:noAutofit/>
          </a:bodyPr>
          <a:lstStyle/>
          <a:p>
            <a:pPr marL="0" indent="0">
              <a:lnSpc>
                <a:spcPct val="100000"/>
              </a:lnSpc>
              <a:buNone/>
            </a:pPr>
            <a:r>
              <a:rPr altLang="en-US" b="1" dirty="0">
                <a:latin typeface="楷体" pitchFamily="49" charset="-122"/>
                <a:ea typeface="楷体" pitchFamily="49" charset="-122"/>
              </a:rPr>
              <a:t>二、帐户设置</a:t>
            </a:r>
          </a:p>
          <a:p>
            <a:pPr marL="0" indent="0">
              <a:lnSpc>
                <a:spcPct val="130000"/>
              </a:lnSpc>
              <a:buNone/>
            </a:pPr>
            <a:r>
              <a:rPr altLang="en-US" b="1" dirty="0">
                <a:latin typeface="楷体" pitchFamily="49" charset="-122"/>
                <a:ea typeface="楷体" pitchFamily="49" charset="-122"/>
              </a:rPr>
              <a:t>       各国以</a:t>
            </a:r>
            <a:r>
              <a:rPr lang="en-US" altLang="zh-CN" b="1" dirty="0">
                <a:latin typeface="楷体" pitchFamily="49" charset="-122"/>
                <a:ea typeface="楷体" pitchFamily="49" charset="-122"/>
              </a:rPr>
              <a:t>IMF</a:t>
            </a:r>
            <a:r>
              <a:rPr altLang="en-US" b="1" dirty="0">
                <a:latin typeface="楷体" pitchFamily="49" charset="-122"/>
                <a:ea typeface="楷体" pitchFamily="49" charset="-122"/>
              </a:rPr>
              <a:t>出版</a:t>
            </a:r>
            <a:r>
              <a:rPr lang="en-US" altLang="zh-CN" b="1" dirty="0">
                <a:latin typeface="楷体" pitchFamily="49" charset="-122"/>
                <a:ea typeface="楷体" pitchFamily="49" charset="-122"/>
              </a:rPr>
              <a:t>《</a:t>
            </a:r>
            <a:r>
              <a:rPr altLang="en-US" b="1" dirty="0">
                <a:latin typeface="楷体" pitchFamily="49" charset="-122"/>
                <a:ea typeface="楷体" pitchFamily="49" charset="-122"/>
              </a:rPr>
              <a:t>国际收支手册</a:t>
            </a:r>
            <a:r>
              <a:rPr lang="en-US" altLang="zh-CN" b="1" dirty="0">
                <a:latin typeface="楷体" pitchFamily="49" charset="-122"/>
                <a:ea typeface="楷体" pitchFamily="49" charset="-122"/>
              </a:rPr>
              <a:t>》</a:t>
            </a:r>
            <a:r>
              <a:rPr altLang="en-US" b="1" dirty="0">
                <a:latin typeface="楷体" pitchFamily="49" charset="-122"/>
                <a:ea typeface="楷体" pitchFamily="49" charset="-122"/>
              </a:rPr>
              <a:t>规定的标准格式来编制。</a:t>
            </a:r>
          </a:p>
          <a:p>
            <a:pPr marL="0" indent="0">
              <a:lnSpc>
                <a:spcPct val="130000"/>
              </a:lnSpc>
              <a:buNone/>
            </a:pPr>
            <a:r>
              <a:rPr lang="en-US" altLang="zh-CN" b="1" dirty="0">
                <a:latin typeface="楷体" pitchFamily="49" charset="-122"/>
                <a:ea typeface="楷体" pitchFamily="49" charset="-122"/>
              </a:rPr>
              <a:t>       1948</a:t>
            </a:r>
            <a:r>
              <a:rPr altLang="en-US" b="1" dirty="0">
                <a:latin typeface="楷体" pitchFamily="49" charset="-122"/>
                <a:ea typeface="楷体" pitchFamily="49" charset="-122"/>
              </a:rPr>
              <a:t>年首次颁布</a:t>
            </a:r>
            <a:r>
              <a:rPr lang="en-US" altLang="zh-CN" b="1" dirty="0">
                <a:latin typeface="楷体" pitchFamily="49" charset="-122"/>
                <a:ea typeface="楷体" pitchFamily="49" charset="-122"/>
              </a:rPr>
              <a:t>BPM1</a:t>
            </a:r>
            <a:r>
              <a:rPr altLang="en-US" b="1" dirty="0">
                <a:latin typeface="楷体" pitchFamily="49" charset="-122"/>
                <a:ea typeface="楷体" pitchFamily="49" charset="-122"/>
              </a:rPr>
              <a:t>，之后分别于</a:t>
            </a:r>
            <a:r>
              <a:rPr lang="en-US" altLang="zh-CN" b="1" dirty="0">
                <a:latin typeface="楷体" pitchFamily="49" charset="-122"/>
                <a:ea typeface="楷体" pitchFamily="49" charset="-122"/>
              </a:rPr>
              <a:t>1950</a:t>
            </a:r>
            <a:r>
              <a:rPr altLang="en-US" b="1" dirty="0">
                <a:latin typeface="楷体" pitchFamily="49" charset="-122"/>
                <a:ea typeface="楷体" pitchFamily="49" charset="-122"/>
              </a:rPr>
              <a:t>、</a:t>
            </a:r>
            <a:r>
              <a:rPr lang="en-US" altLang="zh-CN" b="1" dirty="0">
                <a:latin typeface="楷体" pitchFamily="49" charset="-122"/>
                <a:ea typeface="楷体" pitchFamily="49" charset="-122"/>
              </a:rPr>
              <a:t>1961</a:t>
            </a:r>
            <a:r>
              <a:rPr altLang="en-US" b="1" dirty="0">
                <a:latin typeface="楷体" pitchFamily="49" charset="-122"/>
                <a:ea typeface="楷体" pitchFamily="49" charset="-122"/>
              </a:rPr>
              <a:t>、</a:t>
            </a:r>
            <a:r>
              <a:rPr lang="en-US" altLang="zh-CN" b="1" dirty="0">
                <a:latin typeface="楷体" pitchFamily="49" charset="-122"/>
                <a:ea typeface="楷体" pitchFamily="49" charset="-122"/>
              </a:rPr>
              <a:t>1977</a:t>
            </a:r>
            <a:r>
              <a:rPr altLang="en-US" b="1" dirty="0">
                <a:latin typeface="楷体" pitchFamily="49" charset="-122"/>
                <a:ea typeface="楷体" pitchFamily="49" charset="-122"/>
              </a:rPr>
              <a:t>、</a:t>
            </a:r>
            <a:r>
              <a:rPr lang="en-US" altLang="zh-CN" b="1" dirty="0">
                <a:latin typeface="楷体" pitchFamily="49" charset="-122"/>
                <a:ea typeface="楷体" pitchFamily="49" charset="-122"/>
              </a:rPr>
              <a:t>1993</a:t>
            </a:r>
            <a:r>
              <a:rPr altLang="en-US" b="1" dirty="0">
                <a:latin typeface="楷体" pitchFamily="49" charset="-122"/>
                <a:ea typeface="楷体" pitchFamily="49" charset="-122"/>
              </a:rPr>
              <a:t>年修订了</a:t>
            </a:r>
            <a:r>
              <a:rPr lang="en-US" altLang="zh-CN" b="1" dirty="0">
                <a:latin typeface="楷体" pitchFamily="49" charset="-122"/>
                <a:ea typeface="楷体" pitchFamily="49" charset="-122"/>
              </a:rPr>
              <a:t>BPM2</a:t>
            </a:r>
            <a:r>
              <a:rPr altLang="en-US" b="1" dirty="0">
                <a:latin typeface="楷体" pitchFamily="49" charset="-122"/>
                <a:ea typeface="楷体" pitchFamily="49" charset="-122"/>
              </a:rPr>
              <a:t>、</a:t>
            </a:r>
            <a:r>
              <a:rPr lang="en-US" altLang="zh-CN" b="1" dirty="0">
                <a:latin typeface="楷体" pitchFamily="49" charset="-122"/>
                <a:ea typeface="楷体" pitchFamily="49" charset="-122"/>
              </a:rPr>
              <a:t>BPM3</a:t>
            </a:r>
            <a:r>
              <a:rPr altLang="en-US" b="1" dirty="0">
                <a:latin typeface="楷体" pitchFamily="49" charset="-122"/>
                <a:ea typeface="楷体" pitchFamily="49" charset="-122"/>
              </a:rPr>
              <a:t>、</a:t>
            </a:r>
            <a:r>
              <a:rPr lang="en-US" altLang="zh-CN" b="1" dirty="0">
                <a:latin typeface="楷体" pitchFamily="49" charset="-122"/>
                <a:ea typeface="楷体" pitchFamily="49" charset="-122"/>
              </a:rPr>
              <a:t>BPM4</a:t>
            </a:r>
            <a:r>
              <a:rPr altLang="en-US" b="1" dirty="0">
                <a:latin typeface="楷体" pitchFamily="49" charset="-122"/>
                <a:ea typeface="楷体" pitchFamily="49" charset="-122"/>
              </a:rPr>
              <a:t>、</a:t>
            </a:r>
            <a:r>
              <a:rPr lang="en-US" altLang="zh-CN" b="1" dirty="0">
                <a:latin typeface="楷体" pitchFamily="49" charset="-122"/>
                <a:ea typeface="楷体" pitchFamily="49" charset="-122"/>
              </a:rPr>
              <a:t>BPM5</a:t>
            </a:r>
            <a:r>
              <a:rPr altLang="en-US" b="1" dirty="0">
                <a:latin typeface="楷体" pitchFamily="49" charset="-122"/>
                <a:ea typeface="楷体" pitchFamily="49" charset="-122"/>
              </a:rPr>
              <a:t>。</a:t>
            </a:r>
          </a:p>
          <a:p>
            <a:pPr marL="457200" indent="-457200">
              <a:lnSpc>
                <a:spcPct val="130000"/>
              </a:lnSpc>
              <a:buFont typeface="Wingdings" panose="05000000000000000000" pitchFamily="2" charset="2"/>
              <a:buChar char="Ø"/>
            </a:pPr>
            <a:r>
              <a:rPr altLang="en-US" b="1" dirty="0">
                <a:latin typeface="楷体" pitchFamily="49" charset="-122"/>
                <a:ea typeface="楷体" pitchFamily="49" charset="-122"/>
              </a:rPr>
              <a:t>最新版为</a:t>
            </a:r>
            <a:r>
              <a:rPr lang="en-US" altLang="zh-CN" b="1" dirty="0">
                <a:latin typeface="楷体" pitchFamily="49" charset="-122"/>
                <a:ea typeface="楷体" pitchFamily="49" charset="-122"/>
              </a:rPr>
              <a:t>2009</a:t>
            </a:r>
            <a:r>
              <a:rPr altLang="en-US" b="1" dirty="0">
                <a:latin typeface="楷体" pitchFamily="49" charset="-122"/>
                <a:ea typeface="楷体" pitchFamily="49" charset="-122"/>
              </a:rPr>
              <a:t>年出版的</a:t>
            </a:r>
            <a:r>
              <a:rPr lang="en-US" altLang="zh-CN" b="1" dirty="0">
                <a:latin typeface="楷体" pitchFamily="49" charset="-122"/>
                <a:ea typeface="楷体" pitchFamily="49" charset="-122"/>
              </a:rPr>
              <a:t>《</a:t>
            </a:r>
            <a:r>
              <a:rPr altLang="en-US" b="1" dirty="0">
                <a:latin typeface="楷体" pitchFamily="49" charset="-122"/>
                <a:ea typeface="楷体" pitchFamily="49" charset="-122"/>
              </a:rPr>
              <a:t>国际收支与国际投资头寸手册（第六版）</a:t>
            </a:r>
            <a:r>
              <a:rPr lang="en-US" altLang="zh-CN" b="1" dirty="0">
                <a:latin typeface="楷体" pitchFamily="49" charset="-122"/>
                <a:ea typeface="楷体" pitchFamily="49" charset="-122"/>
              </a:rPr>
              <a:t>》 </a:t>
            </a:r>
          </a:p>
          <a:p>
            <a:pPr marL="457200" indent="-457200">
              <a:lnSpc>
                <a:spcPct val="130000"/>
              </a:lnSpc>
              <a:buFont typeface="Wingdings" panose="05000000000000000000" pitchFamily="2" charset="2"/>
              <a:buChar char="Ø"/>
            </a:pPr>
            <a:r>
              <a:rPr altLang="en-US" b="1" dirty="0">
                <a:latin typeface="楷体" pitchFamily="49" charset="-122"/>
                <a:ea typeface="楷体" pitchFamily="49" charset="-122"/>
              </a:rPr>
              <a:t>目前，我国</a:t>
            </a:r>
            <a:r>
              <a:rPr lang="en-US" altLang="zh-CN" b="1" dirty="0">
                <a:latin typeface="楷体" pitchFamily="49" charset="-122"/>
                <a:ea typeface="楷体" pitchFamily="49" charset="-122"/>
              </a:rPr>
              <a:t>2014</a:t>
            </a:r>
            <a:r>
              <a:rPr altLang="en-US" b="1" dirty="0">
                <a:latin typeface="楷体" pitchFamily="49" charset="-122"/>
                <a:ea typeface="楷体" pitchFamily="49" charset="-122"/>
              </a:rPr>
              <a:t>年之前使用的是</a:t>
            </a:r>
            <a:r>
              <a:rPr lang="en-US" altLang="zh-CN" b="1" dirty="0">
                <a:latin typeface="楷体" pitchFamily="49" charset="-122"/>
                <a:ea typeface="楷体" pitchFamily="49" charset="-122"/>
              </a:rPr>
              <a:t>1993</a:t>
            </a:r>
            <a:r>
              <a:rPr altLang="en-US" b="1" dirty="0">
                <a:latin typeface="楷体" pitchFamily="49" charset="-122"/>
                <a:ea typeface="楷体" pitchFamily="49" charset="-122"/>
              </a:rPr>
              <a:t>年出版的</a:t>
            </a:r>
            <a:r>
              <a:rPr lang="en-US" altLang="zh-CN" b="1" dirty="0">
                <a:latin typeface="楷体" pitchFamily="49" charset="-122"/>
                <a:ea typeface="楷体" pitchFamily="49" charset="-122"/>
              </a:rPr>
              <a:t>《</a:t>
            </a:r>
            <a:r>
              <a:rPr altLang="en-US" b="1" dirty="0">
                <a:latin typeface="楷体" pitchFamily="49" charset="-122"/>
                <a:ea typeface="楷体" pitchFamily="49" charset="-122"/>
              </a:rPr>
              <a:t>国际收支手册（第五版）</a:t>
            </a:r>
            <a:r>
              <a:rPr lang="en-US" altLang="zh-CN" b="1" dirty="0">
                <a:latin typeface="楷体" pitchFamily="49" charset="-122"/>
                <a:ea typeface="楷体" pitchFamily="49" charset="-122"/>
              </a:rPr>
              <a:t>》, 2015</a:t>
            </a:r>
            <a:r>
              <a:rPr altLang="en-US" b="1" dirty="0">
                <a:latin typeface="楷体" pitchFamily="49" charset="-122"/>
                <a:ea typeface="楷体" pitchFamily="49" charset="-122"/>
              </a:rPr>
              <a:t>年开始使用</a:t>
            </a:r>
            <a:r>
              <a:rPr lang="en-US" altLang="zh-CN" b="1" dirty="0">
                <a:latin typeface="楷体" pitchFamily="49" charset="-122"/>
                <a:ea typeface="楷体" pitchFamily="49" charset="-122"/>
              </a:rPr>
              <a:t>BPM6</a:t>
            </a:r>
            <a:r>
              <a:rPr altLang="en-US" b="1" dirty="0">
                <a:latin typeface="楷体" pitchFamily="49" charset="-122"/>
                <a:ea typeface="楷体" pitchFamily="49" charset="-122"/>
              </a:rPr>
              <a:t>。</a:t>
            </a:r>
          </a:p>
          <a:p>
            <a:pPr marL="0" indent="0">
              <a:lnSpc>
                <a:spcPct val="130000"/>
              </a:lnSpc>
              <a:buNone/>
            </a:pPr>
            <a:r>
              <a:rPr altLang="en-US" b="1" dirty="0">
                <a:solidFill>
                  <a:schemeClr val="accent1"/>
                </a:solidFill>
                <a:latin typeface="楷体" pitchFamily="49" charset="-122"/>
                <a:ea typeface="楷体" pitchFamily="49" charset="-122"/>
              </a:rPr>
              <a:t>以第五版为例 ：</a:t>
            </a:r>
          </a:p>
        </p:txBody>
      </p:sp>
    </p:spTree>
    <p:extLst>
      <p:ext uri="{BB962C8B-B14F-4D97-AF65-F5344CB8AC3E}">
        <p14:creationId xmlns:p14="http://schemas.microsoft.com/office/powerpoint/2010/main" val="4153700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zh-CN" altLang="en-US"/>
              <a:t>国际金融学 范小云</a:t>
            </a:r>
            <a:endParaRPr lang="zh-CN" altLang="en-US" dirty="0"/>
          </a:p>
        </p:txBody>
      </p:sp>
      <p:graphicFrame>
        <p:nvGraphicFramePr>
          <p:cNvPr id="11" name="Group 1772"/>
          <p:cNvGraphicFramePr>
            <a:graphicFrameLocks noGrp="1"/>
          </p:cNvGraphicFramePr>
          <p:nvPr>
            <p:extLst>
              <p:ext uri="{D42A27DB-BD31-4B8C-83A1-F6EECF244321}">
                <p14:modId xmlns:p14="http://schemas.microsoft.com/office/powerpoint/2010/main" val="1809032231"/>
              </p:ext>
            </p:extLst>
          </p:nvPr>
        </p:nvGraphicFramePr>
        <p:xfrm>
          <a:off x="457202" y="256473"/>
          <a:ext cx="8218446" cy="5921303"/>
        </p:xfrm>
        <a:graphic>
          <a:graphicData uri="http://schemas.openxmlformats.org/drawingml/2006/table">
            <a:tbl>
              <a:tblPr/>
              <a:tblGrid>
                <a:gridCol w="4039368">
                  <a:extLst>
                    <a:ext uri="{9D8B030D-6E8A-4147-A177-3AD203B41FA5}">
                      <a16:colId xmlns:a16="http://schemas.microsoft.com/office/drawing/2014/main" val="20000"/>
                    </a:ext>
                  </a:extLst>
                </a:gridCol>
                <a:gridCol w="2158627">
                  <a:extLst>
                    <a:ext uri="{9D8B030D-6E8A-4147-A177-3AD203B41FA5}">
                      <a16:colId xmlns:a16="http://schemas.microsoft.com/office/drawing/2014/main" val="20001"/>
                    </a:ext>
                  </a:extLst>
                </a:gridCol>
                <a:gridCol w="2020451">
                  <a:extLst>
                    <a:ext uri="{9D8B030D-6E8A-4147-A177-3AD203B41FA5}">
                      <a16:colId xmlns:a16="http://schemas.microsoft.com/office/drawing/2014/main" val="20002"/>
                    </a:ext>
                  </a:extLst>
                </a:gridCol>
              </a:tblGrid>
              <a:tr h="44943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一、经常账户</a:t>
                      </a:r>
                      <a:endPar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endParaRPr>
                    </a:p>
                  </a:txBody>
                  <a:tcPr marT="45724" marB="45724"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rPr>
                        <a:t>借方（－）</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rPr>
                        <a:t>贷方（＋）</a:t>
                      </a:r>
                    </a:p>
                  </a:txBody>
                  <a:tcPr marT="45724" marB="45724"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943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        1</a:t>
                      </a:r>
                      <a:r>
                        <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、商品</a:t>
                      </a:r>
                      <a:endPar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endParaRPr>
                    </a:p>
                  </a:txBody>
                  <a:tcPr marT="45724" marB="45724"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rgbClr val="FF3399"/>
                          </a:solidFill>
                          <a:effectLst/>
                          <a:latin typeface="微软雅黑" panose="020B0503020204020204" pitchFamily="34" charset="-122"/>
                          <a:ea typeface="微软雅黑" panose="020B0503020204020204" pitchFamily="34" charset="-122"/>
                        </a:rPr>
                        <a:t>50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chemeClr val="accent1"/>
                          </a:solidFill>
                          <a:effectLst/>
                          <a:latin typeface="微软雅黑" panose="020B0503020204020204" pitchFamily="34" charset="-122"/>
                          <a:ea typeface="微软雅黑" panose="020B0503020204020204" pitchFamily="34" charset="-122"/>
                        </a:rPr>
                        <a:t>100</a:t>
                      </a:r>
                      <a:r>
                        <a:rPr kumimoji="0" lang="zh-CN" altLang="en-US" sz="2000" b="1" i="0" u="none" strike="noStrike" cap="none" normalizeH="0" baseline="0" dirty="0">
                          <a:ln>
                            <a:noFill/>
                          </a:ln>
                          <a:solidFill>
                            <a:srgbClr val="00B050"/>
                          </a:solidFill>
                          <a:effectLst/>
                          <a:latin typeface="微软雅黑" panose="020B0503020204020204" pitchFamily="34" charset="-122"/>
                          <a:ea typeface="微软雅黑" panose="020B0503020204020204" pitchFamily="34" charset="-122"/>
                        </a:rPr>
                        <a:t>＋</a:t>
                      </a:r>
                      <a:r>
                        <a:rPr kumimoji="0" lang="en-US" altLang="zh-CN" sz="2000" b="1" i="0" u="none" strike="noStrike" cap="none" normalizeH="0" baseline="0" dirty="0">
                          <a:ln>
                            <a:noFill/>
                          </a:ln>
                          <a:solidFill>
                            <a:srgbClr val="00B050"/>
                          </a:solidFill>
                          <a:effectLst/>
                          <a:latin typeface="微软雅黑" panose="020B0503020204020204" pitchFamily="34" charset="-122"/>
                          <a:ea typeface="微软雅黑" panose="020B0503020204020204" pitchFamily="34" charset="-122"/>
                        </a:rPr>
                        <a:t>60</a:t>
                      </a:r>
                    </a:p>
                  </a:txBody>
                  <a:tcPr marT="45724" marB="45724"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943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        2</a:t>
                      </a:r>
                      <a:r>
                        <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、服务</a:t>
                      </a:r>
                      <a:endPar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endParaRPr>
                    </a:p>
                  </a:txBody>
                  <a:tcPr marT="45724" marB="45724"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rgbClr val="CC9900"/>
                          </a:solidFill>
                          <a:effectLst/>
                          <a:latin typeface="微软雅黑" panose="020B0503020204020204" pitchFamily="34" charset="-122"/>
                          <a:ea typeface="微软雅黑" panose="020B0503020204020204" pitchFamily="34" charset="-122"/>
                        </a:rPr>
                        <a:t>30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endParaRPr>
                    </a:p>
                  </a:txBody>
                  <a:tcPr marT="45724" marB="45724"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943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        3</a:t>
                      </a:r>
                      <a:r>
                        <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、收入</a:t>
                      </a:r>
                      <a:endPar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endParaRPr>
                    </a:p>
                  </a:txBody>
                  <a:tcPr marT="45724" marB="45724" horzOverflow="overflow">
                    <a:lnL cap="flat">
                      <a:noFill/>
                    </a:lnL>
                    <a:lnR w="12700" cap="flat" cmpd="sng" algn="ctr">
                      <a:solidFill>
                        <a:srgbClr val="00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rgbClr val="FF3399"/>
                          </a:solidFill>
                          <a:effectLst/>
                          <a:latin typeface="微软雅黑" panose="020B0503020204020204" pitchFamily="34" charset="-122"/>
                          <a:ea typeface="微软雅黑" panose="020B0503020204020204" pitchFamily="34" charset="-122"/>
                        </a:rPr>
                        <a:t>150</a:t>
                      </a:r>
                    </a:p>
                  </a:txBody>
                  <a:tcPr marT="45724" marB="45724" horzOverflow="overflow">
                    <a:lnL w="12700" cap="flat" cmpd="sng" algn="ctr">
                      <a:solidFill>
                        <a:srgbClr val="000000"/>
                      </a:solidFill>
                      <a:prstDash val="solid"/>
                      <a:round/>
                      <a:headEnd type="none" w="med" len="med"/>
                      <a:tailEnd type="none" w="med" len="med"/>
                    </a:lnL>
                    <a:lnR cap="flat">
                      <a:noFill/>
                    </a:lnR>
                    <a:lnT w="12700" cap="flat" cmpd="sng" algn="ctr">
                      <a:solidFill>
                        <a:srgbClr val="FF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943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        4</a:t>
                      </a:r>
                      <a:r>
                        <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、经常转移</a:t>
                      </a:r>
                      <a:endPar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endParaRPr>
                    </a:p>
                  </a:txBody>
                  <a:tcPr marT="45724" marB="45724"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rgbClr val="00B050"/>
                          </a:solidFill>
                          <a:effectLst/>
                          <a:latin typeface="微软雅黑" panose="020B0503020204020204" pitchFamily="34" charset="-122"/>
                          <a:ea typeface="微软雅黑" panose="020B0503020204020204" pitchFamily="34" charset="-122"/>
                        </a:rPr>
                        <a:t>100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dirty="0">
                        <a:ln>
                          <a:noFill/>
                        </a:ln>
                        <a:solidFill>
                          <a:srgbClr val="66FF33"/>
                        </a:solidFill>
                        <a:effectLst/>
                        <a:latin typeface="微软雅黑" panose="020B0503020204020204" pitchFamily="34" charset="-122"/>
                        <a:ea typeface="微软雅黑" panose="020B0503020204020204" pitchFamily="34" charset="-122"/>
                      </a:endParaRPr>
                    </a:p>
                  </a:txBody>
                  <a:tcPr marT="45724" marB="45724"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4943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二、资本与金融账户</a:t>
                      </a:r>
                      <a:endPar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endParaRPr>
                    </a:p>
                  </a:txBody>
                  <a:tcPr marT="45724" marB="45724" horzOverflow="overflow">
                    <a:lnL cap="flat">
                      <a:noFill/>
                    </a:lnL>
                    <a:lnR w="12700" cap="flat" cmpd="sng" algn="ctr">
                      <a:solidFill>
                        <a:srgbClr val="00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T="45724" marB="45724" horzOverflow="overflow">
                    <a:lnL w="12700" cap="flat" cmpd="sng" algn="ctr">
                      <a:solidFill>
                        <a:srgbClr val="000000"/>
                      </a:solidFill>
                      <a:prstDash val="solid"/>
                      <a:round/>
                      <a:headEnd type="none" w="med" len="med"/>
                      <a:tailEnd type="none" w="med" len="med"/>
                    </a:lnL>
                    <a:lnR cap="flat">
                      <a:noFill/>
                    </a:lnR>
                    <a:lnT w="12700" cap="flat" cmpd="sng" algn="ctr">
                      <a:solidFill>
                        <a:srgbClr val="FF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943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        1</a:t>
                      </a:r>
                      <a:r>
                        <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、资本账户</a:t>
                      </a:r>
                      <a:endPar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endParaRPr>
                    </a:p>
                  </a:txBody>
                  <a:tcPr marT="45724" marB="45724"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T="45724" marB="45724"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4943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        2</a:t>
                      </a:r>
                      <a:r>
                        <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、金融账户</a:t>
                      </a:r>
                      <a:endPar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endParaRPr>
                    </a:p>
                  </a:txBody>
                  <a:tcPr marT="45724" marB="45724"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T="45724" marB="45724"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4943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           </a:t>
                      </a:r>
                      <a:r>
                        <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a:t>
                      </a:r>
                      <a:r>
                        <a:rPr kumimoji="0" lang="en-US" altLang="zh-CN"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1</a:t>
                      </a:r>
                      <a:r>
                        <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）直接投资</a:t>
                      </a:r>
                      <a:endPar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endParaRPr>
                    </a:p>
                  </a:txBody>
                  <a:tcPr marT="45724" marB="45724"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rgbClr val="FF3399"/>
                          </a:solidFill>
                          <a:effectLst/>
                          <a:latin typeface="微软雅黑" panose="020B0503020204020204" pitchFamily="34" charset="-122"/>
                          <a:ea typeface="微软雅黑" panose="020B0503020204020204" pitchFamily="34" charset="-122"/>
                        </a:rPr>
                        <a:t>75</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T="45724" marB="45724"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4943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           </a:t>
                      </a:r>
                      <a:r>
                        <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a:t>
                      </a:r>
                      <a:r>
                        <a:rPr kumimoji="0" lang="en-US" altLang="zh-CN"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2</a:t>
                      </a:r>
                      <a:r>
                        <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）证券投资</a:t>
                      </a:r>
                      <a:endPar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endParaRPr>
                    </a:p>
                  </a:txBody>
                  <a:tcPr marT="45724" marB="45724"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T="45724" marB="45724"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4943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           </a:t>
                      </a:r>
                      <a:r>
                        <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a:t>
                      </a:r>
                      <a:r>
                        <a:rPr kumimoji="0" lang="en-US" altLang="zh-CN"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3</a:t>
                      </a:r>
                      <a:r>
                        <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）其他投资</a:t>
                      </a:r>
                      <a:endPar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endParaRPr>
                    </a:p>
                  </a:txBody>
                  <a:tcPr marT="45724" marB="45724"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chemeClr val="accent1"/>
                          </a:solidFill>
                          <a:effectLst/>
                          <a:latin typeface="微软雅黑" panose="020B0503020204020204" pitchFamily="34" charset="-122"/>
                          <a:ea typeface="微软雅黑" panose="020B0503020204020204" pitchFamily="34" charset="-122"/>
                        </a:rPr>
                        <a:t>100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rgbClr val="CC9900"/>
                          </a:solidFill>
                          <a:effectLst/>
                          <a:latin typeface="微软雅黑" panose="020B0503020204020204" pitchFamily="34" charset="-122"/>
                          <a:ea typeface="微软雅黑" panose="020B0503020204020204" pitchFamily="34" charset="-122"/>
                        </a:rPr>
                        <a:t>30</a:t>
                      </a:r>
                    </a:p>
                  </a:txBody>
                  <a:tcPr marT="45724" marB="45724"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44943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           </a:t>
                      </a:r>
                      <a:r>
                        <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a:t>
                      </a:r>
                      <a:r>
                        <a:rPr kumimoji="0" lang="en-US" altLang="zh-CN"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4</a:t>
                      </a:r>
                      <a:r>
                        <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）储备资产</a:t>
                      </a:r>
                      <a:endPar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endParaRPr>
                    </a:p>
                  </a:txBody>
                  <a:tcPr marT="45724" marB="45724" horzOverflow="overflow">
                    <a:lnL cap="flat">
                      <a:noFill/>
                    </a:lnL>
                    <a:lnR w="12700" cap="flat" cmpd="sng" algn="ctr">
                      <a:solidFill>
                        <a:srgbClr val="00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rgbClr val="FF3399"/>
                          </a:solidFill>
                          <a:effectLst/>
                          <a:latin typeface="微软雅黑" panose="020B0503020204020204" pitchFamily="34" charset="-122"/>
                          <a:ea typeface="微软雅黑" panose="020B0503020204020204" pitchFamily="34" charset="-122"/>
                        </a:rPr>
                        <a:t>25</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rgbClr val="00B050"/>
                          </a:solidFill>
                          <a:effectLst/>
                          <a:latin typeface="微软雅黑" panose="020B0503020204020204" pitchFamily="34" charset="-122"/>
                          <a:ea typeface="微软雅黑" panose="020B0503020204020204" pitchFamily="34" charset="-122"/>
                        </a:rPr>
                        <a:t>40</a:t>
                      </a:r>
                    </a:p>
                  </a:txBody>
                  <a:tcPr marT="45724" marB="45724" horzOverflow="overflow">
                    <a:lnL w="12700" cap="flat" cmpd="sng" algn="ctr">
                      <a:solidFill>
                        <a:srgbClr val="000000"/>
                      </a:solidFill>
                      <a:prstDash val="solid"/>
                      <a:round/>
                      <a:headEnd type="none" w="med" len="med"/>
                      <a:tailEnd type="none" w="med" len="med"/>
                    </a:lnL>
                    <a:lnR cap="flat">
                      <a:noFill/>
                    </a:lnR>
                    <a:lnT w="12700" cap="flat" cmpd="sng" algn="ctr">
                      <a:solidFill>
                        <a:srgbClr val="FF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52813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cs typeface="Times New Roman" pitchFamily="18" charset="0"/>
                        </a:rPr>
                        <a:t>三、错误与遗漏账户</a:t>
                      </a:r>
                      <a:endParaRPr kumimoji="0" lang="zh-CN" altLang="en-US" sz="1800" b="1" i="0" u="none" strike="noStrike" cap="none" normalizeH="0" baseline="0" dirty="0">
                        <a:ln>
                          <a:noFill/>
                        </a:ln>
                        <a:solidFill>
                          <a:srgbClr val="002060"/>
                        </a:solidFill>
                        <a:effectLst/>
                        <a:latin typeface="微软雅黑" panose="020B0503020204020204" pitchFamily="34" charset="-122"/>
                        <a:ea typeface="微软雅黑" panose="020B0503020204020204" pitchFamily="34" charset="-122"/>
                      </a:endParaRPr>
                    </a:p>
                  </a:txBody>
                  <a:tcPr marT="45724" marB="45724"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T="45724" marB="45724"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cxnSp>
        <p:nvCxnSpPr>
          <p:cNvPr id="22" name="直接连接符 21"/>
          <p:cNvCxnSpPr/>
          <p:nvPr/>
        </p:nvCxnSpPr>
        <p:spPr>
          <a:xfrm>
            <a:off x="505609" y="1592132"/>
            <a:ext cx="8154297" cy="1075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462579" y="2495774"/>
            <a:ext cx="8208085" cy="1075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451821" y="5206701"/>
            <a:ext cx="8272631" cy="1075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099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a:t>
            </a:r>
            <a:r>
              <a:rPr lang="en-US" altLang="zh-CN" dirty="0"/>
              <a:t>	</a:t>
            </a:r>
            <a:r>
              <a:rPr lang="zh-CN" altLang="en-US" dirty="0"/>
              <a:t>国际收支平衡表</a:t>
            </a:r>
            <a:endParaRPr lang="zh-CN" dirty="0"/>
          </a:p>
        </p:txBody>
      </p:sp>
      <p:sp>
        <p:nvSpPr>
          <p:cNvPr id="3" name="内容占位符 2"/>
          <p:cNvSpPr>
            <a:spLocks noGrp="1"/>
          </p:cNvSpPr>
          <p:nvPr>
            <p:ph idx="1"/>
          </p:nvPr>
        </p:nvSpPr>
        <p:spPr>
          <a:xfrm>
            <a:off x="971550" y="1248937"/>
            <a:ext cx="7200900" cy="4758163"/>
          </a:xfrm>
        </p:spPr>
        <p:txBody>
          <a:bodyPr>
            <a:normAutofit/>
          </a:bodyPr>
          <a:lstStyle/>
          <a:p>
            <a:pPr marL="0" indent="0">
              <a:lnSpc>
                <a:spcPct val="120000"/>
              </a:lnSpc>
              <a:buNone/>
            </a:pPr>
            <a:r>
              <a:rPr lang="zh-CN" altLang="en-US" b="1" dirty="0">
                <a:latin typeface="楷体" pitchFamily="49" charset="-122"/>
                <a:ea typeface="楷体" pitchFamily="49" charset="-122"/>
              </a:rPr>
              <a:t>实例：</a:t>
            </a:r>
            <a:endParaRPr lang="en-US" altLang="zh-CN" b="1" dirty="0">
              <a:latin typeface="楷体" pitchFamily="49" charset="-122"/>
              <a:ea typeface="楷体" pitchFamily="49" charset="-122"/>
            </a:endParaRPr>
          </a:p>
          <a:p>
            <a:pPr marL="514350" indent="-514350">
              <a:lnSpc>
                <a:spcPct val="120000"/>
              </a:lnSpc>
              <a:buFont typeface="+mj-lt"/>
              <a:buAutoNum type="arabicPeriod"/>
            </a:pPr>
            <a:r>
              <a:rPr lang="zh-CN" altLang="en-US" b="1" dirty="0">
                <a:solidFill>
                  <a:schemeClr val="accent1"/>
                </a:solidFill>
                <a:latin typeface="楷体" pitchFamily="49" charset="-122"/>
                <a:ea typeface="楷体" pitchFamily="49" charset="-122"/>
              </a:rPr>
              <a:t>甲国企业出口价值</a:t>
            </a:r>
            <a:r>
              <a:rPr lang="en-US" altLang="zh-CN" b="1" dirty="0">
                <a:solidFill>
                  <a:schemeClr val="accent1"/>
                </a:solidFill>
                <a:latin typeface="楷体" pitchFamily="49" charset="-122"/>
                <a:ea typeface="楷体" pitchFamily="49" charset="-122"/>
              </a:rPr>
              <a:t>100</a:t>
            </a:r>
            <a:r>
              <a:rPr lang="zh-CN" altLang="en-US" b="1" dirty="0">
                <a:solidFill>
                  <a:schemeClr val="accent1"/>
                </a:solidFill>
                <a:latin typeface="楷体" pitchFamily="49" charset="-122"/>
                <a:ea typeface="楷体" pitchFamily="49" charset="-122"/>
              </a:rPr>
              <a:t>万美元的设备，该企业在海外银行的存款相应增加；</a:t>
            </a:r>
          </a:p>
          <a:p>
            <a:pPr marL="514350" indent="-514350">
              <a:lnSpc>
                <a:spcPct val="120000"/>
              </a:lnSpc>
              <a:buFont typeface="+mj-lt"/>
              <a:buAutoNum type="arabicPeriod"/>
            </a:pPr>
            <a:r>
              <a:rPr lang="zh-CN" altLang="en-US" b="1" dirty="0">
                <a:solidFill>
                  <a:srgbClr val="CC9900"/>
                </a:solidFill>
                <a:latin typeface="楷体" pitchFamily="49" charset="-122"/>
                <a:ea typeface="楷体" pitchFamily="49" charset="-122"/>
              </a:rPr>
              <a:t>甲国居民到外国旅游花销</a:t>
            </a:r>
            <a:r>
              <a:rPr lang="en-US" altLang="zh-CN" b="1" dirty="0">
                <a:solidFill>
                  <a:srgbClr val="CC9900"/>
                </a:solidFill>
                <a:latin typeface="楷体" pitchFamily="49" charset="-122"/>
                <a:ea typeface="楷体" pitchFamily="49" charset="-122"/>
              </a:rPr>
              <a:t>30</a:t>
            </a:r>
            <a:r>
              <a:rPr lang="zh-CN" altLang="en-US" b="1" dirty="0">
                <a:solidFill>
                  <a:srgbClr val="CC9900"/>
                </a:solidFill>
                <a:latin typeface="楷体" pitchFamily="49" charset="-122"/>
                <a:ea typeface="楷体" pitchFamily="49" charset="-122"/>
              </a:rPr>
              <a:t>万美元，该费用从该居民的海外存款中扣除；</a:t>
            </a:r>
          </a:p>
          <a:p>
            <a:pPr marL="514350" indent="-514350">
              <a:lnSpc>
                <a:spcPct val="120000"/>
              </a:lnSpc>
              <a:buFont typeface="+mj-lt"/>
              <a:buAutoNum type="arabicPeriod"/>
            </a:pPr>
            <a:r>
              <a:rPr lang="zh-CN" altLang="en-US" b="1" dirty="0">
                <a:solidFill>
                  <a:srgbClr val="FF3399"/>
                </a:solidFill>
                <a:latin typeface="楷体" pitchFamily="49" charset="-122"/>
                <a:ea typeface="楷体" pitchFamily="49" charset="-122"/>
              </a:rPr>
              <a:t>甲国企业在海外投资所得利润</a:t>
            </a:r>
            <a:r>
              <a:rPr lang="en-US" altLang="zh-CN" b="1" dirty="0">
                <a:solidFill>
                  <a:srgbClr val="FF3399"/>
                </a:solidFill>
                <a:latin typeface="楷体" pitchFamily="49" charset="-122"/>
                <a:ea typeface="楷体" pitchFamily="49" charset="-122"/>
              </a:rPr>
              <a:t>150</a:t>
            </a:r>
            <a:r>
              <a:rPr lang="zh-CN" altLang="en-US" b="1" dirty="0">
                <a:solidFill>
                  <a:srgbClr val="FF3399"/>
                </a:solidFill>
                <a:latin typeface="楷体" pitchFamily="49" charset="-122"/>
                <a:ea typeface="楷体" pitchFamily="49" charset="-122"/>
              </a:rPr>
              <a:t>万美元，其中，</a:t>
            </a:r>
            <a:r>
              <a:rPr lang="en-US" altLang="zh-CN" b="1" dirty="0">
                <a:solidFill>
                  <a:srgbClr val="FF3399"/>
                </a:solidFill>
                <a:latin typeface="楷体" pitchFamily="49" charset="-122"/>
                <a:ea typeface="楷体" pitchFamily="49" charset="-122"/>
              </a:rPr>
              <a:t>75</a:t>
            </a:r>
            <a:r>
              <a:rPr lang="zh-CN" altLang="en-US" b="1" dirty="0">
                <a:solidFill>
                  <a:srgbClr val="FF3399"/>
                </a:solidFill>
                <a:latin typeface="楷体" pitchFamily="49" charset="-122"/>
                <a:ea typeface="楷体" pitchFamily="49" charset="-122"/>
              </a:rPr>
              <a:t>万用于当地再投资，</a:t>
            </a:r>
            <a:r>
              <a:rPr lang="en-US" altLang="zh-CN" b="1" dirty="0">
                <a:solidFill>
                  <a:srgbClr val="FF3399"/>
                </a:solidFill>
                <a:latin typeface="楷体" pitchFamily="49" charset="-122"/>
                <a:ea typeface="楷体" pitchFamily="49" charset="-122"/>
              </a:rPr>
              <a:t>50</a:t>
            </a:r>
            <a:r>
              <a:rPr lang="zh-CN" altLang="en-US" b="1" dirty="0">
                <a:solidFill>
                  <a:srgbClr val="FF3399"/>
                </a:solidFill>
                <a:latin typeface="楷体" pitchFamily="49" charset="-122"/>
                <a:ea typeface="楷体" pitchFamily="49" charset="-122"/>
              </a:rPr>
              <a:t>万购买当地商品运回国内，</a:t>
            </a:r>
            <a:r>
              <a:rPr lang="en-US" altLang="zh-CN" b="1" dirty="0">
                <a:solidFill>
                  <a:srgbClr val="FF3399"/>
                </a:solidFill>
                <a:latin typeface="楷体" pitchFamily="49" charset="-122"/>
                <a:ea typeface="楷体" pitchFamily="49" charset="-122"/>
              </a:rPr>
              <a:t>25</a:t>
            </a:r>
            <a:r>
              <a:rPr lang="zh-CN" altLang="en-US" b="1" dirty="0">
                <a:solidFill>
                  <a:srgbClr val="FF3399"/>
                </a:solidFill>
                <a:latin typeface="楷体" pitchFamily="49" charset="-122"/>
                <a:ea typeface="楷体" pitchFamily="49" charset="-122"/>
              </a:rPr>
              <a:t>万结售给政府换取本币；</a:t>
            </a:r>
          </a:p>
          <a:p>
            <a:pPr marL="514350" indent="-514350">
              <a:lnSpc>
                <a:spcPct val="120000"/>
              </a:lnSpc>
              <a:buFont typeface="+mj-lt"/>
              <a:buAutoNum type="arabicPeriod"/>
            </a:pPr>
            <a:r>
              <a:rPr lang="zh-CN" altLang="en-US" b="1" dirty="0">
                <a:solidFill>
                  <a:srgbClr val="00B050"/>
                </a:solidFill>
                <a:latin typeface="楷体" pitchFamily="49" charset="-122"/>
                <a:ea typeface="楷体" pitchFamily="49" charset="-122"/>
              </a:rPr>
              <a:t>甲国政府动用</a:t>
            </a:r>
            <a:r>
              <a:rPr lang="en-US" altLang="zh-CN" b="1" dirty="0">
                <a:solidFill>
                  <a:srgbClr val="00B050"/>
                </a:solidFill>
                <a:latin typeface="楷体" pitchFamily="49" charset="-122"/>
                <a:ea typeface="楷体" pitchFamily="49" charset="-122"/>
              </a:rPr>
              <a:t>40</a:t>
            </a:r>
            <a:r>
              <a:rPr lang="zh-CN" altLang="en-US" b="1" dirty="0">
                <a:solidFill>
                  <a:srgbClr val="00B050"/>
                </a:solidFill>
                <a:latin typeface="楷体" pitchFamily="49" charset="-122"/>
                <a:ea typeface="楷体" pitchFamily="49" charset="-122"/>
              </a:rPr>
              <a:t>万美元储备向国外提供无偿援助，另提供相当于</a:t>
            </a:r>
            <a:r>
              <a:rPr lang="en-US" altLang="zh-CN" b="1" dirty="0">
                <a:solidFill>
                  <a:srgbClr val="00B050"/>
                </a:solidFill>
                <a:latin typeface="楷体" pitchFamily="49" charset="-122"/>
                <a:ea typeface="楷体" pitchFamily="49" charset="-122"/>
              </a:rPr>
              <a:t>60</a:t>
            </a:r>
            <a:r>
              <a:rPr lang="zh-CN" altLang="en-US" b="1" dirty="0">
                <a:solidFill>
                  <a:srgbClr val="00B050"/>
                </a:solidFill>
                <a:latin typeface="楷体" pitchFamily="49" charset="-122"/>
                <a:ea typeface="楷体" pitchFamily="49" charset="-122"/>
              </a:rPr>
              <a:t>万美元的粮食药品援助。</a:t>
            </a:r>
          </a:p>
        </p:txBody>
      </p:sp>
      <p:sp>
        <p:nvSpPr>
          <p:cNvPr id="5" name="页脚占位符 4"/>
          <p:cNvSpPr>
            <a:spLocks noGrp="1"/>
          </p:cNvSpPr>
          <p:nvPr>
            <p:ph type="ftr" sz="quarter" idx="11"/>
          </p:nvPr>
        </p:nvSpPr>
        <p:spPr>
          <a:xfrm>
            <a:off x="6646546" y="6198239"/>
            <a:ext cx="2143123" cy="222436"/>
          </a:xfrm>
        </p:spPr>
        <p:txBody>
          <a:bodyPr/>
          <a:lstStyle/>
          <a:p>
            <a:r>
              <a:rPr lang="zh-CN" altLang="en-US" dirty="0"/>
              <a:t>国际金融学   范小云</a:t>
            </a:r>
          </a:p>
        </p:txBody>
      </p:sp>
    </p:spTree>
    <p:extLst>
      <p:ext uri="{BB962C8B-B14F-4D97-AF65-F5344CB8AC3E}">
        <p14:creationId xmlns:p14="http://schemas.microsoft.com/office/powerpoint/2010/main" val="2020723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a:t>
            </a:r>
            <a:r>
              <a:rPr lang="en-US" altLang="zh-CN" dirty="0"/>
              <a:t>	</a:t>
            </a:r>
            <a:r>
              <a:rPr lang="zh-CN" altLang="en-US" dirty="0"/>
              <a:t>国际收支平衡表</a:t>
            </a:r>
            <a:endParaRPr lang="zh-CN" dirty="0"/>
          </a:p>
        </p:txBody>
      </p:sp>
      <p:sp>
        <p:nvSpPr>
          <p:cNvPr id="3" name="内容占位符 2"/>
          <p:cNvSpPr>
            <a:spLocks noGrp="1"/>
          </p:cNvSpPr>
          <p:nvPr>
            <p:ph idx="1"/>
          </p:nvPr>
        </p:nvSpPr>
        <p:spPr/>
        <p:txBody>
          <a:bodyPr>
            <a:normAutofit/>
          </a:bodyPr>
          <a:lstStyle/>
          <a:p>
            <a:pPr marL="0" indent="0">
              <a:lnSpc>
                <a:spcPct val="110000"/>
              </a:lnSpc>
              <a:buNone/>
            </a:pPr>
            <a:r>
              <a:rPr lang="zh-CN" altLang="en-US" b="1" dirty="0">
                <a:latin typeface="楷体" pitchFamily="49" charset="-122"/>
                <a:ea typeface="楷体" pitchFamily="49" charset="-122"/>
              </a:rPr>
              <a:t>三、国际收支平衡表的分析</a:t>
            </a:r>
          </a:p>
          <a:p>
            <a:pPr marL="0" indent="0">
              <a:lnSpc>
                <a:spcPct val="110000"/>
              </a:lnSpc>
              <a:buNone/>
            </a:pPr>
            <a:r>
              <a:rPr lang="zh-CN" altLang="en-US" b="1" dirty="0">
                <a:latin typeface="楷体" pitchFamily="49" charset="-122"/>
                <a:ea typeface="楷体" pitchFamily="49" charset="-122"/>
              </a:rPr>
              <a:t>以第五版为例：</a:t>
            </a:r>
          </a:p>
          <a:p>
            <a:pPr marL="914400" lvl="2" indent="-457200">
              <a:lnSpc>
                <a:spcPct val="110000"/>
              </a:lnSpc>
              <a:buFont typeface="Wingdings" panose="05000000000000000000" pitchFamily="2" charset="2"/>
              <a:buChar char="ü"/>
            </a:pPr>
            <a:r>
              <a:rPr lang="zh-CN" altLang="en-US" sz="2000" b="1" dirty="0">
                <a:latin typeface="楷体" pitchFamily="49" charset="-122"/>
                <a:ea typeface="楷体" pitchFamily="49" charset="-122"/>
              </a:rPr>
              <a:t>贸易账户余额</a:t>
            </a:r>
          </a:p>
          <a:p>
            <a:pPr marL="914400" lvl="2" indent="-457200">
              <a:lnSpc>
                <a:spcPct val="110000"/>
              </a:lnSpc>
              <a:buFont typeface="Wingdings" panose="05000000000000000000" pitchFamily="2" charset="2"/>
              <a:buChar char="ü"/>
            </a:pPr>
            <a:r>
              <a:rPr lang="zh-CN" altLang="en-US" sz="2000" b="1" dirty="0">
                <a:latin typeface="楷体" pitchFamily="49" charset="-122"/>
                <a:ea typeface="楷体" pitchFamily="49" charset="-122"/>
              </a:rPr>
              <a:t>经常账户余额</a:t>
            </a:r>
          </a:p>
          <a:p>
            <a:pPr marL="914400" lvl="2" indent="-457200">
              <a:lnSpc>
                <a:spcPct val="110000"/>
              </a:lnSpc>
              <a:buFont typeface="Wingdings" panose="05000000000000000000" pitchFamily="2" charset="2"/>
              <a:buChar char="ü"/>
            </a:pPr>
            <a:r>
              <a:rPr lang="zh-CN" altLang="en-US" sz="2000" b="1" dirty="0">
                <a:latin typeface="楷体" pitchFamily="49" charset="-122"/>
                <a:ea typeface="楷体" pitchFamily="49" charset="-122"/>
              </a:rPr>
              <a:t>资本与金融账户余额</a:t>
            </a:r>
          </a:p>
          <a:p>
            <a:pPr marL="914400" lvl="2" indent="-457200">
              <a:lnSpc>
                <a:spcPct val="110000"/>
              </a:lnSpc>
              <a:buFont typeface="Wingdings" panose="05000000000000000000" pitchFamily="2" charset="2"/>
              <a:buChar char="ü"/>
            </a:pPr>
            <a:r>
              <a:rPr lang="zh-CN" altLang="en-US" sz="2000" b="1" dirty="0">
                <a:latin typeface="楷体" pitchFamily="49" charset="-122"/>
                <a:ea typeface="楷体" pitchFamily="49" charset="-122"/>
              </a:rPr>
              <a:t>综合账户差额或总差额</a:t>
            </a:r>
          </a:p>
          <a:p>
            <a:pPr marL="914400" lvl="2" indent="-457200">
              <a:lnSpc>
                <a:spcPct val="110000"/>
              </a:lnSpc>
              <a:buFont typeface="Wingdings" panose="05000000000000000000" pitchFamily="2" charset="2"/>
              <a:buChar char="ü"/>
            </a:pPr>
            <a:r>
              <a:rPr lang="zh-CN" altLang="en-US" sz="2000" b="1" dirty="0">
                <a:latin typeface="楷体" pitchFamily="49" charset="-122"/>
                <a:ea typeface="楷体" pitchFamily="49" charset="-122"/>
              </a:rPr>
              <a:t>错误与遗漏项的分析</a:t>
            </a:r>
            <a:endParaRPr lang="en-US" altLang="zh-CN" sz="2000" b="1" dirty="0">
              <a:latin typeface="楷体" pitchFamily="49" charset="-122"/>
              <a:ea typeface="楷体" pitchFamily="49" charset="-122"/>
            </a:endParaRPr>
          </a:p>
          <a:p>
            <a:pPr marL="457200" lvl="2" indent="0">
              <a:lnSpc>
                <a:spcPct val="110000"/>
              </a:lnSpc>
              <a:buNone/>
            </a:pPr>
            <a:r>
              <a:rPr lang="zh-CN" altLang="en-US" sz="2000" b="1" dirty="0">
                <a:solidFill>
                  <a:srgbClr val="C00000"/>
                </a:solidFill>
                <a:latin typeface="楷体" pitchFamily="49" charset="-122"/>
                <a:ea typeface="楷体" pitchFamily="49" charset="-122"/>
              </a:rPr>
              <a:t>思考：持续的国际收支顺差对一国经济发展和稳定一定是有利的吗？持续的国际收支逆差对一国经济发展和稳定一定是不利的吗？</a:t>
            </a:r>
            <a:endParaRPr lang="en-US" altLang="zh-CN" sz="2000" b="1" dirty="0">
              <a:solidFill>
                <a:srgbClr val="C00000"/>
              </a:solidFill>
              <a:latin typeface="楷体" pitchFamily="49" charset="-122"/>
              <a:ea typeface="楷体" pitchFamily="49" charset="-122"/>
            </a:endParaRPr>
          </a:p>
        </p:txBody>
      </p:sp>
      <p:sp>
        <p:nvSpPr>
          <p:cNvPr id="5" name="页脚占位符 4"/>
          <p:cNvSpPr>
            <a:spLocks noGrp="1"/>
          </p:cNvSpPr>
          <p:nvPr>
            <p:ph type="ftr" sz="quarter" idx="11"/>
          </p:nvPr>
        </p:nvSpPr>
        <p:spPr>
          <a:xfrm>
            <a:off x="6395085" y="6272534"/>
            <a:ext cx="2331721" cy="222436"/>
          </a:xfrm>
        </p:spPr>
        <p:txBody>
          <a:bodyPr/>
          <a:lstStyle/>
          <a:p>
            <a:r>
              <a:rPr lang="zh-CN" altLang="en-US" dirty="0"/>
              <a:t>国际金融学  范小云</a:t>
            </a:r>
          </a:p>
        </p:txBody>
      </p:sp>
    </p:spTree>
    <p:extLst>
      <p:ext uri="{BB962C8B-B14F-4D97-AF65-F5344CB8AC3E}">
        <p14:creationId xmlns:p14="http://schemas.microsoft.com/office/powerpoint/2010/main" val="1066846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a:t>
            </a:r>
            <a:r>
              <a:rPr lang="en-US" altLang="zh-CN" dirty="0"/>
              <a:t>	</a:t>
            </a:r>
            <a:r>
              <a:rPr lang="zh-CN" altLang="en-US" dirty="0"/>
              <a:t>国际收支平衡表</a:t>
            </a:r>
            <a:endParaRPr lang="zh-CN" dirty="0"/>
          </a:p>
        </p:txBody>
      </p:sp>
      <p:sp>
        <p:nvSpPr>
          <p:cNvPr id="3" name="内容占位符 2"/>
          <p:cNvSpPr>
            <a:spLocks noGrp="1"/>
          </p:cNvSpPr>
          <p:nvPr>
            <p:ph idx="1"/>
          </p:nvPr>
        </p:nvSpPr>
        <p:spPr>
          <a:xfrm>
            <a:off x="971549" y="1447800"/>
            <a:ext cx="7903509" cy="4559300"/>
          </a:xfrm>
        </p:spPr>
        <p:txBody>
          <a:bodyPr>
            <a:normAutofit/>
          </a:bodyPr>
          <a:lstStyle/>
          <a:p>
            <a:pPr marL="0" indent="0">
              <a:lnSpc>
                <a:spcPct val="110000"/>
              </a:lnSpc>
              <a:buNone/>
            </a:pPr>
            <a:r>
              <a:rPr altLang="en-US" b="1" dirty="0">
                <a:latin typeface="楷体" pitchFamily="49" charset="-122"/>
                <a:ea typeface="楷体" pitchFamily="49" charset="-122"/>
              </a:rPr>
              <a:t>四</a:t>
            </a:r>
            <a:r>
              <a:rPr lang="zh-CN" altLang="en-US" b="1" dirty="0">
                <a:latin typeface="楷体" pitchFamily="49" charset="-122"/>
                <a:ea typeface="楷体" pitchFamily="49" charset="-122"/>
              </a:rPr>
              <a:t>、</a:t>
            </a:r>
            <a:r>
              <a:rPr altLang="en-US" b="1" dirty="0">
                <a:latin typeface="楷体" pitchFamily="49" charset="-122"/>
                <a:ea typeface="楷体" pitchFamily="49" charset="-122"/>
              </a:rPr>
              <a:t>第六版与第五版的区别</a:t>
            </a:r>
            <a:endParaRPr lang="en-US" altLang="en-US" b="1" dirty="0">
              <a:latin typeface="楷体" pitchFamily="49" charset="-122"/>
              <a:ea typeface="楷体" pitchFamily="49" charset="-122"/>
            </a:endParaRPr>
          </a:p>
          <a:p>
            <a:pPr marL="0" indent="0">
              <a:lnSpc>
                <a:spcPct val="110000"/>
              </a:lnSpc>
              <a:buNone/>
            </a:pPr>
            <a:r>
              <a:rPr lang="en-US" altLang="zh-CN" b="1" dirty="0">
                <a:solidFill>
                  <a:srgbClr val="0070C0"/>
                </a:solidFill>
                <a:latin typeface="楷体" pitchFamily="49" charset="-122"/>
                <a:ea typeface="楷体" pitchFamily="49" charset="-122"/>
              </a:rPr>
              <a:t>1</a:t>
            </a:r>
            <a:r>
              <a:rPr altLang="en-US" b="1" dirty="0">
                <a:solidFill>
                  <a:srgbClr val="0070C0"/>
                </a:solidFill>
                <a:latin typeface="楷体" pitchFamily="49" charset="-122"/>
                <a:ea typeface="楷体" pitchFamily="49" charset="-122"/>
              </a:rPr>
              <a:t>、总体框架（反映一国居民与非居民之间经济关系的国际账户）</a:t>
            </a:r>
            <a:endParaRPr lang="en-US" altLang="en-US" b="1" dirty="0">
              <a:solidFill>
                <a:srgbClr val="0070C0"/>
              </a:solidFill>
              <a:latin typeface="楷体" pitchFamily="49" charset="-122"/>
              <a:ea typeface="楷体" pitchFamily="49" charset="-122"/>
            </a:endParaRPr>
          </a:p>
          <a:p>
            <a:pPr marL="457200" lvl="2" indent="0">
              <a:lnSpc>
                <a:spcPct val="110000"/>
              </a:lnSpc>
              <a:buClr>
                <a:srgbClr val="C00000"/>
              </a:buClr>
              <a:buFont typeface="Wingdings" pitchFamily="2" charset="2"/>
              <a:buChar char="u"/>
            </a:pPr>
            <a:r>
              <a:rPr lang="en-US" altLang="zh-CN" sz="2000" b="1" dirty="0">
                <a:solidFill>
                  <a:srgbClr val="0070C0"/>
                </a:solidFill>
                <a:latin typeface="楷体" pitchFamily="49" charset="-122"/>
                <a:ea typeface="楷体" pitchFamily="49" charset="-122"/>
              </a:rPr>
              <a:t>	</a:t>
            </a:r>
            <a:r>
              <a:rPr altLang="en-US" sz="2000" b="1" dirty="0">
                <a:solidFill>
                  <a:srgbClr val="002060"/>
                </a:solidFill>
                <a:latin typeface="楷体" pitchFamily="49" charset="-122"/>
                <a:ea typeface="楷体" pitchFamily="49" charset="-122"/>
              </a:rPr>
              <a:t>国际收支</a:t>
            </a:r>
            <a:endParaRPr lang="en-US" altLang="en-US" sz="2000" b="1" dirty="0">
              <a:solidFill>
                <a:srgbClr val="002060"/>
              </a:solidFill>
              <a:latin typeface="楷体" pitchFamily="49" charset="-122"/>
              <a:ea typeface="楷体" pitchFamily="49" charset="-122"/>
            </a:endParaRPr>
          </a:p>
          <a:p>
            <a:pPr marL="457200" lvl="2" indent="0">
              <a:lnSpc>
                <a:spcPct val="110000"/>
              </a:lnSpc>
              <a:buClr>
                <a:srgbClr val="C00000"/>
              </a:buClr>
              <a:buNone/>
            </a:pPr>
            <a:r>
              <a:rPr lang="en-US" altLang="en-US" sz="2000" b="1" dirty="0">
                <a:solidFill>
                  <a:srgbClr val="002060"/>
                </a:solidFill>
                <a:latin typeface="楷体" pitchFamily="49" charset="-122"/>
                <a:ea typeface="楷体" pitchFamily="49" charset="-122"/>
              </a:rPr>
              <a:t>	</a:t>
            </a:r>
            <a:r>
              <a:rPr altLang="en-US" sz="2000" b="1" dirty="0">
                <a:solidFill>
                  <a:srgbClr val="002060"/>
                </a:solidFill>
                <a:latin typeface="楷体" pitchFamily="49" charset="-122"/>
                <a:ea typeface="楷体" pitchFamily="49" charset="-122"/>
              </a:rPr>
              <a:t>（特定时期内居民与非居民间经济交易汇总）</a:t>
            </a:r>
            <a:endParaRPr lang="en-US" altLang="en-US" sz="2000" b="1" dirty="0">
              <a:solidFill>
                <a:srgbClr val="002060"/>
              </a:solidFill>
              <a:latin typeface="楷体" pitchFamily="49" charset="-122"/>
              <a:ea typeface="楷体" pitchFamily="49" charset="-122"/>
            </a:endParaRPr>
          </a:p>
          <a:p>
            <a:pPr marL="457200" lvl="2" indent="0">
              <a:lnSpc>
                <a:spcPts val="800"/>
              </a:lnSpc>
              <a:buClr>
                <a:srgbClr val="C00000"/>
              </a:buClr>
              <a:buNone/>
            </a:pPr>
            <a:endParaRPr lang="en-US" altLang="en-US" sz="2000" b="1" dirty="0">
              <a:solidFill>
                <a:srgbClr val="002060"/>
              </a:solidFill>
              <a:latin typeface="楷体" pitchFamily="49" charset="-122"/>
              <a:ea typeface="楷体" pitchFamily="49" charset="-122"/>
            </a:endParaRPr>
          </a:p>
          <a:p>
            <a:pPr marL="457200" lvl="2" indent="0">
              <a:lnSpc>
                <a:spcPct val="110000"/>
              </a:lnSpc>
              <a:buClr>
                <a:srgbClr val="C00000"/>
              </a:buClr>
              <a:buFont typeface="Wingdings" pitchFamily="2" charset="2"/>
              <a:buChar char="u"/>
            </a:pPr>
            <a:r>
              <a:rPr lang="en-US" altLang="en-US" sz="2000" b="1" dirty="0">
                <a:solidFill>
                  <a:srgbClr val="002060"/>
                </a:solidFill>
                <a:latin typeface="楷体" pitchFamily="49" charset="-122"/>
                <a:ea typeface="楷体" pitchFamily="49" charset="-122"/>
              </a:rPr>
              <a:t>	</a:t>
            </a:r>
            <a:r>
              <a:rPr altLang="en-US" sz="2000" b="1" dirty="0">
                <a:solidFill>
                  <a:srgbClr val="002060"/>
                </a:solidFill>
                <a:latin typeface="楷体" pitchFamily="49" charset="-122"/>
                <a:ea typeface="楷体" pitchFamily="49" charset="-122"/>
              </a:rPr>
              <a:t>国际投资头寸</a:t>
            </a:r>
            <a:endParaRPr lang="en-US" altLang="en-US" sz="2000" b="1" dirty="0">
              <a:solidFill>
                <a:srgbClr val="002060"/>
              </a:solidFill>
              <a:latin typeface="楷体" pitchFamily="49" charset="-122"/>
              <a:ea typeface="楷体" pitchFamily="49" charset="-122"/>
            </a:endParaRPr>
          </a:p>
          <a:p>
            <a:pPr marL="457200" lvl="2" indent="0">
              <a:lnSpc>
                <a:spcPct val="110000"/>
              </a:lnSpc>
              <a:buClr>
                <a:srgbClr val="C00000"/>
              </a:buClr>
              <a:buNone/>
            </a:pPr>
            <a:r>
              <a:rPr lang="en-US" altLang="en-US" sz="2000" b="1" dirty="0">
                <a:solidFill>
                  <a:srgbClr val="002060"/>
                </a:solidFill>
                <a:latin typeface="楷体" pitchFamily="49" charset="-122"/>
                <a:ea typeface="楷体" pitchFamily="49" charset="-122"/>
              </a:rPr>
              <a:t>	</a:t>
            </a:r>
            <a:r>
              <a:rPr altLang="en-US" sz="2000" b="1" dirty="0">
                <a:solidFill>
                  <a:srgbClr val="002060"/>
                </a:solidFill>
                <a:latin typeface="楷体" pitchFamily="49" charset="-122"/>
                <a:ea typeface="楷体" pitchFamily="49" charset="-122"/>
              </a:rPr>
              <a:t>（某时点，居民对非居民的债权、负债，以及作为储备持有的金融资产）</a:t>
            </a:r>
            <a:endParaRPr lang="en-US" altLang="en-US" sz="2000" b="1" dirty="0">
              <a:solidFill>
                <a:srgbClr val="002060"/>
              </a:solidFill>
              <a:latin typeface="楷体" pitchFamily="49" charset="-122"/>
              <a:ea typeface="楷体" pitchFamily="49" charset="-122"/>
            </a:endParaRPr>
          </a:p>
          <a:p>
            <a:pPr marL="457200" lvl="2" indent="0">
              <a:lnSpc>
                <a:spcPts val="900"/>
              </a:lnSpc>
              <a:buClr>
                <a:srgbClr val="C00000"/>
              </a:buClr>
              <a:buNone/>
            </a:pPr>
            <a:endParaRPr lang="en-US" altLang="en-US" sz="2000" b="1" dirty="0">
              <a:solidFill>
                <a:srgbClr val="002060"/>
              </a:solidFill>
              <a:latin typeface="楷体" pitchFamily="49" charset="-122"/>
              <a:ea typeface="楷体" pitchFamily="49" charset="-122"/>
            </a:endParaRPr>
          </a:p>
          <a:p>
            <a:pPr marL="457200" lvl="2" indent="0">
              <a:lnSpc>
                <a:spcPct val="110000"/>
              </a:lnSpc>
              <a:buClr>
                <a:srgbClr val="C00000"/>
              </a:buClr>
              <a:buFont typeface="Wingdings" pitchFamily="2" charset="2"/>
              <a:buChar char="u"/>
            </a:pPr>
            <a:r>
              <a:rPr lang="en-US" altLang="zh-CN" sz="2000" b="1" dirty="0">
                <a:solidFill>
                  <a:srgbClr val="002060"/>
                </a:solidFill>
                <a:latin typeface="楷体" pitchFamily="49" charset="-122"/>
                <a:ea typeface="楷体" pitchFamily="49" charset="-122"/>
              </a:rPr>
              <a:t>	</a:t>
            </a:r>
            <a:r>
              <a:rPr altLang="en-US" sz="2000" b="1" dirty="0">
                <a:solidFill>
                  <a:srgbClr val="002060"/>
                </a:solidFill>
                <a:latin typeface="楷体" pitchFamily="49" charset="-122"/>
                <a:ea typeface="楷体" pitchFamily="49" charset="-122"/>
              </a:rPr>
              <a:t>金融资产和负债其他变化账户</a:t>
            </a:r>
            <a:endParaRPr lang="en-US" altLang="en-US" sz="2000" b="1" dirty="0">
              <a:solidFill>
                <a:srgbClr val="002060"/>
              </a:solidFill>
              <a:latin typeface="楷体" pitchFamily="49" charset="-122"/>
              <a:ea typeface="楷体" pitchFamily="49" charset="-122"/>
            </a:endParaRPr>
          </a:p>
          <a:p>
            <a:pPr marL="457200" lvl="2" indent="0">
              <a:lnSpc>
                <a:spcPct val="110000"/>
              </a:lnSpc>
              <a:buClr>
                <a:srgbClr val="C00000"/>
              </a:buClr>
              <a:buNone/>
            </a:pPr>
            <a:r>
              <a:rPr lang="en-US" altLang="en-US" sz="2000" b="1" dirty="0">
                <a:solidFill>
                  <a:srgbClr val="002060"/>
                </a:solidFill>
                <a:latin typeface="楷体" pitchFamily="49" charset="-122"/>
                <a:ea typeface="楷体" pitchFamily="49" charset="-122"/>
              </a:rPr>
              <a:t>	</a:t>
            </a:r>
            <a:r>
              <a:rPr altLang="en-US" sz="2000" b="1" dirty="0">
                <a:solidFill>
                  <a:srgbClr val="002060"/>
                </a:solidFill>
                <a:latin typeface="楷体" pitchFamily="49" charset="-122"/>
                <a:ea typeface="楷体" pitchFamily="49" charset="-122"/>
              </a:rPr>
              <a:t>（除居民与非居民间交易以外的经济事件引起的变化，流量）</a:t>
            </a:r>
            <a:endParaRPr lang="zh-CN" altLang="en-US" sz="2000" b="1" dirty="0">
              <a:solidFill>
                <a:srgbClr val="002060"/>
              </a:solidFill>
              <a:latin typeface="楷体" pitchFamily="49" charset="-122"/>
              <a:ea typeface="楷体" pitchFamily="49" charset="-122"/>
            </a:endParaRPr>
          </a:p>
        </p:txBody>
      </p:sp>
      <p:sp>
        <p:nvSpPr>
          <p:cNvPr id="5" name="页脚占位符 4"/>
          <p:cNvSpPr>
            <a:spLocks noGrp="1"/>
          </p:cNvSpPr>
          <p:nvPr>
            <p:ph type="ftr" sz="quarter" idx="11"/>
          </p:nvPr>
        </p:nvSpPr>
        <p:spPr/>
        <p:txBody>
          <a:bodyPr/>
          <a:lstStyle/>
          <a:p>
            <a:r>
              <a:rPr lang="zh-CN" altLang="en-US"/>
              <a:t>国际金融学 范小云</a:t>
            </a:r>
            <a:endParaRPr lang="zh-CN" altLang="en-US" dirty="0"/>
          </a:p>
        </p:txBody>
      </p:sp>
    </p:spTree>
    <p:extLst>
      <p:ext uri="{BB962C8B-B14F-4D97-AF65-F5344CB8AC3E}">
        <p14:creationId xmlns:p14="http://schemas.microsoft.com/office/powerpoint/2010/main" val="1066846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a:t>
            </a:r>
            <a:r>
              <a:rPr lang="en-US" altLang="zh-CN" dirty="0"/>
              <a:t>	</a:t>
            </a:r>
            <a:r>
              <a:rPr lang="zh-CN" altLang="en-US" dirty="0"/>
              <a:t>国际收支平衡表</a:t>
            </a:r>
            <a:endParaRPr lang="zh-CN" dirty="0"/>
          </a:p>
        </p:txBody>
      </p:sp>
      <p:sp>
        <p:nvSpPr>
          <p:cNvPr id="3" name="内容占位符 2"/>
          <p:cNvSpPr>
            <a:spLocks noGrp="1"/>
          </p:cNvSpPr>
          <p:nvPr>
            <p:ph idx="1"/>
          </p:nvPr>
        </p:nvSpPr>
        <p:spPr>
          <a:xfrm>
            <a:off x="971549" y="1447800"/>
            <a:ext cx="7903509" cy="4559300"/>
          </a:xfrm>
        </p:spPr>
        <p:txBody>
          <a:bodyPr>
            <a:noAutofit/>
          </a:bodyPr>
          <a:lstStyle/>
          <a:p>
            <a:pPr marL="0" indent="0">
              <a:lnSpc>
                <a:spcPct val="110000"/>
              </a:lnSpc>
              <a:buNone/>
            </a:pPr>
            <a:r>
              <a:rPr altLang="en-US" b="1" dirty="0">
                <a:latin typeface="楷体" pitchFamily="49" charset="-122"/>
                <a:ea typeface="楷体" pitchFamily="49" charset="-122"/>
              </a:rPr>
              <a:t>四</a:t>
            </a:r>
            <a:r>
              <a:rPr lang="zh-CN" altLang="en-US" b="1" dirty="0">
                <a:latin typeface="楷体" pitchFamily="49" charset="-122"/>
                <a:ea typeface="楷体" pitchFamily="49" charset="-122"/>
              </a:rPr>
              <a:t>、</a:t>
            </a:r>
            <a:r>
              <a:rPr altLang="en-US" b="1" dirty="0">
                <a:latin typeface="楷体" pitchFamily="49" charset="-122"/>
                <a:ea typeface="楷体" pitchFamily="49" charset="-122"/>
              </a:rPr>
              <a:t>第六版与第五版的区别</a:t>
            </a:r>
            <a:endParaRPr lang="en-US" altLang="en-US" b="1" dirty="0">
              <a:latin typeface="楷体" pitchFamily="49" charset="-122"/>
              <a:ea typeface="楷体" pitchFamily="49" charset="-122"/>
            </a:endParaRPr>
          </a:p>
          <a:p>
            <a:pPr marL="0" indent="0">
              <a:lnSpc>
                <a:spcPct val="110000"/>
              </a:lnSpc>
              <a:buNone/>
            </a:pPr>
            <a:r>
              <a:rPr lang="en-US" altLang="en-US" b="1" dirty="0">
                <a:solidFill>
                  <a:srgbClr val="0070C0"/>
                </a:solidFill>
                <a:latin typeface="楷体" pitchFamily="49" charset="-122"/>
                <a:ea typeface="楷体" pitchFamily="49" charset="-122"/>
              </a:rPr>
              <a:t>2</a:t>
            </a:r>
            <a:r>
              <a:rPr altLang="en-US" b="1" dirty="0">
                <a:solidFill>
                  <a:srgbClr val="0070C0"/>
                </a:solidFill>
                <a:latin typeface="楷体" pitchFamily="49" charset="-122"/>
                <a:ea typeface="楷体" pitchFamily="49" charset="-122"/>
              </a:rPr>
              <a:t>、修订背景</a:t>
            </a:r>
            <a:endParaRPr lang="en-US" altLang="en-US" b="1" dirty="0">
              <a:solidFill>
                <a:srgbClr val="0070C0"/>
              </a:solidFill>
              <a:latin typeface="楷体" pitchFamily="49" charset="-122"/>
              <a:ea typeface="楷体" pitchFamily="49" charset="-122"/>
            </a:endParaRPr>
          </a:p>
          <a:p>
            <a:pPr marL="457200" lvl="2" indent="0">
              <a:lnSpc>
                <a:spcPct val="110000"/>
              </a:lnSpc>
              <a:buClr>
                <a:srgbClr val="C00000"/>
              </a:buClr>
              <a:buFont typeface="Wingdings" pitchFamily="2" charset="2"/>
              <a:buChar char="u"/>
            </a:pPr>
            <a:r>
              <a:rPr lang="en-US" altLang="zh-CN" sz="2000" b="1" dirty="0">
                <a:solidFill>
                  <a:srgbClr val="0070C0"/>
                </a:solidFill>
                <a:latin typeface="楷体" pitchFamily="49" charset="-122"/>
                <a:ea typeface="楷体" pitchFamily="49" charset="-122"/>
              </a:rPr>
              <a:t>	</a:t>
            </a:r>
            <a:r>
              <a:rPr altLang="en-US" sz="2000" b="1" dirty="0">
                <a:solidFill>
                  <a:srgbClr val="002060"/>
                </a:solidFill>
                <a:latin typeface="楷体" pitchFamily="49" charset="-122"/>
                <a:ea typeface="楷体" pitchFamily="49" charset="-122"/>
              </a:rPr>
              <a:t>全球化</a:t>
            </a:r>
            <a:endParaRPr lang="en-US" altLang="en-US" sz="2000" b="1" dirty="0">
              <a:solidFill>
                <a:srgbClr val="002060"/>
              </a:solidFill>
              <a:latin typeface="楷体" pitchFamily="49" charset="-122"/>
              <a:ea typeface="楷体" pitchFamily="49" charset="-122"/>
            </a:endParaRPr>
          </a:p>
          <a:p>
            <a:pPr marL="457200" lvl="2" indent="0">
              <a:lnSpc>
                <a:spcPct val="110000"/>
              </a:lnSpc>
              <a:buClr>
                <a:srgbClr val="C00000"/>
              </a:buClr>
              <a:buNone/>
            </a:pPr>
            <a:r>
              <a:rPr lang="en-US" altLang="en-US" sz="2000" b="1" dirty="0">
                <a:solidFill>
                  <a:srgbClr val="002060"/>
                </a:solidFill>
                <a:latin typeface="楷体" pitchFamily="49" charset="-122"/>
                <a:ea typeface="楷体" pitchFamily="49" charset="-122"/>
              </a:rPr>
              <a:t>	</a:t>
            </a:r>
            <a:r>
              <a:rPr altLang="en-US" sz="2000" b="1" dirty="0">
                <a:solidFill>
                  <a:srgbClr val="002060"/>
                </a:solidFill>
                <a:latin typeface="楷体" pitchFamily="49" charset="-122"/>
                <a:ea typeface="楷体" pitchFamily="49" charset="-122"/>
              </a:rPr>
              <a:t>（越来越多的个人和公司与两个或更多经济体联系，各经济体达成的经济安排越来越多，全球化生产流程等）</a:t>
            </a:r>
            <a:endParaRPr lang="en-US" altLang="en-US" sz="2000" b="1" dirty="0">
              <a:solidFill>
                <a:srgbClr val="002060"/>
              </a:solidFill>
              <a:latin typeface="楷体" pitchFamily="49" charset="-122"/>
              <a:ea typeface="楷体" pitchFamily="49" charset="-122"/>
            </a:endParaRPr>
          </a:p>
          <a:p>
            <a:pPr marL="457200" lvl="2" indent="0">
              <a:lnSpc>
                <a:spcPts val="800"/>
              </a:lnSpc>
              <a:buClr>
                <a:srgbClr val="C00000"/>
              </a:buClr>
              <a:buNone/>
            </a:pPr>
            <a:endParaRPr lang="en-US" altLang="en-US" sz="2000" b="1" dirty="0">
              <a:solidFill>
                <a:srgbClr val="002060"/>
              </a:solidFill>
              <a:latin typeface="楷体" pitchFamily="49" charset="-122"/>
              <a:ea typeface="楷体" pitchFamily="49" charset="-122"/>
            </a:endParaRPr>
          </a:p>
          <a:p>
            <a:pPr marL="457200" lvl="2" indent="0">
              <a:lnSpc>
                <a:spcPct val="110000"/>
              </a:lnSpc>
              <a:buClr>
                <a:srgbClr val="C00000"/>
              </a:buClr>
              <a:buFont typeface="Wingdings" pitchFamily="2" charset="2"/>
              <a:buChar char="u"/>
            </a:pPr>
            <a:r>
              <a:rPr lang="en-US" altLang="en-US" sz="2000" b="1" dirty="0">
                <a:solidFill>
                  <a:srgbClr val="002060"/>
                </a:solidFill>
                <a:latin typeface="楷体" pitchFamily="49" charset="-122"/>
                <a:ea typeface="楷体" pitchFamily="49" charset="-122"/>
              </a:rPr>
              <a:t>	</a:t>
            </a:r>
            <a:r>
              <a:rPr altLang="en-US" sz="2000" b="1" dirty="0">
                <a:solidFill>
                  <a:srgbClr val="002060"/>
                </a:solidFill>
                <a:latin typeface="楷体" pitchFamily="49" charset="-122"/>
                <a:ea typeface="楷体" pitchFamily="49" charset="-122"/>
              </a:rPr>
              <a:t>资产负债表分析日益细化的需求</a:t>
            </a:r>
            <a:endParaRPr lang="en-US" altLang="en-US" sz="2000" b="1" dirty="0">
              <a:solidFill>
                <a:srgbClr val="002060"/>
              </a:solidFill>
              <a:latin typeface="楷体" pitchFamily="49" charset="-122"/>
              <a:ea typeface="楷体" pitchFamily="49" charset="-122"/>
            </a:endParaRPr>
          </a:p>
          <a:p>
            <a:pPr marL="457200" lvl="2" indent="0">
              <a:lnSpc>
                <a:spcPct val="110000"/>
              </a:lnSpc>
              <a:buClr>
                <a:srgbClr val="C00000"/>
              </a:buClr>
              <a:buNone/>
            </a:pPr>
            <a:r>
              <a:rPr lang="en-US" altLang="en-US" sz="2000" b="1" dirty="0">
                <a:solidFill>
                  <a:srgbClr val="002060"/>
                </a:solidFill>
                <a:latin typeface="楷体" pitchFamily="49" charset="-122"/>
                <a:ea typeface="楷体" pitchFamily="49" charset="-122"/>
              </a:rPr>
              <a:t>	</a:t>
            </a:r>
            <a:r>
              <a:rPr altLang="en-US" sz="2000" b="1" dirty="0">
                <a:solidFill>
                  <a:srgbClr val="002060"/>
                </a:solidFill>
                <a:latin typeface="楷体" pitchFamily="49" charset="-122"/>
                <a:ea typeface="楷体" pitchFamily="49" charset="-122"/>
              </a:rPr>
              <a:t>（更加重视脆弱性、可持续性等问题，有关资产负债种类、变化的分析更细化）</a:t>
            </a:r>
            <a:endParaRPr lang="en-US" altLang="en-US" sz="2000" b="1" dirty="0">
              <a:solidFill>
                <a:srgbClr val="002060"/>
              </a:solidFill>
              <a:latin typeface="楷体" pitchFamily="49" charset="-122"/>
              <a:ea typeface="楷体" pitchFamily="49" charset="-122"/>
            </a:endParaRPr>
          </a:p>
          <a:p>
            <a:pPr marL="457200" lvl="2" indent="0">
              <a:lnSpc>
                <a:spcPts val="900"/>
              </a:lnSpc>
              <a:buClr>
                <a:srgbClr val="C00000"/>
              </a:buClr>
              <a:buNone/>
            </a:pPr>
            <a:endParaRPr lang="en-US" altLang="en-US" sz="2000" b="1" dirty="0">
              <a:solidFill>
                <a:srgbClr val="002060"/>
              </a:solidFill>
              <a:latin typeface="楷体" pitchFamily="49" charset="-122"/>
              <a:ea typeface="楷体" pitchFamily="49" charset="-122"/>
            </a:endParaRPr>
          </a:p>
          <a:p>
            <a:pPr marL="457200" lvl="2" indent="0">
              <a:lnSpc>
                <a:spcPct val="110000"/>
              </a:lnSpc>
              <a:buClr>
                <a:srgbClr val="C00000"/>
              </a:buClr>
              <a:buFont typeface="Wingdings" pitchFamily="2" charset="2"/>
              <a:buChar char="u"/>
            </a:pPr>
            <a:r>
              <a:rPr lang="en-US" altLang="zh-CN" sz="2000" b="1" dirty="0">
                <a:solidFill>
                  <a:srgbClr val="002060"/>
                </a:solidFill>
                <a:latin typeface="楷体" pitchFamily="49" charset="-122"/>
                <a:ea typeface="楷体" pitchFamily="49" charset="-122"/>
              </a:rPr>
              <a:t>	</a:t>
            </a:r>
            <a:r>
              <a:rPr altLang="en-US" sz="2000" b="1" dirty="0">
                <a:solidFill>
                  <a:srgbClr val="002060"/>
                </a:solidFill>
                <a:latin typeface="楷体" pitchFamily="49" charset="-122"/>
                <a:ea typeface="楷体" pitchFamily="49" charset="-122"/>
              </a:rPr>
              <a:t>金融创新</a:t>
            </a:r>
            <a:endParaRPr lang="en-US" altLang="en-US" sz="2000" b="1" dirty="0">
              <a:solidFill>
                <a:srgbClr val="002060"/>
              </a:solidFill>
              <a:latin typeface="楷体" pitchFamily="49" charset="-122"/>
              <a:ea typeface="楷体" pitchFamily="49" charset="-122"/>
            </a:endParaRPr>
          </a:p>
          <a:p>
            <a:pPr marL="457200" lvl="2" indent="0">
              <a:lnSpc>
                <a:spcPct val="110000"/>
              </a:lnSpc>
              <a:buClr>
                <a:srgbClr val="C00000"/>
              </a:buClr>
              <a:buNone/>
            </a:pPr>
            <a:r>
              <a:rPr lang="en-US" altLang="en-US" sz="2000" b="1" dirty="0">
                <a:solidFill>
                  <a:srgbClr val="002060"/>
                </a:solidFill>
                <a:latin typeface="楷体" pitchFamily="49" charset="-122"/>
                <a:ea typeface="楷体" pitchFamily="49" charset="-122"/>
              </a:rPr>
              <a:t>	</a:t>
            </a:r>
            <a:r>
              <a:rPr altLang="en-US" sz="2000" b="1" dirty="0">
                <a:solidFill>
                  <a:srgbClr val="002060"/>
                </a:solidFill>
                <a:latin typeface="楷体" pitchFamily="49" charset="-122"/>
                <a:ea typeface="楷体" pitchFamily="49" charset="-122"/>
              </a:rPr>
              <a:t>（机构单位中新出现和发展的金融工具和安排）</a:t>
            </a:r>
            <a:endParaRPr lang="zh-CN" altLang="en-US" sz="2000" b="1" dirty="0">
              <a:solidFill>
                <a:srgbClr val="002060"/>
              </a:solidFill>
              <a:latin typeface="楷体" pitchFamily="49" charset="-122"/>
              <a:ea typeface="楷体" pitchFamily="49" charset="-122"/>
            </a:endParaRPr>
          </a:p>
        </p:txBody>
      </p:sp>
      <p:sp>
        <p:nvSpPr>
          <p:cNvPr id="5" name="页脚占位符 4"/>
          <p:cNvSpPr>
            <a:spLocks noGrp="1"/>
          </p:cNvSpPr>
          <p:nvPr>
            <p:ph type="ftr" sz="quarter" idx="11"/>
          </p:nvPr>
        </p:nvSpPr>
        <p:spPr/>
        <p:txBody>
          <a:bodyPr/>
          <a:lstStyle/>
          <a:p>
            <a:r>
              <a:rPr lang="zh-CN" altLang="en-US"/>
              <a:t>国际金融学 范小云</a:t>
            </a:r>
            <a:endParaRPr lang="zh-CN" altLang="en-US" dirty="0"/>
          </a:p>
        </p:txBody>
      </p:sp>
    </p:spTree>
    <p:extLst>
      <p:ext uri="{BB962C8B-B14F-4D97-AF65-F5344CB8AC3E}">
        <p14:creationId xmlns:p14="http://schemas.microsoft.com/office/powerpoint/2010/main" val="1066846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47132" y="0"/>
            <a:ext cx="7659493" cy="583780"/>
          </a:xfrm>
        </p:spPr>
        <p:txBody>
          <a:bodyPr>
            <a:normAutofit/>
          </a:bodyPr>
          <a:lstStyle/>
          <a:p>
            <a:pPr>
              <a:spcBef>
                <a:spcPct val="50000"/>
              </a:spcBef>
            </a:pPr>
            <a:r>
              <a:rPr lang="en-US" altLang="zh-CN" sz="2800" dirty="0"/>
              <a:t> 3</a:t>
            </a:r>
            <a:r>
              <a:rPr altLang="en-US" sz="2800" dirty="0"/>
              <a:t>、</a:t>
            </a:r>
            <a:r>
              <a:rPr lang="zh-CN" altLang="en-US" sz="2800" dirty="0">
                <a:latin typeface="黑体" panose="02010609060101010101" pitchFamily="49" charset="-122"/>
                <a:ea typeface="黑体" panose="02010609060101010101" pitchFamily="49" charset="-122"/>
              </a:rPr>
              <a:t>国际收支平衡表标准格式简表 （第六版）</a:t>
            </a:r>
          </a:p>
        </p:txBody>
      </p:sp>
      <p:graphicFrame>
        <p:nvGraphicFramePr>
          <p:cNvPr id="3" name="表格 2"/>
          <p:cNvGraphicFramePr>
            <a:graphicFrameLocks noGrp="1"/>
          </p:cNvGraphicFramePr>
          <p:nvPr>
            <p:extLst>
              <p:ext uri="{D42A27DB-BD31-4B8C-83A1-F6EECF244321}">
                <p14:modId xmlns:p14="http://schemas.microsoft.com/office/powerpoint/2010/main" val="352083163"/>
              </p:ext>
            </p:extLst>
          </p:nvPr>
        </p:nvGraphicFramePr>
        <p:xfrm>
          <a:off x="334537" y="617233"/>
          <a:ext cx="8642157" cy="6064430"/>
        </p:xfrm>
        <a:graphic>
          <a:graphicData uri="http://schemas.openxmlformats.org/drawingml/2006/table">
            <a:tbl>
              <a:tblPr/>
              <a:tblGrid>
                <a:gridCol w="4104350">
                  <a:extLst>
                    <a:ext uri="{9D8B030D-6E8A-4147-A177-3AD203B41FA5}">
                      <a16:colId xmlns:a16="http://schemas.microsoft.com/office/drawing/2014/main" val="20000"/>
                    </a:ext>
                  </a:extLst>
                </a:gridCol>
                <a:gridCol w="2160936">
                  <a:extLst>
                    <a:ext uri="{9D8B030D-6E8A-4147-A177-3AD203B41FA5}">
                      <a16:colId xmlns:a16="http://schemas.microsoft.com/office/drawing/2014/main" val="20001"/>
                    </a:ext>
                  </a:extLst>
                </a:gridCol>
                <a:gridCol w="2376871">
                  <a:extLst>
                    <a:ext uri="{9D8B030D-6E8A-4147-A177-3AD203B41FA5}">
                      <a16:colId xmlns:a16="http://schemas.microsoft.com/office/drawing/2014/main" val="20002"/>
                    </a:ext>
                  </a:extLst>
                </a:gridCol>
              </a:tblGrid>
              <a:tr h="45187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dirty="0">
                        <a:ln>
                          <a:noFill/>
                        </a:ln>
                        <a:solidFill>
                          <a:schemeClr val="tx1"/>
                        </a:solidFill>
                        <a:effectLst/>
                        <a:latin typeface="楷体" pitchFamily="49" charset="-122"/>
                        <a:ea typeface="楷体" pitchFamily="49" charset="-122"/>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楷体" pitchFamily="49" charset="-122"/>
                          <a:ea typeface="楷体" pitchFamily="49" charset="-122"/>
                          <a:cs typeface="Times New Roman" pitchFamily="18" charset="0"/>
                        </a:rPr>
                        <a:t>贷方（</a:t>
                      </a:r>
                      <a:r>
                        <a:rPr kumimoji="0" lang="en-US" altLang="zh-CN" sz="2000" b="1" i="0" u="none" strike="noStrike" cap="none" normalizeH="0" baseline="0">
                          <a:ln>
                            <a:noFill/>
                          </a:ln>
                          <a:solidFill>
                            <a:schemeClr val="tx1"/>
                          </a:solidFill>
                          <a:effectLst/>
                          <a:latin typeface="楷体" pitchFamily="49" charset="-122"/>
                          <a:ea typeface="楷体" pitchFamily="49" charset="-122"/>
                          <a:cs typeface="Times New Roman" pitchFamily="18" charset="0"/>
                        </a:rPr>
                        <a:t>+</a:t>
                      </a:r>
                      <a:r>
                        <a:rPr kumimoji="0" lang="zh-CN" altLang="en-US" sz="2000" b="1" i="0" u="none" strike="noStrike" cap="none" normalizeH="0" baseline="0">
                          <a:ln>
                            <a:noFill/>
                          </a:ln>
                          <a:solidFill>
                            <a:schemeClr val="tx1"/>
                          </a:solidFill>
                          <a:effectLst/>
                          <a:latin typeface="楷体" pitchFamily="49" charset="-122"/>
                          <a:ea typeface="楷体" pitchFamily="49" charset="-122"/>
                          <a:cs typeface="Times New Roman" pitchFamily="18" charset="0"/>
                        </a:rPr>
                        <a:t>）</a:t>
                      </a: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借方（－）</a:t>
                      </a:r>
                    </a:p>
                  </a:txBody>
                  <a:tcPr marT="45714" marB="45714"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187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C00000"/>
                          </a:solidFill>
                          <a:effectLst/>
                          <a:latin typeface="楷体" pitchFamily="49" charset="-122"/>
                          <a:ea typeface="楷体" pitchFamily="49" charset="-122"/>
                          <a:cs typeface="Times New Roman" pitchFamily="18" charset="0"/>
                        </a:rPr>
                        <a:t>一、经常账户</a:t>
                      </a:r>
                    </a:p>
                  </a:txBody>
                  <a:tcPr marT="45714" marB="45714"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rowSpan="4">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（经常账户收入）</a:t>
                      </a: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4">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楷体" pitchFamily="49" charset="-122"/>
                          <a:ea typeface="楷体" pitchFamily="49" charset="-122"/>
                          <a:cs typeface="Times New Roman" pitchFamily="18" charset="0"/>
                        </a:rPr>
                        <a:t>（经常账户支出）</a:t>
                      </a:r>
                    </a:p>
                  </a:txBody>
                  <a:tcPr marT="45714" marB="45714"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187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  1</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．商品与服务</a:t>
                      </a:r>
                    </a:p>
                  </a:txBody>
                  <a:tcPr marT="45714" marB="45714"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2"/>
                  </a:ext>
                </a:extLst>
              </a:tr>
              <a:tr h="45187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  2</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．初次收入</a:t>
                      </a:r>
                    </a:p>
                  </a:txBody>
                  <a:tcPr marT="45714" marB="45714"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3"/>
                  </a:ext>
                </a:extLst>
              </a:tr>
              <a:tr h="45187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  3</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．二次收入</a:t>
                      </a:r>
                    </a:p>
                  </a:txBody>
                  <a:tcPr marT="45714" marB="45714"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4"/>
                  </a:ext>
                </a:extLst>
              </a:tr>
              <a:tr h="45187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C00000"/>
                          </a:solidFill>
                          <a:effectLst/>
                          <a:latin typeface="楷体" pitchFamily="49" charset="-122"/>
                          <a:ea typeface="楷体" pitchFamily="49" charset="-122"/>
                          <a:cs typeface="Times New Roman" pitchFamily="18" charset="0"/>
                        </a:rPr>
                        <a:t>二、资本账户</a:t>
                      </a:r>
                    </a:p>
                  </a:txBody>
                  <a:tcPr marT="45714" marB="45714"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（资本流入）</a:t>
                      </a: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楷体" pitchFamily="49" charset="-122"/>
                          <a:ea typeface="楷体" pitchFamily="49" charset="-122"/>
                          <a:cs typeface="Times New Roman" pitchFamily="18" charset="0"/>
                        </a:rPr>
                        <a:t>（资本流出）</a:t>
                      </a:r>
                    </a:p>
                  </a:txBody>
                  <a:tcPr marT="45714" marB="45714"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3982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C00000"/>
                          </a:solidFill>
                          <a:effectLst/>
                          <a:latin typeface="楷体" pitchFamily="49" charset="-122"/>
                          <a:ea typeface="楷体" pitchFamily="49" charset="-122"/>
                          <a:cs typeface="Times New Roman" pitchFamily="18" charset="0"/>
                        </a:rPr>
                        <a:t>三、金融账户</a:t>
                      </a:r>
                    </a:p>
                  </a:txBody>
                  <a:tcPr marT="45714" marB="45714"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rowSpan="4">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（外国对本国金融资产投资增加、负债减少）</a:t>
                      </a: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4">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（本国对外金融资</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产投资增加、负</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债减少）</a:t>
                      </a:r>
                    </a:p>
                  </a:txBody>
                  <a:tcPr marT="45714" marB="45714"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187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  1. </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直接投资</a:t>
                      </a:r>
                    </a:p>
                  </a:txBody>
                  <a:tcPr marT="45714" marB="45714"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7"/>
                  </a:ext>
                </a:extLst>
              </a:tr>
              <a:tr h="9559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  2. </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证券投资</a:t>
                      </a:r>
                      <a:endPar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kern="1200" cap="none" normalizeH="0" baseline="0" dirty="0">
                          <a:ln>
                            <a:noFill/>
                          </a:ln>
                          <a:solidFill>
                            <a:schemeClr val="tx1"/>
                          </a:solidFill>
                          <a:effectLst/>
                          <a:latin typeface="楷体" pitchFamily="49" charset="-122"/>
                          <a:ea typeface="楷体" pitchFamily="49" charset="-122"/>
                          <a:cs typeface="Times New Roman" pitchFamily="18" charset="0"/>
                        </a:rPr>
                        <a:t>  </a:t>
                      </a:r>
                      <a:r>
                        <a:rPr kumimoji="0" lang="en-US" altLang="zh-CN" sz="2000" b="1" i="0" u="none" strike="noStrike" kern="1200" cap="none" normalizeH="0" baseline="0" dirty="0">
                          <a:ln>
                            <a:noFill/>
                          </a:ln>
                          <a:solidFill>
                            <a:schemeClr val="tx1"/>
                          </a:solidFill>
                          <a:effectLst/>
                          <a:latin typeface="楷体" pitchFamily="49" charset="-122"/>
                          <a:ea typeface="楷体" pitchFamily="49" charset="-122"/>
                          <a:cs typeface="Times New Roman" pitchFamily="18" charset="0"/>
                        </a:rPr>
                        <a:t>3. </a:t>
                      </a:r>
                      <a:r>
                        <a:rPr kumimoji="0" lang="zh-CN" altLang="en-US" sz="2000" b="1" i="0" u="none" strike="noStrike" kern="1200" cap="none" normalizeH="0" baseline="0" dirty="0">
                          <a:ln>
                            <a:noFill/>
                          </a:ln>
                          <a:solidFill>
                            <a:schemeClr val="tx1"/>
                          </a:solidFill>
                          <a:effectLst/>
                          <a:latin typeface="楷体" pitchFamily="49" charset="-122"/>
                          <a:ea typeface="楷体" pitchFamily="49" charset="-122"/>
                          <a:cs typeface="Times New Roman" pitchFamily="18" charset="0"/>
                        </a:rPr>
                        <a:t>金融衍生品和雇员股票期权</a:t>
                      </a:r>
                    </a:p>
                  </a:txBody>
                  <a:tcPr marT="45714" marB="45714"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8"/>
                  </a:ext>
                </a:extLst>
              </a:tr>
              <a:tr h="45187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  4. </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其它投资</a:t>
                      </a:r>
                    </a:p>
                  </a:txBody>
                  <a:tcPr marT="45714" marB="45714"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9"/>
                  </a:ext>
                </a:extLst>
              </a:tr>
              <a:tr h="45187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  5. </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储备资产</a:t>
                      </a:r>
                    </a:p>
                  </a:txBody>
                  <a:tcPr marT="45714" marB="45714"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楷体" pitchFamily="49" charset="-122"/>
                          <a:ea typeface="楷体" pitchFamily="49" charset="-122"/>
                          <a:cs typeface="Times New Roman" pitchFamily="18" charset="0"/>
                        </a:rPr>
                        <a:t>（储备资产减少）</a:t>
                      </a: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（储备资产增加）</a:t>
                      </a:r>
                    </a:p>
                  </a:txBody>
                  <a:tcPr marT="45714" marB="45714"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45187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C00000"/>
                          </a:solidFill>
                          <a:effectLst/>
                          <a:latin typeface="楷体" pitchFamily="49" charset="-122"/>
                          <a:ea typeface="楷体" pitchFamily="49" charset="-122"/>
                          <a:cs typeface="Times New Roman" pitchFamily="18" charset="0"/>
                        </a:rPr>
                        <a:t>四、错误与遗漏账户</a:t>
                      </a:r>
                    </a:p>
                  </a:txBody>
                  <a:tcPr marT="45714" marB="45714"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a:ln>
                          <a:noFill/>
                        </a:ln>
                        <a:solidFill>
                          <a:schemeClr val="tx1"/>
                        </a:solidFill>
                        <a:effectLst/>
                        <a:latin typeface="楷体" pitchFamily="49" charset="-122"/>
                        <a:ea typeface="楷体" pitchFamily="49" charset="-122"/>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dirty="0">
                        <a:ln>
                          <a:noFill/>
                        </a:ln>
                        <a:solidFill>
                          <a:schemeClr val="tx1"/>
                        </a:solidFill>
                        <a:effectLst/>
                        <a:latin typeface="楷体" pitchFamily="49" charset="-122"/>
                        <a:ea typeface="楷体" pitchFamily="49" charset="-122"/>
                      </a:endParaRPr>
                    </a:p>
                  </a:txBody>
                  <a:tcPr marT="45714" marB="45714"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512266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a:t>
            </a:r>
            <a:r>
              <a:rPr lang="en-US" altLang="zh-CN" dirty="0"/>
              <a:t>	</a:t>
            </a:r>
            <a:r>
              <a:rPr lang="zh-CN" altLang="en-US" dirty="0"/>
              <a:t>国际收支平衡表</a:t>
            </a:r>
            <a:endParaRPr lang="zh-CN" dirty="0"/>
          </a:p>
        </p:txBody>
      </p:sp>
      <p:sp>
        <p:nvSpPr>
          <p:cNvPr id="3" name="内容占位符 2"/>
          <p:cNvSpPr>
            <a:spLocks noGrp="1"/>
          </p:cNvSpPr>
          <p:nvPr>
            <p:ph idx="1"/>
          </p:nvPr>
        </p:nvSpPr>
        <p:spPr>
          <a:xfrm>
            <a:off x="376518" y="1447800"/>
            <a:ext cx="8498541" cy="4559300"/>
          </a:xfrm>
        </p:spPr>
        <p:txBody>
          <a:bodyPr>
            <a:noAutofit/>
          </a:bodyPr>
          <a:lstStyle/>
          <a:p>
            <a:pPr marL="0" indent="0">
              <a:lnSpc>
                <a:spcPct val="110000"/>
              </a:lnSpc>
              <a:buNone/>
            </a:pPr>
            <a:r>
              <a:rPr altLang="en-US" b="1" dirty="0">
                <a:latin typeface="楷体" pitchFamily="49" charset="-122"/>
                <a:ea typeface="楷体" pitchFamily="49" charset="-122"/>
              </a:rPr>
              <a:t>四</a:t>
            </a:r>
            <a:r>
              <a:rPr lang="zh-CN" altLang="en-US" b="1" dirty="0">
                <a:latin typeface="楷体" pitchFamily="49" charset="-122"/>
                <a:ea typeface="楷体" pitchFamily="49" charset="-122"/>
              </a:rPr>
              <a:t>、</a:t>
            </a:r>
            <a:r>
              <a:rPr altLang="en-US" b="1" dirty="0">
                <a:latin typeface="楷体" pitchFamily="49" charset="-122"/>
                <a:ea typeface="楷体" pitchFamily="49" charset="-122"/>
              </a:rPr>
              <a:t>第六版与第五版的区别</a:t>
            </a:r>
            <a:endParaRPr lang="en-US" altLang="en-US" b="1" dirty="0">
              <a:latin typeface="楷体" pitchFamily="49" charset="-122"/>
              <a:ea typeface="楷体" pitchFamily="49" charset="-122"/>
            </a:endParaRPr>
          </a:p>
          <a:p>
            <a:pPr marL="0" indent="0">
              <a:lnSpc>
                <a:spcPct val="110000"/>
              </a:lnSpc>
              <a:buNone/>
            </a:pPr>
            <a:r>
              <a:rPr lang="en-US" altLang="en-US" b="1" dirty="0">
                <a:solidFill>
                  <a:srgbClr val="0070C0"/>
                </a:solidFill>
                <a:latin typeface="楷体" pitchFamily="49" charset="-122"/>
                <a:ea typeface="楷体" pitchFamily="49" charset="-122"/>
              </a:rPr>
              <a:t>3</a:t>
            </a:r>
            <a:r>
              <a:rPr altLang="en-US" b="1" dirty="0">
                <a:solidFill>
                  <a:srgbClr val="0070C0"/>
                </a:solidFill>
                <a:latin typeface="楷体" pitchFamily="49" charset="-122"/>
                <a:ea typeface="楷体" pitchFamily="49" charset="-122"/>
              </a:rPr>
              <a:t>、国际收支平衡表（</a:t>
            </a:r>
            <a:r>
              <a:rPr lang="en-US" altLang="zh-CN" b="1" dirty="0">
                <a:solidFill>
                  <a:srgbClr val="0070C0"/>
                </a:solidFill>
                <a:latin typeface="楷体" pitchFamily="49" charset="-122"/>
                <a:ea typeface="楷体" pitchFamily="49" charset="-122"/>
              </a:rPr>
              <a:t>BPM6</a:t>
            </a:r>
            <a:r>
              <a:rPr altLang="en-US" b="1" dirty="0">
                <a:solidFill>
                  <a:srgbClr val="0070C0"/>
                </a:solidFill>
                <a:latin typeface="楷体" pitchFamily="49" charset="-122"/>
                <a:ea typeface="楷体" pitchFamily="49" charset="-122"/>
              </a:rPr>
              <a:t>）</a:t>
            </a:r>
            <a:endParaRPr lang="en-US" altLang="en-US" b="1" dirty="0">
              <a:solidFill>
                <a:srgbClr val="0070C0"/>
              </a:solidFill>
              <a:latin typeface="楷体" pitchFamily="49" charset="-122"/>
              <a:ea typeface="楷体" pitchFamily="49" charset="-122"/>
            </a:endParaRPr>
          </a:p>
          <a:p>
            <a:pPr marL="457200" lvl="2" indent="0">
              <a:lnSpc>
                <a:spcPct val="110000"/>
              </a:lnSpc>
              <a:buClr>
                <a:srgbClr val="C00000"/>
              </a:buClr>
              <a:buFont typeface="Wingdings" pitchFamily="2" charset="2"/>
              <a:buChar char="u"/>
            </a:pPr>
            <a:r>
              <a:rPr lang="en-US" altLang="zh-CN" sz="2000" b="1" dirty="0">
                <a:solidFill>
                  <a:srgbClr val="0070C0"/>
                </a:solidFill>
                <a:latin typeface="楷体" pitchFamily="49" charset="-122"/>
                <a:ea typeface="楷体" pitchFamily="49" charset="-122"/>
              </a:rPr>
              <a:t>	</a:t>
            </a:r>
            <a:r>
              <a:rPr altLang="en-US" sz="2000" b="1" u="sng" dirty="0">
                <a:solidFill>
                  <a:srgbClr val="C00000"/>
                </a:solidFill>
                <a:latin typeface="楷体" pitchFamily="49" charset="-122"/>
                <a:ea typeface="楷体" pitchFamily="49" charset="-122"/>
              </a:rPr>
              <a:t>初次收入</a:t>
            </a:r>
            <a:endParaRPr lang="en-US" altLang="en-US" sz="2000" b="1" u="sng" dirty="0">
              <a:solidFill>
                <a:srgbClr val="C00000"/>
              </a:solidFill>
              <a:latin typeface="楷体" pitchFamily="49" charset="-122"/>
              <a:ea typeface="楷体" pitchFamily="49" charset="-122"/>
            </a:endParaRPr>
          </a:p>
          <a:p>
            <a:pPr marL="457200" lvl="2" indent="0">
              <a:lnSpc>
                <a:spcPct val="100000"/>
              </a:lnSpc>
              <a:buClr>
                <a:srgbClr val="C00000"/>
              </a:buClr>
              <a:buNone/>
            </a:pPr>
            <a:r>
              <a:rPr lang="en-US" altLang="en-US" sz="2000" b="1" dirty="0">
                <a:solidFill>
                  <a:srgbClr val="002060"/>
                </a:solidFill>
                <a:latin typeface="楷体" pitchFamily="49" charset="-122"/>
                <a:ea typeface="楷体" pitchFamily="49" charset="-122"/>
              </a:rPr>
              <a:t>	</a:t>
            </a:r>
            <a:r>
              <a:rPr altLang="en-US" sz="2000" b="1" dirty="0">
                <a:solidFill>
                  <a:srgbClr val="002060"/>
                </a:solidFill>
                <a:latin typeface="楷体" pitchFamily="49" charset="-122"/>
                <a:ea typeface="楷体" pitchFamily="49" charset="-122"/>
              </a:rPr>
              <a:t>机构单位因其对生产过程所做的贡献或向其他机构单位提供金融资产和出租自然资源获得的回报：</a:t>
            </a:r>
            <a:endParaRPr lang="en-US" altLang="en-US" sz="2000" b="1" dirty="0">
              <a:solidFill>
                <a:srgbClr val="002060"/>
              </a:solidFill>
              <a:latin typeface="楷体" pitchFamily="49" charset="-122"/>
              <a:ea typeface="楷体" pitchFamily="49" charset="-122"/>
            </a:endParaRPr>
          </a:p>
          <a:p>
            <a:pPr marL="457200" lvl="2" indent="0">
              <a:lnSpc>
                <a:spcPct val="100000"/>
              </a:lnSpc>
              <a:buClr>
                <a:srgbClr val="C00000"/>
              </a:buClr>
              <a:buNone/>
            </a:pPr>
            <a:r>
              <a:rPr altLang="en-US" sz="2000" b="1" dirty="0">
                <a:solidFill>
                  <a:srgbClr val="002060"/>
                </a:solidFill>
                <a:latin typeface="楷体" pitchFamily="49" charset="-122"/>
                <a:ea typeface="楷体" pitchFamily="49" charset="-122"/>
              </a:rPr>
              <a:t>（</a:t>
            </a:r>
            <a:r>
              <a:rPr lang="en-US" altLang="en-US" sz="2000" b="1" dirty="0">
                <a:solidFill>
                  <a:srgbClr val="002060"/>
                </a:solidFill>
                <a:latin typeface="楷体" pitchFamily="49" charset="-122"/>
                <a:ea typeface="楷体" pitchFamily="49" charset="-122"/>
              </a:rPr>
              <a:t>1</a:t>
            </a:r>
            <a:r>
              <a:rPr altLang="en-US" sz="2000" b="1" dirty="0">
                <a:solidFill>
                  <a:srgbClr val="002060"/>
                </a:solidFill>
                <a:latin typeface="楷体" pitchFamily="49" charset="-122"/>
                <a:ea typeface="楷体" pitchFamily="49" charset="-122"/>
              </a:rPr>
              <a:t>）与生产过程相关的收入。雇员报酬，对产品和生产的税收和补贴</a:t>
            </a:r>
            <a:endParaRPr lang="en-US" altLang="en-US" sz="2000" b="1" dirty="0">
              <a:solidFill>
                <a:srgbClr val="002060"/>
              </a:solidFill>
              <a:latin typeface="楷体" pitchFamily="49" charset="-122"/>
              <a:ea typeface="楷体" pitchFamily="49" charset="-122"/>
            </a:endParaRPr>
          </a:p>
          <a:p>
            <a:pPr marL="457200" lvl="2" indent="0">
              <a:lnSpc>
                <a:spcPct val="100000"/>
              </a:lnSpc>
              <a:buClr>
                <a:srgbClr val="C00000"/>
              </a:buClr>
              <a:buNone/>
            </a:pPr>
            <a:r>
              <a:rPr altLang="en-US" sz="2000" b="1" dirty="0">
                <a:solidFill>
                  <a:srgbClr val="002060"/>
                </a:solidFill>
                <a:latin typeface="楷体" pitchFamily="49" charset="-122"/>
                <a:ea typeface="楷体" pitchFamily="49" charset="-122"/>
              </a:rPr>
              <a:t>（</a:t>
            </a:r>
            <a:r>
              <a:rPr lang="en-US" altLang="en-US" sz="2000" b="1" dirty="0">
                <a:solidFill>
                  <a:srgbClr val="002060"/>
                </a:solidFill>
                <a:latin typeface="楷体" pitchFamily="49" charset="-122"/>
                <a:ea typeface="楷体" pitchFamily="49" charset="-122"/>
              </a:rPr>
              <a:t>2</a:t>
            </a:r>
            <a:r>
              <a:rPr altLang="en-US" sz="2000" b="1" dirty="0">
                <a:solidFill>
                  <a:srgbClr val="002060"/>
                </a:solidFill>
                <a:latin typeface="楷体" pitchFamily="49" charset="-122"/>
                <a:ea typeface="楷体" pitchFamily="49" charset="-122"/>
              </a:rPr>
              <a:t>）与金融资产和其他非生产资产所有权相关的收入。出租自然资源所得的回报；投资收益等。</a:t>
            </a:r>
            <a:endParaRPr lang="en-US" altLang="en-US" sz="2000" b="1" dirty="0">
              <a:solidFill>
                <a:srgbClr val="002060"/>
              </a:solidFill>
              <a:latin typeface="楷体" pitchFamily="49" charset="-122"/>
              <a:ea typeface="楷体" pitchFamily="49" charset="-122"/>
            </a:endParaRPr>
          </a:p>
          <a:p>
            <a:pPr marL="457200" lvl="2" indent="0">
              <a:lnSpc>
                <a:spcPct val="100000"/>
              </a:lnSpc>
              <a:buClr>
                <a:srgbClr val="C00000"/>
              </a:buClr>
              <a:buFont typeface="Wingdings" pitchFamily="2" charset="2"/>
              <a:buChar char="u"/>
            </a:pPr>
            <a:r>
              <a:rPr lang="en-US" altLang="zh-CN" sz="2000" b="1" dirty="0">
                <a:solidFill>
                  <a:srgbClr val="002060"/>
                </a:solidFill>
                <a:latin typeface="楷体" pitchFamily="49" charset="-122"/>
                <a:ea typeface="楷体" pitchFamily="49" charset="-122"/>
              </a:rPr>
              <a:t>	</a:t>
            </a:r>
            <a:r>
              <a:rPr altLang="en-US" sz="2000" b="1" u="sng" dirty="0">
                <a:solidFill>
                  <a:srgbClr val="C00000"/>
                </a:solidFill>
                <a:latin typeface="楷体" pitchFamily="49" charset="-122"/>
                <a:ea typeface="楷体" pitchFamily="49" charset="-122"/>
              </a:rPr>
              <a:t>二次收入</a:t>
            </a:r>
            <a:endParaRPr lang="en-US" altLang="en-US" sz="2000" b="1" u="sng" dirty="0">
              <a:solidFill>
                <a:srgbClr val="C00000"/>
              </a:solidFill>
              <a:latin typeface="楷体" pitchFamily="49" charset="-122"/>
              <a:ea typeface="楷体" pitchFamily="49" charset="-122"/>
            </a:endParaRPr>
          </a:p>
          <a:p>
            <a:pPr marL="457200" lvl="2" indent="0">
              <a:lnSpc>
                <a:spcPct val="110000"/>
              </a:lnSpc>
              <a:buClr>
                <a:srgbClr val="C00000"/>
              </a:buClr>
              <a:buNone/>
            </a:pPr>
            <a:r>
              <a:rPr lang="en-US" altLang="en-US" sz="2000" b="1" dirty="0">
                <a:solidFill>
                  <a:srgbClr val="002060"/>
                </a:solidFill>
                <a:latin typeface="楷体" pitchFamily="49" charset="-122"/>
                <a:ea typeface="楷体" pitchFamily="49" charset="-122"/>
              </a:rPr>
              <a:t>	</a:t>
            </a:r>
            <a:r>
              <a:rPr altLang="en-US" sz="2000" b="1" dirty="0">
                <a:solidFill>
                  <a:srgbClr val="002060"/>
                </a:solidFill>
                <a:latin typeface="楷体" pitchFamily="49" charset="-122"/>
                <a:ea typeface="楷体" pitchFamily="49" charset="-122"/>
              </a:rPr>
              <a:t>初次收入为提供劳务、金融资产、出租自然资源获得的回报；二次收入为通过政府或慈善组织等的经常转移对收入的重新分配</a:t>
            </a:r>
            <a:endParaRPr lang="zh-CN" altLang="en-US" sz="2000" b="1" dirty="0">
              <a:solidFill>
                <a:srgbClr val="002060"/>
              </a:solidFill>
              <a:latin typeface="楷体" pitchFamily="49" charset="-122"/>
              <a:ea typeface="楷体" pitchFamily="49" charset="-122"/>
            </a:endParaRPr>
          </a:p>
        </p:txBody>
      </p:sp>
      <p:sp>
        <p:nvSpPr>
          <p:cNvPr id="5" name="页脚占位符 4"/>
          <p:cNvSpPr>
            <a:spLocks noGrp="1"/>
          </p:cNvSpPr>
          <p:nvPr>
            <p:ph type="ftr" sz="quarter" idx="11"/>
          </p:nvPr>
        </p:nvSpPr>
        <p:spPr/>
        <p:txBody>
          <a:bodyPr/>
          <a:lstStyle/>
          <a:p>
            <a:r>
              <a:rPr lang="zh-CN" altLang="en-US"/>
              <a:t>国际金融学 范小云</a:t>
            </a:r>
            <a:endParaRPr lang="zh-CN" altLang="en-US" dirty="0"/>
          </a:p>
        </p:txBody>
      </p:sp>
    </p:spTree>
    <p:extLst>
      <p:ext uri="{BB962C8B-B14F-4D97-AF65-F5344CB8AC3E}">
        <p14:creationId xmlns:p14="http://schemas.microsoft.com/office/powerpoint/2010/main" val="1066846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a:t>
            </a:r>
            <a:r>
              <a:rPr lang="en-US" altLang="zh-CN" dirty="0"/>
              <a:t>	</a:t>
            </a:r>
            <a:r>
              <a:rPr lang="zh-CN" altLang="en-US" dirty="0"/>
              <a:t>国际收支平衡表</a:t>
            </a:r>
            <a:endParaRPr lang="zh-CN" dirty="0"/>
          </a:p>
        </p:txBody>
      </p:sp>
      <p:sp>
        <p:nvSpPr>
          <p:cNvPr id="3" name="内容占位符 2"/>
          <p:cNvSpPr>
            <a:spLocks noGrp="1"/>
          </p:cNvSpPr>
          <p:nvPr>
            <p:ph idx="1"/>
          </p:nvPr>
        </p:nvSpPr>
        <p:spPr>
          <a:xfrm>
            <a:off x="971549" y="1447800"/>
            <a:ext cx="7903509" cy="4559300"/>
          </a:xfrm>
        </p:spPr>
        <p:txBody>
          <a:bodyPr>
            <a:normAutofit fontScale="92500" lnSpcReduction="20000"/>
          </a:bodyPr>
          <a:lstStyle/>
          <a:p>
            <a:pPr marL="0" indent="0">
              <a:lnSpc>
                <a:spcPct val="110000"/>
              </a:lnSpc>
              <a:buNone/>
            </a:pPr>
            <a:r>
              <a:rPr altLang="en-US" b="1" dirty="0">
                <a:latin typeface="楷体" pitchFamily="49" charset="-122"/>
                <a:ea typeface="楷体" pitchFamily="49" charset="-122"/>
              </a:rPr>
              <a:t>四</a:t>
            </a:r>
            <a:r>
              <a:rPr lang="zh-CN" altLang="en-US" b="1" dirty="0">
                <a:latin typeface="楷体" pitchFamily="49" charset="-122"/>
                <a:ea typeface="楷体" pitchFamily="49" charset="-122"/>
              </a:rPr>
              <a:t>、</a:t>
            </a:r>
            <a:r>
              <a:rPr altLang="en-US" b="1" dirty="0">
                <a:latin typeface="楷体" pitchFamily="49" charset="-122"/>
                <a:ea typeface="楷体" pitchFamily="49" charset="-122"/>
              </a:rPr>
              <a:t>第六版与第五版的区别</a:t>
            </a:r>
            <a:endParaRPr lang="en-US" altLang="en-US" b="1" dirty="0">
              <a:latin typeface="楷体" pitchFamily="49" charset="-122"/>
              <a:ea typeface="楷体" pitchFamily="49" charset="-122"/>
            </a:endParaRPr>
          </a:p>
          <a:p>
            <a:pPr marL="0" indent="0">
              <a:lnSpc>
                <a:spcPct val="110000"/>
              </a:lnSpc>
              <a:buNone/>
            </a:pPr>
            <a:r>
              <a:rPr lang="en-US" altLang="en-US" b="1" dirty="0">
                <a:solidFill>
                  <a:srgbClr val="0070C0"/>
                </a:solidFill>
                <a:latin typeface="楷体" pitchFamily="49" charset="-122"/>
                <a:ea typeface="楷体" pitchFamily="49" charset="-122"/>
              </a:rPr>
              <a:t>3</a:t>
            </a:r>
            <a:r>
              <a:rPr altLang="en-US" b="1" dirty="0">
                <a:solidFill>
                  <a:srgbClr val="0070C0"/>
                </a:solidFill>
                <a:latin typeface="楷体" pitchFamily="49" charset="-122"/>
                <a:ea typeface="楷体" pitchFamily="49" charset="-122"/>
              </a:rPr>
              <a:t>、国际收支平衡表（</a:t>
            </a:r>
            <a:r>
              <a:rPr lang="en-US" altLang="zh-CN" b="1" dirty="0">
                <a:solidFill>
                  <a:srgbClr val="0070C0"/>
                </a:solidFill>
                <a:latin typeface="楷体" pitchFamily="49" charset="-122"/>
                <a:ea typeface="楷体" pitchFamily="49" charset="-122"/>
              </a:rPr>
              <a:t>BPM6</a:t>
            </a:r>
            <a:r>
              <a:rPr altLang="en-US" b="1" dirty="0">
                <a:solidFill>
                  <a:srgbClr val="0070C0"/>
                </a:solidFill>
                <a:latin typeface="楷体" pitchFamily="49" charset="-122"/>
                <a:ea typeface="楷体" pitchFamily="49" charset="-122"/>
              </a:rPr>
              <a:t>）</a:t>
            </a:r>
            <a:endParaRPr lang="en-US" altLang="en-US" b="1" dirty="0">
              <a:solidFill>
                <a:srgbClr val="0070C0"/>
              </a:solidFill>
              <a:latin typeface="楷体" pitchFamily="49" charset="-122"/>
              <a:ea typeface="楷体" pitchFamily="49" charset="-122"/>
            </a:endParaRPr>
          </a:p>
          <a:p>
            <a:pPr marL="457200" lvl="2" indent="0">
              <a:lnSpc>
                <a:spcPct val="110000"/>
              </a:lnSpc>
              <a:buClr>
                <a:srgbClr val="C00000"/>
              </a:buClr>
              <a:buFont typeface="Wingdings" pitchFamily="2" charset="2"/>
              <a:buChar char="u"/>
            </a:pPr>
            <a:r>
              <a:rPr lang="en-US" altLang="zh-CN" sz="2000" b="1" dirty="0">
                <a:solidFill>
                  <a:srgbClr val="0070C0"/>
                </a:solidFill>
                <a:latin typeface="楷体" pitchFamily="49" charset="-122"/>
                <a:ea typeface="楷体" pitchFamily="49" charset="-122"/>
              </a:rPr>
              <a:t>	</a:t>
            </a:r>
            <a:r>
              <a:rPr altLang="en-US" sz="2000" b="1" dirty="0">
                <a:solidFill>
                  <a:srgbClr val="002060"/>
                </a:solidFill>
                <a:latin typeface="楷体" pitchFamily="49" charset="-122"/>
                <a:ea typeface="楷体" pitchFamily="49" charset="-122"/>
              </a:rPr>
              <a:t>初次收入</a:t>
            </a:r>
            <a:endParaRPr lang="en-US" altLang="en-US" sz="2000" b="1" dirty="0">
              <a:solidFill>
                <a:srgbClr val="002060"/>
              </a:solidFill>
              <a:latin typeface="楷体" pitchFamily="49" charset="-122"/>
              <a:ea typeface="楷体" pitchFamily="49" charset="-122"/>
            </a:endParaRPr>
          </a:p>
          <a:p>
            <a:pPr marL="457200" lvl="2" indent="0">
              <a:lnSpc>
                <a:spcPct val="100000"/>
              </a:lnSpc>
              <a:buClr>
                <a:srgbClr val="C00000"/>
              </a:buClr>
              <a:buNone/>
            </a:pPr>
            <a:r>
              <a:rPr lang="en-US" altLang="en-US" sz="2000" b="1" dirty="0">
                <a:solidFill>
                  <a:srgbClr val="002060"/>
                </a:solidFill>
                <a:latin typeface="楷体" pitchFamily="49" charset="-122"/>
                <a:ea typeface="楷体" pitchFamily="49" charset="-122"/>
              </a:rPr>
              <a:t>	</a:t>
            </a:r>
            <a:r>
              <a:rPr altLang="en-US" sz="2000" b="1" dirty="0">
                <a:solidFill>
                  <a:srgbClr val="002060"/>
                </a:solidFill>
                <a:latin typeface="楷体" pitchFamily="49" charset="-122"/>
                <a:ea typeface="楷体" pitchFamily="49" charset="-122"/>
              </a:rPr>
              <a:t>雇员报酬</a:t>
            </a:r>
            <a:endParaRPr lang="en-US" altLang="en-US" sz="2000" b="1" dirty="0">
              <a:solidFill>
                <a:srgbClr val="002060"/>
              </a:solidFill>
              <a:latin typeface="楷体" pitchFamily="49" charset="-122"/>
              <a:ea typeface="楷体" pitchFamily="49" charset="-122"/>
            </a:endParaRPr>
          </a:p>
          <a:p>
            <a:pPr marL="457200" lvl="2" indent="0">
              <a:lnSpc>
                <a:spcPct val="100000"/>
              </a:lnSpc>
              <a:buClr>
                <a:srgbClr val="C00000"/>
              </a:buClr>
              <a:buNone/>
            </a:pPr>
            <a:r>
              <a:rPr lang="en-US" altLang="zh-CN" sz="2000" b="1" dirty="0">
                <a:solidFill>
                  <a:srgbClr val="002060"/>
                </a:solidFill>
                <a:latin typeface="楷体" pitchFamily="49" charset="-122"/>
                <a:ea typeface="楷体" pitchFamily="49" charset="-122"/>
              </a:rPr>
              <a:t>	</a:t>
            </a:r>
            <a:r>
              <a:rPr altLang="en-US" sz="2000" b="1" dirty="0">
                <a:solidFill>
                  <a:srgbClr val="002060"/>
                </a:solidFill>
                <a:latin typeface="楷体" pitchFamily="49" charset="-122"/>
                <a:ea typeface="楷体" pitchFamily="49" charset="-122"/>
              </a:rPr>
              <a:t>股息</a:t>
            </a:r>
            <a:endParaRPr lang="en-US" altLang="en-US" sz="2000" b="1" dirty="0">
              <a:solidFill>
                <a:srgbClr val="002060"/>
              </a:solidFill>
              <a:latin typeface="楷体" pitchFamily="49" charset="-122"/>
              <a:ea typeface="楷体" pitchFamily="49" charset="-122"/>
            </a:endParaRPr>
          </a:p>
          <a:p>
            <a:pPr marL="457200" lvl="2" indent="0">
              <a:lnSpc>
                <a:spcPct val="100000"/>
              </a:lnSpc>
              <a:buClr>
                <a:srgbClr val="C00000"/>
              </a:buClr>
              <a:buNone/>
            </a:pPr>
            <a:r>
              <a:rPr lang="en-US" altLang="zh-CN" sz="2000" b="1" dirty="0">
                <a:solidFill>
                  <a:srgbClr val="002060"/>
                </a:solidFill>
                <a:latin typeface="楷体" pitchFamily="49" charset="-122"/>
                <a:ea typeface="楷体" pitchFamily="49" charset="-122"/>
              </a:rPr>
              <a:t>	</a:t>
            </a:r>
            <a:r>
              <a:rPr altLang="en-US" sz="2000" b="1" dirty="0">
                <a:solidFill>
                  <a:srgbClr val="002060"/>
                </a:solidFill>
                <a:latin typeface="楷体" pitchFamily="49" charset="-122"/>
                <a:ea typeface="楷体" pitchFamily="49" charset="-122"/>
              </a:rPr>
              <a:t>再投资收益</a:t>
            </a:r>
            <a:endParaRPr lang="en-US" altLang="en-US" sz="2000" b="1" dirty="0">
              <a:solidFill>
                <a:srgbClr val="002060"/>
              </a:solidFill>
              <a:latin typeface="楷体" pitchFamily="49" charset="-122"/>
              <a:ea typeface="楷体" pitchFamily="49" charset="-122"/>
            </a:endParaRPr>
          </a:p>
          <a:p>
            <a:pPr marL="457200" lvl="2" indent="0">
              <a:lnSpc>
                <a:spcPct val="100000"/>
              </a:lnSpc>
              <a:buClr>
                <a:srgbClr val="C00000"/>
              </a:buClr>
              <a:buNone/>
            </a:pPr>
            <a:r>
              <a:rPr lang="en-US" altLang="zh-CN" sz="2000" b="1" dirty="0">
                <a:solidFill>
                  <a:srgbClr val="002060"/>
                </a:solidFill>
                <a:latin typeface="楷体" pitchFamily="49" charset="-122"/>
                <a:ea typeface="楷体" pitchFamily="49" charset="-122"/>
              </a:rPr>
              <a:t>	</a:t>
            </a:r>
            <a:r>
              <a:rPr altLang="en-US" sz="2000" b="1" dirty="0">
                <a:solidFill>
                  <a:srgbClr val="002060"/>
                </a:solidFill>
                <a:latin typeface="楷体" pitchFamily="49" charset="-122"/>
                <a:ea typeface="楷体" pitchFamily="49" charset="-122"/>
              </a:rPr>
              <a:t>利息</a:t>
            </a:r>
            <a:endParaRPr lang="en-US" altLang="en-US" sz="2000" b="1" dirty="0">
              <a:solidFill>
                <a:srgbClr val="002060"/>
              </a:solidFill>
              <a:latin typeface="楷体" pitchFamily="49" charset="-122"/>
              <a:ea typeface="楷体" pitchFamily="49" charset="-122"/>
            </a:endParaRPr>
          </a:p>
          <a:p>
            <a:pPr marL="457200" lvl="2" indent="0">
              <a:lnSpc>
                <a:spcPct val="100000"/>
              </a:lnSpc>
              <a:buClr>
                <a:srgbClr val="C00000"/>
              </a:buClr>
              <a:buNone/>
            </a:pPr>
            <a:r>
              <a:rPr lang="en-US" altLang="zh-CN" sz="2000" b="1" dirty="0">
                <a:solidFill>
                  <a:srgbClr val="002060"/>
                </a:solidFill>
                <a:latin typeface="楷体" pitchFamily="49" charset="-122"/>
                <a:ea typeface="楷体" pitchFamily="49" charset="-122"/>
              </a:rPr>
              <a:t>	</a:t>
            </a:r>
            <a:r>
              <a:rPr altLang="en-US" sz="2000" b="1" dirty="0">
                <a:solidFill>
                  <a:srgbClr val="002060"/>
                </a:solidFill>
                <a:latin typeface="楷体" pitchFamily="49" charset="-122"/>
                <a:ea typeface="楷体" pitchFamily="49" charset="-122"/>
              </a:rPr>
              <a:t>归属于保险、标准化担保和养老基金保单持有人的投资收益</a:t>
            </a:r>
            <a:endParaRPr lang="en-US" altLang="en-US" sz="2000" b="1" dirty="0">
              <a:solidFill>
                <a:srgbClr val="002060"/>
              </a:solidFill>
              <a:latin typeface="楷体" pitchFamily="49" charset="-122"/>
              <a:ea typeface="楷体" pitchFamily="49" charset="-122"/>
            </a:endParaRPr>
          </a:p>
          <a:p>
            <a:pPr marL="457200" lvl="2" indent="0">
              <a:lnSpc>
                <a:spcPct val="100000"/>
              </a:lnSpc>
              <a:buClr>
                <a:srgbClr val="C00000"/>
              </a:buClr>
              <a:buNone/>
            </a:pPr>
            <a:r>
              <a:rPr lang="en-US" altLang="zh-CN" sz="2000" b="1" dirty="0">
                <a:solidFill>
                  <a:srgbClr val="002060"/>
                </a:solidFill>
                <a:latin typeface="楷体" pitchFamily="49" charset="-122"/>
                <a:ea typeface="楷体" pitchFamily="49" charset="-122"/>
              </a:rPr>
              <a:t>	</a:t>
            </a:r>
            <a:r>
              <a:rPr altLang="en-US" sz="2000" b="1" dirty="0">
                <a:solidFill>
                  <a:srgbClr val="FF0000"/>
                </a:solidFill>
                <a:latin typeface="楷体" pitchFamily="49" charset="-122"/>
                <a:ea typeface="楷体" pitchFamily="49" charset="-122"/>
              </a:rPr>
              <a:t>租金</a:t>
            </a:r>
            <a:endParaRPr lang="en-US" altLang="en-US" sz="2000" b="1" dirty="0">
              <a:solidFill>
                <a:srgbClr val="FF0000"/>
              </a:solidFill>
              <a:latin typeface="楷体" pitchFamily="49" charset="-122"/>
              <a:ea typeface="楷体" pitchFamily="49" charset="-122"/>
            </a:endParaRPr>
          </a:p>
          <a:p>
            <a:pPr marL="457200" lvl="2" indent="0">
              <a:lnSpc>
                <a:spcPct val="100000"/>
              </a:lnSpc>
              <a:buClr>
                <a:srgbClr val="C00000"/>
              </a:buClr>
              <a:buNone/>
            </a:pPr>
            <a:r>
              <a:rPr lang="en-US" altLang="zh-CN" sz="2000" b="1" dirty="0">
                <a:solidFill>
                  <a:srgbClr val="FF0000"/>
                </a:solidFill>
                <a:latin typeface="楷体" pitchFamily="49" charset="-122"/>
                <a:ea typeface="楷体" pitchFamily="49" charset="-122"/>
              </a:rPr>
              <a:t>	</a:t>
            </a:r>
            <a:r>
              <a:rPr altLang="en-US" sz="2000" b="1" dirty="0">
                <a:solidFill>
                  <a:srgbClr val="FF0000"/>
                </a:solidFill>
                <a:latin typeface="楷体" pitchFamily="49" charset="-122"/>
                <a:ea typeface="楷体" pitchFamily="49" charset="-122"/>
              </a:rPr>
              <a:t>对产品和生产的税收和补贴</a:t>
            </a:r>
            <a:endParaRPr lang="en-US" altLang="en-US" sz="2000" b="1" dirty="0">
              <a:solidFill>
                <a:srgbClr val="FF0000"/>
              </a:solidFill>
              <a:latin typeface="楷体" pitchFamily="49" charset="-122"/>
              <a:ea typeface="楷体" pitchFamily="49" charset="-122"/>
            </a:endParaRPr>
          </a:p>
          <a:p>
            <a:pPr marL="457200" lvl="2" indent="0">
              <a:lnSpc>
                <a:spcPct val="100000"/>
              </a:lnSpc>
              <a:buClr>
                <a:srgbClr val="C00000"/>
              </a:buClr>
              <a:buNone/>
            </a:pPr>
            <a:r>
              <a:rPr altLang="en-US" sz="2000" b="1" dirty="0">
                <a:solidFill>
                  <a:srgbClr val="FF0000"/>
                </a:solidFill>
                <a:latin typeface="楷体" pitchFamily="49" charset="-122"/>
                <a:ea typeface="楷体" pitchFamily="49" charset="-122"/>
              </a:rPr>
              <a:t>（说明：</a:t>
            </a:r>
            <a:endParaRPr lang="en-US" altLang="en-US" sz="2000" b="1" dirty="0">
              <a:solidFill>
                <a:srgbClr val="FF0000"/>
              </a:solidFill>
              <a:latin typeface="楷体" pitchFamily="49" charset="-122"/>
              <a:ea typeface="楷体" pitchFamily="49" charset="-122"/>
            </a:endParaRPr>
          </a:p>
          <a:p>
            <a:pPr marL="457200" lvl="2" indent="0">
              <a:lnSpc>
                <a:spcPct val="100000"/>
              </a:lnSpc>
              <a:buClr>
                <a:srgbClr val="C00000"/>
              </a:buClr>
              <a:buNone/>
            </a:pPr>
            <a:r>
              <a:rPr lang="en-US" altLang="en-US" sz="2000" b="1" dirty="0">
                <a:solidFill>
                  <a:srgbClr val="FF0000"/>
                </a:solidFill>
                <a:latin typeface="楷体" pitchFamily="49" charset="-122"/>
                <a:ea typeface="楷体" pitchFamily="49" charset="-122"/>
              </a:rPr>
              <a:t>1</a:t>
            </a:r>
            <a:r>
              <a:rPr altLang="en-US" sz="2000" b="1" dirty="0">
                <a:solidFill>
                  <a:srgbClr val="FF0000"/>
                </a:solidFill>
                <a:latin typeface="楷体" pitchFamily="49" charset="-122"/>
                <a:ea typeface="楷体" pitchFamily="49" charset="-122"/>
              </a:rPr>
              <a:t>、初次收入</a:t>
            </a:r>
            <a:r>
              <a:rPr lang="en-US" altLang="zh-CN" sz="2000" b="1" dirty="0">
                <a:solidFill>
                  <a:srgbClr val="FF0000"/>
                </a:solidFill>
                <a:latin typeface="楷体" pitchFamily="49" charset="-122"/>
                <a:ea typeface="楷体" pitchFamily="49" charset="-122"/>
              </a:rPr>
              <a:t>=</a:t>
            </a:r>
            <a:r>
              <a:rPr altLang="en-US" sz="2000" b="1" dirty="0">
                <a:solidFill>
                  <a:srgbClr val="FF0000"/>
                </a:solidFill>
                <a:latin typeface="楷体" pitchFamily="49" charset="-122"/>
                <a:ea typeface="楷体" pitchFamily="49" charset="-122"/>
              </a:rPr>
              <a:t>雇员报酬</a:t>
            </a:r>
            <a:r>
              <a:rPr lang="en-US" altLang="zh-CN" sz="2000" b="1" dirty="0">
                <a:solidFill>
                  <a:srgbClr val="FF0000"/>
                </a:solidFill>
                <a:latin typeface="楷体" pitchFamily="49" charset="-122"/>
                <a:ea typeface="楷体" pitchFamily="49" charset="-122"/>
              </a:rPr>
              <a:t>+</a:t>
            </a:r>
            <a:r>
              <a:rPr altLang="en-US" sz="2000" b="1" dirty="0">
                <a:solidFill>
                  <a:srgbClr val="FF0000"/>
                </a:solidFill>
                <a:latin typeface="楷体" pitchFamily="49" charset="-122"/>
                <a:ea typeface="楷体" pitchFamily="49" charset="-122"/>
              </a:rPr>
              <a:t>直接投资收益</a:t>
            </a:r>
            <a:r>
              <a:rPr lang="en-US" altLang="zh-CN" sz="2000" b="1" dirty="0">
                <a:solidFill>
                  <a:srgbClr val="FF0000"/>
                </a:solidFill>
                <a:latin typeface="楷体" pitchFamily="49" charset="-122"/>
                <a:ea typeface="楷体" pitchFamily="49" charset="-122"/>
              </a:rPr>
              <a:t>+</a:t>
            </a:r>
            <a:r>
              <a:rPr altLang="en-US" sz="2000" b="1" dirty="0">
                <a:solidFill>
                  <a:srgbClr val="FF0000"/>
                </a:solidFill>
                <a:latin typeface="楷体" pitchFamily="49" charset="-122"/>
                <a:ea typeface="楷体" pitchFamily="49" charset="-122"/>
              </a:rPr>
              <a:t>间接投资收益</a:t>
            </a:r>
            <a:r>
              <a:rPr lang="en-US" altLang="zh-CN" sz="2000" b="1" dirty="0">
                <a:solidFill>
                  <a:srgbClr val="FF0000"/>
                </a:solidFill>
                <a:latin typeface="楷体" pitchFamily="49" charset="-122"/>
                <a:ea typeface="楷体" pitchFamily="49" charset="-122"/>
              </a:rPr>
              <a:t>+</a:t>
            </a:r>
            <a:r>
              <a:rPr altLang="en-US" sz="2000" b="1" dirty="0">
                <a:solidFill>
                  <a:srgbClr val="FF0000"/>
                </a:solidFill>
                <a:latin typeface="楷体" pitchFamily="49" charset="-122"/>
                <a:ea typeface="楷体" pitchFamily="49" charset="-122"/>
              </a:rPr>
              <a:t>其他初次收入</a:t>
            </a:r>
            <a:r>
              <a:rPr lang="en-US" altLang="en-US" sz="2000" b="1" dirty="0">
                <a:solidFill>
                  <a:srgbClr val="FF0000"/>
                </a:solidFill>
                <a:latin typeface="楷体" pitchFamily="49" charset="-122"/>
                <a:ea typeface="楷体" pitchFamily="49" charset="-122"/>
              </a:rPr>
              <a:t>2</a:t>
            </a:r>
            <a:r>
              <a:rPr altLang="en-US" sz="2000" b="1" dirty="0">
                <a:solidFill>
                  <a:srgbClr val="FF0000"/>
                </a:solidFill>
                <a:latin typeface="楷体" pitchFamily="49" charset="-122"/>
                <a:ea typeface="楷体" pitchFamily="49" charset="-122"/>
              </a:rPr>
              <a:t>、其他初次收入 </a:t>
            </a:r>
            <a:r>
              <a:rPr lang="en-US" altLang="zh-CN" sz="2000" b="1" dirty="0">
                <a:solidFill>
                  <a:srgbClr val="FF0000"/>
                </a:solidFill>
                <a:latin typeface="楷体" pitchFamily="49" charset="-122"/>
                <a:ea typeface="楷体" pitchFamily="49" charset="-122"/>
              </a:rPr>
              <a:t>= </a:t>
            </a:r>
            <a:r>
              <a:rPr altLang="en-US" sz="2000" b="1" dirty="0">
                <a:solidFill>
                  <a:srgbClr val="FF0000"/>
                </a:solidFill>
                <a:latin typeface="楷体" pitchFamily="49" charset="-122"/>
                <a:ea typeface="楷体" pitchFamily="49" charset="-122"/>
              </a:rPr>
              <a:t>租金 </a:t>
            </a:r>
            <a:r>
              <a:rPr lang="en-US" altLang="zh-CN" sz="2000" b="1" dirty="0">
                <a:solidFill>
                  <a:srgbClr val="FF0000"/>
                </a:solidFill>
                <a:latin typeface="楷体" pitchFamily="49" charset="-122"/>
                <a:ea typeface="楷体" pitchFamily="49" charset="-122"/>
              </a:rPr>
              <a:t>+ </a:t>
            </a:r>
            <a:r>
              <a:rPr altLang="en-US" sz="2000" b="1" dirty="0">
                <a:solidFill>
                  <a:srgbClr val="FF0000"/>
                </a:solidFill>
                <a:latin typeface="楷体" pitchFamily="49" charset="-122"/>
                <a:ea typeface="楷体" pitchFamily="49" charset="-122"/>
              </a:rPr>
              <a:t>生产税、进口税 </a:t>
            </a:r>
            <a:r>
              <a:rPr lang="en-US" altLang="zh-CN" sz="2000" b="1" dirty="0">
                <a:solidFill>
                  <a:srgbClr val="FF0000"/>
                </a:solidFill>
                <a:latin typeface="楷体" pitchFamily="49" charset="-122"/>
                <a:ea typeface="楷体" pitchFamily="49" charset="-122"/>
              </a:rPr>
              <a:t>+ </a:t>
            </a:r>
            <a:r>
              <a:rPr altLang="en-US" sz="2000" b="1" dirty="0">
                <a:solidFill>
                  <a:srgbClr val="FF0000"/>
                </a:solidFill>
                <a:latin typeface="楷体" pitchFamily="49" charset="-122"/>
                <a:ea typeface="楷体" pitchFamily="49" charset="-122"/>
              </a:rPr>
              <a:t>补贴</a:t>
            </a:r>
            <a:endParaRPr lang="zh-CN" altLang="en-US" sz="2000" b="1" dirty="0">
              <a:solidFill>
                <a:srgbClr val="FF0000"/>
              </a:solidFill>
              <a:latin typeface="楷体" pitchFamily="49" charset="-122"/>
              <a:ea typeface="楷体" pitchFamily="49" charset="-122"/>
            </a:endParaRPr>
          </a:p>
        </p:txBody>
      </p:sp>
      <p:sp>
        <p:nvSpPr>
          <p:cNvPr id="5" name="页脚占位符 4"/>
          <p:cNvSpPr>
            <a:spLocks noGrp="1"/>
          </p:cNvSpPr>
          <p:nvPr>
            <p:ph type="ftr" sz="quarter" idx="11"/>
          </p:nvPr>
        </p:nvSpPr>
        <p:spPr/>
        <p:txBody>
          <a:bodyPr/>
          <a:lstStyle/>
          <a:p>
            <a:r>
              <a:rPr lang="zh-CN" altLang="en-US"/>
              <a:t>国际金融学 范小云</a:t>
            </a:r>
            <a:endParaRPr lang="zh-CN" altLang="en-US" dirty="0"/>
          </a:p>
        </p:txBody>
      </p:sp>
    </p:spTree>
    <p:extLst>
      <p:ext uri="{BB962C8B-B14F-4D97-AF65-F5344CB8AC3E}">
        <p14:creationId xmlns:p14="http://schemas.microsoft.com/office/powerpoint/2010/main" val="1066846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a:t>
            </a:r>
            <a:r>
              <a:rPr lang="en-US" altLang="zh-CN" dirty="0"/>
              <a:t>	</a:t>
            </a:r>
            <a:r>
              <a:rPr lang="zh-CN" altLang="en-US" dirty="0"/>
              <a:t>国际收支平衡表</a:t>
            </a:r>
            <a:endParaRPr lang="zh-CN" dirty="0"/>
          </a:p>
        </p:txBody>
      </p:sp>
      <p:sp>
        <p:nvSpPr>
          <p:cNvPr id="3" name="内容占位符 2"/>
          <p:cNvSpPr>
            <a:spLocks noGrp="1"/>
          </p:cNvSpPr>
          <p:nvPr>
            <p:ph idx="1"/>
          </p:nvPr>
        </p:nvSpPr>
        <p:spPr>
          <a:xfrm>
            <a:off x="971549" y="1447800"/>
            <a:ext cx="7903509" cy="4559300"/>
          </a:xfrm>
        </p:spPr>
        <p:txBody>
          <a:bodyPr>
            <a:normAutofit/>
          </a:bodyPr>
          <a:lstStyle/>
          <a:p>
            <a:pPr marL="0" indent="0">
              <a:lnSpc>
                <a:spcPct val="110000"/>
              </a:lnSpc>
              <a:buNone/>
            </a:pPr>
            <a:r>
              <a:rPr altLang="en-US" b="1" dirty="0">
                <a:latin typeface="楷体" pitchFamily="49" charset="-122"/>
                <a:ea typeface="楷体" pitchFamily="49" charset="-122"/>
              </a:rPr>
              <a:t>四</a:t>
            </a:r>
            <a:r>
              <a:rPr lang="zh-CN" altLang="en-US" b="1" dirty="0">
                <a:latin typeface="楷体" pitchFamily="49" charset="-122"/>
                <a:ea typeface="楷体" pitchFamily="49" charset="-122"/>
              </a:rPr>
              <a:t>、</a:t>
            </a:r>
            <a:r>
              <a:rPr altLang="en-US" b="1" dirty="0">
                <a:latin typeface="楷体" pitchFamily="49" charset="-122"/>
                <a:ea typeface="楷体" pitchFamily="49" charset="-122"/>
              </a:rPr>
              <a:t>第六版与第五版的区别</a:t>
            </a:r>
            <a:endParaRPr lang="en-US" altLang="en-US" b="1" dirty="0">
              <a:latin typeface="楷体" pitchFamily="49" charset="-122"/>
              <a:ea typeface="楷体" pitchFamily="49" charset="-122"/>
            </a:endParaRPr>
          </a:p>
          <a:p>
            <a:pPr marL="0" indent="0">
              <a:lnSpc>
                <a:spcPct val="110000"/>
              </a:lnSpc>
              <a:buNone/>
            </a:pPr>
            <a:r>
              <a:rPr lang="en-US" altLang="en-US" b="1" dirty="0">
                <a:solidFill>
                  <a:srgbClr val="0070C0"/>
                </a:solidFill>
                <a:latin typeface="楷体" pitchFamily="49" charset="-122"/>
                <a:ea typeface="楷体" pitchFamily="49" charset="-122"/>
              </a:rPr>
              <a:t>3</a:t>
            </a:r>
            <a:r>
              <a:rPr altLang="en-US" b="1" dirty="0">
                <a:solidFill>
                  <a:srgbClr val="0070C0"/>
                </a:solidFill>
                <a:latin typeface="楷体" pitchFamily="49" charset="-122"/>
                <a:ea typeface="楷体" pitchFamily="49" charset="-122"/>
              </a:rPr>
              <a:t>、国际收支平衡表（</a:t>
            </a:r>
            <a:r>
              <a:rPr lang="en-US" altLang="zh-CN" b="1" dirty="0">
                <a:solidFill>
                  <a:srgbClr val="0070C0"/>
                </a:solidFill>
                <a:latin typeface="楷体" pitchFamily="49" charset="-122"/>
                <a:ea typeface="楷体" pitchFamily="49" charset="-122"/>
              </a:rPr>
              <a:t>BPM6</a:t>
            </a:r>
            <a:r>
              <a:rPr altLang="en-US" b="1" dirty="0">
                <a:solidFill>
                  <a:srgbClr val="0070C0"/>
                </a:solidFill>
                <a:latin typeface="楷体" pitchFamily="49" charset="-122"/>
                <a:ea typeface="楷体" pitchFamily="49" charset="-122"/>
              </a:rPr>
              <a:t>）</a:t>
            </a:r>
            <a:endParaRPr lang="en-US" altLang="en-US" b="1" dirty="0">
              <a:solidFill>
                <a:srgbClr val="0070C0"/>
              </a:solidFill>
              <a:latin typeface="楷体" pitchFamily="49" charset="-122"/>
              <a:ea typeface="楷体" pitchFamily="49" charset="-122"/>
            </a:endParaRPr>
          </a:p>
          <a:p>
            <a:pPr marL="457200" lvl="2" indent="0">
              <a:lnSpc>
                <a:spcPct val="110000"/>
              </a:lnSpc>
              <a:buClr>
                <a:srgbClr val="C00000"/>
              </a:buClr>
              <a:buFont typeface="Wingdings" pitchFamily="2" charset="2"/>
              <a:buChar char="u"/>
            </a:pPr>
            <a:r>
              <a:rPr lang="en-US" altLang="zh-CN" sz="2000" b="1" dirty="0">
                <a:solidFill>
                  <a:srgbClr val="0070C0"/>
                </a:solidFill>
                <a:latin typeface="楷体" pitchFamily="49" charset="-122"/>
                <a:ea typeface="楷体" pitchFamily="49" charset="-122"/>
              </a:rPr>
              <a:t>	</a:t>
            </a:r>
            <a:r>
              <a:rPr altLang="en-US" sz="2000" b="1" dirty="0">
                <a:solidFill>
                  <a:srgbClr val="0070C0"/>
                </a:solidFill>
                <a:latin typeface="楷体" pitchFamily="49" charset="-122"/>
                <a:ea typeface="楷体" pitchFamily="49" charset="-122"/>
              </a:rPr>
              <a:t>加工贸易</a:t>
            </a:r>
            <a:endParaRPr lang="en-US" altLang="en-US" sz="2000" b="1" dirty="0">
              <a:solidFill>
                <a:srgbClr val="0070C0"/>
              </a:solidFill>
              <a:latin typeface="楷体" pitchFamily="49" charset="-122"/>
              <a:ea typeface="楷体" pitchFamily="49" charset="-122"/>
            </a:endParaRPr>
          </a:p>
          <a:p>
            <a:pPr marL="457200" lvl="2" indent="0">
              <a:lnSpc>
                <a:spcPct val="110000"/>
              </a:lnSpc>
              <a:buClr>
                <a:srgbClr val="C00000"/>
              </a:buClr>
              <a:buNone/>
            </a:pPr>
            <a:r>
              <a:rPr altLang="en-US" sz="2000" b="1" dirty="0">
                <a:solidFill>
                  <a:srgbClr val="0070C0"/>
                </a:solidFill>
                <a:latin typeface="楷体" pitchFamily="49" charset="-122"/>
                <a:ea typeface="楷体" pitchFamily="49" charset="-122"/>
              </a:rPr>
              <a:t>不涉及所有权转移，服务下（进料还是来料</a:t>
            </a:r>
            <a:r>
              <a:rPr lang="en-US" altLang="en-US" sz="2000" b="1" dirty="0">
                <a:solidFill>
                  <a:srgbClr val="0070C0"/>
                </a:solidFill>
                <a:latin typeface="楷体" pitchFamily="49" charset="-122"/>
                <a:ea typeface="楷体" pitchFamily="49" charset="-122"/>
              </a:rPr>
              <a:t>?</a:t>
            </a:r>
            <a:r>
              <a:rPr altLang="en-US" sz="2000" b="1" dirty="0">
                <a:solidFill>
                  <a:srgbClr val="0070C0"/>
                </a:solidFill>
                <a:latin typeface="楷体" pitchFamily="49" charset="-122"/>
                <a:ea typeface="楷体" pitchFamily="49" charset="-122"/>
              </a:rPr>
              <a:t>进料在货物下，来料不涉及所有权转移，在服务贸易下）</a:t>
            </a:r>
            <a:endParaRPr lang="en-US" altLang="en-US" sz="2000" b="1" dirty="0">
              <a:solidFill>
                <a:srgbClr val="0070C0"/>
              </a:solidFill>
              <a:latin typeface="楷体" pitchFamily="49" charset="-122"/>
              <a:ea typeface="楷体" pitchFamily="49" charset="-122"/>
            </a:endParaRPr>
          </a:p>
          <a:p>
            <a:pPr marL="457200" lvl="2" indent="0">
              <a:lnSpc>
                <a:spcPct val="110000"/>
              </a:lnSpc>
              <a:buClr>
                <a:srgbClr val="C00000"/>
              </a:buClr>
              <a:buNone/>
            </a:pPr>
            <a:endParaRPr lang="en-US" altLang="en-US" sz="2000" b="1" dirty="0">
              <a:solidFill>
                <a:srgbClr val="0070C0"/>
              </a:solidFill>
              <a:latin typeface="楷体" pitchFamily="49" charset="-122"/>
              <a:ea typeface="楷体" pitchFamily="49" charset="-122"/>
            </a:endParaRPr>
          </a:p>
          <a:p>
            <a:pPr marL="457200" lvl="2" indent="0">
              <a:lnSpc>
                <a:spcPct val="110000"/>
              </a:lnSpc>
              <a:buClr>
                <a:srgbClr val="C00000"/>
              </a:buClr>
              <a:buFont typeface="Wingdings" pitchFamily="2" charset="2"/>
              <a:buChar char="u"/>
            </a:pPr>
            <a:r>
              <a:rPr altLang="en-US" sz="2000" b="1" dirty="0">
                <a:solidFill>
                  <a:srgbClr val="0070C0"/>
                </a:solidFill>
                <a:latin typeface="楷体" pitchFamily="49" charset="-122"/>
                <a:ea typeface="楷体" pitchFamily="49" charset="-122"/>
              </a:rPr>
              <a:t> </a:t>
            </a:r>
            <a:r>
              <a:rPr lang="en-US" altLang="en-US" sz="2000" b="1" dirty="0">
                <a:solidFill>
                  <a:srgbClr val="0070C0"/>
                </a:solidFill>
                <a:latin typeface="楷体" pitchFamily="49" charset="-122"/>
                <a:ea typeface="楷体" pitchFamily="49" charset="-122"/>
              </a:rPr>
              <a:t>	</a:t>
            </a:r>
            <a:r>
              <a:rPr altLang="en-US" sz="2000" b="1" dirty="0">
                <a:solidFill>
                  <a:srgbClr val="0070C0"/>
                </a:solidFill>
                <a:latin typeface="楷体" pitchFamily="49" charset="-122"/>
                <a:ea typeface="楷体" pitchFamily="49" charset="-122"/>
              </a:rPr>
              <a:t>转口贸易</a:t>
            </a:r>
            <a:endParaRPr lang="en-US" altLang="en-US" sz="2000" b="1" dirty="0">
              <a:solidFill>
                <a:srgbClr val="0070C0"/>
              </a:solidFill>
              <a:latin typeface="楷体" pitchFamily="49" charset="-122"/>
              <a:ea typeface="楷体" pitchFamily="49" charset="-122"/>
            </a:endParaRPr>
          </a:p>
          <a:p>
            <a:pPr marL="457200" lvl="2" indent="0">
              <a:lnSpc>
                <a:spcPct val="110000"/>
              </a:lnSpc>
              <a:buClr>
                <a:srgbClr val="C00000"/>
              </a:buClr>
              <a:buNone/>
            </a:pPr>
            <a:r>
              <a:rPr altLang="en-US" sz="2000" b="1" dirty="0">
                <a:solidFill>
                  <a:srgbClr val="0070C0"/>
                </a:solidFill>
                <a:latin typeface="楷体" pitchFamily="49" charset="-122"/>
                <a:ea typeface="楷体" pitchFamily="49" charset="-122"/>
              </a:rPr>
              <a:t>发生转移，货物贸易下</a:t>
            </a:r>
            <a:endParaRPr lang="en-US" altLang="en-US" sz="2000" b="1" dirty="0">
              <a:solidFill>
                <a:srgbClr val="0070C0"/>
              </a:solidFill>
              <a:latin typeface="楷体" pitchFamily="49" charset="-122"/>
              <a:ea typeface="楷体" pitchFamily="49" charset="-122"/>
            </a:endParaRPr>
          </a:p>
          <a:p>
            <a:pPr marL="457200" lvl="2" indent="0">
              <a:lnSpc>
                <a:spcPct val="110000"/>
              </a:lnSpc>
              <a:buClr>
                <a:srgbClr val="C00000"/>
              </a:buClr>
              <a:buNone/>
            </a:pPr>
            <a:endParaRPr lang="en-US" altLang="en-US" sz="1800" dirty="0">
              <a:solidFill>
                <a:srgbClr val="0070C0"/>
              </a:solidFill>
            </a:endParaRPr>
          </a:p>
          <a:p>
            <a:pPr marL="457200" lvl="2" indent="0">
              <a:lnSpc>
                <a:spcPct val="110000"/>
              </a:lnSpc>
              <a:buClr>
                <a:srgbClr val="C00000"/>
              </a:buClr>
              <a:buNone/>
            </a:pPr>
            <a:endParaRPr lang="zh-CN" altLang="en-US" sz="1800" dirty="0">
              <a:solidFill>
                <a:srgbClr val="002060"/>
              </a:solidFill>
            </a:endParaRPr>
          </a:p>
        </p:txBody>
      </p:sp>
      <p:sp>
        <p:nvSpPr>
          <p:cNvPr id="5" name="页脚占位符 4"/>
          <p:cNvSpPr>
            <a:spLocks noGrp="1"/>
          </p:cNvSpPr>
          <p:nvPr>
            <p:ph type="ftr" sz="quarter" idx="11"/>
          </p:nvPr>
        </p:nvSpPr>
        <p:spPr/>
        <p:txBody>
          <a:bodyPr/>
          <a:lstStyle/>
          <a:p>
            <a:r>
              <a:rPr lang="zh-CN" altLang="en-US"/>
              <a:t>国际金融学 范小云</a:t>
            </a:r>
            <a:endParaRPr lang="zh-CN" altLang="en-US" dirty="0"/>
          </a:p>
        </p:txBody>
      </p:sp>
    </p:spTree>
    <p:extLst>
      <p:ext uri="{BB962C8B-B14F-4D97-AF65-F5344CB8AC3E}">
        <p14:creationId xmlns:p14="http://schemas.microsoft.com/office/powerpoint/2010/main" val="1066846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318" y="0"/>
            <a:ext cx="7950820" cy="583780"/>
          </a:xfrm>
        </p:spPr>
        <p:txBody>
          <a:bodyPr>
            <a:noAutofit/>
          </a:bodyPr>
          <a:lstStyle/>
          <a:p>
            <a:pPr>
              <a:spcBef>
                <a:spcPct val="50000"/>
              </a:spcBef>
            </a:pPr>
            <a:r>
              <a:rPr lang="en-US" altLang="zh-CN" sz="2800" dirty="0"/>
              <a:t>2010</a:t>
            </a:r>
            <a:r>
              <a:rPr lang="zh-CN" altLang="en-US" sz="2800" dirty="0"/>
              <a:t>年度中国国际收支平衡表简表</a:t>
            </a:r>
            <a:r>
              <a:rPr lang="en-US" altLang="zh-CN" sz="2800" dirty="0"/>
              <a:t>(</a:t>
            </a:r>
            <a:r>
              <a:rPr lang="zh-CN" altLang="en-US" sz="2800" dirty="0"/>
              <a:t>单位</a:t>
            </a:r>
            <a:r>
              <a:rPr lang="en-US" altLang="zh-CN" sz="2800" dirty="0"/>
              <a:t>:</a:t>
            </a:r>
            <a:r>
              <a:rPr lang="zh-CN" altLang="en-US" sz="2800" dirty="0"/>
              <a:t>亿美元</a:t>
            </a:r>
            <a:r>
              <a:rPr lang="en-US" altLang="zh-CN" sz="2800" dirty="0"/>
              <a:t>)</a:t>
            </a:r>
            <a:endParaRPr lang="zh-CN" altLang="en-US" sz="2800" dirty="0">
              <a:latin typeface="黑体" panose="02010609060101010101" pitchFamily="49" charset="-122"/>
              <a:ea typeface="黑体" panose="02010609060101010101" pitchFamily="49" charset="-122"/>
            </a:endParaRPr>
          </a:p>
        </p:txBody>
      </p:sp>
      <p:graphicFrame>
        <p:nvGraphicFramePr>
          <p:cNvPr id="6" name="Group 4"/>
          <p:cNvGraphicFramePr>
            <a:graphicFrameLocks noGrp="1"/>
          </p:cNvGraphicFramePr>
          <p:nvPr>
            <p:extLst>
              <p:ext uri="{D42A27DB-BD31-4B8C-83A1-F6EECF244321}">
                <p14:modId xmlns:p14="http://schemas.microsoft.com/office/powerpoint/2010/main" val="1296348237"/>
              </p:ext>
            </p:extLst>
          </p:nvPr>
        </p:nvGraphicFramePr>
        <p:xfrm>
          <a:off x="379141" y="628384"/>
          <a:ext cx="8307660" cy="5943600"/>
        </p:xfrm>
        <a:graphic>
          <a:graphicData uri="http://schemas.openxmlformats.org/drawingml/2006/table">
            <a:tbl>
              <a:tblPr/>
              <a:tblGrid>
                <a:gridCol w="3563961">
                  <a:extLst>
                    <a:ext uri="{9D8B030D-6E8A-4147-A177-3AD203B41FA5}">
                      <a16:colId xmlns:a16="http://schemas.microsoft.com/office/drawing/2014/main" val="20000"/>
                    </a:ext>
                  </a:extLst>
                </a:gridCol>
                <a:gridCol w="1466834">
                  <a:extLst>
                    <a:ext uri="{9D8B030D-6E8A-4147-A177-3AD203B41FA5}">
                      <a16:colId xmlns:a16="http://schemas.microsoft.com/office/drawing/2014/main" val="20001"/>
                    </a:ext>
                  </a:extLst>
                </a:gridCol>
                <a:gridCol w="1740732">
                  <a:extLst>
                    <a:ext uri="{9D8B030D-6E8A-4147-A177-3AD203B41FA5}">
                      <a16:colId xmlns:a16="http://schemas.microsoft.com/office/drawing/2014/main" val="20002"/>
                    </a:ext>
                  </a:extLst>
                </a:gridCol>
                <a:gridCol w="1536133">
                  <a:extLst>
                    <a:ext uri="{9D8B030D-6E8A-4147-A177-3AD203B41FA5}">
                      <a16:colId xmlns:a16="http://schemas.microsoft.com/office/drawing/2014/main" val="20003"/>
                    </a:ext>
                  </a:extLst>
                </a:gridCol>
              </a:tblGrid>
              <a:tr h="37345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项目</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差额</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贷方</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借方</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34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一</a:t>
                      </a: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经常项目</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70C0"/>
                          </a:solidFill>
                          <a:effectLst/>
                          <a:latin typeface="楷体" pitchFamily="49" charset="-122"/>
                          <a:ea typeface="楷体" pitchFamily="49" charset="-122"/>
                          <a:cs typeface="Times New Roman" pitchFamily="18" charset="0"/>
                        </a:rPr>
                        <a:t>3,054</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楷体" pitchFamily="49" charset="-122"/>
                          <a:ea typeface="楷体" pitchFamily="49" charset="-122"/>
                          <a:cs typeface="Times New Roman" pitchFamily="18" charset="0"/>
                        </a:rPr>
                        <a:t>19,468</a:t>
                      </a:r>
                      <a:endParaRPr kumimoji="0" lang="en-US" altLang="zh-CN" sz="2000" b="0" i="0" u="none" strike="noStrike" cap="none" normalizeH="0" baseline="0" dirty="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楷体" pitchFamily="49" charset="-122"/>
                          <a:ea typeface="楷体" pitchFamily="49" charset="-122"/>
                          <a:cs typeface="Times New Roman" pitchFamily="18" charset="0"/>
                        </a:rPr>
                        <a:t>16,414</a:t>
                      </a:r>
                      <a:endParaRPr kumimoji="0" lang="en-US" altLang="zh-CN" sz="2000" b="0" i="0" u="none" strike="noStrike" cap="none" normalizeH="0" baseline="0" dirty="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34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  A.</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货物和服务</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70C0"/>
                          </a:solidFill>
                          <a:effectLst/>
                          <a:latin typeface="楷体" pitchFamily="49" charset="-122"/>
                          <a:ea typeface="楷体" pitchFamily="49" charset="-122"/>
                          <a:cs typeface="Times New Roman" pitchFamily="18" charset="0"/>
                        </a:rPr>
                        <a:t>2,321</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楷体" pitchFamily="49" charset="-122"/>
                          <a:ea typeface="楷体" pitchFamily="49" charset="-122"/>
                          <a:cs typeface="Times New Roman" pitchFamily="18" charset="0"/>
                        </a:rPr>
                        <a:t>17,526</a:t>
                      </a:r>
                      <a:endParaRPr kumimoji="0" lang="en-US" altLang="zh-CN" sz="2000" b="0" i="0" u="none" strike="noStrike" cap="none" normalizeH="0" baseline="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楷体" pitchFamily="49" charset="-122"/>
                          <a:ea typeface="楷体" pitchFamily="49" charset="-122"/>
                          <a:cs typeface="Times New Roman" pitchFamily="18" charset="0"/>
                        </a:rPr>
                        <a:t>15,206</a:t>
                      </a:r>
                      <a:endParaRPr kumimoji="0" lang="en-US" altLang="zh-CN" sz="2000" b="0" i="0" u="none" strike="noStrike" cap="none" normalizeH="0" baseline="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34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      a.</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货物</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楷体" pitchFamily="49" charset="-122"/>
                          <a:ea typeface="楷体" pitchFamily="49" charset="-122"/>
                          <a:cs typeface="Times New Roman" pitchFamily="18" charset="0"/>
                        </a:rPr>
                        <a:t>2,542</a:t>
                      </a:r>
                      <a:endParaRPr kumimoji="0" lang="en-US" altLang="zh-CN" sz="2000" b="0" i="0" u="none" strike="noStrike" cap="none" normalizeH="0" baseline="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楷体" pitchFamily="49" charset="-122"/>
                          <a:ea typeface="楷体" pitchFamily="49" charset="-122"/>
                          <a:cs typeface="Times New Roman" pitchFamily="18" charset="0"/>
                        </a:rPr>
                        <a:t>15,814</a:t>
                      </a:r>
                      <a:endParaRPr kumimoji="0" lang="en-US" altLang="zh-CN" sz="2000" b="0" i="0" u="none" strike="noStrike" cap="none" normalizeH="0" baseline="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楷体" pitchFamily="49" charset="-122"/>
                          <a:ea typeface="楷体" pitchFamily="49" charset="-122"/>
                          <a:cs typeface="Times New Roman" pitchFamily="18" charset="0"/>
                        </a:rPr>
                        <a:t>13,272</a:t>
                      </a:r>
                      <a:endParaRPr kumimoji="0" lang="en-US" altLang="zh-CN" sz="2000" b="0" i="0" u="none" strike="noStrike" cap="none" normalizeH="0" baseline="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34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      b.</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服务</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楷体" pitchFamily="49" charset="-122"/>
                          <a:ea typeface="楷体" pitchFamily="49" charset="-122"/>
                          <a:cs typeface="Times New Roman" pitchFamily="18" charset="0"/>
                        </a:rPr>
                        <a:t>-221</a:t>
                      </a:r>
                      <a:endParaRPr kumimoji="0" lang="en-US" altLang="zh-CN" sz="2000" b="0" i="0" u="none" strike="noStrike" cap="none" normalizeH="0" baseline="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楷体" pitchFamily="49" charset="-122"/>
                          <a:ea typeface="楷体" pitchFamily="49" charset="-122"/>
                          <a:cs typeface="Times New Roman" pitchFamily="18" charset="0"/>
                        </a:rPr>
                        <a:t>1,712</a:t>
                      </a:r>
                      <a:endParaRPr kumimoji="0" lang="en-US" altLang="zh-CN" sz="2000" b="0" i="0" u="none" strike="noStrike" cap="none" normalizeH="0" baseline="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楷体" pitchFamily="49" charset="-122"/>
                          <a:ea typeface="楷体" pitchFamily="49" charset="-122"/>
                          <a:cs typeface="Times New Roman" pitchFamily="18" charset="0"/>
                        </a:rPr>
                        <a:t>1,933</a:t>
                      </a:r>
                      <a:endParaRPr kumimoji="0" lang="en-US" altLang="zh-CN" sz="2000" b="0" i="0" u="none" strike="noStrike" cap="none" normalizeH="0" baseline="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34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  B.</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收益</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楷体" pitchFamily="49" charset="-122"/>
                          <a:ea typeface="楷体" pitchFamily="49" charset="-122"/>
                          <a:cs typeface="Times New Roman" pitchFamily="18" charset="0"/>
                        </a:rPr>
                        <a:t>304</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楷体" pitchFamily="49" charset="-122"/>
                          <a:ea typeface="楷体" pitchFamily="49" charset="-122"/>
                          <a:cs typeface="Times New Roman" pitchFamily="18" charset="0"/>
                        </a:rPr>
                        <a:t>1,446</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楷体" pitchFamily="49" charset="-122"/>
                          <a:ea typeface="楷体" pitchFamily="49" charset="-122"/>
                          <a:cs typeface="Times New Roman" pitchFamily="18" charset="0"/>
                        </a:rPr>
                        <a:t>1,142</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734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  C.</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经常转移</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楷体" pitchFamily="49" charset="-122"/>
                          <a:ea typeface="楷体" pitchFamily="49" charset="-122"/>
                          <a:cs typeface="Times New Roman" pitchFamily="18" charset="0"/>
                        </a:rPr>
                        <a:t>429</a:t>
                      </a:r>
                      <a:endParaRPr kumimoji="0" lang="en-US" altLang="zh-CN" sz="2000" b="0" i="0" u="none" strike="noStrike" cap="none" normalizeH="0" baseline="0" dirty="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楷体" pitchFamily="49" charset="-122"/>
                          <a:ea typeface="楷体" pitchFamily="49" charset="-122"/>
                          <a:cs typeface="Times New Roman" pitchFamily="18" charset="0"/>
                        </a:rPr>
                        <a:t>495</a:t>
                      </a:r>
                      <a:endParaRPr kumimoji="0" lang="en-US" altLang="zh-CN" sz="2000" b="0" i="0" u="none" strike="noStrike" cap="none" normalizeH="0" baseline="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楷体" pitchFamily="49" charset="-122"/>
                          <a:ea typeface="楷体" pitchFamily="49" charset="-122"/>
                          <a:cs typeface="Times New Roman" pitchFamily="18" charset="0"/>
                        </a:rPr>
                        <a:t>66</a:t>
                      </a:r>
                      <a:endParaRPr kumimoji="0" lang="en-US" altLang="zh-CN" sz="2000" b="0" i="0" u="none" strike="noStrike" cap="none" normalizeH="0" baseline="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734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二</a:t>
                      </a: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资本和金融项目</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楷体" pitchFamily="49" charset="-122"/>
                          <a:ea typeface="楷体" pitchFamily="49" charset="-122"/>
                          <a:cs typeface="Times New Roman" pitchFamily="18" charset="0"/>
                        </a:rPr>
                        <a:t>2,260</a:t>
                      </a:r>
                      <a:endParaRPr kumimoji="0" lang="en-US" altLang="zh-CN" sz="2000" b="0" i="0" u="none" strike="noStrike" cap="none" normalizeH="0" baseline="0" dirty="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楷体" pitchFamily="49" charset="-122"/>
                          <a:ea typeface="楷体" pitchFamily="49" charset="-122"/>
                          <a:cs typeface="Times New Roman" pitchFamily="18" charset="0"/>
                        </a:rPr>
                        <a:t>11,080</a:t>
                      </a:r>
                      <a:endParaRPr kumimoji="0" lang="en-US" altLang="zh-CN" sz="2000" b="0" i="0" u="none" strike="noStrike" cap="none" normalizeH="0" baseline="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楷体" pitchFamily="49" charset="-122"/>
                          <a:ea typeface="楷体" pitchFamily="49" charset="-122"/>
                          <a:cs typeface="Times New Roman" pitchFamily="18" charset="0"/>
                        </a:rPr>
                        <a:t>8,820</a:t>
                      </a:r>
                      <a:endParaRPr kumimoji="0" lang="en-US" altLang="zh-CN" sz="2000" b="0" i="0" u="none" strike="noStrike" cap="none" normalizeH="0" baseline="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734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  A.</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资本项目</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楷体" pitchFamily="49" charset="-122"/>
                          <a:ea typeface="楷体" pitchFamily="49" charset="-122"/>
                          <a:cs typeface="Times New Roman" pitchFamily="18" charset="0"/>
                        </a:rPr>
                        <a:t>46</a:t>
                      </a:r>
                      <a:endParaRPr kumimoji="0" lang="en-US" altLang="zh-CN" sz="2000" b="0" i="0" u="none" strike="noStrike" cap="none" normalizeH="0" baseline="0" dirty="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楷体" pitchFamily="49" charset="-122"/>
                          <a:ea typeface="楷体" pitchFamily="49" charset="-122"/>
                          <a:cs typeface="Times New Roman" pitchFamily="18" charset="0"/>
                        </a:rPr>
                        <a:t>48</a:t>
                      </a:r>
                      <a:endParaRPr kumimoji="0" lang="en-US" altLang="zh-CN" sz="2000" b="0" i="0" u="none" strike="noStrike" cap="none" normalizeH="0" baseline="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楷体" pitchFamily="49" charset="-122"/>
                          <a:ea typeface="楷体" pitchFamily="49" charset="-122"/>
                          <a:cs typeface="Times New Roman" pitchFamily="18" charset="0"/>
                        </a:rPr>
                        <a:t>2</a:t>
                      </a:r>
                      <a:endParaRPr kumimoji="0" lang="en-US" altLang="zh-CN" sz="2000" b="0" i="0" u="none" strike="noStrike" cap="none" normalizeH="0" baseline="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734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楷体" pitchFamily="49" charset="-122"/>
                          <a:ea typeface="楷体" pitchFamily="49" charset="-122"/>
                          <a:cs typeface="Times New Roman" pitchFamily="18" charset="0"/>
                        </a:rPr>
                        <a:t>  B.</a:t>
                      </a:r>
                      <a:r>
                        <a:rPr kumimoji="0" lang="zh-CN" altLang="en-US" sz="2000" b="1" i="0" u="none" strike="noStrike" cap="none" normalizeH="0" baseline="0">
                          <a:ln>
                            <a:noFill/>
                          </a:ln>
                          <a:solidFill>
                            <a:schemeClr val="tx1"/>
                          </a:solidFill>
                          <a:effectLst/>
                          <a:latin typeface="楷体" pitchFamily="49" charset="-122"/>
                          <a:ea typeface="楷体" pitchFamily="49" charset="-122"/>
                          <a:cs typeface="Times New Roman" pitchFamily="18" charset="0"/>
                        </a:rPr>
                        <a:t>金融项目</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楷体" pitchFamily="49" charset="-122"/>
                          <a:ea typeface="楷体" pitchFamily="49" charset="-122"/>
                          <a:cs typeface="Times New Roman" pitchFamily="18" charset="0"/>
                        </a:rPr>
                        <a:t>2,214</a:t>
                      </a:r>
                      <a:endParaRPr kumimoji="0" lang="en-US" altLang="zh-CN" sz="2000" b="0" i="0" u="none" strike="noStrike" cap="none" normalizeH="0" baseline="0" dirty="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楷体" pitchFamily="49" charset="-122"/>
                          <a:ea typeface="楷体" pitchFamily="49" charset="-122"/>
                          <a:cs typeface="Times New Roman" pitchFamily="18" charset="0"/>
                        </a:rPr>
                        <a:t>11,032</a:t>
                      </a:r>
                      <a:endParaRPr kumimoji="0" lang="en-US" altLang="zh-CN" sz="2000" b="0" i="0" u="none" strike="noStrike" cap="none" normalizeH="0" baseline="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楷体" pitchFamily="49" charset="-122"/>
                          <a:ea typeface="楷体" pitchFamily="49" charset="-122"/>
                          <a:cs typeface="Times New Roman" pitchFamily="18" charset="0"/>
                        </a:rPr>
                        <a:t>8,818</a:t>
                      </a:r>
                      <a:endParaRPr kumimoji="0" lang="en-US" altLang="zh-CN" sz="2000" b="0" i="0" u="none" strike="noStrike" cap="none" normalizeH="0" baseline="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734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     1.</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直接投资</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楷体" pitchFamily="49" charset="-122"/>
                          <a:ea typeface="楷体" pitchFamily="49" charset="-122"/>
                          <a:cs typeface="Times New Roman" pitchFamily="18" charset="0"/>
                        </a:rPr>
                        <a:t>1,249</a:t>
                      </a:r>
                      <a:endParaRPr kumimoji="0" lang="en-US" altLang="zh-CN" sz="2000" b="0" i="0" u="none" strike="noStrike" cap="none" normalizeH="0" baseline="0" dirty="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楷体" pitchFamily="49" charset="-122"/>
                          <a:ea typeface="楷体" pitchFamily="49" charset="-122"/>
                          <a:cs typeface="Times New Roman" pitchFamily="18" charset="0"/>
                        </a:rPr>
                        <a:t>2,144</a:t>
                      </a:r>
                      <a:endParaRPr kumimoji="0" lang="en-US" altLang="zh-CN" sz="2000" b="0" i="0" u="none" strike="noStrike" cap="none" normalizeH="0" baseline="0" dirty="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楷体" pitchFamily="49" charset="-122"/>
                          <a:ea typeface="楷体" pitchFamily="49" charset="-122"/>
                          <a:cs typeface="Times New Roman" pitchFamily="18" charset="0"/>
                        </a:rPr>
                        <a:t>894</a:t>
                      </a:r>
                      <a:endParaRPr kumimoji="0" lang="en-US" altLang="zh-CN" sz="2000" b="0" i="0" u="none" strike="noStrike" cap="none" normalizeH="0" baseline="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734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     2.</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证券投资</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楷体" pitchFamily="49" charset="-122"/>
                          <a:ea typeface="楷体" pitchFamily="49" charset="-122"/>
                          <a:cs typeface="Times New Roman" pitchFamily="18" charset="0"/>
                        </a:rPr>
                        <a:t>240</a:t>
                      </a:r>
                      <a:endParaRPr kumimoji="0" lang="en-US" altLang="zh-CN" sz="2000" b="0" i="0" u="none" strike="noStrike" cap="none" normalizeH="0" baseline="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楷体" pitchFamily="49" charset="-122"/>
                          <a:ea typeface="楷体" pitchFamily="49" charset="-122"/>
                          <a:cs typeface="Times New Roman" pitchFamily="18" charset="0"/>
                        </a:rPr>
                        <a:t>636</a:t>
                      </a:r>
                      <a:endParaRPr kumimoji="0" lang="en-US" altLang="zh-CN" sz="2000" b="0" i="0" u="none" strike="noStrike" cap="none" normalizeH="0" baseline="0" dirty="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楷体" pitchFamily="49" charset="-122"/>
                          <a:ea typeface="楷体" pitchFamily="49" charset="-122"/>
                          <a:cs typeface="Times New Roman" pitchFamily="18" charset="0"/>
                        </a:rPr>
                        <a:t>395</a:t>
                      </a:r>
                      <a:endParaRPr kumimoji="0" lang="en-US" altLang="zh-CN" sz="2000" b="0" i="0" u="none" strike="noStrike" cap="none" normalizeH="0" baseline="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734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楷体" pitchFamily="49" charset="-122"/>
                          <a:ea typeface="楷体" pitchFamily="49" charset="-122"/>
                          <a:cs typeface="Times New Roman" pitchFamily="18" charset="0"/>
                        </a:rPr>
                        <a:t>     3.</a:t>
                      </a:r>
                      <a:r>
                        <a:rPr kumimoji="0" lang="zh-CN" altLang="en-US" sz="2000" b="1" i="0" u="none" strike="noStrike" cap="none" normalizeH="0" baseline="0">
                          <a:ln>
                            <a:noFill/>
                          </a:ln>
                          <a:solidFill>
                            <a:schemeClr val="tx1"/>
                          </a:solidFill>
                          <a:effectLst/>
                          <a:latin typeface="楷体" pitchFamily="49" charset="-122"/>
                          <a:ea typeface="楷体" pitchFamily="49" charset="-122"/>
                          <a:cs typeface="Times New Roman" pitchFamily="18" charset="0"/>
                        </a:rPr>
                        <a:t>其它投资</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楷体" pitchFamily="49" charset="-122"/>
                          <a:ea typeface="楷体" pitchFamily="49" charset="-122"/>
                          <a:cs typeface="Times New Roman" pitchFamily="18" charset="0"/>
                        </a:rPr>
                        <a:t>724</a:t>
                      </a:r>
                      <a:endParaRPr kumimoji="0" lang="en-US" altLang="zh-CN" sz="2000" b="0" i="0" u="none" strike="noStrike" cap="none" normalizeH="0" baseline="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楷体" pitchFamily="49" charset="-122"/>
                          <a:ea typeface="楷体" pitchFamily="49" charset="-122"/>
                          <a:cs typeface="Times New Roman" pitchFamily="18" charset="0"/>
                        </a:rPr>
                        <a:t>8,253</a:t>
                      </a:r>
                      <a:endParaRPr kumimoji="0" lang="en-US" altLang="zh-CN" sz="2000" b="0" i="0" u="none" strike="noStrike" cap="none" normalizeH="0" baseline="0" dirty="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楷体" pitchFamily="49" charset="-122"/>
                          <a:ea typeface="楷体" pitchFamily="49" charset="-122"/>
                          <a:cs typeface="Times New Roman" pitchFamily="18" charset="0"/>
                        </a:rPr>
                        <a:t>7,528</a:t>
                      </a:r>
                      <a:endParaRPr kumimoji="0" lang="en-US" altLang="zh-CN" sz="2000" b="0" i="0" u="none" strike="noStrike" cap="none" normalizeH="0" baseline="0" dirty="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734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楷体" pitchFamily="49" charset="-122"/>
                          <a:ea typeface="楷体" pitchFamily="49" charset="-122"/>
                          <a:cs typeface="Times New Roman" pitchFamily="18" charset="0"/>
                        </a:rPr>
                        <a:t>三</a:t>
                      </a:r>
                      <a:r>
                        <a:rPr kumimoji="0" lang="en-US" altLang="zh-CN" sz="2000" b="1" i="0" u="none" strike="noStrike" cap="none" normalizeH="0" baseline="0">
                          <a:ln>
                            <a:noFill/>
                          </a:ln>
                          <a:solidFill>
                            <a:schemeClr val="tx1"/>
                          </a:solidFill>
                          <a:effectLst/>
                          <a:latin typeface="楷体" pitchFamily="49" charset="-122"/>
                          <a:ea typeface="楷体" pitchFamily="49" charset="-122"/>
                          <a:cs typeface="Times New Roman" pitchFamily="18" charset="0"/>
                        </a:rPr>
                        <a:t>.</a:t>
                      </a:r>
                      <a:r>
                        <a:rPr kumimoji="0" lang="zh-CN" altLang="en-US" sz="2000" b="1" i="0" u="none" strike="noStrike" cap="none" normalizeH="0" baseline="0">
                          <a:ln>
                            <a:noFill/>
                          </a:ln>
                          <a:solidFill>
                            <a:schemeClr val="tx1"/>
                          </a:solidFill>
                          <a:effectLst/>
                          <a:latin typeface="楷体" pitchFamily="49" charset="-122"/>
                          <a:ea typeface="楷体" pitchFamily="49" charset="-122"/>
                          <a:cs typeface="Times New Roman" pitchFamily="18" charset="0"/>
                        </a:rPr>
                        <a:t>储备资产</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C00000"/>
                          </a:solidFill>
                          <a:effectLst/>
                          <a:latin typeface="楷体" pitchFamily="49" charset="-122"/>
                          <a:ea typeface="楷体" pitchFamily="49" charset="-122"/>
                          <a:cs typeface="Times New Roman" pitchFamily="18" charset="0"/>
                        </a:rPr>
                        <a:t>-4,717</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楷体" pitchFamily="49" charset="-122"/>
                          <a:ea typeface="楷体" pitchFamily="49" charset="-122"/>
                          <a:cs typeface="Times New Roman" pitchFamily="18" charset="0"/>
                        </a:rPr>
                        <a:t>0</a:t>
                      </a:r>
                      <a:endParaRPr kumimoji="0" lang="en-US" altLang="zh-CN" sz="2000" b="0" i="0" u="none" strike="noStrike" cap="none" normalizeH="0" baseline="0" dirty="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楷体" pitchFamily="49" charset="-122"/>
                          <a:ea typeface="楷体" pitchFamily="49" charset="-122"/>
                          <a:cs typeface="Times New Roman" pitchFamily="18" charset="0"/>
                        </a:rPr>
                        <a:t>4,717</a:t>
                      </a:r>
                      <a:endParaRPr kumimoji="0" lang="en-US" altLang="zh-CN" sz="2000" b="0" i="0" u="none" strike="noStrike" cap="none" normalizeH="0" baseline="0" dirty="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734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四</a:t>
                      </a: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净误差与遗漏</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C00000"/>
                          </a:solidFill>
                          <a:effectLst/>
                          <a:latin typeface="楷体" pitchFamily="49" charset="-122"/>
                          <a:ea typeface="楷体" pitchFamily="49" charset="-122"/>
                          <a:cs typeface="Times New Roman" pitchFamily="18" charset="0"/>
                        </a:rPr>
                        <a:t>-597</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楷体" pitchFamily="49" charset="-122"/>
                          <a:ea typeface="楷体" pitchFamily="49" charset="-122"/>
                          <a:cs typeface="Times New Roman" pitchFamily="18" charset="0"/>
                        </a:rPr>
                        <a:t>0</a:t>
                      </a:r>
                      <a:endParaRPr kumimoji="0" lang="en-US" altLang="zh-CN" sz="2000" b="0" i="0" u="none" strike="noStrike" cap="none" normalizeH="0" baseline="0" dirty="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楷体" pitchFamily="49" charset="-122"/>
                          <a:ea typeface="楷体" pitchFamily="49" charset="-122"/>
                          <a:cs typeface="Times New Roman" pitchFamily="18" charset="0"/>
                        </a:rPr>
                        <a:t>597</a:t>
                      </a:r>
                      <a:endParaRPr kumimoji="0" lang="en-US" altLang="zh-CN" sz="2000" b="0" i="0" u="none" strike="noStrike" cap="none" normalizeH="0" baseline="0" dirty="0">
                        <a:ln>
                          <a:noFill/>
                        </a:ln>
                        <a:solidFill>
                          <a:schemeClr val="tx1"/>
                        </a:solidFill>
                        <a:effectLst/>
                        <a:latin typeface="楷体" pitchFamily="49" charset="-122"/>
                        <a:ea typeface="楷体" pitchFamily="49" charset="-122"/>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4103404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318" y="0"/>
            <a:ext cx="7950820" cy="583780"/>
          </a:xfrm>
        </p:spPr>
        <p:txBody>
          <a:bodyPr>
            <a:noAutofit/>
          </a:bodyPr>
          <a:lstStyle/>
          <a:p>
            <a:pPr>
              <a:spcBef>
                <a:spcPct val="50000"/>
              </a:spcBef>
            </a:pPr>
            <a:r>
              <a:rPr lang="en-US" altLang="zh-CN" sz="2800" dirty="0"/>
              <a:t>2010</a:t>
            </a:r>
            <a:r>
              <a:rPr lang="zh-CN" altLang="en-US" sz="2800" dirty="0"/>
              <a:t>年度中国国际收支平衡表简表</a:t>
            </a:r>
            <a:r>
              <a:rPr lang="en-US" altLang="zh-CN" sz="2800" dirty="0"/>
              <a:t>(</a:t>
            </a:r>
            <a:r>
              <a:rPr lang="zh-CN" altLang="en-US" sz="2800" dirty="0"/>
              <a:t>单位</a:t>
            </a:r>
            <a:r>
              <a:rPr lang="en-US" altLang="zh-CN" sz="2800" dirty="0"/>
              <a:t>:</a:t>
            </a:r>
            <a:r>
              <a:rPr lang="zh-CN" altLang="en-US" sz="2800" dirty="0"/>
              <a:t>亿美元</a:t>
            </a:r>
            <a:r>
              <a:rPr lang="en-US" altLang="zh-CN" sz="2800" dirty="0"/>
              <a:t>)</a:t>
            </a:r>
            <a:endParaRPr lang="zh-CN" altLang="en-US" sz="2800" dirty="0">
              <a:latin typeface="黑体" panose="02010609060101010101" pitchFamily="49" charset="-122"/>
              <a:ea typeface="黑体" panose="02010609060101010101" pitchFamily="49"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308118751"/>
              </p:ext>
            </p:extLst>
          </p:nvPr>
        </p:nvGraphicFramePr>
        <p:xfrm>
          <a:off x="312701" y="680225"/>
          <a:ext cx="8362950" cy="5965901"/>
        </p:xfrm>
        <a:graphic>
          <a:graphicData uri="http://schemas.openxmlformats.org/drawingml/2006/table">
            <a:tbl>
              <a:tblPr/>
              <a:tblGrid>
                <a:gridCol w="3373438">
                  <a:extLst>
                    <a:ext uri="{9D8B030D-6E8A-4147-A177-3AD203B41FA5}">
                      <a16:colId xmlns:a16="http://schemas.microsoft.com/office/drawing/2014/main" val="20000"/>
                    </a:ext>
                  </a:extLst>
                </a:gridCol>
                <a:gridCol w="500062">
                  <a:extLst>
                    <a:ext uri="{9D8B030D-6E8A-4147-A177-3AD203B41FA5}">
                      <a16:colId xmlns:a16="http://schemas.microsoft.com/office/drawing/2014/main" val="20001"/>
                    </a:ext>
                  </a:extLst>
                </a:gridCol>
                <a:gridCol w="1389063">
                  <a:extLst>
                    <a:ext uri="{9D8B030D-6E8A-4147-A177-3AD203B41FA5}">
                      <a16:colId xmlns:a16="http://schemas.microsoft.com/office/drawing/2014/main" val="20002"/>
                    </a:ext>
                  </a:extLst>
                </a:gridCol>
                <a:gridCol w="1646237">
                  <a:extLst>
                    <a:ext uri="{9D8B030D-6E8A-4147-A177-3AD203B41FA5}">
                      <a16:colId xmlns:a16="http://schemas.microsoft.com/office/drawing/2014/main" val="20003"/>
                    </a:ext>
                  </a:extLst>
                </a:gridCol>
                <a:gridCol w="1454150">
                  <a:extLst>
                    <a:ext uri="{9D8B030D-6E8A-4147-A177-3AD203B41FA5}">
                      <a16:colId xmlns:a16="http://schemas.microsoft.com/office/drawing/2014/main" val="20004"/>
                    </a:ext>
                  </a:extLst>
                </a:gridCol>
              </a:tblGrid>
              <a:tr h="459441">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anose="02020603050405020304" pitchFamily="18" charset="0"/>
                        </a:rPr>
                        <a:t>1.</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anose="02020603050405020304" pitchFamily="18" charset="0"/>
                        </a:rPr>
                        <a:t>运输</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alpha val="50196"/>
                      </a:srgbClr>
                    </a:solid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5</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alpha val="50196"/>
                      </a:srgbClr>
                    </a:solid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-290</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alpha val="50196"/>
                      </a:srgbClr>
                    </a:solid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342</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633</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733">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anose="02020603050405020304" pitchFamily="18" charset="0"/>
                        </a:rPr>
                        <a:t>2.</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anose="02020603050405020304" pitchFamily="18" charset="0"/>
                        </a:rPr>
                        <a:t>旅游</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6</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-91</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458</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549</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9441">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anose="02020603050405020304" pitchFamily="18" charset="0"/>
                        </a:rPr>
                        <a:t>3.</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anose="02020603050405020304" pitchFamily="18" charset="0"/>
                        </a:rPr>
                        <a:t>通讯服务</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7</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12</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11</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9441">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anose="02020603050405020304" pitchFamily="18" charset="0"/>
                        </a:rPr>
                        <a:t>4.</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anose="02020603050405020304" pitchFamily="18" charset="0"/>
                        </a:rPr>
                        <a:t>建筑服务</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94</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145</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51</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733">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anose="02020603050405020304" pitchFamily="18" charset="0"/>
                        </a:rPr>
                        <a:t>5.</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anose="02020603050405020304" pitchFamily="18" charset="0"/>
                        </a:rPr>
                        <a:t>保险服务</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9</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-140</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17</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158</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9441">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anose="02020603050405020304" pitchFamily="18" charset="0"/>
                        </a:rPr>
                        <a:t>6.</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anose="02020603050405020304" pitchFamily="18" charset="0"/>
                        </a:rPr>
                        <a:t>金融服务</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13</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14</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9441">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anose="02020603050405020304" pitchFamily="18" charset="0"/>
                        </a:rPr>
                        <a:t>7.</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anose="02020603050405020304" pitchFamily="18" charset="0"/>
                        </a:rPr>
                        <a:t>计算机和信息服务</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63</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93</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30</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9441">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anose="02020603050405020304" pitchFamily="18" charset="0"/>
                        </a:rPr>
                        <a:t>8.</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anose="02020603050405020304" pitchFamily="18" charset="0"/>
                        </a:rPr>
                        <a:t>专有权利使用费和特许费</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-122</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8</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130</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57733">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anose="02020603050405020304" pitchFamily="18" charset="0"/>
                        </a:rPr>
                        <a:t>9.</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anose="02020603050405020304" pitchFamily="18" charset="0"/>
                        </a:rPr>
                        <a:t>咨询</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77</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228</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151</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59441">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anose="02020603050405020304" pitchFamily="18" charset="0"/>
                        </a:rPr>
                        <a:t>10.</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anose="02020603050405020304" pitchFamily="18" charset="0"/>
                        </a:rPr>
                        <a:t>广告、宣传</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8</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29</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20</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59441">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anose="02020603050405020304" pitchFamily="18" charset="0"/>
                        </a:rPr>
                        <a:t>11.</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anose="02020603050405020304" pitchFamily="18" charset="0"/>
                        </a:rPr>
                        <a:t>电影、音像</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15</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457733">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anose="02020603050405020304" pitchFamily="18" charset="0"/>
                        </a:rPr>
                        <a:t>12.</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anose="02020603050405020304" pitchFamily="18" charset="0"/>
                        </a:rPr>
                        <a:t>其它商业服务</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16</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184</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356</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172</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459441">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itchFamily="49" charset="-122"/>
                          <a:ea typeface="楷体" pitchFamily="49" charset="-122"/>
                          <a:cs typeface="Times New Roman" panose="02020603050405020304" pitchFamily="18" charset="0"/>
                        </a:rPr>
                        <a:t>13.</a:t>
                      </a: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anose="02020603050405020304" pitchFamily="18" charset="0"/>
                        </a:rPr>
                        <a:t>别处未提及的政府服务</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17</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10</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11</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929848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extLst>
              <p:ext uri="{D42A27DB-BD31-4B8C-83A1-F6EECF244321}">
                <p14:modId xmlns:p14="http://schemas.microsoft.com/office/powerpoint/2010/main" val="3946565346"/>
              </p:ext>
            </p:extLst>
          </p:nvPr>
        </p:nvGraphicFramePr>
        <p:xfrm>
          <a:off x="525778" y="460365"/>
          <a:ext cx="8372477" cy="6067392"/>
        </p:xfrm>
        <a:graphic>
          <a:graphicData uri="http://schemas.openxmlformats.org/drawingml/2006/table">
            <a:tbl>
              <a:tblPr/>
              <a:tblGrid>
                <a:gridCol w="1442643">
                  <a:extLst>
                    <a:ext uri="{9D8B030D-6E8A-4147-A177-3AD203B41FA5}">
                      <a16:colId xmlns:a16="http://schemas.microsoft.com/office/drawing/2014/main" val="20000"/>
                    </a:ext>
                  </a:extLst>
                </a:gridCol>
                <a:gridCol w="1983632">
                  <a:extLst>
                    <a:ext uri="{9D8B030D-6E8A-4147-A177-3AD203B41FA5}">
                      <a16:colId xmlns:a16="http://schemas.microsoft.com/office/drawing/2014/main" val="20001"/>
                    </a:ext>
                  </a:extLst>
                </a:gridCol>
                <a:gridCol w="824367">
                  <a:extLst>
                    <a:ext uri="{9D8B030D-6E8A-4147-A177-3AD203B41FA5}">
                      <a16:colId xmlns:a16="http://schemas.microsoft.com/office/drawing/2014/main" val="20002"/>
                    </a:ext>
                  </a:extLst>
                </a:gridCol>
                <a:gridCol w="824367">
                  <a:extLst>
                    <a:ext uri="{9D8B030D-6E8A-4147-A177-3AD203B41FA5}">
                      <a16:colId xmlns:a16="http://schemas.microsoft.com/office/drawing/2014/main" val="20003"/>
                    </a:ext>
                  </a:extLst>
                </a:gridCol>
                <a:gridCol w="824367">
                  <a:extLst>
                    <a:ext uri="{9D8B030D-6E8A-4147-A177-3AD203B41FA5}">
                      <a16:colId xmlns:a16="http://schemas.microsoft.com/office/drawing/2014/main" val="20004"/>
                    </a:ext>
                  </a:extLst>
                </a:gridCol>
                <a:gridCol w="824367">
                  <a:extLst>
                    <a:ext uri="{9D8B030D-6E8A-4147-A177-3AD203B41FA5}">
                      <a16:colId xmlns:a16="http://schemas.microsoft.com/office/drawing/2014/main" val="20005"/>
                    </a:ext>
                  </a:extLst>
                </a:gridCol>
                <a:gridCol w="824367">
                  <a:extLst>
                    <a:ext uri="{9D8B030D-6E8A-4147-A177-3AD203B41FA5}">
                      <a16:colId xmlns:a16="http://schemas.microsoft.com/office/drawing/2014/main" val="20006"/>
                    </a:ext>
                  </a:extLst>
                </a:gridCol>
                <a:gridCol w="824367">
                  <a:extLst>
                    <a:ext uri="{9D8B030D-6E8A-4147-A177-3AD203B41FA5}">
                      <a16:colId xmlns:a16="http://schemas.microsoft.com/office/drawing/2014/main" val="20007"/>
                    </a:ext>
                  </a:extLst>
                </a:gridCol>
              </a:tblGrid>
              <a:tr h="0">
                <a:tc gridSpan="8">
                  <a:txBody>
                    <a:bodyPr/>
                    <a:lstStyle/>
                    <a:p>
                      <a:pPr algn="ctr" fontAlgn="ctr"/>
                      <a:r>
                        <a:rPr lang="zh-CN" altLang="en-US" sz="2400" b="1" i="0" u="none" strike="noStrike" dirty="0">
                          <a:solidFill>
                            <a:srgbClr val="000000"/>
                          </a:solidFill>
                          <a:effectLst/>
                          <a:latin typeface="宋体"/>
                        </a:rPr>
                        <a:t> 中国国际收支平衡表（年度表）  单位：亿美元 </a:t>
                      </a:r>
                    </a:p>
                  </a:txBody>
                  <a:tcPr marL="3888" marR="3888" marT="3888" marB="0" anchor="ctr">
                    <a:lnL>
                      <a:noFill/>
                    </a:lnL>
                    <a:lnR>
                      <a:noFill/>
                    </a:lnR>
                    <a:lnT>
                      <a:noFill/>
                    </a:lnT>
                    <a:lnB>
                      <a:noFill/>
                    </a:lnB>
                    <a:solidFill>
                      <a:schemeClr val="bg1">
                        <a:lumMod val="95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93778">
                <a:tc>
                  <a:txBody>
                    <a:bodyPr/>
                    <a:lstStyle/>
                    <a:p>
                      <a:pPr algn="l" fontAlgn="b"/>
                      <a:r>
                        <a:rPr lang="zh-CN" altLang="en-US" sz="1600" b="1" i="0" u="none" strike="noStrike">
                          <a:solidFill>
                            <a:srgbClr val="000000"/>
                          </a:solidFill>
                          <a:effectLst/>
                          <a:latin typeface="宋体"/>
                        </a:rPr>
                        <a:t> 项目 </a:t>
                      </a:r>
                    </a:p>
                  </a:txBody>
                  <a:tcPr marL="3888" marR="3888" marT="3888" marB="0" anchor="b">
                    <a:lnL>
                      <a:noFill/>
                    </a:lnL>
                    <a:lnR>
                      <a:noFill/>
                    </a:lnR>
                    <a:lnT>
                      <a:noFill/>
                    </a:lnT>
                    <a:lnB>
                      <a:noFill/>
                    </a:lnB>
                    <a:solidFill>
                      <a:schemeClr val="bg1">
                        <a:lumMod val="95000"/>
                      </a:schemeClr>
                    </a:solidFill>
                  </a:tcPr>
                </a:tc>
                <a:tc>
                  <a:txBody>
                    <a:bodyPr/>
                    <a:lstStyle/>
                    <a:p>
                      <a:pPr algn="l" fontAlgn="ctr"/>
                      <a:endParaRPr lang="zh-CN" altLang="en-US" sz="1600" b="0" i="0" u="none" strike="noStrike">
                        <a:solidFill>
                          <a:srgbClr val="000000"/>
                        </a:solidFill>
                        <a:effectLst/>
                        <a:latin typeface="宋体"/>
                      </a:endParaRPr>
                    </a:p>
                  </a:txBody>
                  <a:tcPr marL="3888" marR="3888" marT="3888" marB="0" anchor="ctr">
                    <a:lnL>
                      <a:noFill/>
                    </a:lnL>
                    <a:lnR>
                      <a:noFill/>
                    </a:lnR>
                    <a:lnT>
                      <a:noFill/>
                    </a:lnT>
                    <a:lnB>
                      <a:noFill/>
                    </a:lnB>
                    <a:solidFill>
                      <a:schemeClr val="bg1">
                        <a:lumMod val="95000"/>
                      </a:schemeClr>
                    </a:solidFill>
                  </a:tcPr>
                </a:tc>
                <a:tc>
                  <a:txBody>
                    <a:bodyPr/>
                    <a:lstStyle/>
                    <a:p>
                      <a:pPr algn="ctr" fontAlgn="b"/>
                      <a:r>
                        <a:rPr lang="en-US" altLang="zh-CN" sz="1600" b="1" i="0" u="none" strike="noStrike">
                          <a:solidFill>
                            <a:srgbClr val="000000"/>
                          </a:solidFill>
                          <a:effectLst/>
                          <a:latin typeface="Times New Roman"/>
                        </a:rPr>
                        <a:t>2015 </a:t>
                      </a:r>
                    </a:p>
                  </a:txBody>
                  <a:tcPr marL="3888" marR="3888" marT="3888" marB="0" anchor="b">
                    <a:lnL>
                      <a:noFill/>
                    </a:lnL>
                    <a:lnR>
                      <a:noFill/>
                    </a:lnR>
                    <a:lnT>
                      <a:noFill/>
                    </a:lnT>
                    <a:lnB>
                      <a:noFill/>
                    </a:lnB>
                    <a:solidFill>
                      <a:schemeClr val="bg1">
                        <a:lumMod val="95000"/>
                      </a:schemeClr>
                    </a:solidFill>
                  </a:tcPr>
                </a:tc>
                <a:tc>
                  <a:txBody>
                    <a:bodyPr/>
                    <a:lstStyle/>
                    <a:p>
                      <a:pPr algn="ctr" fontAlgn="b"/>
                      <a:r>
                        <a:rPr lang="en-US" altLang="zh-CN" sz="1600" b="1" i="0" u="none" strike="noStrike">
                          <a:solidFill>
                            <a:srgbClr val="000000"/>
                          </a:solidFill>
                          <a:effectLst/>
                          <a:latin typeface="Times New Roman"/>
                        </a:rPr>
                        <a:t>2016 </a:t>
                      </a:r>
                    </a:p>
                  </a:txBody>
                  <a:tcPr marL="3888" marR="3888" marT="3888" marB="0" anchor="b">
                    <a:lnL>
                      <a:noFill/>
                    </a:lnL>
                    <a:lnR>
                      <a:noFill/>
                    </a:lnR>
                    <a:lnT>
                      <a:noFill/>
                    </a:lnT>
                    <a:lnB>
                      <a:noFill/>
                    </a:lnB>
                    <a:solidFill>
                      <a:schemeClr val="bg1">
                        <a:lumMod val="95000"/>
                      </a:schemeClr>
                    </a:solidFill>
                  </a:tcPr>
                </a:tc>
                <a:tc>
                  <a:txBody>
                    <a:bodyPr/>
                    <a:lstStyle/>
                    <a:p>
                      <a:pPr algn="ctr" fontAlgn="b"/>
                      <a:r>
                        <a:rPr lang="en-US" altLang="zh-CN" sz="1600" b="1" i="0" u="none" strike="noStrike">
                          <a:solidFill>
                            <a:srgbClr val="000000"/>
                          </a:solidFill>
                          <a:effectLst/>
                          <a:latin typeface="Times New Roman"/>
                        </a:rPr>
                        <a:t>2017 </a:t>
                      </a:r>
                    </a:p>
                  </a:txBody>
                  <a:tcPr marL="3888" marR="3888" marT="3888" marB="0" anchor="b">
                    <a:lnL>
                      <a:noFill/>
                    </a:lnL>
                    <a:lnR>
                      <a:noFill/>
                    </a:lnR>
                    <a:lnT>
                      <a:noFill/>
                    </a:lnT>
                    <a:lnB>
                      <a:noFill/>
                    </a:lnB>
                    <a:solidFill>
                      <a:schemeClr val="bg1">
                        <a:lumMod val="95000"/>
                      </a:schemeClr>
                    </a:solidFill>
                  </a:tcPr>
                </a:tc>
                <a:tc>
                  <a:txBody>
                    <a:bodyPr/>
                    <a:lstStyle/>
                    <a:p>
                      <a:pPr algn="ctr" fontAlgn="b"/>
                      <a:r>
                        <a:rPr lang="en-US" sz="1600" b="1" i="0" u="none" strike="noStrike" dirty="0">
                          <a:solidFill>
                            <a:srgbClr val="000000"/>
                          </a:solidFill>
                          <a:effectLst/>
                          <a:latin typeface="宋体"/>
                        </a:rPr>
                        <a:t>2018Q1</a:t>
                      </a:r>
                    </a:p>
                  </a:txBody>
                  <a:tcPr marL="3888" marR="3888" marT="3888" marB="0" anchor="b">
                    <a:lnL>
                      <a:noFill/>
                    </a:lnL>
                    <a:lnR>
                      <a:noFill/>
                    </a:lnR>
                    <a:lnT>
                      <a:noFill/>
                    </a:lnT>
                    <a:lnB>
                      <a:noFill/>
                    </a:lnB>
                    <a:solidFill>
                      <a:srgbClr val="FFFF00"/>
                    </a:solidFill>
                  </a:tcPr>
                </a:tc>
                <a:tc>
                  <a:txBody>
                    <a:bodyPr/>
                    <a:lstStyle/>
                    <a:p>
                      <a:pPr algn="ctr" fontAlgn="b"/>
                      <a:r>
                        <a:rPr lang="en-US" sz="1600" b="1" i="0" u="none" strike="noStrike">
                          <a:solidFill>
                            <a:srgbClr val="000000"/>
                          </a:solidFill>
                          <a:effectLst/>
                          <a:latin typeface="宋体"/>
                        </a:rPr>
                        <a:t>2018Q2</a:t>
                      </a:r>
                    </a:p>
                  </a:txBody>
                  <a:tcPr marL="3888" marR="3888" marT="3888" marB="0" anchor="b">
                    <a:lnL>
                      <a:noFill/>
                    </a:lnL>
                    <a:lnR>
                      <a:noFill/>
                    </a:lnR>
                    <a:lnT>
                      <a:noFill/>
                    </a:lnT>
                    <a:lnB>
                      <a:noFill/>
                    </a:lnB>
                    <a:solidFill>
                      <a:srgbClr val="FFFF00"/>
                    </a:solidFill>
                  </a:tcPr>
                </a:tc>
                <a:tc>
                  <a:txBody>
                    <a:bodyPr/>
                    <a:lstStyle/>
                    <a:p>
                      <a:pPr algn="ctr" fontAlgn="b"/>
                      <a:r>
                        <a:rPr lang="en-US" sz="1600" b="1" i="0" u="none" strike="noStrike">
                          <a:solidFill>
                            <a:srgbClr val="000000"/>
                          </a:solidFill>
                          <a:effectLst/>
                          <a:latin typeface="宋体"/>
                        </a:rPr>
                        <a:t>2018Q3</a:t>
                      </a:r>
                    </a:p>
                  </a:txBody>
                  <a:tcPr marL="3888" marR="3888" marT="3888" marB="0" anchor="b">
                    <a:lnL>
                      <a:noFill/>
                    </a:lnL>
                    <a:lnR>
                      <a:noFill/>
                    </a:lnR>
                    <a:lnT>
                      <a:noFill/>
                    </a:lnT>
                    <a:lnB>
                      <a:noFill/>
                    </a:lnB>
                    <a:solidFill>
                      <a:srgbClr val="FFFF00"/>
                    </a:solidFill>
                  </a:tcPr>
                </a:tc>
                <a:extLst>
                  <a:ext uri="{0D108BD9-81ED-4DB2-BD59-A6C34878D82A}">
                    <a16:rowId xmlns:a16="http://schemas.microsoft.com/office/drawing/2014/main" val="10001"/>
                  </a:ext>
                </a:extLst>
              </a:tr>
              <a:tr h="193778">
                <a:tc>
                  <a:txBody>
                    <a:bodyPr/>
                    <a:lstStyle/>
                    <a:p>
                      <a:pPr algn="r" fontAlgn="b"/>
                      <a:endParaRPr lang="zh-CN" altLang="en-US" sz="1600" b="0" i="0" u="none" strike="noStrike">
                        <a:solidFill>
                          <a:srgbClr val="000000"/>
                        </a:solidFill>
                        <a:effectLst/>
                        <a:latin typeface="宋体"/>
                      </a:endParaRPr>
                    </a:p>
                  </a:txBody>
                  <a:tcPr marL="3888" marR="3888" marT="3888" marB="0" anchor="b">
                    <a:lnL>
                      <a:noFill/>
                    </a:lnL>
                    <a:lnR>
                      <a:noFill/>
                    </a:lnR>
                    <a:lnT>
                      <a:noFill/>
                    </a:lnT>
                    <a:lnB>
                      <a:noFill/>
                    </a:lnB>
                    <a:solidFill>
                      <a:schemeClr val="bg1">
                        <a:lumMod val="95000"/>
                      </a:schemeClr>
                    </a:solidFill>
                  </a:tcPr>
                </a:tc>
                <a:tc>
                  <a:txBody>
                    <a:bodyPr/>
                    <a:lstStyle/>
                    <a:p>
                      <a:pPr algn="l" fontAlgn="ctr"/>
                      <a:endParaRPr lang="zh-CN" altLang="en-US" sz="1600" b="0" i="0" u="none" strike="noStrike" dirty="0">
                        <a:solidFill>
                          <a:srgbClr val="000000"/>
                        </a:solidFill>
                        <a:effectLst/>
                        <a:latin typeface="宋体"/>
                      </a:endParaRPr>
                    </a:p>
                  </a:txBody>
                  <a:tcPr marL="3888" marR="3888" marT="3888" marB="0" anchor="ctr">
                    <a:lnL>
                      <a:noFill/>
                    </a:lnL>
                    <a:lnR>
                      <a:noFill/>
                    </a:lnR>
                    <a:lnT>
                      <a:noFill/>
                    </a:lnT>
                    <a:lnB>
                      <a:noFill/>
                    </a:lnB>
                    <a:solidFill>
                      <a:schemeClr val="bg1">
                        <a:lumMod val="95000"/>
                      </a:schemeClr>
                    </a:solidFill>
                  </a:tcPr>
                </a:tc>
                <a:tc>
                  <a:txBody>
                    <a:bodyPr/>
                    <a:lstStyle/>
                    <a:p>
                      <a:pPr algn="ctr" fontAlgn="b"/>
                      <a:endParaRPr lang="zh-CN" altLang="en-US" sz="1600" b="1" i="0" u="none" strike="noStrike" dirty="0">
                        <a:solidFill>
                          <a:srgbClr val="000000"/>
                        </a:solidFill>
                        <a:effectLst/>
                        <a:latin typeface="宋体"/>
                      </a:endParaRPr>
                    </a:p>
                  </a:txBody>
                  <a:tcPr marL="3888" marR="3888" marT="3888" marB="0" anchor="b">
                    <a:lnL>
                      <a:noFill/>
                    </a:lnL>
                    <a:lnR>
                      <a:noFill/>
                    </a:lnR>
                    <a:lnT>
                      <a:noFill/>
                    </a:lnT>
                    <a:lnB>
                      <a:noFill/>
                    </a:lnB>
                    <a:solidFill>
                      <a:schemeClr val="bg1">
                        <a:lumMod val="95000"/>
                      </a:schemeClr>
                    </a:solidFill>
                  </a:tcPr>
                </a:tc>
                <a:tc>
                  <a:txBody>
                    <a:bodyPr/>
                    <a:lstStyle/>
                    <a:p>
                      <a:pPr algn="ctr" fontAlgn="b"/>
                      <a:endParaRPr lang="zh-CN" altLang="en-US" sz="1600" b="1" i="0" u="none" strike="noStrike">
                        <a:solidFill>
                          <a:srgbClr val="000000"/>
                        </a:solidFill>
                        <a:effectLst/>
                        <a:latin typeface="宋体"/>
                      </a:endParaRPr>
                    </a:p>
                  </a:txBody>
                  <a:tcPr marL="3888" marR="3888" marT="3888" marB="0" anchor="b">
                    <a:lnL>
                      <a:noFill/>
                    </a:lnL>
                    <a:lnR>
                      <a:noFill/>
                    </a:lnR>
                    <a:lnT>
                      <a:noFill/>
                    </a:lnT>
                    <a:lnB>
                      <a:noFill/>
                    </a:lnB>
                    <a:solidFill>
                      <a:schemeClr val="bg1">
                        <a:lumMod val="95000"/>
                      </a:schemeClr>
                    </a:solidFill>
                  </a:tcPr>
                </a:tc>
                <a:tc>
                  <a:txBody>
                    <a:bodyPr/>
                    <a:lstStyle/>
                    <a:p>
                      <a:pPr algn="ctr" fontAlgn="b"/>
                      <a:endParaRPr lang="zh-CN" altLang="en-US" sz="1600" b="1" i="0" u="none" strike="noStrike">
                        <a:solidFill>
                          <a:srgbClr val="000000"/>
                        </a:solidFill>
                        <a:effectLst/>
                        <a:latin typeface="宋体"/>
                      </a:endParaRPr>
                    </a:p>
                  </a:txBody>
                  <a:tcPr marL="3888" marR="3888" marT="3888" marB="0" anchor="b">
                    <a:lnL>
                      <a:noFill/>
                    </a:lnL>
                    <a:lnR>
                      <a:noFill/>
                    </a:lnR>
                    <a:lnT>
                      <a:noFill/>
                    </a:lnT>
                    <a:lnB>
                      <a:noFill/>
                    </a:lnB>
                    <a:solidFill>
                      <a:schemeClr val="bg1">
                        <a:lumMod val="95000"/>
                      </a:schemeClr>
                    </a:solidFill>
                  </a:tcPr>
                </a:tc>
                <a:tc>
                  <a:txBody>
                    <a:bodyPr/>
                    <a:lstStyle/>
                    <a:p>
                      <a:pPr algn="ctr" fontAlgn="b"/>
                      <a:r>
                        <a:rPr lang="zh-CN" altLang="en-US" sz="1600" b="1" i="0" u="none" strike="noStrike">
                          <a:solidFill>
                            <a:srgbClr val="000000"/>
                          </a:solidFill>
                          <a:effectLst/>
                          <a:latin typeface="宋体"/>
                        </a:rPr>
                        <a:t>　</a:t>
                      </a:r>
                    </a:p>
                  </a:txBody>
                  <a:tcPr marL="3888" marR="3888" marT="3888" marB="0" anchor="b">
                    <a:lnL>
                      <a:noFill/>
                    </a:lnL>
                    <a:lnR>
                      <a:noFill/>
                    </a:lnR>
                    <a:lnT>
                      <a:noFill/>
                    </a:lnT>
                    <a:lnB>
                      <a:noFill/>
                    </a:lnB>
                    <a:solidFill>
                      <a:srgbClr val="FFFF00"/>
                    </a:solidFill>
                  </a:tcPr>
                </a:tc>
                <a:tc>
                  <a:txBody>
                    <a:bodyPr/>
                    <a:lstStyle/>
                    <a:p>
                      <a:pPr algn="ctr" fontAlgn="b"/>
                      <a:r>
                        <a:rPr lang="zh-CN" altLang="en-US" sz="1600" b="1" i="0" u="none" strike="noStrike" dirty="0">
                          <a:solidFill>
                            <a:srgbClr val="000000"/>
                          </a:solidFill>
                          <a:effectLst/>
                          <a:latin typeface="宋体"/>
                        </a:rPr>
                        <a:t>　</a:t>
                      </a:r>
                    </a:p>
                  </a:txBody>
                  <a:tcPr marL="3888" marR="3888" marT="3888" marB="0" anchor="b">
                    <a:lnL>
                      <a:noFill/>
                    </a:lnL>
                    <a:lnR>
                      <a:noFill/>
                    </a:lnR>
                    <a:lnT>
                      <a:noFill/>
                    </a:lnT>
                    <a:lnB>
                      <a:noFill/>
                    </a:lnB>
                    <a:solidFill>
                      <a:srgbClr val="FFFF00"/>
                    </a:solidFill>
                  </a:tcPr>
                </a:tc>
                <a:tc>
                  <a:txBody>
                    <a:bodyPr/>
                    <a:lstStyle/>
                    <a:p>
                      <a:pPr algn="ctr" fontAlgn="b"/>
                      <a:r>
                        <a:rPr lang="zh-CN" altLang="en-US" sz="1600" b="1" i="0" u="none" strike="noStrike">
                          <a:solidFill>
                            <a:srgbClr val="000000"/>
                          </a:solidFill>
                          <a:effectLst/>
                          <a:latin typeface="宋体"/>
                        </a:rPr>
                        <a:t>　</a:t>
                      </a:r>
                    </a:p>
                  </a:txBody>
                  <a:tcPr marL="3888" marR="3888" marT="3888" marB="0" anchor="b">
                    <a:lnL>
                      <a:noFill/>
                    </a:lnL>
                    <a:lnR>
                      <a:noFill/>
                    </a:lnR>
                    <a:lnT>
                      <a:noFill/>
                    </a:lnT>
                    <a:lnB>
                      <a:noFill/>
                    </a:lnB>
                    <a:solidFill>
                      <a:srgbClr val="FFFF00"/>
                    </a:solidFill>
                  </a:tcPr>
                </a:tc>
                <a:extLst>
                  <a:ext uri="{0D108BD9-81ED-4DB2-BD59-A6C34878D82A}">
                    <a16:rowId xmlns:a16="http://schemas.microsoft.com/office/drawing/2014/main" val="10002"/>
                  </a:ext>
                </a:extLst>
              </a:tr>
              <a:tr h="190779">
                <a:tc gridSpan="2">
                  <a:txBody>
                    <a:bodyPr/>
                    <a:lstStyle/>
                    <a:p>
                      <a:pPr algn="l" fontAlgn="ctr"/>
                      <a:r>
                        <a:rPr lang="en-US" altLang="zh-CN" sz="1600" b="1" i="0" u="none" strike="noStrike">
                          <a:solidFill>
                            <a:srgbClr val="000000"/>
                          </a:solidFill>
                          <a:effectLst/>
                          <a:latin typeface="宋体"/>
                        </a:rPr>
                        <a:t>1. </a:t>
                      </a:r>
                      <a:r>
                        <a:rPr lang="zh-CN" altLang="en-US" sz="1600" b="1" i="0" u="none" strike="noStrike">
                          <a:solidFill>
                            <a:srgbClr val="000000"/>
                          </a:solidFill>
                          <a:effectLst/>
                          <a:latin typeface="宋体"/>
                        </a:rPr>
                        <a:t>经常账户</a:t>
                      </a:r>
                    </a:p>
                  </a:txBody>
                  <a:tcPr marL="3888" marR="3888" marT="3888" marB="0" anchor="ctr">
                    <a:lnL>
                      <a:noFill/>
                    </a:lnL>
                    <a:lnR>
                      <a:noFill/>
                    </a:lnR>
                    <a:lnT>
                      <a:noFill/>
                    </a:lnT>
                    <a:lnB>
                      <a:noFill/>
                    </a:lnB>
                    <a:solidFill>
                      <a:schemeClr val="bg1">
                        <a:lumMod val="95000"/>
                      </a:schemeClr>
                    </a:solidFill>
                  </a:tcPr>
                </a:tc>
                <a:tc hMerge="1">
                  <a:txBody>
                    <a:bodyPr/>
                    <a:lstStyle/>
                    <a:p>
                      <a:endParaRPr lang="zh-CN" altLang="en-US"/>
                    </a:p>
                  </a:txBody>
                  <a:tcPr/>
                </a:tc>
                <a:tc>
                  <a:txBody>
                    <a:bodyPr/>
                    <a:lstStyle/>
                    <a:p>
                      <a:pPr algn="r" fontAlgn="b"/>
                      <a:r>
                        <a:rPr lang="en-US" altLang="zh-CN" sz="1600" b="1" i="0" u="none" strike="noStrike" dirty="0">
                          <a:solidFill>
                            <a:srgbClr val="000000"/>
                          </a:solidFill>
                          <a:effectLst/>
                          <a:latin typeface="宋体"/>
                        </a:rPr>
                        <a:t>3,042 </a:t>
                      </a:r>
                    </a:p>
                  </a:txBody>
                  <a:tcPr marL="3888" marR="3888" marT="3888" marB="0" anchor="b">
                    <a:lnL>
                      <a:noFill/>
                    </a:lnL>
                    <a:lnR>
                      <a:noFill/>
                    </a:lnR>
                    <a:lnT>
                      <a:noFill/>
                    </a:lnT>
                    <a:lnB>
                      <a:noFill/>
                    </a:lnB>
                    <a:solidFill>
                      <a:schemeClr val="bg1">
                        <a:lumMod val="95000"/>
                      </a:schemeClr>
                    </a:solidFill>
                  </a:tcPr>
                </a:tc>
                <a:tc>
                  <a:txBody>
                    <a:bodyPr/>
                    <a:lstStyle/>
                    <a:p>
                      <a:pPr algn="r" fontAlgn="b"/>
                      <a:r>
                        <a:rPr lang="en-US" altLang="zh-CN" sz="1600" b="1" i="0" u="none" strike="noStrike" dirty="0">
                          <a:solidFill>
                            <a:srgbClr val="000000"/>
                          </a:solidFill>
                          <a:effectLst/>
                          <a:latin typeface="宋体"/>
                        </a:rPr>
                        <a:t>2,022 </a:t>
                      </a:r>
                    </a:p>
                  </a:txBody>
                  <a:tcPr marL="3888" marR="3888" marT="3888" marB="0" anchor="b">
                    <a:lnL>
                      <a:noFill/>
                    </a:lnL>
                    <a:lnR>
                      <a:noFill/>
                    </a:lnR>
                    <a:lnT>
                      <a:noFill/>
                    </a:lnT>
                    <a:lnB>
                      <a:noFill/>
                    </a:lnB>
                    <a:solidFill>
                      <a:schemeClr val="bg1">
                        <a:lumMod val="95000"/>
                      </a:schemeClr>
                    </a:solidFill>
                  </a:tcPr>
                </a:tc>
                <a:tc>
                  <a:txBody>
                    <a:bodyPr/>
                    <a:lstStyle/>
                    <a:p>
                      <a:pPr algn="r" fontAlgn="b"/>
                      <a:r>
                        <a:rPr lang="en-US" altLang="zh-CN" sz="1600" b="1" i="0" u="none" strike="noStrike">
                          <a:solidFill>
                            <a:srgbClr val="000000"/>
                          </a:solidFill>
                          <a:effectLst/>
                          <a:latin typeface="宋体"/>
                        </a:rPr>
                        <a:t>1,649 </a:t>
                      </a:r>
                    </a:p>
                  </a:txBody>
                  <a:tcPr marL="3888" marR="3888" marT="3888" marB="0" anchor="b">
                    <a:lnL>
                      <a:noFill/>
                    </a:lnL>
                    <a:lnR>
                      <a:noFill/>
                    </a:lnR>
                    <a:lnT>
                      <a:noFill/>
                    </a:lnT>
                    <a:lnB>
                      <a:noFill/>
                    </a:lnB>
                    <a:solidFill>
                      <a:schemeClr val="bg1">
                        <a:lumMod val="95000"/>
                      </a:schemeClr>
                    </a:solidFill>
                  </a:tcPr>
                </a:tc>
                <a:tc>
                  <a:txBody>
                    <a:bodyPr/>
                    <a:lstStyle/>
                    <a:p>
                      <a:pPr algn="l" fontAlgn="ctr"/>
                      <a:r>
                        <a:rPr lang="zh-CN" altLang="en-US" sz="1600" b="1" i="0" u="none" strike="noStrike">
                          <a:solidFill>
                            <a:srgbClr val="000000"/>
                          </a:solidFill>
                          <a:effectLst/>
                          <a:latin typeface="宋体"/>
                        </a:rPr>
                        <a:t>   </a:t>
                      </a:r>
                      <a:r>
                        <a:rPr lang="en-US" altLang="zh-CN" sz="1600" b="1" i="0" u="none" strike="noStrike">
                          <a:solidFill>
                            <a:srgbClr val="000000"/>
                          </a:solidFill>
                          <a:effectLst/>
                          <a:latin typeface="宋体"/>
                        </a:rPr>
                        <a:t>-341 </a:t>
                      </a:r>
                    </a:p>
                  </a:txBody>
                  <a:tcPr marL="3888" marR="3888" marT="3888" marB="0" anchor="ctr">
                    <a:lnL>
                      <a:noFill/>
                    </a:lnL>
                    <a:lnR>
                      <a:noFill/>
                    </a:lnR>
                    <a:lnT>
                      <a:noFill/>
                    </a:lnT>
                    <a:lnB>
                      <a:noFill/>
                    </a:lnB>
                    <a:solidFill>
                      <a:srgbClr val="FFFF00"/>
                    </a:solidFill>
                  </a:tcPr>
                </a:tc>
                <a:tc>
                  <a:txBody>
                    <a:bodyPr/>
                    <a:lstStyle/>
                    <a:p>
                      <a:pPr algn="l" fontAlgn="ctr"/>
                      <a:r>
                        <a:rPr lang="zh-CN" altLang="en-US" sz="1600" b="1" i="0" u="none" strike="noStrike" dirty="0">
                          <a:solidFill>
                            <a:srgbClr val="000000"/>
                          </a:solidFill>
                          <a:effectLst/>
                          <a:latin typeface="宋体"/>
                        </a:rPr>
                        <a:t>     </a:t>
                      </a:r>
                      <a:r>
                        <a:rPr lang="en-US" altLang="zh-CN" sz="1600" b="1" i="0" u="none" strike="noStrike" dirty="0">
                          <a:solidFill>
                            <a:srgbClr val="000000"/>
                          </a:solidFill>
                          <a:effectLst/>
                          <a:latin typeface="宋体"/>
                        </a:rPr>
                        <a:t>53 </a:t>
                      </a:r>
                    </a:p>
                  </a:txBody>
                  <a:tcPr marL="3888" marR="3888" marT="3888" marB="0" anchor="ctr">
                    <a:lnL>
                      <a:noFill/>
                    </a:lnL>
                    <a:lnR>
                      <a:noFill/>
                    </a:lnR>
                    <a:lnT>
                      <a:noFill/>
                    </a:lnT>
                    <a:lnB>
                      <a:noFill/>
                    </a:lnB>
                    <a:solidFill>
                      <a:srgbClr val="FFFF00"/>
                    </a:solidFill>
                  </a:tcPr>
                </a:tc>
                <a:tc>
                  <a:txBody>
                    <a:bodyPr/>
                    <a:lstStyle/>
                    <a:p>
                      <a:pPr algn="l" fontAlgn="ctr"/>
                      <a:r>
                        <a:rPr lang="zh-CN" altLang="en-US" sz="1600" b="1" i="0" u="none" strike="noStrike">
                          <a:solidFill>
                            <a:srgbClr val="000000"/>
                          </a:solidFill>
                          <a:effectLst/>
                          <a:latin typeface="宋体"/>
                        </a:rPr>
                        <a:t>    </a:t>
                      </a:r>
                      <a:r>
                        <a:rPr lang="en-US" altLang="zh-CN" sz="1600" b="1" i="0" u="none" strike="noStrike">
                          <a:solidFill>
                            <a:srgbClr val="000000"/>
                          </a:solidFill>
                          <a:effectLst/>
                          <a:latin typeface="宋体"/>
                        </a:rPr>
                        <a:t>233 </a:t>
                      </a:r>
                    </a:p>
                  </a:txBody>
                  <a:tcPr marL="3888" marR="3888" marT="3888" marB="0" anchor="ctr">
                    <a:lnL>
                      <a:noFill/>
                    </a:lnL>
                    <a:lnR>
                      <a:noFill/>
                    </a:lnR>
                    <a:lnT>
                      <a:noFill/>
                    </a:lnT>
                    <a:lnB>
                      <a:noFill/>
                    </a:lnB>
                    <a:solidFill>
                      <a:srgbClr val="FFFF00"/>
                    </a:solidFill>
                  </a:tcPr>
                </a:tc>
                <a:extLst>
                  <a:ext uri="{0D108BD9-81ED-4DB2-BD59-A6C34878D82A}">
                    <a16:rowId xmlns:a16="http://schemas.microsoft.com/office/drawing/2014/main" val="10003"/>
                  </a:ext>
                </a:extLst>
              </a:tr>
              <a:tr h="193778">
                <a:tc>
                  <a:txBody>
                    <a:bodyPr/>
                    <a:lstStyle/>
                    <a:p>
                      <a:pPr algn="l" fontAlgn="ctr"/>
                      <a:r>
                        <a:rPr lang="zh-CN" altLang="en-US" sz="1600" b="0" i="0" u="none" strike="noStrike">
                          <a:solidFill>
                            <a:srgbClr val="000000"/>
                          </a:solidFill>
                          <a:effectLst/>
                          <a:latin typeface="宋体"/>
                        </a:rPr>
                        <a:t>贷方</a:t>
                      </a:r>
                    </a:p>
                  </a:txBody>
                  <a:tcPr marL="139959" marR="3888" marT="3888" marB="0" anchor="ctr">
                    <a:lnL>
                      <a:noFill/>
                    </a:lnL>
                    <a:lnR>
                      <a:noFill/>
                    </a:lnR>
                    <a:lnT>
                      <a:noFill/>
                    </a:lnT>
                    <a:lnB>
                      <a:noFill/>
                    </a:lnB>
                    <a:solidFill>
                      <a:schemeClr val="bg1">
                        <a:lumMod val="95000"/>
                      </a:schemeClr>
                    </a:solidFill>
                  </a:tcPr>
                </a:tc>
                <a:tc>
                  <a:txBody>
                    <a:bodyPr/>
                    <a:lstStyle/>
                    <a:p>
                      <a:pPr algn="l" fontAlgn="ctr"/>
                      <a:endParaRPr lang="zh-CN" altLang="en-US" sz="1600" b="0" i="0" u="none" strike="noStrike">
                        <a:solidFill>
                          <a:srgbClr val="000000"/>
                        </a:solidFill>
                        <a:effectLst/>
                        <a:latin typeface="宋体"/>
                      </a:endParaRP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0" i="0" u="none" strike="noStrike" dirty="0">
                          <a:solidFill>
                            <a:srgbClr val="000000"/>
                          </a:solidFill>
                          <a:effectLst/>
                          <a:latin typeface="宋体"/>
                        </a:rPr>
                        <a:t>26,193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0" i="0" u="none" strike="noStrike" dirty="0">
                          <a:solidFill>
                            <a:srgbClr val="000000"/>
                          </a:solidFill>
                          <a:effectLst/>
                          <a:latin typeface="宋体"/>
                        </a:rPr>
                        <a:t>24,546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0" i="0" u="none" strike="noStrike">
                          <a:solidFill>
                            <a:srgbClr val="000000"/>
                          </a:solidFill>
                          <a:effectLst/>
                          <a:latin typeface="宋体"/>
                        </a:rPr>
                        <a:t>27,089 </a:t>
                      </a:r>
                    </a:p>
                  </a:txBody>
                  <a:tcPr marL="3888" marR="3888" marT="3888" marB="0" anchor="ctr">
                    <a:lnL>
                      <a:noFill/>
                    </a:lnL>
                    <a:lnR>
                      <a:noFill/>
                    </a:lnR>
                    <a:lnT>
                      <a:noFill/>
                    </a:lnT>
                    <a:lnB>
                      <a:noFill/>
                    </a:lnB>
                    <a:solidFill>
                      <a:schemeClr val="bg1">
                        <a:lumMod val="95000"/>
                      </a:schemeClr>
                    </a:solidFill>
                  </a:tcPr>
                </a:tc>
                <a:tc>
                  <a:txBody>
                    <a:bodyPr/>
                    <a:lstStyle/>
                    <a:p>
                      <a:pPr algn="l" fontAlgn="ctr"/>
                      <a:r>
                        <a:rPr lang="zh-CN" altLang="en-US" sz="1600" b="0" i="0" u="none" strike="noStrike">
                          <a:solidFill>
                            <a:srgbClr val="000000"/>
                          </a:solidFill>
                          <a:effectLst/>
                          <a:latin typeface="宋体"/>
                        </a:rPr>
                        <a:t>  </a:t>
                      </a:r>
                      <a:r>
                        <a:rPr lang="en-US" altLang="zh-CN" sz="1600" b="0" i="0" u="none" strike="noStrike">
                          <a:solidFill>
                            <a:srgbClr val="000000"/>
                          </a:solidFill>
                          <a:effectLst/>
                          <a:latin typeface="宋体"/>
                        </a:rPr>
                        <a:t>6,474 </a:t>
                      </a:r>
                    </a:p>
                  </a:txBody>
                  <a:tcPr marL="3888" marR="3888" marT="3888" marB="0" anchor="ctr">
                    <a:lnL>
                      <a:noFill/>
                    </a:lnL>
                    <a:lnR>
                      <a:noFill/>
                    </a:lnR>
                    <a:lnT>
                      <a:noFill/>
                    </a:lnT>
                    <a:lnB>
                      <a:noFill/>
                    </a:lnB>
                    <a:solidFill>
                      <a:srgbClr val="FFFF00"/>
                    </a:solidFill>
                  </a:tcPr>
                </a:tc>
                <a:tc>
                  <a:txBody>
                    <a:bodyPr/>
                    <a:lstStyle/>
                    <a:p>
                      <a:pPr algn="l" fontAlgn="ctr"/>
                      <a:r>
                        <a:rPr lang="zh-CN" altLang="en-US" sz="1600" b="0" i="0" u="none" strike="noStrike" dirty="0">
                          <a:solidFill>
                            <a:srgbClr val="000000"/>
                          </a:solidFill>
                          <a:effectLst/>
                          <a:latin typeface="宋体"/>
                        </a:rPr>
                        <a:t>  </a:t>
                      </a:r>
                      <a:r>
                        <a:rPr lang="en-US" altLang="zh-CN" sz="1600" b="0" i="0" u="none" strike="noStrike" dirty="0">
                          <a:solidFill>
                            <a:srgbClr val="000000"/>
                          </a:solidFill>
                          <a:effectLst/>
                          <a:latin typeface="宋体"/>
                        </a:rPr>
                        <a:t>7,337 </a:t>
                      </a:r>
                    </a:p>
                  </a:txBody>
                  <a:tcPr marL="3888" marR="3888" marT="3888" marB="0" anchor="ctr">
                    <a:lnL>
                      <a:noFill/>
                    </a:lnL>
                    <a:lnR>
                      <a:noFill/>
                    </a:lnR>
                    <a:lnT>
                      <a:noFill/>
                    </a:lnT>
                    <a:lnB>
                      <a:noFill/>
                    </a:lnB>
                    <a:solidFill>
                      <a:srgbClr val="FFFF00"/>
                    </a:solidFill>
                  </a:tcPr>
                </a:tc>
                <a:tc>
                  <a:txBody>
                    <a:bodyPr/>
                    <a:lstStyle/>
                    <a:p>
                      <a:pPr algn="l" fontAlgn="ctr"/>
                      <a:r>
                        <a:rPr lang="zh-CN" altLang="en-US" sz="1600" b="0" i="0" u="none" strike="noStrike">
                          <a:solidFill>
                            <a:srgbClr val="000000"/>
                          </a:solidFill>
                          <a:effectLst/>
                          <a:latin typeface="宋体"/>
                        </a:rPr>
                        <a:t>  </a:t>
                      </a:r>
                      <a:r>
                        <a:rPr lang="en-US" altLang="zh-CN" sz="1600" b="0" i="0" u="none" strike="noStrike">
                          <a:solidFill>
                            <a:srgbClr val="000000"/>
                          </a:solidFill>
                          <a:effectLst/>
                          <a:latin typeface="宋体"/>
                        </a:rPr>
                        <a:t>7,717 </a:t>
                      </a:r>
                    </a:p>
                  </a:txBody>
                  <a:tcPr marL="3888" marR="3888" marT="3888" marB="0" anchor="ctr">
                    <a:lnL>
                      <a:noFill/>
                    </a:lnL>
                    <a:lnR>
                      <a:noFill/>
                    </a:lnR>
                    <a:lnT>
                      <a:noFill/>
                    </a:lnT>
                    <a:lnB>
                      <a:noFill/>
                    </a:lnB>
                    <a:solidFill>
                      <a:srgbClr val="FFFF00"/>
                    </a:solidFill>
                  </a:tcPr>
                </a:tc>
                <a:extLst>
                  <a:ext uri="{0D108BD9-81ED-4DB2-BD59-A6C34878D82A}">
                    <a16:rowId xmlns:a16="http://schemas.microsoft.com/office/drawing/2014/main" val="10004"/>
                  </a:ext>
                </a:extLst>
              </a:tr>
              <a:tr h="193778">
                <a:tc>
                  <a:txBody>
                    <a:bodyPr/>
                    <a:lstStyle/>
                    <a:p>
                      <a:pPr algn="l" fontAlgn="ctr"/>
                      <a:r>
                        <a:rPr lang="zh-CN" altLang="en-US" sz="1600" b="0" i="0" u="none" strike="noStrike">
                          <a:solidFill>
                            <a:srgbClr val="000000"/>
                          </a:solidFill>
                          <a:effectLst/>
                          <a:latin typeface="宋体"/>
                        </a:rPr>
                        <a:t>借方</a:t>
                      </a:r>
                    </a:p>
                  </a:txBody>
                  <a:tcPr marL="139959" marR="3888" marT="3888" marB="0" anchor="ctr">
                    <a:lnL>
                      <a:noFill/>
                    </a:lnL>
                    <a:lnR>
                      <a:noFill/>
                    </a:lnR>
                    <a:lnT>
                      <a:noFill/>
                    </a:lnT>
                    <a:lnB>
                      <a:noFill/>
                    </a:lnB>
                    <a:solidFill>
                      <a:schemeClr val="bg1">
                        <a:lumMod val="95000"/>
                      </a:schemeClr>
                    </a:solidFill>
                  </a:tcPr>
                </a:tc>
                <a:tc>
                  <a:txBody>
                    <a:bodyPr/>
                    <a:lstStyle/>
                    <a:p>
                      <a:pPr algn="l" fontAlgn="ctr"/>
                      <a:endParaRPr lang="zh-CN" altLang="en-US" sz="1600" b="0" i="0" u="none" strike="noStrike" dirty="0">
                        <a:solidFill>
                          <a:srgbClr val="000000"/>
                        </a:solidFill>
                        <a:effectLst/>
                        <a:latin typeface="宋体"/>
                      </a:endParaRP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0" i="0" u="none" strike="noStrike" dirty="0">
                          <a:solidFill>
                            <a:srgbClr val="000000"/>
                          </a:solidFill>
                          <a:effectLst/>
                          <a:latin typeface="宋体"/>
                        </a:rPr>
                        <a:t>-23,151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0" i="0" u="none" strike="noStrike" dirty="0">
                          <a:solidFill>
                            <a:srgbClr val="000000"/>
                          </a:solidFill>
                          <a:effectLst/>
                          <a:latin typeface="宋体"/>
                        </a:rPr>
                        <a:t>-22,524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0" i="0" u="none" strike="noStrike">
                          <a:solidFill>
                            <a:srgbClr val="000000"/>
                          </a:solidFill>
                          <a:effectLst/>
                          <a:latin typeface="宋体"/>
                        </a:rPr>
                        <a:t>-25,440 </a:t>
                      </a:r>
                    </a:p>
                  </a:txBody>
                  <a:tcPr marL="3888" marR="3888" marT="3888" marB="0" anchor="ctr">
                    <a:lnL>
                      <a:noFill/>
                    </a:lnL>
                    <a:lnR>
                      <a:noFill/>
                    </a:lnR>
                    <a:lnT>
                      <a:noFill/>
                    </a:lnT>
                    <a:lnB>
                      <a:noFill/>
                    </a:lnB>
                    <a:solidFill>
                      <a:schemeClr val="bg1">
                        <a:lumMod val="95000"/>
                      </a:schemeClr>
                    </a:solidFill>
                  </a:tcPr>
                </a:tc>
                <a:tc>
                  <a:txBody>
                    <a:bodyPr/>
                    <a:lstStyle/>
                    <a:p>
                      <a:pPr algn="l" fontAlgn="ctr"/>
                      <a:r>
                        <a:rPr lang="zh-CN" altLang="en-US" sz="1600" b="0" i="0" u="none" strike="noStrike">
                          <a:solidFill>
                            <a:srgbClr val="000000"/>
                          </a:solidFill>
                          <a:effectLst/>
                          <a:latin typeface="宋体"/>
                        </a:rPr>
                        <a:t> </a:t>
                      </a:r>
                      <a:r>
                        <a:rPr lang="en-US" altLang="zh-CN" sz="1600" b="0" i="0" u="none" strike="noStrike">
                          <a:solidFill>
                            <a:srgbClr val="000000"/>
                          </a:solidFill>
                          <a:effectLst/>
                          <a:latin typeface="宋体"/>
                        </a:rPr>
                        <a:t>-6,815 </a:t>
                      </a:r>
                    </a:p>
                  </a:txBody>
                  <a:tcPr marL="3888" marR="3888" marT="3888" marB="0" anchor="ctr">
                    <a:lnL>
                      <a:noFill/>
                    </a:lnL>
                    <a:lnR>
                      <a:noFill/>
                    </a:lnR>
                    <a:lnT>
                      <a:noFill/>
                    </a:lnT>
                    <a:lnB>
                      <a:noFill/>
                    </a:lnB>
                    <a:solidFill>
                      <a:srgbClr val="FFFF00"/>
                    </a:solidFill>
                  </a:tcPr>
                </a:tc>
                <a:tc>
                  <a:txBody>
                    <a:bodyPr/>
                    <a:lstStyle/>
                    <a:p>
                      <a:pPr algn="l" fontAlgn="ctr"/>
                      <a:r>
                        <a:rPr lang="zh-CN" altLang="en-US" sz="1600" b="0" i="0" u="none" strike="noStrike">
                          <a:solidFill>
                            <a:srgbClr val="000000"/>
                          </a:solidFill>
                          <a:effectLst/>
                          <a:latin typeface="宋体"/>
                        </a:rPr>
                        <a:t> </a:t>
                      </a:r>
                      <a:r>
                        <a:rPr lang="en-US" altLang="zh-CN" sz="1600" b="0" i="0" u="none" strike="noStrike">
                          <a:solidFill>
                            <a:srgbClr val="000000"/>
                          </a:solidFill>
                          <a:effectLst/>
                          <a:latin typeface="宋体"/>
                        </a:rPr>
                        <a:t>-7,284 </a:t>
                      </a:r>
                    </a:p>
                  </a:txBody>
                  <a:tcPr marL="3888" marR="3888" marT="3888" marB="0" anchor="ctr">
                    <a:lnL>
                      <a:noFill/>
                    </a:lnL>
                    <a:lnR>
                      <a:noFill/>
                    </a:lnR>
                    <a:lnT>
                      <a:noFill/>
                    </a:lnT>
                    <a:lnB>
                      <a:noFill/>
                    </a:lnB>
                    <a:solidFill>
                      <a:srgbClr val="FFFF00"/>
                    </a:solidFill>
                  </a:tcPr>
                </a:tc>
                <a:tc>
                  <a:txBody>
                    <a:bodyPr/>
                    <a:lstStyle/>
                    <a:p>
                      <a:pPr algn="l" fontAlgn="ctr"/>
                      <a:r>
                        <a:rPr lang="zh-CN" altLang="en-US" sz="1600" b="0" i="0" u="none" strike="noStrike">
                          <a:solidFill>
                            <a:srgbClr val="000000"/>
                          </a:solidFill>
                          <a:effectLst/>
                          <a:latin typeface="宋体"/>
                        </a:rPr>
                        <a:t> </a:t>
                      </a:r>
                      <a:r>
                        <a:rPr lang="en-US" altLang="zh-CN" sz="1600" b="0" i="0" u="none" strike="noStrike">
                          <a:solidFill>
                            <a:srgbClr val="000000"/>
                          </a:solidFill>
                          <a:effectLst/>
                          <a:latin typeface="宋体"/>
                        </a:rPr>
                        <a:t>-7,484 </a:t>
                      </a:r>
                    </a:p>
                  </a:txBody>
                  <a:tcPr marL="3888" marR="3888" marT="3888" marB="0" anchor="ctr">
                    <a:lnL>
                      <a:noFill/>
                    </a:lnL>
                    <a:lnR>
                      <a:noFill/>
                    </a:lnR>
                    <a:lnT>
                      <a:noFill/>
                    </a:lnT>
                    <a:lnB>
                      <a:noFill/>
                    </a:lnB>
                    <a:solidFill>
                      <a:srgbClr val="FFFF00"/>
                    </a:solidFill>
                  </a:tcPr>
                </a:tc>
                <a:extLst>
                  <a:ext uri="{0D108BD9-81ED-4DB2-BD59-A6C34878D82A}">
                    <a16:rowId xmlns:a16="http://schemas.microsoft.com/office/drawing/2014/main" val="10005"/>
                  </a:ext>
                </a:extLst>
              </a:tr>
              <a:tr h="190779">
                <a:tc gridSpan="2">
                  <a:txBody>
                    <a:bodyPr/>
                    <a:lstStyle/>
                    <a:p>
                      <a:pPr algn="l" fontAlgn="ctr"/>
                      <a:r>
                        <a:rPr lang="en-US" sz="1600" b="1" i="0" u="none" strike="noStrike" dirty="0">
                          <a:solidFill>
                            <a:srgbClr val="000000"/>
                          </a:solidFill>
                          <a:effectLst/>
                          <a:latin typeface="宋体"/>
                        </a:rPr>
                        <a:t>1.A </a:t>
                      </a:r>
                      <a:r>
                        <a:rPr lang="zh-CN" altLang="en-US" sz="1600" b="1" i="0" u="none" strike="noStrike" dirty="0">
                          <a:solidFill>
                            <a:srgbClr val="000000"/>
                          </a:solidFill>
                          <a:effectLst/>
                          <a:latin typeface="宋体"/>
                        </a:rPr>
                        <a:t>货物和服务</a:t>
                      </a:r>
                    </a:p>
                  </a:txBody>
                  <a:tcPr marL="139959" marR="3888" marT="3888" marB="0" anchor="ctr">
                    <a:lnL>
                      <a:noFill/>
                    </a:lnL>
                    <a:lnR>
                      <a:noFill/>
                    </a:lnR>
                    <a:lnT>
                      <a:noFill/>
                    </a:lnT>
                    <a:lnB>
                      <a:noFill/>
                    </a:lnB>
                    <a:solidFill>
                      <a:schemeClr val="bg1">
                        <a:lumMod val="95000"/>
                      </a:schemeClr>
                    </a:solidFill>
                  </a:tcPr>
                </a:tc>
                <a:tc hMerge="1">
                  <a:txBody>
                    <a:bodyPr/>
                    <a:lstStyle/>
                    <a:p>
                      <a:endParaRPr lang="zh-CN" altLang="en-US"/>
                    </a:p>
                  </a:txBody>
                  <a:tcPr/>
                </a:tc>
                <a:tc>
                  <a:txBody>
                    <a:bodyPr/>
                    <a:lstStyle/>
                    <a:p>
                      <a:pPr algn="r" fontAlgn="ctr"/>
                      <a:r>
                        <a:rPr lang="en-US" altLang="zh-CN" sz="1600" b="1" i="0" u="none" strike="noStrike" dirty="0">
                          <a:solidFill>
                            <a:srgbClr val="000000"/>
                          </a:solidFill>
                          <a:effectLst/>
                          <a:latin typeface="宋体"/>
                        </a:rPr>
                        <a:t>3,579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1" i="0" u="none" strike="noStrike" dirty="0">
                          <a:solidFill>
                            <a:srgbClr val="000000"/>
                          </a:solidFill>
                          <a:effectLst/>
                          <a:latin typeface="宋体"/>
                        </a:rPr>
                        <a:t>2,557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1" i="0" u="none" strike="noStrike" dirty="0">
                          <a:solidFill>
                            <a:srgbClr val="000000"/>
                          </a:solidFill>
                          <a:effectLst/>
                          <a:latin typeface="宋体"/>
                        </a:rPr>
                        <a:t>2,107 </a:t>
                      </a:r>
                    </a:p>
                  </a:txBody>
                  <a:tcPr marL="3888" marR="3888" marT="3888" marB="0" anchor="ctr">
                    <a:lnL>
                      <a:noFill/>
                    </a:lnL>
                    <a:lnR>
                      <a:noFill/>
                    </a:lnR>
                    <a:lnT>
                      <a:noFill/>
                    </a:lnT>
                    <a:lnB>
                      <a:noFill/>
                    </a:lnB>
                    <a:solidFill>
                      <a:schemeClr val="bg1">
                        <a:lumMod val="95000"/>
                      </a:schemeClr>
                    </a:solidFill>
                  </a:tcPr>
                </a:tc>
                <a:tc>
                  <a:txBody>
                    <a:bodyPr/>
                    <a:lstStyle/>
                    <a:p>
                      <a:pPr algn="l" fontAlgn="ctr"/>
                      <a:r>
                        <a:rPr lang="zh-CN" altLang="en-US" sz="1600" b="1" i="0" u="none" strike="noStrike" dirty="0">
                          <a:solidFill>
                            <a:srgbClr val="FF0000"/>
                          </a:solidFill>
                          <a:effectLst/>
                          <a:latin typeface="宋体"/>
                        </a:rPr>
                        <a:t>   </a:t>
                      </a:r>
                      <a:r>
                        <a:rPr lang="en-US" altLang="zh-CN" sz="1600" b="1" i="0" u="none" strike="noStrike" dirty="0">
                          <a:solidFill>
                            <a:srgbClr val="FF0000"/>
                          </a:solidFill>
                          <a:effectLst/>
                          <a:latin typeface="宋体"/>
                        </a:rPr>
                        <a:t>-218 </a:t>
                      </a:r>
                    </a:p>
                  </a:txBody>
                  <a:tcPr marL="3888" marR="3888" marT="3888" marB="0" anchor="ctr">
                    <a:lnL>
                      <a:noFill/>
                    </a:lnL>
                    <a:lnR>
                      <a:noFill/>
                    </a:lnR>
                    <a:lnT>
                      <a:noFill/>
                    </a:lnT>
                    <a:lnB>
                      <a:noFill/>
                    </a:lnB>
                    <a:solidFill>
                      <a:srgbClr val="FFFF00"/>
                    </a:solidFill>
                  </a:tcPr>
                </a:tc>
                <a:tc>
                  <a:txBody>
                    <a:bodyPr/>
                    <a:lstStyle/>
                    <a:p>
                      <a:pPr algn="l" fontAlgn="ctr"/>
                      <a:r>
                        <a:rPr lang="zh-CN" altLang="en-US" sz="1600" b="1" i="0" u="none" strike="noStrike" dirty="0">
                          <a:solidFill>
                            <a:srgbClr val="FF0000"/>
                          </a:solidFill>
                          <a:effectLst/>
                          <a:latin typeface="宋体"/>
                        </a:rPr>
                        <a:t>    </a:t>
                      </a:r>
                      <a:r>
                        <a:rPr lang="en-US" altLang="zh-CN" sz="1600" b="1" i="0" u="none" strike="noStrike" dirty="0">
                          <a:solidFill>
                            <a:srgbClr val="FF0000"/>
                          </a:solidFill>
                          <a:effectLst/>
                          <a:latin typeface="宋体"/>
                        </a:rPr>
                        <a:t>299 </a:t>
                      </a:r>
                    </a:p>
                  </a:txBody>
                  <a:tcPr marL="3888" marR="3888" marT="3888" marB="0" anchor="ctr">
                    <a:lnL>
                      <a:noFill/>
                    </a:lnL>
                    <a:lnR>
                      <a:noFill/>
                    </a:lnR>
                    <a:lnT>
                      <a:noFill/>
                    </a:lnT>
                    <a:lnB>
                      <a:noFill/>
                    </a:lnB>
                    <a:solidFill>
                      <a:srgbClr val="FFFF00"/>
                    </a:solidFill>
                  </a:tcPr>
                </a:tc>
                <a:tc>
                  <a:txBody>
                    <a:bodyPr/>
                    <a:lstStyle/>
                    <a:p>
                      <a:pPr algn="l" fontAlgn="ctr"/>
                      <a:r>
                        <a:rPr lang="zh-CN" altLang="en-US" sz="1600" b="1" i="0" u="none" strike="noStrike" dirty="0">
                          <a:solidFill>
                            <a:srgbClr val="FF0000"/>
                          </a:solidFill>
                          <a:effectLst/>
                          <a:latin typeface="宋体"/>
                        </a:rPr>
                        <a:t>    </a:t>
                      </a:r>
                      <a:r>
                        <a:rPr lang="en-US" altLang="zh-CN" sz="1600" b="1" i="0" u="none" strike="noStrike" dirty="0">
                          <a:solidFill>
                            <a:srgbClr val="FF0000"/>
                          </a:solidFill>
                          <a:effectLst/>
                          <a:latin typeface="宋体"/>
                        </a:rPr>
                        <a:t>199 </a:t>
                      </a:r>
                    </a:p>
                  </a:txBody>
                  <a:tcPr marL="3888" marR="3888" marT="3888" marB="0" anchor="ctr">
                    <a:lnL>
                      <a:noFill/>
                    </a:lnL>
                    <a:lnR>
                      <a:noFill/>
                    </a:lnR>
                    <a:lnT>
                      <a:noFill/>
                    </a:lnT>
                    <a:lnB>
                      <a:noFill/>
                    </a:lnB>
                    <a:solidFill>
                      <a:srgbClr val="FFFF00"/>
                    </a:solidFill>
                  </a:tcPr>
                </a:tc>
                <a:extLst>
                  <a:ext uri="{0D108BD9-81ED-4DB2-BD59-A6C34878D82A}">
                    <a16:rowId xmlns:a16="http://schemas.microsoft.com/office/drawing/2014/main" val="10006"/>
                  </a:ext>
                </a:extLst>
              </a:tr>
              <a:tr h="190779">
                <a:tc gridSpan="2">
                  <a:txBody>
                    <a:bodyPr/>
                    <a:lstStyle/>
                    <a:p>
                      <a:pPr algn="l" fontAlgn="ctr"/>
                      <a:r>
                        <a:rPr lang="zh-CN" altLang="en-US" sz="1600" b="0" i="0" u="none" strike="noStrike">
                          <a:solidFill>
                            <a:srgbClr val="000000"/>
                          </a:solidFill>
                          <a:effectLst/>
                          <a:latin typeface="宋体"/>
                        </a:rPr>
                        <a:t>贷方</a:t>
                      </a:r>
                    </a:p>
                  </a:txBody>
                  <a:tcPr marL="279918" marR="3888" marT="3888" marB="0" anchor="ctr">
                    <a:lnL>
                      <a:noFill/>
                    </a:lnL>
                    <a:lnR>
                      <a:noFill/>
                    </a:lnR>
                    <a:lnT>
                      <a:noFill/>
                    </a:lnT>
                    <a:lnB>
                      <a:noFill/>
                    </a:lnB>
                    <a:solidFill>
                      <a:schemeClr val="bg1">
                        <a:lumMod val="95000"/>
                      </a:schemeClr>
                    </a:solidFill>
                  </a:tcPr>
                </a:tc>
                <a:tc hMerge="1">
                  <a:txBody>
                    <a:bodyPr/>
                    <a:lstStyle/>
                    <a:p>
                      <a:endParaRPr lang="zh-CN" altLang="en-US"/>
                    </a:p>
                  </a:txBody>
                  <a:tcPr/>
                </a:tc>
                <a:tc>
                  <a:txBody>
                    <a:bodyPr/>
                    <a:lstStyle/>
                    <a:p>
                      <a:pPr algn="r" fontAlgn="ctr"/>
                      <a:r>
                        <a:rPr lang="en-US" altLang="zh-CN" sz="1600" b="0" i="0" u="none" strike="noStrike">
                          <a:solidFill>
                            <a:srgbClr val="000000"/>
                          </a:solidFill>
                          <a:effectLst/>
                          <a:latin typeface="宋体"/>
                        </a:rPr>
                        <a:t>23,602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0" i="0" u="none" strike="noStrike" dirty="0">
                          <a:solidFill>
                            <a:srgbClr val="000000"/>
                          </a:solidFill>
                          <a:effectLst/>
                          <a:latin typeface="宋体"/>
                        </a:rPr>
                        <a:t>21,979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0" i="0" u="none" strike="noStrike">
                          <a:solidFill>
                            <a:srgbClr val="000000"/>
                          </a:solidFill>
                          <a:effectLst/>
                          <a:latin typeface="宋体"/>
                        </a:rPr>
                        <a:t>24,229 </a:t>
                      </a:r>
                    </a:p>
                  </a:txBody>
                  <a:tcPr marL="3888" marR="3888" marT="3888" marB="0" anchor="ctr">
                    <a:lnL>
                      <a:noFill/>
                    </a:lnL>
                    <a:lnR>
                      <a:noFill/>
                    </a:lnR>
                    <a:lnT>
                      <a:noFill/>
                    </a:lnT>
                    <a:lnB>
                      <a:noFill/>
                    </a:lnB>
                    <a:solidFill>
                      <a:schemeClr val="bg1">
                        <a:lumMod val="95000"/>
                      </a:schemeClr>
                    </a:solidFill>
                  </a:tcPr>
                </a:tc>
                <a:tc>
                  <a:txBody>
                    <a:bodyPr/>
                    <a:lstStyle/>
                    <a:p>
                      <a:pPr algn="l" fontAlgn="ctr"/>
                      <a:r>
                        <a:rPr lang="zh-CN" altLang="en-US" sz="1600" b="0" i="0" u="none" strike="noStrike">
                          <a:solidFill>
                            <a:srgbClr val="000000"/>
                          </a:solidFill>
                          <a:effectLst/>
                          <a:latin typeface="宋体"/>
                        </a:rPr>
                        <a:t>  </a:t>
                      </a:r>
                      <a:r>
                        <a:rPr lang="en-US" altLang="zh-CN" sz="1600" b="0" i="0" u="none" strike="noStrike">
                          <a:solidFill>
                            <a:srgbClr val="000000"/>
                          </a:solidFill>
                          <a:effectLst/>
                          <a:latin typeface="宋体"/>
                        </a:rPr>
                        <a:t>5,854 </a:t>
                      </a:r>
                    </a:p>
                  </a:txBody>
                  <a:tcPr marL="3888" marR="3888" marT="3888" marB="0" anchor="ctr">
                    <a:lnL>
                      <a:noFill/>
                    </a:lnL>
                    <a:lnR>
                      <a:noFill/>
                    </a:lnR>
                    <a:lnT>
                      <a:noFill/>
                    </a:lnT>
                    <a:lnB>
                      <a:noFill/>
                    </a:lnB>
                    <a:solidFill>
                      <a:srgbClr val="FFFF00"/>
                    </a:solidFill>
                  </a:tcPr>
                </a:tc>
                <a:tc>
                  <a:txBody>
                    <a:bodyPr/>
                    <a:lstStyle/>
                    <a:p>
                      <a:pPr algn="l" fontAlgn="ctr"/>
                      <a:r>
                        <a:rPr lang="zh-CN" altLang="en-US" sz="1600" b="0" i="0" u="none" strike="noStrike">
                          <a:solidFill>
                            <a:srgbClr val="000000"/>
                          </a:solidFill>
                          <a:effectLst/>
                          <a:latin typeface="宋体"/>
                        </a:rPr>
                        <a:t>  </a:t>
                      </a:r>
                      <a:r>
                        <a:rPr lang="en-US" altLang="zh-CN" sz="1600" b="0" i="0" u="none" strike="noStrike">
                          <a:solidFill>
                            <a:srgbClr val="000000"/>
                          </a:solidFill>
                          <a:effectLst/>
                          <a:latin typeface="宋体"/>
                        </a:rPr>
                        <a:t>6,667 </a:t>
                      </a:r>
                    </a:p>
                  </a:txBody>
                  <a:tcPr marL="3888" marR="3888" marT="3888" marB="0" anchor="ctr">
                    <a:lnL>
                      <a:noFill/>
                    </a:lnL>
                    <a:lnR>
                      <a:noFill/>
                    </a:lnR>
                    <a:lnT>
                      <a:noFill/>
                    </a:lnT>
                    <a:lnB>
                      <a:noFill/>
                    </a:lnB>
                    <a:solidFill>
                      <a:srgbClr val="FFFF00"/>
                    </a:solidFill>
                  </a:tcPr>
                </a:tc>
                <a:tc>
                  <a:txBody>
                    <a:bodyPr/>
                    <a:lstStyle/>
                    <a:p>
                      <a:pPr algn="l" fontAlgn="ctr"/>
                      <a:r>
                        <a:rPr lang="zh-CN" altLang="en-US" sz="1600" b="0" i="0" u="none" strike="noStrike">
                          <a:solidFill>
                            <a:srgbClr val="000000"/>
                          </a:solidFill>
                          <a:effectLst/>
                          <a:latin typeface="宋体"/>
                        </a:rPr>
                        <a:t>  </a:t>
                      </a:r>
                      <a:r>
                        <a:rPr lang="en-US" altLang="zh-CN" sz="1600" b="0" i="0" u="none" strike="noStrike">
                          <a:solidFill>
                            <a:srgbClr val="000000"/>
                          </a:solidFill>
                          <a:effectLst/>
                          <a:latin typeface="宋体"/>
                        </a:rPr>
                        <a:t>6,913 </a:t>
                      </a:r>
                    </a:p>
                  </a:txBody>
                  <a:tcPr marL="3888" marR="3888" marT="3888" marB="0" anchor="ctr">
                    <a:lnL>
                      <a:noFill/>
                    </a:lnL>
                    <a:lnR>
                      <a:noFill/>
                    </a:lnR>
                    <a:lnT>
                      <a:noFill/>
                    </a:lnT>
                    <a:lnB>
                      <a:noFill/>
                    </a:lnB>
                    <a:solidFill>
                      <a:srgbClr val="FFFF00"/>
                    </a:solidFill>
                  </a:tcPr>
                </a:tc>
                <a:extLst>
                  <a:ext uri="{0D108BD9-81ED-4DB2-BD59-A6C34878D82A}">
                    <a16:rowId xmlns:a16="http://schemas.microsoft.com/office/drawing/2014/main" val="10007"/>
                  </a:ext>
                </a:extLst>
              </a:tr>
              <a:tr h="190779">
                <a:tc gridSpan="2">
                  <a:txBody>
                    <a:bodyPr/>
                    <a:lstStyle/>
                    <a:p>
                      <a:pPr algn="l" fontAlgn="ctr"/>
                      <a:r>
                        <a:rPr lang="zh-CN" altLang="en-US" sz="1600" b="0" i="0" u="none" strike="noStrike" dirty="0">
                          <a:solidFill>
                            <a:srgbClr val="000000"/>
                          </a:solidFill>
                          <a:effectLst/>
                          <a:latin typeface="宋体"/>
                        </a:rPr>
                        <a:t>借方</a:t>
                      </a:r>
                    </a:p>
                  </a:txBody>
                  <a:tcPr marL="279918" marR="3888" marT="3888" marB="0" anchor="ctr">
                    <a:lnL>
                      <a:noFill/>
                    </a:lnL>
                    <a:lnR>
                      <a:noFill/>
                    </a:lnR>
                    <a:lnT>
                      <a:noFill/>
                    </a:lnT>
                    <a:lnB>
                      <a:noFill/>
                    </a:lnB>
                    <a:solidFill>
                      <a:schemeClr val="bg1">
                        <a:lumMod val="95000"/>
                      </a:schemeClr>
                    </a:solidFill>
                  </a:tcPr>
                </a:tc>
                <a:tc hMerge="1">
                  <a:txBody>
                    <a:bodyPr/>
                    <a:lstStyle/>
                    <a:p>
                      <a:endParaRPr lang="zh-CN" altLang="en-US"/>
                    </a:p>
                  </a:txBody>
                  <a:tcPr/>
                </a:tc>
                <a:tc>
                  <a:txBody>
                    <a:bodyPr/>
                    <a:lstStyle/>
                    <a:p>
                      <a:pPr algn="r" fontAlgn="ctr"/>
                      <a:r>
                        <a:rPr lang="en-US" altLang="zh-CN" sz="1600" b="0" i="0" u="none" strike="noStrike">
                          <a:solidFill>
                            <a:srgbClr val="000000"/>
                          </a:solidFill>
                          <a:effectLst/>
                          <a:latin typeface="宋体"/>
                        </a:rPr>
                        <a:t>-20,023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0" i="0" u="none" strike="noStrike">
                          <a:solidFill>
                            <a:srgbClr val="000000"/>
                          </a:solidFill>
                          <a:effectLst/>
                          <a:latin typeface="宋体"/>
                        </a:rPr>
                        <a:t>-19,422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0" i="0" u="none" strike="noStrike">
                          <a:solidFill>
                            <a:srgbClr val="000000"/>
                          </a:solidFill>
                          <a:effectLst/>
                          <a:latin typeface="宋体"/>
                        </a:rPr>
                        <a:t>-22,122 </a:t>
                      </a:r>
                    </a:p>
                  </a:txBody>
                  <a:tcPr marL="3888" marR="3888" marT="3888" marB="0" anchor="ctr">
                    <a:lnL>
                      <a:noFill/>
                    </a:lnL>
                    <a:lnR>
                      <a:noFill/>
                    </a:lnR>
                    <a:lnT>
                      <a:noFill/>
                    </a:lnT>
                    <a:lnB>
                      <a:noFill/>
                    </a:lnB>
                    <a:solidFill>
                      <a:schemeClr val="bg1">
                        <a:lumMod val="95000"/>
                      </a:schemeClr>
                    </a:solidFill>
                  </a:tcPr>
                </a:tc>
                <a:tc>
                  <a:txBody>
                    <a:bodyPr/>
                    <a:lstStyle/>
                    <a:p>
                      <a:pPr algn="l" fontAlgn="ctr"/>
                      <a:r>
                        <a:rPr lang="zh-CN" altLang="en-US" sz="1600" b="0" i="0" u="none" strike="noStrike">
                          <a:solidFill>
                            <a:srgbClr val="000000"/>
                          </a:solidFill>
                          <a:effectLst/>
                          <a:latin typeface="宋体"/>
                        </a:rPr>
                        <a:t> </a:t>
                      </a:r>
                      <a:r>
                        <a:rPr lang="en-US" altLang="zh-CN" sz="1600" b="0" i="0" u="none" strike="noStrike">
                          <a:solidFill>
                            <a:srgbClr val="000000"/>
                          </a:solidFill>
                          <a:effectLst/>
                          <a:latin typeface="宋体"/>
                        </a:rPr>
                        <a:t>-6,073 </a:t>
                      </a:r>
                    </a:p>
                  </a:txBody>
                  <a:tcPr marL="3888" marR="3888" marT="3888" marB="0" anchor="ctr">
                    <a:lnL>
                      <a:noFill/>
                    </a:lnL>
                    <a:lnR>
                      <a:noFill/>
                    </a:lnR>
                    <a:lnT>
                      <a:noFill/>
                    </a:lnT>
                    <a:lnB>
                      <a:noFill/>
                    </a:lnB>
                    <a:solidFill>
                      <a:srgbClr val="FFFF00"/>
                    </a:solidFill>
                  </a:tcPr>
                </a:tc>
                <a:tc>
                  <a:txBody>
                    <a:bodyPr/>
                    <a:lstStyle/>
                    <a:p>
                      <a:pPr algn="l" fontAlgn="ctr"/>
                      <a:r>
                        <a:rPr lang="zh-CN" altLang="en-US" sz="1600" b="0" i="0" u="none" strike="noStrike" dirty="0">
                          <a:solidFill>
                            <a:srgbClr val="000000"/>
                          </a:solidFill>
                          <a:effectLst/>
                          <a:latin typeface="宋体"/>
                        </a:rPr>
                        <a:t> </a:t>
                      </a:r>
                      <a:r>
                        <a:rPr lang="en-US" altLang="zh-CN" sz="1600" b="0" i="0" u="none" strike="noStrike" dirty="0">
                          <a:solidFill>
                            <a:srgbClr val="000000"/>
                          </a:solidFill>
                          <a:effectLst/>
                          <a:latin typeface="宋体"/>
                        </a:rPr>
                        <a:t>-6,368 </a:t>
                      </a:r>
                    </a:p>
                  </a:txBody>
                  <a:tcPr marL="3888" marR="3888" marT="3888" marB="0" anchor="ctr">
                    <a:lnL>
                      <a:noFill/>
                    </a:lnL>
                    <a:lnR>
                      <a:noFill/>
                    </a:lnR>
                    <a:lnT>
                      <a:noFill/>
                    </a:lnT>
                    <a:lnB>
                      <a:noFill/>
                    </a:lnB>
                    <a:solidFill>
                      <a:srgbClr val="FFFF00"/>
                    </a:solidFill>
                  </a:tcPr>
                </a:tc>
                <a:tc>
                  <a:txBody>
                    <a:bodyPr/>
                    <a:lstStyle/>
                    <a:p>
                      <a:pPr algn="l" fontAlgn="ctr"/>
                      <a:r>
                        <a:rPr lang="zh-CN" altLang="en-US" sz="1600" b="0" i="0" u="none" strike="noStrike">
                          <a:solidFill>
                            <a:srgbClr val="000000"/>
                          </a:solidFill>
                          <a:effectLst/>
                          <a:latin typeface="宋体"/>
                        </a:rPr>
                        <a:t> </a:t>
                      </a:r>
                      <a:r>
                        <a:rPr lang="en-US" altLang="zh-CN" sz="1600" b="0" i="0" u="none" strike="noStrike">
                          <a:solidFill>
                            <a:srgbClr val="000000"/>
                          </a:solidFill>
                          <a:effectLst/>
                          <a:latin typeface="宋体"/>
                        </a:rPr>
                        <a:t>-6,714 </a:t>
                      </a:r>
                    </a:p>
                  </a:txBody>
                  <a:tcPr marL="3888" marR="3888" marT="3888" marB="0" anchor="ctr">
                    <a:lnL>
                      <a:noFill/>
                    </a:lnL>
                    <a:lnR>
                      <a:noFill/>
                    </a:lnR>
                    <a:lnT>
                      <a:noFill/>
                    </a:lnT>
                    <a:lnB>
                      <a:noFill/>
                    </a:lnB>
                    <a:solidFill>
                      <a:srgbClr val="FFFF00"/>
                    </a:solidFill>
                  </a:tcPr>
                </a:tc>
                <a:extLst>
                  <a:ext uri="{0D108BD9-81ED-4DB2-BD59-A6C34878D82A}">
                    <a16:rowId xmlns:a16="http://schemas.microsoft.com/office/drawing/2014/main" val="10008"/>
                  </a:ext>
                </a:extLst>
              </a:tr>
              <a:tr h="190779">
                <a:tc gridSpan="2">
                  <a:txBody>
                    <a:bodyPr/>
                    <a:lstStyle/>
                    <a:p>
                      <a:pPr algn="l" fontAlgn="ctr"/>
                      <a:r>
                        <a:rPr lang="en-US" sz="1600" b="1" i="0" u="none" strike="noStrike" dirty="0">
                          <a:solidFill>
                            <a:srgbClr val="FF0000"/>
                          </a:solidFill>
                          <a:effectLst/>
                          <a:latin typeface="宋体"/>
                        </a:rPr>
                        <a:t>   1.A.a </a:t>
                      </a:r>
                      <a:r>
                        <a:rPr lang="zh-CN" altLang="en-US" sz="1600" b="1" i="0" u="none" strike="noStrike" dirty="0">
                          <a:solidFill>
                            <a:srgbClr val="FF0000"/>
                          </a:solidFill>
                          <a:effectLst/>
                          <a:latin typeface="宋体"/>
                        </a:rPr>
                        <a:t>货物</a:t>
                      </a:r>
                    </a:p>
                  </a:txBody>
                  <a:tcPr marL="139959" marR="3888" marT="3888" marB="0" anchor="ctr">
                    <a:lnL>
                      <a:noFill/>
                    </a:lnL>
                    <a:lnR>
                      <a:noFill/>
                    </a:lnR>
                    <a:lnT>
                      <a:noFill/>
                    </a:lnT>
                    <a:lnB>
                      <a:noFill/>
                    </a:lnB>
                    <a:solidFill>
                      <a:schemeClr val="bg1">
                        <a:lumMod val="95000"/>
                      </a:schemeClr>
                    </a:solidFill>
                  </a:tcPr>
                </a:tc>
                <a:tc hMerge="1">
                  <a:txBody>
                    <a:bodyPr/>
                    <a:lstStyle/>
                    <a:p>
                      <a:endParaRPr lang="zh-CN" altLang="en-US"/>
                    </a:p>
                  </a:txBody>
                  <a:tcPr/>
                </a:tc>
                <a:tc>
                  <a:txBody>
                    <a:bodyPr/>
                    <a:lstStyle/>
                    <a:p>
                      <a:pPr algn="r" fontAlgn="b"/>
                      <a:r>
                        <a:rPr lang="en-US" altLang="zh-CN" sz="1600" b="1" i="0" u="none" strike="noStrike" dirty="0">
                          <a:solidFill>
                            <a:srgbClr val="FF0000"/>
                          </a:solidFill>
                          <a:effectLst/>
                          <a:latin typeface="宋体"/>
                        </a:rPr>
                        <a:t>5,762 </a:t>
                      </a:r>
                    </a:p>
                  </a:txBody>
                  <a:tcPr marL="3888" marR="3888" marT="3888" marB="0" anchor="b">
                    <a:lnL>
                      <a:noFill/>
                    </a:lnL>
                    <a:lnR>
                      <a:noFill/>
                    </a:lnR>
                    <a:lnT>
                      <a:noFill/>
                    </a:lnT>
                    <a:lnB>
                      <a:noFill/>
                    </a:lnB>
                    <a:solidFill>
                      <a:schemeClr val="bg1">
                        <a:lumMod val="95000"/>
                      </a:schemeClr>
                    </a:solidFill>
                  </a:tcPr>
                </a:tc>
                <a:tc>
                  <a:txBody>
                    <a:bodyPr/>
                    <a:lstStyle/>
                    <a:p>
                      <a:pPr algn="r" fontAlgn="b"/>
                      <a:r>
                        <a:rPr lang="en-US" altLang="zh-CN" sz="1600" b="1" i="0" u="none" strike="noStrike" dirty="0">
                          <a:solidFill>
                            <a:srgbClr val="FF0000"/>
                          </a:solidFill>
                          <a:effectLst/>
                          <a:latin typeface="宋体"/>
                        </a:rPr>
                        <a:t>4,889 </a:t>
                      </a:r>
                    </a:p>
                  </a:txBody>
                  <a:tcPr marL="3888" marR="3888" marT="3888" marB="0" anchor="b">
                    <a:lnL>
                      <a:noFill/>
                    </a:lnL>
                    <a:lnR>
                      <a:noFill/>
                    </a:lnR>
                    <a:lnT>
                      <a:noFill/>
                    </a:lnT>
                    <a:lnB>
                      <a:noFill/>
                    </a:lnB>
                    <a:solidFill>
                      <a:schemeClr val="bg1">
                        <a:lumMod val="95000"/>
                      </a:schemeClr>
                    </a:solidFill>
                  </a:tcPr>
                </a:tc>
                <a:tc>
                  <a:txBody>
                    <a:bodyPr/>
                    <a:lstStyle/>
                    <a:p>
                      <a:pPr algn="r" fontAlgn="b"/>
                      <a:r>
                        <a:rPr lang="en-US" altLang="zh-CN" sz="1600" b="1" i="0" u="none" strike="noStrike" dirty="0">
                          <a:solidFill>
                            <a:srgbClr val="FF0000"/>
                          </a:solidFill>
                          <a:effectLst/>
                          <a:latin typeface="宋体"/>
                        </a:rPr>
                        <a:t>4,761 </a:t>
                      </a:r>
                    </a:p>
                  </a:txBody>
                  <a:tcPr marL="3888" marR="3888" marT="3888" marB="0" anchor="b">
                    <a:lnL>
                      <a:noFill/>
                    </a:lnL>
                    <a:lnR>
                      <a:noFill/>
                    </a:lnR>
                    <a:lnT>
                      <a:noFill/>
                    </a:lnT>
                    <a:lnB>
                      <a:noFill/>
                    </a:lnB>
                    <a:solidFill>
                      <a:schemeClr val="bg1">
                        <a:lumMod val="95000"/>
                      </a:schemeClr>
                    </a:solidFill>
                  </a:tcPr>
                </a:tc>
                <a:tc>
                  <a:txBody>
                    <a:bodyPr/>
                    <a:lstStyle/>
                    <a:p>
                      <a:pPr algn="l" fontAlgn="ctr"/>
                      <a:r>
                        <a:rPr lang="zh-CN" altLang="en-US" sz="1600" b="1" i="0" u="none" strike="noStrike">
                          <a:solidFill>
                            <a:srgbClr val="FF0000"/>
                          </a:solidFill>
                          <a:effectLst/>
                          <a:latin typeface="宋体"/>
                        </a:rPr>
                        <a:t>    </a:t>
                      </a:r>
                      <a:r>
                        <a:rPr lang="en-US" altLang="zh-CN" sz="1600" b="1" i="0" u="none" strike="noStrike">
                          <a:solidFill>
                            <a:srgbClr val="FF0000"/>
                          </a:solidFill>
                          <a:effectLst/>
                          <a:latin typeface="宋体"/>
                        </a:rPr>
                        <a:t>517 </a:t>
                      </a:r>
                    </a:p>
                  </a:txBody>
                  <a:tcPr marL="3888" marR="3888" marT="3888" marB="0" anchor="ctr">
                    <a:lnL>
                      <a:noFill/>
                    </a:lnL>
                    <a:lnR>
                      <a:noFill/>
                    </a:lnR>
                    <a:lnT>
                      <a:noFill/>
                    </a:lnT>
                    <a:lnB>
                      <a:noFill/>
                    </a:lnB>
                    <a:solidFill>
                      <a:srgbClr val="FFFF00"/>
                    </a:solidFill>
                  </a:tcPr>
                </a:tc>
                <a:tc>
                  <a:txBody>
                    <a:bodyPr/>
                    <a:lstStyle/>
                    <a:p>
                      <a:pPr algn="l" fontAlgn="ctr"/>
                      <a:r>
                        <a:rPr lang="zh-CN" altLang="en-US" sz="1600" b="1" i="0" u="none" strike="noStrike" dirty="0">
                          <a:solidFill>
                            <a:srgbClr val="FF0000"/>
                          </a:solidFill>
                          <a:effectLst/>
                          <a:latin typeface="宋体"/>
                        </a:rPr>
                        <a:t>  </a:t>
                      </a:r>
                      <a:r>
                        <a:rPr lang="en-US" altLang="zh-CN" sz="1600" b="1" i="0" u="none" strike="noStrike" dirty="0">
                          <a:solidFill>
                            <a:srgbClr val="FF0000"/>
                          </a:solidFill>
                          <a:effectLst/>
                          <a:latin typeface="宋体"/>
                        </a:rPr>
                        <a:t>1,036 </a:t>
                      </a:r>
                    </a:p>
                  </a:txBody>
                  <a:tcPr marL="3888" marR="3888" marT="3888" marB="0" anchor="ctr">
                    <a:lnL>
                      <a:noFill/>
                    </a:lnL>
                    <a:lnR>
                      <a:noFill/>
                    </a:lnR>
                    <a:lnT>
                      <a:noFill/>
                    </a:lnT>
                    <a:lnB>
                      <a:noFill/>
                    </a:lnB>
                    <a:solidFill>
                      <a:srgbClr val="FFFF00"/>
                    </a:solidFill>
                  </a:tcPr>
                </a:tc>
                <a:tc>
                  <a:txBody>
                    <a:bodyPr/>
                    <a:lstStyle/>
                    <a:p>
                      <a:pPr algn="l" fontAlgn="ctr"/>
                      <a:r>
                        <a:rPr lang="zh-CN" altLang="en-US" sz="1600" b="1" i="0" u="none" strike="noStrike" dirty="0">
                          <a:solidFill>
                            <a:srgbClr val="FF0000"/>
                          </a:solidFill>
                          <a:effectLst/>
                          <a:latin typeface="宋体"/>
                        </a:rPr>
                        <a:t>  </a:t>
                      </a:r>
                      <a:r>
                        <a:rPr lang="en-US" altLang="zh-CN" sz="1600" b="1" i="0" u="none" strike="noStrike" dirty="0">
                          <a:solidFill>
                            <a:srgbClr val="FF0000"/>
                          </a:solidFill>
                          <a:effectLst/>
                          <a:latin typeface="宋体"/>
                        </a:rPr>
                        <a:t>1,008 </a:t>
                      </a:r>
                    </a:p>
                  </a:txBody>
                  <a:tcPr marL="3888" marR="3888" marT="3888" marB="0" anchor="ctr">
                    <a:lnL>
                      <a:noFill/>
                    </a:lnL>
                    <a:lnR>
                      <a:noFill/>
                    </a:lnR>
                    <a:lnT>
                      <a:noFill/>
                    </a:lnT>
                    <a:lnB>
                      <a:noFill/>
                    </a:lnB>
                    <a:solidFill>
                      <a:srgbClr val="FFFF00"/>
                    </a:solidFill>
                  </a:tcPr>
                </a:tc>
                <a:extLst>
                  <a:ext uri="{0D108BD9-81ED-4DB2-BD59-A6C34878D82A}">
                    <a16:rowId xmlns:a16="http://schemas.microsoft.com/office/drawing/2014/main" val="10009"/>
                  </a:ext>
                </a:extLst>
              </a:tr>
              <a:tr h="190779">
                <a:tc gridSpan="2">
                  <a:txBody>
                    <a:bodyPr/>
                    <a:lstStyle/>
                    <a:p>
                      <a:pPr algn="l" fontAlgn="ctr"/>
                      <a:r>
                        <a:rPr lang="en-US" sz="1600" b="1" i="0" u="none" strike="noStrike" dirty="0">
                          <a:solidFill>
                            <a:srgbClr val="000000"/>
                          </a:solidFill>
                          <a:effectLst/>
                          <a:latin typeface="宋体"/>
                        </a:rPr>
                        <a:t>   1.A.b </a:t>
                      </a:r>
                      <a:r>
                        <a:rPr lang="zh-CN" altLang="en-US" sz="1600" b="1" i="0" u="none" strike="noStrike" dirty="0">
                          <a:solidFill>
                            <a:srgbClr val="000000"/>
                          </a:solidFill>
                          <a:effectLst/>
                          <a:latin typeface="宋体"/>
                        </a:rPr>
                        <a:t>服务</a:t>
                      </a:r>
                    </a:p>
                  </a:txBody>
                  <a:tcPr marL="139959" marR="3888" marT="3888" marB="0" anchor="ctr">
                    <a:lnL>
                      <a:noFill/>
                    </a:lnL>
                    <a:lnR>
                      <a:noFill/>
                    </a:lnR>
                    <a:lnT>
                      <a:noFill/>
                    </a:lnT>
                    <a:lnB>
                      <a:noFill/>
                    </a:lnB>
                    <a:solidFill>
                      <a:schemeClr val="bg1">
                        <a:lumMod val="95000"/>
                      </a:schemeClr>
                    </a:solidFill>
                  </a:tcPr>
                </a:tc>
                <a:tc hMerge="1">
                  <a:txBody>
                    <a:bodyPr/>
                    <a:lstStyle/>
                    <a:p>
                      <a:endParaRPr lang="zh-CN" altLang="en-US"/>
                    </a:p>
                  </a:txBody>
                  <a:tcPr/>
                </a:tc>
                <a:tc>
                  <a:txBody>
                    <a:bodyPr/>
                    <a:lstStyle/>
                    <a:p>
                      <a:pPr algn="r" fontAlgn="b"/>
                      <a:r>
                        <a:rPr lang="en-US" altLang="zh-CN" sz="1600" b="1" i="0" u="none" strike="noStrike" dirty="0">
                          <a:solidFill>
                            <a:srgbClr val="000000"/>
                          </a:solidFill>
                          <a:effectLst/>
                          <a:latin typeface="宋体"/>
                        </a:rPr>
                        <a:t>-2,183 </a:t>
                      </a:r>
                    </a:p>
                  </a:txBody>
                  <a:tcPr marL="3888" marR="3888" marT="3888" marB="0" anchor="b">
                    <a:lnL>
                      <a:noFill/>
                    </a:lnL>
                    <a:lnR>
                      <a:noFill/>
                    </a:lnR>
                    <a:lnT>
                      <a:noFill/>
                    </a:lnT>
                    <a:lnB>
                      <a:noFill/>
                    </a:lnB>
                    <a:solidFill>
                      <a:schemeClr val="bg1">
                        <a:lumMod val="95000"/>
                      </a:schemeClr>
                    </a:solidFill>
                  </a:tcPr>
                </a:tc>
                <a:tc>
                  <a:txBody>
                    <a:bodyPr/>
                    <a:lstStyle/>
                    <a:p>
                      <a:pPr algn="r" fontAlgn="b"/>
                      <a:r>
                        <a:rPr lang="en-US" altLang="zh-CN" sz="1600" b="1" i="0" u="none" strike="noStrike" dirty="0">
                          <a:solidFill>
                            <a:srgbClr val="000000"/>
                          </a:solidFill>
                          <a:effectLst/>
                          <a:latin typeface="宋体"/>
                        </a:rPr>
                        <a:t>-2,331 </a:t>
                      </a:r>
                    </a:p>
                  </a:txBody>
                  <a:tcPr marL="3888" marR="3888" marT="3888" marB="0" anchor="b">
                    <a:lnL>
                      <a:noFill/>
                    </a:lnL>
                    <a:lnR>
                      <a:noFill/>
                    </a:lnR>
                    <a:lnT>
                      <a:noFill/>
                    </a:lnT>
                    <a:lnB>
                      <a:noFill/>
                    </a:lnB>
                    <a:solidFill>
                      <a:schemeClr val="bg1">
                        <a:lumMod val="95000"/>
                      </a:schemeClr>
                    </a:solidFill>
                  </a:tcPr>
                </a:tc>
                <a:tc>
                  <a:txBody>
                    <a:bodyPr/>
                    <a:lstStyle/>
                    <a:p>
                      <a:pPr algn="r" fontAlgn="b"/>
                      <a:r>
                        <a:rPr lang="en-US" altLang="zh-CN" sz="1600" b="1" i="0" u="none" strike="noStrike" dirty="0">
                          <a:solidFill>
                            <a:srgbClr val="000000"/>
                          </a:solidFill>
                          <a:effectLst/>
                          <a:latin typeface="宋体"/>
                        </a:rPr>
                        <a:t>-2,654 </a:t>
                      </a:r>
                    </a:p>
                  </a:txBody>
                  <a:tcPr marL="3888" marR="3888" marT="3888" marB="0" anchor="b">
                    <a:lnL>
                      <a:noFill/>
                    </a:lnL>
                    <a:lnR>
                      <a:noFill/>
                    </a:lnR>
                    <a:lnT>
                      <a:noFill/>
                    </a:lnT>
                    <a:lnB>
                      <a:noFill/>
                    </a:lnB>
                    <a:solidFill>
                      <a:schemeClr val="bg1">
                        <a:lumMod val="95000"/>
                      </a:schemeClr>
                    </a:solidFill>
                  </a:tcPr>
                </a:tc>
                <a:tc>
                  <a:txBody>
                    <a:bodyPr/>
                    <a:lstStyle/>
                    <a:p>
                      <a:pPr algn="l" fontAlgn="ctr"/>
                      <a:r>
                        <a:rPr lang="zh-CN" altLang="en-US" sz="1600" b="1" i="0" u="none" strike="noStrike" dirty="0">
                          <a:solidFill>
                            <a:srgbClr val="000000"/>
                          </a:solidFill>
                          <a:effectLst/>
                          <a:latin typeface="宋体"/>
                        </a:rPr>
                        <a:t>   </a:t>
                      </a:r>
                      <a:r>
                        <a:rPr lang="en-US" altLang="zh-CN" sz="1600" b="1" i="0" u="none" strike="noStrike" dirty="0">
                          <a:solidFill>
                            <a:srgbClr val="000000"/>
                          </a:solidFill>
                          <a:effectLst/>
                          <a:latin typeface="宋体"/>
                        </a:rPr>
                        <a:t>-736 </a:t>
                      </a:r>
                    </a:p>
                  </a:txBody>
                  <a:tcPr marL="3888" marR="3888" marT="3888" marB="0" anchor="ctr">
                    <a:lnL>
                      <a:noFill/>
                    </a:lnL>
                    <a:lnR>
                      <a:noFill/>
                    </a:lnR>
                    <a:lnT>
                      <a:noFill/>
                    </a:lnT>
                    <a:lnB>
                      <a:noFill/>
                    </a:lnB>
                    <a:solidFill>
                      <a:srgbClr val="FFFF00"/>
                    </a:solidFill>
                  </a:tcPr>
                </a:tc>
                <a:tc>
                  <a:txBody>
                    <a:bodyPr/>
                    <a:lstStyle/>
                    <a:p>
                      <a:pPr algn="l" fontAlgn="ctr"/>
                      <a:r>
                        <a:rPr lang="zh-CN" altLang="en-US" sz="1600" b="1" i="0" u="none" strike="noStrike" dirty="0">
                          <a:solidFill>
                            <a:srgbClr val="000000"/>
                          </a:solidFill>
                          <a:effectLst/>
                          <a:latin typeface="宋体"/>
                        </a:rPr>
                        <a:t>   </a:t>
                      </a:r>
                      <a:r>
                        <a:rPr lang="en-US" altLang="zh-CN" sz="1600" b="1" i="0" u="none" strike="noStrike" dirty="0">
                          <a:solidFill>
                            <a:srgbClr val="000000"/>
                          </a:solidFill>
                          <a:effectLst/>
                          <a:latin typeface="宋体"/>
                        </a:rPr>
                        <a:t>-737 </a:t>
                      </a:r>
                    </a:p>
                  </a:txBody>
                  <a:tcPr marL="3888" marR="3888" marT="3888" marB="0" anchor="ctr">
                    <a:lnL>
                      <a:noFill/>
                    </a:lnL>
                    <a:lnR>
                      <a:noFill/>
                    </a:lnR>
                    <a:lnT>
                      <a:noFill/>
                    </a:lnT>
                    <a:lnB>
                      <a:noFill/>
                    </a:lnB>
                    <a:solidFill>
                      <a:srgbClr val="FFFF00"/>
                    </a:solidFill>
                  </a:tcPr>
                </a:tc>
                <a:tc>
                  <a:txBody>
                    <a:bodyPr/>
                    <a:lstStyle/>
                    <a:p>
                      <a:pPr algn="l" fontAlgn="ctr"/>
                      <a:r>
                        <a:rPr lang="zh-CN" altLang="en-US" sz="1600" b="1" i="0" u="none" strike="noStrike">
                          <a:solidFill>
                            <a:srgbClr val="000000"/>
                          </a:solidFill>
                          <a:effectLst/>
                          <a:latin typeface="宋体"/>
                        </a:rPr>
                        <a:t>   </a:t>
                      </a:r>
                      <a:r>
                        <a:rPr lang="en-US" altLang="zh-CN" sz="1600" b="1" i="0" u="none" strike="noStrike">
                          <a:solidFill>
                            <a:srgbClr val="000000"/>
                          </a:solidFill>
                          <a:effectLst/>
                          <a:latin typeface="宋体"/>
                        </a:rPr>
                        <a:t>-809 </a:t>
                      </a:r>
                    </a:p>
                  </a:txBody>
                  <a:tcPr marL="3888" marR="3888" marT="3888" marB="0" anchor="ctr">
                    <a:lnL>
                      <a:noFill/>
                    </a:lnL>
                    <a:lnR>
                      <a:noFill/>
                    </a:lnR>
                    <a:lnT>
                      <a:noFill/>
                    </a:lnT>
                    <a:lnB>
                      <a:noFill/>
                    </a:lnB>
                    <a:solidFill>
                      <a:srgbClr val="FFFF00"/>
                    </a:solidFill>
                  </a:tcPr>
                </a:tc>
                <a:extLst>
                  <a:ext uri="{0D108BD9-81ED-4DB2-BD59-A6C34878D82A}">
                    <a16:rowId xmlns:a16="http://schemas.microsoft.com/office/drawing/2014/main" val="10010"/>
                  </a:ext>
                </a:extLst>
              </a:tr>
              <a:tr h="190779">
                <a:tc gridSpan="2">
                  <a:txBody>
                    <a:bodyPr/>
                    <a:lstStyle/>
                    <a:p>
                      <a:pPr algn="l" fontAlgn="ctr"/>
                      <a:r>
                        <a:rPr lang="en-US" sz="1600" b="1" i="0" u="none" strike="noStrike" dirty="0">
                          <a:solidFill>
                            <a:srgbClr val="000000"/>
                          </a:solidFill>
                          <a:effectLst/>
                          <a:latin typeface="宋体"/>
                        </a:rPr>
                        <a:t>1.B </a:t>
                      </a:r>
                      <a:r>
                        <a:rPr lang="zh-CN" altLang="en-US" sz="1600" b="1" i="0" u="none" strike="noStrike" dirty="0">
                          <a:solidFill>
                            <a:srgbClr val="000000"/>
                          </a:solidFill>
                          <a:effectLst/>
                          <a:latin typeface="宋体"/>
                        </a:rPr>
                        <a:t>初次收入</a:t>
                      </a:r>
                    </a:p>
                  </a:txBody>
                  <a:tcPr marL="139959" marR="3888" marT="3888" marB="0" anchor="ctr">
                    <a:lnL>
                      <a:noFill/>
                    </a:lnL>
                    <a:lnR>
                      <a:noFill/>
                    </a:lnR>
                    <a:lnT>
                      <a:noFill/>
                    </a:lnT>
                    <a:lnB>
                      <a:noFill/>
                    </a:lnB>
                    <a:solidFill>
                      <a:schemeClr val="bg1">
                        <a:lumMod val="95000"/>
                      </a:schemeClr>
                    </a:solidFill>
                  </a:tcPr>
                </a:tc>
                <a:tc hMerge="1">
                  <a:txBody>
                    <a:bodyPr/>
                    <a:lstStyle/>
                    <a:p>
                      <a:endParaRPr lang="zh-CN" altLang="en-US"/>
                    </a:p>
                  </a:txBody>
                  <a:tcPr/>
                </a:tc>
                <a:tc>
                  <a:txBody>
                    <a:bodyPr/>
                    <a:lstStyle/>
                    <a:p>
                      <a:pPr algn="r" fontAlgn="ctr"/>
                      <a:r>
                        <a:rPr lang="en-US" altLang="zh-CN" sz="1600" b="1" i="0" u="none" strike="noStrike">
                          <a:solidFill>
                            <a:srgbClr val="000000"/>
                          </a:solidFill>
                          <a:effectLst/>
                          <a:latin typeface="宋体"/>
                        </a:rPr>
                        <a:t>-411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1" i="0" u="none" strike="noStrike" dirty="0">
                          <a:solidFill>
                            <a:srgbClr val="000000"/>
                          </a:solidFill>
                          <a:effectLst/>
                          <a:latin typeface="宋体"/>
                        </a:rPr>
                        <a:t>-440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1" i="0" u="none" strike="noStrike">
                          <a:solidFill>
                            <a:srgbClr val="000000"/>
                          </a:solidFill>
                          <a:effectLst/>
                          <a:latin typeface="宋体"/>
                        </a:rPr>
                        <a:t>-344 </a:t>
                      </a:r>
                    </a:p>
                  </a:txBody>
                  <a:tcPr marL="3888" marR="3888" marT="3888" marB="0" anchor="ctr">
                    <a:lnL>
                      <a:noFill/>
                    </a:lnL>
                    <a:lnR>
                      <a:noFill/>
                    </a:lnR>
                    <a:lnT>
                      <a:noFill/>
                    </a:lnT>
                    <a:lnB>
                      <a:noFill/>
                    </a:lnB>
                    <a:solidFill>
                      <a:schemeClr val="bg1">
                        <a:lumMod val="95000"/>
                      </a:schemeClr>
                    </a:solidFill>
                  </a:tcPr>
                </a:tc>
                <a:tc>
                  <a:txBody>
                    <a:bodyPr/>
                    <a:lstStyle/>
                    <a:p>
                      <a:pPr algn="r" fontAlgn="b"/>
                      <a:r>
                        <a:rPr lang="en-US" altLang="zh-CN" sz="1600" b="1" i="0" u="none" strike="noStrike">
                          <a:solidFill>
                            <a:srgbClr val="000000"/>
                          </a:solidFill>
                          <a:effectLst/>
                          <a:latin typeface="Times New Roman"/>
                        </a:rPr>
                        <a:t>-97 </a:t>
                      </a:r>
                    </a:p>
                  </a:txBody>
                  <a:tcPr marL="3888" marR="3888" marT="3888" marB="0" anchor="b">
                    <a:lnL>
                      <a:noFill/>
                    </a:lnL>
                    <a:lnR>
                      <a:noFill/>
                    </a:lnR>
                    <a:lnT>
                      <a:noFill/>
                    </a:lnT>
                    <a:lnB>
                      <a:noFill/>
                    </a:lnB>
                    <a:solidFill>
                      <a:srgbClr val="FFFF00"/>
                    </a:solidFill>
                  </a:tcPr>
                </a:tc>
                <a:tc>
                  <a:txBody>
                    <a:bodyPr/>
                    <a:lstStyle/>
                    <a:p>
                      <a:pPr algn="r" fontAlgn="b"/>
                      <a:r>
                        <a:rPr lang="en-US" altLang="zh-CN" sz="1600" b="1" i="0" u="none" strike="noStrike" dirty="0">
                          <a:solidFill>
                            <a:srgbClr val="000000"/>
                          </a:solidFill>
                          <a:effectLst/>
                          <a:latin typeface="Times New Roman"/>
                        </a:rPr>
                        <a:t>-207 </a:t>
                      </a:r>
                    </a:p>
                  </a:txBody>
                  <a:tcPr marL="3888" marR="3888" marT="3888" marB="0" anchor="b">
                    <a:lnL>
                      <a:noFill/>
                    </a:lnL>
                    <a:lnR>
                      <a:noFill/>
                    </a:lnR>
                    <a:lnT>
                      <a:noFill/>
                    </a:lnT>
                    <a:lnB>
                      <a:noFill/>
                    </a:lnB>
                    <a:solidFill>
                      <a:srgbClr val="FFFF00"/>
                    </a:solidFill>
                  </a:tcPr>
                </a:tc>
                <a:tc>
                  <a:txBody>
                    <a:bodyPr/>
                    <a:lstStyle/>
                    <a:p>
                      <a:pPr algn="r" fontAlgn="b"/>
                      <a:r>
                        <a:rPr lang="en-US" altLang="zh-CN" sz="1600" b="1" i="0" u="none" strike="noStrike">
                          <a:solidFill>
                            <a:srgbClr val="000000"/>
                          </a:solidFill>
                          <a:effectLst/>
                          <a:latin typeface="Times New Roman"/>
                        </a:rPr>
                        <a:t>17 </a:t>
                      </a:r>
                    </a:p>
                  </a:txBody>
                  <a:tcPr marL="3888" marR="3888" marT="3888" marB="0" anchor="b">
                    <a:lnL>
                      <a:noFill/>
                    </a:lnL>
                    <a:lnR>
                      <a:noFill/>
                    </a:lnR>
                    <a:lnT>
                      <a:noFill/>
                    </a:lnT>
                    <a:lnB>
                      <a:noFill/>
                    </a:lnB>
                    <a:solidFill>
                      <a:srgbClr val="FFFF00"/>
                    </a:solidFill>
                  </a:tcPr>
                </a:tc>
                <a:extLst>
                  <a:ext uri="{0D108BD9-81ED-4DB2-BD59-A6C34878D82A}">
                    <a16:rowId xmlns:a16="http://schemas.microsoft.com/office/drawing/2014/main" val="10011"/>
                  </a:ext>
                </a:extLst>
              </a:tr>
              <a:tr h="190779">
                <a:tc gridSpan="2">
                  <a:txBody>
                    <a:bodyPr/>
                    <a:lstStyle/>
                    <a:p>
                      <a:pPr algn="l" fontAlgn="ctr"/>
                      <a:r>
                        <a:rPr lang="en-US" sz="1600" b="1" i="0" u="none" strike="noStrike" dirty="0">
                          <a:solidFill>
                            <a:srgbClr val="000000"/>
                          </a:solidFill>
                          <a:effectLst/>
                          <a:latin typeface="宋体"/>
                        </a:rPr>
                        <a:t>1.C </a:t>
                      </a:r>
                      <a:r>
                        <a:rPr lang="zh-CN" altLang="en-US" sz="1600" b="1" i="0" u="none" strike="noStrike" dirty="0">
                          <a:solidFill>
                            <a:srgbClr val="000000"/>
                          </a:solidFill>
                          <a:effectLst/>
                          <a:latin typeface="宋体"/>
                        </a:rPr>
                        <a:t>二次收入</a:t>
                      </a:r>
                    </a:p>
                  </a:txBody>
                  <a:tcPr marL="139959" marR="3888" marT="3888" marB="0" anchor="ctr">
                    <a:lnL>
                      <a:noFill/>
                    </a:lnL>
                    <a:lnR>
                      <a:noFill/>
                    </a:lnR>
                    <a:lnT>
                      <a:noFill/>
                    </a:lnT>
                    <a:lnB>
                      <a:noFill/>
                    </a:lnB>
                    <a:solidFill>
                      <a:schemeClr val="bg1">
                        <a:lumMod val="95000"/>
                      </a:schemeClr>
                    </a:solidFill>
                  </a:tcPr>
                </a:tc>
                <a:tc hMerge="1">
                  <a:txBody>
                    <a:bodyPr/>
                    <a:lstStyle/>
                    <a:p>
                      <a:endParaRPr lang="zh-CN" altLang="en-US"/>
                    </a:p>
                  </a:txBody>
                  <a:tcPr/>
                </a:tc>
                <a:tc>
                  <a:txBody>
                    <a:bodyPr/>
                    <a:lstStyle/>
                    <a:p>
                      <a:pPr algn="r" fontAlgn="b"/>
                      <a:r>
                        <a:rPr lang="en-US" altLang="zh-CN" sz="1600" b="1" i="0" u="none" strike="noStrike">
                          <a:solidFill>
                            <a:srgbClr val="000000"/>
                          </a:solidFill>
                          <a:effectLst/>
                          <a:latin typeface="宋体"/>
                        </a:rPr>
                        <a:t>-126 </a:t>
                      </a:r>
                    </a:p>
                  </a:txBody>
                  <a:tcPr marL="3888" marR="3888" marT="3888" marB="0" anchor="b">
                    <a:lnL>
                      <a:noFill/>
                    </a:lnL>
                    <a:lnR>
                      <a:noFill/>
                    </a:lnR>
                    <a:lnT>
                      <a:noFill/>
                    </a:lnT>
                    <a:lnB>
                      <a:noFill/>
                    </a:lnB>
                    <a:solidFill>
                      <a:schemeClr val="bg1">
                        <a:lumMod val="95000"/>
                      </a:schemeClr>
                    </a:solidFill>
                  </a:tcPr>
                </a:tc>
                <a:tc>
                  <a:txBody>
                    <a:bodyPr/>
                    <a:lstStyle/>
                    <a:p>
                      <a:pPr algn="r" fontAlgn="b"/>
                      <a:r>
                        <a:rPr lang="en-US" altLang="zh-CN" sz="1600" b="1" i="0" u="none" strike="noStrike">
                          <a:solidFill>
                            <a:srgbClr val="000000"/>
                          </a:solidFill>
                          <a:effectLst/>
                          <a:latin typeface="宋体"/>
                        </a:rPr>
                        <a:t>-95 </a:t>
                      </a:r>
                    </a:p>
                  </a:txBody>
                  <a:tcPr marL="3888" marR="3888" marT="3888" marB="0" anchor="b">
                    <a:lnL>
                      <a:noFill/>
                    </a:lnL>
                    <a:lnR>
                      <a:noFill/>
                    </a:lnR>
                    <a:lnT>
                      <a:noFill/>
                    </a:lnT>
                    <a:lnB>
                      <a:noFill/>
                    </a:lnB>
                    <a:solidFill>
                      <a:schemeClr val="bg1">
                        <a:lumMod val="95000"/>
                      </a:schemeClr>
                    </a:solidFill>
                  </a:tcPr>
                </a:tc>
                <a:tc>
                  <a:txBody>
                    <a:bodyPr/>
                    <a:lstStyle/>
                    <a:p>
                      <a:pPr algn="r" fontAlgn="b"/>
                      <a:r>
                        <a:rPr lang="en-US" altLang="zh-CN" sz="1600" b="1" i="0" u="none" strike="noStrike" dirty="0">
                          <a:solidFill>
                            <a:srgbClr val="000000"/>
                          </a:solidFill>
                          <a:effectLst/>
                          <a:latin typeface="宋体"/>
                        </a:rPr>
                        <a:t>-114 </a:t>
                      </a:r>
                    </a:p>
                  </a:txBody>
                  <a:tcPr marL="3888" marR="3888" marT="3888" marB="0" anchor="b">
                    <a:lnL>
                      <a:noFill/>
                    </a:lnL>
                    <a:lnR>
                      <a:noFill/>
                    </a:lnR>
                    <a:lnT>
                      <a:noFill/>
                    </a:lnT>
                    <a:lnB>
                      <a:noFill/>
                    </a:lnB>
                    <a:solidFill>
                      <a:schemeClr val="bg1">
                        <a:lumMod val="95000"/>
                      </a:schemeClr>
                    </a:solidFill>
                  </a:tcPr>
                </a:tc>
                <a:tc>
                  <a:txBody>
                    <a:bodyPr/>
                    <a:lstStyle/>
                    <a:p>
                      <a:pPr algn="r" fontAlgn="b"/>
                      <a:r>
                        <a:rPr lang="en-US" altLang="zh-CN" sz="1600" b="1" i="0" u="none" strike="noStrike">
                          <a:solidFill>
                            <a:srgbClr val="000000"/>
                          </a:solidFill>
                          <a:effectLst/>
                          <a:latin typeface="Times New Roman"/>
                        </a:rPr>
                        <a:t>-26 </a:t>
                      </a:r>
                    </a:p>
                  </a:txBody>
                  <a:tcPr marL="3888" marR="3888" marT="3888" marB="0" anchor="b">
                    <a:lnL>
                      <a:noFill/>
                    </a:lnL>
                    <a:lnR>
                      <a:noFill/>
                    </a:lnR>
                    <a:lnT>
                      <a:noFill/>
                    </a:lnT>
                    <a:lnB>
                      <a:noFill/>
                    </a:lnB>
                    <a:solidFill>
                      <a:srgbClr val="FFFF00"/>
                    </a:solidFill>
                  </a:tcPr>
                </a:tc>
                <a:tc>
                  <a:txBody>
                    <a:bodyPr/>
                    <a:lstStyle/>
                    <a:p>
                      <a:pPr algn="r" fontAlgn="b"/>
                      <a:r>
                        <a:rPr lang="en-US" altLang="zh-CN" sz="1600" b="1" i="0" u="none" strike="noStrike">
                          <a:solidFill>
                            <a:srgbClr val="000000"/>
                          </a:solidFill>
                          <a:effectLst/>
                          <a:latin typeface="Times New Roman"/>
                        </a:rPr>
                        <a:t>-39 </a:t>
                      </a:r>
                    </a:p>
                  </a:txBody>
                  <a:tcPr marL="3888" marR="3888" marT="3888" marB="0" anchor="b">
                    <a:lnL>
                      <a:noFill/>
                    </a:lnL>
                    <a:lnR>
                      <a:noFill/>
                    </a:lnR>
                    <a:lnT>
                      <a:noFill/>
                    </a:lnT>
                    <a:lnB>
                      <a:noFill/>
                    </a:lnB>
                    <a:solidFill>
                      <a:srgbClr val="FFFF00"/>
                    </a:solidFill>
                  </a:tcPr>
                </a:tc>
                <a:tc>
                  <a:txBody>
                    <a:bodyPr/>
                    <a:lstStyle/>
                    <a:p>
                      <a:pPr algn="r" fontAlgn="b"/>
                      <a:r>
                        <a:rPr lang="en-US" altLang="zh-CN" sz="1600" b="1" i="0" u="none" strike="noStrike" dirty="0">
                          <a:solidFill>
                            <a:srgbClr val="000000"/>
                          </a:solidFill>
                          <a:effectLst/>
                          <a:latin typeface="Times New Roman"/>
                        </a:rPr>
                        <a:t>16 </a:t>
                      </a:r>
                    </a:p>
                  </a:txBody>
                  <a:tcPr marL="3888" marR="3888" marT="3888" marB="0" anchor="b">
                    <a:lnL>
                      <a:noFill/>
                    </a:lnL>
                    <a:lnR>
                      <a:noFill/>
                    </a:lnR>
                    <a:lnT>
                      <a:noFill/>
                    </a:lnT>
                    <a:lnB>
                      <a:noFill/>
                    </a:lnB>
                    <a:solidFill>
                      <a:srgbClr val="FFFF00"/>
                    </a:solidFill>
                  </a:tcPr>
                </a:tc>
                <a:extLst>
                  <a:ext uri="{0D108BD9-81ED-4DB2-BD59-A6C34878D82A}">
                    <a16:rowId xmlns:a16="http://schemas.microsoft.com/office/drawing/2014/main" val="10012"/>
                  </a:ext>
                </a:extLst>
              </a:tr>
              <a:tr h="190779">
                <a:tc gridSpan="2">
                  <a:txBody>
                    <a:bodyPr/>
                    <a:lstStyle/>
                    <a:p>
                      <a:pPr algn="l" fontAlgn="ctr"/>
                      <a:r>
                        <a:rPr lang="en-US" altLang="zh-CN" sz="1600" b="1" i="0" u="none" strike="noStrike" dirty="0">
                          <a:solidFill>
                            <a:srgbClr val="000000"/>
                          </a:solidFill>
                          <a:effectLst/>
                          <a:latin typeface="宋体"/>
                        </a:rPr>
                        <a:t>2. </a:t>
                      </a:r>
                      <a:r>
                        <a:rPr lang="zh-CN" altLang="en-US" sz="1600" b="1" i="0" u="none" strike="noStrike" dirty="0">
                          <a:solidFill>
                            <a:srgbClr val="000000"/>
                          </a:solidFill>
                          <a:effectLst/>
                          <a:latin typeface="宋体"/>
                        </a:rPr>
                        <a:t>资本和金融账户</a:t>
                      </a:r>
                    </a:p>
                  </a:txBody>
                  <a:tcPr marL="3888" marR="3888" marT="3888" marB="0" anchor="ctr">
                    <a:lnL>
                      <a:noFill/>
                    </a:lnL>
                    <a:lnR>
                      <a:noFill/>
                    </a:lnR>
                    <a:lnT>
                      <a:noFill/>
                    </a:lnT>
                    <a:lnB>
                      <a:noFill/>
                    </a:lnB>
                    <a:solidFill>
                      <a:schemeClr val="bg1">
                        <a:lumMod val="95000"/>
                      </a:schemeClr>
                    </a:solidFill>
                  </a:tcPr>
                </a:tc>
                <a:tc hMerge="1">
                  <a:txBody>
                    <a:bodyPr/>
                    <a:lstStyle/>
                    <a:p>
                      <a:endParaRPr lang="zh-CN" altLang="en-US"/>
                    </a:p>
                  </a:txBody>
                  <a:tcPr/>
                </a:tc>
                <a:tc>
                  <a:txBody>
                    <a:bodyPr/>
                    <a:lstStyle/>
                    <a:p>
                      <a:pPr algn="r" fontAlgn="ctr"/>
                      <a:r>
                        <a:rPr lang="en-US" altLang="zh-CN" sz="1600" b="1" i="0" u="none" strike="noStrike">
                          <a:solidFill>
                            <a:srgbClr val="000000"/>
                          </a:solidFill>
                          <a:effectLst/>
                          <a:latin typeface="宋体"/>
                        </a:rPr>
                        <a:t>-912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1" i="0" u="none" strike="noStrike" dirty="0">
                          <a:solidFill>
                            <a:srgbClr val="000000"/>
                          </a:solidFill>
                          <a:effectLst/>
                          <a:latin typeface="宋体"/>
                        </a:rPr>
                        <a:t>272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1" i="0" u="none" strike="noStrike" dirty="0">
                          <a:solidFill>
                            <a:srgbClr val="000000"/>
                          </a:solidFill>
                          <a:effectLst/>
                          <a:latin typeface="宋体"/>
                        </a:rPr>
                        <a:t>570 </a:t>
                      </a:r>
                    </a:p>
                  </a:txBody>
                  <a:tcPr marL="3888" marR="3888" marT="3888" marB="0" anchor="ctr">
                    <a:lnL>
                      <a:noFill/>
                    </a:lnL>
                    <a:lnR>
                      <a:noFill/>
                    </a:lnR>
                    <a:lnT>
                      <a:noFill/>
                    </a:lnT>
                    <a:lnB>
                      <a:noFill/>
                    </a:lnB>
                    <a:solidFill>
                      <a:schemeClr val="bg1">
                        <a:lumMod val="95000"/>
                      </a:schemeClr>
                    </a:solidFill>
                  </a:tcPr>
                </a:tc>
                <a:tc>
                  <a:txBody>
                    <a:bodyPr/>
                    <a:lstStyle/>
                    <a:p>
                      <a:pPr algn="r" fontAlgn="b"/>
                      <a:r>
                        <a:rPr lang="en-US" altLang="zh-CN" sz="1600" b="1" i="0" u="none" strike="noStrike">
                          <a:solidFill>
                            <a:srgbClr val="000000"/>
                          </a:solidFill>
                          <a:effectLst/>
                          <a:latin typeface="Times New Roman"/>
                        </a:rPr>
                        <a:t>725 </a:t>
                      </a:r>
                    </a:p>
                  </a:txBody>
                  <a:tcPr marL="3888" marR="3888" marT="3888" marB="0" anchor="b">
                    <a:lnL>
                      <a:noFill/>
                    </a:lnL>
                    <a:lnR>
                      <a:noFill/>
                    </a:lnR>
                    <a:lnT>
                      <a:noFill/>
                    </a:lnT>
                    <a:lnB>
                      <a:noFill/>
                    </a:lnB>
                    <a:solidFill>
                      <a:srgbClr val="FFFF00"/>
                    </a:solidFill>
                  </a:tcPr>
                </a:tc>
                <a:tc>
                  <a:txBody>
                    <a:bodyPr/>
                    <a:lstStyle/>
                    <a:p>
                      <a:pPr algn="r" fontAlgn="b"/>
                      <a:r>
                        <a:rPr lang="en-US" altLang="zh-CN" sz="1600" b="1" i="0" u="none" strike="noStrike">
                          <a:solidFill>
                            <a:srgbClr val="000000"/>
                          </a:solidFill>
                          <a:effectLst/>
                          <a:latin typeface="Times New Roman"/>
                        </a:rPr>
                        <a:t>60 </a:t>
                      </a:r>
                    </a:p>
                  </a:txBody>
                  <a:tcPr marL="3888" marR="3888" marT="3888" marB="0" anchor="b">
                    <a:lnL>
                      <a:noFill/>
                    </a:lnL>
                    <a:lnR>
                      <a:noFill/>
                    </a:lnR>
                    <a:lnT>
                      <a:noFill/>
                    </a:lnT>
                    <a:lnB>
                      <a:noFill/>
                    </a:lnB>
                    <a:solidFill>
                      <a:srgbClr val="FFFF00"/>
                    </a:solidFill>
                  </a:tcPr>
                </a:tc>
                <a:tc>
                  <a:txBody>
                    <a:bodyPr/>
                    <a:lstStyle/>
                    <a:p>
                      <a:pPr algn="r" fontAlgn="b"/>
                      <a:r>
                        <a:rPr lang="en-US" altLang="zh-CN" sz="1600" b="1" i="0" u="none" strike="noStrike">
                          <a:solidFill>
                            <a:srgbClr val="000000"/>
                          </a:solidFill>
                          <a:effectLst/>
                          <a:latin typeface="Times New Roman"/>
                        </a:rPr>
                        <a:t>168 </a:t>
                      </a:r>
                    </a:p>
                  </a:txBody>
                  <a:tcPr marL="3888" marR="3888" marT="3888" marB="0" anchor="b">
                    <a:lnL>
                      <a:noFill/>
                    </a:lnL>
                    <a:lnR>
                      <a:noFill/>
                    </a:lnR>
                    <a:lnT>
                      <a:noFill/>
                    </a:lnT>
                    <a:lnB>
                      <a:noFill/>
                    </a:lnB>
                    <a:solidFill>
                      <a:srgbClr val="FFFF00"/>
                    </a:solidFill>
                  </a:tcPr>
                </a:tc>
                <a:extLst>
                  <a:ext uri="{0D108BD9-81ED-4DB2-BD59-A6C34878D82A}">
                    <a16:rowId xmlns:a16="http://schemas.microsoft.com/office/drawing/2014/main" val="10013"/>
                  </a:ext>
                </a:extLst>
              </a:tr>
              <a:tr h="190779">
                <a:tc gridSpan="2">
                  <a:txBody>
                    <a:bodyPr/>
                    <a:lstStyle/>
                    <a:p>
                      <a:pPr algn="l" fontAlgn="ctr"/>
                      <a:r>
                        <a:rPr lang="en-US" altLang="zh-CN" sz="1600" b="1" i="0" u="none" strike="noStrike">
                          <a:solidFill>
                            <a:srgbClr val="000000"/>
                          </a:solidFill>
                          <a:effectLst/>
                          <a:latin typeface="宋体"/>
                        </a:rPr>
                        <a:t>2.1 </a:t>
                      </a:r>
                      <a:r>
                        <a:rPr lang="zh-CN" altLang="en-US" sz="1600" b="1" i="0" u="none" strike="noStrike">
                          <a:solidFill>
                            <a:srgbClr val="000000"/>
                          </a:solidFill>
                          <a:effectLst/>
                          <a:latin typeface="宋体"/>
                        </a:rPr>
                        <a:t>资本账户</a:t>
                      </a:r>
                    </a:p>
                  </a:txBody>
                  <a:tcPr marL="139959" marR="3888" marT="3888" marB="0" anchor="ctr">
                    <a:lnL>
                      <a:noFill/>
                    </a:lnL>
                    <a:lnR>
                      <a:noFill/>
                    </a:lnR>
                    <a:lnT>
                      <a:noFill/>
                    </a:lnT>
                    <a:lnB>
                      <a:noFill/>
                    </a:lnB>
                    <a:solidFill>
                      <a:schemeClr val="bg1">
                        <a:lumMod val="95000"/>
                      </a:schemeClr>
                    </a:solidFill>
                  </a:tcPr>
                </a:tc>
                <a:tc hMerge="1">
                  <a:txBody>
                    <a:bodyPr/>
                    <a:lstStyle/>
                    <a:p>
                      <a:endParaRPr lang="zh-CN" altLang="en-US"/>
                    </a:p>
                  </a:txBody>
                  <a:tcPr/>
                </a:tc>
                <a:tc>
                  <a:txBody>
                    <a:bodyPr/>
                    <a:lstStyle/>
                    <a:p>
                      <a:pPr algn="r" fontAlgn="ctr"/>
                      <a:r>
                        <a:rPr lang="en-US" altLang="zh-CN" sz="1600" b="1" i="0" u="none" strike="noStrike">
                          <a:solidFill>
                            <a:srgbClr val="000000"/>
                          </a:solidFill>
                          <a:effectLst/>
                          <a:latin typeface="宋体"/>
                        </a:rPr>
                        <a:t>3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1" i="0" u="none" strike="noStrike">
                          <a:solidFill>
                            <a:srgbClr val="000000"/>
                          </a:solidFill>
                          <a:effectLst/>
                          <a:latin typeface="宋体"/>
                        </a:rPr>
                        <a:t>-3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1" i="0" u="none" strike="noStrike" dirty="0">
                          <a:solidFill>
                            <a:srgbClr val="000000"/>
                          </a:solidFill>
                          <a:effectLst/>
                          <a:latin typeface="宋体"/>
                        </a:rPr>
                        <a:t>-1 </a:t>
                      </a:r>
                    </a:p>
                  </a:txBody>
                  <a:tcPr marL="3888" marR="3888" marT="3888" marB="0" anchor="ctr">
                    <a:lnL>
                      <a:noFill/>
                    </a:lnL>
                    <a:lnR>
                      <a:noFill/>
                    </a:lnR>
                    <a:lnT>
                      <a:noFill/>
                    </a:lnT>
                    <a:lnB>
                      <a:noFill/>
                    </a:lnB>
                    <a:solidFill>
                      <a:schemeClr val="bg1">
                        <a:lumMod val="95000"/>
                      </a:schemeClr>
                    </a:solidFill>
                  </a:tcPr>
                </a:tc>
                <a:tc>
                  <a:txBody>
                    <a:bodyPr/>
                    <a:lstStyle/>
                    <a:p>
                      <a:pPr algn="r" fontAlgn="b"/>
                      <a:r>
                        <a:rPr lang="en-US" altLang="zh-CN" sz="1600" b="1" i="0" u="none" strike="noStrike">
                          <a:solidFill>
                            <a:srgbClr val="000000"/>
                          </a:solidFill>
                          <a:effectLst/>
                          <a:latin typeface="Times New Roman"/>
                        </a:rPr>
                        <a:t>-1 </a:t>
                      </a:r>
                    </a:p>
                  </a:txBody>
                  <a:tcPr marL="3888" marR="3888" marT="3888" marB="0" anchor="b">
                    <a:lnL>
                      <a:noFill/>
                    </a:lnL>
                    <a:lnR>
                      <a:noFill/>
                    </a:lnR>
                    <a:lnT>
                      <a:noFill/>
                    </a:lnT>
                    <a:lnB>
                      <a:noFill/>
                    </a:lnB>
                    <a:solidFill>
                      <a:srgbClr val="FFFF00"/>
                    </a:solidFill>
                  </a:tcPr>
                </a:tc>
                <a:tc>
                  <a:txBody>
                    <a:bodyPr/>
                    <a:lstStyle/>
                    <a:p>
                      <a:pPr algn="r" fontAlgn="b"/>
                      <a:r>
                        <a:rPr lang="en-US" altLang="zh-CN" sz="1600" b="1" i="0" u="none" strike="noStrike">
                          <a:solidFill>
                            <a:srgbClr val="000000"/>
                          </a:solidFill>
                          <a:effectLst/>
                          <a:latin typeface="Times New Roman"/>
                        </a:rPr>
                        <a:t>-1 </a:t>
                      </a:r>
                    </a:p>
                  </a:txBody>
                  <a:tcPr marL="3888" marR="3888" marT="3888" marB="0" anchor="b">
                    <a:lnL>
                      <a:noFill/>
                    </a:lnL>
                    <a:lnR>
                      <a:noFill/>
                    </a:lnR>
                    <a:lnT>
                      <a:noFill/>
                    </a:lnT>
                    <a:lnB>
                      <a:noFill/>
                    </a:lnB>
                    <a:solidFill>
                      <a:srgbClr val="FFFF00"/>
                    </a:solidFill>
                  </a:tcPr>
                </a:tc>
                <a:tc>
                  <a:txBody>
                    <a:bodyPr/>
                    <a:lstStyle/>
                    <a:p>
                      <a:pPr algn="r" fontAlgn="b"/>
                      <a:r>
                        <a:rPr lang="en-US" altLang="zh-CN" sz="1600" b="1" i="0" u="none" strike="noStrike" dirty="0">
                          <a:solidFill>
                            <a:srgbClr val="000000"/>
                          </a:solidFill>
                          <a:effectLst/>
                          <a:latin typeface="Times New Roman"/>
                        </a:rPr>
                        <a:t>-2 </a:t>
                      </a:r>
                    </a:p>
                  </a:txBody>
                  <a:tcPr marL="3888" marR="3888" marT="3888" marB="0" anchor="b">
                    <a:lnL>
                      <a:noFill/>
                    </a:lnL>
                    <a:lnR>
                      <a:noFill/>
                    </a:lnR>
                    <a:lnT>
                      <a:noFill/>
                    </a:lnT>
                    <a:lnB>
                      <a:noFill/>
                    </a:lnB>
                    <a:solidFill>
                      <a:srgbClr val="FFFF00"/>
                    </a:solidFill>
                  </a:tcPr>
                </a:tc>
                <a:extLst>
                  <a:ext uri="{0D108BD9-81ED-4DB2-BD59-A6C34878D82A}">
                    <a16:rowId xmlns:a16="http://schemas.microsoft.com/office/drawing/2014/main" val="10014"/>
                  </a:ext>
                </a:extLst>
              </a:tr>
              <a:tr h="190779">
                <a:tc gridSpan="2">
                  <a:txBody>
                    <a:bodyPr/>
                    <a:lstStyle/>
                    <a:p>
                      <a:pPr algn="l" fontAlgn="ctr"/>
                      <a:r>
                        <a:rPr lang="en-US" altLang="zh-CN" sz="1600" b="1" i="0" u="none" strike="noStrike">
                          <a:solidFill>
                            <a:srgbClr val="000000"/>
                          </a:solidFill>
                          <a:effectLst/>
                          <a:latin typeface="宋体"/>
                        </a:rPr>
                        <a:t>2.2 </a:t>
                      </a:r>
                      <a:r>
                        <a:rPr lang="zh-CN" altLang="en-US" sz="1600" b="1" i="0" u="none" strike="noStrike">
                          <a:solidFill>
                            <a:srgbClr val="000000"/>
                          </a:solidFill>
                          <a:effectLst/>
                          <a:latin typeface="宋体"/>
                        </a:rPr>
                        <a:t>金融账户</a:t>
                      </a:r>
                    </a:p>
                  </a:txBody>
                  <a:tcPr marL="139959" marR="3888" marT="3888" marB="0" anchor="ctr">
                    <a:lnL>
                      <a:noFill/>
                    </a:lnL>
                    <a:lnR>
                      <a:noFill/>
                    </a:lnR>
                    <a:lnT>
                      <a:noFill/>
                    </a:lnT>
                    <a:lnB>
                      <a:noFill/>
                    </a:lnB>
                    <a:solidFill>
                      <a:schemeClr val="bg1">
                        <a:lumMod val="95000"/>
                      </a:schemeClr>
                    </a:solidFill>
                  </a:tcPr>
                </a:tc>
                <a:tc hMerge="1">
                  <a:txBody>
                    <a:bodyPr/>
                    <a:lstStyle/>
                    <a:p>
                      <a:endParaRPr lang="zh-CN" altLang="en-US"/>
                    </a:p>
                  </a:txBody>
                  <a:tcPr/>
                </a:tc>
                <a:tc>
                  <a:txBody>
                    <a:bodyPr/>
                    <a:lstStyle/>
                    <a:p>
                      <a:pPr algn="r" fontAlgn="ctr"/>
                      <a:r>
                        <a:rPr lang="en-US" altLang="zh-CN" sz="1600" b="1" i="0" u="none" strike="noStrike">
                          <a:solidFill>
                            <a:srgbClr val="000000"/>
                          </a:solidFill>
                          <a:effectLst/>
                          <a:latin typeface="宋体"/>
                        </a:rPr>
                        <a:t>-915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1" i="0" u="none" strike="noStrike">
                          <a:solidFill>
                            <a:srgbClr val="000000"/>
                          </a:solidFill>
                          <a:effectLst/>
                          <a:latin typeface="宋体"/>
                        </a:rPr>
                        <a:t>276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1" i="0" u="none" strike="noStrike" dirty="0">
                          <a:solidFill>
                            <a:srgbClr val="000000"/>
                          </a:solidFill>
                          <a:effectLst/>
                          <a:latin typeface="宋体"/>
                        </a:rPr>
                        <a:t>571 </a:t>
                      </a:r>
                    </a:p>
                  </a:txBody>
                  <a:tcPr marL="3888" marR="3888" marT="3888" marB="0" anchor="ctr">
                    <a:lnL>
                      <a:noFill/>
                    </a:lnL>
                    <a:lnR>
                      <a:noFill/>
                    </a:lnR>
                    <a:lnT>
                      <a:noFill/>
                    </a:lnT>
                    <a:lnB>
                      <a:noFill/>
                    </a:lnB>
                    <a:solidFill>
                      <a:schemeClr val="bg1">
                        <a:lumMod val="95000"/>
                      </a:schemeClr>
                    </a:solidFill>
                  </a:tcPr>
                </a:tc>
                <a:tc>
                  <a:txBody>
                    <a:bodyPr/>
                    <a:lstStyle/>
                    <a:p>
                      <a:pPr algn="r" fontAlgn="b"/>
                      <a:r>
                        <a:rPr lang="en-US" altLang="zh-CN" sz="1600" b="1" i="0" u="none" strike="noStrike" dirty="0">
                          <a:solidFill>
                            <a:srgbClr val="000000"/>
                          </a:solidFill>
                          <a:effectLst/>
                          <a:latin typeface="Times New Roman"/>
                        </a:rPr>
                        <a:t>727 </a:t>
                      </a:r>
                    </a:p>
                  </a:txBody>
                  <a:tcPr marL="3888" marR="3888" marT="3888" marB="0" anchor="b">
                    <a:lnL>
                      <a:noFill/>
                    </a:lnL>
                    <a:lnR>
                      <a:noFill/>
                    </a:lnR>
                    <a:lnT>
                      <a:noFill/>
                    </a:lnT>
                    <a:lnB>
                      <a:noFill/>
                    </a:lnB>
                    <a:solidFill>
                      <a:srgbClr val="FFFF00"/>
                    </a:solidFill>
                  </a:tcPr>
                </a:tc>
                <a:tc>
                  <a:txBody>
                    <a:bodyPr/>
                    <a:lstStyle/>
                    <a:p>
                      <a:pPr algn="r" fontAlgn="b"/>
                      <a:r>
                        <a:rPr lang="en-US" altLang="zh-CN" sz="1600" b="1" i="0" u="none" strike="noStrike">
                          <a:solidFill>
                            <a:srgbClr val="000000"/>
                          </a:solidFill>
                          <a:effectLst/>
                          <a:latin typeface="Times New Roman"/>
                        </a:rPr>
                        <a:t>60 </a:t>
                      </a:r>
                    </a:p>
                  </a:txBody>
                  <a:tcPr marL="3888" marR="3888" marT="3888" marB="0" anchor="b">
                    <a:lnL>
                      <a:noFill/>
                    </a:lnL>
                    <a:lnR>
                      <a:noFill/>
                    </a:lnR>
                    <a:lnT>
                      <a:noFill/>
                    </a:lnT>
                    <a:lnB>
                      <a:noFill/>
                    </a:lnB>
                    <a:solidFill>
                      <a:srgbClr val="FFFF00"/>
                    </a:solidFill>
                  </a:tcPr>
                </a:tc>
                <a:tc>
                  <a:txBody>
                    <a:bodyPr/>
                    <a:lstStyle/>
                    <a:p>
                      <a:pPr algn="r" fontAlgn="b"/>
                      <a:r>
                        <a:rPr lang="en-US" altLang="zh-CN" sz="1600" b="1" i="0" u="none" strike="noStrike">
                          <a:solidFill>
                            <a:srgbClr val="000000"/>
                          </a:solidFill>
                          <a:effectLst/>
                          <a:latin typeface="Times New Roman"/>
                        </a:rPr>
                        <a:t>170 </a:t>
                      </a:r>
                    </a:p>
                  </a:txBody>
                  <a:tcPr marL="3888" marR="3888" marT="3888" marB="0" anchor="b">
                    <a:lnL>
                      <a:noFill/>
                    </a:lnL>
                    <a:lnR>
                      <a:noFill/>
                    </a:lnR>
                    <a:lnT>
                      <a:noFill/>
                    </a:lnT>
                    <a:lnB>
                      <a:noFill/>
                    </a:lnB>
                    <a:solidFill>
                      <a:srgbClr val="FFFF00"/>
                    </a:solidFill>
                  </a:tcPr>
                </a:tc>
                <a:extLst>
                  <a:ext uri="{0D108BD9-81ED-4DB2-BD59-A6C34878D82A}">
                    <a16:rowId xmlns:a16="http://schemas.microsoft.com/office/drawing/2014/main" val="10015"/>
                  </a:ext>
                </a:extLst>
              </a:tr>
              <a:tr h="190779">
                <a:tc gridSpan="2">
                  <a:txBody>
                    <a:bodyPr/>
                    <a:lstStyle/>
                    <a:p>
                      <a:pPr algn="l" fontAlgn="ctr"/>
                      <a:r>
                        <a:rPr lang="zh-CN" altLang="en-US" sz="1600" b="0" i="0" u="none" strike="noStrike">
                          <a:solidFill>
                            <a:srgbClr val="000000"/>
                          </a:solidFill>
                          <a:effectLst/>
                          <a:latin typeface="宋体"/>
                        </a:rPr>
                        <a:t>资产</a:t>
                      </a:r>
                    </a:p>
                  </a:txBody>
                  <a:tcPr marL="279918" marR="3888" marT="3888" marB="0" anchor="ctr">
                    <a:lnL>
                      <a:noFill/>
                    </a:lnL>
                    <a:lnR>
                      <a:noFill/>
                    </a:lnR>
                    <a:lnT>
                      <a:noFill/>
                    </a:lnT>
                    <a:lnB>
                      <a:noFill/>
                    </a:lnB>
                    <a:solidFill>
                      <a:schemeClr val="bg1">
                        <a:lumMod val="95000"/>
                      </a:schemeClr>
                    </a:solidFill>
                  </a:tcPr>
                </a:tc>
                <a:tc hMerge="1">
                  <a:txBody>
                    <a:bodyPr/>
                    <a:lstStyle/>
                    <a:p>
                      <a:endParaRPr lang="zh-CN" altLang="en-US"/>
                    </a:p>
                  </a:txBody>
                  <a:tcPr/>
                </a:tc>
                <a:tc>
                  <a:txBody>
                    <a:bodyPr/>
                    <a:lstStyle/>
                    <a:p>
                      <a:pPr algn="r" fontAlgn="ctr"/>
                      <a:r>
                        <a:rPr lang="en-US" altLang="zh-CN" sz="1600" b="0" i="0" u="none" strike="noStrike">
                          <a:solidFill>
                            <a:srgbClr val="000000"/>
                          </a:solidFill>
                          <a:effectLst/>
                          <a:latin typeface="宋体"/>
                        </a:rPr>
                        <a:t>95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0" i="0" u="none" strike="noStrike">
                          <a:solidFill>
                            <a:srgbClr val="000000"/>
                          </a:solidFill>
                          <a:effectLst/>
                          <a:latin typeface="宋体"/>
                        </a:rPr>
                        <a:t>-2,320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0" i="0" u="none" strike="noStrike">
                          <a:solidFill>
                            <a:srgbClr val="000000"/>
                          </a:solidFill>
                          <a:effectLst/>
                          <a:latin typeface="宋体"/>
                        </a:rPr>
                        <a:t>-3,782 </a:t>
                      </a:r>
                    </a:p>
                  </a:txBody>
                  <a:tcPr marL="3888" marR="3888" marT="3888" marB="0" anchor="ctr">
                    <a:lnL>
                      <a:noFill/>
                    </a:lnL>
                    <a:lnR>
                      <a:noFill/>
                    </a:lnR>
                    <a:lnT>
                      <a:noFill/>
                    </a:lnT>
                    <a:lnB>
                      <a:noFill/>
                    </a:lnB>
                    <a:solidFill>
                      <a:schemeClr val="bg1">
                        <a:lumMod val="95000"/>
                      </a:schemeClr>
                    </a:solidFill>
                  </a:tcPr>
                </a:tc>
                <a:tc>
                  <a:txBody>
                    <a:bodyPr/>
                    <a:lstStyle/>
                    <a:p>
                      <a:pPr algn="r" fontAlgn="b"/>
                      <a:r>
                        <a:rPr lang="en-US" altLang="zh-CN" sz="1600" b="0" i="0" u="none" strike="noStrike" dirty="0">
                          <a:solidFill>
                            <a:srgbClr val="000000"/>
                          </a:solidFill>
                          <a:effectLst/>
                          <a:latin typeface="Times New Roman"/>
                        </a:rPr>
                        <a:t>-982 </a:t>
                      </a:r>
                    </a:p>
                  </a:txBody>
                  <a:tcPr marL="3888" marR="3888" marT="3888" marB="0" anchor="b">
                    <a:lnL>
                      <a:noFill/>
                    </a:lnL>
                    <a:lnR>
                      <a:noFill/>
                    </a:lnR>
                    <a:lnT>
                      <a:noFill/>
                    </a:lnT>
                    <a:lnB>
                      <a:noFill/>
                    </a:lnB>
                    <a:solidFill>
                      <a:srgbClr val="FFFF00"/>
                    </a:solidFill>
                  </a:tcPr>
                </a:tc>
                <a:tc>
                  <a:txBody>
                    <a:bodyPr/>
                    <a:lstStyle/>
                    <a:p>
                      <a:pPr algn="r" fontAlgn="b"/>
                      <a:r>
                        <a:rPr lang="en-US" altLang="zh-CN" sz="1600" b="0" i="0" u="none" strike="noStrike">
                          <a:solidFill>
                            <a:srgbClr val="000000"/>
                          </a:solidFill>
                          <a:effectLst/>
                          <a:latin typeface="Times New Roman"/>
                        </a:rPr>
                        <a:t>-1,171 </a:t>
                      </a:r>
                    </a:p>
                  </a:txBody>
                  <a:tcPr marL="3888" marR="3888" marT="3888" marB="0" anchor="b">
                    <a:lnL>
                      <a:noFill/>
                    </a:lnL>
                    <a:lnR>
                      <a:noFill/>
                    </a:lnR>
                    <a:lnT>
                      <a:noFill/>
                    </a:lnT>
                    <a:lnB>
                      <a:noFill/>
                    </a:lnB>
                    <a:solidFill>
                      <a:srgbClr val="FFFF00"/>
                    </a:solidFill>
                  </a:tcPr>
                </a:tc>
                <a:tc>
                  <a:txBody>
                    <a:bodyPr/>
                    <a:lstStyle/>
                    <a:p>
                      <a:pPr algn="r" fontAlgn="b"/>
                      <a:r>
                        <a:rPr lang="en-US" altLang="zh-CN" sz="1600" b="0" i="0" u="none" strike="noStrike" dirty="0">
                          <a:solidFill>
                            <a:srgbClr val="000000"/>
                          </a:solidFill>
                          <a:effectLst/>
                          <a:latin typeface="Times New Roman"/>
                        </a:rPr>
                        <a:t>-1,054 </a:t>
                      </a:r>
                    </a:p>
                  </a:txBody>
                  <a:tcPr marL="3888" marR="3888" marT="3888" marB="0" anchor="b">
                    <a:lnL>
                      <a:noFill/>
                    </a:lnL>
                    <a:lnR>
                      <a:noFill/>
                    </a:lnR>
                    <a:lnT>
                      <a:noFill/>
                    </a:lnT>
                    <a:lnB>
                      <a:noFill/>
                    </a:lnB>
                    <a:solidFill>
                      <a:srgbClr val="FFFF00"/>
                    </a:solidFill>
                  </a:tcPr>
                </a:tc>
                <a:extLst>
                  <a:ext uri="{0D108BD9-81ED-4DB2-BD59-A6C34878D82A}">
                    <a16:rowId xmlns:a16="http://schemas.microsoft.com/office/drawing/2014/main" val="10016"/>
                  </a:ext>
                </a:extLst>
              </a:tr>
              <a:tr h="190779">
                <a:tc gridSpan="2">
                  <a:txBody>
                    <a:bodyPr/>
                    <a:lstStyle/>
                    <a:p>
                      <a:pPr algn="l" fontAlgn="ctr"/>
                      <a:r>
                        <a:rPr lang="zh-CN" altLang="en-US" sz="1600" b="0" i="0" u="none" strike="noStrike">
                          <a:solidFill>
                            <a:srgbClr val="000000"/>
                          </a:solidFill>
                          <a:effectLst/>
                          <a:latin typeface="宋体"/>
                        </a:rPr>
                        <a:t>负债</a:t>
                      </a:r>
                    </a:p>
                  </a:txBody>
                  <a:tcPr marL="279918" marR="3888" marT="3888" marB="0" anchor="ctr">
                    <a:lnL>
                      <a:noFill/>
                    </a:lnL>
                    <a:lnR>
                      <a:noFill/>
                    </a:lnR>
                    <a:lnT>
                      <a:noFill/>
                    </a:lnT>
                    <a:lnB>
                      <a:noFill/>
                    </a:lnB>
                    <a:solidFill>
                      <a:schemeClr val="bg1">
                        <a:lumMod val="95000"/>
                      </a:schemeClr>
                    </a:solidFill>
                  </a:tcPr>
                </a:tc>
                <a:tc hMerge="1">
                  <a:txBody>
                    <a:bodyPr/>
                    <a:lstStyle/>
                    <a:p>
                      <a:endParaRPr lang="zh-CN" altLang="en-US"/>
                    </a:p>
                  </a:txBody>
                  <a:tcPr/>
                </a:tc>
                <a:tc>
                  <a:txBody>
                    <a:bodyPr/>
                    <a:lstStyle/>
                    <a:p>
                      <a:pPr algn="r" fontAlgn="b"/>
                      <a:r>
                        <a:rPr lang="en-US" altLang="zh-CN" sz="1600" b="0" i="0" u="none" strike="noStrike">
                          <a:solidFill>
                            <a:srgbClr val="000000"/>
                          </a:solidFill>
                          <a:effectLst/>
                          <a:latin typeface="宋体"/>
                        </a:rPr>
                        <a:t>-1,010 </a:t>
                      </a:r>
                    </a:p>
                  </a:txBody>
                  <a:tcPr marL="3888" marR="3888" marT="3888" marB="0" anchor="b">
                    <a:lnL>
                      <a:noFill/>
                    </a:lnL>
                    <a:lnR>
                      <a:noFill/>
                    </a:lnR>
                    <a:lnT>
                      <a:noFill/>
                    </a:lnT>
                    <a:lnB>
                      <a:noFill/>
                    </a:lnB>
                    <a:solidFill>
                      <a:schemeClr val="bg1">
                        <a:lumMod val="95000"/>
                      </a:schemeClr>
                    </a:solidFill>
                  </a:tcPr>
                </a:tc>
                <a:tc>
                  <a:txBody>
                    <a:bodyPr/>
                    <a:lstStyle/>
                    <a:p>
                      <a:pPr algn="r" fontAlgn="b"/>
                      <a:r>
                        <a:rPr lang="en-US" altLang="zh-CN" sz="1600" b="0" i="0" u="none" strike="noStrike">
                          <a:solidFill>
                            <a:srgbClr val="000000"/>
                          </a:solidFill>
                          <a:effectLst/>
                          <a:latin typeface="宋体"/>
                        </a:rPr>
                        <a:t>2,596 </a:t>
                      </a:r>
                    </a:p>
                  </a:txBody>
                  <a:tcPr marL="3888" marR="3888" marT="3888" marB="0" anchor="b">
                    <a:lnL>
                      <a:noFill/>
                    </a:lnL>
                    <a:lnR>
                      <a:noFill/>
                    </a:lnR>
                    <a:lnT>
                      <a:noFill/>
                    </a:lnT>
                    <a:lnB>
                      <a:noFill/>
                    </a:lnB>
                    <a:solidFill>
                      <a:schemeClr val="bg1">
                        <a:lumMod val="95000"/>
                      </a:schemeClr>
                    </a:solidFill>
                  </a:tcPr>
                </a:tc>
                <a:tc>
                  <a:txBody>
                    <a:bodyPr/>
                    <a:lstStyle/>
                    <a:p>
                      <a:pPr algn="r" fontAlgn="b"/>
                      <a:r>
                        <a:rPr lang="en-US" altLang="zh-CN" sz="1600" b="0" i="0" u="none" strike="noStrike">
                          <a:solidFill>
                            <a:srgbClr val="000000"/>
                          </a:solidFill>
                          <a:effectLst/>
                          <a:latin typeface="宋体"/>
                        </a:rPr>
                        <a:t>4,353 </a:t>
                      </a:r>
                    </a:p>
                  </a:txBody>
                  <a:tcPr marL="3888" marR="3888" marT="3888" marB="0" anchor="b">
                    <a:lnL>
                      <a:noFill/>
                    </a:lnL>
                    <a:lnR>
                      <a:noFill/>
                    </a:lnR>
                    <a:lnT>
                      <a:noFill/>
                    </a:lnT>
                    <a:lnB>
                      <a:noFill/>
                    </a:lnB>
                    <a:solidFill>
                      <a:schemeClr val="bg1">
                        <a:lumMod val="95000"/>
                      </a:schemeClr>
                    </a:solidFill>
                  </a:tcPr>
                </a:tc>
                <a:tc>
                  <a:txBody>
                    <a:bodyPr/>
                    <a:lstStyle/>
                    <a:p>
                      <a:pPr algn="r" fontAlgn="b"/>
                      <a:r>
                        <a:rPr lang="en-US" altLang="zh-CN" sz="1600" b="0" i="0" u="none" strike="noStrike" dirty="0">
                          <a:solidFill>
                            <a:srgbClr val="000000"/>
                          </a:solidFill>
                          <a:effectLst/>
                          <a:latin typeface="Times New Roman"/>
                        </a:rPr>
                        <a:t>1,709 </a:t>
                      </a:r>
                    </a:p>
                  </a:txBody>
                  <a:tcPr marL="3888" marR="3888" marT="3888" marB="0" anchor="b">
                    <a:lnL>
                      <a:noFill/>
                    </a:lnL>
                    <a:lnR>
                      <a:noFill/>
                    </a:lnR>
                    <a:lnT>
                      <a:noFill/>
                    </a:lnT>
                    <a:lnB>
                      <a:noFill/>
                    </a:lnB>
                    <a:solidFill>
                      <a:srgbClr val="FFFF00"/>
                    </a:solidFill>
                  </a:tcPr>
                </a:tc>
                <a:tc>
                  <a:txBody>
                    <a:bodyPr/>
                    <a:lstStyle/>
                    <a:p>
                      <a:pPr algn="r" fontAlgn="b"/>
                      <a:r>
                        <a:rPr lang="en-US" altLang="zh-CN" sz="1600" b="0" i="0" u="none" strike="noStrike">
                          <a:solidFill>
                            <a:srgbClr val="000000"/>
                          </a:solidFill>
                          <a:effectLst/>
                          <a:latin typeface="Times New Roman"/>
                        </a:rPr>
                        <a:t>1,231 </a:t>
                      </a:r>
                    </a:p>
                  </a:txBody>
                  <a:tcPr marL="3888" marR="3888" marT="3888" marB="0" anchor="b">
                    <a:lnL>
                      <a:noFill/>
                    </a:lnL>
                    <a:lnR>
                      <a:noFill/>
                    </a:lnR>
                    <a:lnT>
                      <a:noFill/>
                    </a:lnT>
                    <a:lnB>
                      <a:noFill/>
                    </a:lnB>
                    <a:solidFill>
                      <a:srgbClr val="FFFF00"/>
                    </a:solidFill>
                  </a:tcPr>
                </a:tc>
                <a:tc>
                  <a:txBody>
                    <a:bodyPr/>
                    <a:lstStyle/>
                    <a:p>
                      <a:pPr algn="r" fontAlgn="b"/>
                      <a:r>
                        <a:rPr lang="en-US" altLang="zh-CN" sz="1600" b="0" i="0" u="none" strike="noStrike">
                          <a:solidFill>
                            <a:srgbClr val="000000"/>
                          </a:solidFill>
                          <a:effectLst/>
                          <a:latin typeface="Times New Roman"/>
                        </a:rPr>
                        <a:t>1,224 </a:t>
                      </a:r>
                    </a:p>
                  </a:txBody>
                  <a:tcPr marL="3888" marR="3888" marT="3888" marB="0" anchor="b">
                    <a:lnL>
                      <a:noFill/>
                    </a:lnL>
                    <a:lnR>
                      <a:noFill/>
                    </a:lnR>
                    <a:lnT>
                      <a:noFill/>
                    </a:lnT>
                    <a:lnB>
                      <a:noFill/>
                    </a:lnB>
                    <a:solidFill>
                      <a:srgbClr val="FFFF00"/>
                    </a:solidFill>
                  </a:tcPr>
                </a:tc>
                <a:extLst>
                  <a:ext uri="{0D108BD9-81ED-4DB2-BD59-A6C34878D82A}">
                    <a16:rowId xmlns:a16="http://schemas.microsoft.com/office/drawing/2014/main" val="10017"/>
                  </a:ext>
                </a:extLst>
              </a:tr>
              <a:tr h="190779">
                <a:tc gridSpan="2">
                  <a:txBody>
                    <a:bodyPr/>
                    <a:lstStyle/>
                    <a:p>
                      <a:pPr algn="l" fontAlgn="ctr"/>
                      <a:r>
                        <a:rPr lang="zh-CN" altLang="en-US" sz="1600" b="0" i="0" u="none" strike="noStrike">
                          <a:solidFill>
                            <a:srgbClr val="000000"/>
                          </a:solidFill>
                          <a:effectLst/>
                          <a:latin typeface="宋体"/>
                        </a:rPr>
                        <a:t>      </a:t>
                      </a:r>
                      <a:r>
                        <a:rPr lang="en-US" altLang="zh-CN" sz="1600" b="0" i="0" u="none" strike="noStrike">
                          <a:solidFill>
                            <a:srgbClr val="000000"/>
                          </a:solidFill>
                          <a:effectLst/>
                          <a:latin typeface="宋体"/>
                        </a:rPr>
                        <a:t>2.2.1.1 </a:t>
                      </a:r>
                      <a:r>
                        <a:rPr lang="zh-CN" altLang="en-US" sz="1600" b="0" i="0" u="none" strike="noStrike">
                          <a:solidFill>
                            <a:srgbClr val="000000"/>
                          </a:solidFill>
                          <a:effectLst/>
                          <a:latin typeface="宋体"/>
                        </a:rPr>
                        <a:t>直接投资</a:t>
                      </a:r>
                    </a:p>
                  </a:txBody>
                  <a:tcPr marL="279918" marR="3888" marT="3888" marB="0" anchor="ctr">
                    <a:lnL>
                      <a:noFill/>
                    </a:lnL>
                    <a:lnR>
                      <a:noFill/>
                    </a:lnR>
                    <a:lnT>
                      <a:noFill/>
                    </a:lnT>
                    <a:lnB>
                      <a:noFill/>
                    </a:lnB>
                    <a:solidFill>
                      <a:schemeClr val="bg1">
                        <a:lumMod val="95000"/>
                      </a:schemeClr>
                    </a:solidFill>
                  </a:tcPr>
                </a:tc>
                <a:tc hMerge="1">
                  <a:txBody>
                    <a:bodyPr/>
                    <a:lstStyle/>
                    <a:p>
                      <a:endParaRPr lang="zh-CN" altLang="en-US"/>
                    </a:p>
                  </a:txBody>
                  <a:tcPr/>
                </a:tc>
                <a:tc>
                  <a:txBody>
                    <a:bodyPr/>
                    <a:lstStyle/>
                    <a:p>
                      <a:pPr algn="r" fontAlgn="ctr"/>
                      <a:r>
                        <a:rPr lang="en-US" altLang="zh-CN" sz="1600" b="0" i="0" u="none" strike="noStrike">
                          <a:solidFill>
                            <a:srgbClr val="000000"/>
                          </a:solidFill>
                          <a:effectLst/>
                          <a:latin typeface="宋体"/>
                        </a:rPr>
                        <a:t>681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0" i="0" u="none" strike="noStrike">
                          <a:solidFill>
                            <a:srgbClr val="000000"/>
                          </a:solidFill>
                          <a:effectLst/>
                          <a:latin typeface="宋体"/>
                        </a:rPr>
                        <a:t>-417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0" i="0" u="none" strike="noStrike">
                          <a:solidFill>
                            <a:srgbClr val="000000"/>
                          </a:solidFill>
                          <a:effectLst/>
                          <a:latin typeface="宋体"/>
                        </a:rPr>
                        <a:t>663 </a:t>
                      </a:r>
                    </a:p>
                  </a:txBody>
                  <a:tcPr marL="3888" marR="3888" marT="3888" marB="0" anchor="ctr">
                    <a:lnL>
                      <a:noFill/>
                    </a:lnL>
                    <a:lnR>
                      <a:noFill/>
                    </a:lnR>
                    <a:lnT>
                      <a:noFill/>
                    </a:lnT>
                    <a:lnB>
                      <a:noFill/>
                    </a:lnB>
                    <a:solidFill>
                      <a:schemeClr val="bg1">
                        <a:lumMod val="95000"/>
                      </a:schemeClr>
                    </a:solidFill>
                  </a:tcPr>
                </a:tc>
                <a:tc>
                  <a:txBody>
                    <a:bodyPr/>
                    <a:lstStyle/>
                    <a:p>
                      <a:pPr algn="r" fontAlgn="b"/>
                      <a:r>
                        <a:rPr lang="en-US" altLang="zh-CN" sz="1600" b="0" i="0" u="none" strike="noStrike" dirty="0">
                          <a:solidFill>
                            <a:srgbClr val="000000"/>
                          </a:solidFill>
                          <a:effectLst/>
                          <a:latin typeface="Times New Roman"/>
                        </a:rPr>
                        <a:t>550 </a:t>
                      </a:r>
                    </a:p>
                  </a:txBody>
                  <a:tcPr marL="3888" marR="3888" marT="3888" marB="0" anchor="b">
                    <a:lnL>
                      <a:noFill/>
                    </a:lnL>
                    <a:lnR>
                      <a:noFill/>
                    </a:lnR>
                    <a:lnT>
                      <a:noFill/>
                    </a:lnT>
                    <a:lnB>
                      <a:noFill/>
                    </a:lnB>
                    <a:solidFill>
                      <a:srgbClr val="FFFF00"/>
                    </a:solidFill>
                  </a:tcPr>
                </a:tc>
                <a:tc>
                  <a:txBody>
                    <a:bodyPr/>
                    <a:lstStyle/>
                    <a:p>
                      <a:pPr algn="r" fontAlgn="b"/>
                      <a:r>
                        <a:rPr lang="en-US" altLang="zh-CN" sz="1600" b="0" i="0" u="none" strike="noStrike">
                          <a:solidFill>
                            <a:srgbClr val="000000"/>
                          </a:solidFill>
                          <a:effectLst/>
                          <a:latin typeface="Times New Roman"/>
                        </a:rPr>
                        <a:t>248 </a:t>
                      </a:r>
                    </a:p>
                  </a:txBody>
                  <a:tcPr marL="3888" marR="3888" marT="3888" marB="0" anchor="b">
                    <a:lnL>
                      <a:noFill/>
                    </a:lnL>
                    <a:lnR>
                      <a:noFill/>
                    </a:lnR>
                    <a:lnT>
                      <a:noFill/>
                    </a:lnT>
                    <a:lnB>
                      <a:noFill/>
                    </a:lnB>
                    <a:solidFill>
                      <a:srgbClr val="FFFF00"/>
                    </a:solidFill>
                  </a:tcPr>
                </a:tc>
                <a:tc>
                  <a:txBody>
                    <a:bodyPr/>
                    <a:lstStyle/>
                    <a:p>
                      <a:pPr algn="r" fontAlgn="b"/>
                      <a:r>
                        <a:rPr lang="en-US" altLang="zh-CN" sz="1600" b="0" i="0" u="none" strike="noStrike" dirty="0">
                          <a:solidFill>
                            <a:srgbClr val="000000"/>
                          </a:solidFill>
                          <a:effectLst/>
                          <a:latin typeface="Times New Roman"/>
                        </a:rPr>
                        <a:t>1 </a:t>
                      </a:r>
                    </a:p>
                  </a:txBody>
                  <a:tcPr marL="3888" marR="3888" marT="3888" marB="0" anchor="b">
                    <a:lnL>
                      <a:noFill/>
                    </a:lnL>
                    <a:lnR>
                      <a:noFill/>
                    </a:lnR>
                    <a:lnT>
                      <a:noFill/>
                    </a:lnT>
                    <a:lnB>
                      <a:noFill/>
                    </a:lnB>
                    <a:solidFill>
                      <a:srgbClr val="FFFF00"/>
                    </a:solidFill>
                  </a:tcPr>
                </a:tc>
                <a:extLst>
                  <a:ext uri="{0D108BD9-81ED-4DB2-BD59-A6C34878D82A}">
                    <a16:rowId xmlns:a16="http://schemas.microsoft.com/office/drawing/2014/main" val="10018"/>
                  </a:ext>
                </a:extLst>
              </a:tr>
              <a:tr h="190779">
                <a:tc gridSpan="2">
                  <a:txBody>
                    <a:bodyPr/>
                    <a:lstStyle/>
                    <a:p>
                      <a:pPr algn="l" fontAlgn="ctr"/>
                      <a:r>
                        <a:rPr lang="zh-CN" altLang="en-US" sz="1600" b="0" i="0" u="none" strike="noStrike">
                          <a:solidFill>
                            <a:srgbClr val="000000"/>
                          </a:solidFill>
                          <a:effectLst/>
                          <a:latin typeface="宋体"/>
                        </a:rPr>
                        <a:t>      </a:t>
                      </a:r>
                      <a:r>
                        <a:rPr lang="en-US" altLang="zh-CN" sz="1600" b="0" i="0" u="none" strike="noStrike">
                          <a:solidFill>
                            <a:srgbClr val="000000"/>
                          </a:solidFill>
                          <a:effectLst/>
                          <a:latin typeface="宋体"/>
                        </a:rPr>
                        <a:t>2.2.1.2 </a:t>
                      </a:r>
                      <a:r>
                        <a:rPr lang="zh-CN" altLang="en-US" sz="1600" b="0" i="0" u="none" strike="noStrike">
                          <a:solidFill>
                            <a:srgbClr val="000000"/>
                          </a:solidFill>
                          <a:effectLst/>
                          <a:latin typeface="宋体"/>
                        </a:rPr>
                        <a:t>证券投资</a:t>
                      </a:r>
                    </a:p>
                  </a:txBody>
                  <a:tcPr marL="279918" marR="3888" marT="3888" marB="0" anchor="ctr">
                    <a:lnL>
                      <a:noFill/>
                    </a:lnL>
                    <a:lnR>
                      <a:noFill/>
                    </a:lnR>
                    <a:lnT>
                      <a:noFill/>
                    </a:lnT>
                    <a:lnB>
                      <a:noFill/>
                    </a:lnB>
                    <a:solidFill>
                      <a:schemeClr val="bg1">
                        <a:lumMod val="95000"/>
                      </a:schemeClr>
                    </a:solidFill>
                  </a:tcPr>
                </a:tc>
                <a:tc hMerge="1">
                  <a:txBody>
                    <a:bodyPr/>
                    <a:lstStyle/>
                    <a:p>
                      <a:endParaRPr lang="zh-CN" altLang="en-US"/>
                    </a:p>
                  </a:txBody>
                  <a:tcPr/>
                </a:tc>
                <a:tc>
                  <a:txBody>
                    <a:bodyPr/>
                    <a:lstStyle/>
                    <a:p>
                      <a:pPr algn="r" fontAlgn="ctr"/>
                      <a:r>
                        <a:rPr lang="en-US" altLang="zh-CN" sz="1600" b="0" i="0" u="none" strike="noStrike">
                          <a:solidFill>
                            <a:srgbClr val="000000"/>
                          </a:solidFill>
                          <a:effectLst/>
                          <a:latin typeface="宋体"/>
                        </a:rPr>
                        <a:t>-665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0" i="0" u="none" strike="noStrike">
                          <a:solidFill>
                            <a:srgbClr val="000000"/>
                          </a:solidFill>
                          <a:effectLst/>
                          <a:latin typeface="宋体"/>
                        </a:rPr>
                        <a:t>-523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0" i="0" u="none" strike="noStrike">
                          <a:solidFill>
                            <a:srgbClr val="000000"/>
                          </a:solidFill>
                          <a:effectLst/>
                          <a:latin typeface="宋体"/>
                        </a:rPr>
                        <a:t>74 </a:t>
                      </a:r>
                    </a:p>
                  </a:txBody>
                  <a:tcPr marL="3888" marR="3888" marT="3888" marB="0" anchor="ctr">
                    <a:lnL>
                      <a:noFill/>
                    </a:lnL>
                    <a:lnR>
                      <a:noFill/>
                    </a:lnR>
                    <a:lnT>
                      <a:noFill/>
                    </a:lnT>
                    <a:lnB>
                      <a:noFill/>
                    </a:lnB>
                    <a:solidFill>
                      <a:schemeClr val="bg1">
                        <a:lumMod val="95000"/>
                      </a:schemeClr>
                    </a:solidFill>
                  </a:tcPr>
                </a:tc>
                <a:tc>
                  <a:txBody>
                    <a:bodyPr/>
                    <a:lstStyle/>
                    <a:p>
                      <a:pPr algn="r" fontAlgn="b"/>
                      <a:r>
                        <a:rPr lang="en-US" altLang="zh-CN" sz="1600" b="0" i="0" u="none" strike="noStrike" dirty="0">
                          <a:solidFill>
                            <a:srgbClr val="000000"/>
                          </a:solidFill>
                          <a:effectLst/>
                          <a:latin typeface="Times New Roman"/>
                        </a:rPr>
                        <a:t>103 </a:t>
                      </a:r>
                    </a:p>
                  </a:txBody>
                  <a:tcPr marL="3888" marR="3888" marT="3888" marB="0" anchor="b">
                    <a:lnL>
                      <a:noFill/>
                    </a:lnL>
                    <a:lnR>
                      <a:noFill/>
                    </a:lnR>
                    <a:lnT>
                      <a:noFill/>
                    </a:lnT>
                    <a:lnB>
                      <a:noFill/>
                    </a:lnB>
                    <a:solidFill>
                      <a:srgbClr val="FFFF00"/>
                    </a:solidFill>
                  </a:tcPr>
                </a:tc>
                <a:tc>
                  <a:txBody>
                    <a:bodyPr/>
                    <a:lstStyle/>
                    <a:p>
                      <a:pPr algn="r" fontAlgn="b"/>
                      <a:r>
                        <a:rPr lang="en-US" altLang="zh-CN" sz="1600" b="0" i="0" u="none" strike="noStrike" dirty="0">
                          <a:solidFill>
                            <a:srgbClr val="000000"/>
                          </a:solidFill>
                          <a:effectLst/>
                          <a:latin typeface="Times New Roman"/>
                        </a:rPr>
                        <a:t>610 </a:t>
                      </a:r>
                    </a:p>
                  </a:txBody>
                  <a:tcPr marL="3888" marR="3888" marT="3888" marB="0" anchor="b">
                    <a:lnL>
                      <a:noFill/>
                    </a:lnL>
                    <a:lnR>
                      <a:noFill/>
                    </a:lnR>
                    <a:lnT>
                      <a:noFill/>
                    </a:lnT>
                    <a:lnB>
                      <a:noFill/>
                    </a:lnB>
                    <a:solidFill>
                      <a:srgbClr val="FFFF00"/>
                    </a:solidFill>
                  </a:tcPr>
                </a:tc>
                <a:tc>
                  <a:txBody>
                    <a:bodyPr/>
                    <a:lstStyle/>
                    <a:p>
                      <a:pPr algn="r" fontAlgn="b"/>
                      <a:r>
                        <a:rPr lang="en-US" altLang="zh-CN" sz="1600" b="0" i="0" u="none" strike="noStrike" dirty="0">
                          <a:solidFill>
                            <a:srgbClr val="000000"/>
                          </a:solidFill>
                          <a:effectLst/>
                          <a:latin typeface="Times New Roman"/>
                        </a:rPr>
                        <a:t>339 </a:t>
                      </a:r>
                    </a:p>
                  </a:txBody>
                  <a:tcPr marL="3888" marR="3888" marT="3888" marB="0" anchor="b">
                    <a:lnL>
                      <a:noFill/>
                    </a:lnL>
                    <a:lnR>
                      <a:noFill/>
                    </a:lnR>
                    <a:lnT>
                      <a:noFill/>
                    </a:lnT>
                    <a:lnB>
                      <a:noFill/>
                    </a:lnB>
                    <a:solidFill>
                      <a:srgbClr val="FFFF00"/>
                    </a:solidFill>
                  </a:tcPr>
                </a:tc>
                <a:extLst>
                  <a:ext uri="{0D108BD9-81ED-4DB2-BD59-A6C34878D82A}">
                    <a16:rowId xmlns:a16="http://schemas.microsoft.com/office/drawing/2014/main" val="10019"/>
                  </a:ext>
                </a:extLst>
              </a:tr>
              <a:tr h="190779">
                <a:tc gridSpan="2">
                  <a:txBody>
                    <a:bodyPr/>
                    <a:lstStyle/>
                    <a:p>
                      <a:pPr algn="l" fontAlgn="ctr"/>
                      <a:r>
                        <a:rPr lang="zh-CN" altLang="en-US" sz="1600" b="0" i="0" u="none" strike="noStrike">
                          <a:solidFill>
                            <a:srgbClr val="000000"/>
                          </a:solidFill>
                          <a:effectLst/>
                          <a:latin typeface="宋体"/>
                        </a:rPr>
                        <a:t>      </a:t>
                      </a:r>
                      <a:r>
                        <a:rPr lang="en-US" altLang="zh-CN" sz="1600" b="0" i="0" u="none" strike="noStrike">
                          <a:solidFill>
                            <a:srgbClr val="000000"/>
                          </a:solidFill>
                          <a:effectLst/>
                          <a:latin typeface="宋体"/>
                        </a:rPr>
                        <a:t>2.2.1.3 </a:t>
                      </a:r>
                      <a:r>
                        <a:rPr lang="zh-CN" altLang="en-US" sz="1600" b="0" i="0" u="none" strike="noStrike">
                          <a:solidFill>
                            <a:srgbClr val="000000"/>
                          </a:solidFill>
                          <a:effectLst/>
                          <a:latin typeface="宋体"/>
                        </a:rPr>
                        <a:t>金融衍生工具</a:t>
                      </a:r>
                    </a:p>
                  </a:txBody>
                  <a:tcPr marL="279918" marR="3888" marT="3888" marB="0" anchor="ctr">
                    <a:lnL>
                      <a:noFill/>
                    </a:lnL>
                    <a:lnR>
                      <a:noFill/>
                    </a:lnR>
                    <a:lnT>
                      <a:noFill/>
                    </a:lnT>
                    <a:lnB>
                      <a:noFill/>
                    </a:lnB>
                    <a:solidFill>
                      <a:schemeClr val="bg1">
                        <a:lumMod val="95000"/>
                      </a:schemeClr>
                    </a:solidFill>
                  </a:tcPr>
                </a:tc>
                <a:tc hMerge="1">
                  <a:txBody>
                    <a:bodyPr/>
                    <a:lstStyle/>
                    <a:p>
                      <a:endParaRPr lang="zh-CN" altLang="en-US"/>
                    </a:p>
                  </a:txBody>
                  <a:tcPr/>
                </a:tc>
                <a:tc>
                  <a:txBody>
                    <a:bodyPr/>
                    <a:lstStyle/>
                    <a:p>
                      <a:pPr algn="r" fontAlgn="ctr"/>
                      <a:r>
                        <a:rPr lang="en-US" altLang="zh-CN" sz="1600" b="0" i="0" u="none" strike="noStrike">
                          <a:solidFill>
                            <a:srgbClr val="000000"/>
                          </a:solidFill>
                          <a:effectLst/>
                          <a:latin typeface="宋体"/>
                        </a:rPr>
                        <a:t>-21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0" i="0" u="none" strike="noStrike">
                          <a:solidFill>
                            <a:srgbClr val="000000"/>
                          </a:solidFill>
                          <a:effectLst/>
                          <a:latin typeface="宋体"/>
                        </a:rPr>
                        <a:t>-54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0" i="0" u="none" strike="noStrike">
                          <a:solidFill>
                            <a:srgbClr val="000000"/>
                          </a:solidFill>
                          <a:effectLst/>
                          <a:latin typeface="宋体"/>
                        </a:rPr>
                        <a:t>5 </a:t>
                      </a:r>
                    </a:p>
                  </a:txBody>
                  <a:tcPr marL="3888" marR="3888" marT="3888" marB="0" anchor="ctr">
                    <a:lnL>
                      <a:noFill/>
                    </a:lnL>
                    <a:lnR>
                      <a:noFill/>
                    </a:lnR>
                    <a:lnT>
                      <a:noFill/>
                    </a:lnT>
                    <a:lnB>
                      <a:noFill/>
                    </a:lnB>
                    <a:solidFill>
                      <a:schemeClr val="bg1">
                        <a:lumMod val="95000"/>
                      </a:schemeClr>
                    </a:solidFill>
                  </a:tcPr>
                </a:tc>
                <a:tc>
                  <a:txBody>
                    <a:bodyPr/>
                    <a:lstStyle/>
                    <a:p>
                      <a:pPr algn="r" fontAlgn="b"/>
                      <a:r>
                        <a:rPr lang="en-US" altLang="zh-CN" sz="1600" b="0" i="0" u="none" strike="noStrike">
                          <a:solidFill>
                            <a:srgbClr val="000000"/>
                          </a:solidFill>
                          <a:effectLst/>
                          <a:latin typeface="Times New Roman"/>
                        </a:rPr>
                        <a:t>-1 </a:t>
                      </a:r>
                    </a:p>
                  </a:txBody>
                  <a:tcPr marL="3888" marR="3888" marT="3888" marB="0" anchor="b">
                    <a:lnL>
                      <a:noFill/>
                    </a:lnL>
                    <a:lnR>
                      <a:noFill/>
                    </a:lnR>
                    <a:lnT>
                      <a:noFill/>
                    </a:lnT>
                    <a:lnB>
                      <a:noFill/>
                    </a:lnB>
                    <a:solidFill>
                      <a:srgbClr val="FFFF00"/>
                    </a:solidFill>
                  </a:tcPr>
                </a:tc>
                <a:tc>
                  <a:txBody>
                    <a:bodyPr/>
                    <a:lstStyle/>
                    <a:p>
                      <a:pPr algn="r" fontAlgn="b"/>
                      <a:r>
                        <a:rPr lang="en-US" altLang="zh-CN" sz="1600" b="0" i="0" u="none" strike="noStrike" dirty="0">
                          <a:solidFill>
                            <a:srgbClr val="000000"/>
                          </a:solidFill>
                          <a:effectLst/>
                          <a:latin typeface="Times New Roman"/>
                        </a:rPr>
                        <a:t>-19 </a:t>
                      </a:r>
                    </a:p>
                  </a:txBody>
                  <a:tcPr marL="3888" marR="3888" marT="3888" marB="0" anchor="b">
                    <a:lnL>
                      <a:noFill/>
                    </a:lnL>
                    <a:lnR>
                      <a:noFill/>
                    </a:lnR>
                    <a:lnT>
                      <a:noFill/>
                    </a:lnT>
                    <a:lnB>
                      <a:noFill/>
                    </a:lnB>
                    <a:solidFill>
                      <a:srgbClr val="FFFF00"/>
                    </a:solidFill>
                  </a:tcPr>
                </a:tc>
                <a:tc>
                  <a:txBody>
                    <a:bodyPr/>
                    <a:lstStyle/>
                    <a:p>
                      <a:pPr algn="r" fontAlgn="b"/>
                      <a:r>
                        <a:rPr lang="en-US" altLang="zh-CN" sz="1600" b="0" i="0" u="none" strike="noStrike" dirty="0">
                          <a:solidFill>
                            <a:srgbClr val="000000"/>
                          </a:solidFill>
                          <a:effectLst/>
                          <a:latin typeface="Times New Roman"/>
                        </a:rPr>
                        <a:t>-3 </a:t>
                      </a:r>
                    </a:p>
                  </a:txBody>
                  <a:tcPr marL="3888" marR="3888" marT="3888" marB="0" anchor="b">
                    <a:lnL>
                      <a:noFill/>
                    </a:lnL>
                    <a:lnR>
                      <a:noFill/>
                    </a:lnR>
                    <a:lnT>
                      <a:noFill/>
                    </a:lnT>
                    <a:lnB>
                      <a:noFill/>
                    </a:lnB>
                    <a:solidFill>
                      <a:srgbClr val="FFFF00"/>
                    </a:solidFill>
                  </a:tcPr>
                </a:tc>
                <a:extLst>
                  <a:ext uri="{0D108BD9-81ED-4DB2-BD59-A6C34878D82A}">
                    <a16:rowId xmlns:a16="http://schemas.microsoft.com/office/drawing/2014/main" val="10020"/>
                  </a:ext>
                </a:extLst>
              </a:tr>
              <a:tr h="190779">
                <a:tc gridSpan="2">
                  <a:txBody>
                    <a:bodyPr/>
                    <a:lstStyle/>
                    <a:p>
                      <a:pPr algn="l" fontAlgn="ctr"/>
                      <a:r>
                        <a:rPr lang="zh-CN" altLang="en-US" sz="1600" b="0" i="0" u="none" strike="noStrike">
                          <a:solidFill>
                            <a:srgbClr val="000000"/>
                          </a:solidFill>
                          <a:effectLst/>
                          <a:latin typeface="宋体"/>
                        </a:rPr>
                        <a:t>      </a:t>
                      </a:r>
                      <a:r>
                        <a:rPr lang="en-US" altLang="zh-CN" sz="1600" b="0" i="0" u="none" strike="noStrike">
                          <a:solidFill>
                            <a:srgbClr val="000000"/>
                          </a:solidFill>
                          <a:effectLst/>
                          <a:latin typeface="宋体"/>
                        </a:rPr>
                        <a:t>2.2.1.4 </a:t>
                      </a:r>
                      <a:r>
                        <a:rPr lang="zh-CN" altLang="en-US" sz="1600" b="0" i="0" u="none" strike="noStrike">
                          <a:solidFill>
                            <a:srgbClr val="000000"/>
                          </a:solidFill>
                          <a:effectLst/>
                          <a:latin typeface="宋体"/>
                        </a:rPr>
                        <a:t>其他投资</a:t>
                      </a:r>
                    </a:p>
                  </a:txBody>
                  <a:tcPr marL="279918" marR="3888" marT="3888" marB="0" anchor="ctr">
                    <a:lnL>
                      <a:noFill/>
                    </a:lnL>
                    <a:lnR>
                      <a:noFill/>
                    </a:lnR>
                    <a:lnT>
                      <a:noFill/>
                    </a:lnT>
                    <a:lnB>
                      <a:noFill/>
                    </a:lnB>
                    <a:solidFill>
                      <a:schemeClr val="bg1">
                        <a:lumMod val="95000"/>
                      </a:schemeClr>
                    </a:solidFill>
                  </a:tcPr>
                </a:tc>
                <a:tc hMerge="1">
                  <a:txBody>
                    <a:bodyPr/>
                    <a:lstStyle/>
                    <a:p>
                      <a:endParaRPr lang="zh-CN" altLang="en-US"/>
                    </a:p>
                  </a:txBody>
                  <a:tcPr/>
                </a:tc>
                <a:tc>
                  <a:txBody>
                    <a:bodyPr/>
                    <a:lstStyle/>
                    <a:p>
                      <a:pPr algn="r" fontAlgn="b"/>
                      <a:r>
                        <a:rPr lang="en-US" altLang="zh-CN" sz="1600" b="0" i="0" u="none" strike="noStrike">
                          <a:solidFill>
                            <a:srgbClr val="000000"/>
                          </a:solidFill>
                          <a:effectLst/>
                          <a:latin typeface="宋体"/>
                        </a:rPr>
                        <a:t>-4,340 </a:t>
                      </a:r>
                    </a:p>
                  </a:txBody>
                  <a:tcPr marL="3888" marR="3888" marT="3888" marB="0" anchor="b">
                    <a:lnL>
                      <a:noFill/>
                    </a:lnL>
                    <a:lnR>
                      <a:noFill/>
                    </a:lnR>
                    <a:lnT>
                      <a:noFill/>
                    </a:lnT>
                    <a:lnB>
                      <a:noFill/>
                    </a:lnB>
                    <a:solidFill>
                      <a:schemeClr val="bg1">
                        <a:lumMod val="95000"/>
                      </a:schemeClr>
                    </a:solidFill>
                  </a:tcPr>
                </a:tc>
                <a:tc>
                  <a:txBody>
                    <a:bodyPr/>
                    <a:lstStyle/>
                    <a:p>
                      <a:pPr algn="r" fontAlgn="b"/>
                      <a:r>
                        <a:rPr lang="en-US" altLang="zh-CN" sz="1600" b="0" i="0" u="none" strike="noStrike">
                          <a:solidFill>
                            <a:srgbClr val="000000"/>
                          </a:solidFill>
                          <a:effectLst/>
                          <a:latin typeface="宋体"/>
                        </a:rPr>
                        <a:t>-3,167 </a:t>
                      </a:r>
                    </a:p>
                  </a:txBody>
                  <a:tcPr marL="3888" marR="3888" marT="3888" marB="0" anchor="b">
                    <a:lnL>
                      <a:noFill/>
                    </a:lnL>
                    <a:lnR>
                      <a:noFill/>
                    </a:lnR>
                    <a:lnT>
                      <a:noFill/>
                    </a:lnT>
                    <a:lnB>
                      <a:noFill/>
                    </a:lnB>
                    <a:solidFill>
                      <a:schemeClr val="bg1">
                        <a:lumMod val="95000"/>
                      </a:schemeClr>
                    </a:solidFill>
                  </a:tcPr>
                </a:tc>
                <a:tc>
                  <a:txBody>
                    <a:bodyPr/>
                    <a:lstStyle/>
                    <a:p>
                      <a:pPr algn="r" fontAlgn="b"/>
                      <a:r>
                        <a:rPr lang="en-US" altLang="zh-CN" sz="1600" b="0" i="0" u="none" strike="noStrike">
                          <a:solidFill>
                            <a:srgbClr val="000000"/>
                          </a:solidFill>
                          <a:effectLst/>
                          <a:latin typeface="宋体"/>
                        </a:rPr>
                        <a:t>744 </a:t>
                      </a:r>
                    </a:p>
                  </a:txBody>
                  <a:tcPr marL="3888" marR="3888" marT="3888" marB="0" anchor="b">
                    <a:lnL>
                      <a:noFill/>
                    </a:lnL>
                    <a:lnR>
                      <a:noFill/>
                    </a:lnR>
                    <a:lnT>
                      <a:noFill/>
                    </a:lnT>
                    <a:lnB>
                      <a:noFill/>
                    </a:lnB>
                    <a:solidFill>
                      <a:schemeClr val="bg1">
                        <a:lumMod val="95000"/>
                      </a:schemeClr>
                    </a:solidFill>
                  </a:tcPr>
                </a:tc>
                <a:tc>
                  <a:txBody>
                    <a:bodyPr/>
                    <a:lstStyle/>
                    <a:p>
                      <a:pPr algn="r" fontAlgn="b"/>
                      <a:r>
                        <a:rPr lang="en-US" altLang="zh-CN" sz="1600" b="0" i="0" u="none" strike="noStrike">
                          <a:solidFill>
                            <a:srgbClr val="000000"/>
                          </a:solidFill>
                          <a:effectLst/>
                          <a:latin typeface="Times New Roman"/>
                        </a:rPr>
                        <a:t>336 </a:t>
                      </a:r>
                    </a:p>
                  </a:txBody>
                  <a:tcPr marL="3888" marR="3888" marT="3888" marB="0" anchor="b">
                    <a:lnL>
                      <a:noFill/>
                    </a:lnL>
                    <a:lnR>
                      <a:noFill/>
                    </a:lnR>
                    <a:lnT>
                      <a:noFill/>
                    </a:lnT>
                    <a:lnB>
                      <a:noFill/>
                    </a:lnB>
                    <a:solidFill>
                      <a:srgbClr val="FFFF00"/>
                    </a:solidFill>
                  </a:tcPr>
                </a:tc>
                <a:tc>
                  <a:txBody>
                    <a:bodyPr/>
                    <a:lstStyle/>
                    <a:p>
                      <a:pPr algn="r" fontAlgn="b"/>
                      <a:r>
                        <a:rPr lang="en-US" altLang="zh-CN" sz="1600" b="0" i="0" u="none" strike="noStrike" dirty="0">
                          <a:solidFill>
                            <a:srgbClr val="000000"/>
                          </a:solidFill>
                          <a:effectLst/>
                          <a:latin typeface="Times New Roman"/>
                        </a:rPr>
                        <a:t>-539 </a:t>
                      </a:r>
                    </a:p>
                  </a:txBody>
                  <a:tcPr marL="3888" marR="3888" marT="3888" marB="0" anchor="b">
                    <a:lnL>
                      <a:noFill/>
                    </a:lnL>
                    <a:lnR>
                      <a:noFill/>
                    </a:lnR>
                    <a:lnT>
                      <a:noFill/>
                    </a:lnT>
                    <a:lnB>
                      <a:noFill/>
                    </a:lnB>
                    <a:solidFill>
                      <a:srgbClr val="FFFF00"/>
                    </a:solidFill>
                  </a:tcPr>
                </a:tc>
                <a:tc>
                  <a:txBody>
                    <a:bodyPr/>
                    <a:lstStyle/>
                    <a:p>
                      <a:pPr algn="r" fontAlgn="b"/>
                      <a:r>
                        <a:rPr lang="en-US" altLang="zh-CN" sz="1600" b="0" i="0" u="none" strike="noStrike" dirty="0">
                          <a:solidFill>
                            <a:srgbClr val="000000"/>
                          </a:solidFill>
                          <a:effectLst/>
                          <a:latin typeface="Times New Roman"/>
                        </a:rPr>
                        <a:t>-197 </a:t>
                      </a:r>
                    </a:p>
                  </a:txBody>
                  <a:tcPr marL="3888" marR="3888" marT="3888" marB="0" anchor="b">
                    <a:lnL>
                      <a:noFill/>
                    </a:lnL>
                    <a:lnR>
                      <a:noFill/>
                    </a:lnR>
                    <a:lnT>
                      <a:noFill/>
                    </a:lnT>
                    <a:lnB>
                      <a:noFill/>
                    </a:lnB>
                    <a:solidFill>
                      <a:srgbClr val="FFFF00"/>
                    </a:solidFill>
                  </a:tcPr>
                </a:tc>
                <a:extLst>
                  <a:ext uri="{0D108BD9-81ED-4DB2-BD59-A6C34878D82A}">
                    <a16:rowId xmlns:a16="http://schemas.microsoft.com/office/drawing/2014/main" val="10021"/>
                  </a:ext>
                </a:extLst>
              </a:tr>
              <a:tr h="190779">
                <a:tc gridSpan="2">
                  <a:txBody>
                    <a:bodyPr/>
                    <a:lstStyle/>
                    <a:p>
                      <a:pPr algn="l" fontAlgn="ctr"/>
                      <a:r>
                        <a:rPr lang="en-US" altLang="zh-CN" sz="1600" b="0" i="0" u="none" strike="noStrike">
                          <a:solidFill>
                            <a:srgbClr val="000000"/>
                          </a:solidFill>
                          <a:effectLst/>
                          <a:latin typeface="宋体"/>
                        </a:rPr>
                        <a:t>2.2.2 </a:t>
                      </a:r>
                      <a:r>
                        <a:rPr lang="zh-CN" altLang="en-US" sz="1600" b="0" i="0" u="none" strike="noStrike">
                          <a:solidFill>
                            <a:srgbClr val="000000"/>
                          </a:solidFill>
                          <a:effectLst/>
                          <a:latin typeface="宋体"/>
                        </a:rPr>
                        <a:t>储备资产</a:t>
                      </a:r>
                    </a:p>
                  </a:txBody>
                  <a:tcPr marL="279918" marR="3888" marT="3888" marB="0" anchor="ctr">
                    <a:lnL>
                      <a:noFill/>
                    </a:lnL>
                    <a:lnR>
                      <a:noFill/>
                    </a:lnR>
                    <a:lnT>
                      <a:noFill/>
                    </a:lnT>
                    <a:lnB>
                      <a:noFill/>
                    </a:lnB>
                    <a:solidFill>
                      <a:schemeClr val="bg1">
                        <a:lumMod val="95000"/>
                      </a:schemeClr>
                    </a:solidFill>
                  </a:tcPr>
                </a:tc>
                <a:tc hMerge="1">
                  <a:txBody>
                    <a:bodyPr/>
                    <a:lstStyle/>
                    <a:p>
                      <a:endParaRPr lang="zh-CN" altLang="en-US"/>
                    </a:p>
                  </a:txBody>
                  <a:tcPr/>
                </a:tc>
                <a:tc>
                  <a:txBody>
                    <a:bodyPr/>
                    <a:lstStyle/>
                    <a:p>
                      <a:pPr algn="r" fontAlgn="ctr"/>
                      <a:r>
                        <a:rPr lang="en-US" altLang="zh-CN" sz="1600" b="0" i="0" u="none" strike="noStrike">
                          <a:solidFill>
                            <a:srgbClr val="000000"/>
                          </a:solidFill>
                          <a:effectLst/>
                          <a:latin typeface="宋体"/>
                        </a:rPr>
                        <a:t>3,429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0" i="0" u="none" strike="noStrike">
                          <a:solidFill>
                            <a:srgbClr val="000000"/>
                          </a:solidFill>
                          <a:effectLst/>
                          <a:latin typeface="宋体"/>
                        </a:rPr>
                        <a:t>4,437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0" i="0" u="none" strike="noStrike">
                          <a:solidFill>
                            <a:srgbClr val="000000"/>
                          </a:solidFill>
                          <a:effectLst/>
                          <a:latin typeface="宋体"/>
                        </a:rPr>
                        <a:t>-915 </a:t>
                      </a:r>
                    </a:p>
                  </a:txBody>
                  <a:tcPr marL="3888" marR="3888" marT="3888" marB="0" anchor="ctr">
                    <a:lnL>
                      <a:noFill/>
                    </a:lnL>
                    <a:lnR>
                      <a:noFill/>
                    </a:lnR>
                    <a:lnT>
                      <a:noFill/>
                    </a:lnT>
                    <a:lnB>
                      <a:noFill/>
                    </a:lnB>
                    <a:solidFill>
                      <a:schemeClr val="bg1">
                        <a:lumMod val="95000"/>
                      </a:schemeClr>
                    </a:solidFill>
                  </a:tcPr>
                </a:tc>
                <a:tc>
                  <a:txBody>
                    <a:bodyPr/>
                    <a:lstStyle/>
                    <a:p>
                      <a:pPr algn="r" fontAlgn="b"/>
                      <a:r>
                        <a:rPr lang="en-US" altLang="zh-CN" sz="1600" b="0" i="0" u="none" strike="noStrike">
                          <a:solidFill>
                            <a:srgbClr val="000000"/>
                          </a:solidFill>
                          <a:effectLst/>
                          <a:latin typeface="Times New Roman"/>
                        </a:rPr>
                        <a:t>-262 </a:t>
                      </a:r>
                    </a:p>
                  </a:txBody>
                  <a:tcPr marL="3888" marR="3888" marT="3888" marB="0" anchor="b">
                    <a:lnL>
                      <a:noFill/>
                    </a:lnL>
                    <a:lnR>
                      <a:noFill/>
                    </a:lnR>
                    <a:lnT>
                      <a:noFill/>
                    </a:lnT>
                    <a:lnB>
                      <a:noFill/>
                    </a:lnB>
                    <a:solidFill>
                      <a:srgbClr val="FFFF00"/>
                    </a:solidFill>
                  </a:tcPr>
                </a:tc>
                <a:tc>
                  <a:txBody>
                    <a:bodyPr/>
                    <a:lstStyle/>
                    <a:p>
                      <a:pPr algn="r" fontAlgn="b"/>
                      <a:r>
                        <a:rPr lang="en-US" altLang="zh-CN" sz="1600" b="0" i="0" u="none" strike="noStrike" dirty="0">
                          <a:solidFill>
                            <a:srgbClr val="000000"/>
                          </a:solidFill>
                          <a:effectLst/>
                          <a:latin typeface="Times New Roman"/>
                        </a:rPr>
                        <a:t>-239 </a:t>
                      </a:r>
                    </a:p>
                  </a:txBody>
                  <a:tcPr marL="3888" marR="3888" marT="3888" marB="0" anchor="b">
                    <a:lnL>
                      <a:noFill/>
                    </a:lnL>
                    <a:lnR>
                      <a:noFill/>
                    </a:lnR>
                    <a:lnT>
                      <a:noFill/>
                    </a:lnT>
                    <a:lnB>
                      <a:noFill/>
                    </a:lnB>
                    <a:solidFill>
                      <a:srgbClr val="FFFF00"/>
                    </a:solidFill>
                  </a:tcPr>
                </a:tc>
                <a:tc>
                  <a:txBody>
                    <a:bodyPr/>
                    <a:lstStyle/>
                    <a:p>
                      <a:pPr algn="r" fontAlgn="b"/>
                      <a:r>
                        <a:rPr lang="en-US" altLang="zh-CN" sz="1600" b="0" i="0" u="none" strike="noStrike" dirty="0">
                          <a:solidFill>
                            <a:srgbClr val="000000"/>
                          </a:solidFill>
                          <a:effectLst/>
                          <a:latin typeface="Times New Roman"/>
                        </a:rPr>
                        <a:t>30 </a:t>
                      </a:r>
                    </a:p>
                  </a:txBody>
                  <a:tcPr marL="3888" marR="3888" marT="3888" marB="0" anchor="b">
                    <a:lnL>
                      <a:noFill/>
                    </a:lnL>
                    <a:lnR>
                      <a:noFill/>
                    </a:lnR>
                    <a:lnT>
                      <a:noFill/>
                    </a:lnT>
                    <a:lnB>
                      <a:noFill/>
                    </a:lnB>
                    <a:solidFill>
                      <a:srgbClr val="FFFF00"/>
                    </a:solidFill>
                  </a:tcPr>
                </a:tc>
                <a:extLst>
                  <a:ext uri="{0D108BD9-81ED-4DB2-BD59-A6C34878D82A}">
                    <a16:rowId xmlns:a16="http://schemas.microsoft.com/office/drawing/2014/main" val="10022"/>
                  </a:ext>
                </a:extLst>
              </a:tr>
              <a:tr h="190779">
                <a:tc gridSpan="2">
                  <a:txBody>
                    <a:bodyPr/>
                    <a:lstStyle/>
                    <a:p>
                      <a:pPr algn="l" fontAlgn="ctr"/>
                      <a:r>
                        <a:rPr lang="en-US" altLang="zh-CN" sz="1600" b="1" i="0" u="none" strike="noStrike" dirty="0">
                          <a:solidFill>
                            <a:srgbClr val="000000"/>
                          </a:solidFill>
                          <a:effectLst/>
                          <a:latin typeface="宋体"/>
                        </a:rPr>
                        <a:t>3.</a:t>
                      </a:r>
                      <a:r>
                        <a:rPr lang="zh-CN" altLang="en-US" sz="1600" b="1" i="0" u="none" strike="noStrike" dirty="0">
                          <a:solidFill>
                            <a:srgbClr val="000000"/>
                          </a:solidFill>
                          <a:effectLst/>
                          <a:latin typeface="宋体"/>
                        </a:rPr>
                        <a:t>净误差与遗漏</a:t>
                      </a:r>
                    </a:p>
                  </a:txBody>
                  <a:tcPr marL="3888" marR="3888" marT="3888" marB="0" anchor="ctr">
                    <a:lnL>
                      <a:noFill/>
                    </a:lnL>
                    <a:lnR>
                      <a:noFill/>
                    </a:lnR>
                    <a:lnT>
                      <a:noFill/>
                    </a:lnT>
                    <a:lnB>
                      <a:noFill/>
                    </a:lnB>
                    <a:solidFill>
                      <a:schemeClr val="bg1">
                        <a:lumMod val="95000"/>
                      </a:schemeClr>
                    </a:solidFill>
                  </a:tcPr>
                </a:tc>
                <a:tc hMerge="1">
                  <a:txBody>
                    <a:bodyPr/>
                    <a:lstStyle/>
                    <a:p>
                      <a:endParaRPr lang="zh-CN" altLang="en-US"/>
                    </a:p>
                  </a:txBody>
                  <a:tcPr/>
                </a:tc>
                <a:tc>
                  <a:txBody>
                    <a:bodyPr/>
                    <a:lstStyle/>
                    <a:p>
                      <a:pPr algn="r" fontAlgn="ctr"/>
                      <a:r>
                        <a:rPr lang="en-US" altLang="zh-CN" sz="1600" b="1" i="0" u="none" strike="noStrike">
                          <a:solidFill>
                            <a:srgbClr val="000000"/>
                          </a:solidFill>
                          <a:effectLst/>
                          <a:latin typeface="宋体"/>
                        </a:rPr>
                        <a:t>-2,130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1" i="0" u="none" strike="noStrike">
                          <a:solidFill>
                            <a:srgbClr val="000000"/>
                          </a:solidFill>
                          <a:effectLst/>
                          <a:latin typeface="宋体"/>
                        </a:rPr>
                        <a:t>-2,295 </a:t>
                      </a:r>
                    </a:p>
                  </a:txBody>
                  <a:tcPr marL="3888" marR="3888" marT="3888" marB="0" anchor="ctr">
                    <a:lnL>
                      <a:noFill/>
                    </a:lnL>
                    <a:lnR>
                      <a:noFill/>
                    </a:lnR>
                    <a:lnT>
                      <a:noFill/>
                    </a:lnT>
                    <a:lnB>
                      <a:noFill/>
                    </a:lnB>
                    <a:solidFill>
                      <a:schemeClr val="bg1">
                        <a:lumMod val="95000"/>
                      </a:schemeClr>
                    </a:solidFill>
                  </a:tcPr>
                </a:tc>
                <a:tc>
                  <a:txBody>
                    <a:bodyPr/>
                    <a:lstStyle/>
                    <a:p>
                      <a:pPr algn="r" fontAlgn="ctr"/>
                      <a:r>
                        <a:rPr lang="en-US" altLang="zh-CN" sz="1600" b="1" i="0" u="none" strike="noStrike">
                          <a:solidFill>
                            <a:srgbClr val="000000"/>
                          </a:solidFill>
                          <a:effectLst/>
                          <a:latin typeface="宋体"/>
                        </a:rPr>
                        <a:t>-2,219 </a:t>
                      </a:r>
                    </a:p>
                  </a:txBody>
                  <a:tcPr marL="3888" marR="3888" marT="3888" marB="0" anchor="ctr">
                    <a:lnL>
                      <a:noFill/>
                    </a:lnL>
                    <a:lnR>
                      <a:noFill/>
                    </a:lnR>
                    <a:lnT>
                      <a:noFill/>
                    </a:lnT>
                    <a:lnB>
                      <a:noFill/>
                    </a:lnB>
                    <a:solidFill>
                      <a:schemeClr val="bg1">
                        <a:lumMod val="95000"/>
                      </a:schemeClr>
                    </a:solidFill>
                  </a:tcPr>
                </a:tc>
                <a:tc>
                  <a:txBody>
                    <a:bodyPr/>
                    <a:lstStyle/>
                    <a:p>
                      <a:pPr algn="r" fontAlgn="b"/>
                      <a:r>
                        <a:rPr lang="en-US" altLang="zh-CN" sz="1600" b="1" i="0" u="none" strike="noStrike">
                          <a:solidFill>
                            <a:srgbClr val="000000"/>
                          </a:solidFill>
                          <a:effectLst/>
                          <a:latin typeface="Times New Roman"/>
                        </a:rPr>
                        <a:t>-384 </a:t>
                      </a:r>
                    </a:p>
                  </a:txBody>
                  <a:tcPr marL="3888" marR="3888" marT="3888" marB="0" anchor="b">
                    <a:lnL>
                      <a:noFill/>
                    </a:lnL>
                    <a:lnR>
                      <a:noFill/>
                    </a:lnR>
                    <a:lnT>
                      <a:noFill/>
                    </a:lnT>
                    <a:lnB>
                      <a:noFill/>
                    </a:lnB>
                    <a:solidFill>
                      <a:srgbClr val="FFFF00"/>
                    </a:solidFill>
                  </a:tcPr>
                </a:tc>
                <a:tc>
                  <a:txBody>
                    <a:bodyPr/>
                    <a:lstStyle/>
                    <a:p>
                      <a:pPr algn="r" fontAlgn="b"/>
                      <a:r>
                        <a:rPr lang="en-US" altLang="zh-CN" sz="1600" b="1" i="0" u="none" strike="noStrike">
                          <a:solidFill>
                            <a:srgbClr val="000000"/>
                          </a:solidFill>
                          <a:effectLst/>
                          <a:latin typeface="Times New Roman"/>
                        </a:rPr>
                        <a:t>-113 </a:t>
                      </a:r>
                    </a:p>
                  </a:txBody>
                  <a:tcPr marL="3888" marR="3888" marT="3888" marB="0" anchor="b">
                    <a:lnL>
                      <a:noFill/>
                    </a:lnL>
                    <a:lnR>
                      <a:noFill/>
                    </a:lnR>
                    <a:lnT>
                      <a:noFill/>
                    </a:lnT>
                    <a:lnB>
                      <a:noFill/>
                    </a:lnB>
                    <a:solidFill>
                      <a:srgbClr val="FFFF00"/>
                    </a:solidFill>
                  </a:tcPr>
                </a:tc>
                <a:tc>
                  <a:txBody>
                    <a:bodyPr/>
                    <a:lstStyle/>
                    <a:p>
                      <a:pPr algn="r" fontAlgn="b"/>
                      <a:r>
                        <a:rPr lang="en-US" altLang="zh-CN" sz="1600" b="1" i="0" u="none" strike="noStrike" dirty="0">
                          <a:solidFill>
                            <a:srgbClr val="000000"/>
                          </a:solidFill>
                          <a:effectLst/>
                          <a:latin typeface="Times New Roman"/>
                        </a:rPr>
                        <a:t>-401 </a:t>
                      </a:r>
                    </a:p>
                  </a:txBody>
                  <a:tcPr marL="3888" marR="3888" marT="3888" marB="0" anchor="b">
                    <a:lnL>
                      <a:noFill/>
                    </a:lnL>
                    <a:lnR>
                      <a:noFill/>
                    </a:lnR>
                    <a:lnT>
                      <a:noFill/>
                    </a:lnT>
                    <a:lnB>
                      <a:noFill/>
                    </a:lnB>
                    <a:solidFill>
                      <a:srgbClr val="FFFF00"/>
                    </a:solidFill>
                  </a:tcPr>
                </a:tc>
                <a:extLst>
                  <a:ext uri="{0D108BD9-81ED-4DB2-BD59-A6C34878D82A}">
                    <a16:rowId xmlns:a16="http://schemas.microsoft.com/office/drawing/2014/main" val="10023"/>
                  </a:ext>
                </a:extLst>
              </a:tr>
            </a:tbl>
          </a:graphicData>
        </a:graphic>
      </p:graphicFrame>
    </p:spTree>
    <p:extLst>
      <p:ext uri="{BB962C8B-B14F-4D97-AF65-F5344CB8AC3E}">
        <p14:creationId xmlns:p14="http://schemas.microsoft.com/office/powerpoint/2010/main" val="2433798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中国错误与遗漏项（</a:t>
            </a:r>
            <a:r>
              <a:rPr lang="en-US" altLang="zh-CN" dirty="0"/>
              <a:t>1999-2014</a:t>
            </a:r>
            <a:r>
              <a:rPr lang="zh-CN" altLang="en-US" dirty="0"/>
              <a:t>）</a:t>
            </a:r>
            <a:endParaRPr lang="zh-CN" dirty="0"/>
          </a:p>
        </p:txBody>
      </p:sp>
      <p:sp>
        <p:nvSpPr>
          <p:cNvPr id="5" name="页脚占位符 4"/>
          <p:cNvSpPr>
            <a:spLocks noGrp="1"/>
          </p:cNvSpPr>
          <p:nvPr>
            <p:ph type="ftr" sz="quarter" idx="11"/>
          </p:nvPr>
        </p:nvSpPr>
        <p:spPr>
          <a:xfrm>
            <a:off x="6343651" y="6381119"/>
            <a:ext cx="4596023" cy="222436"/>
          </a:xfrm>
        </p:spPr>
        <p:txBody>
          <a:bodyPr/>
          <a:lstStyle/>
          <a:p>
            <a:r>
              <a:rPr lang="zh-CN" altLang="en-US" dirty="0"/>
              <a:t>国际金融学      范小云</a:t>
            </a:r>
          </a:p>
        </p:txBody>
      </p:sp>
      <p:graphicFrame>
        <p:nvGraphicFramePr>
          <p:cNvPr id="1026" name="Object 3"/>
          <p:cNvGraphicFramePr>
            <a:graphicFrameLocks noChangeAspect="1"/>
          </p:cNvGraphicFramePr>
          <p:nvPr>
            <p:extLst>
              <p:ext uri="{D42A27DB-BD31-4B8C-83A1-F6EECF244321}">
                <p14:modId xmlns:p14="http://schemas.microsoft.com/office/powerpoint/2010/main" val="1227428560"/>
              </p:ext>
            </p:extLst>
          </p:nvPr>
        </p:nvGraphicFramePr>
        <p:xfrm>
          <a:off x="-244475" y="1425575"/>
          <a:ext cx="9583738" cy="3511550"/>
        </p:xfrm>
        <a:graphic>
          <a:graphicData uri="http://schemas.openxmlformats.org/presentationml/2006/ole">
            <mc:AlternateContent xmlns:mc="http://schemas.openxmlformats.org/markup-compatibility/2006">
              <mc:Choice xmlns:v="urn:schemas-microsoft-com:vml" Requires="v">
                <p:oleObj name="工作表" r:id="rId3" imgW="5492896" imgH="2012809" progId="Excel.Sheet.8">
                  <p:embed/>
                </p:oleObj>
              </mc:Choice>
              <mc:Fallback>
                <p:oleObj name="工作表" r:id="rId3" imgW="5492896" imgH="2012809" progId="Excel.Sheet.8">
                  <p:embed/>
                  <p:pic>
                    <p:nvPicPr>
                      <p:cNvPr id="0" name="Object 3"/>
                      <p:cNvPicPr>
                        <a:picLocks noChangeAspect="1" noChangeArrowheads="1"/>
                      </p:cNvPicPr>
                      <p:nvPr/>
                    </p:nvPicPr>
                    <p:blipFill>
                      <a:blip r:embed="rId4"/>
                      <a:srcRect/>
                      <a:stretch>
                        <a:fillRect/>
                      </a:stretch>
                    </p:blipFill>
                    <p:spPr bwMode="auto">
                      <a:xfrm>
                        <a:off x="-244475" y="1425575"/>
                        <a:ext cx="9583738" cy="351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Text Box 16"/>
          <p:cNvSpPr txBox="1">
            <a:spLocks noChangeArrowheads="1"/>
          </p:cNvSpPr>
          <p:nvPr/>
        </p:nvSpPr>
        <p:spPr bwMode="auto">
          <a:xfrm>
            <a:off x="457555" y="5140045"/>
            <a:ext cx="8101012" cy="1015663"/>
          </a:xfrm>
          <a:prstGeom prst="rect">
            <a:avLst/>
          </a:prstGeom>
          <a:noFill/>
          <a:ln w="9525">
            <a:noFill/>
            <a:miter lim="800000"/>
            <a:headEnd/>
            <a:tailEnd/>
          </a:ln>
        </p:spPr>
        <p:txBody>
          <a:bodyPr>
            <a:spAutoFit/>
          </a:bodyPr>
          <a:lstStyle/>
          <a:p>
            <a:pPr>
              <a:spcBef>
                <a:spcPct val="50000"/>
              </a:spcBef>
            </a:pPr>
            <a:r>
              <a:rPr lang="en-US" altLang="zh-CN" sz="2400" dirty="0">
                <a:solidFill>
                  <a:srgbClr val="0070C0"/>
                </a:solidFill>
                <a:latin typeface="黑体" pitchFamily="49" charset="-122"/>
                <a:ea typeface="黑体" pitchFamily="49" charset="-122"/>
              </a:rPr>
              <a:t>2015</a:t>
            </a:r>
            <a:r>
              <a:rPr lang="zh-CN" altLang="en-US" sz="2400" dirty="0">
                <a:solidFill>
                  <a:srgbClr val="0070C0"/>
                </a:solidFill>
                <a:latin typeface="黑体" pitchFamily="49" charset="-122"/>
                <a:ea typeface="黑体" pitchFamily="49" charset="-122"/>
              </a:rPr>
              <a:t>年、</a:t>
            </a:r>
            <a:r>
              <a:rPr lang="en-US" altLang="zh-CN" sz="2400" dirty="0">
                <a:solidFill>
                  <a:srgbClr val="0070C0"/>
                </a:solidFill>
                <a:latin typeface="黑体" pitchFamily="49" charset="-122"/>
                <a:ea typeface="黑体" pitchFamily="49" charset="-122"/>
              </a:rPr>
              <a:t>2016</a:t>
            </a:r>
            <a:r>
              <a:rPr lang="zh-CN" altLang="en-US" sz="2400" dirty="0">
                <a:solidFill>
                  <a:srgbClr val="0070C0"/>
                </a:solidFill>
                <a:latin typeface="黑体" pitchFamily="49" charset="-122"/>
                <a:ea typeface="黑体" pitchFamily="49" charset="-122"/>
              </a:rPr>
              <a:t>年、</a:t>
            </a:r>
            <a:r>
              <a:rPr lang="en-US" altLang="zh-CN" sz="2400" dirty="0">
                <a:solidFill>
                  <a:srgbClr val="0070C0"/>
                </a:solidFill>
                <a:latin typeface="黑体" pitchFamily="49" charset="-122"/>
                <a:ea typeface="黑体" pitchFamily="49" charset="-122"/>
              </a:rPr>
              <a:t>2017</a:t>
            </a:r>
            <a:r>
              <a:rPr lang="zh-CN" altLang="en-US" sz="2400" dirty="0">
                <a:solidFill>
                  <a:srgbClr val="0070C0"/>
                </a:solidFill>
                <a:latin typeface="黑体" pitchFamily="49" charset="-122"/>
                <a:ea typeface="黑体" pitchFamily="49" charset="-122"/>
              </a:rPr>
              <a:t>年、</a:t>
            </a:r>
            <a:r>
              <a:rPr lang="en-US" altLang="zh-CN" sz="2400" dirty="0">
                <a:solidFill>
                  <a:srgbClr val="0070C0"/>
                </a:solidFill>
                <a:latin typeface="黑体" pitchFamily="49" charset="-122"/>
                <a:ea typeface="黑体" pitchFamily="49" charset="-122"/>
              </a:rPr>
              <a:t>2018</a:t>
            </a:r>
            <a:r>
              <a:rPr lang="zh-CN" altLang="en-US" sz="2400" dirty="0">
                <a:solidFill>
                  <a:srgbClr val="0070C0"/>
                </a:solidFill>
                <a:latin typeface="黑体" pitchFamily="49" charset="-122"/>
                <a:ea typeface="黑体" pitchFamily="49" charset="-122"/>
              </a:rPr>
              <a:t>年</a:t>
            </a:r>
            <a:endParaRPr lang="en-US" altLang="zh-CN" sz="2400" dirty="0">
              <a:solidFill>
                <a:srgbClr val="0070C0"/>
              </a:solidFill>
              <a:latin typeface="黑体" pitchFamily="49" charset="-122"/>
              <a:ea typeface="黑体" pitchFamily="49" charset="-122"/>
            </a:endParaRPr>
          </a:p>
          <a:p>
            <a:pPr>
              <a:spcBef>
                <a:spcPct val="50000"/>
              </a:spcBef>
            </a:pPr>
            <a:r>
              <a:rPr lang="en-US" altLang="zh-CN" sz="2400" b="1" dirty="0"/>
              <a:t>-2,130</a:t>
            </a:r>
            <a:r>
              <a:rPr lang="zh-CN" altLang="en-US" sz="2400" b="1" dirty="0"/>
              <a:t>、</a:t>
            </a:r>
            <a:r>
              <a:rPr lang="en-US" altLang="zh-CN" sz="2400" b="1" dirty="0"/>
              <a:t> -2,295</a:t>
            </a:r>
            <a:r>
              <a:rPr lang="zh-CN" altLang="en-US" sz="2400" b="1" dirty="0"/>
              <a:t>、</a:t>
            </a:r>
            <a:r>
              <a:rPr lang="en-US" altLang="zh-CN" sz="2400" b="1" dirty="0"/>
              <a:t> -2,219 </a:t>
            </a:r>
            <a:r>
              <a:rPr lang="zh-CN" altLang="en-US" sz="2400" b="1" dirty="0"/>
              <a:t>、</a:t>
            </a:r>
            <a:r>
              <a:rPr lang="en-US" altLang="zh-CN" sz="2400" b="1" dirty="0"/>
              <a:t>-1602</a:t>
            </a:r>
            <a:r>
              <a:rPr lang="zh-CN" altLang="en-US" sz="2400" dirty="0">
                <a:solidFill>
                  <a:srgbClr val="0070C0"/>
                </a:solidFill>
                <a:latin typeface="黑体" pitchFamily="49" charset="-122"/>
                <a:ea typeface="黑体" pitchFamily="49" charset="-122"/>
              </a:rPr>
              <a:t>亿美元</a:t>
            </a:r>
          </a:p>
        </p:txBody>
      </p:sp>
    </p:spTree>
    <p:extLst>
      <p:ext uri="{BB962C8B-B14F-4D97-AF65-F5344CB8AC3E}">
        <p14:creationId xmlns:p14="http://schemas.microsoft.com/office/powerpoint/2010/main" val="1570363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a:t>
            </a:r>
            <a:r>
              <a:rPr lang="en-US" altLang="zh-CN" dirty="0"/>
              <a:t>	</a:t>
            </a:r>
            <a:r>
              <a:rPr lang="zh-CN" altLang="en-US" dirty="0"/>
              <a:t>国际收支平衡表</a:t>
            </a:r>
            <a:endParaRPr lang="zh-CN" dirty="0"/>
          </a:p>
        </p:txBody>
      </p:sp>
      <p:sp>
        <p:nvSpPr>
          <p:cNvPr id="3" name="内容占位符 2"/>
          <p:cNvSpPr>
            <a:spLocks noGrp="1"/>
          </p:cNvSpPr>
          <p:nvPr>
            <p:ph idx="1"/>
          </p:nvPr>
        </p:nvSpPr>
        <p:spPr/>
        <p:txBody>
          <a:bodyPr>
            <a:normAutofit/>
          </a:bodyPr>
          <a:lstStyle/>
          <a:p>
            <a:pPr marL="0" indent="0">
              <a:lnSpc>
                <a:spcPct val="110000"/>
              </a:lnSpc>
              <a:buNone/>
            </a:pPr>
            <a:r>
              <a:rPr lang="zh-CN" altLang="en-US" sz="2200" dirty="0">
                <a:latin typeface="楷体" pitchFamily="49" charset="-122"/>
                <a:ea typeface="楷体" pitchFamily="49" charset="-122"/>
              </a:rPr>
              <a:t>     </a:t>
            </a:r>
            <a:r>
              <a:rPr lang="zh-CN" altLang="en-US" sz="2200" b="1" dirty="0">
                <a:solidFill>
                  <a:schemeClr val="accent2">
                    <a:lumMod val="75000"/>
                  </a:schemeClr>
                </a:solidFill>
                <a:latin typeface="楷体" pitchFamily="49" charset="-122"/>
                <a:ea typeface="楷体" pitchFamily="49" charset="-122"/>
              </a:rPr>
              <a:t>国际上普遍采用</a:t>
            </a:r>
            <a:r>
              <a:rPr lang="en-US" altLang="zh-CN" sz="2200" b="1" dirty="0">
                <a:solidFill>
                  <a:schemeClr val="accent2">
                    <a:lumMod val="75000"/>
                  </a:schemeClr>
                </a:solidFill>
                <a:latin typeface="楷体" pitchFamily="49" charset="-122"/>
                <a:ea typeface="楷体" pitchFamily="49" charset="-122"/>
              </a:rPr>
              <a:t>IMF</a:t>
            </a:r>
            <a:r>
              <a:rPr lang="zh-CN" altLang="en-US" sz="2200" b="1" dirty="0">
                <a:solidFill>
                  <a:schemeClr val="accent2">
                    <a:lumMod val="75000"/>
                  </a:schemeClr>
                </a:solidFill>
                <a:latin typeface="楷体" pitchFamily="49" charset="-122"/>
                <a:ea typeface="楷体" pitchFamily="49" charset="-122"/>
              </a:rPr>
              <a:t>制订的标准，即误差与遗漏的绝对值不应该超过当年进出口总额的</a:t>
            </a:r>
            <a:r>
              <a:rPr lang="en-US" altLang="zh-CN" sz="2200" b="1" dirty="0">
                <a:solidFill>
                  <a:schemeClr val="accent2">
                    <a:lumMod val="75000"/>
                  </a:schemeClr>
                </a:solidFill>
                <a:latin typeface="楷体" pitchFamily="49" charset="-122"/>
                <a:ea typeface="楷体" pitchFamily="49" charset="-122"/>
              </a:rPr>
              <a:t>5</a:t>
            </a:r>
            <a:r>
              <a:rPr lang="zh-CN" altLang="en-US" sz="2200" b="1" dirty="0">
                <a:solidFill>
                  <a:schemeClr val="accent2">
                    <a:lumMod val="75000"/>
                  </a:schemeClr>
                </a:solidFill>
                <a:latin typeface="楷体" pitchFamily="49" charset="-122"/>
                <a:ea typeface="楷体" pitchFamily="49" charset="-122"/>
              </a:rPr>
              <a:t>％。</a:t>
            </a:r>
            <a:endParaRPr lang="en-US" altLang="zh-CN" sz="2200" b="1" dirty="0">
              <a:solidFill>
                <a:schemeClr val="accent2">
                  <a:lumMod val="75000"/>
                </a:schemeClr>
              </a:solidFill>
              <a:latin typeface="楷体" pitchFamily="49" charset="-122"/>
              <a:ea typeface="楷体" pitchFamily="49" charset="-122"/>
            </a:endParaRPr>
          </a:p>
          <a:p>
            <a:pPr marL="0" indent="0">
              <a:lnSpc>
                <a:spcPct val="110000"/>
              </a:lnSpc>
              <a:buNone/>
            </a:pPr>
            <a:endParaRPr lang="en-US" altLang="zh-CN" sz="2400" dirty="0"/>
          </a:p>
          <a:p>
            <a:pPr marL="0" indent="0">
              <a:lnSpc>
                <a:spcPct val="110000"/>
              </a:lnSpc>
              <a:buNone/>
            </a:pPr>
            <a:r>
              <a:rPr lang="zh-CN" altLang="en-US" sz="2400" dirty="0">
                <a:solidFill>
                  <a:srgbClr val="0070C0"/>
                </a:solidFill>
              </a:rPr>
              <a:t>错误与遗漏项借方余额的可能原因：</a:t>
            </a:r>
          </a:p>
          <a:p>
            <a:pPr marL="914400" lvl="2" indent="-457200">
              <a:lnSpc>
                <a:spcPct val="110000"/>
              </a:lnSpc>
              <a:buFont typeface="Wingdings" panose="05000000000000000000" pitchFamily="2" charset="2"/>
              <a:buChar char="ü"/>
            </a:pPr>
            <a:r>
              <a:rPr lang="zh-CN" altLang="en-US" sz="2000" dirty="0">
                <a:solidFill>
                  <a:srgbClr val="0070C0"/>
                </a:solidFill>
              </a:rPr>
              <a:t>高报低出（骗取出口退税）</a:t>
            </a:r>
          </a:p>
          <a:p>
            <a:pPr marL="914400" lvl="2" indent="-457200">
              <a:lnSpc>
                <a:spcPct val="110000"/>
              </a:lnSpc>
              <a:buFont typeface="Wingdings" panose="05000000000000000000" pitchFamily="2" charset="2"/>
              <a:buChar char="ü"/>
            </a:pPr>
            <a:r>
              <a:rPr lang="zh-CN" altLang="en-US" sz="2000" dirty="0">
                <a:solidFill>
                  <a:srgbClr val="0070C0"/>
                </a:solidFill>
              </a:rPr>
              <a:t>低报高进（逃避进口关税）</a:t>
            </a:r>
          </a:p>
          <a:p>
            <a:pPr marL="914400" lvl="2" indent="-457200">
              <a:lnSpc>
                <a:spcPct val="110000"/>
              </a:lnSpc>
              <a:buFont typeface="Wingdings" panose="05000000000000000000" pitchFamily="2" charset="2"/>
              <a:buChar char="ü"/>
            </a:pPr>
            <a:r>
              <a:rPr lang="zh-CN" altLang="en-US" sz="2000" dirty="0">
                <a:solidFill>
                  <a:srgbClr val="0070C0"/>
                </a:solidFill>
              </a:rPr>
              <a:t>外资或外债重复或假外资</a:t>
            </a:r>
          </a:p>
          <a:p>
            <a:pPr marL="914400" lvl="2" indent="-457200">
              <a:lnSpc>
                <a:spcPct val="110000"/>
              </a:lnSpc>
              <a:buFont typeface="Wingdings" panose="05000000000000000000" pitchFamily="2" charset="2"/>
              <a:buChar char="ü"/>
            </a:pPr>
            <a:r>
              <a:rPr lang="zh-CN" altLang="en-US" sz="2000" dirty="0">
                <a:solidFill>
                  <a:srgbClr val="0070C0"/>
                </a:solidFill>
              </a:rPr>
              <a:t>数据估计不准（如旅游服务进口少估）</a:t>
            </a:r>
          </a:p>
          <a:p>
            <a:pPr marL="914400" lvl="2" indent="-457200">
              <a:lnSpc>
                <a:spcPct val="110000"/>
              </a:lnSpc>
              <a:buFont typeface="Wingdings" panose="05000000000000000000" pitchFamily="2" charset="2"/>
              <a:buChar char="ü"/>
            </a:pPr>
            <a:r>
              <a:rPr lang="en-US" altLang="zh-CN" sz="2000" dirty="0">
                <a:solidFill>
                  <a:srgbClr val="0070C0"/>
                </a:solidFill>
              </a:rPr>
              <a:t>……</a:t>
            </a:r>
          </a:p>
        </p:txBody>
      </p:sp>
      <p:sp>
        <p:nvSpPr>
          <p:cNvPr id="5" name="页脚占位符 4"/>
          <p:cNvSpPr>
            <a:spLocks noGrp="1"/>
          </p:cNvSpPr>
          <p:nvPr>
            <p:ph type="ftr" sz="quarter" idx="11"/>
          </p:nvPr>
        </p:nvSpPr>
        <p:spPr/>
        <p:txBody>
          <a:bodyPr/>
          <a:lstStyle/>
          <a:p>
            <a:r>
              <a:rPr lang="zh-CN" altLang="en-US"/>
              <a:t>国际金融学 范小云</a:t>
            </a:r>
            <a:endParaRPr lang="zh-CN" altLang="en-US" dirty="0"/>
          </a:p>
        </p:txBody>
      </p:sp>
    </p:spTree>
    <p:extLst>
      <p:ext uri="{BB962C8B-B14F-4D97-AF65-F5344CB8AC3E}">
        <p14:creationId xmlns:p14="http://schemas.microsoft.com/office/powerpoint/2010/main" val="2156362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中国的外汇储备（</a:t>
            </a:r>
            <a:r>
              <a:rPr lang="en-US" altLang="zh-CN" dirty="0"/>
              <a:t>1993-2015</a:t>
            </a:r>
            <a:r>
              <a:rPr lang="zh-CN" altLang="en-US" dirty="0"/>
              <a:t>） </a:t>
            </a:r>
            <a:r>
              <a:rPr lang="zh-CN" altLang="en-US" sz="1800" dirty="0"/>
              <a:t>亿美元</a:t>
            </a:r>
          </a:p>
        </p:txBody>
      </p:sp>
      <p:sp>
        <p:nvSpPr>
          <p:cNvPr id="5" name="页脚占位符 4"/>
          <p:cNvSpPr>
            <a:spLocks noGrp="1"/>
          </p:cNvSpPr>
          <p:nvPr>
            <p:ph type="ftr" sz="quarter" idx="11"/>
          </p:nvPr>
        </p:nvSpPr>
        <p:spPr/>
        <p:txBody>
          <a:bodyPr/>
          <a:lstStyle/>
          <a:p>
            <a:r>
              <a:rPr lang="zh-CN" altLang="en-US" dirty="0"/>
              <a:t>国际金融学 范小云</a:t>
            </a:r>
          </a:p>
        </p:txBody>
      </p:sp>
      <p:graphicFrame>
        <p:nvGraphicFramePr>
          <p:cNvPr id="6" name="Chart 1"/>
          <p:cNvGraphicFramePr>
            <a:graphicFrameLocks/>
          </p:cNvGraphicFramePr>
          <p:nvPr/>
        </p:nvGraphicFramePr>
        <p:xfrm>
          <a:off x="-428692" y="1287537"/>
          <a:ext cx="9572692" cy="4286280"/>
        </p:xfrm>
        <a:graphic>
          <a:graphicData uri="http://schemas.openxmlformats.org/drawingml/2006/chart">
            <c:chart xmlns:c="http://schemas.openxmlformats.org/drawingml/2006/chart" xmlns:r="http://schemas.openxmlformats.org/officeDocument/2006/relationships" r:id="rId3"/>
          </a:graphicData>
        </a:graphic>
      </p:graphicFrame>
      <p:sp>
        <p:nvSpPr>
          <p:cNvPr id="7" name="矩形 6"/>
          <p:cNvSpPr/>
          <p:nvPr/>
        </p:nvSpPr>
        <p:spPr>
          <a:xfrm>
            <a:off x="521744" y="5238549"/>
            <a:ext cx="8170433" cy="646331"/>
          </a:xfrm>
          <a:prstGeom prst="rect">
            <a:avLst/>
          </a:prstGeom>
        </p:spPr>
        <p:txBody>
          <a:bodyPr wrap="square">
            <a:spAutoFit/>
          </a:bodyPr>
          <a:lstStyle/>
          <a:p>
            <a:pPr>
              <a:spcBef>
                <a:spcPct val="50000"/>
              </a:spcBef>
            </a:pPr>
            <a:r>
              <a:rPr lang="en-US" altLang="zh-CN" dirty="0">
                <a:solidFill>
                  <a:srgbClr val="0070C0"/>
                </a:solidFill>
                <a:latin typeface="黑体" pitchFamily="49" charset="-122"/>
                <a:ea typeface="黑体" pitchFamily="49" charset="-122"/>
              </a:rPr>
              <a:t>2014</a:t>
            </a:r>
            <a:r>
              <a:rPr lang="zh-CN" altLang="en-US" dirty="0">
                <a:solidFill>
                  <a:srgbClr val="0070C0"/>
                </a:solidFill>
                <a:latin typeface="黑体" pitchFamily="49" charset="-122"/>
                <a:ea typeface="黑体" pitchFamily="49" charset="-122"/>
              </a:rPr>
              <a:t>年</a:t>
            </a:r>
            <a:r>
              <a:rPr lang="en-US" altLang="zh-CN" dirty="0">
                <a:solidFill>
                  <a:srgbClr val="0070C0"/>
                </a:solidFill>
                <a:latin typeface="黑体" pitchFamily="49" charset="-122"/>
                <a:ea typeface="黑体" pitchFamily="49" charset="-122"/>
              </a:rPr>
              <a:t>6</a:t>
            </a:r>
            <a:r>
              <a:rPr lang="zh-CN" altLang="en-US" dirty="0">
                <a:solidFill>
                  <a:srgbClr val="0070C0"/>
                </a:solidFill>
                <a:latin typeface="黑体" pitchFamily="49" charset="-122"/>
                <a:ea typeface="黑体" pitchFamily="49" charset="-122"/>
              </a:rPr>
              <a:t>月最高达</a:t>
            </a:r>
            <a:r>
              <a:rPr lang="en-US" altLang="zh-CN" dirty="0">
                <a:solidFill>
                  <a:srgbClr val="0070C0"/>
                </a:solidFill>
                <a:latin typeface="黑体" pitchFamily="49" charset="-122"/>
                <a:ea typeface="黑体" pitchFamily="49" charset="-122"/>
              </a:rPr>
              <a:t>3.99</a:t>
            </a:r>
            <a:r>
              <a:rPr lang="zh-CN" altLang="en-US" dirty="0">
                <a:solidFill>
                  <a:srgbClr val="0070C0"/>
                </a:solidFill>
                <a:latin typeface="黑体" pitchFamily="49" charset="-122"/>
                <a:ea typeface="黑体" pitchFamily="49" charset="-122"/>
              </a:rPr>
              <a:t>万亿美元，</a:t>
            </a:r>
            <a:r>
              <a:rPr lang="en-US" altLang="zh-CN" dirty="0">
                <a:solidFill>
                  <a:srgbClr val="0070C0"/>
                </a:solidFill>
                <a:latin typeface="黑体" pitchFamily="49" charset="-122"/>
                <a:ea typeface="黑体" pitchFamily="49" charset="-122"/>
              </a:rPr>
              <a:t>2017</a:t>
            </a:r>
            <a:r>
              <a:rPr lang="zh-CN" altLang="en-US" dirty="0">
                <a:solidFill>
                  <a:srgbClr val="0070C0"/>
                </a:solidFill>
                <a:latin typeface="黑体" pitchFamily="49" charset="-122"/>
                <a:ea typeface="黑体" pitchFamily="49" charset="-122"/>
              </a:rPr>
              <a:t>年</a:t>
            </a:r>
            <a:r>
              <a:rPr lang="en-US" altLang="zh-CN" dirty="0">
                <a:solidFill>
                  <a:srgbClr val="0070C0"/>
                </a:solidFill>
                <a:latin typeface="黑体" pitchFamily="49" charset="-122"/>
                <a:ea typeface="黑体" pitchFamily="49" charset="-122"/>
              </a:rPr>
              <a:t>1</a:t>
            </a:r>
            <a:r>
              <a:rPr lang="zh-CN" altLang="en-US" dirty="0">
                <a:solidFill>
                  <a:srgbClr val="0070C0"/>
                </a:solidFill>
                <a:latin typeface="黑体" pitchFamily="49" charset="-122"/>
                <a:ea typeface="黑体" pitchFamily="49" charset="-122"/>
              </a:rPr>
              <a:t>月份降至</a:t>
            </a:r>
            <a:r>
              <a:rPr lang="en-US" altLang="zh-CN" dirty="0">
                <a:solidFill>
                  <a:srgbClr val="0070C0"/>
                </a:solidFill>
                <a:latin typeface="黑体" pitchFamily="49" charset="-122"/>
                <a:ea typeface="黑体" pitchFamily="49" charset="-122"/>
              </a:rPr>
              <a:t>2.998</a:t>
            </a:r>
            <a:r>
              <a:rPr lang="zh-CN" altLang="en-US" dirty="0">
                <a:solidFill>
                  <a:srgbClr val="0070C0"/>
                </a:solidFill>
                <a:latin typeface="黑体" pitchFamily="49" charset="-122"/>
                <a:ea typeface="黑体" pitchFamily="49" charset="-122"/>
              </a:rPr>
              <a:t>万亿美元，之后稳定在了</a:t>
            </a:r>
            <a:r>
              <a:rPr lang="en-US" altLang="zh-CN" dirty="0">
                <a:solidFill>
                  <a:srgbClr val="0070C0"/>
                </a:solidFill>
                <a:latin typeface="黑体" pitchFamily="49" charset="-122"/>
                <a:ea typeface="黑体" pitchFamily="49" charset="-122"/>
              </a:rPr>
              <a:t>3</a:t>
            </a:r>
            <a:r>
              <a:rPr lang="zh-CN" altLang="en-US" dirty="0">
                <a:solidFill>
                  <a:srgbClr val="0070C0"/>
                </a:solidFill>
                <a:latin typeface="黑体" pitchFamily="49" charset="-122"/>
                <a:ea typeface="黑体" pitchFamily="49" charset="-122"/>
              </a:rPr>
              <a:t>万亿之上，</a:t>
            </a:r>
            <a:r>
              <a:rPr lang="en-US" altLang="zh-CN" dirty="0">
                <a:solidFill>
                  <a:srgbClr val="0070C0"/>
                </a:solidFill>
                <a:latin typeface="黑体" pitchFamily="49" charset="-122"/>
                <a:ea typeface="黑体" pitchFamily="49" charset="-122"/>
              </a:rPr>
              <a:t>2020</a:t>
            </a:r>
            <a:r>
              <a:rPr lang="zh-CN" altLang="en-US" dirty="0">
                <a:solidFill>
                  <a:srgbClr val="0070C0"/>
                </a:solidFill>
                <a:latin typeface="黑体" pitchFamily="49" charset="-122"/>
                <a:ea typeface="黑体" pitchFamily="49" charset="-122"/>
              </a:rPr>
              <a:t>年</a:t>
            </a:r>
            <a:r>
              <a:rPr lang="en-US" altLang="zh-CN" dirty="0">
                <a:solidFill>
                  <a:srgbClr val="0070C0"/>
                </a:solidFill>
                <a:latin typeface="黑体" pitchFamily="49" charset="-122"/>
                <a:ea typeface="黑体" pitchFamily="49" charset="-122"/>
              </a:rPr>
              <a:t>1</a:t>
            </a:r>
            <a:r>
              <a:rPr lang="zh-CN" altLang="en-US" dirty="0">
                <a:solidFill>
                  <a:srgbClr val="0070C0"/>
                </a:solidFill>
                <a:latin typeface="黑体" pitchFamily="49" charset="-122"/>
                <a:ea typeface="黑体" pitchFamily="49" charset="-122"/>
              </a:rPr>
              <a:t>月</a:t>
            </a:r>
            <a:r>
              <a:rPr lang="en-US" altLang="zh-CN" dirty="0">
                <a:solidFill>
                  <a:srgbClr val="0070C0"/>
                </a:solidFill>
                <a:latin typeface="黑体" pitchFamily="49" charset="-122"/>
                <a:ea typeface="黑体" pitchFamily="49" charset="-122"/>
              </a:rPr>
              <a:t>31154.97</a:t>
            </a:r>
            <a:r>
              <a:rPr lang="zh-CN" altLang="en-US" dirty="0">
                <a:solidFill>
                  <a:srgbClr val="0070C0"/>
                </a:solidFill>
                <a:latin typeface="黑体" pitchFamily="49" charset="-122"/>
                <a:ea typeface="黑体" pitchFamily="49" charset="-122"/>
              </a:rPr>
              <a:t>亿美元</a:t>
            </a:r>
          </a:p>
        </p:txBody>
      </p:sp>
    </p:spTree>
    <p:extLst>
      <p:ext uri="{BB962C8B-B14F-4D97-AF65-F5344CB8AC3E}">
        <p14:creationId xmlns:p14="http://schemas.microsoft.com/office/powerpoint/2010/main" val="3815235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国际投资头寸</a:t>
            </a:r>
            <a:endParaRPr lang="zh-CN" dirty="0"/>
          </a:p>
        </p:txBody>
      </p:sp>
      <p:sp>
        <p:nvSpPr>
          <p:cNvPr id="3" name="内容占位符 2"/>
          <p:cNvSpPr>
            <a:spLocks noGrp="1"/>
          </p:cNvSpPr>
          <p:nvPr>
            <p:ph idx="1"/>
          </p:nvPr>
        </p:nvSpPr>
        <p:spPr/>
        <p:txBody>
          <a:bodyPr>
            <a:normAutofit fontScale="77500" lnSpcReduction="20000"/>
          </a:bodyPr>
          <a:lstStyle/>
          <a:p>
            <a:pPr marL="0" indent="0">
              <a:lnSpc>
                <a:spcPct val="120000"/>
              </a:lnSpc>
              <a:buNone/>
            </a:pPr>
            <a:r>
              <a:rPr lang="zh-CN" altLang="en-US" sz="2800" dirty="0">
                <a:latin typeface="楷体" pitchFamily="49" charset="-122"/>
                <a:ea typeface="楷体" pitchFamily="49" charset="-122"/>
              </a:rPr>
              <a:t>一、国际投资头寸与国际投资头寸表</a:t>
            </a:r>
          </a:p>
          <a:p>
            <a:pPr marL="0" indent="0">
              <a:lnSpc>
                <a:spcPct val="120000"/>
              </a:lnSpc>
              <a:buNone/>
            </a:pPr>
            <a:r>
              <a:rPr lang="zh-CN" altLang="en-US" sz="2800" dirty="0">
                <a:latin typeface="楷体" pitchFamily="49" charset="-122"/>
                <a:ea typeface="楷体" pitchFamily="49" charset="-122"/>
              </a:rPr>
              <a:t>    国际投资头寸表是反映在某一时间点某一经济体的居民对非居民的金融资产和负债的价值及构成的统计报表。国际投资头寸记录的是一个经济体的对外金融资产和负债存量，这两者的差额就是净国际投资头寸（</a:t>
            </a:r>
            <a:r>
              <a:rPr lang="en-US" altLang="zh-CN" sz="2800" dirty="0">
                <a:latin typeface="楷体" pitchFamily="49" charset="-122"/>
                <a:ea typeface="楷体" pitchFamily="49" charset="-122"/>
              </a:rPr>
              <a:t>Net International Investment Position, NIIP</a:t>
            </a:r>
            <a:r>
              <a:rPr lang="zh-CN" altLang="en-US" sz="2800" dirty="0">
                <a:latin typeface="楷体" pitchFamily="49" charset="-122"/>
                <a:ea typeface="楷体" pitchFamily="49" charset="-122"/>
              </a:rPr>
              <a:t>）。</a:t>
            </a:r>
          </a:p>
          <a:p>
            <a:pPr marL="0" indent="0">
              <a:lnSpc>
                <a:spcPct val="120000"/>
              </a:lnSpc>
              <a:buNone/>
            </a:pPr>
            <a:r>
              <a:rPr lang="zh-CN" altLang="en-US" sz="2800" dirty="0">
                <a:latin typeface="楷体" pitchFamily="49" charset="-122"/>
                <a:ea typeface="楷体" pitchFamily="49" charset="-122"/>
              </a:rPr>
              <a:t>    国际投资头寸按某一时点的汇率折算，而其它国际账户中的数据采用的是流量发生时的汇率。</a:t>
            </a:r>
          </a:p>
          <a:p>
            <a:pPr marL="0" indent="0">
              <a:lnSpc>
                <a:spcPct val="120000"/>
              </a:lnSpc>
              <a:buNone/>
            </a:pPr>
            <a:r>
              <a:rPr lang="zh-CN" altLang="en-US" sz="2800" dirty="0">
                <a:latin typeface="楷体" pitchFamily="49" charset="-122"/>
                <a:ea typeface="楷体" pitchFamily="49" charset="-122"/>
              </a:rPr>
              <a:t>    </a:t>
            </a:r>
            <a:r>
              <a:rPr altLang="en-US" sz="2800" dirty="0">
                <a:latin typeface="楷体" pitchFamily="49" charset="-122"/>
                <a:ea typeface="楷体" pitchFamily="49" charset="-122"/>
              </a:rPr>
              <a:t>国</a:t>
            </a:r>
            <a:r>
              <a:rPr lang="zh-CN" altLang="en-US" sz="2800" dirty="0">
                <a:latin typeface="楷体" pitchFamily="49" charset="-122"/>
                <a:ea typeface="楷体" pitchFamily="49" charset="-122"/>
              </a:rPr>
              <a:t>际账户采用市场价值计价的定值原则（</a:t>
            </a:r>
            <a:r>
              <a:rPr lang="en-US" altLang="zh-CN" sz="2800" dirty="0">
                <a:latin typeface="楷体" pitchFamily="49" charset="-122"/>
                <a:ea typeface="楷体" pitchFamily="49" charset="-122"/>
              </a:rPr>
              <a:t>Valuation Principles</a:t>
            </a:r>
            <a:r>
              <a:rPr lang="zh-CN" altLang="en-US" sz="2800" dirty="0">
                <a:latin typeface="楷体" pitchFamily="49" charset="-122"/>
                <a:ea typeface="楷体" pitchFamily="49" charset="-122"/>
              </a:rPr>
              <a:t>）。在计算国际投资头寸时，一些类型的头寸无法获得市场价格，采用可参照资产的市场价格定值。</a:t>
            </a:r>
          </a:p>
        </p:txBody>
      </p:sp>
      <p:sp>
        <p:nvSpPr>
          <p:cNvPr id="5" name="页脚占位符 4"/>
          <p:cNvSpPr>
            <a:spLocks noGrp="1"/>
          </p:cNvSpPr>
          <p:nvPr>
            <p:ph type="ftr" sz="quarter" idx="11"/>
          </p:nvPr>
        </p:nvSpPr>
        <p:spPr/>
        <p:txBody>
          <a:bodyPr/>
          <a:lstStyle/>
          <a:p>
            <a:r>
              <a:rPr lang="zh-CN" altLang="en-US"/>
              <a:t>国际金融学 范小云</a:t>
            </a:r>
            <a:endParaRPr lang="zh-CN" altLang="en-US" dirty="0"/>
          </a:p>
        </p:txBody>
      </p:sp>
    </p:spTree>
    <p:extLst>
      <p:ext uri="{BB962C8B-B14F-4D97-AF65-F5344CB8AC3E}">
        <p14:creationId xmlns:p14="http://schemas.microsoft.com/office/powerpoint/2010/main" val="2258848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国际投资头寸</a:t>
            </a:r>
            <a:endParaRPr lang="zh-CN" dirty="0"/>
          </a:p>
        </p:txBody>
      </p:sp>
      <p:sp>
        <p:nvSpPr>
          <p:cNvPr id="3" name="内容占位符 2"/>
          <p:cNvSpPr>
            <a:spLocks noGrp="1"/>
          </p:cNvSpPr>
          <p:nvPr>
            <p:ph idx="1"/>
          </p:nvPr>
        </p:nvSpPr>
        <p:spPr/>
        <p:txBody>
          <a:bodyPr>
            <a:normAutofit/>
          </a:bodyPr>
          <a:lstStyle/>
          <a:p>
            <a:pPr marL="0" indent="0">
              <a:lnSpc>
                <a:spcPct val="100000"/>
              </a:lnSpc>
              <a:buNone/>
            </a:pPr>
            <a:r>
              <a:rPr lang="zh-CN" altLang="en-US" sz="2800" dirty="0">
                <a:latin typeface="楷体" pitchFamily="49" charset="-122"/>
                <a:ea typeface="楷体" pitchFamily="49" charset="-122"/>
              </a:rPr>
              <a:t>一、国际投资头寸与国际投资头寸表		</a:t>
            </a:r>
          </a:p>
          <a:p>
            <a:pPr marL="0" indent="0">
              <a:lnSpc>
                <a:spcPct val="100000"/>
              </a:lnSpc>
              <a:buNone/>
            </a:pPr>
            <a:r>
              <a:rPr lang="zh-CN" altLang="en-US" sz="2800" dirty="0">
                <a:latin typeface="楷体" pitchFamily="49" charset="-122"/>
                <a:ea typeface="楷体" pitchFamily="49" charset="-122"/>
              </a:rPr>
              <a:t>    </a:t>
            </a:r>
            <a:r>
              <a:rPr lang="zh-CN" altLang="en-US" sz="2400" dirty="0">
                <a:latin typeface="楷体" pitchFamily="49" charset="-122"/>
                <a:ea typeface="楷体" pitchFamily="49" charset="-122"/>
              </a:rPr>
              <a:t>国际收支平衡表相当于企业的财务状况变动表，反映的是一国国际经济交易的流量变动情况；而国际投资头寸表相当于企业的资产负债表，反映的是一国的对外资产负债存量状况。 </a:t>
            </a:r>
          </a:p>
        </p:txBody>
      </p:sp>
      <p:sp>
        <p:nvSpPr>
          <p:cNvPr id="5" name="页脚占位符 4"/>
          <p:cNvSpPr>
            <a:spLocks noGrp="1"/>
          </p:cNvSpPr>
          <p:nvPr>
            <p:ph type="ftr" sz="quarter" idx="11"/>
          </p:nvPr>
        </p:nvSpPr>
        <p:spPr/>
        <p:txBody>
          <a:bodyPr/>
          <a:lstStyle/>
          <a:p>
            <a:r>
              <a:rPr lang="zh-CN" altLang="en-US"/>
              <a:t>国际金融学 范小云</a:t>
            </a:r>
            <a:endParaRPr lang="zh-CN" altLang="en-US" dirty="0"/>
          </a:p>
        </p:txBody>
      </p:sp>
    </p:spTree>
    <p:extLst>
      <p:ext uri="{BB962C8B-B14F-4D97-AF65-F5344CB8AC3E}">
        <p14:creationId xmlns:p14="http://schemas.microsoft.com/office/powerpoint/2010/main" val="3968768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国际投资头寸</a:t>
            </a:r>
            <a:endParaRPr lang="zh-CN" dirty="0"/>
          </a:p>
        </p:txBody>
      </p:sp>
      <p:sp>
        <p:nvSpPr>
          <p:cNvPr id="3" name="内容占位符 2"/>
          <p:cNvSpPr>
            <a:spLocks noGrp="1"/>
          </p:cNvSpPr>
          <p:nvPr>
            <p:ph idx="1"/>
          </p:nvPr>
        </p:nvSpPr>
        <p:spPr/>
        <p:txBody>
          <a:bodyPr>
            <a:normAutofit/>
          </a:bodyPr>
          <a:lstStyle/>
          <a:p>
            <a:pPr marL="0" indent="0">
              <a:lnSpc>
                <a:spcPct val="100000"/>
              </a:lnSpc>
              <a:buNone/>
            </a:pPr>
            <a:r>
              <a:rPr lang="zh-CN" altLang="en-US" sz="2400" dirty="0">
                <a:latin typeface="楷体" pitchFamily="49" charset="-122"/>
                <a:ea typeface="楷体" pitchFamily="49" charset="-122"/>
              </a:rPr>
              <a:t>二、国际投资头寸表的基本内容</a:t>
            </a:r>
          </a:p>
          <a:p>
            <a:pPr marL="0" indent="0">
              <a:lnSpc>
                <a:spcPct val="100000"/>
              </a:lnSpc>
              <a:buNone/>
            </a:pPr>
            <a:r>
              <a:rPr lang="zh-CN" altLang="en-US" sz="2400" dirty="0">
                <a:latin typeface="楷体" pitchFamily="49" charset="-122"/>
                <a:ea typeface="楷体" pitchFamily="49" charset="-122"/>
              </a:rPr>
              <a:t>	</a:t>
            </a:r>
          </a:p>
          <a:p>
            <a:pPr marL="0" indent="0">
              <a:lnSpc>
                <a:spcPct val="100000"/>
              </a:lnSpc>
              <a:buNone/>
            </a:pPr>
            <a:r>
              <a:rPr lang="zh-CN" altLang="en-US" sz="2400" dirty="0">
                <a:latin typeface="楷体" pitchFamily="49" charset="-122"/>
                <a:ea typeface="楷体" pitchFamily="49" charset="-122"/>
              </a:rPr>
              <a:t>    根据国际货币基金组织</a:t>
            </a:r>
            <a:r>
              <a:rPr lang="en-US" altLang="zh-CN" sz="2400" dirty="0">
                <a:latin typeface="楷体" pitchFamily="49" charset="-122"/>
                <a:ea typeface="楷体" pitchFamily="49" charset="-122"/>
              </a:rPr>
              <a:t>2009</a:t>
            </a:r>
            <a:r>
              <a:rPr lang="zh-CN" altLang="en-US" sz="2400" dirty="0">
                <a:latin typeface="楷体" pitchFamily="49" charset="-122"/>
                <a:ea typeface="楷体" pitchFamily="49" charset="-122"/>
              </a:rPr>
              <a:t>年编制的</a:t>
            </a:r>
            <a:r>
              <a:rPr lang="en-US" altLang="zh-CN" sz="2400" dirty="0">
                <a:latin typeface="楷体" pitchFamily="49" charset="-122"/>
                <a:ea typeface="楷体" pitchFamily="49" charset="-122"/>
              </a:rPr>
              <a:t>《</a:t>
            </a:r>
            <a:r>
              <a:rPr lang="zh-CN" altLang="en-US" sz="2400" dirty="0">
                <a:latin typeface="楷体" pitchFamily="49" charset="-122"/>
                <a:ea typeface="楷体" pitchFamily="49" charset="-122"/>
              </a:rPr>
              <a:t>国际收支与国际投资头寸手册（第六版）</a:t>
            </a:r>
            <a:r>
              <a:rPr lang="en-US" altLang="zh-CN" sz="2400" dirty="0">
                <a:latin typeface="楷体" pitchFamily="49" charset="-122"/>
                <a:ea typeface="楷体" pitchFamily="49" charset="-122"/>
              </a:rPr>
              <a:t>》</a:t>
            </a:r>
            <a:r>
              <a:rPr lang="zh-CN" altLang="en-US" sz="2400" dirty="0">
                <a:latin typeface="楷体" pitchFamily="49" charset="-122"/>
                <a:ea typeface="楷体" pitchFamily="49" charset="-122"/>
              </a:rPr>
              <a:t>，国际投资头寸表的项目分为资产和负债两大类，并按职能对这两者进行进一步的分类。 </a:t>
            </a:r>
          </a:p>
          <a:p>
            <a:pPr marL="0" indent="0">
              <a:lnSpc>
                <a:spcPct val="100000"/>
              </a:lnSpc>
              <a:buNone/>
            </a:pPr>
            <a:r>
              <a:rPr lang="zh-CN" altLang="en-US" sz="2800" dirty="0"/>
              <a:t>	</a:t>
            </a:r>
          </a:p>
        </p:txBody>
      </p:sp>
      <p:sp>
        <p:nvSpPr>
          <p:cNvPr id="5" name="页脚占位符 4"/>
          <p:cNvSpPr>
            <a:spLocks noGrp="1"/>
          </p:cNvSpPr>
          <p:nvPr>
            <p:ph type="ftr" sz="quarter" idx="11"/>
          </p:nvPr>
        </p:nvSpPr>
        <p:spPr/>
        <p:txBody>
          <a:bodyPr/>
          <a:lstStyle/>
          <a:p>
            <a:r>
              <a:rPr lang="zh-CN" altLang="en-US"/>
              <a:t>国际金融学 范小云</a:t>
            </a:r>
            <a:endParaRPr lang="zh-CN" altLang="en-US" dirty="0"/>
          </a:p>
        </p:txBody>
      </p:sp>
    </p:spTree>
    <p:extLst>
      <p:ext uri="{BB962C8B-B14F-4D97-AF65-F5344CB8AC3E}">
        <p14:creationId xmlns:p14="http://schemas.microsoft.com/office/powerpoint/2010/main" val="3150372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1" y="-100013"/>
            <a:ext cx="9144000" cy="584201"/>
          </a:xfrm>
        </p:spPr>
        <p:txBody>
          <a:bodyPr>
            <a:noAutofit/>
          </a:bodyPr>
          <a:lstStyle/>
          <a:p>
            <a:pPr algn="ctr">
              <a:spcBef>
                <a:spcPct val="50000"/>
              </a:spcBef>
            </a:pPr>
            <a:r>
              <a:rPr lang="zh-CN" altLang="en-US" sz="2800" dirty="0"/>
              <a:t>国际投资头寸标准格式简表</a:t>
            </a:r>
          </a:p>
        </p:txBody>
      </p:sp>
      <p:graphicFrame>
        <p:nvGraphicFramePr>
          <p:cNvPr id="5" name="Group 782"/>
          <p:cNvGraphicFramePr>
            <a:graphicFrameLocks noGrp="1"/>
          </p:cNvGraphicFramePr>
          <p:nvPr>
            <p:extLst>
              <p:ext uri="{D42A27DB-BD31-4B8C-83A1-F6EECF244321}">
                <p14:modId xmlns:p14="http://schemas.microsoft.com/office/powerpoint/2010/main" val="3636099009"/>
              </p:ext>
            </p:extLst>
          </p:nvPr>
        </p:nvGraphicFramePr>
        <p:xfrm>
          <a:off x="206219" y="496674"/>
          <a:ext cx="8714755" cy="6260967"/>
        </p:xfrm>
        <a:graphic>
          <a:graphicData uri="http://schemas.openxmlformats.org/drawingml/2006/table">
            <a:tbl>
              <a:tblPr/>
              <a:tblGrid>
                <a:gridCol w="3696708">
                  <a:extLst>
                    <a:ext uri="{9D8B030D-6E8A-4147-A177-3AD203B41FA5}">
                      <a16:colId xmlns:a16="http://schemas.microsoft.com/office/drawing/2014/main" val="20000"/>
                    </a:ext>
                  </a:extLst>
                </a:gridCol>
                <a:gridCol w="2237458">
                  <a:extLst>
                    <a:ext uri="{9D8B030D-6E8A-4147-A177-3AD203B41FA5}">
                      <a16:colId xmlns:a16="http://schemas.microsoft.com/office/drawing/2014/main" val="20001"/>
                    </a:ext>
                  </a:extLst>
                </a:gridCol>
                <a:gridCol w="2780589">
                  <a:extLst>
                    <a:ext uri="{9D8B030D-6E8A-4147-A177-3AD203B41FA5}">
                      <a16:colId xmlns:a16="http://schemas.microsoft.com/office/drawing/2014/main" val="20002"/>
                    </a:ext>
                  </a:extLst>
                </a:gridCol>
              </a:tblGrid>
              <a:tr h="1243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资  产</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负  债</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014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净投资头寸</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880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楷体" pitchFamily="49" charset="-122"/>
                          <a:ea typeface="楷体" pitchFamily="49" charset="-122"/>
                        </a:rPr>
                        <a:t>1.</a:t>
                      </a:r>
                      <a:r>
                        <a:rPr kumimoji="0" lang="zh-CN" altLang="en-US" sz="1800" b="1" i="0" u="none" strike="noStrike" cap="none" normalizeH="0" baseline="0" dirty="0">
                          <a:ln>
                            <a:noFill/>
                          </a:ln>
                          <a:solidFill>
                            <a:schemeClr val="tx1"/>
                          </a:solidFill>
                          <a:effectLst/>
                          <a:latin typeface="楷体" pitchFamily="49" charset="-122"/>
                          <a:ea typeface="楷体" pitchFamily="49" charset="-122"/>
                        </a:rPr>
                        <a:t>对外直接投资</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rowSpan="10">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（本国对外国投资或本国持有外国资产）</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10">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（外国对本国投资或外国持有本国资产）</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014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楷体" pitchFamily="49" charset="-122"/>
                          <a:ea typeface="楷体" pitchFamily="49" charset="-122"/>
                        </a:rPr>
                        <a:t>2.</a:t>
                      </a:r>
                      <a:r>
                        <a:rPr kumimoji="0" lang="zh-CN" altLang="en-US" sz="1800" b="1" i="0" u="none" strike="noStrike" cap="none" normalizeH="0" baseline="0" dirty="0">
                          <a:ln>
                            <a:noFill/>
                          </a:ln>
                          <a:solidFill>
                            <a:schemeClr val="tx1"/>
                          </a:solidFill>
                          <a:effectLst/>
                          <a:latin typeface="楷体" pitchFamily="49" charset="-122"/>
                          <a:ea typeface="楷体" pitchFamily="49" charset="-122"/>
                        </a:rPr>
                        <a:t>证券投资</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Arial"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Arial"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014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楷体" pitchFamily="49" charset="-122"/>
                          <a:ea typeface="楷体" pitchFamily="49" charset="-122"/>
                        </a:rPr>
                        <a:t>    2.1.</a:t>
                      </a:r>
                      <a:r>
                        <a:rPr kumimoji="0" lang="zh-CN" altLang="en-US" sz="1800" b="1" i="0" u="none" strike="noStrike" cap="none" normalizeH="0" baseline="0" dirty="0">
                          <a:ln>
                            <a:noFill/>
                          </a:ln>
                          <a:solidFill>
                            <a:schemeClr val="tx1"/>
                          </a:solidFill>
                          <a:effectLst/>
                          <a:latin typeface="楷体" pitchFamily="49" charset="-122"/>
                          <a:ea typeface="楷体" pitchFamily="49" charset="-122"/>
                        </a:rPr>
                        <a:t>股本证券</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4"/>
                  </a:ext>
                </a:extLst>
              </a:tr>
              <a:tr h="35014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楷体" pitchFamily="49" charset="-122"/>
                          <a:ea typeface="楷体" pitchFamily="49" charset="-122"/>
                        </a:rPr>
                        <a:t>    2.2.</a:t>
                      </a:r>
                      <a:r>
                        <a:rPr kumimoji="0" lang="zh-CN" altLang="en-US" sz="1800" b="1" i="0" u="none" strike="noStrike" cap="none" normalizeH="0" baseline="0" dirty="0">
                          <a:ln>
                            <a:noFill/>
                          </a:ln>
                          <a:solidFill>
                            <a:schemeClr val="tx1"/>
                          </a:solidFill>
                          <a:effectLst/>
                          <a:latin typeface="楷体" pitchFamily="49" charset="-122"/>
                          <a:ea typeface="楷体" pitchFamily="49" charset="-122"/>
                        </a:rPr>
                        <a:t>债务证券</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5"/>
                  </a:ext>
                </a:extLst>
              </a:tr>
              <a:tr h="35014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楷体" pitchFamily="49" charset="-122"/>
                          <a:ea typeface="楷体" pitchFamily="49" charset="-122"/>
                        </a:rPr>
                        <a:t>3.</a:t>
                      </a:r>
                      <a:r>
                        <a:rPr kumimoji="0" lang="zh-CN" altLang="en-US" sz="1800" b="1" i="0" u="none" strike="noStrike" cap="none" normalizeH="0" baseline="0" dirty="0">
                          <a:ln>
                            <a:noFill/>
                          </a:ln>
                          <a:solidFill>
                            <a:schemeClr val="tx1"/>
                          </a:solidFill>
                          <a:effectLst/>
                          <a:latin typeface="楷体" pitchFamily="49" charset="-122"/>
                          <a:ea typeface="楷体" pitchFamily="49" charset="-122"/>
                        </a:rPr>
                        <a:t>金融衍生产品及雇员股票期权</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014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楷体" pitchFamily="49" charset="-122"/>
                          <a:ea typeface="楷体" pitchFamily="49" charset="-122"/>
                        </a:rPr>
                        <a:t>4.</a:t>
                      </a:r>
                      <a:r>
                        <a:rPr kumimoji="0" lang="zh-CN" altLang="en-US" sz="1800" b="1" i="0" u="none" strike="noStrike" cap="none" normalizeH="0" baseline="0" dirty="0">
                          <a:ln>
                            <a:noFill/>
                          </a:ln>
                          <a:solidFill>
                            <a:schemeClr val="tx1"/>
                          </a:solidFill>
                          <a:effectLst/>
                          <a:latin typeface="楷体" pitchFamily="49" charset="-122"/>
                          <a:ea typeface="楷体" pitchFamily="49" charset="-122"/>
                        </a:rPr>
                        <a:t>其它投资</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5014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楷体" pitchFamily="49" charset="-122"/>
                          <a:ea typeface="楷体" pitchFamily="49" charset="-122"/>
                        </a:rPr>
                        <a:t>    4.1.</a:t>
                      </a:r>
                      <a:r>
                        <a:rPr kumimoji="0" lang="zh-CN" altLang="en-US" sz="1800" b="1" i="0" u="none" strike="noStrike" cap="none" normalizeH="0" baseline="0" dirty="0">
                          <a:ln>
                            <a:noFill/>
                          </a:ln>
                          <a:solidFill>
                            <a:schemeClr val="tx1"/>
                          </a:solidFill>
                          <a:effectLst/>
                          <a:latin typeface="楷体" pitchFamily="49" charset="-122"/>
                          <a:ea typeface="楷体" pitchFamily="49" charset="-122"/>
                        </a:rPr>
                        <a:t>贸易信贷</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5014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楷体" pitchFamily="49" charset="-122"/>
                          <a:ea typeface="楷体" pitchFamily="49" charset="-122"/>
                        </a:rPr>
                        <a:t>    4.2.</a:t>
                      </a:r>
                      <a:r>
                        <a:rPr kumimoji="0" lang="zh-CN" altLang="en-US" sz="1800" b="1" i="0" u="none" strike="noStrike" cap="none" normalizeH="0" baseline="0" dirty="0">
                          <a:ln>
                            <a:noFill/>
                          </a:ln>
                          <a:solidFill>
                            <a:schemeClr val="tx1"/>
                          </a:solidFill>
                          <a:effectLst/>
                          <a:latin typeface="楷体" pitchFamily="49" charset="-122"/>
                          <a:ea typeface="楷体" pitchFamily="49" charset="-122"/>
                        </a:rPr>
                        <a:t>贷款</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5014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楷体" pitchFamily="49" charset="-122"/>
                          <a:ea typeface="楷体" pitchFamily="49" charset="-122"/>
                        </a:rPr>
                        <a:t>    4.3.</a:t>
                      </a:r>
                      <a:r>
                        <a:rPr kumimoji="0" lang="zh-CN" altLang="en-US" sz="1800" b="1" i="0" u="none" strike="noStrike" cap="none" normalizeH="0" baseline="0" dirty="0">
                          <a:ln>
                            <a:noFill/>
                          </a:ln>
                          <a:solidFill>
                            <a:schemeClr val="tx1"/>
                          </a:solidFill>
                          <a:effectLst/>
                          <a:latin typeface="楷体" pitchFamily="49" charset="-122"/>
                          <a:ea typeface="楷体" pitchFamily="49" charset="-122"/>
                        </a:rPr>
                        <a:t>货币与存款</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5014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楷体" pitchFamily="49" charset="-122"/>
                          <a:ea typeface="楷体" pitchFamily="49" charset="-122"/>
                        </a:rPr>
                        <a:t>    4.4.</a:t>
                      </a:r>
                      <a:r>
                        <a:rPr kumimoji="0" lang="zh-CN" altLang="en-US" sz="1800" b="1" i="0" u="none" strike="noStrike" cap="none" normalizeH="0" baseline="0" dirty="0">
                          <a:ln>
                            <a:noFill/>
                          </a:ln>
                          <a:solidFill>
                            <a:schemeClr val="tx1"/>
                          </a:solidFill>
                          <a:effectLst/>
                          <a:latin typeface="楷体" pitchFamily="49" charset="-122"/>
                          <a:ea typeface="楷体" pitchFamily="49" charset="-122"/>
                        </a:rPr>
                        <a:t>其它资产</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5014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楷体" pitchFamily="49" charset="-122"/>
                          <a:ea typeface="楷体" pitchFamily="49" charset="-122"/>
                        </a:rPr>
                        <a:t>5.</a:t>
                      </a:r>
                      <a:r>
                        <a:rPr kumimoji="0" lang="zh-CN" altLang="en-US" sz="1800" b="1" i="0" u="none" strike="noStrike" cap="none" normalizeH="0" baseline="0" dirty="0">
                          <a:ln>
                            <a:noFill/>
                          </a:ln>
                          <a:solidFill>
                            <a:schemeClr val="tx1"/>
                          </a:solidFill>
                          <a:effectLst/>
                          <a:latin typeface="楷体" pitchFamily="49" charset="-122"/>
                          <a:ea typeface="楷体" pitchFamily="49" charset="-122"/>
                        </a:rPr>
                        <a:t>储备资产</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rowSpan="5">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（本国持有的储备资产）</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5">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5014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楷体" pitchFamily="49" charset="-122"/>
                          <a:ea typeface="楷体" pitchFamily="49" charset="-122"/>
                        </a:rPr>
                        <a:t>    5.1.</a:t>
                      </a:r>
                      <a:r>
                        <a:rPr kumimoji="0" lang="zh-CN" altLang="en-US" sz="1800" b="1" i="0" u="none" strike="noStrike" cap="none" normalizeH="0" baseline="0" dirty="0">
                          <a:ln>
                            <a:noFill/>
                          </a:ln>
                          <a:solidFill>
                            <a:schemeClr val="tx1"/>
                          </a:solidFill>
                          <a:effectLst/>
                          <a:latin typeface="楷体" pitchFamily="49" charset="-122"/>
                          <a:ea typeface="楷体" pitchFamily="49" charset="-122"/>
                        </a:rPr>
                        <a:t>货币黄金</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13"/>
                  </a:ext>
                </a:extLst>
              </a:tr>
              <a:tr h="35014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楷体" pitchFamily="49" charset="-122"/>
                          <a:ea typeface="楷体" pitchFamily="49" charset="-122"/>
                        </a:rPr>
                        <a:t>    5.2.</a:t>
                      </a:r>
                      <a:r>
                        <a:rPr kumimoji="0" lang="zh-CN" altLang="en-US" sz="1800" b="1" i="0" u="none" strike="noStrike" cap="none" normalizeH="0" baseline="0" dirty="0">
                          <a:ln>
                            <a:noFill/>
                          </a:ln>
                          <a:solidFill>
                            <a:schemeClr val="tx1"/>
                          </a:solidFill>
                          <a:effectLst/>
                          <a:latin typeface="楷体" pitchFamily="49" charset="-122"/>
                          <a:ea typeface="楷体" pitchFamily="49" charset="-122"/>
                        </a:rPr>
                        <a:t>特别提款权</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14"/>
                  </a:ext>
                </a:extLst>
              </a:tr>
              <a:tr h="35014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楷体" pitchFamily="49" charset="-122"/>
                          <a:ea typeface="楷体" pitchFamily="49" charset="-122"/>
                        </a:rPr>
                        <a:t>    5.3.</a:t>
                      </a:r>
                      <a:r>
                        <a:rPr kumimoji="0" lang="zh-CN" altLang="en-US" sz="1800" b="1" i="0" u="none" strike="noStrike" cap="none" normalizeH="0" baseline="0" dirty="0">
                          <a:ln>
                            <a:noFill/>
                          </a:ln>
                          <a:solidFill>
                            <a:schemeClr val="tx1"/>
                          </a:solidFill>
                          <a:effectLst/>
                          <a:latin typeface="楷体" pitchFamily="49" charset="-122"/>
                          <a:ea typeface="楷体" pitchFamily="49" charset="-122"/>
                        </a:rPr>
                        <a:t>在</a:t>
                      </a:r>
                      <a:r>
                        <a:rPr kumimoji="0" lang="en-US" altLang="zh-CN" sz="1800" b="1" i="0" u="none" strike="noStrike" cap="none" normalizeH="0" baseline="0" dirty="0">
                          <a:ln>
                            <a:noFill/>
                          </a:ln>
                          <a:solidFill>
                            <a:schemeClr val="tx1"/>
                          </a:solidFill>
                          <a:effectLst/>
                          <a:latin typeface="楷体" pitchFamily="49" charset="-122"/>
                          <a:ea typeface="楷体" pitchFamily="49" charset="-122"/>
                        </a:rPr>
                        <a:t>IMF</a:t>
                      </a:r>
                      <a:r>
                        <a:rPr kumimoji="0" lang="zh-CN" altLang="en-US" sz="1800" b="1" i="0" u="none" strike="noStrike" cap="none" normalizeH="0" baseline="0" dirty="0">
                          <a:ln>
                            <a:noFill/>
                          </a:ln>
                          <a:solidFill>
                            <a:schemeClr val="tx1"/>
                          </a:solidFill>
                          <a:effectLst/>
                          <a:latin typeface="楷体" pitchFamily="49" charset="-122"/>
                          <a:ea typeface="楷体" pitchFamily="49" charset="-122"/>
                        </a:rPr>
                        <a:t>中的储备头寸</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15"/>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楷体" pitchFamily="49" charset="-122"/>
                          <a:ea typeface="楷体" pitchFamily="49" charset="-122"/>
                        </a:rPr>
                        <a:t>    5.4.</a:t>
                      </a:r>
                      <a:r>
                        <a:rPr kumimoji="0" lang="zh-CN" altLang="en-US" sz="1800" b="1" i="0" u="none" strike="noStrike" cap="none" normalizeH="0" baseline="0" dirty="0">
                          <a:ln>
                            <a:noFill/>
                          </a:ln>
                          <a:solidFill>
                            <a:schemeClr val="tx1"/>
                          </a:solidFill>
                          <a:effectLst/>
                          <a:latin typeface="楷体" pitchFamily="49" charset="-122"/>
                          <a:ea typeface="楷体" pitchFamily="49" charset="-122"/>
                        </a:rPr>
                        <a:t>外汇及其它储备资产</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2932016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国际投资头寸</a:t>
            </a:r>
            <a:endParaRPr lang="zh-CN" dirty="0"/>
          </a:p>
        </p:txBody>
      </p:sp>
      <p:sp>
        <p:nvSpPr>
          <p:cNvPr id="3" name="内容占位符 2"/>
          <p:cNvSpPr>
            <a:spLocks noGrp="1"/>
          </p:cNvSpPr>
          <p:nvPr>
            <p:ph idx="1"/>
          </p:nvPr>
        </p:nvSpPr>
        <p:spPr/>
        <p:txBody>
          <a:bodyPr>
            <a:normAutofit/>
          </a:bodyPr>
          <a:lstStyle/>
          <a:p>
            <a:pPr marL="0" indent="0">
              <a:lnSpc>
                <a:spcPct val="100000"/>
              </a:lnSpc>
              <a:buNone/>
            </a:pPr>
            <a:r>
              <a:rPr lang="zh-CN" altLang="en-US" sz="2400" dirty="0">
                <a:latin typeface="楷体" pitchFamily="49" charset="-122"/>
                <a:ea typeface="楷体" pitchFamily="49" charset="-122"/>
              </a:rPr>
              <a:t>三、国际投资头寸的变动与其它国际账户的联系</a:t>
            </a:r>
            <a:endParaRPr lang="en-US" altLang="zh-CN" sz="2400" dirty="0">
              <a:latin typeface="楷体" pitchFamily="49" charset="-122"/>
              <a:ea typeface="楷体" pitchFamily="49" charset="-122"/>
            </a:endParaRPr>
          </a:p>
          <a:p>
            <a:pPr marL="0" indent="0">
              <a:lnSpc>
                <a:spcPct val="100000"/>
              </a:lnSpc>
              <a:buNone/>
            </a:pPr>
            <a:endParaRPr lang="zh-CN" altLang="en-US" sz="2400" dirty="0">
              <a:latin typeface="楷体" pitchFamily="49" charset="-122"/>
              <a:ea typeface="楷体" pitchFamily="49" charset="-122"/>
            </a:endParaRPr>
          </a:p>
          <a:p>
            <a:pPr marL="0" indent="0">
              <a:lnSpc>
                <a:spcPct val="100000"/>
              </a:lnSpc>
              <a:buNone/>
            </a:pPr>
            <a:r>
              <a:rPr lang="zh-CN" altLang="en-US" sz="2400" dirty="0">
                <a:latin typeface="楷体" pitchFamily="49" charset="-122"/>
                <a:ea typeface="楷体" pitchFamily="49" charset="-122"/>
              </a:rPr>
              <a:t>      国际投资头寸的期末值等于期初值、本期交易（等于国际收支的金融账户）、本期金融资产和负债的其它变化（其它数量变化、汇率变化、价格变化）之和。</a:t>
            </a:r>
          </a:p>
        </p:txBody>
      </p:sp>
      <p:sp>
        <p:nvSpPr>
          <p:cNvPr id="5" name="页脚占位符 4"/>
          <p:cNvSpPr>
            <a:spLocks noGrp="1"/>
          </p:cNvSpPr>
          <p:nvPr>
            <p:ph type="ftr" sz="quarter" idx="11"/>
          </p:nvPr>
        </p:nvSpPr>
        <p:spPr/>
        <p:txBody>
          <a:bodyPr/>
          <a:lstStyle/>
          <a:p>
            <a:r>
              <a:rPr lang="zh-CN" altLang="en-US"/>
              <a:t>国际金融学 范小云</a:t>
            </a:r>
            <a:endParaRPr lang="zh-CN" altLang="en-US" dirty="0"/>
          </a:p>
        </p:txBody>
      </p:sp>
    </p:spTree>
    <p:extLst>
      <p:ext uri="{BB962C8B-B14F-4D97-AF65-F5344CB8AC3E}">
        <p14:creationId xmlns:p14="http://schemas.microsoft.com/office/powerpoint/2010/main" val="3426310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1" y="-100013"/>
            <a:ext cx="9144000" cy="584201"/>
          </a:xfrm>
        </p:spPr>
        <p:txBody>
          <a:bodyPr>
            <a:noAutofit/>
          </a:bodyPr>
          <a:lstStyle/>
          <a:p>
            <a:pPr algn="ctr">
              <a:spcBef>
                <a:spcPct val="50000"/>
              </a:spcBef>
            </a:pPr>
            <a:r>
              <a:rPr lang="zh-CN" altLang="en-US" sz="2800" dirty="0"/>
              <a:t>国际投资头寸的变动</a:t>
            </a:r>
          </a:p>
        </p:txBody>
      </p:sp>
      <p:graphicFrame>
        <p:nvGraphicFramePr>
          <p:cNvPr id="4" name="Group 763"/>
          <p:cNvGraphicFramePr>
            <a:graphicFrameLocks noGrp="1"/>
          </p:cNvGraphicFramePr>
          <p:nvPr>
            <p:extLst>
              <p:ext uri="{D42A27DB-BD31-4B8C-83A1-F6EECF244321}">
                <p14:modId xmlns:p14="http://schemas.microsoft.com/office/powerpoint/2010/main" val="2542266003"/>
              </p:ext>
            </p:extLst>
          </p:nvPr>
        </p:nvGraphicFramePr>
        <p:xfrm>
          <a:off x="212841" y="450735"/>
          <a:ext cx="8713787" cy="6431280"/>
        </p:xfrm>
        <a:graphic>
          <a:graphicData uri="http://schemas.openxmlformats.org/drawingml/2006/table">
            <a:tbl>
              <a:tblPr/>
              <a:tblGrid>
                <a:gridCol w="2100262">
                  <a:extLst>
                    <a:ext uri="{9D8B030D-6E8A-4147-A177-3AD203B41FA5}">
                      <a16:colId xmlns:a16="http://schemas.microsoft.com/office/drawing/2014/main" val="20000"/>
                    </a:ext>
                  </a:extLst>
                </a:gridCol>
                <a:gridCol w="839788">
                  <a:extLst>
                    <a:ext uri="{9D8B030D-6E8A-4147-A177-3AD203B41FA5}">
                      <a16:colId xmlns:a16="http://schemas.microsoft.com/office/drawing/2014/main" val="20001"/>
                    </a:ext>
                  </a:extLst>
                </a:gridCol>
                <a:gridCol w="1609725">
                  <a:extLst>
                    <a:ext uri="{9D8B030D-6E8A-4147-A177-3AD203B41FA5}">
                      <a16:colId xmlns:a16="http://schemas.microsoft.com/office/drawing/2014/main" val="20002"/>
                    </a:ext>
                  </a:extLst>
                </a:gridCol>
                <a:gridCol w="1163637">
                  <a:extLst>
                    <a:ext uri="{9D8B030D-6E8A-4147-A177-3AD203B41FA5}">
                      <a16:colId xmlns:a16="http://schemas.microsoft.com/office/drawing/2014/main" val="20003"/>
                    </a:ext>
                  </a:extLst>
                </a:gridCol>
                <a:gridCol w="935038">
                  <a:extLst>
                    <a:ext uri="{9D8B030D-6E8A-4147-A177-3AD203B41FA5}">
                      <a16:colId xmlns:a16="http://schemas.microsoft.com/office/drawing/2014/main" val="20004"/>
                    </a:ext>
                  </a:extLst>
                </a:gridCol>
                <a:gridCol w="981075">
                  <a:extLst>
                    <a:ext uri="{9D8B030D-6E8A-4147-A177-3AD203B41FA5}">
                      <a16:colId xmlns:a16="http://schemas.microsoft.com/office/drawing/2014/main" val="20005"/>
                    </a:ext>
                  </a:extLst>
                </a:gridCol>
                <a:gridCol w="1084262">
                  <a:extLst>
                    <a:ext uri="{9D8B030D-6E8A-4147-A177-3AD203B41FA5}">
                      <a16:colId xmlns:a16="http://schemas.microsoft.com/office/drawing/2014/main" val="20006"/>
                    </a:ext>
                  </a:extLst>
                </a:gridCol>
              </a:tblGrid>
              <a:tr h="294056">
                <a:tc rowSpan="3">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6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期初国际投资头寸</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由下述原因造成的变化</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rowSpan="3">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期末国际投资头寸</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94056">
                <a:tc vMerge="1">
                  <a:txBody>
                    <a:bodyPr/>
                    <a:lstStyle/>
                    <a:p>
                      <a:endParaRPr lang="zh-CN" altLang="en-US"/>
                    </a:p>
                  </a:txBody>
                  <a:tcPr/>
                </a:tc>
                <a:tc vMerge="1">
                  <a:txBody>
                    <a:bodyPr/>
                    <a:lstStyle/>
                    <a:p>
                      <a:endParaRPr lang="zh-CN" altLang="en-US"/>
                    </a:p>
                  </a:txBody>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交易</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金融资产和负债的其它变化账户</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1"/>
                  </a:ext>
                </a:extLst>
              </a:tr>
              <a:tr h="526293">
                <a:tc vMerge="1">
                  <a:txBody>
                    <a:bodyPr/>
                    <a:lstStyle/>
                    <a:p>
                      <a:endParaRPr lang="zh-CN" altLang="en-US"/>
                    </a:p>
                  </a:txBody>
                  <a:tcPr/>
                </a:tc>
                <a:tc vMerge="1">
                  <a:txBody>
                    <a:bodyPr/>
                    <a:lstStyle/>
                    <a:p>
                      <a:endParaRPr lang="zh-CN" altLang="en-US"/>
                    </a:p>
                  </a:txBody>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国际收支的金融账户</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其它数量变化</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汇率变化</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其它价格变化</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2"/>
                  </a:ext>
                </a:extLst>
              </a:tr>
              <a:tr h="316054">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a:t>
                      </a:r>
                      <a:r>
                        <a:rPr kumimoji="0" lang="zh-CN" altLang="en-US"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．资产</a:t>
                      </a:r>
                      <a:endPar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94056">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对外直接投资</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78</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75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10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163</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94056">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2.</a:t>
                      </a: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证券投资</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190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10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20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220</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07914">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3.</a:t>
                      </a: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金融衍生产品及雇员股票期权</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7</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7</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94056">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4.</a:t>
                      </a: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其它投资</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166</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         100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266</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94056">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5.</a:t>
                      </a: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储备资产</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833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-15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838</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94056">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资产总额</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1274</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        160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30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30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1494</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94056">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B</a:t>
                      </a:r>
                      <a:r>
                        <a:rPr kumimoji="0" lang="zh-CN" altLang="en-US"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．负债</a:t>
                      </a:r>
                      <a:endPar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94056">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对外直接投资</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210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          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210</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94056">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2.</a:t>
                      </a: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证券投资</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300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          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300</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507914">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3.</a:t>
                      </a: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金融衍生产品及雇员股票期权</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          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94056">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4.</a:t>
                      </a: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其它投资</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295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30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330</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94056">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负债总额</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805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          30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840</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94056">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净国际投资头寸</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469</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          130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25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30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654</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94328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72123" y="6131859"/>
            <a:ext cx="8832028" cy="1613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907153" y="0"/>
            <a:ext cx="8351570" cy="655156"/>
          </a:xfrm>
        </p:spPr>
        <p:txBody>
          <a:bodyPr>
            <a:noAutofit/>
          </a:bodyPr>
          <a:lstStyle/>
          <a:p>
            <a:pPr algn="ctr"/>
            <a:r>
              <a:rPr lang="zh-CN" altLang="en-US" sz="2400" dirty="0"/>
              <a:t>中国国际投资头寸表                    </a:t>
            </a:r>
            <a:r>
              <a:rPr lang="zh-CN" altLang="en-US" sz="2000" b="0" dirty="0">
                <a:solidFill>
                  <a:schemeClr val="tx1"/>
                </a:solidFill>
              </a:rPr>
              <a:t>单位：亿美元</a:t>
            </a:r>
          </a:p>
        </p:txBody>
      </p:sp>
      <p:graphicFrame>
        <p:nvGraphicFramePr>
          <p:cNvPr id="6" name="Group 1486"/>
          <p:cNvGraphicFramePr>
            <a:graphicFrameLocks noGrp="1"/>
          </p:cNvGraphicFramePr>
          <p:nvPr>
            <p:extLst>
              <p:ext uri="{D42A27DB-BD31-4B8C-83A1-F6EECF244321}">
                <p14:modId xmlns:p14="http://schemas.microsoft.com/office/powerpoint/2010/main" val="3231423698"/>
              </p:ext>
            </p:extLst>
          </p:nvPr>
        </p:nvGraphicFramePr>
        <p:xfrm>
          <a:off x="0" y="759755"/>
          <a:ext cx="9027268" cy="5886824"/>
        </p:xfrm>
        <a:graphic>
          <a:graphicData uri="http://schemas.openxmlformats.org/drawingml/2006/table">
            <a:tbl>
              <a:tblPr/>
              <a:tblGrid>
                <a:gridCol w="2019806">
                  <a:extLst>
                    <a:ext uri="{9D8B030D-6E8A-4147-A177-3AD203B41FA5}">
                      <a16:colId xmlns:a16="http://schemas.microsoft.com/office/drawing/2014/main" val="20000"/>
                    </a:ext>
                  </a:extLst>
                </a:gridCol>
                <a:gridCol w="1368358">
                  <a:extLst>
                    <a:ext uri="{9D8B030D-6E8A-4147-A177-3AD203B41FA5}">
                      <a16:colId xmlns:a16="http://schemas.microsoft.com/office/drawing/2014/main" val="20001"/>
                    </a:ext>
                  </a:extLst>
                </a:gridCol>
                <a:gridCol w="1329447">
                  <a:extLst>
                    <a:ext uri="{9D8B030D-6E8A-4147-A177-3AD203B41FA5}">
                      <a16:colId xmlns:a16="http://schemas.microsoft.com/office/drawing/2014/main" val="20002"/>
                    </a:ext>
                  </a:extLst>
                </a:gridCol>
                <a:gridCol w="1271081">
                  <a:extLst>
                    <a:ext uri="{9D8B030D-6E8A-4147-A177-3AD203B41FA5}">
                      <a16:colId xmlns:a16="http://schemas.microsoft.com/office/drawing/2014/main" val="20003"/>
                    </a:ext>
                  </a:extLst>
                </a:gridCol>
                <a:gridCol w="1348902">
                  <a:extLst>
                    <a:ext uri="{9D8B030D-6E8A-4147-A177-3AD203B41FA5}">
                      <a16:colId xmlns:a16="http://schemas.microsoft.com/office/drawing/2014/main" val="20004"/>
                    </a:ext>
                  </a:extLst>
                </a:gridCol>
                <a:gridCol w="1689674">
                  <a:extLst>
                    <a:ext uri="{9D8B030D-6E8A-4147-A177-3AD203B41FA5}">
                      <a16:colId xmlns:a16="http://schemas.microsoft.com/office/drawing/2014/main" val="20005"/>
                    </a:ext>
                  </a:extLst>
                </a:gridCol>
              </a:tblGrid>
              <a:tr h="407704">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zh-CN" altLang="en-US" sz="20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项目</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CN" sz="20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2011</a:t>
                      </a:r>
                      <a:r>
                        <a:rPr kumimoji="0" lang="zh-CN" altLang="en-US" sz="20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年末</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CN" sz="20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2013</a:t>
                      </a:r>
                      <a:r>
                        <a:rPr kumimoji="0" lang="zh-CN" altLang="en-US" sz="20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年末</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CN" sz="20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2015</a:t>
                      </a:r>
                      <a:r>
                        <a:rPr kumimoji="0" lang="zh-CN" altLang="en-US" sz="20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年末</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CN" sz="20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2017</a:t>
                      </a:r>
                      <a:r>
                        <a:rPr kumimoji="0" lang="zh-CN" altLang="en-US" sz="20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年末</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CN" sz="20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2019</a:t>
                      </a:r>
                      <a:r>
                        <a:rPr kumimoji="0" lang="zh-CN" altLang="en-US" sz="20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年</a:t>
                      </a:r>
                      <a:r>
                        <a:rPr kumimoji="0" lang="en-US" altLang="zh-CN" sz="20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3</a:t>
                      </a:r>
                      <a:r>
                        <a:rPr kumimoji="0" lang="zh-CN" altLang="en-US" sz="20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月末</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7704">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accent1"/>
                          </a:solidFill>
                          <a:effectLst/>
                          <a:latin typeface="微软雅黑" panose="020B0503020204020204" pitchFamily="34" charset="-122"/>
                          <a:ea typeface="微软雅黑" panose="020B0503020204020204" pitchFamily="34" charset="-122"/>
                        </a:rPr>
                        <a:t>净头寸</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accent1"/>
                          </a:solidFill>
                          <a:effectLst/>
                          <a:latin typeface="微软雅黑" panose="020B0503020204020204" pitchFamily="34" charset="-122"/>
                          <a:ea typeface="微软雅黑" panose="020B0503020204020204" pitchFamily="34" charset="-122"/>
                          <a:cs typeface="+mn-cs"/>
                        </a:rPr>
                        <a:t>15,256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accent1"/>
                          </a:solidFill>
                          <a:effectLst/>
                          <a:latin typeface="微软雅黑" panose="020B0503020204020204" pitchFamily="34" charset="-122"/>
                          <a:ea typeface="微软雅黑" panose="020B0503020204020204" pitchFamily="34" charset="-122"/>
                          <a:cs typeface="+mn-cs"/>
                        </a:rPr>
                        <a:t>18,091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accent1"/>
                          </a:solidFill>
                          <a:effectLst/>
                          <a:latin typeface="微软雅黑" panose="020B0503020204020204" pitchFamily="34" charset="-122"/>
                          <a:ea typeface="微软雅黑" panose="020B0503020204020204" pitchFamily="34" charset="-122"/>
                          <a:cs typeface="+mn-cs"/>
                        </a:rPr>
                        <a:t>16,728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accent1"/>
                          </a:solidFill>
                          <a:effectLst/>
                          <a:latin typeface="微软雅黑" panose="020B0503020204020204" pitchFamily="34" charset="-122"/>
                          <a:ea typeface="微软雅黑" panose="020B0503020204020204" pitchFamily="34" charset="-122"/>
                          <a:cs typeface="+mn-cs"/>
                        </a:rPr>
                        <a:t>21,007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accent1"/>
                          </a:solidFill>
                          <a:effectLst/>
                          <a:latin typeface="微软雅黑" panose="020B0503020204020204" pitchFamily="34" charset="-122"/>
                          <a:ea typeface="微软雅黑" panose="020B0503020204020204" pitchFamily="34" charset="-122"/>
                          <a:cs typeface="+mn-cs"/>
                        </a:rPr>
                        <a:t>19.511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7704">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A.</a:t>
                      </a: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资产</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47,345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59,861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61,558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71,488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73,817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7704">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accent1"/>
                          </a:solidFill>
                          <a:effectLst/>
                          <a:latin typeface="微软雅黑" panose="020B0503020204020204" pitchFamily="34" charset="-122"/>
                          <a:ea typeface="微软雅黑" panose="020B0503020204020204" pitchFamily="34" charset="-122"/>
                        </a:rPr>
                        <a:t>    1.</a:t>
                      </a:r>
                      <a:r>
                        <a:rPr kumimoji="0" lang="zh-CN" altLang="en-US" sz="2000" b="1" i="0" u="none" strike="noStrike" cap="none" normalizeH="0" baseline="0" dirty="0">
                          <a:ln>
                            <a:noFill/>
                          </a:ln>
                          <a:solidFill>
                            <a:schemeClr val="accent1"/>
                          </a:solidFill>
                          <a:effectLst/>
                          <a:latin typeface="微软雅黑" panose="020B0503020204020204" pitchFamily="34" charset="-122"/>
                          <a:ea typeface="微软雅黑" panose="020B0503020204020204" pitchFamily="34" charset="-122"/>
                        </a:rPr>
                        <a:t>我国对外直接投资</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accent1"/>
                          </a:solidFill>
                          <a:effectLst/>
                          <a:latin typeface="微软雅黑" panose="020B0503020204020204" pitchFamily="34" charset="-122"/>
                          <a:ea typeface="微软雅黑" panose="020B0503020204020204" pitchFamily="34" charset="-122"/>
                          <a:cs typeface="+mn-cs"/>
                        </a:rPr>
                        <a:t>4,248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kumimoji="0" lang="en-US" altLang="zh-CN" sz="2000" b="0" i="0" u="none" strike="noStrike" kern="1200" cap="none" normalizeH="0" baseline="0" dirty="0">
                          <a:ln>
                            <a:noFill/>
                          </a:ln>
                          <a:solidFill>
                            <a:schemeClr val="accent1"/>
                          </a:solidFill>
                          <a:effectLst/>
                          <a:latin typeface="微软雅黑" panose="020B0503020204020204" pitchFamily="34" charset="-122"/>
                          <a:ea typeface="微软雅黑" panose="020B0503020204020204" pitchFamily="34" charset="-122"/>
                          <a:cs typeface="+mn-cs"/>
                        </a:rPr>
                        <a:t>6,605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accent1"/>
                          </a:solidFill>
                          <a:effectLst/>
                          <a:latin typeface="微软雅黑" panose="020B0503020204020204" pitchFamily="34" charset="-122"/>
                          <a:ea typeface="微软雅黑" panose="020B0503020204020204" pitchFamily="34" charset="-122"/>
                          <a:cs typeface="+mn-cs"/>
                        </a:rPr>
                        <a:t>10,959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accent1"/>
                          </a:solidFill>
                          <a:effectLst/>
                          <a:latin typeface="微软雅黑" panose="020B0503020204020204" pitchFamily="34" charset="-122"/>
                          <a:ea typeface="微软雅黑" panose="020B0503020204020204" pitchFamily="34" charset="-122"/>
                          <a:cs typeface="+mn-cs"/>
                        </a:rPr>
                        <a:t>18,090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accent1"/>
                          </a:solidFill>
                          <a:effectLst/>
                          <a:latin typeface="微软雅黑" panose="020B0503020204020204" pitchFamily="34" charset="-122"/>
                          <a:ea typeface="微软雅黑" panose="020B0503020204020204" pitchFamily="34" charset="-122"/>
                          <a:cs typeface="+mn-cs"/>
                        </a:rPr>
                        <a:t>19,275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7704">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2.</a:t>
                      </a: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证券投资</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2,044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2,585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2,613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4,925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5,456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7704">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20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    3.</a:t>
                      </a:r>
                      <a:r>
                        <a:rPr kumimoji="0" lang="zh-CN" altLang="en-US" sz="20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金融衍生品</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7704">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4.</a:t>
                      </a: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其他投资</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8,495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11,867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13,889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16,055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17,039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7704">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5.</a:t>
                      </a: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储备资产</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32,558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38,804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34,061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32,359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31,962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7704">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B.</a:t>
                      </a: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负债</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32,089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41,770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44,830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50,481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54,306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7704">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accent1"/>
                          </a:solidFill>
                          <a:effectLst/>
                          <a:latin typeface="微软雅黑" panose="020B0503020204020204" pitchFamily="34" charset="-122"/>
                          <a:ea typeface="微软雅黑" panose="020B0503020204020204" pitchFamily="34" charset="-122"/>
                        </a:rPr>
                        <a:t>    1. </a:t>
                      </a:r>
                      <a:r>
                        <a:rPr kumimoji="0" lang="zh-CN" altLang="en-US" sz="2000" b="1" i="0" u="none" strike="noStrike" cap="none" normalizeH="0" baseline="0" dirty="0">
                          <a:ln>
                            <a:noFill/>
                          </a:ln>
                          <a:solidFill>
                            <a:schemeClr val="accent1"/>
                          </a:solidFill>
                          <a:effectLst/>
                          <a:latin typeface="微软雅黑" panose="020B0503020204020204" pitchFamily="34" charset="-122"/>
                          <a:ea typeface="微软雅黑" panose="020B0503020204020204" pitchFamily="34" charset="-122"/>
                        </a:rPr>
                        <a:t>外国来华直接投资</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accent1"/>
                          </a:solidFill>
                          <a:effectLst/>
                          <a:latin typeface="微软雅黑" panose="020B0503020204020204" pitchFamily="34" charset="-122"/>
                          <a:ea typeface="微软雅黑" panose="020B0503020204020204" pitchFamily="34" charset="-122"/>
                          <a:cs typeface="+mn-cs"/>
                        </a:rPr>
                        <a:t>19,069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accent1"/>
                          </a:solidFill>
                          <a:effectLst/>
                          <a:latin typeface="微软雅黑" panose="020B0503020204020204" pitchFamily="34" charset="-122"/>
                          <a:ea typeface="微软雅黑" panose="020B0503020204020204" pitchFamily="34" charset="-122"/>
                          <a:cs typeface="+mn-cs"/>
                        </a:rPr>
                        <a:t>23,312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accent1"/>
                          </a:solidFill>
                          <a:effectLst/>
                          <a:latin typeface="微软雅黑" panose="020B0503020204020204" pitchFamily="34" charset="-122"/>
                          <a:ea typeface="微软雅黑" panose="020B0503020204020204" pitchFamily="34" charset="-122"/>
                          <a:cs typeface="+mn-cs"/>
                        </a:rPr>
                        <a:t>26,963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accent1"/>
                          </a:solidFill>
                          <a:effectLst/>
                          <a:latin typeface="微软雅黑" panose="020B0503020204020204" pitchFamily="34" charset="-122"/>
                          <a:ea typeface="微软雅黑" panose="020B0503020204020204" pitchFamily="34" charset="-122"/>
                          <a:cs typeface="+mn-cs"/>
                        </a:rPr>
                        <a:t>27,257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accent1"/>
                          </a:solidFill>
                          <a:effectLst/>
                          <a:latin typeface="微软雅黑" panose="020B0503020204020204" pitchFamily="34" charset="-122"/>
                          <a:ea typeface="微软雅黑" panose="020B0503020204020204" pitchFamily="34" charset="-122"/>
                          <a:cs typeface="+mn-cs"/>
                        </a:rPr>
                        <a:t>28,636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07704">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2.</a:t>
                      </a: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证券投资</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4,113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5,734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8,170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10,994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12,556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407704">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3.</a:t>
                      </a: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金融衍生品</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407704">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4.</a:t>
                      </a: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其他投资</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8,907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12,724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9,643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12,197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0" i="0" u="none" strike="noStrike" kern="1200" cap="none" normalizeH="0" baseline="0">
                          <a:ln>
                            <a:noFill/>
                          </a:ln>
                          <a:solidFill>
                            <a:schemeClr val="tx1"/>
                          </a:solidFill>
                          <a:effectLst/>
                          <a:latin typeface="微软雅黑" panose="020B0503020204020204" pitchFamily="34" charset="-122"/>
                          <a:ea typeface="微软雅黑" panose="020B0503020204020204" pitchFamily="34" charset="-122"/>
                          <a:cs typeface="+mn-cs"/>
                        </a:rPr>
                        <a:t>13,064</a:t>
                      </a:r>
                      <a:endParaRPr kumimoji="0" lang="en-US" altLang="zh-CN" sz="20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1902321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国际投资头寸</a:t>
            </a:r>
            <a:endParaRPr lang="zh-CN" dirty="0"/>
          </a:p>
        </p:txBody>
      </p:sp>
      <p:sp>
        <p:nvSpPr>
          <p:cNvPr id="5" name="页脚占位符 4"/>
          <p:cNvSpPr>
            <a:spLocks noGrp="1"/>
          </p:cNvSpPr>
          <p:nvPr>
            <p:ph type="ftr" sz="quarter" idx="11"/>
          </p:nvPr>
        </p:nvSpPr>
        <p:spPr/>
        <p:txBody>
          <a:bodyPr/>
          <a:lstStyle/>
          <a:p>
            <a:r>
              <a:rPr lang="zh-CN" altLang="en-US"/>
              <a:t>国际金融学 范小云</a:t>
            </a:r>
            <a:endParaRPr lang="zh-CN" altLang="en-US" dirty="0"/>
          </a:p>
        </p:txBody>
      </p:sp>
      <p:graphicFrame>
        <p:nvGraphicFramePr>
          <p:cNvPr id="6" name="图表 5"/>
          <p:cNvGraphicFramePr>
            <a:graphicFrameLocks/>
          </p:cNvGraphicFramePr>
          <p:nvPr>
            <p:extLst>
              <p:ext uri="{D42A27DB-BD31-4B8C-83A1-F6EECF244321}">
                <p14:modId xmlns:p14="http://schemas.microsoft.com/office/powerpoint/2010/main" val="822471809"/>
              </p:ext>
            </p:extLst>
          </p:nvPr>
        </p:nvGraphicFramePr>
        <p:xfrm>
          <a:off x="457201" y="1276454"/>
          <a:ext cx="8293189" cy="458343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064397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国际投资头寸</a:t>
            </a:r>
            <a:endParaRPr lang="zh-CN" dirty="0"/>
          </a:p>
        </p:txBody>
      </p:sp>
      <p:sp>
        <p:nvSpPr>
          <p:cNvPr id="5" name="页脚占位符 4"/>
          <p:cNvSpPr>
            <a:spLocks noGrp="1"/>
          </p:cNvSpPr>
          <p:nvPr>
            <p:ph type="ftr" sz="quarter" idx="11"/>
          </p:nvPr>
        </p:nvSpPr>
        <p:spPr/>
        <p:txBody>
          <a:bodyPr/>
          <a:lstStyle/>
          <a:p>
            <a:r>
              <a:rPr lang="zh-CN" altLang="en-US"/>
              <a:t>国际金融学 范小云</a:t>
            </a:r>
            <a:endParaRPr lang="zh-CN" altLang="en-US" dirty="0"/>
          </a:p>
        </p:txBody>
      </p:sp>
      <p:sp>
        <p:nvSpPr>
          <p:cNvPr id="9" name="内容占位符 2"/>
          <p:cNvSpPr>
            <a:spLocks noGrp="1"/>
          </p:cNvSpPr>
          <p:nvPr>
            <p:ph idx="1"/>
          </p:nvPr>
        </p:nvSpPr>
        <p:spPr>
          <a:xfrm>
            <a:off x="971550" y="4893971"/>
            <a:ext cx="7451233" cy="1100250"/>
          </a:xfrm>
        </p:spPr>
        <p:txBody>
          <a:bodyPr>
            <a:noAutofit/>
          </a:bodyPr>
          <a:lstStyle/>
          <a:p>
            <a:pPr>
              <a:lnSpc>
                <a:spcPct val="100000"/>
              </a:lnSpc>
              <a:buFont typeface="Wingdings" panose="05000000000000000000" pitchFamily="2" charset="2"/>
              <a:buChar char="Ø"/>
            </a:pPr>
            <a:r>
              <a:rPr lang="en-US" altLang="zh-CN" sz="1600" b="1" dirty="0">
                <a:solidFill>
                  <a:schemeClr val="accent1"/>
                </a:solidFill>
                <a:latin typeface="微软雅黑" panose="020B0503020204020204" pitchFamily="34" charset="-122"/>
                <a:ea typeface="微软雅黑" panose="020B0503020204020204" pitchFamily="34" charset="-122"/>
              </a:rPr>
              <a:t>1990-2010</a:t>
            </a:r>
            <a:r>
              <a:rPr lang="zh-CN" altLang="en-US" sz="1600" b="1" dirty="0">
                <a:solidFill>
                  <a:schemeClr val="accent1"/>
                </a:solidFill>
                <a:latin typeface="微软雅黑" panose="020B0503020204020204" pitchFamily="34" charset="-122"/>
                <a:ea typeface="微软雅黑" panose="020B0503020204020204" pitchFamily="34" charset="-122"/>
              </a:rPr>
              <a:t>年间，美国的</a:t>
            </a:r>
            <a:r>
              <a:rPr lang="zh-CN" altLang="en-US" sz="1600" b="1" dirty="0">
                <a:solidFill>
                  <a:srgbClr val="FF5050"/>
                </a:solidFill>
                <a:latin typeface="微软雅黑" panose="020B0503020204020204" pitchFamily="34" charset="-122"/>
                <a:ea typeface="微软雅黑" panose="020B0503020204020204" pitchFamily="34" charset="-122"/>
              </a:rPr>
              <a:t>风险资产占总资产的比重</a:t>
            </a:r>
            <a:r>
              <a:rPr lang="zh-CN" altLang="en-US" sz="1600" b="1" dirty="0">
                <a:solidFill>
                  <a:schemeClr val="accent1"/>
                </a:solidFill>
                <a:latin typeface="微软雅黑" panose="020B0503020204020204" pitchFamily="34" charset="-122"/>
                <a:ea typeface="微软雅黑" panose="020B0503020204020204" pitchFamily="34" charset="-122"/>
              </a:rPr>
              <a:t>除</a:t>
            </a:r>
            <a:r>
              <a:rPr lang="en-US" altLang="zh-CN" sz="1600" b="1" dirty="0">
                <a:solidFill>
                  <a:schemeClr val="accent1"/>
                </a:solidFill>
                <a:latin typeface="微软雅黑" panose="020B0503020204020204" pitchFamily="34" charset="-122"/>
                <a:ea typeface="微软雅黑" panose="020B0503020204020204" pitchFamily="34" charset="-122"/>
              </a:rPr>
              <a:t>07</a:t>
            </a:r>
            <a:r>
              <a:rPr lang="zh-CN" altLang="en-US" sz="1600" b="1" dirty="0">
                <a:solidFill>
                  <a:schemeClr val="accent1"/>
                </a:solidFill>
                <a:latin typeface="微软雅黑" panose="020B0503020204020204" pitchFamily="34" charset="-122"/>
                <a:ea typeface="微软雅黑" panose="020B0503020204020204" pitchFamily="34" charset="-122"/>
              </a:rPr>
              <a:t>、</a:t>
            </a:r>
            <a:r>
              <a:rPr lang="en-US" altLang="zh-CN" sz="1600" b="1" dirty="0">
                <a:solidFill>
                  <a:schemeClr val="accent1"/>
                </a:solidFill>
                <a:latin typeface="微软雅黑" panose="020B0503020204020204" pitchFamily="34" charset="-122"/>
                <a:ea typeface="微软雅黑" panose="020B0503020204020204" pitchFamily="34" charset="-122"/>
              </a:rPr>
              <a:t>08</a:t>
            </a:r>
            <a:r>
              <a:rPr lang="zh-CN" altLang="en-US" sz="1600" b="1" dirty="0">
                <a:solidFill>
                  <a:schemeClr val="accent1"/>
                </a:solidFill>
                <a:latin typeface="微软雅黑" panose="020B0503020204020204" pitchFamily="34" charset="-122"/>
                <a:ea typeface="微软雅黑" panose="020B0503020204020204" pitchFamily="34" charset="-122"/>
              </a:rPr>
              <a:t>年金融危机期间下降到</a:t>
            </a:r>
            <a:r>
              <a:rPr lang="en-US" altLang="zh-CN" sz="1600" b="1" dirty="0">
                <a:solidFill>
                  <a:schemeClr val="accent1"/>
                </a:solidFill>
                <a:latin typeface="微软雅黑" panose="020B0503020204020204" pitchFamily="34" charset="-122"/>
                <a:ea typeface="微软雅黑" panose="020B0503020204020204" pitchFamily="34" charset="-122"/>
              </a:rPr>
              <a:t>20%</a:t>
            </a:r>
            <a:r>
              <a:rPr lang="zh-CN" altLang="en-US" sz="1600" b="1" dirty="0">
                <a:solidFill>
                  <a:schemeClr val="accent1"/>
                </a:solidFill>
                <a:latin typeface="微软雅黑" panose="020B0503020204020204" pitchFamily="34" charset="-122"/>
                <a:ea typeface="微软雅黑" panose="020B0503020204020204" pitchFamily="34" charset="-122"/>
              </a:rPr>
              <a:t>以下，其余时间均维持在</a:t>
            </a:r>
            <a:r>
              <a:rPr lang="en-US" altLang="zh-CN" sz="1600" b="1" dirty="0">
                <a:solidFill>
                  <a:schemeClr val="accent1"/>
                </a:solidFill>
                <a:latin typeface="微软雅黑" panose="020B0503020204020204" pitchFamily="34" charset="-122"/>
                <a:ea typeface="微软雅黑" panose="020B0503020204020204" pitchFamily="34" charset="-122"/>
              </a:rPr>
              <a:t>20%</a:t>
            </a:r>
            <a:r>
              <a:rPr lang="zh-CN" altLang="en-US" sz="1600" b="1" dirty="0">
                <a:solidFill>
                  <a:schemeClr val="accent1"/>
                </a:solidFill>
                <a:latin typeface="微软雅黑" panose="020B0503020204020204" pitchFamily="34" charset="-122"/>
                <a:ea typeface="微软雅黑" panose="020B0503020204020204" pitchFamily="34" charset="-122"/>
              </a:rPr>
              <a:t>以上，而同期我国的这类风险资产占总资产的比重从</a:t>
            </a:r>
            <a:r>
              <a:rPr lang="en-US" altLang="zh-CN" sz="1600" b="1" dirty="0">
                <a:solidFill>
                  <a:srgbClr val="FF5050"/>
                </a:solidFill>
                <a:latin typeface="微软雅黑" panose="020B0503020204020204" pitchFamily="34" charset="-122"/>
                <a:ea typeface="微软雅黑" panose="020B0503020204020204" pitchFamily="34" charset="-122"/>
              </a:rPr>
              <a:t>1993</a:t>
            </a:r>
            <a:r>
              <a:rPr lang="zh-CN" altLang="en-US" sz="1600" b="1" dirty="0">
                <a:solidFill>
                  <a:srgbClr val="FF5050"/>
                </a:solidFill>
                <a:latin typeface="微软雅黑" panose="020B0503020204020204" pitchFamily="34" charset="-122"/>
                <a:ea typeface="微软雅黑" panose="020B0503020204020204" pitchFamily="34" charset="-122"/>
              </a:rPr>
              <a:t>年</a:t>
            </a:r>
            <a:r>
              <a:rPr lang="en-US" altLang="zh-CN" sz="1600" b="1" dirty="0">
                <a:solidFill>
                  <a:srgbClr val="FF5050"/>
                </a:solidFill>
                <a:latin typeface="微软雅黑" panose="020B0503020204020204" pitchFamily="34" charset="-122"/>
                <a:ea typeface="微软雅黑" panose="020B0503020204020204" pitchFamily="34" charset="-122"/>
              </a:rPr>
              <a:t>23%</a:t>
            </a:r>
            <a:r>
              <a:rPr lang="zh-CN" altLang="en-US" sz="1600" b="1" dirty="0">
                <a:solidFill>
                  <a:srgbClr val="FF5050"/>
                </a:solidFill>
                <a:latin typeface="微软雅黑" panose="020B0503020204020204" pitchFamily="34" charset="-122"/>
                <a:ea typeface="微软雅黑" panose="020B0503020204020204" pitchFamily="34" charset="-122"/>
              </a:rPr>
              <a:t>下降到</a:t>
            </a:r>
            <a:r>
              <a:rPr lang="en-US" altLang="zh-CN" sz="1600" b="1" dirty="0">
                <a:solidFill>
                  <a:srgbClr val="FF5050"/>
                </a:solidFill>
                <a:latin typeface="微软雅黑" panose="020B0503020204020204" pitchFamily="34" charset="-122"/>
                <a:ea typeface="微软雅黑" panose="020B0503020204020204" pitchFamily="34" charset="-122"/>
              </a:rPr>
              <a:t>2010</a:t>
            </a:r>
            <a:r>
              <a:rPr lang="zh-CN" altLang="en-US" sz="1600" b="1" dirty="0">
                <a:solidFill>
                  <a:srgbClr val="FF5050"/>
                </a:solidFill>
                <a:latin typeface="微软雅黑" panose="020B0503020204020204" pitchFamily="34" charset="-122"/>
                <a:ea typeface="微软雅黑" panose="020B0503020204020204" pitchFamily="34" charset="-122"/>
              </a:rPr>
              <a:t>年</a:t>
            </a:r>
            <a:r>
              <a:rPr lang="en-US" altLang="zh-CN" sz="1600" b="1" dirty="0">
                <a:solidFill>
                  <a:srgbClr val="FF5050"/>
                </a:solidFill>
                <a:latin typeface="微软雅黑" panose="020B0503020204020204" pitchFamily="34" charset="-122"/>
                <a:ea typeface="微软雅黑" panose="020B0503020204020204" pitchFamily="34" charset="-122"/>
              </a:rPr>
              <a:t>7.4%</a:t>
            </a:r>
            <a:r>
              <a:rPr altLang="en-US" sz="1600" b="1" dirty="0">
                <a:solidFill>
                  <a:schemeClr val="accent1"/>
                </a:solidFill>
                <a:latin typeface="微软雅黑" panose="020B0503020204020204" pitchFamily="34" charset="-122"/>
                <a:ea typeface="微软雅黑" panose="020B0503020204020204" pitchFamily="34" charset="-122"/>
              </a:rPr>
              <a:t>。</a:t>
            </a:r>
            <a:endParaRPr lang="en-US" altLang="zh-CN" sz="1600" b="1" dirty="0">
              <a:solidFill>
                <a:schemeClr val="accent1"/>
              </a:solidFill>
              <a:latin typeface="微软雅黑" panose="020B0503020204020204" pitchFamily="34" charset="-122"/>
              <a:ea typeface="微软雅黑" panose="020B0503020204020204" pitchFamily="34" charset="-122"/>
            </a:endParaRPr>
          </a:p>
        </p:txBody>
      </p:sp>
      <p:graphicFrame>
        <p:nvGraphicFramePr>
          <p:cNvPr id="8" name="图表 7"/>
          <p:cNvGraphicFramePr>
            <a:graphicFrameLocks/>
          </p:cNvGraphicFramePr>
          <p:nvPr>
            <p:extLst>
              <p:ext uri="{D42A27DB-BD31-4B8C-83A1-F6EECF244321}">
                <p14:modId xmlns:p14="http://schemas.microsoft.com/office/powerpoint/2010/main" val="734569882"/>
              </p:ext>
            </p:extLst>
          </p:nvPr>
        </p:nvGraphicFramePr>
        <p:xfrm>
          <a:off x="971549" y="1160771"/>
          <a:ext cx="7200901" cy="364304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38548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中国的对外负债结构</a:t>
            </a:r>
          </a:p>
        </p:txBody>
      </p:sp>
      <p:sp>
        <p:nvSpPr>
          <p:cNvPr id="5" name="页脚占位符 4"/>
          <p:cNvSpPr>
            <a:spLocks noGrp="1"/>
          </p:cNvSpPr>
          <p:nvPr>
            <p:ph type="ftr" sz="quarter" idx="11"/>
          </p:nvPr>
        </p:nvSpPr>
        <p:spPr/>
        <p:txBody>
          <a:bodyPr/>
          <a:lstStyle/>
          <a:p>
            <a:r>
              <a:rPr lang="zh-CN" altLang="en-US"/>
              <a:t>国际金融学 范小云</a:t>
            </a:r>
            <a:endParaRPr lang="zh-CN" altLang="en-US" dirty="0"/>
          </a:p>
        </p:txBody>
      </p:sp>
      <p:graphicFrame>
        <p:nvGraphicFramePr>
          <p:cNvPr id="6" name="图表 5"/>
          <p:cNvGraphicFramePr>
            <a:graphicFrameLocks/>
          </p:cNvGraphicFramePr>
          <p:nvPr>
            <p:extLst>
              <p:ext uri="{D42A27DB-BD31-4B8C-83A1-F6EECF244321}">
                <p14:modId xmlns:p14="http://schemas.microsoft.com/office/powerpoint/2010/main" val="2324216138"/>
              </p:ext>
            </p:extLst>
          </p:nvPr>
        </p:nvGraphicFramePr>
        <p:xfrm>
          <a:off x="585990" y="1160771"/>
          <a:ext cx="8004220" cy="493093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35215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美国的对外负债结构</a:t>
            </a:r>
          </a:p>
        </p:txBody>
      </p:sp>
      <p:sp>
        <p:nvSpPr>
          <p:cNvPr id="5" name="页脚占位符 4"/>
          <p:cNvSpPr>
            <a:spLocks noGrp="1"/>
          </p:cNvSpPr>
          <p:nvPr>
            <p:ph type="ftr" sz="quarter" idx="11"/>
          </p:nvPr>
        </p:nvSpPr>
        <p:spPr/>
        <p:txBody>
          <a:bodyPr/>
          <a:lstStyle/>
          <a:p>
            <a:r>
              <a:rPr lang="zh-CN" altLang="en-US"/>
              <a:t>国际金融学 范小云</a:t>
            </a:r>
            <a:endParaRPr lang="zh-CN" altLang="en-US" dirty="0"/>
          </a:p>
        </p:txBody>
      </p:sp>
      <p:graphicFrame>
        <p:nvGraphicFramePr>
          <p:cNvPr id="6" name="图表 5"/>
          <p:cNvGraphicFramePr>
            <a:graphicFrameLocks/>
          </p:cNvGraphicFramePr>
          <p:nvPr>
            <p:extLst>
              <p:ext uri="{D42A27DB-BD31-4B8C-83A1-F6EECF244321}">
                <p14:modId xmlns:p14="http://schemas.microsoft.com/office/powerpoint/2010/main" val="4275043746"/>
              </p:ext>
            </p:extLst>
          </p:nvPr>
        </p:nvGraphicFramePr>
        <p:xfrm>
          <a:off x="457201" y="1181658"/>
          <a:ext cx="8004220" cy="510802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47695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altLang="en-US" dirty="0"/>
              <a:t>三</a:t>
            </a:r>
            <a:r>
              <a:rPr lang="zh-CN" altLang="en-US" dirty="0"/>
              <a:t>节	国际收支的失衡与调节</a:t>
            </a:r>
            <a:endParaRPr lang="zh-CN" dirty="0"/>
          </a:p>
        </p:txBody>
      </p:sp>
      <p:sp>
        <p:nvSpPr>
          <p:cNvPr id="3" name="内容占位符 2"/>
          <p:cNvSpPr>
            <a:spLocks noGrp="1"/>
          </p:cNvSpPr>
          <p:nvPr>
            <p:ph idx="1"/>
          </p:nvPr>
        </p:nvSpPr>
        <p:spPr>
          <a:xfrm>
            <a:off x="710005" y="1447800"/>
            <a:ext cx="7831567" cy="4559300"/>
          </a:xfrm>
        </p:spPr>
        <p:txBody>
          <a:bodyPr>
            <a:normAutofit fontScale="92500" lnSpcReduction="10000"/>
          </a:bodyPr>
          <a:lstStyle/>
          <a:p>
            <a:pPr marL="0" indent="0">
              <a:lnSpc>
                <a:spcPct val="120000"/>
              </a:lnSpc>
              <a:buNone/>
            </a:pPr>
            <a:r>
              <a:rPr lang="zh-CN" altLang="en-US" sz="2800" dirty="0">
                <a:latin typeface="楷体" pitchFamily="49" charset="-122"/>
                <a:ea typeface="楷体" pitchFamily="49" charset="-122"/>
              </a:rPr>
              <a:t>一、国际收支均衡的政策观</a:t>
            </a:r>
          </a:p>
          <a:p>
            <a:pPr marL="0" indent="0">
              <a:lnSpc>
                <a:spcPct val="120000"/>
              </a:lnSpc>
              <a:buNone/>
            </a:pPr>
            <a:r>
              <a:rPr lang="zh-CN" altLang="en-US" sz="2800" dirty="0">
                <a:latin typeface="楷体" pitchFamily="49" charset="-122"/>
                <a:ea typeface="楷体" pitchFamily="49" charset="-122"/>
              </a:rPr>
              <a:t>     不同类型的国家的经济目标的侧重点不同，对国际收支均衡的具体表述和界定也有所不同。</a:t>
            </a:r>
          </a:p>
          <a:p>
            <a:pPr marL="0" indent="0">
              <a:lnSpc>
                <a:spcPct val="120000"/>
              </a:lnSpc>
              <a:buNone/>
            </a:pPr>
            <a:r>
              <a:rPr lang="zh-CN" altLang="en-US" sz="2800" dirty="0">
                <a:latin typeface="楷体" pitchFamily="49" charset="-122"/>
                <a:ea typeface="楷体" pitchFamily="49" charset="-122"/>
              </a:rPr>
              <a:t>     发达国家的国际收支均衡观，多将国际收支的调节目标确定为保持综合差额或经常账户平衡或在某一幅度区域内的盈余或赤字。</a:t>
            </a:r>
          </a:p>
          <a:p>
            <a:pPr marL="0" indent="0">
              <a:lnSpc>
                <a:spcPct val="120000"/>
              </a:lnSpc>
              <a:buNone/>
            </a:pPr>
            <a:r>
              <a:rPr lang="zh-CN" altLang="en-US" sz="2800" dirty="0">
                <a:latin typeface="楷体" pitchFamily="49" charset="-122"/>
                <a:ea typeface="楷体" pitchFamily="49" charset="-122"/>
              </a:rPr>
              <a:t>     发展中国家的国际收支均衡为将经常账户赤字保持在中期内可维持的水平。</a:t>
            </a:r>
          </a:p>
        </p:txBody>
      </p:sp>
      <p:sp>
        <p:nvSpPr>
          <p:cNvPr id="5" name="页脚占位符 4"/>
          <p:cNvSpPr>
            <a:spLocks noGrp="1"/>
          </p:cNvSpPr>
          <p:nvPr>
            <p:ph type="ftr" sz="quarter" idx="11"/>
          </p:nvPr>
        </p:nvSpPr>
        <p:spPr/>
        <p:txBody>
          <a:bodyPr/>
          <a:lstStyle/>
          <a:p>
            <a:r>
              <a:rPr lang="zh-CN" altLang="en-US"/>
              <a:t>国际金融学 范小云</a:t>
            </a:r>
            <a:endParaRPr lang="zh-CN" altLang="en-US" dirty="0"/>
          </a:p>
        </p:txBody>
      </p:sp>
    </p:spTree>
    <p:extLst>
      <p:ext uri="{BB962C8B-B14F-4D97-AF65-F5344CB8AC3E}">
        <p14:creationId xmlns:p14="http://schemas.microsoft.com/office/powerpoint/2010/main" val="4057568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altLang="en-US" dirty="0"/>
              <a:t>三</a:t>
            </a:r>
            <a:r>
              <a:rPr lang="zh-CN" altLang="en-US" dirty="0"/>
              <a:t>节	国际收支的失衡与调节</a:t>
            </a:r>
            <a:endParaRPr lang="zh-CN" dirty="0"/>
          </a:p>
        </p:txBody>
      </p:sp>
      <p:sp>
        <p:nvSpPr>
          <p:cNvPr id="3" name="内容占位符 2"/>
          <p:cNvSpPr>
            <a:spLocks noGrp="1"/>
          </p:cNvSpPr>
          <p:nvPr>
            <p:ph idx="1"/>
          </p:nvPr>
        </p:nvSpPr>
        <p:spPr/>
        <p:txBody>
          <a:bodyPr>
            <a:normAutofit/>
          </a:bodyPr>
          <a:lstStyle/>
          <a:p>
            <a:pPr marL="0" indent="0">
              <a:lnSpc>
                <a:spcPct val="120000"/>
              </a:lnSpc>
              <a:buNone/>
            </a:pPr>
            <a:r>
              <a:rPr lang="zh-CN" altLang="en-US" sz="2800" dirty="0">
                <a:latin typeface="微软雅黑" panose="020B0503020204020204" pitchFamily="34" charset="-122"/>
                <a:ea typeface="微软雅黑" panose="020B0503020204020204" pitchFamily="34" charset="-122"/>
              </a:rPr>
              <a:t>二、国际收支失衡的原因和类型</a:t>
            </a:r>
          </a:p>
          <a:p>
            <a:pPr marL="800100" lvl="1" indent="-571500">
              <a:lnSpc>
                <a:spcPct val="120000"/>
              </a:lnSpc>
              <a:buFont typeface="+mj-lt"/>
              <a:buAutoNum type="romanUcPeriod"/>
            </a:pPr>
            <a:r>
              <a:rPr lang="zh-CN" altLang="en-US" sz="2600" dirty="0">
                <a:latin typeface="华文楷体" pitchFamily="2" charset="-122"/>
                <a:ea typeface="华文楷体" pitchFamily="2" charset="-122"/>
              </a:rPr>
              <a:t>偶发性因素（偶发性失衡）</a:t>
            </a:r>
          </a:p>
          <a:p>
            <a:pPr marL="800100" lvl="1" indent="-571500">
              <a:lnSpc>
                <a:spcPct val="120000"/>
              </a:lnSpc>
              <a:buFont typeface="+mj-lt"/>
              <a:buAutoNum type="romanUcPeriod"/>
            </a:pPr>
            <a:r>
              <a:rPr lang="zh-CN" altLang="en-US" sz="2600" dirty="0">
                <a:latin typeface="华文楷体" pitchFamily="2" charset="-122"/>
                <a:ea typeface="华文楷体" pitchFamily="2" charset="-122"/>
              </a:rPr>
              <a:t>周期性因素（周期性失衡）</a:t>
            </a:r>
          </a:p>
          <a:p>
            <a:pPr marL="800100" lvl="1" indent="-571500">
              <a:lnSpc>
                <a:spcPct val="120000"/>
              </a:lnSpc>
              <a:buFont typeface="+mj-lt"/>
              <a:buAutoNum type="romanUcPeriod"/>
            </a:pPr>
            <a:r>
              <a:rPr lang="zh-CN" altLang="en-US" sz="2600" dirty="0">
                <a:latin typeface="华文楷体" pitchFamily="2" charset="-122"/>
                <a:ea typeface="华文楷体" pitchFamily="2" charset="-122"/>
              </a:rPr>
              <a:t>结构性因素（结构性失衡）</a:t>
            </a:r>
          </a:p>
          <a:p>
            <a:pPr marL="800100" lvl="1" indent="-571500">
              <a:lnSpc>
                <a:spcPct val="120000"/>
              </a:lnSpc>
              <a:buFont typeface="+mj-lt"/>
              <a:buAutoNum type="romanUcPeriod"/>
            </a:pPr>
            <a:r>
              <a:rPr lang="zh-CN" altLang="en-US" sz="2600" dirty="0">
                <a:latin typeface="华文楷体" pitchFamily="2" charset="-122"/>
                <a:ea typeface="华文楷体" pitchFamily="2" charset="-122"/>
              </a:rPr>
              <a:t>货币性因素（货币性失衡）</a:t>
            </a:r>
          </a:p>
          <a:p>
            <a:pPr marL="800100" lvl="1" indent="-571500">
              <a:lnSpc>
                <a:spcPct val="120000"/>
              </a:lnSpc>
              <a:buFont typeface="+mj-lt"/>
              <a:buAutoNum type="romanUcPeriod"/>
            </a:pPr>
            <a:r>
              <a:rPr lang="zh-CN" altLang="en-US" sz="2600" dirty="0">
                <a:latin typeface="华文楷体" pitchFamily="2" charset="-122"/>
                <a:ea typeface="华文楷体" pitchFamily="2" charset="-122"/>
              </a:rPr>
              <a:t>外汇投机和不稳定的国际资本流动</a:t>
            </a:r>
          </a:p>
        </p:txBody>
      </p:sp>
      <p:sp>
        <p:nvSpPr>
          <p:cNvPr id="5" name="页脚占位符 4"/>
          <p:cNvSpPr>
            <a:spLocks noGrp="1"/>
          </p:cNvSpPr>
          <p:nvPr>
            <p:ph type="ftr" sz="quarter" idx="11"/>
          </p:nvPr>
        </p:nvSpPr>
        <p:spPr/>
        <p:txBody>
          <a:bodyPr/>
          <a:lstStyle/>
          <a:p>
            <a:r>
              <a:rPr lang="zh-CN" altLang="en-US"/>
              <a:t>国际金融学 范小云</a:t>
            </a:r>
            <a:endParaRPr lang="zh-CN" altLang="en-US" dirty="0"/>
          </a:p>
        </p:txBody>
      </p:sp>
    </p:spTree>
    <p:extLst>
      <p:ext uri="{BB962C8B-B14F-4D97-AF65-F5344CB8AC3E}">
        <p14:creationId xmlns:p14="http://schemas.microsoft.com/office/powerpoint/2010/main" val="581355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altLang="en-US" dirty="0"/>
              <a:t>三</a:t>
            </a:r>
            <a:r>
              <a:rPr lang="zh-CN" altLang="en-US" dirty="0"/>
              <a:t>节	国际收支的失衡与调节</a:t>
            </a:r>
            <a:endParaRPr lang="zh-CN" dirty="0"/>
          </a:p>
        </p:txBody>
      </p:sp>
      <p:sp>
        <p:nvSpPr>
          <p:cNvPr id="3" name="内容占位符 2"/>
          <p:cNvSpPr>
            <a:spLocks noGrp="1"/>
          </p:cNvSpPr>
          <p:nvPr>
            <p:ph idx="1"/>
          </p:nvPr>
        </p:nvSpPr>
        <p:spPr/>
        <p:txBody>
          <a:bodyPr>
            <a:normAutofit/>
          </a:bodyPr>
          <a:lstStyle/>
          <a:p>
            <a:pPr marL="0" indent="0">
              <a:lnSpc>
                <a:spcPct val="120000"/>
              </a:lnSpc>
              <a:buNone/>
            </a:pPr>
            <a:r>
              <a:rPr lang="zh-CN" altLang="en-US" sz="2800" dirty="0">
                <a:latin typeface="微软雅黑" panose="020B0503020204020204" pitchFamily="34" charset="-122"/>
                <a:ea typeface="微软雅黑" panose="020B0503020204020204" pitchFamily="34" charset="-122"/>
              </a:rPr>
              <a:t>三、国际收支失衡的自动调节机制</a:t>
            </a:r>
          </a:p>
          <a:p>
            <a:pPr marL="800100" lvl="1" indent="-571500">
              <a:lnSpc>
                <a:spcPct val="120000"/>
              </a:lnSpc>
              <a:buFont typeface="+mj-lt"/>
              <a:buAutoNum type="romanUcPeriod"/>
            </a:pPr>
            <a:r>
              <a:rPr lang="zh-CN" altLang="en-US" sz="2600" b="1" dirty="0">
                <a:latin typeface="华文楷体" pitchFamily="2" charset="-122"/>
                <a:ea typeface="华文楷体" pitchFamily="2" charset="-122"/>
              </a:rPr>
              <a:t>国际金本位制度下的国际收支自动调节机制</a:t>
            </a:r>
            <a:br>
              <a:rPr lang="en-US" altLang="zh-CN" sz="2600" b="1" dirty="0">
                <a:latin typeface="华文楷体" pitchFamily="2" charset="-122"/>
                <a:ea typeface="华文楷体" pitchFamily="2" charset="-122"/>
              </a:rPr>
            </a:br>
            <a:r>
              <a:rPr lang="zh-CN" altLang="en-US" sz="2600" b="1" dirty="0">
                <a:solidFill>
                  <a:schemeClr val="accent1"/>
                </a:solidFill>
                <a:latin typeface="华文楷体" pitchFamily="2" charset="-122"/>
                <a:ea typeface="华文楷体" pitchFamily="2" charset="-122"/>
              </a:rPr>
              <a:t>大卫</a:t>
            </a:r>
            <a:r>
              <a:rPr lang="en-US" altLang="zh-CN" sz="2600" b="1" dirty="0">
                <a:solidFill>
                  <a:schemeClr val="accent1"/>
                </a:solidFill>
                <a:latin typeface="华文楷体" pitchFamily="2" charset="-122"/>
                <a:ea typeface="华文楷体" pitchFamily="2" charset="-122"/>
              </a:rPr>
              <a:t>﹒</a:t>
            </a:r>
            <a:r>
              <a:rPr lang="zh-CN" altLang="en-US" sz="2600" b="1" dirty="0">
                <a:solidFill>
                  <a:schemeClr val="accent1"/>
                </a:solidFill>
                <a:latin typeface="华文楷体" pitchFamily="2" charset="-122"/>
                <a:ea typeface="华文楷体" pitchFamily="2" charset="-122"/>
              </a:rPr>
              <a:t>休谟的价格－铸币流动机制</a:t>
            </a:r>
          </a:p>
          <a:p>
            <a:pPr marL="800100" lvl="1" indent="-571500">
              <a:lnSpc>
                <a:spcPct val="120000"/>
              </a:lnSpc>
              <a:buFont typeface="+mj-lt"/>
              <a:buAutoNum type="romanUcPeriod"/>
            </a:pPr>
            <a:r>
              <a:rPr lang="zh-CN" altLang="en-US" sz="2600" b="1" dirty="0">
                <a:latin typeface="华文楷体" pitchFamily="2" charset="-122"/>
                <a:ea typeface="华文楷体" pitchFamily="2" charset="-122"/>
              </a:rPr>
              <a:t>纸币本位的固定汇率制度下的国际收支自动调节机制</a:t>
            </a:r>
          </a:p>
          <a:p>
            <a:pPr marL="800100" lvl="1" indent="-571500">
              <a:lnSpc>
                <a:spcPct val="120000"/>
              </a:lnSpc>
              <a:buFont typeface="+mj-lt"/>
              <a:buAutoNum type="romanUcPeriod"/>
            </a:pPr>
            <a:r>
              <a:rPr lang="zh-CN" altLang="en-US" sz="2600" b="1" dirty="0">
                <a:latin typeface="华文楷体" pitchFamily="2" charset="-122"/>
                <a:ea typeface="华文楷体" pitchFamily="2" charset="-122"/>
              </a:rPr>
              <a:t>浮动汇率制度下的国际收支自动调整机制</a:t>
            </a:r>
          </a:p>
        </p:txBody>
      </p:sp>
      <p:sp>
        <p:nvSpPr>
          <p:cNvPr id="5" name="页脚占位符 4"/>
          <p:cNvSpPr>
            <a:spLocks noGrp="1"/>
          </p:cNvSpPr>
          <p:nvPr>
            <p:ph type="ftr" sz="quarter" idx="11"/>
          </p:nvPr>
        </p:nvSpPr>
        <p:spPr/>
        <p:txBody>
          <a:bodyPr/>
          <a:lstStyle/>
          <a:p>
            <a:r>
              <a:rPr lang="zh-CN" altLang="en-US"/>
              <a:t>国际金融学 范小云</a:t>
            </a:r>
            <a:endParaRPr lang="zh-CN" altLang="en-US" dirty="0"/>
          </a:p>
        </p:txBody>
      </p:sp>
    </p:spTree>
    <p:extLst>
      <p:ext uri="{BB962C8B-B14F-4D97-AF65-F5344CB8AC3E}">
        <p14:creationId xmlns:p14="http://schemas.microsoft.com/office/powerpoint/2010/main" val="417005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altLang="en-US" dirty="0"/>
              <a:t>三</a:t>
            </a:r>
            <a:r>
              <a:rPr lang="zh-CN" altLang="en-US" dirty="0"/>
              <a:t>节	国际收支的失衡与调节</a:t>
            </a:r>
            <a:endParaRPr lang="zh-CN" dirty="0"/>
          </a:p>
        </p:txBody>
      </p:sp>
      <p:sp>
        <p:nvSpPr>
          <p:cNvPr id="5" name="页脚占位符 4"/>
          <p:cNvSpPr>
            <a:spLocks noGrp="1"/>
          </p:cNvSpPr>
          <p:nvPr>
            <p:ph type="ftr" sz="quarter" idx="11"/>
          </p:nvPr>
        </p:nvSpPr>
        <p:spPr/>
        <p:txBody>
          <a:bodyPr/>
          <a:lstStyle/>
          <a:p>
            <a:r>
              <a:rPr lang="zh-CN" altLang="en-US"/>
              <a:t>国际金融学 范小云</a:t>
            </a:r>
            <a:endParaRPr lang="zh-CN" altLang="en-US" dirty="0"/>
          </a:p>
        </p:txBody>
      </p:sp>
      <p:sp>
        <p:nvSpPr>
          <p:cNvPr id="27" name="Text Box 14"/>
          <p:cNvSpPr txBox="1">
            <a:spLocks noChangeArrowheads="1"/>
          </p:cNvSpPr>
          <p:nvPr/>
        </p:nvSpPr>
        <p:spPr bwMode="auto">
          <a:xfrm>
            <a:off x="755650" y="2852738"/>
            <a:ext cx="1584325" cy="830997"/>
          </a:xfrm>
          <a:prstGeom prst="rect">
            <a:avLst/>
          </a:prstGeom>
          <a:noFill/>
          <a:ln>
            <a:solidFill>
              <a:schemeClr val="accent1"/>
            </a:solid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dirty="0">
                <a:solidFill>
                  <a:srgbClr val="0070C0"/>
                </a:solidFill>
                <a:latin typeface="楷体" pitchFamily="49" charset="-122"/>
                <a:ea typeface="楷体" pitchFamily="49" charset="-122"/>
              </a:rPr>
              <a:t>国际收支赤字</a:t>
            </a:r>
          </a:p>
        </p:txBody>
      </p:sp>
      <p:grpSp>
        <p:nvGrpSpPr>
          <p:cNvPr id="7" name="组合 6"/>
          <p:cNvGrpSpPr/>
          <p:nvPr/>
        </p:nvGrpSpPr>
        <p:grpSpPr>
          <a:xfrm>
            <a:off x="827088" y="1412875"/>
            <a:ext cx="1512887" cy="1439863"/>
            <a:chOff x="827088" y="1412875"/>
            <a:chExt cx="1512887" cy="1439863"/>
          </a:xfrm>
        </p:grpSpPr>
        <p:sp>
          <p:nvSpPr>
            <p:cNvPr id="29" name="Text Box 16"/>
            <p:cNvSpPr txBox="1">
              <a:spLocks noChangeArrowheads="1"/>
            </p:cNvSpPr>
            <p:nvPr/>
          </p:nvSpPr>
          <p:spPr bwMode="auto">
            <a:xfrm>
              <a:off x="827088" y="1412875"/>
              <a:ext cx="1512887" cy="830997"/>
            </a:xfrm>
            <a:prstGeom prst="rect">
              <a:avLst/>
            </a:prstGeom>
            <a:noFill/>
            <a:ln>
              <a:solidFill>
                <a:schemeClr val="accent1"/>
              </a:solid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a:solidFill>
                    <a:srgbClr val="0070C0"/>
                  </a:solidFill>
                  <a:latin typeface="楷体" pitchFamily="49" charset="-122"/>
                  <a:ea typeface="楷体" pitchFamily="49" charset="-122"/>
                </a:rPr>
                <a:t>黄金   外流</a:t>
              </a:r>
            </a:p>
          </p:txBody>
        </p:sp>
        <p:sp>
          <p:nvSpPr>
            <p:cNvPr id="28" name="Line 15"/>
            <p:cNvSpPr>
              <a:spLocks noChangeShapeType="1"/>
            </p:cNvSpPr>
            <p:nvPr/>
          </p:nvSpPr>
          <p:spPr bwMode="auto">
            <a:xfrm flipV="1">
              <a:off x="1547813" y="2349500"/>
              <a:ext cx="0" cy="503238"/>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b="1">
                <a:solidFill>
                  <a:srgbClr val="0070C0"/>
                </a:solidFill>
                <a:latin typeface="楷体" pitchFamily="49" charset="-122"/>
                <a:ea typeface="楷体" pitchFamily="49" charset="-122"/>
              </a:endParaRPr>
            </a:p>
          </p:txBody>
        </p:sp>
      </p:grpSp>
      <p:grpSp>
        <p:nvGrpSpPr>
          <p:cNvPr id="8" name="组合 7"/>
          <p:cNvGrpSpPr/>
          <p:nvPr/>
        </p:nvGrpSpPr>
        <p:grpSpPr>
          <a:xfrm>
            <a:off x="2339975" y="1412875"/>
            <a:ext cx="2017713" cy="830997"/>
            <a:chOff x="2339975" y="1412875"/>
            <a:chExt cx="2017713" cy="830997"/>
          </a:xfrm>
        </p:grpSpPr>
        <p:sp>
          <p:nvSpPr>
            <p:cNvPr id="31" name="Text Box 18"/>
            <p:cNvSpPr txBox="1">
              <a:spLocks noChangeArrowheads="1"/>
            </p:cNvSpPr>
            <p:nvPr/>
          </p:nvSpPr>
          <p:spPr bwMode="auto">
            <a:xfrm>
              <a:off x="2844800" y="1412875"/>
              <a:ext cx="1512888" cy="830997"/>
            </a:xfrm>
            <a:prstGeom prst="rect">
              <a:avLst/>
            </a:prstGeom>
            <a:noFill/>
            <a:ln>
              <a:solidFill>
                <a:schemeClr val="accent1"/>
              </a:solid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dirty="0">
                  <a:solidFill>
                    <a:srgbClr val="0070C0"/>
                  </a:solidFill>
                  <a:latin typeface="楷体" pitchFamily="49" charset="-122"/>
                  <a:ea typeface="楷体" pitchFamily="49" charset="-122"/>
                </a:rPr>
                <a:t>货币供给下降</a:t>
              </a:r>
            </a:p>
          </p:txBody>
        </p:sp>
        <p:sp>
          <p:nvSpPr>
            <p:cNvPr id="30" name="Line 17"/>
            <p:cNvSpPr>
              <a:spLocks noChangeShapeType="1"/>
            </p:cNvSpPr>
            <p:nvPr/>
          </p:nvSpPr>
          <p:spPr bwMode="auto">
            <a:xfrm flipV="1">
              <a:off x="2339975" y="1844675"/>
              <a:ext cx="504825" cy="0"/>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b="1">
                <a:solidFill>
                  <a:srgbClr val="0070C0"/>
                </a:solidFill>
                <a:latin typeface="楷体" pitchFamily="49" charset="-122"/>
                <a:ea typeface="楷体" pitchFamily="49" charset="-122"/>
              </a:endParaRPr>
            </a:p>
          </p:txBody>
        </p:sp>
      </p:grpSp>
      <p:grpSp>
        <p:nvGrpSpPr>
          <p:cNvPr id="9" name="组合 8"/>
          <p:cNvGrpSpPr/>
          <p:nvPr/>
        </p:nvGrpSpPr>
        <p:grpSpPr>
          <a:xfrm>
            <a:off x="4356100" y="1412875"/>
            <a:ext cx="2017713" cy="830997"/>
            <a:chOff x="4356100" y="1412875"/>
            <a:chExt cx="2017713" cy="830997"/>
          </a:xfrm>
        </p:grpSpPr>
        <p:sp>
          <p:nvSpPr>
            <p:cNvPr id="32" name="Text Box 19"/>
            <p:cNvSpPr txBox="1">
              <a:spLocks noChangeArrowheads="1"/>
            </p:cNvSpPr>
            <p:nvPr/>
          </p:nvSpPr>
          <p:spPr bwMode="auto">
            <a:xfrm>
              <a:off x="4860925" y="1412875"/>
              <a:ext cx="1512888" cy="830997"/>
            </a:xfrm>
            <a:prstGeom prst="rect">
              <a:avLst/>
            </a:prstGeom>
            <a:noFill/>
            <a:ln>
              <a:solidFill>
                <a:schemeClr val="accent1"/>
              </a:solid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a:solidFill>
                    <a:srgbClr val="0070C0"/>
                  </a:solidFill>
                  <a:latin typeface="楷体" pitchFamily="49" charset="-122"/>
                  <a:ea typeface="楷体" pitchFamily="49" charset="-122"/>
                </a:rPr>
                <a:t>价格   下降</a:t>
              </a:r>
            </a:p>
          </p:txBody>
        </p:sp>
        <p:sp>
          <p:nvSpPr>
            <p:cNvPr id="35" name="Line 26"/>
            <p:cNvSpPr>
              <a:spLocks noChangeShapeType="1"/>
            </p:cNvSpPr>
            <p:nvPr/>
          </p:nvSpPr>
          <p:spPr bwMode="auto">
            <a:xfrm flipV="1">
              <a:off x="4356100" y="1916113"/>
              <a:ext cx="504825" cy="0"/>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b="1">
                <a:solidFill>
                  <a:srgbClr val="0070C0"/>
                </a:solidFill>
                <a:latin typeface="楷体" pitchFamily="49" charset="-122"/>
                <a:ea typeface="楷体" pitchFamily="49" charset="-122"/>
              </a:endParaRPr>
            </a:p>
          </p:txBody>
        </p:sp>
      </p:grpSp>
      <p:grpSp>
        <p:nvGrpSpPr>
          <p:cNvPr id="10" name="组合 9"/>
          <p:cNvGrpSpPr/>
          <p:nvPr/>
        </p:nvGrpSpPr>
        <p:grpSpPr>
          <a:xfrm>
            <a:off x="6372225" y="1412875"/>
            <a:ext cx="2160588" cy="830997"/>
            <a:chOff x="6372225" y="1412875"/>
            <a:chExt cx="2160588" cy="830997"/>
          </a:xfrm>
        </p:grpSpPr>
        <p:sp>
          <p:nvSpPr>
            <p:cNvPr id="33" name="Text Box 20"/>
            <p:cNvSpPr txBox="1">
              <a:spLocks noChangeArrowheads="1"/>
            </p:cNvSpPr>
            <p:nvPr/>
          </p:nvSpPr>
          <p:spPr bwMode="auto">
            <a:xfrm>
              <a:off x="6875463" y="1412875"/>
              <a:ext cx="1657350" cy="830997"/>
            </a:xfrm>
            <a:prstGeom prst="rect">
              <a:avLst/>
            </a:prstGeom>
            <a:noFill/>
            <a:ln>
              <a:solidFill>
                <a:schemeClr val="accent1"/>
              </a:solid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dirty="0">
                  <a:solidFill>
                    <a:srgbClr val="0070C0"/>
                  </a:solidFill>
                  <a:latin typeface="楷体" pitchFamily="49" charset="-122"/>
                  <a:ea typeface="楷体" pitchFamily="49" charset="-122"/>
                </a:rPr>
                <a:t>出口增加进口减少</a:t>
              </a:r>
            </a:p>
          </p:txBody>
        </p:sp>
        <p:sp>
          <p:nvSpPr>
            <p:cNvPr id="36" name="Line 27"/>
            <p:cNvSpPr>
              <a:spLocks noChangeShapeType="1"/>
            </p:cNvSpPr>
            <p:nvPr/>
          </p:nvSpPr>
          <p:spPr bwMode="auto">
            <a:xfrm flipV="1">
              <a:off x="6372225" y="1916113"/>
              <a:ext cx="504825" cy="0"/>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b="1">
                <a:solidFill>
                  <a:srgbClr val="0070C0"/>
                </a:solidFill>
                <a:latin typeface="楷体" pitchFamily="49" charset="-122"/>
                <a:ea typeface="楷体" pitchFamily="49" charset="-122"/>
              </a:endParaRPr>
            </a:p>
          </p:txBody>
        </p:sp>
      </p:grpSp>
      <p:grpSp>
        <p:nvGrpSpPr>
          <p:cNvPr id="11" name="组合 10"/>
          <p:cNvGrpSpPr/>
          <p:nvPr/>
        </p:nvGrpSpPr>
        <p:grpSpPr>
          <a:xfrm>
            <a:off x="6877050" y="2356835"/>
            <a:ext cx="1584325" cy="1398337"/>
            <a:chOff x="6877050" y="2356835"/>
            <a:chExt cx="1584325" cy="1398337"/>
          </a:xfrm>
        </p:grpSpPr>
        <p:sp>
          <p:nvSpPr>
            <p:cNvPr id="34" name="Text Box 21"/>
            <p:cNvSpPr txBox="1">
              <a:spLocks noChangeArrowheads="1"/>
            </p:cNvSpPr>
            <p:nvPr/>
          </p:nvSpPr>
          <p:spPr bwMode="auto">
            <a:xfrm>
              <a:off x="6877050" y="2924175"/>
              <a:ext cx="1584325" cy="830997"/>
            </a:xfrm>
            <a:prstGeom prst="rect">
              <a:avLst/>
            </a:prstGeom>
            <a:noFill/>
            <a:ln>
              <a:solidFill>
                <a:schemeClr val="accent1"/>
              </a:solid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dirty="0">
                  <a:solidFill>
                    <a:srgbClr val="0070C0"/>
                  </a:solidFill>
                  <a:latin typeface="楷体" pitchFamily="49" charset="-122"/>
                  <a:ea typeface="楷体" pitchFamily="49" charset="-122"/>
                </a:rPr>
                <a:t>国际收支盈余</a:t>
              </a:r>
            </a:p>
          </p:txBody>
        </p:sp>
        <p:sp>
          <p:nvSpPr>
            <p:cNvPr id="37" name="Line 28"/>
            <p:cNvSpPr>
              <a:spLocks noChangeShapeType="1"/>
            </p:cNvSpPr>
            <p:nvPr/>
          </p:nvSpPr>
          <p:spPr bwMode="auto">
            <a:xfrm>
              <a:off x="7633492" y="2356835"/>
              <a:ext cx="3679" cy="540911"/>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b="1">
                <a:solidFill>
                  <a:srgbClr val="0070C0"/>
                </a:solidFill>
                <a:latin typeface="楷体" pitchFamily="49" charset="-122"/>
                <a:ea typeface="楷体" pitchFamily="49" charset="-122"/>
              </a:endParaRPr>
            </a:p>
          </p:txBody>
        </p:sp>
      </p:grpSp>
      <p:grpSp>
        <p:nvGrpSpPr>
          <p:cNvPr id="17" name="组合 16"/>
          <p:cNvGrpSpPr/>
          <p:nvPr/>
        </p:nvGrpSpPr>
        <p:grpSpPr>
          <a:xfrm>
            <a:off x="755650" y="3789363"/>
            <a:ext cx="7634288" cy="1407259"/>
            <a:chOff x="755650" y="3789363"/>
            <a:chExt cx="7634288" cy="1407259"/>
          </a:xfrm>
        </p:grpSpPr>
        <p:grpSp>
          <p:nvGrpSpPr>
            <p:cNvPr id="12" name="组合 11"/>
            <p:cNvGrpSpPr/>
            <p:nvPr/>
          </p:nvGrpSpPr>
          <p:grpSpPr>
            <a:xfrm>
              <a:off x="6877050" y="3860800"/>
              <a:ext cx="1512888" cy="1335822"/>
              <a:chOff x="6877050" y="3860800"/>
              <a:chExt cx="1512888" cy="1335822"/>
            </a:xfrm>
          </p:grpSpPr>
          <p:sp>
            <p:nvSpPr>
              <p:cNvPr id="40" name="Text Box 23"/>
              <p:cNvSpPr txBox="1">
                <a:spLocks noChangeArrowheads="1"/>
              </p:cNvSpPr>
              <p:nvPr/>
            </p:nvSpPr>
            <p:spPr bwMode="auto">
              <a:xfrm>
                <a:off x="6877050" y="4365625"/>
                <a:ext cx="1512888" cy="830997"/>
              </a:xfrm>
              <a:prstGeom prst="rect">
                <a:avLst/>
              </a:prstGeom>
              <a:noFill/>
              <a:ln w="9525">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a:solidFill>
                      <a:srgbClr val="0070C0"/>
                    </a:solidFill>
                    <a:latin typeface="楷体" pitchFamily="49" charset="-122"/>
                    <a:ea typeface="楷体" pitchFamily="49" charset="-122"/>
                  </a:rPr>
                  <a:t>黄金   内流</a:t>
                </a:r>
              </a:p>
            </p:txBody>
          </p:sp>
          <p:sp>
            <p:nvSpPr>
              <p:cNvPr id="43" name="Line 32"/>
              <p:cNvSpPr>
                <a:spLocks noChangeShapeType="1"/>
              </p:cNvSpPr>
              <p:nvPr/>
            </p:nvSpPr>
            <p:spPr bwMode="auto">
              <a:xfrm>
                <a:off x="7669213" y="3860800"/>
                <a:ext cx="0" cy="503237"/>
              </a:xfrm>
              <a:prstGeom prst="line">
                <a:avLst/>
              </a:prstGeom>
              <a:solidFill>
                <a:schemeClr val="accent1"/>
              </a:solidFill>
              <a:ln w="31750">
                <a:solidFill>
                  <a:srgbClr val="FF0000"/>
                </a:solidFill>
                <a:round/>
                <a:headEnd/>
                <a:tailEnd type="triangle" w="med" len="med"/>
              </a:ln>
            </p:spPr>
            <p:txBody>
              <a:bodyPr/>
              <a:lstStyle/>
              <a:p>
                <a:endParaRPr lang="zh-CN" altLang="en-US" sz="2400" b="1">
                  <a:solidFill>
                    <a:srgbClr val="0070C0"/>
                  </a:solidFill>
                  <a:latin typeface="楷体" pitchFamily="49" charset="-122"/>
                  <a:ea typeface="楷体" pitchFamily="49" charset="-122"/>
                </a:endParaRPr>
              </a:p>
            </p:txBody>
          </p:sp>
        </p:grpSp>
        <p:grpSp>
          <p:nvGrpSpPr>
            <p:cNvPr id="13" name="组合 12"/>
            <p:cNvGrpSpPr/>
            <p:nvPr/>
          </p:nvGrpSpPr>
          <p:grpSpPr>
            <a:xfrm>
              <a:off x="4932363" y="4365625"/>
              <a:ext cx="1944687" cy="830997"/>
              <a:chOff x="4932363" y="4365625"/>
              <a:chExt cx="1944687" cy="830997"/>
            </a:xfrm>
          </p:grpSpPr>
          <p:sp>
            <p:nvSpPr>
              <p:cNvPr id="39" name="Text Box 22"/>
              <p:cNvSpPr txBox="1">
                <a:spLocks noChangeArrowheads="1"/>
              </p:cNvSpPr>
              <p:nvPr/>
            </p:nvSpPr>
            <p:spPr bwMode="auto">
              <a:xfrm>
                <a:off x="4932363" y="4365625"/>
                <a:ext cx="1512888" cy="830997"/>
              </a:xfrm>
              <a:prstGeom prst="rect">
                <a:avLst/>
              </a:prstGeom>
              <a:noFill/>
              <a:ln w="9525">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a:solidFill>
                      <a:srgbClr val="0070C0"/>
                    </a:solidFill>
                    <a:latin typeface="楷体" pitchFamily="49" charset="-122"/>
                    <a:ea typeface="楷体" pitchFamily="49" charset="-122"/>
                  </a:rPr>
                  <a:t>货币供给上升</a:t>
                </a:r>
              </a:p>
            </p:txBody>
          </p:sp>
          <p:sp>
            <p:nvSpPr>
              <p:cNvPr id="44" name="Line 33"/>
              <p:cNvSpPr>
                <a:spLocks noChangeShapeType="1"/>
              </p:cNvSpPr>
              <p:nvPr/>
            </p:nvSpPr>
            <p:spPr bwMode="auto">
              <a:xfrm flipH="1">
                <a:off x="6445250" y="4868863"/>
                <a:ext cx="431800" cy="0"/>
              </a:xfrm>
              <a:prstGeom prst="line">
                <a:avLst/>
              </a:prstGeom>
              <a:solidFill>
                <a:schemeClr val="accent1"/>
              </a:solidFill>
              <a:ln w="31750">
                <a:solidFill>
                  <a:srgbClr val="FF0000"/>
                </a:solidFill>
                <a:round/>
                <a:headEnd/>
                <a:tailEnd type="triangle" w="med" len="med"/>
              </a:ln>
            </p:spPr>
            <p:txBody>
              <a:bodyPr/>
              <a:lstStyle/>
              <a:p>
                <a:endParaRPr lang="zh-CN" altLang="en-US" sz="2400" b="1">
                  <a:solidFill>
                    <a:srgbClr val="0070C0"/>
                  </a:solidFill>
                  <a:latin typeface="楷体" pitchFamily="49" charset="-122"/>
                  <a:ea typeface="楷体" pitchFamily="49" charset="-122"/>
                </a:endParaRPr>
              </a:p>
            </p:txBody>
          </p:sp>
        </p:grpSp>
        <p:grpSp>
          <p:nvGrpSpPr>
            <p:cNvPr id="14" name="组合 13"/>
            <p:cNvGrpSpPr/>
            <p:nvPr/>
          </p:nvGrpSpPr>
          <p:grpSpPr>
            <a:xfrm>
              <a:off x="2916238" y="4365625"/>
              <a:ext cx="2016125" cy="830997"/>
              <a:chOff x="2916238" y="4365625"/>
              <a:chExt cx="2016125" cy="830997"/>
            </a:xfrm>
          </p:grpSpPr>
          <p:sp>
            <p:nvSpPr>
              <p:cNvPr id="41" name="Text Box 24"/>
              <p:cNvSpPr txBox="1">
                <a:spLocks noChangeArrowheads="1"/>
              </p:cNvSpPr>
              <p:nvPr/>
            </p:nvSpPr>
            <p:spPr bwMode="auto">
              <a:xfrm>
                <a:off x="2916238" y="4365625"/>
                <a:ext cx="1512888" cy="830997"/>
              </a:xfrm>
              <a:prstGeom prst="rect">
                <a:avLst/>
              </a:prstGeom>
              <a:noFill/>
              <a:ln w="9525">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dirty="0">
                    <a:solidFill>
                      <a:srgbClr val="0070C0"/>
                    </a:solidFill>
                    <a:latin typeface="楷体" pitchFamily="49" charset="-122"/>
                    <a:ea typeface="楷体" pitchFamily="49" charset="-122"/>
                  </a:rPr>
                  <a:t>价格   上升</a:t>
                </a:r>
              </a:p>
            </p:txBody>
          </p:sp>
          <p:sp>
            <p:nvSpPr>
              <p:cNvPr id="45" name="Line 34"/>
              <p:cNvSpPr>
                <a:spLocks noChangeShapeType="1"/>
              </p:cNvSpPr>
              <p:nvPr/>
            </p:nvSpPr>
            <p:spPr bwMode="auto">
              <a:xfrm flipH="1">
                <a:off x="4427538" y="4868863"/>
                <a:ext cx="504825" cy="0"/>
              </a:xfrm>
              <a:prstGeom prst="line">
                <a:avLst/>
              </a:prstGeom>
              <a:solidFill>
                <a:schemeClr val="accent1"/>
              </a:solidFill>
              <a:ln w="31750">
                <a:solidFill>
                  <a:srgbClr val="FF0000"/>
                </a:solidFill>
                <a:round/>
                <a:headEnd/>
                <a:tailEnd type="triangle" w="med" len="med"/>
              </a:ln>
            </p:spPr>
            <p:txBody>
              <a:bodyPr/>
              <a:lstStyle/>
              <a:p>
                <a:endParaRPr lang="zh-CN" altLang="en-US" sz="2400" b="1">
                  <a:solidFill>
                    <a:srgbClr val="0070C0"/>
                  </a:solidFill>
                  <a:latin typeface="楷体" pitchFamily="49" charset="-122"/>
                  <a:ea typeface="楷体" pitchFamily="49" charset="-122"/>
                </a:endParaRPr>
              </a:p>
            </p:txBody>
          </p:sp>
        </p:grpSp>
        <p:grpSp>
          <p:nvGrpSpPr>
            <p:cNvPr id="15" name="组合 14"/>
            <p:cNvGrpSpPr/>
            <p:nvPr/>
          </p:nvGrpSpPr>
          <p:grpSpPr>
            <a:xfrm>
              <a:off x="755650" y="3789363"/>
              <a:ext cx="2160588" cy="1407259"/>
              <a:chOff x="755650" y="3789363"/>
              <a:chExt cx="2160588" cy="1407259"/>
            </a:xfrm>
          </p:grpSpPr>
          <p:sp>
            <p:nvSpPr>
              <p:cNvPr id="42" name="Text Box 25"/>
              <p:cNvSpPr txBox="1">
                <a:spLocks noChangeArrowheads="1"/>
              </p:cNvSpPr>
              <p:nvPr/>
            </p:nvSpPr>
            <p:spPr bwMode="auto">
              <a:xfrm>
                <a:off x="755650" y="4365625"/>
                <a:ext cx="1657350" cy="830997"/>
              </a:xfrm>
              <a:prstGeom prst="rect">
                <a:avLst/>
              </a:prstGeom>
              <a:noFill/>
              <a:ln w="9525">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a:solidFill>
                      <a:srgbClr val="0070C0"/>
                    </a:solidFill>
                    <a:latin typeface="楷体" pitchFamily="49" charset="-122"/>
                    <a:ea typeface="楷体" pitchFamily="49" charset="-122"/>
                  </a:rPr>
                  <a:t>出口减少进口增加</a:t>
                </a:r>
              </a:p>
            </p:txBody>
          </p:sp>
          <p:sp>
            <p:nvSpPr>
              <p:cNvPr id="46" name="Line 35"/>
              <p:cNvSpPr>
                <a:spLocks noChangeShapeType="1"/>
              </p:cNvSpPr>
              <p:nvPr/>
            </p:nvSpPr>
            <p:spPr bwMode="auto">
              <a:xfrm flipH="1">
                <a:off x="2411413" y="4868863"/>
                <a:ext cx="504825" cy="0"/>
              </a:xfrm>
              <a:prstGeom prst="line">
                <a:avLst/>
              </a:prstGeom>
              <a:solidFill>
                <a:schemeClr val="accent1"/>
              </a:solidFill>
              <a:ln w="31750">
                <a:solidFill>
                  <a:srgbClr val="FF0000"/>
                </a:solidFill>
                <a:round/>
                <a:headEnd/>
                <a:tailEnd type="triangle" w="med" len="med"/>
              </a:ln>
            </p:spPr>
            <p:txBody>
              <a:bodyPr/>
              <a:lstStyle/>
              <a:p>
                <a:endParaRPr lang="zh-CN" altLang="en-US" sz="2400" b="1">
                  <a:solidFill>
                    <a:srgbClr val="0070C0"/>
                  </a:solidFill>
                  <a:latin typeface="楷体" pitchFamily="49" charset="-122"/>
                  <a:ea typeface="楷体" pitchFamily="49" charset="-122"/>
                </a:endParaRPr>
              </a:p>
            </p:txBody>
          </p:sp>
          <p:sp>
            <p:nvSpPr>
              <p:cNvPr id="47" name="Line 36"/>
              <p:cNvSpPr>
                <a:spLocks noChangeShapeType="1"/>
              </p:cNvSpPr>
              <p:nvPr/>
            </p:nvSpPr>
            <p:spPr bwMode="auto">
              <a:xfrm flipV="1">
                <a:off x="1547813" y="3789363"/>
                <a:ext cx="0" cy="574675"/>
              </a:xfrm>
              <a:prstGeom prst="line">
                <a:avLst/>
              </a:prstGeom>
              <a:solidFill>
                <a:schemeClr val="accent1"/>
              </a:solidFill>
              <a:ln w="31750">
                <a:solidFill>
                  <a:srgbClr val="FF0000"/>
                </a:solidFill>
                <a:round/>
                <a:headEnd/>
                <a:tailEnd type="triangle" w="med" len="med"/>
              </a:ln>
            </p:spPr>
            <p:txBody>
              <a:bodyPr/>
              <a:lstStyle/>
              <a:p>
                <a:endParaRPr lang="zh-CN" altLang="en-US" sz="2400" b="1">
                  <a:solidFill>
                    <a:srgbClr val="0070C0"/>
                  </a:solidFill>
                  <a:latin typeface="楷体" pitchFamily="49" charset="-122"/>
                  <a:ea typeface="楷体" pitchFamily="49" charset="-122"/>
                </a:endParaRPr>
              </a:p>
            </p:txBody>
          </p:sp>
        </p:grpSp>
      </p:grpSp>
      <p:sp>
        <p:nvSpPr>
          <p:cNvPr id="38" name="TextBox 37"/>
          <p:cNvSpPr txBox="1"/>
          <p:nvPr/>
        </p:nvSpPr>
        <p:spPr>
          <a:xfrm>
            <a:off x="2334409" y="5518673"/>
            <a:ext cx="5023822" cy="400110"/>
          </a:xfrm>
          <a:prstGeom prst="rect">
            <a:avLst/>
          </a:prstGeom>
          <a:noFill/>
        </p:spPr>
        <p:txBody>
          <a:bodyPr wrap="square" rtlCol="0">
            <a:spAutoFit/>
          </a:bodyPr>
          <a:lstStyle/>
          <a:p>
            <a:pPr algn="ctr"/>
            <a:r>
              <a:rPr lang="zh-CN" altLang="en-US" sz="2000" b="1" dirty="0">
                <a:latin typeface="楷体" pitchFamily="49" charset="-122"/>
                <a:ea typeface="楷体" pitchFamily="49" charset="-122"/>
              </a:rPr>
              <a:t>价格</a:t>
            </a:r>
            <a:r>
              <a:rPr lang="en-US" altLang="zh-CN" sz="2000" b="1" dirty="0">
                <a:latin typeface="楷体" pitchFamily="49" charset="-122"/>
                <a:ea typeface="楷体" pitchFamily="49" charset="-122"/>
              </a:rPr>
              <a:t>-</a:t>
            </a:r>
            <a:r>
              <a:rPr lang="zh-CN" altLang="en-US" sz="2000" b="1" dirty="0">
                <a:latin typeface="楷体" pitchFamily="49" charset="-122"/>
                <a:ea typeface="楷体" pitchFamily="49" charset="-122"/>
              </a:rPr>
              <a:t>铸币流动机制</a:t>
            </a:r>
          </a:p>
        </p:txBody>
      </p:sp>
    </p:spTree>
    <p:extLst>
      <p:ext uri="{BB962C8B-B14F-4D97-AF65-F5344CB8AC3E}">
        <p14:creationId xmlns:p14="http://schemas.microsoft.com/office/powerpoint/2010/main" val="2183723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0-#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0-#ppt_w/2"/>
                                          </p:val>
                                        </p:tav>
                                        <p:tav tm="100000">
                                          <p:val>
                                            <p:strVal val="#ppt_x"/>
                                          </p:val>
                                        </p:tav>
                                      </p:tavLst>
                                    </p:anim>
                                    <p:anim calcmode="lin" valueType="num">
                                      <p:cBhvr additive="base">
                                        <p:cTn id="26"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0-#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1"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additive="base">
                                        <p:cTn id="43" dur="500" fill="hold"/>
                                        <p:tgtEl>
                                          <p:spTgt spid="17"/>
                                        </p:tgtEl>
                                        <p:attrNameLst>
                                          <p:attrName>ppt_x</p:attrName>
                                        </p:attrNameLst>
                                      </p:cBhvr>
                                      <p:tavLst>
                                        <p:tav tm="0">
                                          <p:val>
                                            <p:strVal val="#ppt_x"/>
                                          </p:val>
                                        </p:tav>
                                        <p:tav tm="100000">
                                          <p:val>
                                            <p:strVal val="#ppt_x"/>
                                          </p:val>
                                        </p:tav>
                                      </p:tavLst>
                                    </p:anim>
                                    <p:anim calcmode="lin" valueType="num">
                                      <p:cBhvr additive="base">
                                        <p:cTn id="4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b="1">
                <a:solidFill>
                  <a:srgbClr val="0070C0"/>
                </a:solidFill>
                <a:latin typeface="楷体" pitchFamily="49" charset="-122"/>
                <a:ea typeface="楷体" pitchFamily="49" charset="-122"/>
              </a:rPr>
              <a:t>国际金融学 范小云</a:t>
            </a:r>
            <a:endParaRPr lang="zh-CN" altLang="en-US" b="1" dirty="0">
              <a:solidFill>
                <a:srgbClr val="0070C0"/>
              </a:solidFill>
              <a:latin typeface="楷体" pitchFamily="49" charset="-122"/>
              <a:ea typeface="楷体" pitchFamily="49" charset="-122"/>
            </a:endParaRPr>
          </a:p>
        </p:txBody>
      </p:sp>
      <p:sp>
        <p:nvSpPr>
          <p:cNvPr id="90" name="Text Box 4"/>
          <p:cNvSpPr txBox="1">
            <a:spLocks noChangeArrowheads="1"/>
          </p:cNvSpPr>
          <p:nvPr/>
        </p:nvSpPr>
        <p:spPr bwMode="auto">
          <a:xfrm>
            <a:off x="612412" y="407306"/>
            <a:ext cx="801350" cy="461665"/>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0070C0"/>
                </a:solidFill>
                <a:latin typeface="楷体" pitchFamily="49" charset="-122"/>
                <a:ea typeface="楷体" pitchFamily="49" charset="-122"/>
              </a:rPr>
              <a:t>赤字</a:t>
            </a:r>
          </a:p>
        </p:txBody>
      </p:sp>
      <p:grpSp>
        <p:nvGrpSpPr>
          <p:cNvPr id="3" name="组合 2"/>
          <p:cNvGrpSpPr/>
          <p:nvPr/>
        </p:nvGrpSpPr>
        <p:grpSpPr>
          <a:xfrm>
            <a:off x="11690" y="883375"/>
            <a:ext cx="2074893" cy="654475"/>
            <a:chOff x="11690" y="883375"/>
            <a:chExt cx="2074893" cy="654475"/>
          </a:xfrm>
        </p:grpSpPr>
        <p:sp>
          <p:nvSpPr>
            <p:cNvPr id="91" name="Line 5"/>
            <p:cNvSpPr>
              <a:spLocks noChangeShapeType="1"/>
            </p:cNvSpPr>
            <p:nvPr/>
          </p:nvSpPr>
          <p:spPr bwMode="auto">
            <a:xfrm>
              <a:off x="1013087" y="883375"/>
              <a:ext cx="0" cy="215900"/>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b="1">
                <a:solidFill>
                  <a:srgbClr val="0070C0"/>
                </a:solidFill>
                <a:latin typeface="楷体" pitchFamily="49" charset="-122"/>
                <a:ea typeface="楷体" pitchFamily="49" charset="-122"/>
              </a:endParaRPr>
            </a:p>
          </p:txBody>
        </p:sp>
        <p:sp>
          <p:nvSpPr>
            <p:cNvPr id="92" name="Text Box 6"/>
            <p:cNvSpPr txBox="1">
              <a:spLocks noChangeArrowheads="1"/>
            </p:cNvSpPr>
            <p:nvPr/>
          </p:nvSpPr>
          <p:spPr bwMode="auto">
            <a:xfrm>
              <a:off x="11690" y="1076185"/>
              <a:ext cx="2074893" cy="461665"/>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0070C0"/>
                  </a:solidFill>
                  <a:latin typeface="楷体" pitchFamily="49" charset="-122"/>
                  <a:ea typeface="楷体" pitchFamily="49" charset="-122"/>
                </a:rPr>
                <a:t>外汇储备减少</a:t>
              </a:r>
            </a:p>
          </p:txBody>
        </p:sp>
      </p:grpSp>
      <p:grpSp>
        <p:nvGrpSpPr>
          <p:cNvPr id="4" name="组合 3"/>
          <p:cNvGrpSpPr/>
          <p:nvPr/>
        </p:nvGrpSpPr>
        <p:grpSpPr>
          <a:xfrm>
            <a:off x="12456" y="1537850"/>
            <a:ext cx="2085278" cy="737348"/>
            <a:chOff x="12456" y="1537850"/>
            <a:chExt cx="2085278" cy="737348"/>
          </a:xfrm>
        </p:grpSpPr>
        <p:sp>
          <p:nvSpPr>
            <p:cNvPr id="93" name="Line 7"/>
            <p:cNvSpPr>
              <a:spLocks noChangeShapeType="1"/>
            </p:cNvSpPr>
            <p:nvPr/>
          </p:nvSpPr>
          <p:spPr bwMode="auto">
            <a:xfrm>
              <a:off x="1013087" y="1537850"/>
              <a:ext cx="0" cy="260222"/>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b="1">
                <a:solidFill>
                  <a:srgbClr val="0070C0"/>
                </a:solidFill>
                <a:latin typeface="楷体" pitchFamily="49" charset="-122"/>
                <a:ea typeface="楷体" pitchFamily="49" charset="-122"/>
              </a:endParaRPr>
            </a:p>
          </p:txBody>
        </p:sp>
        <p:sp>
          <p:nvSpPr>
            <p:cNvPr id="94" name="Text Box 8"/>
            <p:cNvSpPr txBox="1">
              <a:spLocks noChangeArrowheads="1"/>
            </p:cNvSpPr>
            <p:nvPr/>
          </p:nvSpPr>
          <p:spPr bwMode="auto">
            <a:xfrm>
              <a:off x="12456" y="1813533"/>
              <a:ext cx="2085278" cy="461665"/>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0070C0"/>
                  </a:solidFill>
                  <a:latin typeface="楷体" pitchFamily="49" charset="-122"/>
                  <a:ea typeface="楷体" pitchFamily="49" charset="-122"/>
                </a:rPr>
                <a:t>货币供给减少</a:t>
              </a:r>
            </a:p>
          </p:txBody>
        </p:sp>
      </p:grpSp>
      <p:grpSp>
        <p:nvGrpSpPr>
          <p:cNvPr id="17" name="组合 16"/>
          <p:cNvGrpSpPr/>
          <p:nvPr/>
        </p:nvGrpSpPr>
        <p:grpSpPr>
          <a:xfrm>
            <a:off x="436620" y="4423021"/>
            <a:ext cx="828000" cy="1337433"/>
            <a:chOff x="436620" y="4423021"/>
            <a:chExt cx="828000" cy="1337433"/>
          </a:xfrm>
        </p:grpSpPr>
        <p:sp>
          <p:nvSpPr>
            <p:cNvPr id="108" name="Line 32"/>
            <p:cNvSpPr>
              <a:spLocks noChangeShapeType="1"/>
            </p:cNvSpPr>
            <p:nvPr/>
          </p:nvSpPr>
          <p:spPr bwMode="auto">
            <a:xfrm flipH="1">
              <a:off x="820264" y="4423021"/>
              <a:ext cx="0" cy="506435"/>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b="1">
                <a:solidFill>
                  <a:srgbClr val="0070C0"/>
                </a:solidFill>
                <a:latin typeface="楷体" pitchFamily="49" charset="-122"/>
                <a:ea typeface="楷体" pitchFamily="49" charset="-122"/>
              </a:endParaRPr>
            </a:p>
          </p:txBody>
        </p:sp>
        <p:sp>
          <p:nvSpPr>
            <p:cNvPr id="109" name="Text Box 33"/>
            <p:cNvSpPr txBox="1">
              <a:spLocks noChangeArrowheads="1"/>
            </p:cNvSpPr>
            <p:nvPr/>
          </p:nvSpPr>
          <p:spPr bwMode="auto">
            <a:xfrm>
              <a:off x="436620" y="4929457"/>
              <a:ext cx="828000" cy="830997"/>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rgbClr val="0070C0"/>
                  </a:solidFill>
                  <a:latin typeface="楷体" pitchFamily="49" charset="-122"/>
                  <a:ea typeface="楷体" pitchFamily="49" charset="-122"/>
                </a:rPr>
                <a:t>物价下降</a:t>
              </a:r>
            </a:p>
          </p:txBody>
        </p:sp>
      </p:grpSp>
      <p:grpSp>
        <p:nvGrpSpPr>
          <p:cNvPr id="19" name="组合 18"/>
          <p:cNvGrpSpPr/>
          <p:nvPr/>
        </p:nvGrpSpPr>
        <p:grpSpPr>
          <a:xfrm>
            <a:off x="3112619" y="4784297"/>
            <a:ext cx="2459078" cy="1200329"/>
            <a:chOff x="3112619" y="4784297"/>
            <a:chExt cx="2459078" cy="1200329"/>
          </a:xfrm>
        </p:grpSpPr>
        <p:sp>
          <p:nvSpPr>
            <p:cNvPr id="103" name="Text Box 27"/>
            <p:cNvSpPr txBox="1">
              <a:spLocks noChangeArrowheads="1"/>
            </p:cNvSpPr>
            <p:nvPr/>
          </p:nvSpPr>
          <p:spPr bwMode="auto">
            <a:xfrm>
              <a:off x="3411109" y="4784297"/>
              <a:ext cx="2160588" cy="1200329"/>
            </a:xfrm>
            <a:prstGeom prst="rect">
              <a:avLst/>
            </a:prstGeom>
            <a:solidFill>
              <a:schemeClr val="accent1"/>
            </a:solidFill>
            <a:ln w="9525">
              <a:noFill/>
              <a:miter lim="800000"/>
              <a:headEnd/>
              <a:tailEnd/>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chemeClr val="bg1"/>
                  </a:solidFill>
                  <a:latin typeface="楷体" pitchFamily="49" charset="-122"/>
                  <a:ea typeface="楷体" pitchFamily="49" charset="-122"/>
                </a:rPr>
                <a:t>相对价格效应：</a:t>
              </a:r>
              <a:endParaRPr lang="en-US" altLang="zh-CN" sz="2400" b="1" dirty="0">
                <a:solidFill>
                  <a:schemeClr val="bg1"/>
                </a:solidFill>
                <a:latin typeface="楷体" pitchFamily="49" charset="-122"/>
                <a:ea typeface="楷体" pitchFamily="49" charset="-122"/>
              </a:endParaRPr>
            </a:p>
            <a:p>
              <a:pPr eaLnBrk="1" hangingPunct="1"/>
              <a:r>
                <a:rPr lang="zh-CN" altLang="en-US" sz="2400" b="1" dirty="0">
                  <a:solidFill>
                    <a:schemeClr val="bg1"/>
                  </a:solidFill>
                  <a:latin typeface="楷体" pitchFamily="49" charset="-122"/>
                  <a:ea typeface="楷体" pitchFamily="49" charset="-122"/>
                </a:rPr>
                <a:t>改善经常账户收支</a:t>
              </a:r>
            </a:p>
          </p:txBody>
        </p:sp>
        <p:sp>
          <p:nvSpPr>
            <p:cNvPr id="133" name="Line 30"/>
            <p:cNvSpPr>
              <a:spLocks noChangeShapeType="1"/>
            </p:cNvSpPr>
            <p:nvPr/>
          </p:nvSpPr>
          <p:spPr bwMode="auto">
            <a:xfrm>
              <a:off x="3112619" y="5324574"/>
              <a:ext cx="287338" cy="0"/>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b="1">
                <a:solidFill>
                  <a:schemeClr val="bg1"/>
                </a:solidFill>
                <a:latin typeface="楷体" pitchFamily="49" charset="-122"/>
                <a:ea typeface="楷体" pitchFamily="49" charset="-122"/>
              </a:endParaRPr>
            </a:p>
          </p:txBody>
        </p:sp>
      </p:grpSp>
      <p:grpSp>
        <p:nvGrpSpPr>
          <p:cNvPr id="18" name="组合 17"/>
          <p:cNvGrpSpPr/>
          <p:nvPr/>
        </p:nvGrpSpPr>
        <p:grpSpPr>
          <a:xfrm>
            <a:off x="1250522" y="4929457"/>
            <a:ext cx="1864536" cy="830997"/>
            <a:chOff x="1250522" y="4929457"/>
            <a:chExt cx="1864536" cy="830997"/>
          </a:xfrm>
        </p:grpSpPr>
        <p:sp>
          <p:nvSpPr>
            <p:cNvPr id="134" name="Line 29"/>
            <p:cNvSpPr>
              <a:spLocks noChangeShapeType="1"/>
            </p:cNvSpPr>
            <p:nvPr/>
          </p:nvSpPr>
          <p:spPr bwMode="auto">
            <a:xfrm flipV="1">
              <a:off x="1250522" y="5343239"/>
              <a:ext cx="439678" cy="1"/>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b="1">
                <a:solidFill>
                  <a:srgbClr val="0070C0"/>
                </a:solidFill>
                <a:latin typeface="楷体" pitchFamily="49" charset="-122"/>
                <a:ea typeface="楷体" pitchFamily="49" charset="-122"/>
              </a:endParaRPr>
            </a:p>
          </p:txBody>
        </p:sp>
        <p:sp>
          <p:nvSpPr>
            <p:cNvPr id="135" name="Text Box 31"/>
            <p:cNvSpPr txBox="1">
              <a:spLocks noChangeArrowheads="1"/>
            </p:cNvSpPr>
            <p:nvPr/>
          </p:nvSpPr>
          <p:spPr bwMode="auto">
            <a:xfrm>
              <a:off x="1701352" y="4929457"/>
              <a:ext cx="1413706" cy="830997"/>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0070C0"/>
                  </a:solidFill>
                  <a:latin typeface="楷体" pitchFamily="49" charset="-122"/>
                  <a:ea typeface="楷体" pitchFamily="49" charset="-122"/>
                </a:rPr>
                <a:t>出口增加进口减少</a:t>
              </a:r>
            </a:p>
          </p:txBody>
        </p:sp>
      </p:grpSp>
      <p:grpSp>
        <p:nvGrpSpPr>
          <p:cNvPr id="14" name="组合 13"/>
          <p:cNvGrpSpPr/>
          <p:nvPr/>
        </p:nvGrpSpPr>
        <p:grpSpPr>
          <a:xfrm>
            <a:off x="296075" y="2980463"/>
            <a:ext cx="1109091" cy="1408572"/>
            <a:chOff x="296075" y="2980463"/>
            <a:chExt cx="1109091" cy="1408572"/>
          </a:xfrm>
        </p:grpSpPr>
        <p:sp>
          <p:nvSpPr>
            <p:cNvPr id="101" name="Line 25"/>
            <p:cNvSpPr>
              <a:spLocks noChangeShapeType="1"/>
            </p:cNvSpPr>
            <p:nvPr/>
          </p:nvSpPr>
          <p:spPr bwMode="auto">
            <a:xfrm flipH="1">
              <a:off x="842255" y="2980463"/>
              <a:ext cx="0" cy="562636"/>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b="1">
                <a:solidFill>
                  <a:srgbClr val="0070C0"/>
                </a:solidFill>
                <a:latin typeface="楷体" pitchFamily="49" charset="-122"/>
                <a:ea typeface="楷体" pitchFamily="49" charset="-122"/>
              </a:endParaRPr>
            </a:p>
          </p:txBody>
        </p:sp>
        <p:sp>
          <p:nvSpPr>
            <p:cNvPr id="104" name="Text Box 28"/>
            <p:cNvSpPr txBox="1">
              <a:spLocks noChangeArrowheads="1"/>
            </p:cNvSpPr>
            <p:nvPr/>
          </p:nvSpPr>
          <p:spPr bwMode="auto">
            <a:xfrm>
              <a:off x="296075" y="3561163"/>
              <a:ext cx="1109091" cy="827872"/>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0070C0"/>
                  </a:solidFill>
                  <a:latin typeface="楷体" pitchFamily="49" charset="-122"/>
                  <a:ea typeface="楷体" pitchFamily="49" charset="-122"/>
                </a:rPr>
                <a:t>减少国内支出</a:t>
              </a:r>
            </a:p>
          </p:txBody>
        </p:sp>
      </p:grpSp>
      <p:grpSp>
        <p:nvGrpSpPr>
          <p:cNvPr id="16" name="组合 15"/>
          <p:cNvGrpSpPr/>
          <p:nvPr/>
        </p:nvGrpSpPr>
        <p:grpSpPr>
          <a:xfrm>
            <a:off x="3134921" y="3467509"/>
            <a:ext cx="2436776" cy="1195815"/>
            <a:chOff x="3134921" y="3467509"/>
            <a:chExt cx="2436776" cy="1195815"/>
          </a:xfrm>
        </p:grpSpPr>
        <p:sp>
          <p:nvSpPr>
            <p:cNvPr id="102" name="Text Box 26"/>
            <p:cNvSpPr txBox="1">
              <a:spLocks noChangeArrowheads="1"/>
            </p:cNvSpPr>
            <p:nvPr/>
          </p:nvSpPr>
          <p:spPr bwMode="auto">
            <a:xfrm>
              <a:off x="3411109" y="3467509"/>
              <a:ext cx="2160588" cy="1195815"/>
            </a:xfrm>
            <a:prstGeom prst="rect">
              <a:avLst/>
            </a:prstGeom>
            <a:solidFill>
              <a:schemeClr val="accent1"/>
            </a:solidFill>
            <a:ln w="9525">
              <a:noFill/>
              <a:miter lim="800000"/>
              <a:headEnd/>
              <a:tailEnd/>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chemeClr val="bg1"/>
                  </a:solidFill>
                  <a:latin typeface="楷体" pitchFamily="49" charset="-122"/>
                  <a:ea typeface="楷体" pitchFamily="49" charset="-122"/>
                </a:rPr>
                <a:t>收入效应：</a:t>
              </a:r>
              <a:endParaRPr lang="en-US" altLang="zh-CN" sz="2400" b="1" dirty="0">
                <a:solidFill>
                  <a:schemeClr val="bg1"/>
                </a:solidFill>
                <a:latin typeface="楷体" pitchFamily="49" charset="-122"/>
                <a:ea typeface="楷体" pitchFamily="49" charset="-122"/>
              </a:endParaRPr>
            </a:p>
            <a:p>
              <a:pPr eaLnBrk="1" hangingPunct="1"/>
              <a:r>
                <a:rPr lang="zh-CN" altLang="en-US" sz="2400" b="1" dirty="0">
                  <a:solidFill>
                    <a:schemeClr val="bg1"/>
                  </a:solidFill>
                  <a:latin typeface="楷体" pitchFamily="49" charset="-122"/>
                  <a:ea typeface="楷体" pitchFamily="49" charset="-122"/>
                </a:rPr>
                <a:t>改善经常账户收支</a:t>
              </a:r>
            </a:p>
          </p:txBody>
        </p:sp>
        <p:sp>
          <p:nvSpPr>
            <p:cNvPr id="106" name="Line 30"/>
            <p:cNvSpPr>
              <a:spLocks noChangeShapeType="1"/>
            </p:cNvSpPr>
            <p:nvPr/>
          </p:nvSpPr>
          <p:spPr bwMode="auto">
            <a:xfrm>
              <a:off x="3134921" y="3999121"/>
              <a:ext cx="287338" cy="0"/>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b="1">
                <a:solidFill>
                  <a:schemeClr val="bg1"/>
                </a:solidFill>
                <a:latin typeface="楷体" pitchFamily="49" charset="-122"/>
                <a:ea typeface="楷体" pitchFamily="49" charset="-122"/>
              </a:endParaRPr>
            </a:p>
          </p:txBody>
        </p:sp>
      </p:grpSp>
      <p:grpSp>
        <p:nvGrpSpPr>
          <p:cNvPr id="15" name="组合 14"/>
          <p:cNvGrpSpPr/>
          <p:nvPr/>
        </p:nvGrpSpPr>
        <p:grpSpPr>
          <a:xfrm>
            <a:off x="1419522" y="3582873"/>
            <a:ext cx="1701043" cy="824886"/>
            <a:chOff x="1419522" y="3582873"/>
            <a:chExt cx="1701043" cy="824886"/>
          </a:xfrm>
        </p:grpSpPr>
        <p:sp>
          <p:nvSpPr>
            <p:cNvPr id="105" name="Line 29"/>
            <p:cNvSpPr>
              <a:spLocks noChangeShapeType="1"/>
            </p:cNvSpPr>
            <p:nvPr/>
          </p:nvSpPr>
          <p:spPr bwMode="auto">
            <a:xfrm>
              <a:off x="1419522" y="3996808"/>
              <a:ext cx="287337" cy="0"/>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b="1">
                <a:solidFill>
                  <a:srgbClr val="0070C0"/>
                </a:solidFill>
                <a:latin typeface="楷体" pitchFamily="49" charset="-122"/>
                <a:ea typeface="楷体" pitchFamily="49" charset="-122"/>
              </a:endParaRPr>
            </a:p>
          </p:txBody>
        </p:sp>
        <p:sp>
          <p:nvSpPr>
            <p:cNvPr id="107" name="Text Box 31"/>
            <p:cNvSpPr txBox="1">
              <a:spLocks noChangeArrowheads="1"/>
            </p:cNvSpPr>
            <p:nvPr/>
          </p:nvSpPr>
          <p:spPr bwMode="auto">
            <a:xfrm>
              <a:off x="1706859" y="3582873"/>
              <a:ext cx="1413706" cy="824886"/>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0070C0"/>
                  </a:solidFill>
                  <a:latin typeface="楷体" pitchFamily="49" charset="-122"/>
                  <a:ea typeface="楷体" pitchFamily="49" charset="-122"/>
                </a:rPr>
                <a:t>收入减少进口减少</a:t>
              </a:r>
            </a:p>
          </p:txBody>
        </p:sp>
      </p:grpSp>
      <p:grpSp>
        <p:nvGrpSpPr>
          <p:cNvPr id="11" name="组合 10"/>
          <p:cNvGrpSpPr/>
          <p:nvPr/>
        </p:nvGrpSpPr>
        <p:grpSpPr>
          <a:xfrm>
            <a:off x="120258" y="2302897"/>
            <a:ext cx="1408616" cy="681373"/>
            <a:chOff x="120258" y="2302897"/>
            <a:chExt cx="1408616" cy="681373"/>
          </a:xfrm>
        </p:grpSpPr>
        <p:sp>
          <p:nvSpPr>
            <p:cNvPr id="96" name="Line 10"/>
            <p:cNvSpPr>
              <a:spLocks noChangeShapeType="1"/>
            </p:cNvSpPr>
            <p:nvPr/>
          </p:nvSpPr>
          <p:spPr bwMode="auto">
            <a:xfrm>
              <a:off x="1013087" y="2302897"/>
              <a:ext cx="0" cy="215900"/>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b="1">
                <a:solidFill>
                  <a:srgbClr val="0070C0"/>
                </a:solidFill>
                <a:latin typeface="楷体" pitchFamily="49" charset="-122"/>
                <a:ea typeface="楷体" pitchFamily="49" charset="-122"/>
              </a:endParaRPr>
            </a:p>
          </p:txBody>
        </p:sp>
        <p:sp>
          <p:nvSpPr>
            <p:cNvPr id="95" name="Text Box 9"/>
            <p:cNvSpPr txBox="1">
              <a:spLocks noChangeArrowheads="1"/>
            </p:cNvSpPr>
            <p:nvPr/>
          </p:nvSpPr>
          <p:spPr bwMode="auto">
            <a:xfrm>
              <a:off x="120258" y="2522605"/>
              <a:ext cx="1408616" cy="461665"/>
            </a:xfrm>
            <a:prstGeom prst="rect">
              <a:avLst/>
            </a:prstGeom>
            <a:noFill/>
            <a:ln w="9525">
              <a:solidFill>
                <a:schemeClr val="accent1"/>
              </a:solidFill>
              <a:miter lim="800000"/>
              <a:headEnd/>
              <a:tailEnd/>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0070C0"/>
                  </a:solidFill>
                  <a:latin typeface="楷体" pitchFamily="49" charset="-122"/>
                  <a:ea typeface="楷体" pitchFamily="49" charset="-122"/>
                </a:rPr>
                <a:t>利率提高</a:t>
              </a:r>
            </a:p>
          </p:txBody>
        </p:sp>
      </p:grpSp>
      <p:grpSp>
        <p:nvGrpSpPr>
          <p:cNvPr id="12" name="组合 11"/>
          <p:cNvGrpSpPr/>
          <p:nvPr/>
        </p:nvGrpSpPr>
        <p:grpSpPr>
          <a:xfrm>
            <a:off x="1528874" y="2345573"/>
            <a:ext cx="1630013" cy="828000"/>
            <a:chOff x="1528874" y="2345573"/>
            <a:chExt cx="1630013" cy="828000"/>
          </a:xfrm>
        </p:grpSpPr>
        <p:sp>
          <p:nvSpPr>
            <p:cNvPr id="97" name="Line 11"/>
            <p:cNvSpPr>
              <a:spLocks noChangeShapeType="1"/>
            </p:cNvSpPr>
            <p:nvPr/>
          </p:nvSpPr>
          <p:spPr bwMode="auto">
            <a:xfrm>
              <a:off x="1528874" y="2753438"/>
              <a:ext cx="469337" cy="0"/>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b="1">
                <a:solidFill>
                  <a:srgbClr val="0070C0"/>
                </a:solidFill>
                <a:latin typeface="楷体" pitchFamily="49" charset="-122"/>
                <a:ea typeface="楷体" pitchFamily="49" charset="-122"/>
              </a:endParaRPr>
            </a:p>
          </p:txBody>
        </p:sp>
        <p:sp>
          <p:nvSpPr>
            <p:cNvPr id="98" name="Text Box 12"/>
            <p:cNvSpPr txBox="1">
              <a:spLocks noChangeArrowheads="1"/>
            </p:cNvSpPr>
            <p:nvPr/>
          </p:nvSpPr>
          <p:spPr bwMode="auto">
            <a:xfrm>
              <a:off x="2007950" y="2345573"/>
              <a:ext cx="1150937" cy="82800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0070C0"/>
                  </a:solidFill>
                  <a:latin typeface="楷体" pitchFamily="49" charset="-122"/>
                  <a:ea typeface="楷体" pitchFamily="49" charset="-122"/>
                </a:rPr>
                <a:t>资金流入增加</a:t>
              </a:r>
            </a:p>
          </p:txBody>
        </p:sp>
      </p:grpSp>
      <p:grpSp>
        <p:nvGrpSpPr>
          <p:cNvPr id="13" name="组合 12"/>
          <p:cNvGrpSpPr/>
          <p:nvPr/>
        </p:nvGrpSpPr>
        <p:grpSpPr>
          <a:xfrm>
            <a:off x="3144445" y="2135086"/>
            <a:ext cx="2459075" cy="1200329"/>
            <a:chOff x="3144445" y="2135086"/>
            <a:chExt cx="2459075" cy="1200329"/>
          </a:xfrm>
        </p:grpSpPr>
        <p:sp>
          <p:nvSpPr>
            <p:cNvPr id="99" name="Line 13"/>
            <p:cNvSpPr>
              <a:spLocks noChangeShapeType="1"/>
            </p:cNvSpPr>
            <p:nvPr/>
          </p:nvSpPr>
          <p:spPr bwMode="auto">
            <a:xfrm>
              <a:off x="3144445" y="2753438"/>
              <a:ext cx="287337" cy="0"/>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b="1">
                <a:solidFill>
                  <a:schemeClr val="bg1"/>
                </a:solidFill>
                <a:latin typeface="楷体" pitchFamily="49" charset="-122"/>
                <a:ea typeface="楷体" pitchFamily="49" charset="-122"/>
              </a:endParaRPr>
            </a:p>
          </p:txBody>
        </p:sp>
        <p:sp>
          <p:nvSpPr>
            <p:cNvPr id="100" name="Text Box 14"/>
            <p:cNvSpPr txBox="1">
              <a:spLocks noChangeArrowheads="1"/>
            </p:cNvSpPr>
            <p:nvPr/>
          </p:nvSpPr>
          <p:spPr bwMode="auto">
            <a:xfrm>
              <a:off x="3442932" y="2135086"/>
              <a:ext cx="2160588" cy="1200329"/>
            </a:xfrm>
            <a:prstGeom prst="rect">
              <a:avLst/>
            </a:prstGeom>
            <a:solidFill>
              <a:schemeClr val="accent1"/>
            </a:solidFill>
            <a:ln w="9525">
              <a:noFill/>
              <a:miter lim="800000"/>
              <a:headEnd/>
              <a:tailEnd/>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chemeClr val="bg1"/>
                  </a:solidFill>
                  <a:latin typeface="楷体" pitchFamily="49" charset="-122"/>
                  <a:ea typeface="楷体" pitchFamily="49" charset="-122"/>
                </a:rPr>
                <a:t>利率效应：</a:t>
              </a:r>
              <a:endParaRPr lang="en-US" altLang="zh-CN" sz="2400" b="1" dirty="0">
                <a:solidFill>
                  <a:schemeClr val="bg1"/>
                </a:solidFill>
                <a:latin typeface="楷体" pitchFamily="49" charset="-122"/>
                <a:ea typeface="楷体" pitchFamily="49" charset="-122"/>
              </a:endParaRPr>
            </a:p>
            <a:p>
              <a:pPr eaLnBrk="1" hangingPunct="1"/>
              <a:r>
                <a:rPr lang="zh-CN" altLang="en-US" sz="2400" b="1" dirty="0">
                  <a:solidFill>
                    <a:schemeClr val="bg1"/>
                  </a:solidFill>
                  <a:latin typeface="楷体" pitchFamily="49" charset="-122"/>
                  <a:ea typeface="楷体" pitchFamily="49" charset="-122"/>
                </a:rPr>
                <a:t>改善资本与金融账户</a:t>
              </a:r>
            </a:p>
          </p:txBody>
        </p:sp>
      </p:grpSp>
      <p:grpSp>
        <p:nvGrpSpPr>
          <p:cNvPr id="2" name="组合 1"/>
          <p:cNvGrpSpPr/>
          <p:nvPr/>
        </p:nvGrpSpPr>
        <p:grpSpPr>
          <a:xfrm>
            <a:off x="5544601" y="526291"/>
            <a:ext cx="3571598" cy="5225211"/>
            <a:chOff x="5544601" y="526291"/>
            <a:chExt cx="3571598" cy="5225211"/>
          </a:xfrm>
        </p:grpSpPr>
        <p:grpSp>
          <p:nvGrpSpPr>
            <p:cNvPr id="10" name="组合 9"/>
            <p:cNvGrpSpPr/>
            <p:nvPr/>
          </p:nvGrpSpPr>
          <p:grpSpPr>
            <a:xfrm>
              <a:off x="7049233" y="526291"/>
              <a:ext cx="2066966" cy="1992506"/>
              <a:chOff x="7077034" y="-17365"/>
              <a:chExt cx="2066966" cy="1992506"/>
            </a:xfrm>
          </p:grpSpPr>
          <p:sp>
            <p:nvSpPr>
              <p:cNvPr id="117" name="Text Box 19"/>
              <p:cNvSpPr txBox="1">
                <a:spLocks noChangeArrowheads="1"/>
              </p:cNvSpPr>
              <p:nvPr/>
            </p:nvSpPr>
            <p:spPr bwMode="auto">
              <a:xfrm>
                <a:off x="7077034" y="1268412"/>
                <a:ext cx="2066966" cy="461665"/>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0070C0"/>
                    </a:solidFill>
                    <a:latin typeface="楷体" pitchFamily="49" charset="-122"/>
                    <a:ea typeface="楷体" pitchFamily="49" charset="-122"/>
                  </a:rPr>
                  <a:t>货币供给增加</a:t>
                </a:r>
              </a:p>
            </p:txBody>
          </p:sp>
          <p:sp>
            <p:nvSpPr>
              <p:cNvPr id="118" name="Text Box 20"/>
              <p:cNvSpPr txBox="1">
                <a:spLocks noChangeArrowheads="1"/>
              </p:cNvSpPr>
              <p:nvPr/>
            </p:nvSpPr>
            <p:spPr bwMode="auto">
              <a:xfrm>
                <a:off x="7077034" y="620712"/>
                <a:ext cx="2066966" cy="461665"/>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0070C0"/>
                    </a:solidFill>
                    <a:latin typeface="楷体" pitchFamily="49" charset="-122"/>
                    <a:ea typeface="楷体" pitchFamily="49" charset="-122"/>
                  </a:rPr>
                  <a:t>外汇储备增加</a:t>
                </a:r>
              </a:p>
            </p:txBody>
          </p:sp>
          <p:sp>
            <p:nvSpPr>
              <p:cNvPr id="119" name="Text Box 21"/>
              <p:cNvSpPr txBox="1">
                <a:spLocks noChangeArrowheads="1"/>
              </p:cNvSpPr>
              <p:nvPr/>
            </p:nvSpPr>
            <p:spPr bwMode="auto">
              <a:xfrm>
                <a:off x="7504366" y="-17365"/>
                <a:ext cx="966620" cy="461665"/>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dirty="0">
                    <a:solidFill>
                      <a:srgbClr val="0070C0"/>
                    </a:solidFill>
                    <a:latin typeface="楷体" pitchFamily="49" charset="-122"/>
                    <a:ea typeface="楷体" pitchFamily="49" charset="-122"/>
                  </a:rPr>
                  <a:t>盈余</a:t>
                </a:r>
              </a:p>
            </p:txBody>
          </p:sp>
          <p:sp>
            <p:nvSpPr>
              <p:cNvPr id="120" name="Line 22"/>
              <p:cNvSpPr>
                <a:spLocks noChangeShapeType="1"/>
              </p:cNvSpPr>
              <p:nvPr/>
            </p:nvSpPr>
            <p:spPr bwMode="auto">
              <a:xfrm>
                <a:off x="8073956" y="452463"/>
                <a:ext cx="0" cy="215900"/>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b="1">
                  <a:solidFill>
                    <a:srgbClr val="0070C0"/>
                  </a:solidFill>
                  <a:latin typeface="楷体" pitchFamily="49" charset="-122"/>
                  <a:ea typeface="楷体" pitchFamily="49" charset="-122"/>
                </a:endParaRPr>
              </a:p>
            </p:txBody>
          </p:sp>
          <p:sp>
            <p:nvSpPr>
              <p:cNvPr id="121" name="Line 23"/>
              <p:cNvSpPr>
                <a:spLocks noChangeShapeType="1"/>
              </p:cNvSpPr>
              <p:nvPr/>
            </p:nvSpPr>
            <p:spPr bwMode="auto">
              <a:xfrm>
                <a:off x="8068696" y="1080698"/>
                <a:ext cx="0" cy="215900"/>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b="1">
                  <a:solidFill>
                    <a:srgbClr val="0070C0"/>
                  </a:solidFill>
                  <a:latin typeface="楷体" pitchFamily="49" charset="-122"/>
                  <a:ea typeface="楷体" pitchFamily="49" charset="-122"/>
                </a:endParaRPr>
              </a:p>
            </p:txBody>
          </p:sp>
          <p:sp>
            <p:nvSpPr>
              <p:cNvPr id="122" name="Line 24"/>
              <p:cNvSpPr>
                <a:spLocks noChangeShapeType="1"/>
              </p:cNvSpPr>
              <p:nvPr/>
            </p:nvSpPr>
            <p:spPr bwMode="auto">
              <a:xfrm>
                <a:off x="8068696" y="1730077"/>
                <a:ext cx="0" cy="245064"/>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b="1">
                  <a:solidFill>
                    <a:srgbClr val="0070C0"/>
                  </a:solidFill>
                  <a:latin typeface="楷体" pitchFamily="49" charset="-122"/>
                  <a:ea typeface="楷体" pitchFamily="49" charset="-122"/>
                </a:endParaRPr>
              </a:p>
            </p:txBody>
          </p:sp>
        </p:grpSp>
        <p:sp>
          <p:nvSpPr>
            <p:cNvPr id="123" name="Line 37"/>
            <p:cNvSpPr>
              <a:spLocks noChangeShapeType="1"/>
            </p:cNvSpPr>
            <p:nvPr/>
          </p:nvSpPr>
          <p:spPr bwMode="auto">
            <a:xfrm>
              <a:off x="8140551" y="2980462"/>
              <a:ext cx="0" cy="650583"/>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b="1">
                <a:solidFill>
                  <a:srgbClr val="0070C0"/>
                </a:solidFill>
                <a:latin typeface="楷体" pitchFamily="49" charset="-122"/>
                <a:ea typeface="楷体" pitchFamily="49" charset="-122"/>
              </a:endParaRPr>
            </a:p>
          </p:txBody>
        </p:sp>
        <p:sp>
          <p:nvSpPr>
            <p:cNvPr id="138" name="Text Box 31"/>
            <p:cNvSpPr txBox="1">
              <a:spLocks noChangeArrowheads="1"/>
            </p:cNvSpPr>
            <p:nvPr/>
          </p:nvSpPr>
          <p:spPr bwMode="auto">
            <a:xfrm>
              <a:off x="5831938" y="4920505"/>
              <a:ext cx="1413706" cy="830997"/>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rgbClr val="0070C0"/>
                  </a:solidFill>
                  <a:latin typeface="楷体" pitchFamily="49" charset="-122"/>
                  <a:ea typeface="楷体" pitchFamily="49" charset="-122"/>
                </a:rPr>
                <a:t>出口减少</a:t>
              </a:r>
            </a:p>
            <a:p>
              <a:pPr eaLnBrk="1" hangingPunct="1"/>
              <a:r>
                <a:rPr lang="zh-CN" altLang="en-US" sz="2400" b="1" dirty="0">
                  <a:solidFill>
                    <a:srgbClr val="0070C0"/>
                  </a:solidFill>
                  <a:latin typeface="楷体" pitchFamily="49" charset="-122"/>
                  <a:ea typeface="楷体" pitchFamily="49" charset="-122"/>
                </a:rPr>
                <a:t>进口增加</a:t>
              </a:r>
            </a:p>
          </p:txBody>
        </p:sp>
        <p:sp>
          <p:nvSpPr>
            <p:cNvPr id="140" name="Line 13"/>
            <p:cNvSpPr>
              <a:spLocks noChangeShapeType="1"/>
            </p:cNvSpPr>
            <p:nvPr/>
          </p:nvSpPr>
          <p:spPr bwMode="auto">
            <a:xfrm rot="10800000">
              <a:off x="5544601" y="5333984"/>
              <a:ext cx="287337" cy="0"/>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b="1">
                <a:solidFill>
                  <a:srgbClr val="0070C0"/>
                </a:solidFill>
                <a:latin typeface="楷体" pitchFamily="49" charset="-122"/>
                <a:ea typeface="楷体" pitchFamily="49" charset="-122"/>
              </a:endParaRPr>
            </a:p>
          </p:txBody>
        </p:sp>
        <p:sp>
          <p:nvSpPr>
            <p:cNvPr id="141" name="Text Box 33"/>
            <p:cNvSpPr txBox="1">
              <a:spLocks noChangeArrowheads="1"/>
            </p:cNvSpPr>
            <p:nvPr/>
          </p:nvSpPr>
          <p:spPr bwMode="auto">
            <a:xfrm>
              <a:off x="7718185" y="4920505"/>
              <a:ext cx="828000" cy="830997"/>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rgbClr val="0070C0"/>
                  </a:solidFill>
                  <a:latin typeface="楷体" pitchFamily="49" charset="-122"/>
                  <a:ea typeface="楷体" pitchFamily="49" charset="-122"/>
                </a:rPr>
                <a:t>物价上升</a:t>
              </a:r>
            </a:p>
          </p:txBody>
        </p:sp>
        <p:sp>
          <p:nvSpPr>
            <p:cNvPr id="142" name="Line 13"/>
            <p:cNvSpPr>
              <a:spLocks noChangeShapeType="1"/>
            </p:cNvSpPr>
            <p:nvPr/>
          </p:nvSpPr>
          <p:spPr bwMode="auto">
            <a:xfrm rot="10800000">
              <a:off x="7245639" y="5335652"/>
              <a:ext cx="459549" cy="7586"/>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b="1">
                <a:solidFill>
                  <a:srgbClr val="0070C0"/>
                </a:solidFill>
                <a:latin typeface="楷体" pitchFamily="49" charset="-122"/>
                <a:ea typeface="楷体" pitchFamily="49" charset="-122"/>
              </a:endParaRPr>
            </a:p>
          </p:txBody>
        </p:sp>
        <p:sp>
          <p:nvSpPr>
            <p:cNvPr id="129" name="Line 43"/>
            <p:cNvSpPr>
              <a:spLocks noChangeShapeType="1"/>
            </p:cNvSpPr>
            <p:nvPr/>
          </p:nvSpPr>
          <p:spPr bwMode="auto">
            <a:xfrm flipH="1">
              <a:off x="7272740" y="4042833"/>
              <a:ext cx="288925" cy="0"/>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b="1">
                <a:solidFill>
                  <a:srgbClr val="0070C0"/>
                </a:solidFill>
                <a:latin typeface="楷体" pitchFamily="49" charset="-122"/>
                <a:ea typeface="楷体" pitchFamily="49" charset="-122"/>
              </a:endParaRPr>
            </a:p>
          </p:txBody>
        </p:sp>
        <p:sp>
          <p:nvSpPr>
            <p:cNvPr id="136" name="Text Box 31"/>
            <p:cNvSpPr txBox="1">
              <a:spLocks noChangeArrowheads="1"/>
            </p:cNvSpPr>
            <p:nvPr/>
          </p:nvSpPr>
          <p:spPr bwMode="auto">
            <a:xfrm>
              <a:off x="5859034" y="3634030"/>
              <a:ext cx="1413706" cy="824886"/>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0070C0"/>
                  </a:solidFill>
                  <a:latin typeface="楷体" pitchFamily="49" charset="-122"/>
                  <a:ea typeface="楷体" pitchFamily="49" charset="-122"/>
                </a:rPr>
                <a:t>收入增加进口增加</a:t>
              </a:r>
            </a:p>
          </p:txBody>
        </p:sp>
        <p:sp>
          <p:nvSpPr>
            <p:cNvPr id="137" name="Line 13"/>
            <p:cNvSpPr>
              <a:spLocks noChangeShapeType="1"/>
            </p:cNvSpPr>
            <p:nvPr/>
          </p:nvSpPr>
          <p:spPr bwMode="auto">
            <a:xfrm rot="10800000">
              <a:off x="5544602" y="4053932"/>
              <a:ext cx="287337" cy="0"/>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b="1">
                <a:solidFill>
                  <a:srgbClr val="0070C0"/>
                </a:solidFill>
                <a:latin typeface="楷体" pitchFamily="49" charset="-122"/>
                <a:ea typeface="楷体" pitchFamily="49" charset="-122"/>
              </a:endParaRPr>
            </a:p>
          </p:txBody>
        </p:sp>
        <p:sp>
          <p:nvSpPr>
            <p:cNvPr id="143" name="Text Box 28"/>
            <p:cNvSpPr txBox="1">
              <a:spLocks noChangeArrowheads="1"/>
            </p:cNvSpPr>
            <p:nvPr/>
          </p:nvSpPr>
          <p:spPr bwMode="auto">
            <a:xfrm>
              <a:off x="7577640" y="3631045"/>
              <a:ext cx="1109091" cy="827872"/>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0070C0"/>
                  </a:solidFill>
                  <a:latin typeface="楷体" pitchFamily="49" charset="-122"/>
                  <a:ea typeface="楷体" pitchFamily="49" charset="-122"/>
                </a:rPr>
                <a:t>增加国内支出</a:t>
              </a:r>
            </a:p>
          </p:txBody>
        </p:sp>
        <p:sp>
          <p:nvSpPr>
            <p:cNvPr id="114" name="Text Box 16"/>
            <p:cNvSpPr txBox="1">
              <a:spLocks noChangeArrowheads="1"/>
            </p:cNvSpPr>
            <p:nvPr/>
          </p:nvSpPr>
          <p:spPr bwMode="auto">
            <a:xfrm>
              <a:off x="5887565" y="2309842"/>
              <a:ext cx="1201776" cy="855331"/>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0070C0"/>
                  </a:solidFill>
                  <a:latin typeface="楷体" pitchFamily="49" charset="-122"/>
                  <a:ea typeface="楷体" pitchFamily="49" charset="-122"/>
                </a:rPr>
                <a:t>资金流出增加</a:t>
              </a:r>
            </a:p>
          </p:txBody>
        </p:sp>
        <p:sp>
          <p:nvSpPr>
            <p:cNvPr id="116" name="Line 18"/>
            <p:cNvSpPr>
              <a:spLocks noChangeShapeType="1"/>
            </p:cNvSpPr>
            <p:nvPr/>
          </p:nvSpPr>
          <p:spPr bwMode="auto">
            <a:xfrm flipH="1">
              <a:off x="7089341" y="2733562"/>
              <a:ext cx="353827" cy="0"/>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b="1">
                <a:solidFill>
                  <a:srgbClr val="0070C0"/>
                </a:solidFill>
                <a:latin typeface="楷体" pitchFamily="49" charset="-122"/>
                <a:ea typeface="楷体" pitchFamily="49" charset="-122"/>
              </a:endParaRPr>
            </a:p>
          </p:txBody>
        </p:sp>
        <p:sp>
          <p:nvSpPr>
            <p:cNvPr id="139" name="Line 13"/>
            <p:cNvSpPr>
              <a:spLocks noChangeShapeType="1"/>
            </p:cNvSpPr>
            <p:nvPr/>
          </p:nvSpPr>
          <p:spPr bwMode="auto">
            <a:xfrm rot="10800000">
              <a:off x="5584512" y="2733563"/>
              <a:ext cx="287337" cy="0"/>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b="1">
                <a:solidFill>
                  <a:srgbClr val="0070C0"/>
                </a:solidFill>
                <a:latin typeface="楷体" pitchFamily="49" charset="-122"/>
                <a:ea typeface="楷体" pitchFamily="49" charset="-122"/>
              </a:endParaRPr>
            </a:p>
          </p:txBody>
        </p:sp>
        <p:sp>
          <p:nvSpPr>
            <p:cNvPr id="145" name="Text Box 9"/>
            <p:cNvSpPr txBox="1">
              <a:spLocks noChangeArrowheads="1"/>
            </p:cNvSpPr>
            <p:nvPr/>
          </p:nvSpPr>
          <p:spPr bwMode="auto">
            <a:xfrm>
              <a:off x="7443168" y="2518797"/>
              <a:ext cx="1419380" cy="461665"/>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0070C0"/>
                  </a:solidFill>
                  <a:latin typeface="楷体" pitchFamily="49" charset="-122"/>
                  <a:ea typeface="楷体" pitchFamily="49" charset="-122"/>
                </a:rPr>
                <a:t>利率降低</a:t>
              </a:r>
              <a:endParaRPr lang="en-US" altLang="zh-CN" sz="2400" b="1" dirty="0">
                <a:solidFill>
                  <a:srgbClr val="0070C0"/>
                </a:solidFill>
                <a:latin typeface="楷体" pitchFamily="49" charset="-122"/>
                <a:ea typeface="楷体" pitchFamily="49" charset="-122"/>
              </a:endParaRPr>
            </a:p>
          </p:txBody>
        </p:sp>
        <p:sp>
          <p:nvSpPr>
            <p:cNvPr id="146" name="Line 32"/>
            <p:cNvSpPr>
              <a:spLocks noChangeShapeType="1"/>
            </p:cNvSpPr>
            <p:nvPr/>
          </p:nvSpPr>
          <p:spPr bwMode="auto">
            <a:xfrm>
              <a:off x="8140551" y="4471124"/>
              <a:ext cx="0" cy="449381"/>
            </a:xfrm>
            <a:prstGeom prst="line">
              <a:avLst/>
            </a:prstGeom>
            <a:noFill/>
            <a:ln w="317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b="1">
                <a:solidFill>
                  <a:srgbClr val="0070C0"/>
                </a:solidFill>
                <a:latin typeface="楷体" pitchFamily="49" charset="-122"/>
                <a:ea typeface="楷体" pitchFamily="49" charset="-122"/>
              </a:endParaRPr>
            </a:p>
          </p:txBody>
        </p:sp>
      </p:grpSp>
    </p:spTree>
    <p:extLst>
      <p:ext uri="{BB962C8B-B14F-4D97-AF65-F5344CB8AC3E}">
        <p14:creationId xmlns:p14="http://schemas.microsoft.com/office/powerpoint/2010/main" val="3013134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anim calcmode="lin" valueType="num">
                                      <p:cBhvr additive="base">
                                        <p:cTn id="7" dur="500" fill="hold"/>
                                        <p:tgtEl>
                                          <p:spTgt spid="90"/>
                                        </p:tgtEl>
                                        <p:attrNameLst>
                                          <p:attrName>ppt_x</p:attrName>
                                        </p:attrNameLst>
                                      </p:cBhvr>
                                      <p:tavLst>
                                        <p:tav tm="0">
                                          <p:val>
                                            <p:strVal val="#ppt_x"/>
                                          </p:val>
                                        </p:tav>
                                        <p:tav tm="100000">
                                          <p:val>
                                            <p:strVal val="#ppt_x"/>
                                          </p:val>
                                        </p:tav>
                                      </p:tavLst>
                                    </p:anim>
                                    <p:anim calcmode="lin" valueType="num">
                                      <p:cBhvr additive="base">
                                        <p:cTn id="8" dur="500" fill="hold"/>
                                        <p:tgtEl>
                                          <p:spTgt spid="9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0-#ppt_w/2"/>
                                          </p:val>
                                        </p:tav>
                                        <p:tav tm="100000">
                                          <p:val>
                                            <p:strVal val="#ppt_x"/>
                                          </p:val>
                                        </p:tav>
                                      </p:tavLst>
                                    </p:anim>
                                    <p:anim calcmode="lin" valueType="num">
                                      <p:cBhvr additive="base">
                                        <p:cTn id="32"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0-#ppt_w/2"/>
                                          </p:val>
                                        </p:tav>
                                        <p:tav tm="100000">
                                          <p:val>
                                            <p:strVal val="#ppt_x"/>
                                          </p:val>
                                        </p:tav>
                                      </p:tavLst>
                                    </p:anim>
                                    <p:anim calcmode="lin" valueType="num">
                                      <p:cBhvr additive="base">
                                        <p:cTn id="3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1"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ppt_x"/>
                                          </p:val>
                                        </p:tav>
                                        <p:tav tm="100000">
                                          <p:val>
                                            <p:strVal val="#ppt_x"/>
                                          </p:val>
                                        </p:tav>
                                      </p:tavLst>
                                    </p:anim>
                                    <p:anim calcmode="lin" valueType="num">
                                      <p:cBhvr additive="base">
                                        <p:cTn id="44"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0-#ppt_w/2"/>
                                          </p:val>
                                        </p:tav>
                                        <p:tav tm="100000">
                                          <p:val>
                                            <p:strVal val="#ppt_x"/>
                                          </p:val>
                                        </p:tav>
                                      </p:tavLst>
                                    </p:anim>
                                    <p:anim calcmode="lin" valueType="num">
                                      <p:cBhvr additive="base">
                                        <p:cTn id="50"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ppt_x</p:attrName>
                                        </p:attrNameLst>
                                      </p:cBhvr>
                                      <p:tavLst>
                                        <p:tav tm="0">
                                          <p:val>
                                            <p:strVal val="0-#ppt_w/2"/>
                                          </p:val>
                                        </p:tav>
                                        <p:tav tm="100000">
                                          <p:val>
                                            <p:strVal val="#ppt_x"/>
                                          </p:val>
                                        </p:tav>
                                      </p:tavLst>
                                    </p:anim>
                                    <p:anim calcmode="lin" valueType="num">
                                      <p:cBhvr additive="base">
                                        <p:cTn id="5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1"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 calcmode="lin" valueType="num">
                                      <p:cBhvr additive="base">
                                        <p:cTn id="61" dur="500" fill="hold"/>
                                        <p:tgtEl>
                                          <p:spTgt spid="17"/>
                                        </p:tgtEl>
                                        <p:attrNameLst>
                                          <p:attrName>ppt_x</p:attrName>
                                        </p:attrNameLst>
                                      </p:cBhvr>
                                      <p:tavLst>
                                        <p:tav tm="0">
                                          <p:val>
                                            <p:strVal val="#ppt_x"/>
                                          </p:val>
                                        </p:tav>
                                        <p:tav tm="100000">
                                          <p:val>
                                            <p:strVal val="#ppt_x"/>
                                          </p:val>
                                        </p:tav>
                                      </p:tavLst>
                                    </p:anim>
                                    <p:anim calcmode="lin" valueType="num">
                                      <p:cBhvr additive="base">
                                        <p:cTn id="62"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500" fill="hold"/>
                                        <p:tgtEl>
                                          <p:spTgt spid="18"/>
                                        </p:tgtEl>
                                        <p:attrNameLst>
                                          <p:attrName>ppt_x</p:attrName>
                                        </p:attrNameLst>
                                      </p:cBhvr>
                                      <p:tavLst>
                                        <p:tav tm="0">
                                          <p:val>
                                            <p:strVal val="0-#ppt_w/2"/>
                                          </p:val>
                                        </p:tav>
                                        <p:tav tm="100000">
                                          <p:val>
                                            <p:strVal val="#ppt_x"/>
                                          </p:val>
                                        </p:tav>
                                      </p:tavLst>
                                    </p:anim>
                                    <p:anim calcmode="lin" valueType="num">
                                      <p:cBhvr additive="base">
                                        <p:cTn id="6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nodeType="clickEffect">
                                  <p:stCondLst>
                                    <p:cond delay="0"/>
                                  </p:stCondLst>
                                  <p:childTnLst>
                                    <p:set>
                                      <p:cBhvr>
                                        <p:cTn id="72" dur="1" fill="hold">
                                          <p:stCondLst>
                                            <p:cond delay="0"/>
                                          </p:stCondLst>
                                        </p:cTn>
                                        <p:tgtEl>
                                          <p:spTgt spid="19"/>
                                        </p:tgtEl>
                                        <p:attrNameLst>
                                          <p:attrName>style.visibility</p:attrName>
                                        </p:attrNameLst>
                                      </p:cBhvr>
                                      <p:to>
                                        <p:strVal val="visible"/>
                                      </p:to>
                                    </p:set>
                                    <p:anim calcmode="lin" valueType="num">
                                      <p:cBhvr additive="base">
                                        <p:cTn id="73" dur="500" fill="hold"/>
                                        <p:tgtEl>
                                          <p:spTgt spid="19"/>
                                        </p:tgtEl>
                                        <p:attrNameLst>
                                          <p:attrName>ppt_x</p:attrName>
                                        </p:attrNameLst>
                                      </p:cBhvr>
                                      <p:tavLst>
                                        <p:tav tm="0">
                                          <p:val>
                                            <p:strVal val="0-#ppt_w/2"/>
                                          </p:val>
                                        </p:tav>
                                        <p:tav tm="100000">
                                          <p:val>
                                            <p:strVal val="#ppt_x"/>
                                          </p:val>
                                        </p:tav>
                                      </p:tavLst>
                                    </p:anim>
                                    <p:anim calcmode="lin" valueType="num">
                                      <p:cBhvr additive="base">
                                        <p:cTn id="74"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2"/>
                                        </p:tgtEl>
                                        <p:attrNameLst>
                                          <p:attrName>style.visibility</p:attrName>
                                        </p:attrNameLst>
                                      </p:cBhvr>
                                      <p:to>
                                        <p:strVal val="visible"/>
                                      </p:to>
                                    </p:set>
                                    <p:animEffect transition="in" filter="fade">
                                      <p:cBhvr>
                                        <p:cTn id="7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altLang="en-US" dirty="0"/>
              <a:t>三</a:t>
            </a:r>
            <a:r>
              <a:rPr lang="zh-CN" altLang="en-US" dirty="0"/>
              <a:t>节	国际收支的失衡与调节</a:t>
            </a:r>
            <a:endParaRPr lang="zh-CN" dirty="0"/>
          </a:p>
        </p:txBody>
      </p:sp>
      <p:sp>
        <p:nvSpPr>
          <p:cNvPr id="5" name="页脚占位符 4"/>
          <p:cNvSpPr>
            <a:spLocks noGrp="1"/>
          </p:cNvSpPr>
          <p:nvPr>
            <p:ph type="ftr" sz="quarter" idx="11"/>
          </p:nvPr>
        </p:nvSpPr>
        <p:spPr/>
        <p:txBody>
          <a:bodyPr/>
          <a:lstStyle/>
          <a:p>
            <a:r>
              <a:rPr lang="zh-CN" altLang="en-US"/>
              <a:t>国际金融学 范小云</a:t>
            </a:r>
            <a:endParaRPr lang="zh-CN" altLang="en-US" dirty="0"/>
          </a:p>
        </p:txBody>
      </p:sp>
      <p:sp>
        <p:nvSpPr>
          <p:cNvPr id="67" name="Text Box 4"/>
          <p:cNvSpPr txBox="1">
            <a:spLocks noChangeArrowheads="1"/>
          </p:cNvSpPr>
          <p:nvPr/>
        </p:nvSpPr>
        <p:spPr bwMode="auto">
          <a:xfrm>
            <a:off x="1027964" y="2997200"/>
            <a:ext cx="896821" cy="461665"/>
          </a:xfrm>
          <a:prstGeom prst="rect">
            <a:avLst/>
          </a:prstGeom>
          <a:noFill/>
          <a:ln w="9525">
            <a:solidFill>
              <a:schemeClr val="accent1"/>
            </a:solidFill>
            <a:miter lim="800000"/>
            <a:headEnd/>
            <a:tailEnd/>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dirty="0">
                <a:solidFill>
                  <a:srgbClr val="002060"/>
                </a:solidFill>
                <a:latin typeface="楷体" pitchFamily="49" charset="-122"/>
                <a:ea typeface="楷体" pitchFamily="49" charset="-122"/>
              </a:rPr>
              <a:t>赤字</a:t>
            </a:r>
          </a:p>
        </p:txBody>
      </p:sp>
      <p:grpSp>
        <p:nvGrpSpPr>
          <p:cNvPr id="4" name="组合 3"/>
          <p:cNvGrpSpPr/>
          <p:nvPr/>
        </p:nvGrpSpPr>
        <p:grpSpPr>
          <a:xfrm>
            <a:off x="539749" y="1628775"/>
            <a:ext cx="2087563" cy="1368425"/>
            <a:chOff x="539749" y="1628775"/>
            <a:chExt cx="2087563" cy="1368425"/>
          </a:xfrm>
        </p:grpSpPr>
        <p:sp>
          <p:nvSpPr>
            <p:cNvPr id="68" name="Line 5"/>
            <p:cNvSpPr>
              <a:spLocks noChangeShapeType="1"/>
            </p:cNvSpPr>
            <p:nvPr/>
          </p:nvSpPr>
          <p:spPr bwMode="auto">
            <a:xfrm flipV="1">
              <a:off x="1476375" y="2565400"/>
              <a:ext cx="0" cy="43180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b="1">
                <a:solidFill>
                  <a:srgbClr val="002060"/>
                </a:solidFill>
                <a:latin typeface="楷体" pitchFamily="49" charset="-122"/>
                <a:ea typeface="楷体" pitchFamily="49" charset="-122"/>
              </a:endParaRPr>
            </a:p>
          </p:txBody>
        </p:sp>
        <p:sp>
          <p:nvSpPr>
            <p:cNvPr id="69" name="Text Box 6"/>
            <p:cNvSpPr txBox="1">
              <a:spLocks noChangeArrowheads="1"/>
            </p:cNvSpPr>
            <p:nvPr/>
          </p:nvSpPr>
          <p:spPr bwMode="auto">
            <a:xfrm>
              <a:off x="539749" y="1628775"/>
              <a:ext cx="2087563" cy="830997"/>
            </a:xfrm>
            <a:prstGeom prst="rect">
              <a:avLst/>
            </a:prstGeom>
            <a:noFill/>
            <a:ln w="9525">
              <a:solidFill>
                <a:schemeClr val="accent1"/>
              </a:solidFill>
              <a:miter lim="800000"/>
              <a:headEnd/>
              <a:tailEnd/>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dirty="0">
                  <a:solidFill>
                    <a:srgbClr val="002060"/>
                  </a:solidFill>
                  <a:latin typeface="楷体" pitchFamily="49" charset="-122"/>
                  <a:ea typeface="楷体" pitchFamily="49" charset="-122"/>
                </a:rPr>
                <a:t>外汇需求   大于外汇供给</a:t>
              </a:r>
            </a:p>
          </p:txBody>
        </p:sp>
      </p:grpSp>
      <p:grpSp>
        <p:nvGrpSpPr>
          <p:cNvPr id="6" name="组合 5"/>
          <p:cNvGrpSpPr/>
          <p:nvPr/>
        </p:nvGrpSpPr>
        <p:grpSpPr>
          <a:xfrm>
            <a:off x="2627313" y="1628775"/>
            <a:ext cx="1512887" cy="830997"/>
            <a:chOff x="2627313" y="1628775"/>
            <a:chExt cx="1512887" cy="830997"/>
          </a:xfrm>
        </p:grpSpPr>
        <p:sp>
          <p:nvSpPr>
            <p:cNvPr id="70" name="Line 7"/>
            <p:cNvSpPr>
              <a:spLocks noChangeShapeType="1"/>
            </p:cNvSpPr>
            <p:nvPr/>
          </p:nvSpPr>
          <p:spPr bwMode="auto">
            <a:xfrm>
              <a:off x="2627313" y="2133600"/>
              <a:ext cx="360362"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b="1">
                <a:solidFill>
                  <a:srgbClr val="002060"/>
                </a:solidFill>
                <a:latin typeface="楷体" pitchFamily="49" charset="-122"/>
                <a:ea typeface="楷体" pitchFamily="49" charset="-122"/>
              </a:endParaRPr>
            </a:p>
          </p:txBody>
        </p:sp>
        <p:sp>
          <p:nvSpPr>
            <p:cNvPr id="71" name="Text Box 8"/>
            <p:cNvSpPr txBox="1">
              <a:spLocks noChangeArrowheads="1"/>
            </p:cNvSpPr>
            <p:nvPr/>
          </p:nvSpPr>
          <p:spPr bwMode="auto">
            <a:xfrm>
              <a:off x="2987675" y="1628775"/>
              <a:ext cx="1152525" cy="830997"/>
            </a:xfrm>
            <a:prstGeom prst="rect">
              <a:avLst/>
            </a:prstGeom>
            <a:noFill/>
            <a:ln w="9525">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dirty="0">
                  <a:solidFill>
                    <a:srgbClr val="002060"/>
                  </a:solidFill>
                  <a:latin typeface="楷体" pitchFamily="49" charset="-122"/>
                  <a:ea typeface="楷体" pitchFamily="49" charset="-122"/>
                </a:rPr>
                <a:t>本币 贬值</a:t>
              </a:r>
            </a:p>
          </p:txBody>
        </p:sp>
      </p:grpSp>
      <p:grpSp>
        <p:nvGrpSpPr>
          <p:cNvPr id="7" name="组合 6"/>
          <p:cNvGrpSpPr/>
          <p:nvPr/>
        </p:nvGrpSpPr>
        <p:grpSpPr>
          <a:xfrm>
            <a:off x="4140200" y="1628775"/>
            <a:ext cx="2447925" cy="830997"/>
            <a:chOff x="4140200" y="1628775"/>
            <a:chExt cx="2447925" cy="830997"/>
          </a:xfrm>
        </p:grpSpPr>
        <p:sp>
          <p:nvSpPr>
            <p:cNvPr id="72" name="Line 9"/>
            <p:cNvSpPr>
              <a:spLocks noChangeShapeType="1"/>
            </p:cNvSpPr>
            <p:nvPr/>
          </p:nvSpPr>
          <p:spPr bwMode="auto">
            <a:xfrm>
              <a:off x="4140200" y="2133600"/>
              <a:ext cx="360363"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b="1">
                <a:solidFill>
                  <a:srgbClr val="002060"/>
                </a:solidFill>
                <a:latin typeface="楷体" pitchFamily="49" charset="-122"/>
                <a:ea typeface="楷体" pitchFamily="49" charset="-122"/>
              </a:endParaRPr>
            </a:p>
          </p:txBody>
        </p:sp>
        <p:sp>
          <p:nvSpPr>
            <p:cNvPr id="73" name="Text Box 10"/>
            <p:cNvSpPr txBox="1">
              <a:spLocks noChangeArrowheads="1"/>
            </p:cNvSpPr>
            <p:nvPr/>
          </p:nvSpPr>
          <p:spPr bwMode="auto">
            <a:xfrm>
              <a:off x="4498975" y="1628775"/>
              <a:ext cx="2089150" cy="830997"/>
            </a:xfrm>
            <a:prstGeom prst="rect">
              <a:avLst/>
            </a:prstGeom>
            <a:noFill/>
            <a:ln w="9525">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dirty="0">
                  <a:solidFill>
                    <a:srgbClr val="002060"/>
                  </a:solidFill>
                  <a:latin typeface="楷体" pitchFamily="49" charset="-122"/>
                  <a:ea typeface="楷体" pitchFamily="49" charset="-122"/>
                </a:rPr>
                <a:t>本国商品   相对价格下降</a:t>
              </a:r>
            </a:p>
          </p:txBody>
        </p:sp>
      </p:grpSp>
      <p:grpSp>
        <p:nvGrpSpPr>
          <p:cNvPr id="8" name="组合 7"/>
          <p:cNvGrpSpPr/>
          <p:nvPr/>
        </p:nvGrpSpPr>
        <p:grpSpPr>
          <a:xfrm>
            <a:off x="6588125" y="1628775"/>
            <a:ext cx="2160588" cy="830997"/>
            <a:chOff x="6588125" y="1628775"/>
            <a:chExt cx="2160588" cy="830997"/>
          </a:xfrm>
        </p:grpSpPr>
        <p:sp>
          <p:nvSpPr>
            <p:cNvPr id="74" name="Line 11"/>
            <p:cNvSpPr>
              <a:spLocks noChangeShapeType="1"/>
            </p:cNvSpPr>
            <p:nvPr/>
          </p:nvSpPr>
          <p:spPr bwMode="auto">
            <a:xfrm>
              <a:off x="6588125" y="2133600"/>
              <a:ext cx="360363"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b="1">
                <a:solidFill>
                  <a:srgbClr val="002060"/>
                </a:solidFill>
                <a:latin typeface="楷体" pitchFamily="49" charset="-122"/>
                <a:ea typeface="楷体" pitchFamily="49" charset="-122"/>
              </a:endParaRPr>
            </a:p>
          </p:txBody>
        </p:sp>
        <p:sp>
          <p:nvSpPr>
            <p:cNvPr id="75" name="Text Box 12"/>
            <p:cNvSpPr txBox="1">
              <a:spLocks noChangeArrowheads="1"/>
            </p:cNvSpPr>
            <p:nvPr/>
          </p:nvSpPr>
          <p:spPr bwMode="auto">
            <a:xfrm>
              <a:off x="6948488" y="1628775"/>
              <a:ext cx="1800225" cy="830997"/>
            </a:xfrm>
            <a:prstGeom prst="rect">
              <a:avLst/>
            </a:prstGeom>
            <a:noFill/>
            <a:ln w="9525">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dirty="0">
                  <a:solidFill>
                    <a:srgbClr val="002060"/>
                  </a:solidFill>
                  <a:latin typeface="楷体" pitchFamily="49" charset="-122"/>
                  <a:ea typeface="楷体" pitchFamily="49" charset="-122"/>
                </a:rPr>
                <a:t>出口增加 进口减少</a:t>
              </a:r>
            </a:p>
          </p:txBody>
        </p:sp>
      </p:grpSp>
      <p:grpSp>
        <p:nvGrpSpPr>
          <p:cNvPr id="10" name="组合 9"/>
          <p:cNvGrpSpPr/>
          <p:nvPr/>
        </p:nvGrpSpPr>
        <p:grpSpPr>
          <a:xfrm>
            <a:off x="7343775" y="2565400"/>
            <a:ext cx="936625" cy="893465"/>
            <a:chOff x="7343775" y="2565400"/>
            <a:chExt cx="936625" cy="893465"/>
          </a:xfrm>
        </p:grpSpPr>
        <p:sp>
          <p:nvSpPr>
            <p:cNvPr id="76" name="Line 13"/>
            <p:cNvSpPr>
              <a:spLocks noChangeShapeType="1"/>
            </p:cNvSpPr>
            <p:nvPr/>
          </p:nvSpPr>
          <p:spPr bwMode="auto">
            <a:xfrm>
              <a:off x="7812088" y="2565400"/>
              <a:ext cx="0" cy="43180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b="1">
                <a:solidFill>
                  <a:srgbClr val="002060"/>
                </a:solidFill>
                <a:latin typeface="楷体" pitchFamily="49" charset="-122"/>
                <a:ea typeface="楷体" pitchFamily="49" charset="-122"/>
              </a:endParaRPr>
            </a:p>
          </p:txBody>
        </p:sp>
        <p:sp>
          <p:nvSpPr>
            <p:cNvPr id="77" name="Text Box 14"/>
            <p:cNvSpPr txBox="1">
              <a:spLocks noChangeArrowheads="1"/>
            </p:cNvSpPr>
            <p:nvPr/>
          </p:nvSpPr>
          <p:spPr bwMode="auto">
            <a:xfrm>
              <a:off x="7343775" y="2997200"/>
              <a:ext cx="936625" cy="461665"/>
            </a:xfrm>
            <a:prstGeom prst="rect">
              <a:avLst/>
            </a:prstGeom>
            <a:noFill/>
            <a:ln w="9525">
              <a:solidFill>
                <a:schemeClr val="accent1"/>
              </a:solidFill>
              <a:miter lim="800000"/>
              <a:headEnd/>
              <a:tailEnd/>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dirty="0">
                  <a:solidFill>
                    <a:srgbClr val="002060"/>
                  </a:solidFill>
                  <a:latin typeface="楷体" pitchFamily="49" charset="-122"/>
                  <a:ea typeface="楷体" pitchFamily="49" charset="-122"/>
                </a:rPr>
                <a:t>盈余</a:t>
              </a:r>
            </a:p>
          </p:txBody>
        </p:sp>
      </p:grpSp>
      <p:grpSp>
        <p:nvGrpSpPr>
          <p:cNvPr id="9" name="组合 8"/>
          <p:cNvGrpSpPr/>
          <p:nvPr/>
        </p:nvGrpSpPr>
        <p:grpSpPr>
          <a:xfrm>
            <a:off x="539750" y="3520420"/>
            <a:ext cx="8364613" cy="1387277"/>
            <a:chOff x="539750" y="3520420"/>
            <a:chExt cx="8364613" cy="1387277"/>
          </a:xfrm>
        </p:grpSpPr>
        <p:sp>
          <p:nvSpPr>
            <p:cNvPr id="78" name="Line 15"/>
            <p:cNvSpPr>
              <a:spLocks noChangeShapeType="1"/>
            </p:cNvSpPr>
            <p:nvPr/>
          </p:nvSpPr>
          <p:spPr bwMode="auto">
            <a:xfrm>
              <a:off x="7812088" y="3520420"/>
              <a:ext cx="0" cy="55628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b="1">
                <a:solidFill>
                  <a:srgbClr val="002060"/>
                </a:solidFill>
                <a:latin typeface="楷体" pitchFamily="49" charset="-122"/>
                <a:ea typeface="楷体" pitchFamily="49" charset="-122"/>
              </a:endParaRPr>
            </a:p>
          </p:txBody>
        </p:sp>
        <p:sp>
          <p:nvSpPr>
            <p:cNvPr id="79" name="Text Box 16"/>
            <p:cNvSpPr txBox="1">
              <a:spLocks noChangeArrowheads="1"/>
            </p:cNvSpPr>
            <p:nvPr/>
          </p:nvSpPr>
          <p:spPr bwMode="auto">
            <a:xfrm>
              <a:off x="6732588" y="4067175"/>
              <a:ext cx="2171775" cy="830997"/>
            </a:xfrm>
            <a:prstGeom prst="rect">
              <a:avLst/>
            </a:prstGeom>
            <a:noFill/>
            <a:ln w="9525">
              <a:solidFill>
                <a:schemeClr val="accent1"/>
              </a:solidFill>
              <a:miter lim="800000"/>
              <a:headEnd/>
              <a:tailEnd/>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dirty="0">
                  <a:solidFill>
                    <a:srgbClr val="002060"/>
                  </a:solidFill>
                  <a:latin typeface="楷体" pitchFamily="49" charset="-122"/>
                  <a:ea typeface="楷体" pitchFamily="49" charset="-122"/>
                </a:rPr>
                <a:t>外汇需求   小于外汇供给</a:t>
              </a:r>
            </a:p>
          </p:txBody>
        </p:sp>
        <p:sp>
          <p:nvSpPr>
            <p:cNvPr id="80" name="Line 17"/>
            <p:cNvSpPr>
              <a:spLocks noChangeShapeType="1"/>
            </p:cNvSpPr>
            <p:nvPr/>
          </p:nvSpPr>
          <p:spPr bwMode="auto">
            <a:xfrm flipH="1">
              <a:off x="6373813" y="4508500"/>
              <a:ext cx="358775"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b="1">
                <a:solidFill>
                  <a:srgbClr val="002060"/>
                </a:solidFill>
                <a:latin typeface="楷体" pitchFamily="49" charset="-122"/>
                <a:ea typeface="楷体" pitchFamily="49" charset="-122"/>
              </a:endParaRPr>
            </a:p>
          </p:txBody>
        </p:sp>
        <p:sp>
          <p:nvSpPr>
            <p:cNvPr id="81" name="Text Box 18"/>
            <p:cNvSpPr txBox="1">
              <a:spLocks noChangeArrowheads="1"/>
            </p:cNvSpPr>
            <p:nvPr/>
          </p:nvSpPr>
          <p:spPr bwMode="auto">
            <a:xfrm>
              <a:off x="5219700" y="4067175"/>
              <a:ext cx="1152525" cy="830997"/>
            </a:xfrm>
            <a:prstGeom prst="rect">
              <a:avLst/>
            </a:prstGeom>
            <a:noFill/>
            <a:ln w="9525">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dirty="0">
                  <a:solidFill>
                    <a:srgbClr val="002060"/>
                  </a:solidFill>
                  <a:latin typeface="楷体" pitchFamily="49" charset="-122"/>
                  <a:ea typeface="楷体" pitchFamily="49" charset="-122"/>
                </a:rPr>
                <a:t>本币 升值</a:t>
              </a:r>
            </a:p>
          </p:txBody>
        </p:sp>
        <p:sp>
          <p:nvSpPr>
            <p:cNvPr id="82" name="Line 19"/>
            <p:cNvSpPr>
              <a:spLocks noChangeShapeType="1"/>
            </p:cNvSpPr>
            <p:nvPr/>
          </p:nvSpPr>
          <p:spPr bwMode="auto">
            <a:xfrm flipH="1">
              <a:off x="4859338" y="4508500"/>
              <a:ext cx="358775"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b="1">
                <a:solidFill>
                  <a:srgbClr val="002060"/>
                </a:solidFill>
                <a:latin typeface="楷体" pitchFamily="49" charset="-122"/>
                <a:ea typeface="楷体" pitchFamily="49" charset="-122"/>
              </a:endParaRPr>
            </a:p>
          </p:txBody>
        </p:sp>
        <p:sp>
          <p:nvSpPr>
            <p:cNvPr id="83" name="Text Box 20"/>
            <p:cNvSpPr txBox="1">
              <a:spLocks noChangeArrowheads="1"/>
            </p:cNvSpPr>
            <p:nvPr/>
          </p:nvSpPr>
          <p:spPr bwMode="auto">
            <a:xfrm>
              <a:off x="2771775" y="4067175"/>
              <a:ext cx="2089150" cy="830997"/>
            </a:xfrm>
            <a:prstGeom prst="rect">
              <a:avLst/>
            </a:prstGeom>
            <a:noFill/>
            <a:ln w="9525">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dirty="0">
                  <a:solidFill>
                    <a:srgbClr val="002060"/>
                  </a:solidFill>
                  <a:latin typeface="楷体" pitchFamily="49" charset="-122"/>
                  <a:ea typeface="楷体" pitchFamily="49" charset="-122"/>
                </a:rPr>
                <a:t>本国商品   相对价格上升</a:t>
              </a:r>
            </a:p>
          </p:txBody>
        </p:sp>
        <p:sp>
          <p:nvSpPr>
            <p:cNvPr id="84" name="Line 21"/>
            <p:cNvSpPr>
              <a:spLocks noChangeShapeType="1"/>
            </p:cNvSpPr>
            <p:nvPr/>
          </p:nvSpPr>
          <p:spPr bwMode="auto">
            <a:xfrm flipH="1">
              <a:off x="2339975" y="4508500"/>
              <a:ext cx="430213"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b="1">
                <a:solidFill>
                  <a:srgbClr val="002060"/>
                </a:solidFill>
                <a:latin typeface="楷体" pitchFamily="49" charset="-122"/>
                <a:ea typeface="楷体" pitchFamily="49" charset="-122"/>
              </a:endParaRPr>
            </a:p>
          </p:txBody>
        </p:sp>
        <p:sp>
          <p:nvSpPr>
            <p:cNvPr id="85" name="Text Box 22"/>
            <p:cNvSpPr txBox="1">
              <a:spLocks noChangeArrowheads="1"/>
            </p:cNvSpPr>
            <p:nvPr/>
          </p:nvSpPr>
          <p:spPr bwMode="auto">
            <a:xfrm>
              <a:off x="539750" y="4076700"/>
              <a:ext cx="1800225" cy="830997"/>
            </a:xfrm>
            <a:prstGeom prst="rect">
              <a:avLst/>
            </a:prstGeom>
            <a:noFill/>
            <a:ln w="9525">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dirty="0">
                  <a:solidFill>
                    <a:srgbClr val="002060"/>
                  </a:solidFill>
                  <a:latin typeface="楷体" pitchFamily="49" charset="-122"/>
                  <a:ea typeface="楷体" pitchFamily="49" charset="-122"/>
                </a:rPr>
                <a:t>出口减少 进口增加</a:t>
              </a:r>
            </a:p>
          </p:txBody>
        </p:sp>
        <p:sp>
          <p:nvSpPr>
            <p:cNvPr id="86" name="Line 23"/>
            <p:cNvSpPr>
              <a:spLocks noChangeShapeType="1"/>
            </p:cNvSpPr>
            <p:nvPr/>
          </p:nvSpPr>
          <p:spPr bwMode="auto">
            <a:xfrm flipV="1">
              <a:off x="1476375" y="3520420"/>
              <a:ext cx="0" cy="55628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b="1">
                <a:solidFill>
                  <a:srgbClr val="002060"/>
                </a:solidFill>
                <a:latin typeface="楷体" pitchFamily="49" charset="-122"/>
                <a:ea typeface="楷体" pitchFamily="49" charset="-122"/>
              </a:endParaRPr>
            </a:p>
          </p:txBody>
        </p:sp>
      </p:grpSp>
    </p:spTree>
    <p:extLst>
      <p:ext uri="{BB962C8B-B14F-4D97-AF65-F5344CB8AC3E}">
        <p14:creationId xmlns:p14="http://schemas.microsoft.com/office/powerpoint/2010/main" val="3346466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anim calcmode="lin" valueType="num">
                                      <p:cBhvr additive="base">
                                        <p:cTn id="7" dur="500" fill="hold"/>
                                        <p:tgtEl>
                                          <p:spTgt spid="67"/>
                                        </p:tgtEl>
                                        <p:attrNameLst>
                                          <p:attrName>ppt_x</p:attrName>
                                        </p:attrNameLst>
                                      </p:cBhvr>
                                      <p:tavLst>
                                        <p:tav tm="0">
                                          <p:val>
                                            <p:strVal val="#ppt_x"/>
                                          </p:val>
                                        </p:tav>
                                        <p:tav tm="100000">
                                          <p:val>
                                            <p:strVal val="#ppt_x"/>
                                          </p:val>
                                        </p:tav>
                                      </p:tavLst>
                                    </p:anim>
                                    <p:anim calcmode="lin" valueType="num">
                                      <p:cBhvr additive="base">
                                        <p:cTn id="8"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0-#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0-#ppt_w/2"/>
                                          </p:val>
                                        </p:tav>
                                        <p:tav tm="100000">
                                          <p:val>
                                            <p:strVal val="#ppt_x"/>
                                          </p:val>
                                        </p:tav>
                                      </p:tavLst>
                                    </p:anim>
                                    <p:anim calcmode="lin" valueType="num">
                                      <p:cBhvr additive="base">
                                        <p:cTn id="26"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0-#ppt_w/2"/>
                                          </p:val>
                                        </p:tav>
                                        <p:tav tm="100000">
                                          <p:val>
                                            <p:strVal val="#ppt_x"/>
                                          </p:val>
                                        </p:tav>
                                      </p:tavLst>
                                    </p:anim>
                                    <p:anim calcmode="lin" valueType="num">
                                      <p:cBhvr additive="base">
                                        <p:cTn id="32"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1"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ppt_x"/>
                                          </p:val>
                                        </p:tav>
                                        <p:tav tm="100000">
                                          <p:val>
                                            <p:strVal val="#ppt_x"/>
                                          </p:val>
                                        </p:tav>
                                      </p:tavLst>
                                    </p:anim>
                                    <p:anim calcmode="lin" valueType="num">
                                      <p:cBhvr additive="base">
                                        <p:cTn id="4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altLang="en-US" dirty="0"/>
              <a:t>三</a:t>
            </a:r>
            <a:r>
              <a:rPr lang="zh-CN" altLang="en-US" dirty="0"/>
              <a:t>节	国际收支的失衡与调节</a:t>
            </a:r>
            <a:endParaRPr lang="zh-CN" dirty="0"/>
          </a:p>
        </p:txBody>
      </p:sp>
      <p:sp>
        <p:nvSpPr>
          <p:cNvPr id="3" name="内容占位符 2"/>
          <p:cNvSpPr>
            <a:spLocks noGrp="1"/>
          </p:cNvSpPr>
          <p:nvPr>
            <p:ph idx="1"/>
          </p:nvPr>
        </p:nvSpPr>
        <p:spPr/>
        <p:txBody>
          <a:bodyPr>
            <a:normAutofit/>
          </a:bodyPr>
          <a:lstStyle/>
          <a:p>
            <a:pPr marL="0" indent="0">
              <a:lnSpc>
                <a:spcPct val="120000"/>
              </a:lnSpc>
              <a:buNone/>
            </a:pPr>
            <a:r>
              <a:rPr lang="zh-CN" altLang="en-US" sz="2800" dirty="0">
                <a:latin typeface="微软雅黑" panose="020B0503020204020204" pitchFamily="34" charset="-122"/>
                <a:ea typeface="微软雅黑" panose="020B0503020204020204" pitchFamily="34" charset="-122"/>
              </a:rPr>
              <a:t>四、国际收支失衡的政策性调节措施</a:t>
            </a:r>
            <a:endParaRPr lang="en-US" altLang="zh-CN" sz="2800" dirty="0">
              <a:latin typeface="微软雅黑" panose="020B0503020204020204" pitchFamily="34" charset="-122"/>
              <a:ea typeface="微软雅黑" panose="020B0503020204020204" pitchFamily="34" charset="-122"/>
            </a:endParaRPr>
          </a:p>
          <a:p>
            <a:pPr marL="0" indent="0">
              <a:lnSpc>
                <a:spcPct val="120000"/>
              </a:lnSpc>
              <a:buNone/>
            </a:pPr>
            <a:r>
              <a:rPr lang="en-US" altLang="zh-CN" sz="2800" dirty="0">
                <a:latin typeface="微软雅黑" panose="020B0503020204020204" pitchFamily="34" charset="-122"/>
                <a:ea typeface="微软雅黑" panose="020B0503020204020204" pitchFamily="34" charset="-122"/>
              </a:rPr>
              <a:t>       </a:t>
            </a:r>
            <a:r>
              <a:rPr lang="zh-CN" altLang="en-US" b="1" dirty="0">
                <a:latin typeface="楷体" pitchFamily="49" charset="-122"/>
                <a:ea typeface="楷体" pitchFamily="49" charset="-122"/>
              </a:rPr>
              <a:t>需要政策调节的理由主要是：</a:t>
            </a:r>
          </a:p>
          <a:p>
            <a:pPr marL="800100" lvl="1" indent="-571500">
              <a:lnSpc>
                <a:spcPct val="120000"/>
              </a:lnSpc>
              <a:buFont typeface="Wingdings" panose="05000000000000000000" pitchFamily="2" charset="2"/>
              <a:buChar char="ü"/>
            </a:pPr>
            <a:r>
              <a:rPr lang="zh-CN" altLang="en-US" sz="2000" b="1" dirty="0">
                <a:solidFill>
                  <a:srgbClr val="0070C0"/>
                </a:solidFill>
                <a:latin typeface="楷体" pitchFamily="49" charset="-122"/>
                <a:ea typeface="楷体" pitchFamily="49" charset="-122"/>
              </a:rPr>
              <a:t>自发调节过程可能需要牺牲国内其他宏观经济目标</a:t>
            </a:r>
          </a:p>
          <a:p>
            <a:pPr marL="800100" lvl="1" indent="-571500">
              <a:lnSpc>
                <a:spcPct val="120000"/>
              </a:lnSpc>
              <a:buFont typeface="Wingdings" panose="05000000000000000000" pitchFamily="2" charset="2"/>
              <a:buChar char="ü"/>
            </a:pPr>
            <a:r>
              <a:rPr lang="zh-CN" altLang="en-US" sz="2000" b="1" dirty="0">
                <a:solidFill>
                  <a:srgbClr val="0070C0"/>
                </a:solidFill>
                <a:latin typeface="楷体" pitchFamily="49" charset="-122"/>
                <a:ea typeface="楷体" pitchFamily="49" charset="-122"/>
              </a:rPr>
              <a:t>自发调节需要一些难以实现的客观经济环境</a:t>
            </a:r>
          </a:p>
          <a:p>
            <a:pPr marL="800100" lvl="1" indent="-571500">
              <a:lnSpc>
                <a:spcPct val="120000"/>
              </a:lnSpc>
              <a:buFont typeface="Wingdings" panose="05000000000000000000" pitchFamily="2" charset="2"/>
              <a:buChar char="ü"/>
            </a:pPr>
            <a:r>
              <a:rPr lang="zh-CN" altLang="en-US" sz="2000" b="1" dirty="0">
                <a:solidFill>
                  <a:srgbClr val="0070C0"/>
                </a:solidFill>
                <a:latin typeface="楷体" pitchFamily="49" charset="-122"/>
                <a:ea typeface="楷体" pitchFamily="49" charset="-122"/>
              </a:rPr>
              <a:t>自动恢复均衡所需过程可能相当漫长</a:t>
            </a:r>
          </a:p>
        </p:txBody>
      </p:sp>
      <p:sp>
        <p:nvSpPr>
          <p:cNvPr id="5" name="页脚占位符 4"/>
          <p:cNvSpPr>
            <a:spLocks noGrp="1"/>
          </p:cNvSpPr>
          <p:nvPr>
            <p:ph type="ftr" sz="quarter" idx="11"/>
          </p:nvPr>
        </p:nvSpPr>
        <p:spPr/>
        <p:txBody>
          <a:bodyPr/>
          <a:lstStyle/>
          <a:p>
            <a:r>
              <a:rPr lang="zh-CN" altLang="en-US"/>
              <a:t>国际金融学 范小云</a:t>
            </a:r>
            <a:endParaRPr lang="zh-CN" altLang="en-US" dirty="0"/>
          </a:p>
        </p:txBody>
      </p:sp>
    </p:spTree>
    <p:extLst>
      <p:ext uri="{BB962C8B-B14F-4D97-AF65-F5344CB8AC3E}">
        <p14:creationId xmlns:p14="http://schemas.microsoft.com/office/powerpoint/2010/main" val="2855264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altLang="en-US" dirty="0"/>
              <a:t>三节</a:t>
            </a:r>
            <a:r>
              <a:rPr lang="en-US" altLang="en-US" dirty="0"/>
              <a:t>	</a:t>
            </a:r>
            <a:r>
              <a:rPr lang="zh-CN" altLang="en-US" dirty="0"/>
              <a:t>国际收支的失衡与调节</a:t>
            </a:r>
            <a:endParaRPr lang="zh-CN" dirty="0"/>
          </a:p>
        </p:txBody>
      </p:sp>
      <p:sp>
        <p:nvSpPr>
          <p:cNvPr id="3" name="内容占位符 2"/>
          <p:cNvSpPr>
            <a:spLocks noGrp="1"/>
          </p:cNvSpPr>
          <p:nvPr>
            <p:ph idx="1"/>
          </p:nvPr>
        </p:nvSpPr>
        <p:spPr>
          <a:xfrm>
            <a:off x="971549" y="1447800"/>
            <a:ext cx="7419415" cy="4559300"/>
          </a:xfrm>
        </p:spPr>
        <p:txBody>
          <a:bodyPr>
            <a:normAutofit fontScale="85000" lnSpcReduction="20000"/>
          </a:bodyPr>
          <a:lstStyle/>
          <a:p>
            <a:pPr marL="0" indent="0">
              <a:lnSpc>
                <a:spcPct val="120000"/>
              </a:lnSpc>
              <a:buNone/>
            </a:pPr>
            <a:r>
              <a:rPr lang="zh-CN" altLang="en-US" sz="2800" dirty="0">
                <a:latin typeface="微软雅黑" panose="020B0503020204020204" pitchFamily="34" charset="-122"/>
                <a:ea typeface="微软雅黑" panose="020B0503020204020204" pitchFamily="34" charset="-122"/>
              </a:rPr>
              <a:t>四、国际收支失衡的政策性调节措施</a:t>
            </a:r>
            <a:endParaRPr lang="en-US" altLang="zh-CN" sz="2800" dirty="0">
              <a:latin typeface="微软雅黑" panose="020B0503020204020204" pitchFamily="34" charset="-122"/>
              <a:ea typeface="微软雅黑" panose="020B0503020204020204" pitchFamily="34" charset="-122"/>
            </a:endParaRPr>
          </a:p>
          <a:p>
            <a:pPr marL="571500" indent="-571500">
              <a:lnSpc>
                <a:spcPct val="120000"/>
              </a:lnSpc>
              <a:buFont typeface="+mj-lt"/>
              <a:buAutoNum type="romanUcPeriod"/>
            </a:pPr>
            <a:r>
              <a:rPr lang="zh-CN" altLang="en-US" sz="2800" b="1" dirty="0">
                <a:latin typeface="楷体" pitchFamily="49" charset="-122"/>
                <a:ea typeface="楷体" pitchFamily="49" charset="-122"/>
              </a:rPr>
              <a:t>外汇缓冲政策</a:t>
            </a:r>
            <a:endParaRPr lang="en-US" altLang="zh-CN" sz="2800" b="1" dirty="0">
              <a:latin typeface="楷体" pitchFamily="49" charset="-122"/>
              <a:ea typeface="楷体" pitchFamily="49" charset="-122"/>
            </a:endParaRPr>
          </a:p>
          <a:p>
            <a:pPr marL="457200" lvl="2" indent="0">
              <a:lnSpc>
                <a:spcPct val="120000"/>
              </a:lnSpc>
              <a:buNone/>
            </a:pPr>
            <a:r>
              <a:rPr lang="en-US" altLang="zh-CN" sz="2400" b="1" dirty="0">
                <a:latin typeface="楷体" pitchFamily="49" charset="-122"/>
                <a:ea typeface="楷体" pitchFamily="49" charset="-122"/>
              </a:rPr>
              <a:t>	</a:t>
            </a:r>
            <a:r>
              <a:rPr lang="zh-CN" altLang="en-US" sz="2400" b="1" dirty="0">
                <a:solidFill>
                  <a:srgbClr val="002060"/>
                </a:solidFill>
                <a:latin typeface="楷体" pitchFamily="49" charset="-122"/>
                <a:ea typeface="楷体" pitchFamily="49" charset="-122"/>
              </a:rPr>
              <a:t>融资</a:t>
            </a:r>
            <a:r>
              <a:rPr lang="en-US" altLang="zh-CN" sz="2400" b="1" dirty="0">
                <a:solidFill>
                  <a:srgbClr val="002060"/>
                </a:solidFill>
                <a:latin typeface="楷体" pitchFamily="49" charset="-122"/>
                <a:ea typeface="楷体" pitchFamily="49" charset="-122"/>
              </a:rPr>
              <a:t>(Financing)</a:t>
            </a:r>
            <a:r>
              <a:rPr lang="zh-CN" altLang="en-US" sz="2400" b="1" dirty="0">
                <a:solidFill>
                  <a:srgbClr val="002060"/>
                </a:solidFill>
                <a:latin typeface="楷体" pitchFamily="49" charset="-122"/>
                <a:ea typeface="楷体" pitchFamily="49" charset="-122"/>
              </a:rPr>
              <a:t>或弥补</a:t>
            </a:r>
            <a:r>
              <a:rPr lang="en-US" altLang="zh-CN" sz="2400" b="1" dirty="0">
                <a:solidFill>
                  <a:srgbClr val="002060"/>
                </a:solidFill>
                <a:latin typeface="楷体" pitchFamily="49" charset="-122"/>
                <a:ea typeface="楷体" pitchFamily="49" charset="-122"/>
              </a:rPr>
              <a:t>(Accommodation)</a:t>
            </a:r>
          </a:p>
          <a:p>
            <a:pPr marL="571500" indent="-571500">
              <a:lnSpc>
                <a:spcPct val="120000"/>
              </a:lnSpc>
              <a:buFont typeface="+mj-lt"/>
              <a:buAutoNum type="romanUcPeriod"/>
            </a:pPr>
            <a:r>
              <a:rPr lang="zh-CN" altLang="en-US" sz="2800" b="1" dirty="0">
                <a:latin typeface="楷体" pitchFamily="49" charset="-122"/>
                <a:ea typeface="楷体" pitchFamily="49" charset="-122"/>
              </a:rPr>
              <a:t>需求管理政策</a:t>
            </a:r>
            <a:endParaRPr lang="en-US" altLang="zh-CN" sz="2800" b="1" dirty="0">
              <a:latin typeface="楷体" pitchFamily="49" charset="-122"/>
              <a:ea typeface="楷体" pitchFamily="49" charset="-122"/>
            </a:endParaRPr>
          </a:p>
          <a:p>
            <a:pPr marL="228600" lvl="1" indent="0">
              <a:lnSpc>
                <a:spcPct val="120000"/>
              </a:lnSpc>
              <a:buNone/>
            </a:pPr>
            <a:r>
              <a:rPr lang="en-US" altLang="zh-CN" sz="2600" b="1" dirty="0">
                <a:latin typeface="楷体" pitchFamily="49" charset="-122"/>
                <a:ea typeface="楷体" pitchFamily="49" charset="-122"/>
              </a:rPr>
              <a:t>	</a:t>
            </a:r>
            <a:r>
              <a:rPr lang="zh-CN" altLang="en-US" sz="2600" b="1" dirty="0">
                <a:solidFill>
                  <a:srgbClr val="002060"/>
                </a:solidFill>
                <a:latin typeface="楷体" pitchFamily="49" charset="-122"/>
                <a:ea typeface="楷体" pitchFamily="49" charset="-122"/>
              </a:rPr>
              <a:t>财政货币政策</a:t>
            </a:r>
          </a:p>
          <a:p>
            <a:pPr marL="571500" indent="-571500">
              <a:lnSpc>
                <a:spcPct val="120000"/>
              </a:lnSpc>
              <a:buFont typeface="+mj-lt"/>
              <a:buAutoNum type="romanUcPeriod"/>
            </a:pPr>
            <a:r>
              <a:rPr lang="zh-CN" altLang="en-US" sz="2800" b="1" dirty="0">
                <a:latin typeface="楷体" pitchFamily="49" charset="-122"/>
                <a:ea typeface="楷体" pitchFamily="49" charset="-122"/>
              </a:rPr>
              <a:t>支出转换政策</a:t>
            </a:r>
            <a:endParaRPr lang="en-US" altLang="zh-CN" sz="2800" b="1" dirty="0">
              <a:latin typeface="楷体" pitchFamily="49" charset="-122"/>
              <a:ea typeface="楷体" pitchFamily="49" charset="-122"/>
            </a:endParaRPr>
          </a:p>
          <a:p>
            <a:pPr marL="228600" lvl="1" indent="0">
              <a:lnSpc>
                <a:spcPct val="120000"/>
              </a:lnSpc>
              <a:buNone/>
            </a:pPr>
            <a:r>
              <a:rPr lang="en-US" altLang="zh-CN" sz="2600" b="1" dirty="0">
                <a:latin typeface="楷体" pitchFamily="49" charset="-122"/>
                <a:ea typeface="楷体" pitchFamily="49" charset="-122"/>
              </a:rPr>
              <a:t>	</a:t>
            </a:r>
            <a:r>
              <a:rPr lang="zh-CN" altLang="en-US" sz="2600" b="1" dirty="0">
                <a:solidFill>
                  <a:srgbClr val="002060"/>
                </a:solidFill>
                <a:latin typeface="楷体" pitchFamily="49" charset="-122"/>
                <a:ea typeface="楷体" pitchFamily="49" charset="-122"/>
              </a:rPr>
              <a:t>汇率政策</a:t>
            </a:r>
            <a:r>
              <a:rPr lang="en-US" altLang="zh-CN" sz="2600" b="1" dirty="0">
                <a:solidFill>
                  <a:srgbClr val="002060"/>
                </a:solidFill>
                <a:latin typeface="楷体" pitchFamily="49" charset="-122"/>
                <a:ea typeface="楷体" pitchFamily="49" charset="-122"/>
              </a:rPr>
              <a:t>(</a:t>
            </a:r>
            <a:r>
              <a:rPr lang="zh-CN" altLang="en-US" sz="2600" b="1" dirty="0">
                <a:solidFill>
                  <a:srgbClr val="002060"/>
                </a:solidFill>
                <a:latin typeface="楷体" pitchFamily="49" charset="-122"/>
                <a:ea typeface="楷体" pitchFamily="49" charset="-122"/>
              </a:rPr>
              <a:t>汇率制度变更；浮动汇率制下的外	      </a:t>
            </a:r>
            <a:r>
              <a:rPr lang="en-US" altLang="zh-CN" sz="2600" b="1" dirty="0">
                <a:solidFill>
                  <a:srgbClr val="002060"/>
                </a:solidFill>
                <a:latin typeface="楷体" pitchFamily="49" charset="-122"/>
                <a:ea typeface="楷体" pitchFamily="49" charset="-122"/>
              </a:rPr>
              <a:t>	</a:t>
            </a:r>
            <a:r>
              <a:rPr lang="zh-CN" altLang="en-US" sz="2600" b="1" dirty="0">
                <a:solidFill>
                  <a:srgbClr val="002060"/>
                </a:solidFill>
                <a:latin typeface="楷体" pitchFamily="49" charset="-122"/>
                <a:ea typeface="楷体" pitchFamily="49" charset="-122"/>
              </a:rPr>
              <a:t>汇市场干预；官方汇率贬值</a:t>
            </a:r>
            <a:r>
              <a:rPr lang="en-US" altLang="zh-CN" sz="2600" b="1" dirty="0">
                <a:solidFill>
                  <a:srgbClr val="002060"/>
                </a:solidFill>
                <a:latin typeface="楷体" pitchFamily="49" charset="-122"/>
                <a:ea typeface="楷体" pitchFamily="49" charset="-122"/>
              </a:rPr>
              <a:t>)</a:t>
            </a:r>
          </a:p>
          <a:p>
            <a:pPr marL="228600" lvl="1" indent="0">
              <a:lnSpc>
                <a:spcPct val="120000"/>
              </a:lnSpc>
              <a:buNone/>
            </a:pPr>
            <a:r>
              <a:rPr lang="en-US" altLang="zh-CN" sz="2600" b="1" dirty="0">
                <a:solidFill>
                  <a:srgbClr val="002060"/>
                </a:solidFill>
                <a:latin typeface="楷体" pitchFamily="49" charset="-122"/>
                <a:ea typeface="楷体" pitchFamily="49" charset="-122"/>
              </a:rPr>
              <a:t>	</a:t>
            </a:r>
            <a:r>
              <a:rPr lang="zh-CN" altLang="en-US" sz="2600" b="1" dirty="0">
                <a:solidFill>
                  <a:srgbClr val="002060"/>
                </a:solidFill>
                <a:latin typeface="楷体" pitchFamily="49" charset="-122"/>
                <a:ea typeface="楷体" pitchFamily="49" charset="-122"/>
              </a:rPr>
              <a:t>直接管制</a:t>
            </a:r>
            <a:r>
              <a:rPr lang="en-US" altLang="zh-CN" sz="2600" b="1" dirty="0">
                <a:solidFill>
                  <a:srgbClr val="002060"/>
                </a:solidFill>
                <a:latin typeface="楷体" pitchFamily="49" charset="-122"/>
                <a:ea typeface="楷体" pitchFamily="49" charset="-122"/>
              </a:rPr>
              <a:t>(</a:t>
            </a:r>
            <a:r>
              <a:rPr lang="zh-CN" altLang="en-US" sz="2600" b="1" dirty="0">
                <a:solidFill>
                  <a:srgbClr val="002060"/>
                </a:solidFill>
                <a:latin typeface="楷体" pitchFamily="49" charset="-122"/>
                <a:ea typeface="楷体" pitchFamily="49" charset="-122"/>
              </a:rPr>
              <a:t>外汇管制和贸易政策</a:t>
            </a:r>
            <a:r>
              <a:rPr lang="en-US" altLang="zh-CN" sz="2600" b="1" dirty="0">
                <a:solidFill>
                  <a:srgbClr val="002060"/>
                </a:solidFill>
                <a:latin typeface="楷体" pitchFamily="49" charset="-122"/>
                <a:ea typeface="楷体" pitchFamily="49" charset="-122"/>
              </a:rPr>
              <a:t>)</a:t>
            </a:r>
          </a:p>
        </p:txBody>
      </p:sp>
      <p:sp>
        <p:nvSpPr>
          <p:cNvPr id="5" name="页脚占位符 4"/>
          <p:cNvSpPr>
            <a:spLocks noGrp="1"/>
          </p:cNvSpPr>
          <p:nvPr>
            <p:ph type="ftr" sz="quarter" idx="11"/>
          </p:nvPr>
        </p:nvSpPr>
        <p:spPr/>
        <p:txBody>
          <a:bodyPr/>
          <a:lstStyle/>
          <a:p>
            <a:r>
              <a:rPr lang="zh-CN" altLang="en-US"/>
              <a:t>国际金融学 范小云</a:t>
            </a:r>
            <a:endParaRPr lang="zh-CN" altLang="en-US" dirty="0"/>
          </a:p>
        </p:txBody>
      </p:sp>
    </p:spTree>
    <p:extLst>
      <p:ext uri="{BB962C8B-B14F-4D97-AF65-F5344CB8AC3E}">
        <p14:creationId xmlns:p14="http://schemas.microsoft.com/office/powerpoint/2010/main" val="3761003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讨论：</a:t>
            </a:r>
          </a:p>
        </p:txBody>
      </p:sp>
      <p:sp>
        <p:nvSpPr>
          <p:cNvPr id="3" name="内容占位符 2"/>
          <p:cNvSpPr>
            <a:spLocks noGrp="1"/>
          </p:cNvSpPr>
          <p:nvPr>
            <p:ph idx="1"/>
          </p:nvPr>
        </p:nvSpPr>
        <p:spPr/>
        <p:txBody>
          <a:bodyPr>
            <a:normAutofit/>
          </a:bodyPr>
          <a:lstStyle/>
          <a:p>
            <a:pPr algn="ctr"/>
            <a:endParaRPr lang="en-US" altLang="zh-CN" sz="4000" dirty="0">
              <a:latin typeface="微软雅黑" panose="020B0503020204020204" pitchFamily="34" charset="-122"/>
              <a:ea typeface="微软雅黑" panose="020B0503020204020204" pitchFamily="34" charset="-122"/>
            </a:endParaRPr>
          </a:p>
          <a:p>
            <a:pPr algn="ctr"/>
            <a:endParaRPr lang="en-US" altLang="zh-CN" sz="4000" dirty="0">
              <a:latin typeface="微软雅黑" panose="020B0503020204020204" pitchFamily="34" charset="-122"/>
              <a:ea typeface="微软雅黑" panose="020B0503020204020204" pitchFamily="34" charset="-122"/>
            </a:endParaRPr>
          </a:p>
          <a:p>
            <a:pPr algn="ctr"/>
            <a:r>
              <a:rPr lang="zh-CN" altLang="en-US" sz="4000" dirty="0">
                <a:latin typeface="微软雅黑" panose="020B0503020204020204" pitchFamily="34" charset="-122"/>
                <a:ea typeface="微软雅黑" panose="020B0503020204020204" pitchFamily="34" charset="-122"/>
              </a:rPr>
              <a:t>全球失衡及其调整？</a:t>
            </a:r>
          </a:p>
        </p:txBody>
      </p:sp>
      <p:sp>
        <p:nvSpPr>
          <p:cNvPr id="4" name="页脚占位符 3"/>
          <p:cNvSpPr>
            <a:spLocks noGrp="1"/>
          </p:cNvSpPr>
          <p:nvPr>
            <p:ph type="ftr" sz="quarter" idx="11"/>
          </p:nvPr>
        </p:nvSpPr>
        <p:spPr/>
        <p:txBody>
          <a:bodyPr/>
          <a:lstStyle/>
          <a:p>
            <a:r>
              <a:rPr lang="zh-CN" altLang="en-US"/>
              <a:t>国际金融学 范小云</a:t>
            </a:r>
            <a:endParaRPr lang="zh-CN" altLang="en-US" dirty="0"/>
          </a:p>
        </p:txBody>
      </p:sp>
    </p:spTree>
    <p:extLst>
      <p:ext uri="{BB962C8B-B14F-4D97-AF65-F5344CB8AC3E}">
        <p14:creationId xmlns:p14="http://schemas.microsoft.com/office/powerpoint/2010/main" val="2086451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1172584" y="1447800"/>
            <a:ext cx="6411557" cy="4559300"/>
          </a:xfrm>
        </p:spPr>
        <p:txBody>
          <a:bodyPr>
            <a:normAutofit/>
          </a:bodyPr>
          <a:lstStyle/>
          <a:p>
            <a:pPr marL="0" indent="720000">
              <a:lnSpc>
                <a:spcPct val="100000"/>
              </a:lnSpc>
              <a:spcBef>
                <a:spcPts val="0"/>
              </a:spcBef>
            </a:pPr>
            <a:r>
              <a:rPr lang="en-US" altLang="zh-CN" sz="2400" dirty="0">
                <a:latin typeface="楷体" pitchFamily="49" charset="-122"/>
                <a:ea typeface="楷体" pitchFamily="49" charset="-122"/>
              </a:rPr>
              <a:t>2005 </a:t>
            </a:r>
            <a:r>
              <a:rPr lang="zh-CN" altLang="en-US" sz="2400" dirty="0">
                <a:latin typeface="楷体" pitchFamily="49" charset="-122"/>
                <a:ea typeface="楷体" pitchFamily="49" charset="-122"/>
              </a:rPr>
              <a:t>年</a:t>
            </a:r>
            <a:r>
              <a:rPr lang="en-US" altLang="zh-CN" sz="2400" dirty="0">
                <a:latin typeface="楷体" pitchFamily="49" charset="-122"/>
                <a:ea typeface="楷体" pitchFamily="49" charset="-122"/>
              </a:rPr>
              <a:t>2</a:t>
            </a:r>
            <a:r>
              <a:rPr lang="zh-CN" altLang="en-US" sz="2400" dirty="0">
                <a:latin typeface="楷体" pitchFamily="49" charset="-122"/>
                <a:ea typeface="楷体" pitchFamily="49" charset="-122"/>
              </a:rPr>
              <a:t>月，国际货币基金组织（</a:t>
            </a:r>
            <a:r>
              <a:rPr lang="en-US" altLang="zh-CN" sz="2400" dirty="0">
                <a:latin typeface="楷体" pitchFamily="49" charset="-122"/>
                <a:ea typeface="楷体" pitchFamily="49" charset="-122"/>
              </a:rPr>
              <a:t>IMF</a:t>
            </a:r>
            <a:r>
              <a:rPr lang="zh-CN" altLang="en-US" sz="2400" dirty="0">
                <a:latin typeface="楷体" pitchFamily="49" charset="-122"/>
                <a:ea typeface="楷体" pitchFamily="49" charset="-122"/>
              </a:rPr>
              <a:t>）总裁拉托（</a:t>
            </a:r>
            <a:r>
              <a:rPr lang="en-US" altLang="zh-CN" sz="2400" dirty="0" err="1">
                <a:latin typeface="楷体" pitchFamily="49" charset="-122"/>
                <a:ea typeface="楷体" pitchFamily="49" charset="-122"/>
              </a:rPr>
              <a:t>Rodrigode</a:t>
            </a:r>
            <a:r>
              <a:rPr lang="en-US" altLang="zh-CN" sz="2400" dirty="0">
                <a:latin typeface="楷体" pitchFamily="49" charset="-122"/>
                <a:ea typeface="楷体" pitchFamily="49" charset="-122"/>
              </a:rPr>
              <a:t> </a:t>
            </a:r>
            <a:r>
              <a:rPr lang="en-US" altLang="zh-CN" sz="2400" dirty="0" err="1">
                <a:latin typeface="楷体" pitchFamily="49" charset="-122"/>
                <a:ea typeface="楷体" pitchFamily="49" charset="-122"/>
              </a:rPr>
              <a:t>Rato</a:t>
            </a:r>
            <a:r>
              <a:rPr lang="zh-CN" altLang="en-US" sz="2400" dirty="0">
                <a:latin typeface="楷体" pitchFamily="49" charset="-122"/>
                <a:ea typeface="楷体" pitchFamily="49" charset="-122"/>
              </a:rPr>
              <a:t>）首次正式提出并界定“全球失衡”（</a:t>
            </a:r>
            <a:r>
              <a:rPr lang="en-US" altLang="zh-CN" sz="2400" dirty="0">
                <a:latin typeface="楷体" pitchFamily="49" charset="-122"/>
                <a:ea typeface="楷体" pitchFamily="49" charset="-122"/>
              </a:rPr>
              <a:t>Global Imbalance</a:t>
            </a:r>
            <a:r>
              <a:rPr lang="zh-CN" altLang="en-US" sz="2400" dirty="0">
                <a:latin typeface="楷体" pitchFamily="49" charset="-122"/>
                <a:ea typeface="楷体" pitchFamily="49" charset="-122"/>
              </a:rPr>
              <a:t>），认为全球失衡主要表现为美国拥有大量贸易赤字，而其他一些经济体，尤其是中国，则出现大量贸易盈余。</a:t>
            </a:r>
          </a:p>
        </p:txBody>
      </p:sp>
      <p:sp>
        <p:nvSpPr>
          <p:cNvPr id="4" name="页脚占位符 3"/>
          <p:cNvSpPr>
            <a:spLocks noGrp="1"/>
          </p:cNvSpPr>
          <p:nvPr>
            <p:ph type="ftr" sz="quarter" idx="11"/>
          </p:nvPr>
        </p:nvSpPr>
        <p:spPr/>
        <p:txBody>
          <a:bodyPr/>
          <a:lstStyle/>
          <a:p>
            <a:r>
              <a:rPr lang="zh-CN" altLang="en-US"/>
              <a:t>国际金融学 范小云</a:t>
            </a:r>
            <a:endParaRPr lang="zh-CN" altLang="en-US" dirty="0"/>
          </a:p>
        </p:txBody>
      </p:sp>
    </p:spTree>
    <p:extLst>
      <p:ext uri="{BB962C8B-B14F-4D97-AF65-F5344CB8AC3E}">
        <p14:creationId xmlns:p14="http://schemas.microsoft.com/office/powerpoint/2010/main" val="767741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危机前后全球经济失衡状况</a:t>
            </a:r>
          </a:p>
        </p:txBody>
      </p:sp>
      <p:sp>
        <p:nvSpPr>
          <p:cNvPr id="3" name="内容占位符 2"/>
          <p:cNvSpPr>
            <a:spLocks noGrp="1"/>
          </p:cNvSpPr>
          <p:nvPr>
            <p:ph idx="1"/>
          </p:nvPr>
        </p:nvSpPr>
        <p:spPr>
          <a:xfrm>
            <a:off x="770827" y="5379125"/>
            <a:ext cx="7793623" cy="814040"/>
          </a:xfrm>
        </p:spPr>
        <p:txBody>
          <a:bodyPr>
            <a:noAutofit/>
          </a:bodyPr>
          <a:lstStyle/>
          <a:p>
            <a:pPr>
              <a:lnSpc>
                <a:spcPct val="100000"/>
              </a:lnSpc>
              <a:spcBef>
                <a:spcPct val="50000"/>
              </a:spcBef>
            </a:pPr>
            <a:r>
              <a:rPr lang="zh-CN" altLang="en-US" dirty="0">
                <a:latin typeface="微软雅黑" panose="020B0503020204020204" pitchFamily="34" charset="-122"/>
                <a:ea typeface="微软雅黑" panose="020B0503020204020204" pitchFamily="34" charset="-122"/>
              </a:rPr>
              <a:t>主要赤字国：</a:t>
            </a:r>
            <a:r>
              <a:rPr lang="zh-CN" altLang="en-US" dirty="0">
                <a:solidFill>
                  <a:srgbClr val="00B050"/>
                </a:solidFill>
                <a:latin typeface="微软雅黑" panose="020B0503020204020204" pitchFamily="34" charset="-122"/>
                <a:ea typeface="微软雅黑" panose="020B0503020204020204" pitchFamily="34" charset="-122"/>
              </a:rPr>
              <a:t>美国、欧洲除德国</a:t>
            </a:r>
            <a:endParaRPr lang="en-US" altLang="zh-CN" dirty="0">
              <a:solidFill>
                <a:srgbClr val="00B050"/>
              </a:solidFill>
              <a:latin typeface="微软雅黑" panose="020B0503020204020204" pitchFamily="34" charset="-122"/>
              <a:ea typeface="微软雅黑" panose="020B0503020204020204" pitchFamily="34" charset="-122"/>
            </a:endParaRPr>
          </a:p>
          <a:p>
            <a:pPr>
              <a:lnSpc>
                <a:spcPct val="100000"/>
              </a:lnSpc>
              <a:spcBef>
                <a:spcPct val="50000"/>
              </a:spcBef>
            </a:pPr>
            <a:r>
              <a:rPr lang="zh-CN" altLang="en-US" dirty="0">
                <a:latin typeface="微软雅黑" panose="020B0503020204020204" pitchFamily="34" charset="-122"/>
                <a:ea typeface="微软雅黑" panose="020B0503020204020204" pitchFamily="34" charset="-122"/>
              </a:rPr>
              <a:t>主要盈余国：</a:t>
            </a:r>
            <a:r>
              <a:rPr lang="zh-CN" altLang="en-US" dirty="0">
                <a:solidFill>
                  <a:srgbClr val="FF0000"/>
                </a:solidFill>
                <a:latin typeface="微软雅黑" panose="020B0503020204020204" pitchFamily="34" charset="-122"/>
                <a:ea typeface="微软雅黑" panose="020B0503020204020204" pitchFamily="34" charset="-122"/>
              </a:rPr>
              <a:t>中国、石油国家、德国、日本、亚洲其他新兴国家</a:t>
            </a:r>
          </a:p>
        </p:txBody>
      </p:sp>
      <p:sp>
        <p:nvSpPr>
          <p:cNvPr id="4" name="页脚占位符 3"/>
          <p:cNvSpPr>
            <a:spLocks noGrp="1"/>
          </p:cNvSpPr>
          <p:nvPr>
            <p:ph type="ftr" sz="quarter" idx="11"/>
          </p:nvPr>
        </p:nvSpPr>
        <p:spPr/>
        <p:txBody>
          <a:bodyPr/>
          <a:lstStyle/>
          <a:p>
            <a:r>
              <a:rPr lang="zh-CN" altLang="en-US"/>
              <a:t>国际金融学 范小云</a:t>
            </a:r>
            <a:endParaRPr lang="zh-CN" altLang="en-US" dirty="0"/>
          </a:p>
        </p:txBody>
      </p:sp>
      <p:graphicFrame>
        <p:nvGraphicFramePr>
          <p:cNvPr id="6" name="图表 5"/>
          <p:cNvGraphicFramePr>
            <a:graphicFrameLocks/>
          </p:cNvGraphicFramePr>
          <p:nvPr>
            <p:extLst>
              <p:ext uri="{D42A27DB-BD31-4B8C-83A1-F6EECF244321}">
                <p14:modId xmlns:p14="http://schemas.microsoft.com/office/powerpoint/2010/main" val="2843559011"/>
              </p:ext>
            </p:extLst>
          </p:nvPr>
        </p:nvGraphicFramePr>
        <p:xfrm>
          <a:off x="770828" y="1160771"/>
          <a:ext cx="7401622" cy="426987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93433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776" t="2708" r="2732" b="4753"/>
          <a:stretch/>
        </p:blipFill>
        <p:spPr bwMode="auto">
          <a:xfrm>
            <a:off x="986882" y="1646393"/>
            <a:ext cx="7185568" cy="3865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normAutofit/>
          </a:bodyPr>
          <a:lstStyle/>
          <a:p>
            <a:r>
              <a:rPr lang="zh-CN" altLang="en-US" dirty="0"/>
              <a:t>全球失衡并不是新近发生的现象</a:t>
            </a:r>
          </a:p>
        </p:txBody>
      </p:sp>
      <p:sp>
        <p:nvSpPr>
          <p:cNvPr id="3" name="内容占位符 2"/>
          <p:cNvSpPr>
            <a:spLocks noGrp="1"/>
          </p:cNvSpPr>
          <p:nvPr>
            <p:ph idx="1"/>
          </p:nvPr>
        </p:nvSpPr>
        <p:spPr>
          <a:xfrm>
            <a:off x="869794" y="1322660"/>
            <a:ext cx="7404410" cy="374819"/>
          </a:xfrm>
        </p:spPr>
        <p:txBody>
          <a:bodyPr>
            <a:noAutofit/>
          </a:bodyPr>
          <a:lstStyle/>
          <a:p>
            <a:pPr marL="0" indent="0" algn="ctr">
              <a:lnSpc>
                <a:spcPct val="70000"/>
              </a:lnSpc>
              <a:spcBef>
                <a:spcPct val="50000"/>
              </a:spcBef>
              <a:buNone/>
            </a:pPr>
            <a:r>
              <a:rPr lang="zh-CN" altLang="en-US" sz="2400" dirty="0">
                <a:latin typeface="微软雅黑" panose="020B0503020204020204" pitchFamily="34" charset="-122"/>
                <a:ea typeface="微软雅黑" panose="020B0503020204020204" pitchFamily="34" charset="-122"/>
              </a:rPr>
              <a:t>全球失衡的规模（</a:t>
            </a:r>
            <a:r>
              <a:rPr lang="en-US" altLang="zh-CN" sz="2400" dirty="0">
                <a:latin typeface="微软雅黑" panose="020B0503020204020204" pitchFamily="34" charset="-122"/>
                <a:ea typeface="微软雅黑" panose="020B0503020204020204" pitchFamily="34" charset="-122"/>
              </a:rPr>
              <a:t>1885-2008</a:t>
            </a:r>
            <a:r>
              <a:rPr lang="zh-CN" altLang="en-US" sz="2400" dirty="0">
                <a:latin typeface="微软雅黑" panose="020B0503020204020204" pitchFamily="34" charset="-122"/>
                <a:ea typeface="微软雅黑" panose="020B0503020204020204" pitchFamily="34" charset="-122"/>
              </a:rPr>
              <a:t>）</a:t>
            </a:r>
          </a:p>
        </p:txBody>
      </p:sp>
      <p:sp>
        <p:nvSpPr>
          <p:cNvPr id="4" name="页脚占位符 3"/>
          <p:cNvSpPr>
            <a:spLocks noGrp="1"/>
          </p:cNvSpPr>
          <p:nvPr>
            <p:ph type="ftr" sz="quarter" idx="11"/>
          </p:nvPr>
        </p:nvSpPr>
        <p:spPr/>
        <p:txBody>
          <a:bodyPr/>
          <a:lstStyle/>
          <a:p>
            <a:r>
              <a:rPr lang="zh-CN" altLang="en-US"/>
              <a:t>国际金融学 范小云</a:t>
            </a:r>
            <a:endParaRPr lang="zh-CN" altLang="en-US" dirty="0"/>
          </a:p>
        </p:txBody>
      </p:sp>
      <p:sp>
        <p:nvSpPr>
          <p:cNvPr id="7" name="内容占位符 2"/>
          <p:cNvSpPr txBox="1">
            <a:spLocks/>
          </p:cNvSpPr>
          <p:nvPr/>
        </p:nvSpPr>
        <p:spPr>
          <a:xfrm>
            <a:off x="971549" y="5512159"/>
            <a:ext cx="7302655" cy="6181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800"/>
              </a:spcBef>
              <a:buClr>
                <a:schemeClr val="accent1"/>
              </a:buClr>
              <a:buSzPct val="100000"/>
              <a:buFont typeface="Arial" pitchFamily="34" charset="0"/>
              <a:buChar char="▪"/>
              <a:defRPr lang="zh-CN" sz="2000" kern="1200">
                <a:solidFill>
                  <a:schemeClr val="tx1"/>
                </a:solidFill>
                <a:latin typeface="+mn-lt"/>
                <a:ea typeface="Microsoft YaHei UI" panose="020B0503020204020204" pitchFamily="34" charset="-122"/>
                <a:cs typeface="+mn-cs"/>
              </a:defRPr>
            </a:lvl1pPr>
            <a:lvl2pPr marL="457200" indent="-182880" algn="l" defTabSz="914400" rtl="0" eaLnBrk="1" latinLnBrk="0" hangingPunct="1">
              <a:lnSpc>
                <a:spcPct val="90000"/>
              </a:lnSpc>
              <a:spcBef>
                <a:spcPts val="1200"/>
              </a:spcBef>
              <a:buClr>
                <a:schemeClr val="accent1"/>
              </a:buClr>
              <a:buSzPct val="100000"/>
              <a:buFont typeface="Arial" pitchFamily="34" charset="0"/>
              <a:buChar char="▪"/>
              <a:defRPr lang="zh-CN" sz="1800" kern="1200">
                <a:solidFill>
                  <a:schemeClr val="tx1"/>
                </a:solidFill>
                <a:latin typeface="+mn-lt"/>
                <a:ea typeface="Microsoft YaHei UI" panose="020B0503020204020204" pitchFamily="34" charset="-122"/>
                <a:cs typeface="+mn-cs"/>
              </a:defRPr>
            </a:lvl2pPr>
            <a:lvl3pPr marL="685800" indent="-179388" algn="l" defTabSz="914400" rtl="0" eaLnBrk="1" latinLnBrk="0" hangingPunct="1">
              <a:lnSpc>
                <a:spcPct val="90000"/>
              </a:lnSpc>
              <a:spcBef>
                <a:spcPts val="800"/>
              </a:spcBef>
              <a:buClr>
                <a:schemeClr val="accent1"/>
              </a:buClr>
              <a:buSzPct val="100000"/>
              <a:buFont typeface="Arial" pitchFamily="34" charset="0"/>
              <a:buChar char="▪"/>
              <a:defRPr lang="zh-CN" sz="1600" kern="1200">
                <a:solidFill>
                  <a:schemeClr val="tx1"/>
                </a:solidFill>
                <a:latin typeface="+mn-lt"/>
                <a:ea typeface="Microsoft YaHei UI" panose="020B0503020204020204" pitchFamily="34" charset="-122"/>
                <a:cs typeface="+mn-cs"/>
              </a:defRPr>
            </a:lvl3pPr>
            <a:lvl4pPr marL="914400" indent="-182880" algn="l" defTabSz="914400" rtl="0" eaLnBrk="1" latinLnBrk="0" hangingPunct="1">
              <a:lnSpc>
                <a:spcPct val="90000"/>
              </a:lnSpc>
              <a:spcBef>
                <a:spcPts val="800"/>
              </a:spcBef>
              <a:buClr>
                <a:schemeClr val="accent1"/>
              </a:buClr>
              <a:buSzPct val="100000"/>
              <a:buFont typeface="Arial" pitchFamily="34" charset="0"/>
              <a:buChar char="▪"/>
              <a:defRPr lang="zh-CN" sz="1400" kern="1200">
                <a:solidFill>
                  <a:schemeClr val="tx1"/>
                </a:solidFill>
                <a:latin typeface="+mn-lt"/>
                <a:ea typeface="Microsoft YaHei UI" panose="020B0503020204020204" pitchFamily="34" charset="-122"/>
                <a:cs typeface="+mn-cs"/>
              </a:defRPr>
            </a:lvl4pPr>
            <a:lvl5pPr marL="1143000" indent="-179388"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icrosoft YaHei UI" panose="020B0503020204020204" pitchFamily="34" charset="-122"/>
                <a:cs typeface="+mn-cs"/>
              </a:defRPr>
            </a:lvl5pPr>
            <a:lvl6pPr marL="1371600" indent="-182880"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8pPr>
            <a:lvl9pPr marL="2057400" indent="-179388"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9pPr>
          </a:lstStyle>
          <a:p>
            <a:pPr marL="0" indent="230400">
              <a:lnSpc>
                <a:spcPct val="100000"/>
              </a:lnSpc>
              <a:spcBef>
                <a:spcPts val="0"/>
              </a:spcBef>
            </a:pPr>
            <a:r>
              <a:rPr lang="zh-CN" altLang="en-US" sz="1600" dirty="0">
                <a:solidFill>
                  <a:schemeClr val="accent2"/>
                </a:solidFill>
                <a:latin typeface="微软雅黑" panose="020B0503020204020204" pitchFamily="34" charset="-122"/>
                <a:ea typeface="微软雅黑" panose="020B0503020204020204" pitchFamily="34" charset="-122"/>
              </a:rPr>
              <a:t>数据来源：各国在</a:t>
            </a:r>
            <a:r>
              <a:rPr lang="en-US" altLang="zh-CN" sz="1600" dirty="0">
                <a:solidFill>
                  <a:schemeClr val="accent2"/>
                </a:solidFill>
                <a:latin typeface="微软雅黑" panose="020B0503020204020204" pitchFamily="34" charset="-122"/>
                <a:ea typeface="微软雅黑" panose="020B0503020204020204" pitchFamily="34" charset="-122"/>
              </a:rPr>
              <a:t>20</a:t>
            </a:r>
            <a:r>
              <a:rPr lang="zh-CN" altLang="en-US" sz="1600" dirty="0">
                <a:solidFill>
                  <a:schemeClr val="accent2"/>
                </a:solidFill>
                <a:latin typeface="微软雅黑" panose="020B0503020204020204" pitchFamily="34" charset="-122"/>
                <a:ea typeface="微软雅黑" panose="020B0503020204020204" pitchFamily="34" charset="-122"/>
              </a:rPr>
              <a:t>世纪</a:t>
            </a:r>
            <a:r>
              <a:rPr lang="en-US" altLang="zh-CN" sz="1600" dirty="0">
                <a:solidFill>
                  <a:schemeClr val="accent2"/>
                </a:solidFill>
                <a:latin typeface="微软雅黑" panose="020B0503020204020204" pitchFamily="34" charset="-122"/>
                <a:ea typeface="微软雅黑" panose="020B0503020204020204" pitchFamily="34" charset="-122"/>
              </a:rPr>
              <a:t>70</a:t>
            </a:r>
            <a:r>
              <a:rPr lang="zh-CN" altLang="en-US" sz="1600" dirty="0">
                <a:solidFill>
                  <a:schemeClr val="accent2"/>
                </a:solidFill>
                <a:latin typeface="微软雅黑" panose="020B0503020204020204" pitchFamily="34" charset="-122"/>
                <a:ea typeface="微软雅黑" panose="020B0503020204020204" pitchFamily="34" charset="-122"/>
              </a:rPr>
              <a:t>年代以后的数据来源来自国际货币基金组织</a:t>
            </a:r>
            <a:r>
              <a:rPr lang="en-US" altLang="zh-CN" sz="1600" dirty="0">
                <a:solidFill>
                  <a:schemeClr val="accent2"/>
                </a:solidFill>
                <a:latin typeface="微软雅黑" panose="020B0503020204020204" pitchFamily="34" charset="-122"/>
                <a:ea typeface="微软雅黑" panose="020B0503020204020204" pitchFamily="34" charset="-122"/>
              </a:rPr>
              <a:t>IFS</a:t>
            </a:r>
            <a:r>
              <a:rPr lang="zh-CN" altLang="en-US" sz="1600" dirty="0">
                <a:solidFill>
                  <a:schemeClr val="accent2"/>
                </a:solidFill>
                <a:latin typeface="微软雅黑" panose="020B0503020204020204" pitchFamily="34" charset="-122"/>
                <a:ea typeface="微软雅黑" panose="020B0503020204020204" pitchFamily="34" charset="-122"/>
              </a:rPr>
              <a:t>数据库，</a:t>
            </a:r>
            <a:r>
              <a:rPr lang="en-US" altLang="zh-CN" sz="1600" dirty="0">
                <a:solidFill>
                  <a:schemeClr val="accent2"/>
                </a:solidFill>
                <a:latin typeface="微软雅黑" panose="020B0503020204020204" pitchFamily="34" charset="-122"/>
                <a:ea typeface="微软雅黑" panose="020B0503020204020204" pitchFamily="34" charset="-122"/>
              </a:rPr>
              <a:t>20</a:t>
            </a:r>
            <a:r>
              <a:rPr lang="zh-CN" altLang="en-US" sz="1600" dirty="0">
                <a:solidFill>
                  <a:schemeClr val="accent2"/>
                </a:solidFill>
                <a:latin typeface="微软雅黑" panose="020B0503020204020204" pitchFamily="34" charset="-122"/>
                <a:ea typeface="微软雅黑" panose="020B0503020204020204" pitchFamily="34" charset="-122"/>
              </a:rPr>
              <a:t>世纪</a:t>
            </a:r>
            <a:r>
              <a:rPr lang="en-US" altLang="zh-CN" sz="1600" dirty="0">
                <a:solidFill>
                  <a:schemeClr val="accent2"/>
                </a:solidFill>
                <a:latin typeface="微软雅黑" panose="020B0503020204020204" pitchFamily="34" charset="-122"/>
                <a:ea typeface="微软雅黑" panose="020B0503020204020204" pitchFamily="34" charset="-122"/>
              </a:rPr>
              <a:t>70</a:t>
            </a:r>
            <a:r>
              <a:rPr lang="zh-CN" altLang="en-US" sz="1600" dirty="0">
                <a:solidFill>
                  <a:schemeClr val="accent2"/>
                </a:solidFill>
                <a:latin typeface="微软雅黑" panose="020B0503020204020204" pitchFamily="34" charset="-122"/>
                <a:ea typeface="微软雅黑" panose="020B0503020204020204" pitchFamily="34" charset="-122"/>
              </a:rPr>
              <a:t>年代以前的数据来自</a:t>
            </a:r>
            <a:r>
              <a:rPr lang="en-US" altLang="zh-CN" sz="1600" dirty="0">
                <a:solidFill>
                  <a:schemeClr val="accent2"/>
                </a:solidFill>
                <a:latin typeface="微软雅黑" panose="020B0503020204020204" pitchFamily="34" charset="-122"/>
                <a:ea typeface="微软雅黑" panose="020B0503020204020204" pitchFamily="34" charset="-122"/>
              </a:rPr>
              <a:t>《</a:t>
            </a:r>
            <a:r>
              <a:rPr lang="zh-CN" altLang="en-US" sz="1600" dirty="0">
                <a:solidFill>
                  <a:schemeClr val="accent2"/>
                </a:solidFill>
                <a:latin typeface="微软雅黑" panose="020B0503020204020204" pitchFamily="34" charset="-122"/>
                <a:ea typeface="微软雅黑" panose="020B0503020204020204" pitchFamily="34" charset="-122"/>
              </a:rPr>
              <a:t>帕尔格雷夫历史统计词典</a:t>
            </a:r>
            <a:r>
              <a:rPr lang="en-US" altLang="zh-CN" sz="1600" dirty="0">
                <a:solidFill>
                  <a:schemeClr val="accent2"/>
                </a:solidFill>
                <a:latin typeface="微软雅黑" panose="020B0503020204020204" pitchFamily="34" charset="-122"/>
                <a:ea typeface="微软雅黑" panose="020B0503020204020204" pitchFamily="34" charset="-122"/>
              </a:rPr>
              <a:t>》</a:t>
            </a:r>
            <a:endParaRPr lang="zh-CN" altLang="en-US" sz="1600" dirty="0">
              <a:solidFill>
                <a:schemeClr val="accent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91115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全球失衡并不是新近发生的现象</a:t>
            </a:r>
          </a:p>
        </p:txBody>
      </p:sp>
      <p:sp>
        <p:nvSpPr>
          <p:cNvPr id="4" name="页脚占位符 3"/>
          <p:cNvSpPr>
            <a:spLocks noGrp="1"/>
          </p:cNvSpPr>
          <p:nvPr>
            <p:ph type="ftr" sz="quarter" idx="11"/>
          </p:nvPr>
        </p:nvSpPr>
        <p:spPr/>
        <p:txBody>
          <a:bodyPr/>
          <a:lstStyle/>
          <a:p>
            <a:r>
              <a:rPr lang="zh-CN" altLang="en-US"/>
              <a:t>国际金融学 范小云</a:t>
            </a:r>
            <a:endParaRPr lang="zh-CN" altLang="en-US" dirty="0"/>
          </a:p>
        </p:txBody>
      </p:sp>
      <p:graphicFrame>
        <p:nvGraphicFramePr>
          <p:cNvPr id="7" name="图表 6"/>
          <p:cNvGraphicFramePr>
            <a:graphicFrameLocks/>
          </p:cNvGraphicFramePr>
          <p:nvPr>
            <p:extLst>
              <p:ext uri="{D42A27DB-BD31-4B8C-83A1-F6EECF244321}">
                <p14:modId xmlns:p14="http://schemas.microsoft.com/office/powerpoint/2010/main" val="3929700665"/>
              </p:ext>
            </p:extLst>
          </p:nvPr>
        </p:nvGraphicFramePr>
        <p:xfrm>
          <a:off x="599338" y="1323992"/>
          <a:ext cx="8016628" cy="469044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72602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dirty="0"/>
              <a:t>全球失衡问题自</a:t>
            </a:r>
            <a:r>
              <a:rPr lang="en-US" altLang="zh-CN" sz="2800" dirty="0"/>
              <a:t>20</a:t>
            </a:r>
            <a:r>
              <a:rPr lang="zh-CN" altLang="en-US" sz="2800" dirty="0"/>
              <a:t>世纪</a:t>
            </a:r>
            <a:r>
              <a:rPr lang="en-US" altLang="zh-CN" sz="2800" dirty="0"/>
              <a:t>90</a:t>
            </a:r>
            <a:r>
              <a:rPr lang="zh-CN" altLang="en-US" sz="2800" dirty="0"/>
              <a:t>年代以来日益严重</a:t>
            </a:r>
          </a:p>
        </p:txBody>
      </p:sp>
      <p:sp>
        <p:nvSpPr>
          <p:cNvPr id="4" name="页脚占位符 3"/>
          <p:cNvSpPr>
            <a:spLocks noGrp="1"/>
          </p:cNvSpPr>
          <p:nvPr>
            <p:ph type="ftr" sz="quarter" idx="11"/>
          </p:nvPr>
        </p:nvSpPr>
        <p:spPr/>
        <p:txBody>
          <a:bodyPr/>
          <a:lstStyle/>
          <a:p>
            <a:r>
              <a:rPr lang="zh-CN" altLang="en-US"/>
              <a:t>国际金融学 范小云</a:t>
            </a:r>
            <a:endParaRPr lang="zh-CN" altLang="en-US" dirty="0"/>
          </a:p>
        </p:txBody>
      </p:sp>
      <p:sp>
        <p:nvSpPr>
          <p:cNvPr id="5" name="内容占位符 4"/>
          <p:cNvSpPr>
            <a:spLocks noGrp="1"/>
          </p:cNvSpPr>
          <p:nvPr>
            <p:ph idx="1"/>
          </p:nvPr>
        </p:nvSpPr>
        <p:spPr/>
        <p:txBody>
          <a:bodyPr/>
          <a:lstStyle/>
          <a:p>
            <a:pPr>
              <a:lnSpc>
                <a:spcPct val="100000"/>
              </a:lnSpc>
            </a:pPr>
            <a:r>
              <a:rPr lang="zh-CN" altLang="en-US" sz="2800" dirty="0">
                <a:latin typeface="微软雅黑" panose="020B0503020204020204" pitchFamily="34" charset="-122"/>
                <a:ea typeface="微软雅黑" panose="020B0503020204020204" pitchFamily="34" charset="-122"/>
              </a:rPr>
              <a:t>根源：</a:t>
            </a:r>
          </a:p>
          <a:p>
            <a:pPr>
              <a:lnSpc>
                <a:spcPct val="100000"/>
              </a:lnSpc>
              <a:buFont typeface="Wingdings" panose="05000000000000000000" pitchFamily="2" charset="2"/>
              <a:buChar char="ü"/>
            </a:pPr>
            <a:r>
              <a:rPr lang="zh-CN" altLang="en-US" sz="2400" dirty="0">
                <a:solidFill>
                  <a:schemeClr val="accent1"/>
                </a:solidFill>
                <a:latin typeface="微软雅黑" panose="020B0503020204020204" pitchFamily="34" charset="-122"/>
                <a:ea typeface="微软雅黑" panose="020B0503020204020204" pitchFamily="34" charset="-122"/>
              </a:rPr>
              <a:t>全球失衡首先表现为全球性产能过剩造成的供求失衡</a:t>
            </a:r>
            <a:endParaRPr lang="en-US" altLang="zh-CN" sz="2400" dirty="0">
              <a:solidFill>
                <a:schemeClr val="accent1"/>
              </a:solidFill>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ü"/>
            </a:pPr>
            <a:endParaRPr lang="zh-CN" altLang="en-US" sz="2400" dirty="0">
              <a:latin typeface="微软雅黑" panose="020B0503020204020204" pitchFamily="34" charset="-122"/>
              <a:ea typeface="微软雅黑" panose="020B0503020204020204" pitchFamily="34" charset="-122"/>
            </a:endParaRPr>
          </a:p>
          <a:p>
            <a:pPr>
              <a:lnSpc>
                <a:spcPct val="100000"/>
              </a:lnSpc>
              <a:spcBef>
                <a:spcPts val="0"/>
              </a:spcBef>
            </a:pPr>
            <a:r>
              <a:rPr lang="zh-CN" altLang="en-US" sz="2400" dirty="0">
                <a:solidFill>
                  <a:schemeClr val="accent1"/>
                </a:solidFill>
                <a:latin typeface="微软雅黑" panose="020B0503020204020204" pitchFamily="34" charset="-122"/>
                <a:ea typeface="微软雅黑" panose="020B0503020204020204" pitchFamily="34" charset="-122"/>
              </a:rPr>
              <a:t>自上世纪六、七十年代起，发达国家与发展中国家以及新兴市场国家之间，开始了一场世界范围内的产业分工与产业转移。结果：</a:t>
            </a:r>
          </a:p>
          <a:p>
            <a:pPr marL="685800" lvl="1" indent="-457200">
              <a:lnSpc>
                <a:spcPct val="100000"/>
              </a:lnSpc>
              <a:buFont typeface="+mj-lt"/>
              <a:buAutoNum type="arabicPeriod"/>
            </a:pPr>
            <a:r>
              <a:rPr lang="zh-CN" altLang="en-US" sz="2400" dirty="0">
                <a:solidFill>
                  <a:schemeClr val="accent1"/>
                </a:solidFill>
                <a:latin typeface="微软雅黑" panose="020B0503020204020204" pitchFamily="34" charset="-122"/>
                <a:ea typeface="微软雅黑" panose="020B0503020204020204" pitchFamily="34" charset="-122"/>
              </a:rPr>
              <a:t>新产业分工格局</a:t>
            </a:r>
          </a:p>
          <a:p>
            <a:pPr marL="685800" lvl="1" indent="-457200">
              <a:lnSpc>
                <a:spcPct val="100000"/>
              </a:lnSpc>
              <a:buFont typeface="+mj-lt"/>
              <a:buAutoNum type="arabicPeriod"/>
            </a:pPr>
            <a:r>
              <a:rPr lang="zh-CN" altLang="en-US" sz="2400" dirty="0">
                <a:solidFill>
                  <a:schemeClr val="accent1"/>
                </a:solidFill>
                <a:latin typeface="微软雅黑" panose="020B0503020204020204" pitchFamily="34" charset="-122"/>
                <a:ea typeface="微软雅黑" panose="020B0503020204020204" pitchFamily="34" charset="-122"/>
              </a:rPr>
              <a:t>全球产能过剩</a:t>
            </a:r>
          </a:p>
          <a:p>
            <a:pPr>
              <a:lnSpc>
                <a:spcPct val="100000"/>
              </a:lnSpc>
            </a:pP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62832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zh-CN" altLang="en-US" dirty="0"/>
            </a:br>
            <a:br>
              <a:rPr lang="zh-CN" altLang="en-US" dirty="0"/>
            </a:br>
            <a:r>
              <a:rPr lang="zh-CN" altLang="en-US" dirty="0"/>
              <a:t>结果：</a:t>
            </a:r>
          </a:p>
        </p:txBody>
      </p:sp>
      <p:sp>
        <p:nvSpPr>
          <p:cNvPr id="4" name="页脚占位符 3"/>
          <p:cNvSpPr>
            <a:spLocks noGrp="1"/>
          </p:cNvSpPr>
          <p:nvPr>
            <p:ph type="ftr" sz="quarter" idx="11"/>
          </p:nvPr>
        </p:nvSpPr>
        <p:spPr/>
        <p:txBody>
          <a:bodyPr/>
          <a:lstStyle/>
          <a:p>
            <a:r>
              <a:rPr lang="zh-CN" altLang="en-US"/>
              <a:t>国际金融学 范小云</a:t>
            </a:r>
            <a:endParaRPr lang="zh-CN" altLang="en-US" dirty="0"/>
          </a:p>
        </p:txBody>
      </p:sp>
      <p:sp>
        <p:nvSpPr>
          <p:cNvPr id="5" name="内容占位符 4"/>
          <p:cNvSpPr>
            <a:spLocks noGrp="1"/>
          </p:cNvSpPr>
          <p:nvPr>
            <p:ph idx="1"/>
          </p:nvPr>
        </p:nvSpPr>
        <p:spPr/>
        <p:txBody>
          <a:bodyPr>
            <a:noAutofit/>
          </a:bodyPr>
          <a:lstStyle/>
          <a:p>
            <a:pPr>
              <a:lnSpc>
                <a:spcPct val="100000"/>
              </a:lnSpc>
            </a:pPr>
            <a:r>
              <a:rPr lang="zh-CN" altLang="en-US" sz="2400" dirty="0">
                <a:latin typeface="微软雅黑" panose="020B0503020204020204" pitchFamily="34" charset="-122"/>
                <a:ea typeface="微软雅黑" panose="020B0503020204020204" pitchFamily="34" charset="-122"/>
              </a:rPr>
              <a:t>全球经济可以大致分为四个板块：</a:t>
            </a:r>
          </a:p>
          <a:p>
            <a:pPr marL="685800" lvl="1" indent="-457200">
              <a:lnSpc>
                <a:spcPct val="100000"/>
              </a:lnSpc>
              <a:buFont typeface="+mj-ea"/>
              <a:buAutoNum type="circleNumDbPlain"/>
            </a:pPr>
            <a:r>
              <a:rPr lang="zh-CN" altLang="en-US" sz="2000" dirty="0">
                <a:solidFill>
                  <a:schemeClr val="accent1"/>
                </a:solidFill>
                <a:latin typeface="微软雅黑" panose="020B0503020204020204" pitchFamily="34" charset="-122"/>
                <a:ea typeface="微软雅黑" panose="020B0503020204020204" pitchFamily="34" charset="-122"/>
              </a:rPr>
              <a:t>美国和欧洲等以金融、研发、服务业为主的发达国家</a:t>
            </a:r>
          </a:p>
          <a:p>
            <a:pPr marL="685800" lvl="1" indent="-457200">
              <a:lnSpc>
                <a:spcPct val="100000"/>
              </a:lnSpc>
              <a:buFont typeface="+mj-ea"/>
              <a:buAutoNum type="circleNumDbPlain"/>
            </a:pPr>
            <a:r>
              <a:rPr lang="zh-CN" altLang="en-US" sz="2000" dirty="0">
                <a:solidFill>
                  <a:schemeClr val="accent1"/>
                </a:solidFill>
                <a:latin typeface="微软雅黑" panose="020B0503020204020204" pitchFamily="34" charset="-122"/>
                <a:ea typeface="微软雅黑" panose="020B0503020204020204" pitchFamily="34" charset="-122"/>
              </a:rPr>
              <a:t>石油输出国家、俄罗斯和其他一些资源生产大国</a:t>
            </a:r>
          </a:p>
          <a:p>
            <a:pPr marL="685800" lvl="1" indent="-457200">
              <a:lnSpc>
                <a:spcPct val="100000"/>
              </a:lnSpc>
              <a:buFont typeface="+mj-ea"/>
              <a:buAutoNum type="circleNumDbPlain"/>
            </a:pPr>
            <a:r>
              <a:rPr lang="zh-CN" altLang="en-US" sz="2000" dirty="0">
                <a:solidFill>
                  <a:schemeClr val="accent1"/>
                </a:solidFill>
                <a:latin typeface="微软雅黑" panose="020B0503020204020204" pitchFamily="34" charset="-122"/>
                <a:ea typeface="微软雅黑" panose="020B0503020204020204" pitchFamily="34" charset="-122"/>
              </a:rPr>
              <a:t>中国、印度等金砖四国为核心</a:t>
            </a:r>
            <a:r>
              <a:rPr altLang="en-US" sz="2000" dirty="0">
                <a:solidFill>
                  <a:schemeClr val="accent1"/>
                </a:solidFill>
                <a:latin typeface="微软雅黑" panose="020B0503020204020204" pitchFamily="34" charset="-122"/>
                <a:ea typeface="微软雅黑" panose="020B0503020204020204" pitchFamily="34" charset="-122"/>
              </a:rPr>
              <a:t>的</a:t>
            </a:r>
            <a:r>
              <a:rPr lang="zh-CN" altLang="en-US" sz="2000" dirty="0">
                <a:solidFill>
                  <a:schemeClr val="accent1"/>
                </a:solidFill>
                <a:latin typeface="微软雅黑" panose="020B0503020204020204" pitchFamily="34" charset="-122"/>
                <a:ea typeface="微软雅黑" panose="020B0503020204020204" pitchFamily="34" charset="-122"/>
              </a:rPr>
              <a:t>制造业为主的发展中国家（</a:t>
            </a:r>
            <a:r>
              <a:rPr lang="en-US" altLang="zh-CN" sz="2000" dirty="0">
                <a:solidFill>
                  <a:schemeClr val="accent1"/>
                </a:solidFill>
                <a:latin typeface="微软雅黑" panose="020B0503020204020204" pitchFamily="34" charset="-122"/>
                <a:ea typeface="微软雅黑" panose="020B0503020204020204" pitchFamily="34" charset="-122"/>
              </a:rPr>
              <a:t>BRICS</a:t>
            </a:r>
            <a:r>
              <a:rPr lang="zh-CN" altLang="en-US" sz="2000" dirty="0">
                <a:solidFill>
                  <a:schemeClr val="accent1"/>
                </a:solidFill>
                <a:latin typeface="微软雅黑" panose="020B0503020204020204" pitchFamily="34" charset="-122"/>
                <a:ea typeface="微软雅黑" panose="020B0503020204020204" pitchFamily="34" charset="-122"/>
              </a:rPr>
              <a:t>）</a:t>
            </a:r>
          </a:p>
          <a:p>
            <a:pPr marL="685800" lvl="1" indent="-457200">
              <a:lnSpc>
                <a:spcPct val="100000"/>
              </a:lnSpc>
              <a:buFont typeface="+mj-ea"/>
              <a:buAutoNum type="circleNumDbPlain"/>
            </a:pPr>
            <a:r>
              <a:rPr lang="zh-CN" altLang="en-US" sz="2000" dirty="0">
                <a:solidFill>
                  <a:schemeClr val="accent1"/>
                </a:solidFill>
                <a:latin typeface="微软雅黑" panose="020B0503020204020204" pitchFamily="34" charset="-122"/>
                <a:ea typeface="微软雅黑" panose="020B0503020204020204" pitchFamily="34" charset="-122"/>
              </a:rPr>
              <a:t>撒哈拉沙漠以南等非洲地区</a:t>
            </a:r>
            <a:endParaRPr lang="en-US" altLang="zh-CN" sz="2000" dirty="0">
              <a:solidFill>
                <a:schemeClr val="accent1"/>
              </a:solidFill>
              <a:latin typeface="微软雅黑" panose="020B0503020204020204" pitchFamily="34" charset="-122"/>
              <a:ea typeface="微软雅黑" panose="020B0503020204020204" pitchFamily="34" charset="-122"/>
            </a:endParaRPr>
          </a:p>
          <a:p>
            <a:pPr marL="685800" lvl="1" indent="-457200">
              <a:lnSpc>
                <a:spcPct val="100000"/>
              </a:lnSpc>
              <a:buFont typeface="+mj-ea"/>
              <a:buAutoNum type="circleNumDbPlain"/>
            </a:pPr>
            <a:endParaRPr lang="en-US" altLang="zh-CN" sz="2400" dirty="0">
              <a:latin typeface="微软雅黑" panose="020B0503020204020204" pitchFamily="34" charset="-122"/>
              <a:ea typeface="微软雅黑" panose="020B0503020204020204" pitchFamily="34" charset="-122"/>
            </a:endParaRPr>
          </a:p>
          <a:p>
            <a:pPr marL="228600" lvl="1" indent="0">
              <a:lnSpc>
                <a:spcPct val="100000"/>
              </a:lnSpc>
              <a:buNone/>
            </a:pPr>
            <a:r>
              <a:rPr lang="zh-CN" altLang="en-US" sz="2400" dirty="0">
                <a:latin typeface="微软雅黑" panose="020B0503020204020204" pitchFamily="34" charset="-122"/>
                <a:ea typeface="微软雅黑" panose="020B0503020204020204" pitchFamily="34" charset="-122"/>
              </a:rPr>
              <a:t>       前三板块国家之间相互补充和依存，相互博弈构成了近年全球经济、金融体系的基本格局</a:t>
            </a:r>
          </a:p>
        </p:txBody>
      </p:sp>
    </p:spTree>
    <p:extLst>
      <p:ext uri="{BB962C8B-B14F-4D97-AF65-F5344CB8AC3E}">
        <p14:creationId xmlns:p14="http://schemas.microsoft.com/office/powerpoint/2010/main" val="659750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971550" y="1334525"/>
            <a:ext cx="6550670" cy="4006910"/>
          </a:xfrm>
        </p:spPr>
        <p:txBody>
          <a:bodyPr>
            <a:normAutofit/>
          </a:bodyPr>
          <a:lstStyle/>
          <a:p>
            <a:pPr marL="230400" indent="-230400">
              <a:lnSpc>
                <a:spcPct val="100000"/>
              </a:lnSpc>
              <a:spcBef>
                <a:spcPts val="0"/>
              </a:spcBef>
            </a:pPr>
            <a:r>
              <a:rPr lang="zh-CN" altLang="en-US" sz="2400" dirty="0">
                <a:latin typeface="微软雅黑" panose="020B0503020204020204" pitchFamily="34" charset="-122"/>
                <a:ea typeface="微软雅黑" panose="020B0503020204020204" pitchFamily="34" charset="-122"/>
              </a:rPr>
              <a:t>中东、非洲、中南美大多数发展中国家依赖资源出口，经济缺乏竞争力，无法完成工业化，普通民众劳动技能低下，财富分配不公。</a:t>
            </a:r>
          </a:p>
          <a:p>
            <a:pPr marL="230400" indent="-230400">
              <a:lnSpc>
                <a:spcPct val="100000"/>
              </a:lnSpc>
              <a:spcBef>
                <a:spcPts val="0"/>
              </a:spcBef>
            </a:pPr>
            <a:endParaRPr lang="zh-CN" altLang="en-US" sz="2400" dirty="0">
              <a:latin typeface="微软雅黑" panose="020B0503020204020204" pitchFamily="34" charset="-122"/>
              <a:ea typeface="微软雅黑" panose="020B0503020204020204" pitchFamily="34" charset="-122"/>
            </a:endParaRPr>
          </a:p>
          <a:p>
            <a:pPr marL="230400" indent="-230400">
              <a:lnSpc>
                <a:spcPct val="100000"/>
              </a:lnSpc>
              <a:spcBef>
                <a:spcPts val="0"/>
              </a:spcBef>
            </a:pPr>
            <a:r>
              <a:rPr lang="zh-CN" altLang="en-US" sz="2400" dirty="0">
                <a:latin typeface="微软雅黑" panose="020B0503020204020204" pitchFamily="34" charset="-122"/>
                <a:ea typeface="微软雅黑" panose="020B0503020204020204" pitchFamily="34" charset="-122"/>
              </a:rPr>
              <a:t>发达国家产业空心化，国民竞争能力两极化，中产阶级急剧减少。</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发达国家陷阱 </a:t>
            </a:r>
          </a:p>
          <a:p>
            <a:pPr marL="230400" indent="-230400">
              <a:lnSpc>
                <a:spcPct val="100000"/>
              </a:lnSpc>
              <a:spcBef>
                <a:spcPts val="0"/>
              </a:spcBef>
            </a:pPr>
            <a:endParaRPr lang="zh-CN" altLang="en-US" sz="2400" dirty="0">
              <a:latin typeface="微软雅黑" panose="020B0503020204020204" pitchFamily="34" charset="-122"/>
              <a:ea typeface="微软雅黑" panose="020B0503020204020204" pitchFamily="34" charset="-122"/>
            </a:endParaRPr>
          </a:p>
          <a:p>
            <a:pPr marL="230400" indent="-230400">
              <a:lnSpc>
                <a:spcPct val="100000"/>
              </a:lnSpc>
              <a:spcBef>
                <a:spcPts val="0"/>
              </a:spcBef>
            </a:pPr>
            <a:r>
              <a:rPr lang="zh-CN" altLang="en-US" sz="2400" dirty="0">
                <a:latin typeface="微软雅黑" panose="020B0503020204020204" pitchFamily="34" charset="-122"/>
                <a:ea typeface="微软雅黑" panose="020B0503020204020204" pitchFamily="34" charset="-122"/>
              </a:rPr>
              <a:t>以出口加工为主的发展中国家承接了环境污染和劳资冲突，但造就大量技术工人，提高国民素质，最终完成西方国家当年工业化的道路</a:t>
            </a:r>
          </a:p>
        </p:txBody>
      </p:sp>
      <p:sp>
        <p:nvSpPr>
          <p:cNvPr id="4" name="页脚占位符 3"/>
          <p:cNvSpPr>
            <a:spLocks noGrp="1"/>
          </p:cNvSpPr>
          <p:nvPr>
            <p:ph type="ftr" sz="quarter" idx="11"/>
          </p:nvPr>
        </p:nvSpPr>
        <p:spPr/>
        <p:txBody>
          <a:bodyPr/>
          <a:lstStyle/>
          <a:p>
            <a:r>
              <a:rPr lang="zh-CN" altLang="en-US"/>
              <a:t>国际金融学 范小云</a:t>
            </a:r>
            <a:endParaRPr lang="zh-CN" altLang="en-US" dirty="0"/>
          </a:p>
        </p:txBody>
      </p:sp>
      <p:sp>
        <p:nvSpPr>
          <p:cNvPr id="5" name="AutoShape 6"/>
          <p:cNvSpPr>
            <a:spLocks/>
          </p:cNvSpPr>
          <p:nvPr/>
        </p:nvSpPr>
        <p:spPr bwMode="auto">
          <a:xfrm>
            <a:off x="7522220" y="1447801"/>
            <a:ext cx="457200" cy="2057400"/>
          </a:xfrm>
          <a:prstGeom prst="rightBrace">
            <a:avLst>
              <a:gd name="adj1" fmla="val 37500"/>
              <a:gd name="adj2" fmla="val 50000"/>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accent1"/>
              </a:solidFill>
            </a:endParaRPr>
          </a:p>
        </p:txBody>
      </p:sp>
      <p:sp>
        <p:nvSpPr>
          <p:cNvPr id="6" name="Text Box 9"/>
          <p:cNvSpPr txBox="1">
            <a:spLocks noChangeArrowheads="1"/>
          </p:cNvSpPr>
          <p:nvPr/>
        </p:nvSpPr>
        <p:spPr bwMode="auto">
          <a:xfrm>
            <a:off x="7858198" y="1334525"/>
            <a:ext cx="615553" cy="2417763"/>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vert="eaVert">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chemeClr val="accent1"/>
                </a:solidFill>
                <a:latin typeface="微软雅黑" panose="020B0503020204020204" pitchFamily="34" charset="-122"/>
                <a:ea typeface="微软雅黑" panose="020B0503020204020204" pitchFamily="34" charset="-122"/>
              </a:rPr>
              <a:t>贫富两极分化</a:t>
            </a:r>
          </a:p>
        </p:txBody>
      </p:sp>
      <p:sp>
        <p:nvSpPr>
          <p:cNvPr id="7" name="TextBox 7"/>
          <p:cNvSpPr txBox="1">
            <a:spLocks noChangeArrowheads="1"/>
          </p:cNvSpPr>
          <p:nvPr/>
        </p:nvSpPr>
        <p:spPr bwMode="auto">
          <a:xfrm>
            <a:off x="1210320" y="5335571"/>
            <a:ext cx="67691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金融危机是必然的？</a:t>
            </a:r>
          </a:p>
        </p:txBody>
      </p:sp>
    </p:spTree>
    <p:extLst>
      <p:ext uri="{BB962C8B-B14F-4D97-AF65-F5344CB8AC3E}">
        <p14:creationId xmlns:p14="http://schemas.microsoft.com/office/powerpoint/2010/main" val="553600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dirty="0"/>
              <a:t>全球失衡问题自</a:t>
            </a:r>
            <a:r>
              <a:rPr lang="en-US" altLang="zh-CN" sz="2800" dirty="0"/>
              <a:t>20</a:t>
            </a:r>
            <a:r>
              <a:rPr lang="zh-CN" altLang="en-US" sz="2800" dirty="0"/>
              <a:t>世纪</a:t>
            </a:r>
            <a:r>
              <a:rPr lang="en-US" altLang="zh-CN" sz="2800" dirty="0"/>
              <a:t>90</a:t>
            </a:r>
            <a:r>
              <a:rPr lang="zh-CN" altLang="en-US" sz="2800" dirty="0"/>
              <a:t>年代以来日益严重</a:t>
            </a:r>
          </a:p>
        </p:txBody>
      </p:sp>
      <p:sp>
        <p:nvSpPr>
          <p:cNvPr id="4" name="页脚占位符 3"/>
          <p:cNvSpPr>
            <a:spLocks noGrp="1"/>
          </p:cNvSpPr>
          <p:nvPr>
            <p:ph type="ftr" sz="quarter" idx="11"/>
          </p:nvPr>
        </p:nvSpPr>
        <p:spPr/>
        <p:txBody>
          <a:bodyPr/>
          <a:lstStyle/>
          <a:p>
            <a:r>
              <a:rPr lang="zh-CN" altLang="en-US"/>
              <a:t>国际金融学 范小云</a:t>
            </a:r>
            <a:endParaRPr lang="zh-CN" altLang="en-US" dirty="0"/>
          </a:p>
        </p:txBody>
      </p:sp>
      <p:sp>
        <p:nvSpPr>
          <p:cNvPr id="5" name="内容占位符 4"/>
          <p:cNvSpPr>
            <a:spLocks noGrp="1"/>
          </p:cNvSpPr>
          <p:nvPr>
            <p:ph idx="1"/>
          </p:nvPr>
        </p:nvSpPr>
        <p:spPr/>
        <p:txBody>
          <a:bodyPr/>
          <a:lstStyle/>
          <a:p>
            <a:pPr>
              <a:lnSpc>
                <a:spcPct val="100000"/>
              </a:lnSpc>
            </a:pPr>
            <a:r>
              <a:rPr lang="zh-CN" altLang="en-US" sz="2800" dirty="0">
                <a:latin typeface="微软雅黑" panose="020B0503020204020204" pitchFamily="34" charset="-122"/>
                <a:ea typeface="微软雅黑" panose="020B0503020204020204" pitchFamily="34" charset="-122"/>
              </a:rPr>
              <a:t>根源：</a:t>
            </a:r>
          </a:p>
          <a:p>
            <a:pPr>
              <a:lnSpc>
                <a:spcPct val="100000"/>
              </a:lnSpc>
              <a:buFont typeface="Wingdings" panose="05000000000000000000" pitchFamily="2" charset="2"/>
              <a:buChar char="ü"/>
            </a:pPr>
            <a:r>
              <a:rPr lang="zh-CN" altLang="en-US" sz="2400" dirty="0">
                <a:solidFill>
                  <a:schemeClr val="accent1"/>
                </a:solidFill>
                <a:latin typeface="微软雅黑" panose="020B0503020204020204" pitchFamily="34" charset="-122"/>
                <a:ea typeface="微软雅黑" panose="020B0503020204020204" pitchFamily="34" charset="-122"/>
              </a:rPr>
              <a:t>全球失衡首先表现为全球性产能过剩造成的供求失衡</a:t>
            </a:r>
            <a:endParaRPr lang="en-US" altLang="zh-CN" sz="2400" dirty="0">
              <a:solidFill>
                <a:schemeClr val="accent1"/>
              </a:solidFill>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ü"/>
            </a:pPr>
            <a:endParaRPr lang="zh-CN" altLang="en-US" sz="24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ü"/>
            </a:pPr>
            <a:r>
              <a:rPr altLang="en-US" sz="2400" dirty="0">
                <a:solidFill>
                  <a:schemeClr val="accent1"/>
                </a:solidFill>
                <a:latin typeface="微软雅黑" panose="020B0503020204020204" pitchFamily="34" charset="-122"/>
                <a:ea typeface="微软雅黑" panose="020B0503020204020204" pitchFamily="34" charset="-122"/>
              </a:rPr>
              <a:t> 全球金融一体化程度发展迅速，而各国金融发展水平的差异性又相对稳定，“穷国为富国融资”的现象逐渐演变为一个常态。 </a:t>
            </a:r>
          </a:p>
          <a:p>
            <a:pPr>
              <a:lnSpc>
                <a:spcPct val="100000"/>
              </a:lnSpc>
            </a:pP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67694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iamond Grid 16x9">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15_4109default" id="{E728D685-11FC-4812-BA85-57AC6F9C9F40}" vid="{BC4E008B-95FF-4815-904E-143A8EDFC1D4}"/>
    </a:ext>
  </a:extLst>
</a:theme>
</file>

<file path=ppt/theme/theme2.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27087C0F-7449-45C4-B248-63D02665BF1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菱形网格演示文稿（宽屏）</Template>
  <TotalTime>0</TotalTime>
  <Words>3773</Words>
  <Application>Microsoft Office PowerPoint</Application>
  <PresentationFormat>全屏显示(4:3)</PresentationFormat>
  <Paragraphs>884</Paragraphs>
  <Slides>50</Slides>
  <Notes>38</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50</vt:i4>
      </vt:variant>
    </vt:vector>
  </HeadingPairs>
  <TitlesOfParts>
    <vt:vector size="60" baseType="lpstr">
      <vt:lpstr>黑体</vt:lpstr>
      <vt:lpstr>华文楷体</vt:lpstr>
      <vt:lpstr>楷体</vt:lpstr>
      <vt:lpstr>宋体</vt:lpstr>
      <vt:lpstr>微软雅黑</vt:lpstr>
      <vt:lpstr>Arial</vt:lpstr>
      <vt:lpstr>Times New Roman</vt:lpstr>
      <vt:lpstr>Wingdings</vt:lpstr>
      <vt:lpstr>Diamond Grid 16x9</vt:lpstr>
      <vt:lpstr>工作表</vt:lpstr>
      <vt:lpstr>第一部分 国 际 账 户</vt:lpstr>
      <vt:lpstr>第一节 国际收支的概念</vt:lpstr>
      <vt:lpstr>第一节 国际收支的概念</vt:lpstr>
      <vt:lpstr>第二节 国际收支平衡表</vt:lpstr>
      <vt:lpstr>第二节 国际收支平衡表</vt:lpstr>
      <vt:lpstr>第二节 国际收支平衡表</vt:lpstr>
      <vt:lpstr>第二节 国际收支平衡表</vt:lpstr>
      <vt:lpstr>PowerPoint 演示文稿</vt:lpstr>
      <vt:lpstr>第二节 国际收支平衡表</vt:lpstr>
      <vt:lpstr>第二节 国际收支平衡表</vt:lpstr>
      <vt:lpstr>第二节 国际收支平衡表</vt:lpstr>
      <vt:lpstr>第二节 国际收支平衡表</vt:lpstr>
      <vt:lpstr> 3、国际收支平衡表标准格式简表 （第六版）</vt:lpstr>
      <vt:lpstr>第二节 国际收支平衡表</vt:lpstr>
      <vt:lpstr>第二节 国际收支平衡表</vt:lpstr>
      <vt:lpstr>第二节 国际收支平衡表</vt:lpstr>
      <vt:lpstr>2010年度中国国际收支平衡表简表(单位:亿美元)</vt:lpstr>
      <vt:lpstr>2010年度中国国际收支平衡表简表(单位:亿美元)</vt:lpstr>
      <vt:lpstr>PowerPoint 演示文稿</vt:lpstr>
      <vt:lpstr>中国错误与遗漏项（1999-2014）</vt:lpstr>
      <vt:lpstr>第二节 国际收支平衡表</vt:lpstr>
      <vt:lpstr>中国的外汇储备（1993-2015） 亿美元</vt:lpstr>
      <vt:lpstr>第二节 国际投资头寸</vt:lpstr>
      <vt:lpstr>第二节 国际投资头寸</vt:lpstr>
      <vt:lpstr>第二节 国际投资头寸</vt:lpstr>
      <vt:lpstr>国际投资头寸标准格式简表</vt:lpstr>
      <vt:lpstr>第二节 国际投资头寸</vt:lpstr>
      <vt:lpstr>国际投资头寸的变动</vt:lpstr>
      <vt:lpstr>中国国际投资头寸表                    单位：亿美元</vt:lpstr>
      <vt:lpstr>第二节 国际投资头寸</vt:lpstr>
      <vt:lpstr>第二节 国际投资头寸</vt:lpstr>
      <vt:lpstr>中国的对外负债结构</vt:lpstr>
      <vt:lpstr>美国的对外负债结构</vt:lpstr>
      <vt:lpstr>第三节 国际收支的失衡与调节</vt:lpstr>
      <vt:lpstr>第三节 国际收支的失衡与调节</vt:lpstr>
      <vt:lpstr>第三节 国际收支的失衡与调节</vt:lpstr>
      <vt:lpstr>第三节 国际收支的失衡与调节</vt:lpstr>
      <vt:lpstr>PowerPoint 演示文稿</vt:lpstr>
      <vt:lpstr>第三节 国际收支的失衡与调节</vt:lpstr>
      <vt:lpstr>第三节 国际收支的失衡与调节</vt:lpstr>
      <vt:lpstr>第三节 国际收支的失衡与调节</vt:lpstr>
      <vt:lpstr>讨论：</vt:lpstr>
      <vt:lpstr>PowerPoint 演示文稿</vt:lpstr>
      <vt:lpstr>危机前后全球经济失衡状况</vt:lpstr>
      <vt:lpstr>全球失衡并不是新近发生的现象</vt:lpstr>
      <vt:lpstr>全球失衡并不是新近发生的现象</vt:lpstr>
      <vt:lpstr>全球失衡问题自20世纪90年代以来日益严重</vt:lpstr>
      <vt:lpstr>  结果：</vt:lpstr>
      <vt:lpstr>PowerPoint 演示文稿</vt:lpstr>
      <vt:lpstr>全球失衡问题自20世纪90年代以来日益严重</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2015-03-10T15:06:14Z</dcterms:created>
  <dcterms:modified xsi:type="dcterms:W3CDTF">2021-03-01T19:51:29Z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TC030310159991</vt:lpwstr>
  </property>
</Properties>
</file>