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heme/themeOverride1.xml" ContentType="application/vnd.openxmlformats-officedocument.themeOverr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2"/>
  </p:sldMasterIdLst>
  <p:notesMasterIdLst>
    <p:notesMasterId r:id="rId46"/>
  </p:notesMasterIdLst>
  <p:handoutMasterIdLst>
    <p:handoutMasterId r:id="rId47"/>
  </p:handoutMasterIdLst>
  <p:sldIdLst>
    <p:sldId id="261" r:id="rId3"/>
    <p:sldId id="275" r:id="rId4"/>
    <p:sldId id="271" r:id="rId5"/>
    <p:sldId id="319" r:id="rId6"/>
    <p:sldId id="320" r:id="rId7"/>
    <p:sldId id="322" r:id="rId8"/>
    <p:sldId id="323" r:id="rId9"/>
    <p:sldId id="324" r:id="rId10"/>
    <p:sldId id="325" r:id="rId11"/>
    <p:sldId id="326" r:id="rId12"/>
    <p:sldId id="359" r:id="rId13"/>
    <p:sldId id="328" r:id="rId14"/>
    <p:sldId id="329" r:id="rId15"/>
    <p:sldId id="330" r:id="rId16"/>
    <p:sldId id="331" r:id="rId17"/>
    <p:sldId id="332" r:id="rId18"/>
    <p:sldId id="333" r:id="rId19"/>
    <p:sldId id="334" r:id="rId20"/>
    <p:sldId id="335" r:id="rId21"/>
    <p:sldId id="336" r:id="rId22"/>
    <p:sldId id="337" r:id="rId23"/>
    <p:sldId id="338" r:id="rId24"/>
    <p:sldId id="339" r:id="rId25"/>
    <p:sldId id="340" r:id="rId26"/>
    <p:sldId id="341" r:id="rId27"/>
    <p:sldId id="342" r:id="rId28"/>
    <p:sldId id="343" r:id="rId29"/>
    <p:sldId id="361" r:id="rId30"/>
    <p:sldId id="344" r:id="rId31"/>
    <p:sldId id="345" r:id="rId32"/>
    <p:sldId id="362" r:id="rId33"/>
    <p:sldId id="363" r:id="rId34"/>
    <p:sldId id="347" r:id="rId35"/>
    <p:sldId id="348" r:id="rId36"/>
    <p:sldId id="358" r:id="rId37"/>
    <p:sldId id="349" r:id="rId38"/>
    <p:sldId id="350" r:id="rId39"/>
    <p:sldId id="351" r:id="rId40"/>
    <p:sldId id="352" r:id="rId41"/>
    <p:sldId id="353" r:id="rId42"/>
    <p:sldId id="354" r:id="rId43"/>
    <p:sldId id="356" r:id="rId44"/>
    <p:sldId id="357"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pos="2880" userDrawn="1">
          <p15:clr>
            <a:srgbClr val="A4A3A4"/>
          </p15:clr>
        </p15:guide>
        <p15:guide id="2" orient="horz" pos="2160"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99"/>
    <a:srgbClr val="FF5050"/>
    <a:srgbClr val="A50021"/>
    <a:srgbClr val="FF3399"/>
    <a:srgbClr val="CC99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4660"/>
  </p:normalViewPr>
  <p:slideViewPr>
    <p:cSldViewPr snapToGrid="0">
      <p:cViewPr varScale="1">
        <p:scale>
          <a:sx n="92" d="100"/>
          <a:sy n="92" d="100"/>
        </p:scale>
        <p:origin x="-1052" y="-8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2" d="100"/>
          <a:sy n="82" d="100"/>
        </p:scale>
        <p:origin x="385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lvl1pPr>
          </a:lstStyle>
          <a:p>
            <a:endParaRPr lang="zh-CN" dirty="0">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latinLnBrk="0">
              <a:defRPr lang="zh-CN" sz="1200"/>
            </a:lvl1pPr>
          </a:lstStyle>
          <a:p>
            <a:fld id="{59041DB8-B66F-4DC8-A96E-33677E0F90FF}" type="datetimeFigureOut">
              <a:rPr lang="en-US" altLang="zh-CN" smtClean="0">
                <a:ea typeface="Microsoft YaHei UI" panose="020B0503020204020204" pitchFamily="34" charset="-122"/>
              </a:rPr>
              <a:pPr/>
              <a:t>10/14/2019</a:t>
            </a:fld>
            <a:endParaRPr lang="zh-CN" dirty="0">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latinLnBrk="0">
              <a:defRPr lang="zh-CN" sz="1200"/>
            </a:lvl1pPr>
          </a:lstStyle>
          <a:p>
            <a:endParaRPr lang="zh-CN" dirty="0">
              <a:ea typeface="Microsoft YaHei UI" panose="020B0503020204020204" pitchFamily="34" charset="-122"/>
            </a:endParaRPr>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latinLnBrk="0">
              <a:defRPr lang="zh-CN" sz="1200"/>
            </a:lvl1pPr>
          </a:lstStyle>
          <a:p>
            <a:fld id="{1604A0D4-B89B-4ADD-AF9E-38636B40EE4E}" type="slidenum">
              <a:rPr lang="zh-CN" smtClean="0">
                <a:ea typeface="Microsoft YaHei UI" panose="020B0503020204020204" pitchFamily="34" charset="-122"/>
              </a:rPr>
              <a:pPr/>
              <a:t>‹#›</a:t>
            </a:fld>
            <a:endParaRPr lang="zh-CN" dirty="0">
              <a:ea typeface="Microsoft YaHei UI" panose="020B0503020204020204" pitchFamily="34" charset="-122"/>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latinLnBrk="0">
              <a:defRPr lang="zh-CN" sz="1200">
                <a:ea typeface="Microsoft YaHei UI"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latinLnBrk="0">
              <a:defRPr lang="zh-CN" sz="1200">
                <a:ea typeface="Microsoft YaHei UI" panose="020B0503020204020204" pitchFamily="34" charset="-122"/>
              </a:defRPr>
            </a:lvl1pPr>
          </a:lstStyle>
          <a:p>
            <a:fld id="{DEB49C4A-65AC-492D-9701-81B46C3AD0E4}" type="datetimeFigureOut">
              <a:rPr lang="en-US" altLang="zh-CN" smtClean="0"/>
              <a:pPr/>
              <a:t>10/14/2019</a:t>
            </a:fld>
            <a:endParaRPr lang="zh-CN" altLang="en-US" dirty="0"/>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dirty="0"/>
          </a:p>
        </p:txBody>
      </p:sp>
      <p:sp>
        <p:nvSpPr>
          <p:cNvPr id="5" name="备注占位符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latinLnBrk="0">
              <a:defRPr lang="zh-CN" sz="1200">
                <a:ea typeface="Microsoft YaHei UI" panose="020B0503020204020204" pitchFamily="34" charset="-122"/>
              </a:defRPr>
            </a:lvl1pPr>
          </a:lstStyle>
          <a:p>
            <a:endParaRPr lang="zh-CN" altLang="en-US" dirty="0"/>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latinLnBrk="0">
              <a:defRPr lang="zh-CN" sz="1200">
                <a:ea typeface="Microsoft YaHei UI" panose="020B0503020204020204" pitchFamily="34" charset="-122"/>
              </a:defRPr>
            </a:lvl1pPr>
          </a:lstStyle>
          <a:p>
            <a:fld id="{82869989-EB00-4EE7-BCB5-25BDC5BB29F8}" type="slidenum">
              <a:rPr lang="en-US" altLang="zh-CN" smtClean="0"/>
              <a:pPr/>
              <a:t>‹#›</a:t>
            </a:fld>
            <a:endParaRPr lang="en-US" altLang="zh-CN" dirty="0"/>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lang="zh-CN" sz="1200" kern="1200">
        <a:solidFill>
          <a:schemeClr val="tx1"/>
        </a:solidFill>
        <a:latin typeface="+mn-lt"/>
        <a:ea typeface="Microsoft YaHei UI" panose="020B0503020204020204" pitchFamily="34" charset="-122"/>
        <a:cs typeface="+mn-cs"/>
      </a:defRPr>
    </a:lvl1pPr>
    <a:lvl2pPr marL="457200" algn="l" defTabSz="914400" rtl="0" eaLnBrk="1" latinLnBrk="0" hangingPunct="1">
      <a:defRPr lang="zh-CN" sz="1200" kern="1200">
        <a:solidFill>
          <a:schemeClr val="tx1"/>
        </a:solidFill>
        <a:latin typeface="+mn-lt"/>
        <a:ea typeface="Microsoft YaHei UI" panose="020B0503020204020204" pitchFamily="34" charset="-122"/>
        <a:cs typeface="+mn-cs"/>
      </a:defRPr>
    </a:lvl2pPr>
    <a:lvl3pPr marL="914400" algn="l" defTabSz="914400" rtl="0" eaLnBrk="1" latinLnBrk="0" hangingPunct="1">
      <a:defRPr lang="zh-CN" sz="1200" kern="1200">
        <a:solidFill>
          <a:schemeClr val="tx1"/>
        </a:solidFill>
        <a:latin typeface="+mn-lt"/>
        <a:ea typeface="Microsoft YaHei UI" panose="020B0503020204020204" pitchFamily="34" charset="-122"/>
        <a:cs typeface="+mn-cs"/>
      </a:defRPr>
    </a:lvl3pPr>
    <a:lvl4pPr marL="1371600" algn="l" defTabSz="914400" rtl="0" eaLnBrk="1" latinLnBrk="0" hangingPunct="1">
      <a:defRPr lang="zh-CN" sz="1200" kern="1200">
        <a:solidFill>
          <a:schemeClr val="tx1"/>
        </a:solidFill>
        <a:latin typeface="+mn-lt"/>
        <a:ea typeface="Microsoft YaHei UI" panose="020B0503020204020204" pitchFamily="34" charset="-122"/>
        <a:cs typeface="+mn-cs"/>
      </a:defRPr>
    </a:lvl4pPr>
    <a:lvl5pPr marL="1828800" algn="l" defTabSz="914400" rtl="0" eaLnBrk="1" latinLnBrk="0" hangingPunct="1">
      <a:defRPr lang="zh-CN" sz="1200" kern="1200">
        <a:solidFill>
          <a:schemeClr val="tx1"/>
        </a:solidFill>
        <a:latin typeface="+mn-lt"/>
        <a:ea typeface="Microsoft YaHei UI" panose="020B0503020204020204" pitchFamily="34" charset="-122"/>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r"/>
            <a:r>
              <a:rPr lang="zh-CN" altLang="en-US" dirty="0" smtClean="0"/>
              <a:t>更新于</a:t>
            </a:r>
            <a:r>
              <a:rPr lang="en-US" altLang="zh-CN" dirty="0" smtClean="0"/>
              <a:t>2015</a:t>
            </a:r>
            <a:r>
              <a:rPr lang="zh-CN" altLang="en-US" dirty="0" smtClean="0"/>
              <a:t>年</a:t>
            </a:r>
            <a:r>
              <a:rPr lang="en-US" altLang="zh-CN" dirty="0" smtClean="0"/>
              <a:t>3</a:t>
            </a:r>
            <a:r>
              <a:rPr lang="zh-CN" altLang="en-US" dirty="0" smtClean="0"/>
              <a:t>月</a:t>
            </a:r>
            <a:r>
              <a:rPr lang="en-US" altLang="zh-CN" dirty="0" smtClean="0"/>
              <a:t>11</a:t>
            </a:r>
            <a:r>
              <a:rPr lang="zh-CN" altLang="en-US" dirty="0" smtClean="0"/>
              <a:t>日</a:t>
            </a:r>
            <a:r>
              <a:rPr lang="zh-CN" altLang="en-US" baseline="0" dirty="0" smtClean="0"/>
              <a:t> </a:t>
            </a:r>
            <a:r>
              <a:rPr lang="en-US" altLang="zh-CN" baseline="0" dirty="0" err="1" smtClean="0"/>
              <a:t>cmw</a:t>
            </a:r>
            <a:endParaRPr lang="zh-CN" altLang="en-US" dirty="0"/>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a:t>
            </a:fld>
            <a:endParaRPr lang="en-US" altLang="zh-CN" dirty="0"/>
          </a:p>
        </p:txBody>
      </p:sp>
    </p:spTree>
    <p:extLst>
      <p:ext uri="{BB962C8B-B14F-4D97-AF65-F5344CB8AC3E}">
        <p14:creationId xmlns:p14="http://schemas.microsoft.com/office/powerpoint/2010/main" val="405340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a:t>
            </a:fld>
            <a:endParaRPr lang="en-US" altLang="zh-CN" dirty="0"/>
          </a:p>
        </p:txBody>
      </p:sp>
    </p:spTree>
    <p:extLst>
      <p:ext uri="{BB962C8B-B14F-4D97-AF65-F5344CB8AC3E}">
        <p14:creationId xmlns:p14="http://schemas.microsoft.com/office/powerpoint/2010/main" val="533526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a:t>
            </a:fld>
            <a:endParaRPr lang="en-US" altLang="zh-CN" dirty="0"/>
          </a:p>
        </p:txBody>
      </p:sp>
    </p:spTree>
    <p:extLst>
      <p:ext uri="{BB962C8B-B14F-4D97-AF65-F5344CB8AC3E}">
        <p14:creationId xmlns:p14="http://schemas.microsoft.com/office/powerpoint/2010/main" val="3620198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5</a:t>
            </a:fld>
            <a:endParaRPr lang="en-US" altLang="zh-CN" dirty="0"/>
          </a:p>
        </p:txBody>
      </p:sp>
    </p:spTree>
    <p:extLst>
      <p:ext uri="{BB962C8B-B14F-4D97-AF65-F5344CB8AC3E}">
        <p14:creationId xmlns:p14="http://schemas.microsoft.com/office/powerpoint/2010/main" val="21691022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6</a:t>
            </a:fld>
            <a:endParaRPr lang="en-US" altLang="zh-CN" dirty="0"/>
          </a:p>
        </p:txBody>
      </p:sp>
    </p:spTree>
    <p:extLst>
      <p:ext uri="{BB962C8B-B14F-4D97-AF65-F5344CB8AC3E}">
        <p14:creationId xmlns:p14="http://schemas.microsoft.com/office/powerpoint/2010/main" val="3215160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7</a:t>
            </a:fld>
            <a:endParaRPr lang="en-US" altLang="zh-CN" dirty="0"/>
          </a:p>
        </p:txBody>
      </p:sp>
    </p:spTree>
    <p:extLst>
      <p:ext uri="{BB962C8B-B14F-4D97-AF65-F5344CB8AC3E}">
        <p14:creationId xmlns:p14="http://schemas.microsoft.com/office/powerpoint/2010/main" val="27691146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8</a:t>
            </a:fld>
            <a:endParaRPr lang="en-US" altLang="zh-CN" dirty="0"/>
          </a:p>
        </p:txBody>
      </p:sp>
    </p:spTree>
    <p:extLst>
      <p:ext uri="{BB962C8B-B14F-4D97-AF65-F5344CB8AC3E}">
        <p14:creationId xmlns:p14="http://schemas.microsoft.com/office/powerpoint/2010/main" val="37947779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9</a:t>
            </a:fld>
            <a:endParaRPr lang="en-US" altLang="zh-CN" dirty="0"/>
          </a:p>
        </p:txBody>
      </p:sp>
    </p:spTree>
    <p:extLst>
      <p:ext uri="{BB962C8B-B14F-4D97-AF65-F5344CB8AC3E}">
        <p14:creationId xmlns:p14="http://schemas.microsoft.com/office/powerpoint/2010/main" val="527999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10</a:t>
            </a:fld>
            <a:endParaRPr lang="en-US" altLang="zh-CN" dirty="0"/>
          </a:p>
        </p:txBody>
      </p:sp>
    </p:spTree>
    <p:extLst>
      <p:ext uri="{BB962C8B-B14F-4D97-AF65-F5344CB8AC3E}">
        <p14:creationId xmlns:p14="http://schemas.microsoft.com/office/powerpoint/2010/main" val="14779855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11</a:t>
            </a:fld>
            <a:endParaRPr lang="en-US" altLang="zh-CN" dirty="0"/>
          </a:p>
        </p:txBody>
      </p:sp>
    </p:spTree>
    <p:extLst>
      <p:ext uri="{BB962C8B-B14F-4D97-AF65-F5344CB8AC3E}">
        <p14:creationId xmlns:p14="http://schemas.microsoft.com/office/powerpoint/2010/main" val="14779855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12</a:t>
            </a:fld>
            <a:endParaRPr lang="en-US" altLang="zh-CN" dirty="0"/>
          </a:p>
        </p:txBody>
      </p:sp>
    </p:spTree>
    <p:extLst>
      <p:ext uri="{BB962C8B-B14F-4D97-AF65-F5344CB8AC3E}">
        <p14:creationId xmlns:p14="http://schemas.microsoft.com/office/powerpoint/2010/main" val="3941619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13</a:t>
            </a:fld>
            <a:endParaRPr lang="en-US" altLang="zh-CN" dirty="0"/>
          </a:p>
        </p:txBody>
      </p:sp>
    </p:spTree>
    <p:extLst>
      <p:ext uri="{BB962C8B-B14F-4D97-AF65-F5344CB8AC3E}">
        <p14:creationId xmlns:p14="http://schemas.microsoft.com/office/powerpoint/2010/main" val="2762793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14</a:t>
            </a:fld>
            <a:endParaRPr lang="en-US" altLang="zh-CN" dirty="0"/>
          </a:p>
        </p:txBody>
      </p:sp>
    </p:spTree>
    <p:extLst>
      <p:ext uri="{BB962C8B-B14F-4D97-AF65-F5344CB8AC3E}">
        <p14:creationId xmlns:p14="http://schemas.microsoft.com/office/powerpoint/2010/main" val="3739148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15</a:t>
            </a:fld>
            <a:endParaRPr lang="en-US" altLang="zh-CN" dirty="0"/>
          </a:p>
        </p:txBody>
      </p:sp>
    </p:spTree>
    <p:extLst>
      <p:ext uri="{BB962C8B-B14F-4D97-AF65-F5344CB8AC3E}">
        <p14:creationId xmlns:p14="http://schemas.microsoft.com/office/powerpoint/2010/main" val="10119725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16</a:t>
            </a:fld>
            <a:endParaRPr lang="en-US" altLang="zh-CN" dirty="0"/>
          </a:p>
        </p:txBody>
      </p:sp>
    </p:spTree>
    <p:extLst>
      <p:ext uri="{BB962C8B-B14F-4D97-AF65-F5344CB8AC3E}">
        <p14:creationId xmlns:p14="http://schemas.microsoft.com/office/powerpoint/2010/main" val="13932389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17</a:t>
            </a:fld>
            <a:endParaRPr lang="en-US" altLang="zh-CN" dirty="0"/>
          </a:p>
        </p:txBody>
      </p:sp>
    </p:spTree>
    <p:extLst>
      <p:ext uri="{BB962C8B-B14F-4D97-AF65-F5344CB8AC3E}">
        <p14:creationId xmlns:p14="http://schemas.microsoft.com/office/powerpoint/2010/main" val="35783557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18</a:t>
            </a:fld>
            <a:endParaRPr lang="en-US" altLang="zh-CN" dirty="0"/>
          </a:p>
        </p:txBody>
      </p:sp>
    </p:spTree>
    <p:extLst>
      <p:ext uri="{BB962C8B-B14F-4D97-AF65-F5344CB8AC3E}">
        <p14:creationId xmlns:p14="http://schemas.microsoft.com/office/powerpoint/2010/main" val="12170101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19</a:t>
            </a:fld>
            <a:endParaRPr lang="en-US" altLang="zh-CN" dirty="0"/>
          </a:p>
        </p:txBody>
      </p:sp>
    </p:spTree>
    <p:extLst>
      <p:ext uri="{BB962C8B-B14F-4D97-AF65-F5344CB8AC3E}">
        <p14:creationId xmlns:p14="http://schemas.microsoft.com/office/powerpoint/2010/main" val="40424925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20</a:t>
            </a:fld>
            <a:endParaRPr lang="en-US" altLang="zh-CN" dirty="0"/>
          </a:p>
        </p:txBody>
      </p:sp>
    </p:spTree>
    <p:extLst>
      <p:ext uri="{BB962C8B-B14F-4D97-AF65-F5344CB8AC3E}">
        <p14:creationId xmlns:p14="http://schemas.microsoft.com/office/powerpoint/2010/main" val="2750259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21</a:t>
            </a:fld>
            <a:endParaRPr lang="en-US" altLang="zh-CN" dirty="0"/>
          </a:p>
        </p:txBody>
      </p:sp>
    </p:spTree>
    <p:extLst>
      <p:ext uri="{BB962C8B-B14F-4D97-AF65-F5344CB8AC3E}">
        <p14:creationId xmlns:p14="http://schemas.microsoft.com/office/powerpoint/2010/main" val="41447435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22</a:t>
            </a:fld>
            <a:endParaRPr lang="en-US" altLang="zh-CN" dirty="0"/>
          </a:p>
        </p:txBody>
      </p:sp>
    </p:spTree>
    <p:extLst>
      <p:ext uri="{BB962C8B-B14F-4D97-AF65-F5344CB8AC3E}">
        <p14:creationId xmlns:p14="http://schemas.microsoft.com/office/powerpoint/2010/main" val="15833684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23</a:t>
            </a:fld>
            <a:endParaRPr lang="en-US" altLang="zh-CN" dirty="0"/>
          </a:p>
        </p:txBody>
      </p:sp>
    </p:spTree>
    <p:extLst>
      <p:ext uri="{BB962C8B-B14F-4D97-AF65-F5344CB8AC3E}">
        <p14:creationId xmlns:p14="http://schemas.microsoft.com/office/powerpoint/2010/main" val="32437036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24</a:t>
            </a:fld>
            <a:endParaRPr lang="en-US" altLang="zh-CN" dirty="0"/>
          </a:p>
        </p:txBody>
      </p:sp>
    </p:spTree>
    <p:extLst>
      <p:ext uri="{BB962C8B-B14F-4D97-AF65-F5344CB8AC3E}">
        <p14:creationId xmlns:p14="http://schemas.microsoft.com/office/powerpoint/2010/main" val="39025265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25</a:t>
            </a:fld>
            <a:endParaRPr lang="en-US" altLang="zh-CN" dirty="0"/>
          </a:p>
        </p:txBody>
      </p:sp>
    </p:spTree>
    <p:extLst>
      <p:ext uri="{BB962C8B-B14F-4D97-AF65-F5344CB8AC3E}">
        <p14:creationId xmlns:p14="http://schemas.microsoft.com/office/powerpoint/2010/main" val="29685265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smtClean="0"/>
              <a:t>马克卢普总结</a:t>
            </a:r>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26</a:t>
            </a:fld>
            <a:endParaRPr lang="en-US" altLang="zh-CN" dirty="0"/>
          </a:p>
        </p:txBody>
      </p:sp>
    </p:spTree>
    <p:extLst>
      <p:ext uri="{BB962C8B-B14F-4D97-AF65-F5344CB8AC3E}">
        <p14:creationId xmlns:p14="http://schemas.microsoft.com/office/powerpoint/2010/main" val="41463031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27</a:t>
            </a:fld>
            <a:endParaRPr lang="en-US" altLang="zh-CN" dirty="0"/>
          </a:p>
        </p:txBody>
      </p:sp>
    </p:spTree>
    <p:extLst>
      <p:ext uri="{BB962C8B-B14F-4D97-AF65-F5344CB8AC3E}">
        <p14:creationId xmlns:p14="http://schemas.microsoft.com/office/powerpoint/2010/main" val="40505063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28</a:t>
            </a:fld>
            <a:endParaRPr lang="en-US" altLang="zh-CN" dirty="0"/>
          </a:p>
        </p:txBody>
      </p:sp>
    </p:spTree>
    <p:extLst>
      <p:ext uri="{BB962C8B-B14F-4D97-AF65-F5344CB8AC3E}">
        <p14:creationId xmlns:p14="http://schemas.microsoft.com/office/powerpoint/2010/main" val="40505063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latin typeface="Arial" panose="020B0604020202020204" pitchFamily="34" charset="0"/>
              </a:rPr>
              <a:t>如价格</a:t>
            </a:r>
            <a:r>
              <a:rPr lang="en-US" altLang="zh-CN" dirty="0" smtClean="0">
                <a:latin typeface="Arial" panose="020B0604020202020204" pitchFamily="34" charset="0"/>
              </a:rPr>
              <a:t>—</a:t>
            </a:r>
            <a:r>
              <a:rPr lang="zh-CN" altLang="en-US" dirty="0" smtClean="0">
                <a:latin typeface="Arial" panose="020B0604020202020204" pitchFamily="34" charset="0"/>
              </a:rPr>
              <a:t>铸币流动机制就是说明在金本位制下，国际收支通过货币供求的存量失衡，引起货币量和物价水平的调整而自动均衡的机制。</a:t>
            </a: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29</a:t>
            </a:fld>
            <a:endParaRPr lang="en-US" altLang="zh-CN" dirty="0"/>
          </a:p>
        </p:txBody>
      </p:sp>
    </p:spTree>
    <p:extLst>
      <p:ext uri="{BB962C8B-B14F-4D97-AF65-F5344CB8AC3E}">
        <p14:creationId xmlns:p14="http://schemas.microsoft.com/office/powerpoint/2010/main" val="21049808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30</a:t>
            </a:fld>
            <a:endParaRPr lang="en-US" altLang="zh-CN" dirty="0"/>
          </a:p>
        </p:txBody>
      </p:sp>
    </p:spTree>
    <p:extLst>
      <p:ext uri="{BB962C8B-B14F-4D97-AF65-F5344CB8AC3E}">
        <p14:creationId xmlns:p14="http://schemas.microsoft.com/office/powerpoint/2010/main" val="7101429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31</a:t>
            </a:fld>
            <a:endParaRPr lang="en-US" altLang="zh-CN" dirty="0"/>
          </a:p>
        </p:txBody>
      </p:sp>
    </p:spTree>
    <p:extLst>
      <p:ext uri="{BB962C8B-B14F-4D97-AF65-F5344CB8AC3E}">
        <p14:creationId xmlns:p14="http://schemas.microsoft.com/office/powerpoint/2010/main" val="7101429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32</a:t>
            </a:fld>
            <a:endParaRPr lang="en-US" altLang="zh-CN" dirty="0"/>
          </a:p>
        </p:txBody>
      </p:sp>
    </p:spTree>
    <p:extLst>
      <p:ext uri="{BB962C8B-B14F-4D97-AF65-F5344CB8AC3E}">
        <p14:creationId xmlns:p14="http://schemas.microsoft.com/office/powerpoint/2010/main" val="7101429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33</a:t>
            </a:fld>
            <a:endParaRPr lang="en-US" altLang="zh-CN" dirty="0"/>
          </a:p>
        </p:txBody>
      </p:sp>
    </p:spTree>
    <p:extLst>
      <p:ext uri="{BB962C8B-B14F-4D97-AF65-F5344CB8AC3E}">
        <p14:creationId xmlns:p14="http://schemas.microsoft.com/office/powerpoint/2010/main" val="39749446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34</a:t>
            </a:fld>
            <a:endParaRPr lang="en-US" altLang="zh-CN" dirty="0"/>
          </a:p>
        </p:txBody>
      </p:sp>
    </p:spTree>
    <p:extLst>
      <p:ext uri="{BB962C8B-B14F-4D97-AF65-F5344CB8AC3E}">
        <p14:creationId xmlns:p14="http://schemas.microsoft.com/office/powerpoint/2010/main" val="4652737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35</a:t>
            </a:fld>
            <a:endParaRPr lang="en-US" altLang="zh-CN" dirty="0"/>
          </a:p>
        </p:txBody>
      </p:sp>
    </p:spTree>
    <p:extLst>
      <p:ext uri="{BB962C8B-B14F-4D97-AF65-F5344CB8AC3E}">
        <p14:creationId xmlns:p14="http://schemas.microsoft.com/office/powerpoint/2010/main" val="6030921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36</a:t>
            </a:fld>
            <a:endParaRPr lang="en-US" altLang="zh-CN" dirty="0"/>
          </a:p>
        </p:txBody>
      </p:sp>
    </p:spTree>
    <p:extLst>
      <p:ext uri="{BB962C8B-B14F-4D97-AF65-F5344CB8AC3E}">
        <p14:creationId xmlns:p14="http://schemas.microsoft.com/office/powerpoint/2010/main" val="24279292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37</a:t>
            </a:fld>
            <a:endParaRPr lang="en-US" altLang="zh-CN" dirty="0"/>
          </a:p>
        </p:txBody>
      </p:sp>
    </p:spTree>
    <p:extLst>
      <p:ext uri="{BB962C8B-B14F-4D97-AF65-F5344CB8AC3E}">
        <p14:creationId xmlns:p14="http://schemas.microsoft.com/office/powerpoint/2010/main" val="26320132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38</a:t>
            </a:fld>
            <a:endParaRPr lang="en-US" altLang="zh-CN" dirty="0"/>
          </a:p>
        </p:txBody>
      </p:sp>
    </p:spTree>
    <p:extLst>
      <p:ext uri="{BB962C8B-B14F-4D97-AF65-F5344CB8AC3E}">
        <p14:creationId xmlns:p14="http://schemas.microsoft.com/office/powerpoint/2010/main" val="9526795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39</a:t>
            </a:fld>
            <a:endParaRPr lang="en-US" altLang="zh-CN" dirty="0"/>
          </a:p>
        </p:txBody>
      </p:sp>
    </p:spTree>
    <p:extLst>
      <p:ext uri="{BB962C8B-B14F-4D97-AF65-F5344CB8AC3E}">
        <p14:creationId xmlns:p14="http://schemas.microsoft.com/office/powerpoint/2010/main" val="10363268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40</a:t>
            </a:fld>
            <a:endParaRPr lang="en-US" altLang="zh-CN" dirty="0"/>
          </a:p>
        </p:txBody>
      </p:sp>
    </p:spTree>
    <p:extLst>
      <p:ext uri="{BB962C8B-B14F-4D97-AF65-F5344CB8AC3E}">
        <p14:creationId xmlns:p14="http://schemas.microsoft.com/office/powerpoint/2010/main" val="20564524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41</a:t>
            </a:fld>
            <a:endParaRPr lang="en-US" altLang="zh-CN" dirty="0"/>
          </a:p>
        </p:txBody>
      </p:sp>
    </p:spTree>
    <p:extLst>
      <p:ext uri="{BB962C8B-B14F-4D97-AF65-F5344CB8AC3E}">
        <p14:creationId xmlns:p14="http://schemas.microsoft.com/office/powerpoint/2010/main" val="5110776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42</a:t>
            </a:fld>
            <a:endParaRPr lang="en-US" altLang="zh-CN" dirty="0"/>
          </a:p>
        </p:txBody>
      </p:sp>
    </p:spTree>
    <p:extLst>
      <p:ext uri="{BB962C8B-B14F-4D97-AF65-F5344CB8AC3E}">
        <p14:creationId xmlns:p14="http://schemas.microsoft.com/office/powerpoint/2010/main" val="326171353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panose="020B0604020202020204" pitchFamily="34" charset="0"/>
            </a:endParaRPr>
          </a:p>
        </p:txBody>
      </p:sp>
      <p:sp>
        <p:nvSpPr>
          <p:cNvPr id="4" name="灯片编号占位符 3"/>
          <p:cNvSpPr>
            <a:spLocks noGrp="1"/>
          </p:cNvSpPr>
          <p:nvPr>
            <p:ph type="sldNum" sz="quarter" idx="10"/>
          </p:nvPr>
        </p:nvSpPr>
        <p:spPr/>
        <p:txBody>
          <a:bodyPr/>
          <a:lstStyle/>
          <a:p>
            <a:fld id="{82869989-EB00-4EE7-BCB5-25BDC5BB29F8}" type="slidenum">
              <a:rPr lang="en-US" altLang="zh-CN" smtClean="0"/>
              <a:pPr/>
              <a:t>43</a:t>
            </a:fld>
            <a:endParaRPr lang="en-US" altLang="zh-CN" dirty="0"/>
          </a:p>
        </p:txBody>
      </p:sp>
    </p:spTree>
    <p:extLst>
      <p:ext uri="{BB962C8B-B14F-4D97-AF65-F5344CB8AC3E}">
        <p14:creationId xmlns:p14="http://schemas.microsoft.com/office/powerpoint/2010/main" val="959339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70384" y="1909346"/>
            <a:ext cx="7203233" cy="3383280"/>
          </a:xfrm>
        </p:spPr>
        <p:txBody>
          <a:bodyPr anchor="b">
            <a:normAutofit/>
          </a:bodyPr>
          <a:lstStyle>
            <a:lvl1pPr algn="l" latinLnBrk="0">
              <a:lnSpc>
                <a:spcPct val="76000"/>
              </a:lnSpc>
              <a:defRPr lang="zh-CN" sz="8000" cap="none" baseline="0">
                <a:solidFill>
                  <a:schemeClr val="tx1"/>
                </a:solidFill>
              </a:defRPr>
            </a:lvl1pPr>
          </a:lstStyle>
          <a:p>
            <a:r>
              <a:rPr lang="zh-CN" altLang="en-US" smtClean="0"/>
              <a:t>单击此处编辑母版标题样式</a:t>
            </a:r>
            <a:endParaRPr lang="zh-CN" dirty="0"/>
          </a:p>
        </p:txBody>
      </p:sp>
      <p:sp>
        <p:nvSpPr>
          <p:cNvPr id="3" name="副标题 2"/>
          <p:cNvSpPr>
            <a:spLocks noGrp="1"/>
          </p:cNvSpPr>
          <p:nvPr>
            <p:ph type="subTitle" idx="1"/>
          </p:nvPr>
        </p:nvSpPr>
        <p:spPr>
          <a:xfrm>
            <a:off x="970384" y="5432564"/>
            <a:ext cx="7203233" cy="457200"/>
          </a:xfrm>
        </p:spPr>
        <p:txBody>
          <a:bodyPr>
            <a:normAutofit/>
          </a:bodyPr>
          <a:lstStyle>
            <a:lvl1pPr marL="0" indent="0" algn="l" latinLnBrk="0">
              <a:spcBef>
                <a:spcPts val="0"/>
              </a:spcBef>
              <a:buNone/>
              <a:defRPr lang="zh-CN" sz="2000" b="0">
                <a:solidFill>
                  <a:schemeClr val="accent1"/>
                </a:solidFill>
              </a:defRPr>
            </a:lvl1pPr>
            <a:lvl2pPr marL="457200" indent="0" algn="ctr" latinLnBrk="0">
              <a:buNone/>
              <a:defRPr lang="zh-CN" sz="2000"/>
            </a:lvl2pPr>
            <a:lvl3pPr marL="914400" indent="0" algn="ctr" latinLnBrk="0">
              <a:buNone/>
              <a:defRPr lang="zh-CN" sz="1800"/>
            </a:lvl3pPr>
            <a:lvl4pPr marL="1371600" indent="0" algn="ctr" latinLnBrk="0">
              <a:buNone/>
              <a:defRPr lang="zh-CN" sz="1600"/>
            </a:lvl4pPr>
            <a:lvl5pPr marL="1828800" indent="0" algn="ctr" latinLnBrk="0">
              <a:buNone/>
              <a:defRPr lang="zh-CN" sz="1600"/>
            </a:lvl5pPr>
            <a:lvl6pPr marL="2286000" indent="0" algn="ctr" latinLnBrk="0">
              <a:buNone/>
              <a:defRPr lang="zh-CN" sz="1600"/>
            </a:lvl6pPr>
            <a:lvl7pPr marL="2743200" indent="0" algn="ctr" latinLnBrk="0">
              <a:buNone/>
              <a:defRPr lang="zh-CN" sz="1600"/>
            </a:lvl7pPr>
            <a:lvl8pPr marL="3200400" indent="0" algn="ctr" latinLnBrk="0">
              <a:buNone/>
              <a:defRPr lang="zh-CN" sz="1600"/>
            </a:lvl8pPr>
            <a:lvl9pPr marL="3657600" indent="0" algn="ctr" latinLnBrk="0">
              <a:buNone/>
              <a:defRPr lang="zh-CN" sz="1600"/>
            </a:lvl9pPr>
          </a:lstStyle>
          <a:p>
            <a:r>
              <a:rPr lang="zh-CN" altLang="en-US" smtClean="0"/>
              <a:t>单击此处编辑母版副标题样式</a:t>
            </a:r>
            <a:endParaRPr lang="zh-CN"/>
          </a:p>
        </p:txBody>
      </p:sp>
      <p:cxnSp>
        <p:nvCxnSpPr>
          <p:cNvPr id="58" name="直线连接线 57"/>
          <p:cNvCxnSpPr/>
          <p:nvPr userDrawn="1"/>
        </p:nvCxnSpPr>
        <p:spPr>
          <a:xfrm>
            <a:off x="971550" y="5294175"/>
            <a:ext cx="720090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3" idx="3"/>
          </p:cNvCxnSpPr>
          <p:nvPr userDrawn="1"/>
        </p:nvCxnSpPr>
        <p:spPr>
          <a:xfrm>
            <a:off x="8172450" y="1143000"/>
            <a:ext cx="1167" cy="4518164"/>
          </a:xfrm>
          <a:prstGeom prst="line">
            <a:avLst/>
          </a:prstGeom>
          <a:ln w="190500" cmpd="sng"/>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71550" y="18386"/>
            <a:ext cx="7200900" cy="1142385"/>
          </a:xfrm>
        </p:spPr>
        <p:txBody>
          <a:bodyPr/>
          <a:lstStyle/>
          <a:p>
            <a:r>
              <a:rPr lang="zh-CN" altLang="en-US" dirty="0" smtClean="0"/>
              <a:t>单击此处编辑母版标题样式</a:t>
            </a:r>
            <a:endParaRPr lang="zh-CN" dirty="0"/>
          </a:p>
        </p:txBody>
      </p:sp>
      <p:sp>
        <p:nvSpPr>
          <p:cNvPr id="3" name="内容占位符 2"/>
          <p:cNvSpPr>
            <a:spLocks noGrp="1"/>
          </p:cNvSpPr>
          <p:nvPr>
            <p:ph idx="1"/>
          </p:nvPr>
        </p:nvSpPr>
        <p:spPr>
          <a:xfrm>
            <a:off x="971550" y="1447800"/>
            <a:ext cx="7200900" cy="45593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955AE237-00C5-49C3-9620-3A7E1C66D777}" type="datetime1">
              <a:rPr lang="zh-CN" altLang="en-US" smtClean="0"/>
              <a:pPr/>
              <a:t>2019-10-14</a:t>
            </a:fld>
            <a:endParaRPr lang="zh-CN"/>
          </a:p>
        </p:txBody>
      </p:sp>
      <p:sp>
        <p:nvSpPr>
          <p:cNvPr id="5" name="页脚占位符 4"/>
          <p:cNvSpPr>
            <a:spLocks noGrp="1"/>
          </p:cNvSpPr>
          <p:nvPr>
            <p:ph type="ftr" sz="quarter" idx="11"/>
          </p:nvPr>
        </p:nvSpPr>
        <p:spPr/>
        <p:txBody>
          <a:bodyPr/>
          <a:lstStyle>
            <a:lvl1pPr>
              <a:defRPr sz="1600">
                <a:solidFill>
                  <a:schemeClr val="accent1"/>
                </a:solidFill>
                <a:latin typeface="微软雅黑" panose="020B0503020204020204" pitchFamily="34" charset="-122"/>
                <a:ea typeface="微软雅黑" panose="020B0503020204020204" pitchFamily="34" charset="-122"/>
              </a:defRPr>
            </a:lvl1pPr>
          </a:lstStyle>
          <a:p>
            <a:r>
              <a:rPr lang="zh-CN" altLang="en-US" dirty="0" smtClean="0"/>
              <a:t>国际金融学 范小云</a:t>
            </a:r>
            <a:endParaRPr lang="zh-CN" altLang="en-US" dirty="0"/>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组 6"/>
          <p:cNvGrpSpPr/>
          <p:nvPr userDrawn="1"/>
        </p:nvGrpSpPr>
        <p:grpSpPr bwMode="hidden">
          <a:xfrm>
            <a:off x="-1" y="0"/>
            <a:ext cx="9144002" cy="6858000"/>
            <a:chOff x="-1" y="0"/>
            <a:chExt cx="12192002" cy="6858000"/>
          </a:xfrm>
        </p:grpSpPr>
        <p:cxnSp>
          <p:nvCxnSpPr>
            <p:cNvPr id="8" name="直线连接线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直线连接线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组 23"/>
            <p:cNvGrpSpPr/>
            <p:nvPr userDrawn="1"/>
          </p:nvGrpSpPr>
          <p:grpSpPr bwMode="hidden">
            <a:xfrm>
              <a:off x="-1" y="0"/>
              <a:ext cx="12192001" cy="6858000"/>
              <a:chOff x="-1" y="0"/>
              <a:chExt cx="12192001" cy="6858000"/>
            </a:xfrm>
          </p:grpSpPr>
          <p:cxnSp>
            <p:nvCxnSpPr>
              <p:cNvPr id="42" name="直线连接线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组 46"/>
              <p:cNvGrpSpPr/>
              <p:nvPr/>
            </p:nvGrpSpPr>
            <p:grpSpPr bwMode="hidden">
              <a:xfrm>
                <a:off x="6327885" y="0"/>
                <a:ext cx="5864115" cy="5898673"/>
                <a:chOff x="6327885" y="0"/>
                <a:chExt cx="5864115" cy="5898673"/>
              </a:xfrm>
            </p:grpSpPr>
            <p:cxnSp>
              <p:nvCxnSpPr>
                <p:cNvPr id="53" name="直线连接线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直线连接线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直线连接线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组 24"/>
            <p:cNvGrpSpPr/>
            <p:nvPr userDrawn="1"/>
          </p:nvGrpSpPr>
          <p:grpSpPr bwMode="hidden">
            <a:xfrm flipH="1">
              <a:off x="0" y="0"/>
              <a:ext cx="12192001" cy="6858000"/>
              <a:chOff x="-1" y="0"/>
              <a:chExt cx="12192001" cy="6858000"/>
            </a:xfrm>
          </p:grpSpPr>
          <p:cxnSp>
            <p:nvCxnSpPr>
              <p:cNvPr id="26" name="直线连接线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直线连接线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组 30"/>
              <p:cNvGrpSpPr/>
              <p:nvPr/>
            </p:nvGrpSpPr>
            <p:grpSpPr bwMode="hidden">
              <a:xfrm>
                <a:off x="6327885" y="0"/>
                <a:ext cx="5864115" cy="5898673"/>
                <a:chOff x="6327885" y="0"/>
                <a:chExt cx="5864115" cy="5898673"/>
              </a:xfrm>
            </p:grpSpPr>
            <p:cxnSp>
              <p:nvCxnSpPr>
                <p:cNvPr id="37" name="直线连接线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直线连接线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直线连接线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971550" y="2541573"/>
            <a:ext cx="7200900" cy="2743200"/>
          </a:xfrm>
        </p:spPr>
        <p:txBody>
          <a:bodyPr anchor="b">
            <a:normAutofit/>
          </a:bodyPr>
          <a:lstStyle>
            <a:lvl1pPr latinLnBrk="0">
              <a:lnSpc>
                <a:spcPct val="85000"/>
              </a:lnSpc>
              <a:defRPr lang="zh-CN" sz="6000" cap="none" baseline="0">
                <a:solidFill>
                  <a:schemeClr val="tx1"/>
                </a:solidFill>
              </a:defRPr>
            </a:lvl1pPr>
          </a:lstStyle>
          <a:p>
            <a:r>
              <a:rPr lang="zh-CN" altLang="en-US" smtClean="0"/>
              <a:t>单击此处编辑母版标题样式</a:t>
            </a:r>
            <a:endParaRPr lang="zh-CN" dirty="0"/>
          </a:p>
        </p:txBody>
      </p:sp>
      <p:sp>
        <p:nvSpPr>
          <p:cNvPr id="3" name="文本占位符 2"/>
          <p:cNvSpPr>
            <a:spLocks noGrp="1"/>
          </p:cNvSpPr>
          <p:nvPr>
            <p:ph type="body" idx="1"/>
          </p:nvPr>
        </p:nvSpPr>
        <p:spPr>
          <a:xfrm>
            <a:off x="971550" y="5431536"/>
            <a:ext cx="7200900" cy="457200"/>
          </a:xfrm>
        </p:spPr>
        <p:txBody>
          <a:bodyPr>
            <a:normAutofit/>
          </a:bodyPr>
          <a:lstStyle>
            <a:lvl1pPr marL="0" indent="0" latinLnBrk="0">
              <a:spcBef>
                <a:spcPts val="0"/>
              </a:spcBef>
              <a:buNone/>
              <a:defRPr lang="zh-CN" sz="2000" b="0">
                <a:solidFill>
                  <a:schemeClr val="tx1"/>
                </a:solidFill>
              </a:defRPr>
            </a:lvl1pPr>
            <a:lvl2pPr marL="457200" indent="0" latinLnBrk="0">
              <a:buNone/>
              <a:defRPr lang="zh-CN" sz="2000"/>
            </a:lvl2pPr>
            <a:lvl3pPr marL="914400" indent="0" latinLnBrk="0">
              <a:buNone/>
              <a:defRPr lang="zh-CN" sz="1800"/>
            </a:lvl3pPr>
            <a:lvl4pPr marL="1371600" indent="0" latinLnBrk="0">
              <a:buNone/>
              <a:defRPr lang="zh-CN" sz="1600"/>
            </a:lvl4pPr>
            <a:lvl5pPr marL="1828800" indent="0" latinLnBrk="0">
              <a:buNone/>
              <a:defRPr lang="zh-CN" sz="1600"/>
            </a:lvl5pPr>
            <a:lvl6pPr marL="2286000" indent="0" latinLnBrk="0">
              <a:buNone/>
              <a:defRPr lang="zh-CN" sz="1600"/>
            </a:lvl6pPr>
            <a:lvl7pPr marL="2743200" indent="0" latinLnBrk="0">
              <a:buNone/>
              <a:defRPr lang="zh-CN" sz="1600"/>
            </a:lvl7pPr>
            <a:lvl8pPr marL="3200400" indent="0" latinLnBrk="0">
              <a:buNone/>
              <a:defRPr lang="zh-CN" sz="1600"/>
            </a:lvl8pPr>
            <a:lvl9pPr marL="3657600" indent="0" latinLnBrk="0">
              <a:buNone/>
              <a:defRPr lang="zh-CN" sz="1600"/>
            </a:lvl9pPr>
          </a:lstStyle>
          <a:p>
            <a:pPr lvl="0"/>
            <a:r>
              <a:rPr lang="zh-CN" altLang="en-US" smtClean="0"/>
              <a:t>单击此处编辑母版文本样式</a:t>
            </a:r>
          </a:p>
        </p:txBody>
      </p:sp>
      <p:cxnSp>
        <p:nvCxnSpPr>
          <p:cNvPr id="58" name="直线连接线 57"/>
          <p:cNvCxnSpPr/>
          <p:nvPr userDrawn="1"/>
        </p:nvCxnSpPr>
        <p:spPr>
          <a:xfrm>
            <a:off x="971550" y="5294175"/>
            <a:ext cx="7200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内容占位符 2"/>
          <p:cNvSpPr>
            <a:spLocks noGrp="1"/>
          </p:cNvSpPr>
          <p:nvPr>
            <p:ph sz="half" idx="1"/>
          </p:nvPr>
        </p:nvSpPr>
        <p:spPr>
          <a:xfrm>
            <a:off x="9715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内容占位符 3"/>
          <p:cNvSpPr>
            <a:spLocks noGrp="1"/>
          </p:cNvSpPr>
          <p:nvPr>
            <p:ph sz="half" idx="2"/>
          </p:nvPr>
        </p:nvSpPr>
        <p:spPr>
          <a:xfrm>
            <a:off x="4743450" y="1981200"/>
            <a:ext cx="3429000" cy="3810001"/>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800"/>
            </a:lvl6pPr>
            <a:lvl7pPr latinLnBrk="0">
              <a:defRPr lang="zh-CN" sz="1800"/>
            </a:lvl7pPr>
            <a:lvl8pPr latinLnBrk="0">
              <a:defRPr lang="zh-CN" sz="1800"/>
            </a:lvl8pPr>
            <a:lvl9pPr latinLnBrk="0">
              <a:defRPr lang="zh-CN"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5" name="日期占位符 4"/>
          <p:cNvSpPr>
            <a:spLocks noGrp="1"/>
          </p:cNvSpPr>
          <p:nvPr>
            <p:ph type="dt" sz="half" idx="10"/>
          </p:nvPr>
        </p:nvSpPr>
        <p:spPr/>
        <p:txBody>
          <a:bodyPr/>
          <a:lstStyle/>
          <a:p>
            <a:fld id="{4563F93A-6675-49B1-B272-AB78494A47C1}" type="datetime1">
              <a:rPr lang="zh-CN" altLang="en-US" smtClean="0"/>
              <a:pPr/>
              <a:t>2019-10-14</a:t>
            </a:fld>
            <a:endParaRPr lang="zh-CN"/>
          </a:p>
        </p:txBody>
      </p:sp>
      <p:sp>
        <p:nvSpPr>
          <p:cNvPr id="6" name="页脚占位符 5"/>
          <p:cNvSpPr>
            <a:spLocks noGrp="1"/>
          </p:cNvSpPr>
          <p:nvPr>
            <p:ph type="ftr" sz="quarter" idx="11"/>
          </p:nvPr>
        </p:nvSpPr>
        <p:spPr/>
        <p:txBody>
          <a:bodyPr/>
          <a:lstStyle/>
          <a:p>
            <a:r>
              <a:rPr lang="zh-CN" altLang="en-US" smtClean="0"/>
              <a:t>国际金融学 范小云</a:t>
            </a:r>
            <a:endParaRPr lang="zh-CN"/>
          </a:p>
        </p:txBody>
      </p:sp>
      <p:sp>
        <p:nvSpPr>
          <p:cNvPr id="7" name="幻灯片编号占位符 6"/>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p>
        </p:txBody>
      </p:sp>
      <p:sp>
        <p:nvSpPr>
          <p:cNvPr id="3" name="文本占位符 2"/>
          <p:cNvSpPr>
            <a:spLocks noGrp="1"/>
          </p:cNvSpPr>
          <p:nvPr>
            <p:ph type="body" idx="1"/>
          </p:nvPr>
        </p:nvSpPr>
        <p:spPr>
          <a:xfrm>
            <a:off x="9715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4" name="内容占位符 3"/>
          <p:cNvSpPr>
            <a:spLocks noGrp="1"/>
          </p:cNvSpPr>
          <p:nvPr>
            <p:ph sz="half" idx="2"/>
          </p:nvPr>
        </p:nvSpPr>
        <p:spPr>
          <a:xfrm>
            <a:off x="9715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5" name="文本占位符 4"/>
          <p:cNvSpPr>
            <a:spLocks noGrp="1"/>
          </p:cNvSpPr>
          <p:nvPr>
            <p:ph type="body" sz="quarter" idx="3"/>
          </p:nvPr>
        </p:nvSpPr>
        <p:spPr>
          <a:xfrm>
            <a:off x="4743450" y="1818322"/>
            <a:ext cx="3429000" cy="641350"/>
          </a:xfrm>
        </p:spPr>
        <p:txBody>
          <a:bodyPr anchor="ctr">
            <a:normAutofit/>
          </a:bodyPr>
          <a:lstStyle>
            <a:lvl1pPr marL="0" indent="0" latinLnBrk="0">
              <a:spcBef>
                <a:spcPts val="0"/>
              </a:spcBef>
              <a:buNone/>
              <a:defRPr lang="zh-CN" sz="2000" b="0">
                <a:solidFill>
                  <a:schemeClr val="accent1"/>
                </a:solidFill>
              </a:defRPr>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smtClean="0"/>
              <a:t>单击此处编辑母版文本样式</a:t>
            </a:r>
          </a:p>
        </p:txBody>
      </p:sp>
      <p:sp>
        <p:nvSpPr>
          <p:cNvPr id="6" name="内容占位符 5"/>
          <p:cNvSpPr>
            <a:spLocks noGrp="1"/>
          </p:cNvSpPr>
          <p:nvPr>
            <p:ph sz="quarter" idx="4"/>
          </p:nvPr>
        </p:nvSpPr>
        <p:spPr>
          <a:xfrm>
            <a:off x="4743450" y="2503714"/>
            <a:ext cx="3429000" cy="3287487"/>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p>
        </p:txBody>
      </p:sp>
      <p:sp>
        <p:nvSpPr>
          <p:cNvPr id="7" name="日期占位符 6"/>
          <p:cNvSpPr>
            <a:spLocks noGrp="1"/>
          </p:cNvSpPr>
          <p:nvPr>
            <p:ph type="dt" sz="half" idx="10"/>
          </p:nvPr>
        </p:nvSpPr>
        <p:spPr/>
        <p:txBody>
          <a:bodyPr/>
          <a:lstStyle/>
          <a:p>
            <a:fld id="{EFE3F164-49FE-47CA-AD0E-694FC8244535}" type="datetime1">
              <a:rPr lang="zh-CN" altLang="en-US" smtClean="0"/>
              <a:pPr/>
              <a:t>2019-10-14</a:t>
            </a:fld>
            <a:endParaRPr lang="zh-CN"/>
          </a:p>
        </p:txBody>
      </p:sp>
      <p:sp>
        <p:nvSpPr>
          <p:cNvPr id="8" name="页脚占位符 7"/>
          <p:cNvSpPr>
            <a:spLocks noGrp="1"/>
          </p:cNvSpPr>
          <p:nvPr>
            <p:ph type="ftr" sz="quarter" idx="11"/>
          </p:nvPr>
        </p:nvSpPr>
        <p:spPr/>
        <p:txBody>
          <a:bodyPr/>
          <a:lstStyle/>
          <a:p>
            <a:r>
              <a:rPr lang="zh-CN" altLang="en-US" smtClean="0"/>
              <a:t>国际金融学 范小云</a:t>
            </a:r>
            <a:endParaRPr lang="zh-CN"/>
          </a:p>
        </p:txBody>
      </p:sp>
      <p:sp>
        <p:nvSpPr>
          <p:cNvPr id="9" name="幻灯片编号占位符 8"/>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日期占位符 2"/>
          <p:cNvSpPr>
            <a:spLocks noGrp="1"/>
          </p:cNvSpPr>
          <p:nvPr>
            <p:ph type="dt" sz="half" idx="10"/>
          </p:nvPr>
        </p:nvSpPr>
        <p:spPr/>
        <p:txBody>
          <a:bodyPr/>
          <a:lstStyle/>
          <a:p>
            <a:fld id="{CBD9AAED-D86B-4435-A478-E7982A9F3D12}" type="datetime1">
              <a:rPr lang="zh-CN" altLang="en-US" smtClean="0"/>
              <a:pPr/>
              <a:t>2019-10-14</a:t>
            </a:fld>
            <a:endParaRPr lang="zh-CN"/>
          </a:p>
        </p:txBody>
      </p:sp>
      <p:sp>
        <p:nvSpPr>
          <p:cNvPr id="4" name="页脚占位符 3"/>
          <p:cNvSpPr>
            <a:spLocks noGrp="1"/>
          </p:cNvSpPr>
          <p:nvPr>
            <p:ph type="ftr" sz="quarter" idx="11"/>
          </p:nvPr>
        </p:nvSpPr>
        <p:spPr/>
        <p:txBody>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r>
              <a:rPr lang="zh-CN" altLang="en-US" sz="1600" dirty="0" smtClean="0">
                <a:solidFill>
                  <a:srgbClr val="1CADE4"/>
                </a:solidFill>
                <a:latin typeface="微软雅黑" panose="020B0503020204020204" pitchFamily="34" charset="-122"/>
                <a:ea typeface="微软雅黑" panose="020B0503020204020204" pitchFamily="34" charset="-122"/>
              </a:rPr>
              <a:t>国际金融学 范小云</a:t>
            </a:r>
            <a:endParaRPr lang="zh-CN" altLang="en-US" sz="1600" dirty="0">
              <a:solidFill>
                <a:srgbClr val="1CADE4"/>
              </a:solidFill>
              <a:latin typeface="微软雅黑" panose="020B0503020204020204" pitchFamily="34" charset="-122"/>
              <a:ea typeface="微软雅黑" panose="020B0503020204020204" pitchFamily="34" charset="-122"/>
            </a:endParaRPr>
          </a:p>
        </p:txBody>
      </p:sp>
      <p:sp>
        <p:nvSpPr>
          <p:cNvPr id="5" name="幻灯片编号占位符 4"/>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12" name="日期占位符 211"/>
          <p:cNvSpPr>
            <a:spLocks noGrp="1"/>
          </p:cNvSpPr>
          <p:nvPr>
            <p:ph type="dt" sz="half" idx="10"/>
          </p:nvPr>
        </p:nvSpPr>
        <p:spPr/>
        <p:txBody>
          <a:bodyPr/>
          <a:lstStyle/>
          <a:p>
            <a:fld id="{8FD5366B-5DD5-4ECC-82BD-E5089146864D}" type="datetime1">
              <a:rPr lang="zh-CN" altLang="en-US" smtClean="0"/>
              <a:pPr/>
              <a:t>2019-10-14</a:t>
            </a:fld>
            <a:endParaRPr lang="zh-CN"/>
          </a:p>
        </p:txBody>
      </p:sp>
      <p:sp>
        <p:nvSpPr>
          <p:cNvPr id="213" name="页脚占位符 212"/>
          <p:cNvSpPr>
            <a:spLocks noGrp="1"/>
          </p:cNvSpPr>
          <p:nvPr>
            <p:ph type="ftr" sz="quarter" idx="11"/>
          </p:nvPr>
        </p:nvSpPr>
        <p:spPr/>
        <p:txBody>
          <a:bodyPr/>
          <a:lstStyle/>
          <a:p>
            <a:r>
              <a:rPr lang="zh-CN" altLang="en-US" smtClean="0"/>
              <a:t>国际金融学 范小云</a:t>
            </a:r>
            <a:endParaRPr lang="zh-CN"/>
          </a:p>
        </p:txBody>
      </p:sp>
      <p:sp>
        <p:nvSpPr>
          <p:cNvPr id="214" name="幻灯片编号占位符 213"/>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组 8"/>
          <p:cNvGrpSpPr/>
          <p:nvPr userDrawn="1"/>
        </p:nvGrpSpPr>
        <p:grpSpPr bwMode="hidden">
          <a:xfrm>
            <a:off x="-1" y="0"/>
            <a:ext cx="9144002" cy="6858000"/>
            <a:chOff x="-1" y="0"/>
            <a:chExt cx="12192002" cy="6858000"/>
          </a:xfrm>
        </p:grpSpPr>
        <p:cxnSp>
          <p:nvCxnSpPr>
            <p:cNvPr id="10" name="直线连接线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直线连接线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组 25"/>
            <p:cNvGrpSpPr/>
            <p:nvPr userDrawn="1"/>
          </p:nvGrpSpPr>
          <p:grpSpPr bwMode="hidden">
            <a:xfrm>
              <a:off x="-1" y="0"/>
              <a:ext cx="12192001" cy="6858000"/>
              <a:chOff x="-1" y="0"/>
              <a:chExt cx="12192001" cy="6858000"/>
            </a:xfrm>
          </p:grpSpPr>
          <p:cxnSp>
            <p:nvCxnSpPr>
              <p:cNvPr id="44" name="直线连接线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直线连接线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组 48"/>
              <p:cNvGrpSpPr/>
              <p:nvPr/>
            </p:nvGrpSpPr>
            <p:grpSpPr bwMode="hidden">
              <a:xfrm>
                <a:off x="6327885" y="0"/>
                <a:ext cx="5864115" cy="5898673"/>
                <a:chOff x="6327885" y="0"/>
                <a:chExt cx="5864115" cy="5898673"/>
              </a:xfrm>
            </p:grpSpPr>
            <p:cxnSp>
              <p:nvCxnSpPr>
                <p:cNvPr id="55" name="直线连接线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直线连接线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直线连接线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直线连接线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组 26"/>
            <p:cNvGrpSpPr/>
            <p:nvPr userDrawn="1"/>
          </p:nvGrpSpPr>
          <p:grpSpPr bwMode="hidden">
            <a:xfrm flipH="1">
              <a:off x="0" y="0"/>
              <a:ext cx="12192001" cy="6858000"/>
              <a:chOff x="-1" y="0"/>
              <a:chExt cx="12192001" cy="6858000"/>
            </a:xfrm>
          </p:grpSpPr>
          <p:cxnSp>
            <p:nvCxnSpPr>
              <p:cNvPr id="28" name="直线连接线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直线连接线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组 32"/>
              <p:cNvGrpSpPr/>
              <p:nvPr/>
            </p:nvGrpSpPr>
            <p:grpSpPr bwMode="hidden">
              <a:xfrm>
                <a:off x="6327885" y="0"/>
                <a:ext cx="5864115" cy="5898673"/>
                <a:chOff x="6327885" y="0"/>
                <a:chExt cx="5864115" cy="5898673"/>
              </a:xfrm>
            </p:grpSpPr>
            <p:cxnSp>
              <p:nvCxnSpPr>
                <p:cNvPr id="39" name="直线连接线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直线连接线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直线连接线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直线连接线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矩形 6"/>
          <p:cNvSpPr/>
          <p:nvPr userDrawn="1"/>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2" name="标题 1"/>
          <p:cNvSpPr>
            <a:spLocks noGrp="1"/>
          </p:cNvSpPr>
          <p:nvPr>
            <p:ph type="title"/>
          </p:nvPr>
        </p:nvSpPr>
        <p:spPr>
          <a:xfrm>
            <a:off x="5934864" y="571500"/>
            <a:ext cx="2743200" cy="2197100"/>
          </a:xfrm>
        </p:spPr>
        <p:txBody>
          <a:bodyPr anchor="b">
            <a:normAutofit/>
          </a:bodyPr>
          <a:lstStyle>
            <a:lvl1pPr latinLnBrk="0">
              <a:defRPr lang="zh-CN" sz="2600">
                <a:solidFill>
                  <a:schemeClr val="bg1"/>
                </a:solidFill>
              </a:defRPr>
            </a:lvl1pPr>
          </a:lstStyle>
          <a:p>
            <a:r>
              <a:rPr lang="zh-CN" altLang="en-US" smtClean="0"/>
              <a:t>单击此处编辑母版标题样式</a:t>
            </a:r>
            <a:endParaRPr lang="zh-CN" dirty="0"/>
          </a:p>
        </p:txBody>
      </p:sp>
      <p:sp>
        <p:nvSpPr>
          <p:cNvPr id="3" name="内容占位符 2"/>
          <p:cNvSpPr>
            <a:spLocks noGrp="1"/>
          </p:cNvSpPr>
          <p:nvPr>
            <p:ph idx="1"/>
          </p:nvPr>
        </p:nvSpPr>
        <p:spPr>
          <a:xfrm>
            <a:off x="407398" y="571500"/>
            <a:ext cx="4663440" cy="5715000"/>
          </a:xfrm>
        </p:spPr>
        <p:txBody>
          <a:bodyPr>
            <a:normAutofit/>
          </a:bodyPr>
          <a:lstStyle>
            <a:lvl1pPr latinLnBrk="0">
              <a:defRPr lang="zh-CN" sz="2000"/>
            </a:lvl1pPr>
            <a:lvl2pPr latinLnBrk="0">
              <a:defRPr lang="zh-CN" sz="1800"/>
            </a:lvl2pPr>
            <a:lvl3pPr latinLnBrk="0">
              <a:defRPr lang="zh-CN" sz="1600"/>
            </a:lvl3pPr>
            <a:lvl4pPr latinLnBrk="0">
              <a:defRPr lang="zh-CN" sz="1400"/>
            </a:lvl4pPr>
            <a:lvl5pPr latinLnBrk="0">
              <a:defRPr lang="zh-CN" sz="1400"/>
            </a:lvl5pPr>
            <a:lvl6pPr latinLnBrk="0">
              <a:defRPr lang="zh-CN" sz="2000"/>
            </a:lvl6pPr>
            <a:lvl7pPr latinLnBrk="0">
              <a:defRPr lang="zh-CN" sz="2000"/>
            </a:lvl7pPr>
            <a:lvl8pPr latinLnBrk="0">
              <a:defRPr lang="zh-CN" sz="2000"/>
            </a:lvl8pPr>
            <a:lvl9pPr latinLnBrk="0">
              <a:defRPr lang="zh-CN"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文本占位符 3"/>
          <p:cNvSpPr>
            <a:spLocks noGrp="1"/>
          </p:cNvSpPr>
          <p:nvPr>
            <p:ph type="body" sz="half" idx="2"/>
          </p:nvPr>
        </p:nvSpPr>
        <p:spPr>
          <a:xfrm>
            <a:off x="5934864" y="2995012"/>
            <a:ext cx="2743200" cy="2285950"/>
          </a:xfrm>
        </p:spPr>
        <p:txBody>
          <a:bodyPr>
            <a:normAutofit/>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cxnSp>
        <p:nvCxnSpPr>
          <p:cNvPr id="60" name="直线连接线 59"/>
          <p:cNvCxnSpPr/>
          <p:nvPr userDrawn="1"/>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日期占位符 4"/>
          <p:cNvSpPr>
            <a:spLocks noGrp="1"/>
          </p:cNvSpPr>
          <p:nvPr>
            <p:ph type="dt" sz="half" idx="10"/>
          </p:nvPr>
        </p:nvSpPr>
        <p:spPr/>
        <p:txBody>
          <a:bodyPr/>
          <a:lstStyle/>
          <a:p>
            <a:fld id="{4E4E324D-2A43-40A1-B3DC-C387EAFC4699}" type="datetime1">
              <a:rPr lang="zh-CN" altLang="en-US" smtClean="0"/>
              <a:pPr/>
              <a:t>2019-10-14</a:t>
            </a:fld>
            <a:endParaRPr lang="zh-CN"/>
          </a:p>
        </p:txBody>
      </p:sp>
      <p:sp>
        <p:nvSpPr>
          <p:cNvPr id="6" name="页脚占位符 5"/>
          <p:cNvSpPr>
            <a:spLocks noGrp="1"/>
          </p:cNvSpPr>
          <p:nvPr>
            <p:ph type="ftr" sz="quarter" idx="11"/>
          </p:nvPr>
        </p:nvSpPr>
        <p:spPr/>
        <p:txBody>
          <a:bodyPr/>
          <a:lstStyle/>
          <a:p>
            <a:r>
              <a:rPr lang="zh-CN" altLang="en-US" smtClean="0"/>
              <a:t>国际金融学 范小云</a:t>
            </a:r>
            <a:endParaRPr lang="zh-CN"/>
          </a:p>
        </p:txBody>
      </p:sp>
      <p:sp>
        <p:nvSpPr>
          <p:cNvPr id="8" name="幻灯片编号占位符 7"/>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题注">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组 7"/>
          <p:cNvGrpSpPr/>
          <p:nvPr/>
        </p:nvGrpSpPr>
        <p:grpSpPr bwMode="hidden">
          <a:xfrm>
            <a:off x="-1" y="0"/>
            <a:ext cx="9144002" cy="6858000"/>
            <a:chOff x="-1" y="0"/>
            <a:chExt cx="12192002" cy="6858000"/>
          </a:xfrm>
        </p:grpSpPr>
        <p:cxnSp>
          <p:nvCxnSpPr>
            <p:cNvPr id="9" name="直线连接线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线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直线连接线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直线连接线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线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直线连接线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线连接线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线连接线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直线连接线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直线连接线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直线连接线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线连接线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直线连接线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直线连接线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直线连接线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直线连接线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组 24"/>
            <p:cNvGrpSpPr/>
            <p:nvPr/>
          </p:nvGrpSpPr>
          <p:grpSpPr bwMode="hidden">
            <a:xfrm>
              <a:off x="-1" y="0"/>
              <a:ext cx="12192001" cy="6858000"/>
              <a:chOff x="-1" y="0"/>
              <a:chExt cx="12192001" cy="6858000"/>
            </a:xfrm>
          </p:grpSpPr>
          <p:cxnSp>
            <p:nvCxnSpPr>
              <p:cNvPr id="43" name="直线连接线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直线连接线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直线连接线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直线连接线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直线连接线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组 47"/>
              <p:cNvGrpSpPr/>
              <p:nvPr/>
            </p:nvGrpSpPr>
            <p:grpSpPr bwMode="hidden">
              <a:xfrm>
                <a:off x="6327885" y="0"/>
                <a:ext cx="5864115" cy="5898673"/>
                <a:chOff x="6327885" y="0"/>
                <a:chExt cx="5864115" cy="5898673"/>
              </a:xfrm>
            </p:grpSpPr>
            <p:cxnSp>
              <p:nvCxnSpPr>
                <p:cNvPr id="54" name="直线连接线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直线连接线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直线连接线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直线连接线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直线连接线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直线连接线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直线连接线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直线连接线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直线连接线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线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组 25"/>
            <p:cNvGrpSpPr/>
            <p:nvPr/>
          </p:nvGrpSpPr>
          <p:grpSpPr bwMode="hidden">
            <a:xfrm flipH="1">
              <a:off x="0" y="0"/>
              <a:ext cx="12192001" cy="6858000"/>
              <a:chOff x="-1" y="0"/>
              <a:chExt cx="12192001" cy="6858000"/>
            </a:xfrm>
          </p:grpSpPr>
          <p:cxnSp>
            <p:nvCxnSpPr>
              <p:cNvPr id="27" name="直线连接线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直线连接线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线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线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线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组 31"/>
              <p:cNvGrpSpPr/>
              <p:nvPr/>
            </p:nvGrpSpPr>
            <p:grpSpPr bwMode="hidden">
              <a:xfrm>
                <a:off x="6327885" y="0"/>
                <a:ext cx="5864115" cy="5898673"/>
                <a:chOff x="6327885" y="0"/>
                <a:chExt cx="5864115" cy="5898673"/>
              </a:xfrm>
            </p:grpSpPr>
            <p:cxnSp>
              <p:nvCxnSpPr>
                <p:cNvPr id="38" name="直线连接线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直线连接线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直线连接线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线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线连接线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直线连接线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线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线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线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直线连接线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矩形 59"/>
          <p:cNvSpPr/>
          <p:nvPr/>
        </p:nvSpPr>
        <p:spPr>
          <a:xfrm>
            <a:off x="0" y="0"/>
            <a:ext cx="54864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ea typeface="Microsoft YaHei UI" panose="020B0503020204020204" pitchFamily="34" charset="-122"/>
            </a:endParaRPr>
          </a:p>
        </p:txBody>
      </p:sp>
      <p:sp>
        <p:nvSpPr>
          <p:cNvPr id="3" name="图片占位符 2"/>
          <p:cNvSpPr>
            <a:spLocks noGrp="1"/>
          </p:cNvSpPr>
          <p:nvPr>
            <p:ph type="pic" idx="1"/>
          </p:nvPr>
        </p:nvSpPr>
        <p:spPr>
          <a:xfrm>
            <a:off x="3309" y="-159"/>
            <a:ext cx="5486400" cy="6858000"/>
          </a:xfrm>
        </p:spPr>
        <p:txBody>
          <a:bodyPr tIns="457200">
            <a:normAutofit/>
          </a:bodyPr>
          <a:lstStyle>
            <a:lvl1pPr marL="0" indent="0" algn="ctr" latinLnBrk="0">
              <a:buNone/>
              <a:defRPr lang="zh-CN" sz="20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smtClean="0"/>
              <a:t>单击图标添加图片</a:t>
            </a:r>
            <a:endParaRPr lang="zh-CN" dirty="0"/>
          </a:p>
        </p:txBody>
      </p:sp>
      <p:cxnSp>
        <p:nvCxnSpPr>
          <p:cNvPr id="59" name="直线连接线 58"/>
          <p:cNvCxnSpPr/>
          <p:nvPr/>
        </p:nvCxnSpPr>
        <p:spPr>
          <a:xfrm>
            <a:off x="5942317" y="2895600"/>
            <a:ext cx="274448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nvPr>
        </p:nvSpPr>
        <p:spPr>
          <a:xfrm>
            <a:off x="5932170" y="576072"/>
            <a:ext cx="2743200" cy="2194560"/>
          </a:xfrm>
        </p:spPr>
        <p:txBody>
          <a:bodyPr anchor="b">
            <a:normAutofit/>
          </a:bodyPr>
          <a:lstStyle>
            <a:lvl1pPr latinLnBrk="0">
              <a:defRPr lang="zh-CN" sz="2600">
                <a:solidFill>
                  <a:schemeClr val="bg1"/>
                </a:solidFill>
              </a:defRPr>
            </a:lvl1pPr>
          </a:lstStyle>
          <a:p>
            <a:r>
              <a:rPr lang="zh-CN" altLang="en-US" smtClean="0"/>
              <a:t>单击此处编辑母版标题样式</a:t>
            </a:r>
            <a:endParaRPr lang="zh-CN" dirty="0"/>
          </a:p>
        </p:txBody>
      </p:sp>
      <p:sp>
        <p:nvSpPr>
          <p:cNvPr id="4" name="文本占位符 3"/>
          <p:cNvSpPr>
            <a:spLocks noGrp="1"/>
          </p:cNvSpPr>
          <p:nvPr>
            <p:ph type="body" sz="half" idx="2"/>
          </p:nvPr>
        </p:nvSpPr>
        <p:spPr>
          <a:xfrm>
            <a:off x="5932170" y="2999232"/>
            <a:ext cx="2743200" cy="2286000"/>
          </a:xfrm>
        </p:spPr>
        <p:txBody>
          <a:bodyPr/>
          <a:lstStyle>
            <a:lvl1pPr marL="0" indent="0" latinLnBrk="0">
              <a:spcBef>
                <a:spcPts val="1200"/>
              </a:spcBef>
              <a:buNone/>
              <a:defRPr lang="zh-CN" sz="1600">
                <a:solidFill>
                  <a:schemeClr val="bg1"/>
                </a:solidFill>
              </a:defRPr>
            </a:lvl1pPr>
            <a:lvl2pPr marL="457200" indent="0" latinLnBrk="0">
              <a:buNone/>
              <a:defRPr lang="zh-CN" sz="1400"/>
            </a:lvl2pPr>
            <a:lvl3pPr marL="914400" indent="0" latinLnBrk="0">
              <a:buNone/>
              <a:defRPr lang="zh-CN" sz="1200"/>
            </a:lvl3pPr>
            <a:lvl4pPr marL="1371600" indent="0" latinLnBrk="0">
              <a:buNone/>
              <a:defRPr lang="zh-CN" sz="1000"/>
            </a:lvl4pPr>
            <a:lvl5pPr marL="1828800" indent="0" latinLnBrk="0">
              <a:buNone/>
              <a:defRPr lang="zh-CN" sz="1000"/>
            </a:lvl5pPr>
            <a:lvl6pPr marL="2286000" indent="0" latinLnBrk="0">
              <a:buNone/>
              <a:defRPr lang="zh-CN" sz="1000"/>
            </a:lvl6pPr>
            <a:lvl7pPr marL="2743200" indent="0" latinLnBrk="0">
              <a:buNone/>
              <a:defRPr lang="zh-CN" sz="1000"/>
            </a:lvl7pPr>
            <a:lvl8pPr marL="3200400" indent="0" latinLnBrk="0">
              <a:buNone/>
              <a:defRPr lang="zh-CN" sz="1000"/>
            </a:lvl8pPr>
            <a:lvl9pPr marL="3657600" indent="0" latinLnBrk="0">
              <a:buNone/>
              <a:defRPr lang="zh-CN" sz="1000"/>
            </a:lvl9pPr>
          </a:lstStyle>
          <a:p>
            <a:pPr lvl="0"/>
            <a:r>
              <a:rPr lang="zh-CN" altLang="en-US" smtClean="0"/>
              <a:t>单击此处编辑母版文本样式</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3B70A53E-5BDE-449A-8325-0FD352C24776}" type="datetime1">
              <a:rPr lang="zh-CN" altLang="en-US" smtClean="0"/>
              <a:pPr/>
              <a:t>2019-10-14</a:t>
            </a:fld>
            <a:endParaRPr lang="zh-CN"/>
          </a:p>
        </p:txBody>
      </p:sp>
      <p:sp>
        <p:nvSpPr>
          <p:cNvPr id="5" name="页脚占位符 4"/>
          <p:cNvSpPr>
            <a:spLocks noGrp="1"/>
          </p:cNvSpPr>
          <p:nvPr>
            <p:ph type="ftr" sz="quarter" idx="11"/>
          </p:nvPr>
        </p:nvSpPr>
        <p:spPr/>
        <p:txBody>
          <a:bodyPr/>
          <a:lstStyle/>
          <a:p>
            <a:r>
              <a:rPr lang="zh-CN" altLang="en-US" smtClean="0"/>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06985" y="489857"/>
            <a:ext cx="1265465" cy="5301343"/>
          </a:xfrm>
        </p:spPr>
        <p:txBody>
          <a:bodyPr vert="eaVert"/>
          <a:lstStyle/>
          <a:p>
            <a:r>
              <a:rPr lang="zh-CN" altLang="en-US" smtClean="0"/>
              <a:t>单击此处编辑母版标题样式</a:t>
            </a:r>
            <a:endParaRPr lang="zh-CN" dirty="0"/>
          </a:p>
        </p:txBody>
      </p:sp>
      <p:sp>
        <p:nvSpPr>
          <p:cNvPr id="3" name="竖排文字占位符 2"/>
          <p:cNvSpPr>
            <a:spLocks noGrp="1"/>
          </p:cNvSpPr>
          <p:nvPr>
            <p:ph type="body" orient="vert" idx="1"/>
          </p:nvPr>
        </p:nvSpPr>
        <p:spPr>
          <a:xfrm>
            <a:off x="971549" y="489857"/>
            <a:ext cx="5690508" cy="530134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dirty="0"/>
          </a:p>
        </p:txBody>
      </p:sp>
      <p:sp>
        <p:nvSpPr>
          <p:cNvPr id="4" name="日期占位符 3"/>
          <p:cNvSpPr>
            <a:spLocks noGrp="1"/>
          </p:cNvSpPr>
          <p:nvPr>
            <p:ph type="dt" sz="half" idx="10"/>
          </p:nvPr>
        </p:nvSpPr>
        <p:spPr/>
        <p:txBody>
          <a:bodyPr/>
          <a:lstStyle/>
          <a:p>
            <a:fld id="{27B70614-4D03-45B4-BA67-24D892EC8565}" type="datetime1">
              <a:rPr lang="zh-CN" altLang="en-US" smtClean="0"/>
              <a:pPr/>
              <a:t>2019-10-14</a:t>
            </a:fld>
            <a:endParaRPr lang="zh-CN"/>
          </a:p>
        </p:txBody>
      </p:sp>
      <p:sp>
        <p:nvSpPr>
          <p:cNvPr id="5" name="页脚占位符 4"/>
          <p:cNvSpPr>
            <a:spLocks noGrp="1"/>
          </p:cNvSpPr>
          <p:nvPr>
            <p:ph type="ftr" sz="quarter" idx="11"/>
          </p:nvPr>
        </p:nvSpPr>
        <p:spPr/>
        <p:txBody>
          <a:bodyPr/>
          <a:lstStyle/>
          <a:p>
            <a:r>
              <a:rPr lang="zh-CN" altLang="en-US" smtClean="0"/>
              <a:t>国际金融学 范小云</a:t>
            </a:r>
            <a:endParaRPr lang="zh-CN"/>
          </a:p>
        </p:txBody>
      </p:sp>
      <p:sp>
        <p:nvSpPr>
          <p:cNvPr id="6" name="幻灯片编号占位符 5"/>
          <p:cNvSpPr>
            <a:spLocks noGrp="1"/>
          </p:cNvSpPr>
          <p:nvPr>
            <p:ph type="sldNum" sz="quarter" idx="12"/>
          </p:nvPr>
        </p:nvSpPr>
        <p:spPr/>
        <p:txBody>
          <a:bodyPr/>
          <a:lstStyle/>
          <a:p>
            <a:fld id="{E31375A4-56A4-47D6-9801-1991572033F7}" type="slidenum">
              <a:rPr/>
              <a:pPr/>
              <a:t>‹#›</a:t>
            </a:fld>
            <a:endParaRPr lang="zh-CN"/>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971550" y="503854"/>
            <a:ext cx="7200900" cy="1142385"/>
          </a:xfrm>
          <a:prstGeom prst="rect">
            <a:avLst/>
          </a:prstGeom>
        </p:spPr>
        <p:txBody>
          <a:bodyPr vert="horz" lIns="91440" tIns="45720" rIns="91440" bIns="45720" rtlCol="0" anchor="b">
            <a:normAutofit/>
          </a:bodyPr>
          <a:lstStyle/>
          <a:p>
            <a:r>
              <a:rPr lang="zh-CN" dirty="0"/>
              <a:t>单击此处编辑母版标题样式</a:t>
            </a:r>
          </a:p>
        </p:txBody>
      </p:sp>
      <p:sp>
        <p:nvSpPr>
          <p:cNvPr id="3" name="文本占位符 2"/>
          <p:cNvSpPr>
            <a:spLocks noGrp="1"/>
          </p:cNvSpPr>
          <p:nvPr>
            <p:ph type="body" idx="1"/>
          </p:nvPr>
        </p:nvSpPr>
        <p:spPr>
          <a:xfrm>
            <a:off x="971550" y="1981202"/>
            <a:ext cx="7200900" cy="3809999"/>
          </a:xfrm>
          <a:prstGeom prst="rect">
            <a:avLst/>
          </a:prstGeom>
        </p:spPr>
        <p:txBody>
          <a:bodyPr vert="horz" lIns="91440" tIns="45720" rIns="91440" bIns="45720" rtlCol="0">
            <a:normAutofit/>
          </a:bodyPr>
          <a:lstStyle/>
          <a:p>
            <a:pPr lvl="0"/>
            <a:r>
              <a:rPr lang="zh-CN" dirty="0"/>
              <a:t>单击此处编辑母版文本样式</a:t>
            </a:r>
          </a:p>
          <a:p>
            <a:pPr lvl="1"/>
            <a:r>
              <a:rPr lang="zh-CN" dirty="0"/>
              <a:t>第二级</a:t>
            </a:r>
          </a:p>
          <a:p>
            <a:pPr lvl="2"/>
            <a:r>
              <a:rPr lang="zh-CN" dirty="0"/>
              <a:t>第三级</a:t>
            </a:r>
          </a:p>
          <a:p>
            <a:pPr lvl="3"/>
            <a:r>
              <a:rPr lang="zh-CN" dirty="0"/>
              <a:t>第四级</a:t>
            </a:r>
          </a:p>
          <a:p>
            <a:pPr lvl="4"/>
            <a:r>
              <a:rPr lang="zh-CN" dirty="0"/>
              <a:t>第五级</a:t>
            </a:r>
          </a:p>
        </p:txBody>
      </p:sp>
      <p:sp>
        <p:nvSpPr>
          <p:cNvPr id="4" name="日期占位符 3"/>
          <p:cNvSpPr>
            <a:spLocks noGrp="1"/>
          </p:cNvSpPr>
          <p:nvPr>
            <p:ph type="dt" sz="half" idx="2"/>
          </p:nvPr>
        </p:nvSpPr>
        <p:spPr>
          <a:xfrm>
            <a:off x="6970531" y="6289679"/>
            <a:ext cx="724460"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27321F5A-E3A2-4B01-A540-357B93D3E2B1}" type="datetime1">
              <a:rPr lang="zh-CN" altLang="en-US" smtClean="0"/>
              <a:pPr/>
              <a:t>2019-10-14</a:t>
            </a:fld>
            <a:endParaRPr lang="zh-CN" altLang="en-US" dirty="0"/>
          </a:p>
        </p:txBody>
      </p:sp>
      <p:sp>
        <p:nvSpPr>
          <p:cNvPr id="5" name="页脚占位符 4"/>
          <p:cNvSpPr>
            <a:spLocks noGrp="1"/>
          </p:cNvSpPr>
          <p:nvPr>
            <p:ph type="ftr" sz="quarter" idx="3"/>
          </p:nvPr>
        </p:nvSpPr>
        <p:spPr>
          <a:xfrm>
            <a:off x="457201" y="6289679"/>
            <a:ext cx="4596023" cy="222436"/>
          </a:xfrm>
          <a:prstGeom prst="rect">
            <a:avLst/>
          </a:prstGeom>
        </p:spPr>
        <p:txBody>
          <a:bodyPr vert="horz" lIns="91440" tIns="45720" rIns="91440" bIns="45720" rtlCol="0" anchor="ctr"/>
          <a:lstStyle>
            <a:lvl1pPr algn="l" latinLnBrk="0">
              <a:defRPr lang="zh-CN" sz="800">
                <a:solidFill>
                  <a:schemeClr val="tx1">
                    <a:lumMod val="50000"/>
                    <a:lumOff val="50000"/>
                  </a:schemeClr>
                </a:solidFill>
                <a:ea typeface="Microsoft YaHei UI" panose="020B0503020204020204" pitchFamily="34" charset="-122"/>
              </a:defRPr>
            </a:lvl1pPr>
          </a:lstStyle>
          <a:p>
            <a:r>
              <a:rPr lang="zh-CN" altLang="en-US" smtClean="0"/>
              <a:t>国际金融学 范小云</a:t>
            </a:r>
            <a:endParaRPr lang="zh-CN" altLang="en-US" dirty="0"/>
          </a:p>
        </p:txBody>
      </p:sp>
      <p:sp>
        <p:nvSpPr>
          <p:cNvPr id="6" name="幻灯片编号占位符 5"/>
          <p:cNvSpPr>
            <a:spLocks noGrp="1"/>
          </p:cNvSpPr>
          <p:nvPr>
            <p:ph type="sldNum" sz="quarter" idx="4"/>
          </p:nvPr>
        </p:nvSpPr>
        <p:spPr>
          <a:xfrm>
            <a:off x="7998983" y="6289679"/>
            <a:ext cx="689162" cy="222436"/>
          </a:xfrm>
          <a:prstGeom prst="rect">
            <a:avLst/>
          </a:prstGeom>
        </p:spPr>
        <p:txBody>
          <a:bodyPr vert="horz" lIns="91440" tIns="45720" rIns="91440" bIns="45720" rtlCol="0" anchor="ctr"/>
          <a:lstStyle>
            <a:lvl1pPr algn="r" latinLnBrk="0">
              <a:defRPr lang="zh-CN" sz="800">
                <a:solidFill>
                  <a:schemeClr val="tx1">
                    <a:lumMod val="50000"/>
                    <a:lumOff val="50000"/>
                  </a:schemeClr>
                </a:solidFill>
                <a:ea typeface="Microsoft YaHei UI" panose="020B0503020204020204" pitchFamily="34" charset="-122"/>
              </a:defRPr>
            </a:lvl1pPr>
          </a:lstStyle>
          <a:p>
            <a:fld id="{E31375A4-56A4-47D6-9801-1991572033F7}" type="slidenum">
              <a:rPr lang="en-US" altLang="zh-CN" smtClean="0"/>
              <a:pPr/>
              <a:t>‹#›</a:t>
            </a:fld>
            <a:endParaRPr lang="en-US" altLang="zh-CN" dirty="0"/>
          </a:p>
        </p:txBody>
      </p:sp>
      <p:cxnSp>
        <p:nvCxnSpPr>
          <p:cNvPr id="148" name="直线连接线 147"/>
          <p:cNvCxnSpPr/>
          <p:nvPr userDrawn="1"/>
        </p:nvCxnSpPr>
        <p:spPr>
          <a:xfrm>
            <a:off x="457200" y="6172200"/>
            <a:ext cx="82296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sldNum="0" hdr="0" dt="0"/>
  <p:txStyles>
    <p:titleStyle>
      <a:lvl1pPr algn="l" defTabSz="914400" rtl="0" eaLnBrk="1" latinLnBrk="0" hangingPunct="1">
        <a:lnSpc>
          <a:spcPct val="90000"/>
        </a:lnSpc>
        <a:spcBef>
          <a:spcPct val="0"/>
        </a:spcBef>
        <a:buNone/>
        <a:defRPr lang="zh-CN" sz="3200" b="1" kern="1200">
          <a:solidFill>
            <a:schemeClr val="accent1"/>
          </a:solidFill>
          <a:latin typeface="+mj-lt"/>
          <a:ea typeface="Microsoft YaHei UI" panose="020B0503020204020204" pitchFamily="34" charset="-122"/>
          <a:cs typeface="+mj-cs"/>
        </a:defRPr>
      </a:lvl1pPr>
    </p:titleStyle>
    <p:bodyStyle>
      <a:lvl1pPr marL="228600" indent="-228600" algn="l" defTabSz="914400" rtl="0" eaLnBrk="1" latinLnBrk="0" hangingPunct="1">
        <a:lnSpc>
          <a:spcPct val="90000"/>
        </a:lnSpc>
        <a:spcBef>
          <a:spcPts val="1800"/>
        </a:spcBef>
        <a:buClr>
          <a:schemeClr val="accent1"/>
        </a:buClr>
        <a:buSzPct val="100000"/>
        <a:buFont typeface="Arial" pitchFamily="34" charset="0"/>
        <a:buChar char="▪"/>
        <a:defRPr lang="zh-CN" sz="2000" kern="1200">
          <a:solidFill>
            <a:schemeClr val="tx1"/>
          </a:solidFill>
          <a:latin typeface="+mn-lt"/>
          <a:ea typeface="Microsoft YaHei UI" panose="020B0503020204020204" pitchFamily="34" charset="-122"/>
          <a:cs typeface="+mn-cs"/>
        </a:defRPr>
      </a:lvl1pPr>
      <a:lvl2pPr marL="457200" indent="-182880" algn="l" defTabSz="914400" rtl="0" eaLnBrk="1" latinLnBrk="0" hangingPunct="1">
        <a:lnSpc>
          <a:spcPct val="90000"/>
        </a:lnSpc>
        <a:spcBef>
          <a:spcPts val="1200"/>
        </a:spcBef>
        <a:buClr>
          <a:schemeClr val="accent1"/>
        </a:buClr>
        <a:buSzPct val="100000"/>
        <a:buFont typeface="Arial" pitchFamily="34" charset="0"/>
        <a:buChar char="▪"/>
        <a:defRPr lang="zh-CN" sz="1800" kern="1200">
          <a:solidFill>
            <a:schemeClr val="tx1"/>
          </a:solidFill>
          <a:latin typeface="+mn-lt"/>
          <a:ea typeface="Microsoft YaHei UI" panose="020B0503020204020204" pitchFamily="34" charset="-122"/>
          <a:cs typeface="+mn-cs"/>
        </a:defRPr>
      </a:lvl2pPr>
      <a:lvl3pPr marL="685800" indent="-179388" algn="l" defTabSz="914400" rtl="0" eaLnBrk="1" latinLnBrk="0" hangingPunct="1">
        <a:lnSpc>
          <a:spcPct val="90000"/>
        </a:lnSpc>
        <a:spcBef>
          <a:spcPts val="800"/>
        </a:spcBef>
        <a:buClr>
          <a:schemeClr val="accent1"/>
        </a:buClr>
        <a:buSzPct val="100000"/>
        <a:buFont typeface="Arial" pitchFamily="34" charset="0"/>
        <a:buChar char="▪"/>
        <a:defRPr lang="zh-CN" sz="1600" kern="1200">
          <a:solidFill>
            <a:schemeClr val="tx1"/>
          </a:solidFill>
          <a:latin typeface="+mn-lt"/>
          <a:ea typeface="Microsoft YaHei UI" panose="020B0503020204020204" pitchFamily="34" charset="-122"/>
          <a:cs typeface="+mn-cs"/>
        </a:defRPr>
      </a:lvl3pPr>
      <a:lvl4pPr marL="914400" indent="-182880" algn="l" defTabSz="914400" rtl="0" eaLnBrk="1" latinLnBrk="0" hangingPunct="1">
        <a:lnSpc>
          <a:spcPct val="90000"/>
        </a:lnSpc>
        <a:spcBef>
          <a:spcPts val="8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4pPr>
      <a:lvl5pPr marL="11430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icrosoft YaHei UI" panose="020B0503020204020204" pitchFamily="34" charset="-122"/>
          <a:cs typeface="+mn-cs"/>
        </a:defRPr>
      </a:lvl5pPr>
      <a:lvl6pPr marL="13716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8pPr>
      <a:lvl9pPr marL="2057400" indent="-179388" algn="l" defTabSz="914400" rtl="0" eaLnBrk="1" latinLnBrk="0" hangingPunct="1">
        <a:lnSpc>
          <a:spcPct val="90000"/>
        </a:lnSpc>
        <a:spcBef>
          <a:spcPts val="600"/>
        </a:spcBef>
        <a:buClr>
          <a:schemeClr val="accent1"/>
        </a:buClr>
        <a:buSzPct val="100000"/>
        <a:buFont typeface="Arial" pitchFamily="34" charset="0"/>
        <a:buChar char="▪"/>
        <a:defRPr lang="zh-CN" sz="1400" kern="1200">
          <a:solidFill>
            <a:schemeClr val="tx1"/>
          </a:solidFill>
          <a:latin typeface="+mn-lt"/>
          <a:ea typeface="+mn-ea"/>
          <a:cs typeface="+mn-cs"/>
        </a:defRPr>
      </a:lvl9pPr>
    </p:bodyStyle>
    <p:otherStyle>
      <a:defPPr>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2.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国际金融学</a:t>
            </a:r>
            <a:endParaRPr lang="zh-CN" dirty="0"/>
          </a:p>
        </p:txBody>
      </p:sp>
      <p:sp>
        <p:nvSpPr>
          <p:cNvPr id="3" name="副标题 2"/>
          <p:cNvSpPr>
            <a:spLocks noGrp="1"/>
          </p:cNvSpPr>
          <p:nvPr>
            <p:ph type="subTitle" idx="1"/>
          </p:nvPr>
        </p:nvSpPr>
        <p:spPr/>
        <p:txBody>
          <a:bodyPr>
            <a:normAutofit/>
          </a:bodyPr>
          <a:lstStyle/>
          <a:p>
            <a:r>
              <a:rPr lang="zh-CN" altLang="en-US" sz="1800" dirty="0"/>
              <a:t>主讲人 范小云  </a:t>
            </a:r>
            <a:r>
              <a:rPr lang="en-US" altLang="zh-CN" sz="1800" dirty="0"/>
              <a:t>E-mail: </a:t>
            </a:r>
            <a:r>
              <a:rPr lang="en-US" altLang="zh-CN" sz="1800" dirty="0" smtClean="0"/>
              <a:t>fanxiaoyun@vip.sina.com  </a:t>
            </a:r>
            <a:r>
              <a:rPr lang="en-US" altLang="zh-CN" sz="1800" dirty="0"/>
              <a:t>Tel.: </a:t>
            </a:r>
            <a:r>
              <a:rPr lang="en-US" altLang="zh-CN" sz="1800" dirty="0" smtClean="0"/>
              <a:t>13032213932</a:t>
            </a:r>
            <a:endParaRPr lang="en-US" altLang="zh-CN" sz="1800" dirty="0"/>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1016155" y="1639229"/>
            <a:ext cx="7200900" cy="2327464"/>
          </a:xfrm>
        </p:spPr>
        <p:txBody>
          <a:bodyPr>
            <a:noAutofit/>
          </a:bodyPr>
          <a:lstStyle/>
          <a:p>
            <a:pPr algn="ctr">
              <a:lnSpc>
                <a:spcPct val="100000"/>
              </a:lnSpc>
            </a:pPr>
            <a:r>
              <a:rPr lang="zh-CN" altLang="en-US" sz="4000" dirty="0">
                <a:latin typeface="微软雅黑" panose="020B0503020204020204" pitchFamily="34" charset="-122"/>
                <a:ea typeface="微软雅黑" panose="020B0503020204020204" pitchFamily="34" charset="-122"/>
              </a:rPr>
              <a:t>第三章</a:t>
            </a:r>
            <a:br>
              <a:rPr lang="zh-CN" altLang="en-US" sz="4000"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	</a:t>
            </a:r>
            <a:br>
              <a:rPr lang="zh-CN" altLang="en-US" sz="4000"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固定汇率制下的汇率理论</a:t>
            </a:r>
            <a:br>
              <a:rPr lang="zh-CN" altLang="en-US" sz="4000" dirty="0">
                <a:latin typeface="微软雅黑" panose="020B0503020204020204" pitchFamily="34" charset="-122"/>
                <a:ea typeface="微软雅黑" panose="020B0503020204020204" pitchFamily="34" charset="-122"/>
              </a:rPr>
            </a:br>
            <a:r>
              <a:rPr lang="en-US" altLang="zh-CN" sz="4000" dirty="0">
                <a:latin typeface="微软雅黑" panose="020B0503020204020204" pitchFamily="34" charset="-122"/>
                <a:ea typeface="微软雅黑" panose="020B0503020204020204" pitchFamily="34" charset="-122"/>
              </a:rPr>
              <a:t>——</a:t>
            </a:r>
            <a:r>
              <a:rPr lang="zh-CN" altLang="en-US" sz="4000" dirty="0">
                <a:latin typeface="微软雅黑" panose="020B0503020204020204" pitchFamily="34" charset="-122"/>
                <a:ea typeface="微软雅黑" panose="020B0503020204020204" pitchFamily="34" charset="-122"/>
              </a:rPr>
              <a:t>国际收支理论</a:t>
            </a:r>
          </a:p>
        </p:txBody>
      </p:sp>
      <p:sp>
        <p:nvSpPr>
          <p:cNvPr id="4" name="页脚占位符 3"/>
          <p:cNvSpPr>
            <a:spLocks noGrp="1"/>
          </p:cNvSpPr>
          <p:nvPr>
            <p:ph type="ftr" sz="quarter" idx="11"/>
          </p:nvPr>
        </p:nvSpPr>
        <p:spPr/>
        <p:txBody>
          <a:bodyPr/>
          <a:lstStyle/>
          <a:p>
            <a:pPr lvl="0"/>
            <a:r>
              <a:rPr lang="zh-CN" altLang="en-US" sz="1600" dirty="0">
                <a:solidFill>
                  <a:srgbClr val="1CADE4"/>
                </a:solidFill>
                <a:latin typeface="微软雅黑" panose="020B0503020204020204" pitchFamily="34" charset="-122"/>
                <a:ea typeface="微软雅黑" panose="020B0503020204020204" pitchFamily="34" charset="-122"/>
              </a:rPr>
              <a:t>国际金融学 范小云</a:t>
            </a:r>
          </a:p>
        </p:txBody>
      </p:sp>
    </p:spTree>
    <p:extLst>
      <p:ext uri="{BB962C8B-B14F-4D97-AF65-F5344CB8AC3E}">
        <p14:creationId xmlns:p14="http://schemas.microsoft.com/office/powerpoint/2010/main" val="5103450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26" name="Rectangle 2"/>
          <p:cNvSpPr txBox="1">
            <a:spLocks noChangeArrowheads="1"/>
          </p:cNvSpPr>
          <p:nvPr/>
        </p:nvSpPr>
        <p:spPr>
          <a:xfrm>
            <a:off x="438147" y="1622737"/>
            <a:ext cx="2447925" cy="57049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lang="zh-CN" sz="3200" b="1" kern="1200">
                <a:solidFill>
                  <a:schemeClr val="accent1"/>
                </a:solidFill>
                <a:latin typeface="+mj-lt"/>
                <a:ea typeface="Microsoft YaHei UI" panose="020B0503020204020204" pitchFamily="34" charset="-122"/>
                <a:cs typeface="+mj-cs"/>
              </a:defRPr>
            </a:lvl1pPr>
          </a:lstStyle>
          <a:p>
            <a:r>
              <a:rPr lang="zh-CN" altLang="en-US" sz="2800" b="0" dirty="0" smtClean="0">
                <a:solidFill>
                  <a:schemeClr val="tx1"/>
                </a:solidFill>
                <a:latin typeface="微软雅黑" panose="020B0503020204020204" pitchFamily="34" charset="-122"/>
                <a:ea typeface="微软雅黑" panose="020B0503020204020204" pitchFamily="34" charset="-122"/>
              </a:rPr>
              <a:t>国际收支失衡</a:t>
            </a:r>
          </a:p>
        </p:txBody>
      </p:sp>
      <p:grpSp>
        <p:nvGrpSpPr>
          <p:cNvPr id="38" name="组合 37"/>
          <p:cNvGrpSpPr/>
          <p:nvPr/>
        </p:nvGrpSpPr>
        <p:grpSpPr>
          <a:xfrm>
            <a:off x="1371618" y="2169107"/>
            <a:ext cx="2211475" cy="827083"/>
            <a:chOff x="1371618" y="2169107"/>
            <a:chExt cx="2211475" cy="827083"/>
          </a:xfrm>
        </p:grpSpPr>
        <p:sp>
          <p:nvSpPr>
            <p:cNvPr id="27" name="AutoShape 4"/>
            <p:cNvSpPr>
              <a:spLocks noChangeArrowheads="1"/>
            </p:cNvSpPr>
            <p:nvPr/>
          </p:nvSpPr>
          <p:spPr bwMode="auto">
            <a:xfrm rot="5400000">
              <a:off x="1335106" y="2239534"/>
              <a:ext cx="576262" cy="503238"/>
            </a:xfrm>
            <a:custGeom>
              <a:avLst/>
              <a:gdLst>
                <a:gd name="T0" fmla="*/ 10981712 w 21600"/>
                <a:gd name="T1" fmla="*/ 0 h 21600"/>
                <a:gd name="T2" fmla="*/ 6588755 w 21600"/>
                <a:gd name="T3" fmla="*/ 3908156 h 21600"/>
                <a:gd name="T4" fmla="*/ 0 w 21600"/>
                <a:gd name="T5" fmla="*/ 9770924 h 21600"/>
                <a:gd name="T6" fmla="*/ 6588755 w 21600"/>
                <a:gd name="T7" fmla="*/ 11724466 h 21600"/>
                <a:gd name="T8" fmla="*/ 13177483 w 21600"/>
                <a:gd name="T9" fmla="*/ 8141995 h 21600"/>
                <a:gd name="T10" fmla="*/ 15373978 w 21600"/>
                <a:gd name="T11" fmla="*/ 3908156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accent1"/>
            </a:solidFill>
            <a:ln w="9525">
              <a:solidFill>
                <a:schemeClr val="accent1"/>
              </a:solidFill>
              <a:miter lim="800000"/>
              <a:headEnd/>
              <a:tailEnd/>
            </a:ln>
          </p:spPr>
          <p:txBody>
            <a:bodyPr wrap="none" anchor="ctr"/>
            <a:lstStyle/>
            <a:p>
              <a:endParaRPr lang="zh-CN" altLang="en-US">
                <a:latin typeface="微软雅黑" panose="020B0503020204020204" pitchFamily="34" charset="-122"/>
                <a:ea typeface="微软雅黑" panose="020B0503020204020204" pitchFamily="34" charset="-122"/>
              </a:endParaRPr>
            </a:p>
          </p:txBody>
        </p:sp>
        <p:sp>
          <p:nvSpPr>
            <p:cNvPr id="28" name="Rectangle 5"/>
            <p:cNvSpPr>
              <a:spLocks noChangeArrowheads="1"/>
            </p:cNvSpPr>
            <p:nvPr/>
          </p:nvSpPr>
          <p:spPr bwMode="auto">
            <a:xfrm>
              <a:off x="1927330" y="2169107"/>
              <a:ext cx="1655763" cy="8270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r>
                <a:rPr lang="zh-CN" altLang="en-US" sz="2800" b="0" dirty="0">
                  <a:latin typeface="微软雅黑" panose="020B0503020204020204" pitchFamily="34" charset="-122"/>
                  <a:ea typeface="微软雅黑" panose="020B0503020204020204" pitchFamily="34" charset="-122"/>
                </a:rPr>
                <a:t>失衡调节</a:t>
              </a:r>
            </a:p>
          </p:txBody>
        </p:sp>
      </p:grpSp>
      <p:sp>
        <p:nvSpPr>
          <p:cNvPr id="32" name="Rectangle 10"/>
          <p:cNvSpPr>
            <a:spLocks noChangeArrowheads="1"/>
          </p:cNvSpPr>
          <p:nvPr/>
        </p:nvSpPr>
        <p:spPr bwMode="auto">
          <a:xfrm>
            <a:off x="5980131" y="2259594"/>
            <a:ext cx="165576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endParaRPr lang="zh-CN" altLang="zh-CN" sz="2800" b="0">
              <a:solidFill>
                <a:schemeClr val="bg1"/>
              </a:solidFill>
              <a:latin typeface="微软雅黑" panose="020B0503020204020204" pitchFamily="34" charset="-122"/>
              <a:ea typeface="微软雅黑" panose="020B0503020204020204" pitchFamily="34" charset="-122"/>
            </a:endParaRPr>
          </a:p>
        </p:txBody>
      </p:sp>
      <p:grpSp>
        <p:nvGrpSpPr>
          <p:cNvPr id="40" name="组合 39"/>
          <p:cNvGrpSpPr/>
          <p:nvPr/>
        </p:nvGrpSpPr>
        <p:grpSpPr>
          <a:xfrm>
            <a:off x="5727718" y="2383868"/>
            <a:ext cx="2682876" cy="2123658"/>
            <a:chOff x="5727718" y="2582648"/>
            <a:chExt cx="2682876" cy="2123658"/>
          </a:xfrm>
        </p:grpSpPr>
        <p:sp>
          <p:nvSpPr>
            <p:cNvPr id="31" name="AutoShape 9"/>
            <p:cNvSpPr>
              <a:spLocks noChangeArrowheads="1"/>
            </p:cNvSpPr>
            <p:nvPr/>
          </p:nvSpPr>
          <p:spPr bwMode="auto">
            <a:xfrm>
              <a:off x="5727718" y="2709689"/>
              <a:ext cx="504825" cy="287337"/>
            </a:xfrm>
            <a:prstGeom prst="rightArrow">
              <a:avLst>
                <a:gd name="adj1" fmla="val 50000"/>
                <a:gd name="adj2" fmla="val 43923"/>
              </a:avLst>
            </a:prstGeom>
            <a:solidFill>
              <a:schemeClr val="accent1"/>
            </a:solidFill>
            <a:ln w="9525">
              <a:solidFill>
                <a:schemeClr val="accent1"/>
              </a:solidFill>
              <a:miter lim="800000"/>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endParaRPr lang="zh-CN" altLang="en-US" b="0">
                <a:latin typeface="微软雅黑" panose="020B0503020204020204" pitchFamily="34" charset="-122"/>
                <a:ea typeface="微软雅黑" panose="020B0503020204020204" pitchFamily="34" charset="-122"/>
              </a:endParaRPr>
            </a:p>
          </p:txBody>
        </p:sp>
        <p:sp>
          <p:nvSpPr>
            <p:cNvPr id="33" name="Text Box 11"/>
            <p:cNvSpPr txBox="1">
              <a:spLocks noChangeArrowheads="1"/>
            </p:cNvSpPr>
            <p:nvPr/>
          </p:nvSpPr>
          <p:spPr bwMode="auto">
            <a:xfrm>
              <a:off x="6321444" y="2582648"/>
              <a:ext cx="2089150" cy="2123658"/>
            </a:xfrm>
            <a:prstGeom prst="rect">
              <a:avLst/>
            </a:prstGeom>
            <a:ln/>
          </p:spPr>
          <p:style>
            <a:lnRef idx="3">
              <a:schemeClr val="lt1"/>
            </a:lnRef>
            <a:fillRef idx="1">
              <a:schemeClr val="accent1"/>
            </a:fillRef>
            <a:effectRef idx="1">
              <a:schemeClr val="accent1"/>
            </a:effectRef>
            <a:fontRef idx="minor">
              <a:schemeClr val="lt1"/>
            </a:fontRef>
          </p:style>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0" dirty="0">
                  <a:solidFill>
                    <a:schemeClr val="bg1"/>
                  </a:solidFill>
                  <a:latin typeface="微软雅黑" panose="020B0503020204020204" pitchFamily="34" charset="-122"/>
                  <a:ea typeface="微软雅黑" panose="020B0503020204020204" pitchFamily="34" charset="-122"/>
                </a:rPr>
                <a:t>外汇缓冲政策</a:t>
              </a:r>
            </a:p>
            <a:p>
              <a:pPr eaLnBrk="1" hangingPunct="1">
                <a:spcBef>
                  <a:spcPct val="50000"/>
                </a:spcBef>
              </a:pPr>
              <a:r>
                <a:rPr lang="zh-CN" altLang="en-US" sz="2400" b="0" dirty="0">
                  <a:solidFill>
                    <a:schemeClr val="bg1"/>
                  </a:solidFill>
                  <a:latin typeface="微软雅黑" panose="020B0503020204020204" pitchFamily="34" charset="-122"/>
                  <a:ea typeface="微软雅黑" panose="020B0503020204020204" pitchFamily="34" charset="-122"/>
                </a:rPr>
                <a:t>需求管理政策</a:t>
              </a:r>
            </a:p>
            <a:p>
              <a:pPr eaLnBrk="1" hangingPunct="1">
                <a:spcBef>
                  <a:spcPct val="50000"/>
                </a:spcBef>
              </a:pPr>
              <a:r>
                <a:rPr lang="zh-CN" altLang="en-US" sz="2400" b="0" dirty="0">
                  <a:solidFill>
                    <a:schemeClr val="bg1"/>
                  </a:solidFill>
                  <a:latin typeface="微软雅黑" panose="020B0503020204020204" pitchFamily="34" charset="-122"/>
                  <a:ea typeface="微软雅黑" panose="020B0503020204020204" pitchFamily="34" charset="-122"/>
                </a:rPr>
                <a:t>汇率政策</a:t>
              </a:r>
            </a:p>
            <a:p>
              <a:pPr eaLnBrk="1" hangingPunct="1">
                <a:spcBef>
                  <a:spcPct val="50000"/>
                </a:spcBef>
              </a:pPr>
              <a:r>
                <a:rPr lang="zh-CN" altLang="en-US" sz="2400" b="0" dirty="0">
                  <a:solidFill>
                    <a:schemeClr val="bg1"/>
                  </a:solidFill>
                  <a:latin typeface="微软雅黑" panose="020B0503020204020204" pitchFamily="34" charset="-122"/>
                  <a:ea typeface="微软雅黑" panose="020B0503020204020204" pitchFamily="34" charset="-122"/>
                </a:rPr>
                <a:t>直接贸易管制</a:t>
              </a:r>
            </a:p>
          </p:txBody>
        </p:sp>
      </p:grpSp>
      <p:grpSp>
        <p:nvGrpSpPr>
          <p:cNvPr id="37" name="组合 36"/>
          <p:cNvGrpSpPr/>
          <p:nvPr/>
        </p:nvGrpSpPr>
        <p:grpSpPr>
          <a:xfrm>
            <a:off x="2397481" y="3937968"/>
            <a:ext cx="3756203" cy="641350"/>
            <a:chOff x="2357775" y="3819910"/>
            <a:chExt cx="3756203" cy="641350"/>
          </a:xfrm>
        </p:grpSpPr>
        <p:sp>
          <p:nvSpPr>
            <p:cNvPr id="34" name="AutoShape 12"/>
            <p:cNvSpPr>
              <a:spLocks noChangeArrowheads="1"/>
            </p:cNvSpPr>
            <p:nvPr/>
          </p:nvSpPr>
          <p:spPr bwMode="auto">
            <a:xfrm>
              <a:off x="5321816" y="3995246"/>
              <a:ext cx="792162" cy="250825"/>
            </a:xfrm>
            <a:prstGeom prst="rightArrow">
              <a:avLst>
                <a:gd name="adj1" fmla="val 50000"/>
                <a:gd name="adj2" fmla="val 78956"/>
              </a:avLst>
            </a:prstGeom>
            <a:solidFill>
              <a:schemeClr val="accent1"/>
            </a:solidFill>
            <a:ln w="9525">
              <a:solidFill>
                <a:schemeClr val="accent1"/>
              </a:solidFill>
              <a:miter lim="800000"/>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endParaRPr lang="zh-CN" altLang="en-US" b="0">
                <a:latin typeface="微软雅黑" panose="020B0503020204020204" pitchFamily="34" charset="-122"/>
                <a:ea typeface="微软雅黑" panose="020B0503020204020204" pitchFamily="34" charset="-122"/>
              </a:endParaRPr>
            </a:p>
          </p:txBody>
        </p:sp>
        <p:sp>
          <p:nvSpPr>
            <p:cNvPr id="35" name="Text Box 13"/>
            <p:cNvSpPr txBox="1">
              <a:spLocks noChangeArrowheads="1"/>
            </p:cNvSpPr>
            <p:nvPr/>
          </p:nvSpPr>
          <p:spPr bwMode="auto">
            <a:xfrm>
              <a:off x="2357775" y="3819910"/>
              <a:ext cx="2951162"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3600" b="0" dirty="0">
                  <a:solidFill>
                    <a:schemeClr val="accent1"/>
                  </a:solidFill>
                  <a:latin typeface="微软雅黑" panose="020B0503020204020204" pitchFamily="34" charset="-122"/>
                  <a:ea typeface="微软雅黑" panose="020B0503020204020204" pitchFamily="34" charset="-122"/>
                </a:rPr>
                <a:t>国际收支理论</a:t>
              </a:r>
            </a:p>
          </p:txBody>
        </p:sp>
      </p:grpSp>
      <p:grpSp>
        <p:nvGrpSpPr>
          <p:cNvPr id="39" name="组合 38"/>
          <p:cNvGrpSpPr/>
          <p:nvPr/>
        </p:nvGrpSpPr>
        <p:grpSpPr>
          <a:xfrm>
            <a:off x="3583093" y="1702135"/>
            <a:ext cx="3586075" cy="1146487"/>
            <a:chOff x="3510068" y="1940457"/>
            <a:chExt cx="3586075" cy="1146487"/>
          </a:xfrm>
        </p:grpSpPr>
        <p:sp>
          <p:nvSpPr>
            <p:cNvPr id="30" name="Rectangle 8"/>
            <p:cNvSpPr>
              <a:spLocks noChangeArrowheads="1"/>
            </p:cNvSpPr>
            <p:nvPr/>
          </p:nvSpPr>
          <p:spPr bwMode="auto">
            <a:xfrm>
              <a:off x="4000518" y="1940457"/>
              <a:ext cx="3095625" cy="114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en-US" sz="2800" b="0" dirty="0">
                  <a:latin typeface="微软雅黑" panose="020B0503020204020204" pitchFamily="34" charset="-122"/>
                  <a:ea typeface="微软雅黑" panose="020B0503020204020204" pitchFamily="34" charset="-122"/>
                </a:rPr>
                <a:t>市场自动调节机制</a:t>
              </a:r>
              <a:br>
                <a:rPr lang="zh-CN" altLang="en-US" sz="2800" b="0" dirty="0">
                  <a:latin typeface="微软雅黑" panose="020B0503020204020204" pitchFamily="34" charset="-122"/>
                  <a:ea typeface="微软雅黑" panose="020B0503020204020204" pitchFamily="34" charset="-122"/>
                </a:rPr>
              </a:br>
              <a:r>
                <a:rPr lang="zh-CN" altLang="en-US" sz="2800" b="0" dirty="0">
                  <a:latin typeface="微软雅黑" panose="020B0503020204020204" pitchFamily="34" charset="-122"/>
                  <a:ea typeface="微软雅黑" panose="020B0503020204020204" pitchFamily="34" charset="-122"/>
                </a:rPr>
                <a:t>政策调节</a:t>
              </a:r>
            </a:p>
          </p:txBody>
        </p:sp>
        <p:sp>
          <p:nvSpPr>
            <p:cNvPr id="36" name="AutoShape 9"/>
            <p:cNvSpPr>
              <a:spLocks noChangeArrowheads="1"/>
            </p:cNvSpPr>
            <p:nvPr/>
          </p:nvSpPr>
          <p:spPr bwMode="auto">
            <a:xfrm>
              <a:off x="3510068" y="2422352"/>
              <a:ext cx="504825" cy="287337"/>
            </a:xfrm>
            <a:prstGeom prst="rightArrow">
              <a:avLst>
                <a:gd name="adj1" fmla="val 50000"/>
                <a:gd name="adj2" fmla="val 43923"/>
              </a:avLst>
            </a:prstGeom>
            <a:solidFill>
              <a:schemeClr val="accent1"/>
            </a:solidFill>
            <a:ln w="9525">
              <a:solidFill>
                <a:schemeClr val="accent1"/>
              </a:solidFill>
              <a:miter lim="800000"/>
              <a:headEnd/>
              <a:tailEnd/>
            </a:ln>
          </p:spPr>
          <p:txBody>
            <a:bodyPr wrap="none" anchor="ct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endParaRPr lang="zh-CN" altLang="en-US" b="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659435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500"/>
                                        <p:tgtEl>
                                          <p:spTgt spid="3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0"/>
                                        </p:tgtEl>
                                        <p:attrNameLst>
                                          <p:attrName>style.visibility</p:attrName>
                                        </p:attrNameLst>
                                      </p:cBhvr>
                                      <p:to>
                                        <p:strVal val="visible"/>
                                      </p:to>
                                    </p:set>
                                    <p:animEffect transition="in" filter="fade">
                                      <p:cBhvr>
                                        <p:cTn id="21" dur="500"/>
                                        <p:tgtEl>
                                          <p:spTgt spid="4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a:t>
            </a:r>
            <a:r>
              <a:rPr lang="zh-CN" altLang="en-US" dirty="0" smtClean="0"/>
              <a:t>弹性</a:t>
            </a:r>
            <a:r>
              <a:rPr lang="zh-CN" altLang="en-US" dirty="0"/>
              <a:t>分析法</a:t>
            </a:r>
          </a:p>
        </p:txBody>
      </p:sp>
      <p:sp>
        <p:nvSpPr>
          <p:cNvPr id="3" name="内容占位符 2"/>
          <p:cNvSpPr>
            <a:spLocks noGrp="1"/>
          </p:cNvSpPr>
          <p:nvPr>
            <p:ph idx="1"/>
          </p:nvPr>
        </p:nvSpPr>
        <p:spPr>
          <a:xfrm>
            <a:off x="971550" y="1447800"/>
            <a:ext cx="7681944" cy="4559300"/>
          </a:xfrm>
        </p:spPr>
        <p:txBody>
          <a:bodyPr>
            <a:normAutofit/>
          </a:bodyPr>
          <a:lstStyle/>
          <a:p>
            <a:pPr>
              <a:lnSpc>
                <a:spcPct val="110000"/>
              </a:lnSpc>
              <a:buNone/>
            </a:pPr>
            <a:r>
              <a:rPr lang="zh-CN" altLang="en-US" sz="2800" dirty="0" smtClean="0">
                <a:latin typeface="微软雅黑" panose="020B0503020204020204" pitchFamily="34" charset="-122"/>
                <a:ea typeface="微软雅黑" panose="020B0503020204020204" pitchFamily="34" charset="-122"/>
              </a:rPr>
              <a:t>     </a:t>
            </a:r>
            <a:r>
              <a:rPr lang="en-US" altLang="zh-CN" sz="2800" dirty="0" smtClean="0">
                <a:latin typeface="微软雅黑" panose="020B0503020204020204" pitchFamily="34" charset="-122"/>
                <a:ea typeface="微软雅黑" panose="020B0503020204020204" pitchFamily="34" charset="-122"/>
              </a:rPr>
              <a:t>	</a:t>
            </a:r>
            <a:r>
              <a:rPr lang="zh-CN" altLang="en-US" sz="2800" dirty="0" smtClean="0">
                <a:latin typeface="微软雅黑" panose="020B0503020204020204" pitchFamily="34" charset="-122"/>
                <a:ea typeface="微软雅黑" panose="020B0503020204020204" pitchFamily="34" charset="-122"/>
              </a:rPr>
              <a:t> 弹性</a:t>
            </a:r>
            <a:r>
              <a:rPr lang="zh-CN" altLang="en-US" sz="2800" dirty="0">
                <a:latin typeface="微软雅黑" panose="020B0503020204020204" pitchFamily="34" charset="-122"/>
                <a:ea typeface="微软雅黑" panose="020B0503020204020204" pitchFamily="34" charset="-122"/>
              </a:rPr>
              <a:t>论</a:t>
            </a:r>
            <a:r>
              <a:rPr lang="en-US" altLang="zh-CN" sz="2800" dirty="0">
                <a:latin typeface="微软雅黑" panose="020B0503020204020204" pitchFamily="34" charset="-122"/>
                <a:ea typeface="微软雅黑" panose="020B0503020204020204" pitchFamily="34" charset="-122"/>
              </a:rPr>
              <a:t>(Elasticity Approach)</a:t>
            </a:r>
          </a:p>
          <a:p>
            <a:pPr>
              <a:lnSpc>
                <a:spcPct val="150000"/>
              </a:lnSpc>
              <a:buNone/>
            </a:pPr>
            <a:r>
              <a:rPr lang="en-US" altLang="zh-CN" sz="2800" dirty="0" smtClean="0">
                <a:solidFill>
                  <a:schemeClr val="accent1"/>
                </a:solidFill>
                <a:latin typeface="微软雅黑" panose="020B0503020204020204" pitchFamily="34" charset="-122"/>
                <a:ea typeface="微软雅黑" panose="020B0503020204020204" pitchFamily="34" charset="-122"/>
              </a:rPr>
              <a:t>	</a:t>
            </a:r>
            <a:r>
              <a:rPr lang="en-US" altLang="zh-CN" sz="2800" dirty="0">
                <a:solidFill>
                  <a:schemeClr val="accent1"/>
                </a:solidFill>
                <a:latin typeface="微软雅黑" panose="020B0503020204020204" pitchFamily="34" charset="-122"/>
                <a:ea typeface="微软雅黑" panose="020B0503020204020204" pitchFamily="34" charset="-122"/>
              </a:rPr>
              <a:t>	</a:t>
            </a:r>
            <a:r>
              <a:rPr lang="zh-CN" altLang="en-US" sz="2800" dirty="0" smtClean="0">
                <a:solidFill>
                  <a:schemeClr val="accent1"/>
                </a:solidFill>
                <a:latin typeface="微软雅黑" panose="020B0503020204020204" pitchFamily="34" charset="-122"/>
                <a:ea typeface="微软雅黑" panose="020B0503020204020204" pitchFamily="34" charset="-122"/>
              </a:rPr>
              <a:t>由</a:t>
            </a:r>
            <a:r>
              <a:rPr lang="zh-CN" altLang="en-US" sz="2800" dirty="0">
                <a:solidFill>
                  <a:schemeClr val="accent1"/>
                </a:solidFill>
                <a:latin typeface="微软雅黑" panose="020B0503020204020204" pitchFamily="34" charset="-122"/>
                <a:ea typeface="微软雅黑" panose="020B0503020204020204" pitchFamily="34" charset="-122"/>
              </a:rPr>
              <a:t>英国剑桥大学经济学家</a:t>
            </a:r>
            <a:r>
              <a:rPr lang="en-US" altLang="zh-CN" sz="2800" dirty="0">
                <a:solidFill>
                  <a:schemeClr val="accent1"/>
                </a:solidFill>
                <a:latin typeface="微软雅黑" panose="020B0503020204020204" pitchFamily="34" charset="-122"/>
                <a:ea typeface="微软雅黑" panose="020B0503020204020204" pitchFamily="34" charset="-122"/>
              </a:rPr>
              <a:t>Joan Robinson </a:t>
            </a:r>
            <a:r>
              <a:rPr lang="zh-CN" altLang="en-US" sz="2800" dirty="0">
                <a:solidFill>
                  <a:schemeClr val="accent1"/>
                </a:solidFill>
                <a:latin typeface="微软雅黑" panose="020B0503020204020204" pitchFamily="34" charset="-122"/>
                <a:ea typeface="微软雅黑" panose="020B0503020204020204" pitchFamily="34" charset="-122"/>
              </a:rPr>
              <a:t>在马歇尔微观经济学和局部均衡分析方法的基础上发展起来的。它着重考虑</a:t>
            </a:r>
            <a:r>
              <a:rPr lang="zh-CN" altLang="en-US" sz="2800" dirty="0">
                <a:solidFill>
                  <a:srgbClr val="FF0000"/>
                </a:solidFill>
                <a:latin typeface="微软雅黑" panose="020B0503020204020204" pitchFamily="34" charset="-122"/>
                <a:ea typeface="微软雅黑" panose="020B0503020204020204" pitchFamily="34" charset="-122"/>
              </a:rPr>
              <a:t>本币贬值</a:t>
            </a:r>
            <a:r>
              <a:rPr lang="zh-CN" altLang="en-US" sz="2800" dirty="0">
                <a:solidFill>
                  <a:schemeClr val="accent1"/>
                </a:solidFill>
                <a:latin typeface="微软雅黑" panose="020B0503020204020204" pitchFamily="34" charset="-122"/>
                <a:ea typeface="微软雅黑" panose="020B0503020204020204" pitchFamily="34" charset="-122"/>
              </a:rPr>
              <a:t>对贸易收支和贸易条件的影响，强调国际收支调节中的</a:t>
            </a:r>
            <a:r>
              <a:rPr lang="zh-CN" altLang="en-US" sz="2800" dirty="0">
                <a:solidFill>
                  <a:srgbClr val="FF0000"/>
                </a:solidFill>
                <a:latin typeface="微软雅黑" panose="020B0503020204020204" pitchFamily="34" charset="-122"/>
                <a:ea typeface="微软雅黑" panose="020B0503020204020204" pitchFamily="34" charset="-122"/>
              </a:rPr>
              <a:t>相对价格效应</a:t>
            </a:r>
            <a:r>
              <a:rPr lang="zh-CN" altLang="en-US" sz="2800" dirty="0">
                <a:solidFill>
                  <a:schemeClr val="accent1"/>
                </a:solidFill>
                <a:latin typeface="微软雅黑" panose="020B0503020204020204" pitchFamily="34" charset="-122"/>
                <a:ea typeface="微软雅黑" panose="020B0503020204020204" pitchFamily="34" charset="-122"/>
              </a:rPr>
              <a:t>。</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938919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a:t>
            </a:r>
            <a:r>
              <a:rPr lang="zh-CN" altLang="en-US" dirty="0" smtClean="0"/>
              <a:t>弹性</a:t>
            </a:r>
            <a:r>
              <a:rPr lang="zh-CN" altLang="en-US" dirty="0"/>
              <a:t>分析法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49" y="1447800"/>
                <a:ext cx="7572943" cy="4559300"/>
              </a:xfrm>
            </p:spPr>
            <p:txBody>
              <a:bodyPr>
                <a:normAutofit fontScale="85000" lnSpcReduction="10000"/>
              </a:bodyPr>
              <a:lstStyle/>
              <a:p>
                <a:pPr marL="0" indent="0">
                  <a:lnSpc>
                    <a:spcPct val="100000"/>
                  </a:lnSpc>
                  <a:spcBef>
                    <a:spcPts val="1000"/>
                  </a:spcBef>
                  <a:buNone/>
                </a:pPr>
                <a:r>
                  <a:rPr lang="zh-CN" altLang="en-US" sz="2800" dirty="0">
                    <a:latin typeface="微软雅黑" panose="020B0503020204020204" pitchFamily="34" charset="-122"/>
                    <a:ea typeface="微软雅黑" panose="020B0503020204020204" pitchFamily="34" charset="-122"/>
                  </a:rPr>
                  <a:t>一、前提条件</a:t>
                </a:r>
              </a:p>
              <a:p>
                <a:pPr marL="971550" lvl="2" indent="-514350">
                  <a:lnSpc>
                    <a:spcPct val="150000"/>
                  </a:lnSpc>
                  <a:spcBef>
                    <a:spcPts val="1000"/>
                  </a:spcBef>
                  <a:buFont typeface="+mj-lt"/>
                  <a:buAutoNum type="arabicPeriod"/>
                </a:pPr>
                <a:r>
                  <a:rPr lang="zh-CN" altLang="en-US" sz="2800" dirty="0" smtClean="0">
                    <a:solidFill>
                      <a:schemeClr val="accent1"/>
                    </a:solidFill>
                    <a:latin typeface="微软雅黑" panose="020B0503020204020204" pitchFamily="34" charset="-122"/>
                    <a:ea typeface="微软雅黑" panose="020B0503020204020204" pitchFamily="34" charset="-122"/>
                  </a:rPr>
                  <a:t>收入不变（</a:t>
                </a:r>
                <a14:m>
                  <m:oMath xmlns:m="http://schemas.openxmlformats.org/officeDocument/2006/math">
                    <m:r>
                      <a:rPr lang="en-US" altLang="zh-CN" sz="2800" i="1" dirty="0" smtClean="0">
                        <a:solidFill>
                          <a:schemeClr val="accent1"/>
                        </a:solidFill>
                        <a:latin typeface="Cambria Math" panose="02040503050406030204" pitchFamily="18" charset="0"/>
                        <a:ea typeface="微软雅黑" panose="020B0503020204020204" pitchFamily="34" charset="-122"/>
                      </a:rPr>
                      <m:t>𝑌</m:t>
                    </m:r>
                  </m:oMath>
                </a14:m>
                <a:r>
                  <a:rPr lang="zh-CN" altLang="en-US" sz="2800" dirty="0" smtClean="0">
                    <a:solidFill>
                      <a:schemeClr val="accent1"/>
                    </a:solidFill>
                    <a:latin typeface="微软雅黑" panose="020B0503020204020204" pitchFamily="34" charset="-122"/>
                    <a:ea typeface="微软雅黑" panose="020B0503020204020204" pitchFamily="34" charset="-122"/>
                  </a:rPr>
                  <a:t>）；</a:t>
                </a:r>
              </a:p>
              <a:p>
                <a:pPr marL="971550" lvl="2" indent="-514350">
                  <a:lnSpc>
                    <a:spcPct val="150000"/>
                  </a:lnSpc>
                  <a:spcBef>
                    <a:spcPts val="1000"/>
                  </a:spcBef>
                  <a:buFont typeface="+mj-lt"/>
                  <a:buAutoNum type="arabicPeriod"/>
                </a:pPr>
                <a:r>
                  <a:rPr lang="zh-CN" altLang="en-US" sz="2800" dirty="0" smtClean="0">
                    <a:solidFill>
                      <a:schemeClr val="accent1"/>
                    </a:solidFill>
                    <a:latin typeface="微软雅黑" panose="020B0503020204020204" pitchFamily="34" charset="-122"/>
                    <a:ea typeface="微软雅黑" panose="020B0503020204020204" pitchFamily="34" charset="-122"/>
                  </a:rPr>
                  <a:t>利率不变（</a:t>
                </a:r>
                <a:r>
                  <a:rPr lang="en-US" altLang="zh-CN" sz="2800" dirty="0" err="1" smtClean="0">
                    <a:solidFill>
                      <a:schemeClr val="accent1"/>
                    </a:solidFill>
                    <a:latin typeface="微软雅黑" panose="020B0503020204020204" pitchFamily="34" charset="-122"/>
                    <a:ea typeface="微软雅黑" panose="020B0503020204020204" pitchFamily="34" charset="-122"/>
                  </a:rPr>
                  <a:t>i</a:t>
                </a:r>
                <a:r>
                  <a:rPr lang="zh-CN" altLang="en-US" sz="2800" dirty="0" smtClean="0">
                    <a:solidFill>
                      <a:schemeClr val="accent1"/>
                    </a:solidFill>
                    <a:latin typeface="微软雅黑" panose="020B0503020204020204" pitchFamily="34" charset="-122"/>
                    <a:ea typeface="微软雅黑" panose="020B0503020204020204" pitchFamily="34" charset="-122"/>
                  </a:rPr>
                  <a:t>），不考虑国际资本流动，将商品劳务贸易收支等同于国际收支；</a:t>
                </a:r>
              </a:p>
              <a:p>
                <a:pPr marL="971550" lvl="2" indent="-514350">
                  <a:lnSpc>
                    <a:spcPct val="150000"/>
                  </a:lnSpc>
                  <a:spcBef>
                    <a:spcPts val="1000"/>
                  </a:spcBef>
                  <a:buFont typeface="+mj-lt"/>
                  <a:buAutoNum type="arabicPeriod"/>
                </a:pPr>
                <a:r>
                  <a:rPr lang="zh-CN" altLang="en-US" sz="2800" dirty="0" smtClean="0">
                    <a:solidFill>
                      <a:schemeClr val="accent1"/>
                    </a:solidFill>
                    <a:latin typeface="微软雅黑" panose="020B0503020204020204" pitchFamily="34" charset="-122"/>
                    <a:ea typeface="微软雅黑" panose="020B0503020204020204" pitchFamily="34" charset="-122"/>
                  </a:rPr>
                  <a:t>国内外商品劳务的价格不变</a:t>
                </a:r>
                <a:r>
                  <a:rPr lang="zh-CN" altLang="en-US" sz="2800" dirty="0">
                    <a:solidFill>
                      <a:schemeClr val="accent1"/>
                    </a:solidFill>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800" i="1" dirty="0">
                            <a:solidFill>
                              <a:schemeClr val="accent1"/>
                            </a:solidFill>
                            <a:latin typeface="Cambria Math"/>
                            <a:ea typeface="微软雅黑" panose="020B0503020204020204" pitchFamily="34" charset="-122"/>
                          </a:rPr>
                        </m:ctrlPr>
                      </m:sSubPr>
                      <m:e>
                        <m:r>
                          <a:rPr lang="en-US" altLang="zh-CN" sz="2800" dirty="0">
                            <a:solidFill>
                              <a:schemeClr val="accent1"/>
                            </a:solidFill>
                            <a:latin typeface="Cambria Math" panose="02040503050406030204" pitchFamily="18" charset="0"/>
                            <a:ea typeface="微软雅黑" panose="020B0503020204020204" pitchFamily="34" charset="-122"/>
                          </a:rPr>
                          <m:t>𝑃</m:t>
                        </m:r>
                      </m:e>
                      <m:sub>
                        <m:r>
                          <a:rPr lang="en-US" altLang="zh-CN" sz="2800" dirty="0">
                            <a:solidFill>
                              <a:schemeClr val="accent1"/>
                            </a:solidFill>
                            <a:latin typeface="Cambria Math" panose="02040503050406030204" pitchFamily="18" charset="0"/>
                            <a:ea typeface="微软雅黑" panose="020B0503020204020204" pitchFamily="34" charset="-122"/>
                          </a:rPr>
                          <m:t>𝑥</m:t>
                        </m:r>
                      </m:sub>
                    </m:sSub>
                  </m:oMath>
                </a14:m>
                <a:r>
                  <a:rPr lang="zh-CN" altLang="en-US" sz="2800" dirty="0">
                    <a:solidFill>
                      <a:schemeClr val="accent1"/>
                    </a:solidFill>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sz="2800" i="1" dirty="0">
                            <a:solidFill>
                              <a:schemeClr val="accent1"/>
                            </a:solidFill>
                            <a:latin typeface="Cambria Math"/>
                            <a:ea typeface="微软雅黑" panose="020B0503020204020204" pitchFamily="34" charset="-122"/>
                          </a:rPr>
                        </m:ctrlPr>
                      </m:sSubPr>
                      <m:e>
                        <m:r>
                          <a:rPr lang="en-US" altLang="zh-CN" sz="2800" dirty="0">
                            <a:solidFill>
                              <a:schemeClr val="accent1"/>
                            </a:solidFill>
                            <a:latin typeface="Cambria Math" panose="02040503050406030204" pitchFamily="18" charset="0"/>
                            <a:ea typeface="微软雅黑" panose="020B0503020204020204" pitchFamily="34" charset="-122"/>
                          </a:rPr>
                          <m:t>𝑃</m:t>
                        </m:r>
                      </m:e>
                      <m:sub>
                        <m:r>
                          <a:rPr lang="en-US" altLang="zh-CN" sz="2800" dirty="0">
                            <a:solidFill>
                              <a:schemeClr val="accent1"/>
                            </a:solidFill>
                            <a:latin typeface="Cambria Math" panose="02040503050406030204" pitchFamily="18" charset="0"/>
                            <a:ea typeface="微软雅黑" panose="020B0503020204020204" pitchFamily="34" charset="-122"/>
                          </a:rPr>
                          <m:t>𝑚</m:t>
                        </m:r>
                      </m:sub>
                    </m:sSub>
                  </m:oMath>
                </a14:m>
                <a:r>
                  <a:rPr lang="zh-CN" altLang="en-US" sz="2800" dirty="0">
                    <a:solidFill>
                      <a:schemeClr val="accent1"/>
                    </a:solidFill>
                    <a:latin typeface="微软雅黑" panose="020B0503020204020204" pitchFamily="34" charset="-122"/>
                    <a:ea typeface="微软雅黑" panose="020B0503020204020204" pitchFamily="34" charset="-122"/>
                  </a:rPr>
                  <a:t>不变）；</a:t>
                </a:r>
              </a:p>
              <a:p>
                <a:pPr marL="971550" lvl="2" indent="-514350">
                  <a:lnSpc>
                    <a:spcPct val="150000"/>
                  </a:lnSpc>
                  <a:spcBef>
                    <a:spcPts val="1000"/>
                  </a:spcBef>
                  <a:buFont typeface="+mj-lt"/>
                  <a:buAutoNum type="arabicPeriod"/>
                </a:pPr>
                <a:r>
                  <a:rPr lang="zh-CN" altLang="en-US" sz="2800" dirty="0" smtClean="0">
                    <a:solidFill>
                      <a:schemeClr val="accent1"/>
                    </a:solidFill>
                    <a:latin typeface="微软雅黑" panose="020B0503020204020204" pitchFamily="34" charset="-122"/>
                    <a:ea typeface="微软雅黑" panose="020B0503020204020204" pitchFamily="34" charset="-122"/>
                  </a:rPr>
                  <a:t>贸易品进出口供给弹性无穷大。</a:t>
                </a:r>
                <a:endParaRPr lang="zh-CN" altLang="en-US" sz="2800" dirty="0">
                  <a:solidFill>
                    <a:schemeClr val="accent1"/>
                  </a:solidFill>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49" y="1447800"/>
                <a:ext cx="7572943" cy="4559300"/>
              </a:xfrm>
              <a:blipFill rotWithShape="1">
                <a:blip r:embed="rId3"/>
                <a:stretch>
                  <a:fillRect l="-1207" t="-1874"/>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099817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a:t>
            </a:r>
            <a:r>
              <a:rPr lang="zh-CN" altLang="en-US" dirty="0" smtClean="0"/>
              <a:t>弹性</a:t>
            </a:r>
            <a:r>
              <a:rPr lang="zh-CN" altLang="en-US" dirty="0"/>
              <a:t>分析法</a:t>
            </a:r>
          </a:p>
        </p:txBody>
      </p:sp>
      <p:sp>
        <p:nvSpPr>
          <p:cNvPr id="3" name="内容占位符 2"/>
          <p:cNvSpPr>
            <a:spLocks noGrp="1"/>
          </p:cNvSpPr>
          <p:nvPr>
            <p:ph idx="1"/>
          </p:nvPr>
        </p:nvSpPr>
        <p:spPr/>
        <p:txBody>
          <a:bodyPr>
            <a:normAutofit/>
          </a:bodyPr>
          <a:lstStyle/>
          <a:p>
            <a:pPr marL="0" indent="0">
              <a:lnSpc>
                <a:spcPct val="100000"/>
              </a:lnSpc>
              <a:spcBef>
                <a:spcPts val="1000"/>
              </a:spcBef>
              <a:buNone/>
            </a:pPr>
            <a:r>
              <a:rPr lang="zh-CN" altLang="en-US" sz="2400" dirty="0">
                <a:latin typeface="微软雅黑" panose="020B0503020204020204" pitchFamily="34" charset="-122"/>
                <a:ea typeface="微软雅黑" panose="020B0503020204020204" pitchFamily="34" charset="-122"/>
              </a:rPr>
              <a:t>一、前提条件</a:t>
            </a:r>
          </a:p>
          <a:p>
            <a:pPr marL="0" lvl="2" indent="0">
              <a:lnSpc>
                <a:spcPct val="150000"/>
              </a:lnSpc>
              <a:spcBef>
                <a:spcPts val="1800"/>
              </a:spcBef>
              <a:buNone/>
            </a:pPr>
            <a:r>
              <a:rPr lang="zh-CN" altLang="en-US" sz="2800" dirty="0"/>
              <a:t>	</a:t>
            </a:r>
            <a:r>
              <a:rPr lang="zh-CN" altLang="en-US" sz="2400" dirty="0">
                <a:solidFill>
                  <a:schemeClr val="accent1"/>
                </a:solidFill>
                <a:latin typeface="微软雅黑" panose="020B0503020204020204" pitchFamily="34" charset="-122"/>
                <a:ea typeface="微软雅黑" panose="020B0503020204020204" pitchFamily="34" charset="-122"/>
              </a:rPr>
              <a:t>根据这些假设前提，弹性论认为：汇率变动是通过国内外产品之间，以及本国生产的贸易品（出口品和进口替代品）与非贸易品之间的相对价格变动，来影响一国的进出口供给和需求，从而作用于国际收支。</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295981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a:t>
            </a:r>
            <a:r>
              <a:rPr lang="zh-CN" altLang="en-US" dirty="0" smtClean="0"/>
              <a:t>弹性</a:t>
            </a:r>
            <a:r>
              <a:rPr lang="zh-CN" altLang="en-US" dirty="0"/>
              <a:t>分析法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marL="0" indent="0">
                  <a:lnSpc>
                    <a:spcPct val="100000"/>
                  </a:lnSpc>
                  <a:spcBef>
                    <a:spcPts val="1000"/>
                  </a:spcBef>
                  <a:buNone/>
                </a:pPr>
                <a:r>
                  <a:rPr lang="zh-CN" altLang="en-US" sz="2800" dirty="0">
                    <a:solidFill>
                      <a:srgbClr val="FF0000"/>
                    </a:solidFill>
                    <a:latin typeface="微软雅黑" panose="020B0503020204020204" pitchFamily="34" charset="-122"/>
                    <a:ea typeface="微软雅黑" panose="020B0503020204020204" pitchFamily="34" charset="-122"/>
                  </a:rPr>
                  <a:t>例如：中美贸易中</a:t>
                </a:r>
                <a:endParaRPr lang="en-US" altLang="zh-CN" sz="2800" dirty="0" smtClean="0">
                  <a:solidFill>
                    <a:srgbClr val="FF0000"/>
                  </a:solidFill>
                  <a:latin typeface="微软雅黑" panose="020B0503020204020204" pitchFamily="34" charset="-122"/>
                  <a:ea typeface="微软雅黑" panose="020B0503020204020204" pitchFamily="34" charset="-122"/>
                </a:endParaRPr>
              </a:p>
              <a:p>
                <a:pPr>
                  <a:lnSpc>
                    <a:spcPct val="100000"/>
                  </a:lnSpc>
                  <a:spcBef>
                    <a:spcPts val="1000"/>
                  </a:spcBef>
                </a:pPr>
                <a:endParaRPr lang="en-US" altLang="zh-CN" sz="2400" dirty="0" smtClean="0">
                  <a:latin typeface="微软雅黑" panose="020B0503020204020204" pitchFamily="34" charset="-122"/>
                  <a:ea typeface="微软雅黑" panose="020B0503020204020204" pitchFamily="34" charset="-122"/>
                </a:endParaRPr>
              </a:p>
              <a:p>
                <a:pPr marL="0" indent="0">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e=5</a:t>
                </a:r>
                <a:r>
                  <a:rPr lang="zh-CN" altLang="en-US" sz="2400" dirty="0">
                    <a:latin typeface="微软雅黑" panose="020B0503020204020204" pitchFamily="34" charset="-122"/>
                    <a:ea typeface="微软雅黑" panose="020B0503020204020204" pitchFamily="34" charset="-122"/>
                  </a:rPr>
                  <a:t>时，</a:t>
                </a:r>
              </a:p>
              <a:p>
                <a:pPr marL="0" indent="0">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出口</a:t>
                </a:r>
                <a:r>
                  <a:rPr lang="en-US" altLang="zh-CN" sz="2400" dirty="0">
                    <a:latin typeface="微软雅黑" panose="020B0503020204020204" pitchFamily="34" charset="-122"/>
                    <a:ea typeface="微软雅黑" panose="020B0503020204020204" pitchFamily="34" charset="-122"/>
                  </a:rPr>
                  <a:t>1</a:t>
                </a:r>
                <a:r>
                  <a:rPr lang="zh-CN" altLang="en-US" sz="2400" dirty="0">
                    <a:latin typeface="微软雅黑" panose="020B0503020204020204" pitchFamily="34" charset="-122"/>
                    <a:ea typeface="微软雅黑" panose="020B0503020204020204" pitchFamily="34" charset="-122"/>
                  </a:rPr>
                  <a:t>亿条裤子（</a:t>
                </a:r>
                <a14:m>
                  <m:oMath xmlns:m="http://schemas.openxmlformats.org/officeDocument/2006/math">
                    <m:sSub>
                      <m:sSubPr>
                        <m:ctrlPr>
                          <a:rPr lang="en-US" altLang="zh-CN" sz="2400" i="1" dirty="0">
                            <a:latin typeface="Cambria Math"/>
                            <a:ea typeface="微软雅黑" panose="020B0503020204020204" pitchFamily="34" charset="-122"/>
                          </a:rPr>
                        </m:ctrlPr>
                      </m:sSubPr>
                      <m:e>
                        <m:r>
                          <a:rPr lang="en-US" altLang="zh-CN" sz="2400" dirty="0">
                            <a:latin typeface="Cambria Math" panose="02040503050406030204" pitchFamily="18" charset="0"/>
                            <a:ea typeface="微软雅黑" panose="020B0503020204020204" pitchFamily="34" charset="-122"/>
                          </a:rPr>
                          <m:t>𝑃</m:t>
                        </m:r>
                      </m:e>
                      <m:sub>
                        <m:r>
                          <a:rPr lang="en-US" altLang="zh-CN" sz="2400" dirty="0">
                            <a:latin typeface="Cambria Math" panose="02040503050406030204" pitchFamily="18" charset="0"/>
                            <a:ea typeface="微软雅黑" panose="020B0503020204020204" pitchFamily="34" charset="-122"/>
                          </a:rPr>
                          <m:t>𝑥</m:t>
                        </m:r>
                      </m:sub>
                    </m:sSub>
                  </m:oMath>
                </a14:m>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10</a:t>
                </a:r>
                <a:r>
                  <a:rPr lang="zh-CN" altLang="en-US" sz="2400" dirty="0">
                    <a:latin typeface="微软雅黑" panose="020B0503020204020204" pitchFamily="34" charset="-122"/>
                    <a:ea typeface="微软雅黑" panose="020B0503020204020204" pitchFamily="34" charset="-122"/>
                  </a:rPr>
                  <a:t>元</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条）</a:t>
                </a:r>
              </a:p>
              <a:p>
                <a:pPr marL="274320" lvl="1" indent="0">
                  <a:lnSpc>
                    <a:spcPct val="100000"/>
                  </a:lnSpc>
                  <a:spcBef>
                    <a:spcPts val="1000"/>
                  </a:spcBef>
                  <a:buNone/>
                </a:pPr>
                <a:r>
                  <a:rPr lang="en-US" altLang="zh-CN" sz="2200" dirty="0" smtClean="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进口</a:t>
                </a:r>
                <a:r>
                  <a:rPr lang="en-US" altLang="zh-CN" sz="2400" dirty="0">
                    <a:latin typeface="微软雅黑" panose="020B0503020204020204" pitchFamily="34" charset="-122"/>
                    <a:ea typeface="微软雅黑" panose="020B0503020204020204" pitchFamily="34" charset="-122"/>
                  </a:rPr>
                  <a:t>5</a:t>
                </a:r>
                <a:r>
                  <a:rPr lang="zh-CN" altLang="en-US" sz="2400" dirty="0">
                    <a:latin typeface="微软雅黑" panose="020B0503020204020204" pitchFamily="34" charset="-122"/>
                    <a:ea typeface="微软雅黑" panose="020B0503020204020204" pitchFamily="34" charset="-122"/>
                  </a:rPr>
                  <a:t>架飞机  （</a:t>
                </a:r>
                <a14:m>
                  <m:oMath xmlns:m="http://schemas.openxmlformats.org/officeDocument/2006/math">
                    <m:sSub>
                      <m:sSubPr>
                        <m:ctrlPr>
                          <a:rPr lang="en-US" altLang="zh-CN" sz="2400" i="1" dirty="0">
                            <a:latin typeface="Cambria Math"/>
                            <a:ea typeface="微软雅黑" panose="020B0503020204020204" pitchFamily="34" charset="-122"/>
                          </a:rPr>
                        </m:ctrlPr>
                      </m:sSubPr>
                      <m:e>
                        <m:r>
                          <a:rPr lang="en-US" altLang="zh-CN" sz="2400" dirty="0">
                            <a:latin typeface="Cambria Math"/>
                            <a:ea typeface="微软雅黑" panose="020B0503020204020204" pitchFamily="34" charset="-122"/>
                          </a:rPr>
                          <m:t>𝑃</m:t>
                        </m:r>
                      </m:e>
                      <m:sub>
                        <m:r>
                          <a:rPr lang="en-US" altLang="zh-CN" sz="2400" dirty="0">
                            <a:latin typeface="Cambria Math"/>
                            <a:ea typeface="微软雅黑" panose="020B0503020204020204" pitchFamily="34" charset="-122"/>
                          </a:rPr>
                          <m:t>𝑚</m:t>
                        </m:r>
                      </m:sub>
                    </m:sSub>
                  </m:oMath>
                </a14:m>
                <a:r>
                  <a:rPr lang="zh-CN" altLang="en-US" sz="2400" dirty="0">
                    <a:latin typeface="微软雅黑" panose="020B0503020204020204" pitchFamily="34" charset="-122"/>
                    <a:ea typeface="微软雅黑" panose="020B0503020204020204" pitchFamily="34" charset="-122"/>
                  </a:rPr>
                  <a:t>：</a:t>
                </a:r>
                <a:r>
                  <a:rPr lang="en-US" altLang="zh-CN" sz="2400" dirty="0">
                    <a:latin typeface="微软雅黑" panose="020B0503020204020204" pitchFamily="34" charset="-122"/>
                    <a:ea typeface="微软雅黑" panose="020B0503020204020204" pitchFamily="34" charset="-122"/>
                  </a:rPr>
                  <a:t>4000</a:t>
                </a:r>
                <a:r>
                  <a:rPr lang="zh-CN" altLang="en-US" sz="2400" dirty="0">
                    <a:latin typeface="微软雅黑" panose="020B0503020204020204" pitchFamily="34" charset="-122"/>
                    <a:ea typeface="微软雅黑" panose="020B0503020204020204" pitchFamily="34" charset="-122"/>
                  </a:rPr>
                  <a:t>万美元</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架） </a:t>
                </a:r>
                <a:endParaRPr lang="en-US" altLang="zh-CN" sz="2400" dirty="0">
                  <a:latin typeface="微软雅黑" panose="020B0503020204020204" pitchFamily="34" charset="-122"/>
                  <a:ea typeface="微软雅黑" panose="020B0503020204020204" pitchFamily="34" charset="-122"/>
                </a:endParaRPr>
              </a:p>
              <a:p>
                <a:pPr>
                  <a:lnSpc>
                    <a:spcPct val="100000"/>
                  </a:lnSpc>
                  <a:spcBef>
                    <a:spcPts val="1000"/>
                  </a:spcBef>
                </a:pPr>
                <a:endParaRPr lang="en-US" altLang="zh-CN" sz="2400" dirty="0" smtClean="0">
                  <a:latin typeface="微软雅黑" panose="020B0503020204020204" pitchFamily="34" charset="-122"/>
                  <a:ea typeface="微软雅黑" panose="020B0503020204020204" pitchFamily="34" charset="-122"/>
                </a:endParaRPr>
              </a:p>
              <a:p>
                <a:pPr marL="0" indent="0">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e=10</a:t>
                </a:r>
                <a:r>
                  <a:rPr lang="zh-CN" altLang="en-US" sz="2400" dirty="0">
                    <a:latin typeface="微软雅黑" panose="020B0503020204020204" pitchFamily="34" charset="-122"/>
                    <a:ea typeface="微软雅黑" panose="020B0503020204020204" pitchFamily="34" charset="-122"/>
                  </a:rPr>
                  <a:t>时，</a:t>
                </a:r>
              </a:p>
              <a:p>
                <a:pPr marL="0" indent="0">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出口</a:t>
                </a:r>
                <a:r>
                  <a:rPr lang="en-US" altLang="zh-CN" sz="2400" dirty="0">
                    <a:latin typeface="微软雅黑" panose="020B0503020204020204" pitchFamily="34" charset="-122"/>
                    <a:ea typeface="微软雅黑" panose="020B0503020204020204" pitchFamily="34" charset="-122"/>
                  </a:rPr>
                  <a:t>1.5</a:t>
                </a:r>
                <a:r>
                  <a:rPr lang="zh-CN" altLang="en-US" sz="2400" dirty="0">
                    <a:latin typeface="微软雅黑" panose="020B0503020204020204" pitchFamily="34" charset="-122"/>
                    <a:ea typeface="微软雅黑" panose="020B0503020204020204" pitchFamily="34" charset="-122"/>
                  </a:rPr>
                  <a:t>亿条裤子</a:t>
                </a:r>
              </a:p>
              <a:p>
                <a:pPr marL="0" indent="0">
                  <a:lnSpc>
                    <a:spcPct val="10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进口</a:t>
                </a:r>
                <a:r>
                  <a:rPr lang="en-US" altLang="zh-CN" sz="2400" dirty="0">
                    <a:latin typeface="微软雅黑" panose="020B0503020204020204" pitchFamily="34" charset="-122"/>
                    <a:ea typeface="微软雅黑" panose="020B0503020204020204" pitchFamily="34" charset="-122"/>
                  </a:rPr>
                  <a:t>4</a:t>
                </a:r>
                <a:r>
                  <a:rPr lang="zh-CN" altLang="en-US" sz="2400" dirty="0">
                    <a:latin typeface="微软雅黑" panose="020B0503020204020204" pitchFamily="34" charset="-122"/>
                    <a:ea typeface="微软雅黑" panose="020B0503020204020204" pitchFamily="34" charset="-122"/>
                  </a:rPr>
                  <a:t>架飞机</a:t>
                </a:r>
              </a:p>
              <a:p>
                <a:pPr>
                  <a:lnSpc>
                    <a:spcPct val="100000"/>
                  </a:lnSpc>
                  <a:spcBef>
                    <a:spcPts val="1000"/>
                  </a:spcBef>
                </a:pPr>
                <a:endParaRPr lang="zh-CN" altLang="en-US" sz="2800" dirty="0">
                  <a:latin typeface="微软雅黑" panose="020B0503020204020204" pitchFamily="34" charset="-122"/>
                  <a:ea typeface="微软雅黑" panose="020B0503020204020204" pitchFamily="34" charset="-122"/>
                </a:endParaRPr>
              </a:p>
              <a:p>
                <a:pPr>
                  <a:lnSpc>
                    <a:spcPct val="100000"/>
                  </a:lnSpc>
                  <a:spcBef>
                    <a:spcPts val="1000"/>
                  </a:spcBef>
                </a:pPr>
                <a:endParaRPr lang="zh-CN" altLang="en-US" sz="28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3"/>
                <a:stretch>
                  <a:fillRect l="-1692" t="-1339" b="-937"/>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4" name="文本框 3"/>
          <p:cNvSpPr txBox="1"/>
          <p:nvPr/>
        </p:nvSpPr>
        <p:spPr>
          <a:xfrm>
            <a:off x="6624859" y="2812800"/>
            <a:ext cx="2391973" cy="917079"/>
          </a:xfrm>
          <a:prstGeom prst="leftArrow">
            <a:avLst/>
          </a:prstGeom>
          <a:noFill/>
          <a:ln>
            <a:solidFill>
              <a:schemeClr val="accent1"/>
            </a:solidFill>
          </a:ln>
        </p:spPr>
        <p:txBody>
          <a:bodyPr wrap="square" rtlCol="0">
            <a:sp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贸易收支平衡！</a:t>
            </a:r>
          </a:p>
        </p:txBody>
      </p:sp>
      <p:sp>
        <p:nvSpPr>
          <p:cNvPr id="6" name="文本框 5"/>
          <p:cNvSpPr txBox="1"/>
          <p:nvPr/>
        </p:nvSpPr>
        <p:spPr>
          <a:xfrm>
            <a:off x="4572000" y="5013938"/>
            <a:ext cx="3372985" cy="917079"/>
          </a:xfrm>
          <a:prstGeom prst="leftArrow">
            <a:avLst/>
          </a:prstGeom>
          <a:noFill/>
          <a:ln>
            <a:solidFill>
              <a:schemeClr val="accent1"/>
            </a:solidFill>
          </a:ln>
        </p:spPr>
        <p:txBody>
          <a:bodyPr wrap="square" rtlCol="0">
            <a:spAutoFit/>
          </a:bodyPr>
          <a:lstStyle/>
          <a:p>
            <a:r>
              <a:rPr lang="en-US" altLang="zh-CN" sz="2400" dirty="0">
                <a:solidFill>
                  <a:srgbClr val="FF0000"/>
                </a:solidFill>
                <a:latin typeface="微软雅黑" panose="020B0503020204020204" pitchFamily="34" charset="-122"/>
                <a:ea typeface="微软雅黑" panose="020B0503020204020204" pitchFamily="34" charset="-122"/>
              </a:rPr>
              <a:t>0.1</a:t>
            </a:r>
            <a:r>
              <a:rPr lang="zh-CN" altLang="en-US" sz="2400" dirty="0">
                <a:solidFill>
                  <a:srgbClr val="FF0000"/>
                </a:solidFill>
                <a:latin typeface="微软雅黑" panose="020B0503020204020204" pitchFamily="34" charset="-122"/>
                <a:ea typeface="微软雅黑" panose="020B0503020204020204" pitchFamily="34" charset="-122"/>
              </a:rPr>
              <a:t>亿美元的贸易逆差！</a:t>
            </a:r>
          </a:p>
        </p:txBody>
      </p:sp>
    </p:spTree>
    <p:extLst>
      <p:ext uri="{BB962C8B-B14F-4D97-AF65-F5344CB8AC3E}">
        <p14:creationId xmlns:p14="http://schemas.microsoft.com/office/powerpoint/2010/main" val="3934068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2"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1+#ppt_w/2"/>
                                          </p:val>
                                        </p:tav>
                                        <p:tav tm="100000">
                                          <p:val>
                                            <p:strVal val="#ppt_x"/>
                                          </p:val>
                                        </p:tav>
                                      </p:tavLst>
                                    </p:anim>
                                    <p:anim calcmode="lin" valueType="num">
                                      <p:cBhvr additive="base">
                                        <p:cTn id="2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3">
                                            <p:txEl>
                                              <p:pRg st="8" end="8"/>
                                            </p:txEl>
                                          </p:spTgt>
                                        </p:tgtEl>
                                        <p:attrNameLst>
                                          <p:attrName>style.visibility</p:attrName>
                                        </p:attrNameLst>
                                      </p:cBhvr>
                                      <p:to>
                                        <p:strVal val="visible"/>
                                      </p:to>
                                    </p:set>
                                    <p:animEffect transition="in" filter="fade">
                                      <p:cBhvr>
                                        <p:cTn id="36" dur="500"/>
                                        <p:tgtEl>
                                          <p:spTgt spid="3">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 calcmode="lin" valueType="num">
                                      <p:cBhvr additive="base">
                                        <p:cTn id="41" dur="500" fill="hold"/>
                                        <p:tgtEl>
                                          <p:spTgt spid="6"/>
                                        </p:tgtEl>
                                        <p:attrNameLst>
                                          <p:attrName>ppt_x</p:attrName>
                                        </p:attrNameLst>
                                      </p:cBhvr>
                                      <p:tavLst>
                                        <p:tav tm="0">
                                          <p:val>
                                            <p:strVal val="1+#ppt_w/2"/>
                                          </p:val>
                                        </p:tav>
                                        <p:tav tm="100000">
                                          <p:val>
                                            <p:strVal val="#ppt_x"/>
                                          </p:val>
                                        </p:tav>
                                      </p:tavLst>
                                    </p:anim>
                                    <p:anim calcmode="lin" valueType="num">
                                      <p:cBhvr additive="base">
                                        <p:cTn id="4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a:t>
            </a:r>
            <a:r>
              <a:rPr lang="zh-CN" altLang="en-US" dirty="0" smtClean="0"/>
              <a:t>弹性</a:t>
            </a:r>
            <a:r>
              <a:rPr lang="zh-CN" altLang="en-US" dirty="0"/>
              <a:t>分析</a:t>
            </a:r>
            <a:r>
              <a:rPr lang="zh-CN" altLang="en-US" dirty="0" smtClean="0"/>
              <a:t>法</a:t>
            </a:r>
            <a:endParaRPr lang="zh-CN" altLang="en-US" dirty="0"/>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9" name="矩形 8"/>
          <p:cNvSpPr/>
          <p:nvPr/>
        </p:nvSpPr>
        <p:spPr>
          <a:xfrm>
            <a:off x="925689" y="1456268"/>
            <a:ext cx="6942667" cy="4154984"/>
          </a:xfrm>
          <a:prstGeom prst="rect">
            <a:avLst/>
          </a:prstGeom>
        </p:spPr>
        <p:txBody>
          <a:bodyPr wrap="square">
            <a:spAutoFit/>
          </a:bodyPr>
          <a:lstStyle/>
          <a:p>
            <a:pPr marL="609600" indent="-609600"/>
            <a:r>
              <a:rPr lang="zh-CN" altLang="en-US" sz="2400" dirty="0" smtClean="0">
                <a:ea typeface="黑体" pitchFamily="49" charset="-122"/>
              </a:rPr>
              <a:t>二、汇率变动与贸易收支</a:t>
            </a:r>
          </a:p>
          <a:p>
            <a:pPr marL="609600" indent="-609600">
              <a:lnSpc>
                <a:spcPct val="150000"/>
              </a:lnSpc>
            </a:pPr>
            <a:r>
              <a:rPr lang="zh-CN" altLang="en-US" sz="2000" dirty="0" smtClean="0">
                <a:solidFill>
                  <a:srgbClr val="00B0F0"/>
                </a:solidFill>
                <a:ea typeface="黑体" pitchFamily="49" charset="-122"/>
              </a:rPr>
              <a:t>	本币贬值（</a:t>
            </a:r>
            <a:r>
              <a:rPr lang="en-US" altLang="zh-CN" sz="2000" dirty="0" smtClean="0">
                <a:solidFill>
                  <a:srgbClr val="00B0F0"/>
                </a:solidFill>
                <a:ea typeface="黑体" pitchFamily="49" charset="-122"/>
              </a:rPr>
              <a:t>e</a:t>
            </a:r>
            <a:r>
              <a:rPr lang="zh-CN" altLang="en-US" sz="2000" dirty="0" smtClean="0">
                <a:solidFill>
                  <a:srgbClr val="00B0F0"/>
                </a:solidFill>
                <a:ea typeface="黑体" pitchFamily="49" charset="-122"/>
              </a:rPr>
              <a:t>上升）</a:t>
            </a:r>
            <a:r>
              <a:rPr lang="en-US" altLang="zh-CN" sz="2000" dirty="0" smtClean="0">
                <a:solidFill>
                  <a:srgbClr val="00B0F0"/>
                </a:solidFill>
                <a:ea typeface="黑体" pitchFamily="49" charset="-122"/>
              </a:rPr>
              <a:t>——</a:t>
            </a:r>
            <a:r>
              <a:rPr lang="zh-CN" altLang="en-US" sz="2000" dirty="0" smtClean="0">
                <a:solidFill>
                  <a:srgbClr val="00B0F0"/>
                </a:solidFill>
                <a:ea typeface="黑体" pitchFamily="49" charset="-122"/>
              </a:rPr>
              <a:t>在绝对价格不变条件下，本国商品劳务的相对价格下降</a:t>
            </a:r>
            <a:r>
              <a:rPr lang="en-US" altLang="zh-CN" sz="2000" dirty="0" smtClean="0">
                <a:solidFill>
                  <a:srgbClr val="00B0F0"/>
                </a:solidFill>
                <a:ea typeface="黑体" pitchFamily="49" charset="-122"/>
              </a:rPr>
              <a:t>——</a:t>
            </a:r>
            <a:r>
              <a:rPr lang="zh-CN" altLang="en-US" sz="2000" dirty="0" smtClean="0">
                <a:solidFill>
                  <a:srgbClr val="00B0F0"/>
                </a:solidFill>
                <a:ea typeface="黑体" pitchFamily="49" charset="-122"/>
              </a:rPr>
              <a:t>出口量增加、进口量减少，单位商品劳务的进口支出增加</a:t>
            </a:r>
            <a:r>
              <a:rPr lang="en-US" altLang="zh-CN" sz="2000" dirty="0" smtClean="0">
                <a:solidFill>
                  <a:srgbClr val="00B0F0"/>
                </a:solidFill>
                <a:ea typeface="黑体" pitchFamily="49" charset="-122"/>
              </a:rPr>
              <a:t>——</a:t>
            </a:r>
            <a:r>
              <a:rPr lang="zh-CN" altLang="en-US" sz="2000" dirty="0" smtClean="0">
                <a:solidFill>
                  <a:srgbClr val="00B0F0"/>
                </a:solidFill>
                <a:ea typeface="黑体" pitchFamily="49" charset="-122"/>
              </a:rPr>
              <a:t>贸易收支变化不确定</a:t>
            </a:r>
          </a:p>
          <a:p>
            <a:pPr marL="609600" indent="-609600">
              <a:lnSpc>
                <a:spcPct val="150000"/>
              </a:lnSpc>
            </a:pPr>
            <a:r>
              <a:rPr lang="zh-CN" altLang="en-US" sz="2000" dirty="0" smtClean="0">
                <a:solidFill>
                  <a:srgbClr val="00B0F0"/>
                </a:solidFill>
                <a:ea typeface="黑体" pitchFamily="49" charset="-122"/>
                <a:cs typeface="Arial" charset="0"/>
              </a:rPr>
              <a:t>			</a:t>
            </a:r>
            <a:endParaRPr lang="en-US" altLang="zh-CN" sz="2000" dirty="0" smtClean="0">
              <a:solidFill>
                <a:srgbClr val="00B0F0"/>
              </a:solidFill>
              <a:ea typeface="黑体" pitchFamily="49" charset="-122"/>
              <a:cs typeface="Arial" charset="0"/>
            </a:endParaRPr>
          </a:p>
          <a:p>
            <a:pPr marL="609600" indent="-609600">
              <a:lnSpc>
                <a:spcPct val="150000"/>
              </a:lnSpc>
            </a:pPr>
            <a:r>
              <a:rPr lang="en-US" altLang="zh-CN" sz="2000" dirty="0" smtClean="0">
                <a:solidFill>
                  <a:srgbClr val="00B0F0"/>
                </a:solidFill>
                <a:ea typeface="黑体" pitchFamily="49" charset="-122"/>
                <a:cs typeface="Arial" charset="0"/>
              </a:rPr>
              <a:t>			</a:t>
            </a:r>
            <a:r>
              <a:rPr lang="en-US" altLang="zh-CN" sz="2000" dirty="0" smtClean="0">
                <a:ea typeface="黑体" pitchFamily="49" charset="-122"/>
                <a:cs typeface="Arial" charset="0"/>
              </a:rPr>
              <a:t>TB=X•</a:t>
            </a:r>
            <a:r>
              <a:rPr lang="en-US" altLang="zh-CN" sz="2000" dirty="0" err="1" smtClean="0">
                <a:ea typeface="黑体" pitchFamily="49" charset="-122"/>
                <a:cs typeface="Arial" charset="0"/>
              </a:rPr>
              <a:t>P</a:t>
            </a:r>
            <a:r>
              <a:rPr lang="en-US" altLang="zh-CN" sz="2000" baseline="-25000" dirty="0" err="1" smtClean="0">
                <a:ea typeface="黑体" pitchFamily="49" charset="-122"/>
                <a:cs typeface="Arial" charset="0"/>
              </a:rPr>
              <a:t>x</a:t>
            </a:r>
            <a:r>
              <a:rPr lang="en-US" altLang="zh-CN" sz="2000" dirty="0" smtClean="0">
                <a:ea typeface="黑体" pitchFamily="49" charset="-122"/>
                <a:cs typeface="Arial" charset="0"/>
              </a:rPr>
              <a:t>−M• (</a:t>
            </a:r>
            <a:r>
              <a:rPr lang="en-US" altLang="zh-CN" sz="2000" dirty="0" err="1" smtClean="0">
                <a:ea typeface="黑体" pitchFamily="49" charset="-122"/>
                <a:cs typeface="Arial" charset="0"/>
              </a:rPr>
              <a:t>eP</a:t>
            </a:r>
            <a:r>
              <a:rPr lang="en-US" altLang="zh-CN" sz="2000" baseline="-25000" dirty="0" err="1" smtClean="0">
                <a:ea typeface="黑体" pitchFamily="49" charset="-122"/>
                <a:cs typeface="Arial" charset="0"/>
              </a:rPr>
              <a:t>m</a:t>
            </a:r>
            <a:r>
              <a:rPr lang="en-US" altLang="zh-CN" sz="2000" dirty="0" smtClean="0">
                <a:ea typeface="黑体" pitchFamily="49" charset="-122"/>
                <a:cs typeface="Arial" charset="0"/>
              </a:rPr>
              <a:t>)</a:t>
            </a:r>
          </a:p>
          <a:p>
            <a:pPr marL="609600" indent="-609600">
              <a:lnSpc>
                <a:spcPct val="150000"/>
              </a:lnSpc>
            </a:pPr>
            <a:r>
              <a:rPr lang="en-US" altLang="zh-CN" sz="2000" dirty="0" smtClean="0">
                <a:ea typeface="黑体" pitchFamily="49" charset="-122"/>
                <a:cs typeface="Arial" charset="0"/>
              </a:rPr>
              <a:t>			TB=X</a:t>
            </a:r>
            <a:r>
              <a:rPr lang="en-US" altLang="zh-CN" sz="2000" b="1" baseline="30000" dirty="0" smtClean="0">
                <a:ea typeface="黑体" pitchFamily="49" charset="-122"/>
                <a:cs typeface="Arial" charset="0"/>
              </a:rPr>
              <a:t>↑</a:t>
            </a:r>
            <a:r>
              <a:rPr lang="en-US" altLang="zh-CN" sz="2000" dirty="0" smtClean="0">
                <a:ea typeface="黑体" pitchFamily="49" charset="-122"/>
                <a:cs typeface="Arial" charset="0"/>
              </a:rPr>
              <a:t>•</a:t>
            </a:r>
            <a:r>
              <a:rPr lang="en-US" altLang="zh-CN" sz="2000" dirty="0" err="1" smtClean="0">
                <a:ea typeface="黑体" pitchFamily="49" charset="-122"/>
                <a:cs typeface="Arial" charset="0"/>
              </a:rPr>
              <a:t>P</a:t>
            </a:r>
            <a:r>
              <a:rPr lang="en-US" altLang="zh-CN" sz="2000" baseline="-25000" dirty="0" err="1" smtClean="0">
                <a:ea typeface="黑体" pitchFamily="49" charset="-122"/>
                <a:cs typeface="Arial" charset="0"/>
              </a:rPr>
              <a:t>x</a:t>
            </a:r>
            <a:r>
              <a:rPr lang="en-US" altLang="zh-CN" sz="2000" dirty="0" smtClean="0">
                <a:ea typeface="黑体" pitchFamily="49" charset="-122"/>
                <a:cs typeface="Arial" charset="0"/>
              </a:rPr>
              <a:t>−M</a:t>
            </a:r>
            <a:r>
              <a:rPr lang="en-US" altLang="zh-CN" sz="2000" b="1" baseline="30000" dirty="0" smtClean="0">
                <a:ea typeface="黑体" pitchFamily="49" charset="-122"/>
                <a:cs typeface="Arial" charset="0"/>
              </a:rPr>
              <a:t>↓</a:t>
            </a:r>
            <a:r>
              <a:rPr lang="en-US" altLang="zh-CN" sz="2000" dirty="0" smtClean="0">
                <a:ea typeface="黑体" pitchFamily="49" charset="-122"/>
                <a:cs typeface="Arial" charset="0"/>
              </a:rPr>
              <a:t>• (</a:t>
            </a:r>
            <a:r>
              <a:rPr lang="en-US" altLang="zh-CN" sz="2000" dirty="0" err="1" smtClean="0">
                <a:ea typeface="黑体" pitchFamily="49" charset="-122"/>
                <a:cs typeface="Arial" charset="0"/>
              </a:rPr>
              <a:t>e</a:t>
            </a:r>
            <a:r>
              <a:rPr lang="en-US" altLang="zh-CN" sz="2000" b="1" baseline="30000" dirty="0" err="1" smtClean="0">
                <a:ea typeface="黑体" pitchFamily="49" charset="-122"/>
                <a:cs typeface="Arial" charset="0"/>
              </a:rPr>
              <a:t>↑</a:t>
            </a:r>
            <a:r>
              <a:rPr lang="en-US" altLang="zh-CN" sz="2000" dirty="0" err="1" smtClean="0">
                <a:ea typeface="黑体" pitchFamily="49" charset="-122"/>
                <a:cs typeface="Arial" charset="0"/>
              </a:rPr>
              <a:t>P</a:t>
            </a:r>
            <a:r>
              <a:rPr lang="en-US" altLang="zh-CN" sz="2000" baseline="-25000" dirty="0" err="1" smtClean="0">
                <a:ea typeface="黑体" pitchFamily="49" charset="-122"/>
                <a:cs typeface="Arial" charset="0"/>
              </a:rPr>
              <a:t>m</a:t>
            </a:r>
            <a:r>
              <a:rPr lang="en-US" altLang="zh-CN" sz="2000" dirty="0" smtClean="0">
                <a:solidFill>
                  <a:srgbClr val="00B0F0"/>
                </a:solidFill>
                <a:ea typeface="黑体" pitchFamily="49" charset="-122"/>
                <a:cs typeface="Arial" charset="0"/>
              </a:rPr>
              <a:t>)</a:t>
            </a:r>
          </a:p>
          <a:p>
            <a:pPr marL="609600" indent="-609600">
              <a:lnSpc>
                <a:spcPct val="150000"/>
              </a:lnSpc>
            </a:pPr>
            <a:endParaRPr lang="en-US" altLang="zh-CN" sz="2000" dirty="0" smtClean="0">
              <a:solidFill>
                <a:srgbClr val="00B0F0"/>
              </a:solidFill>
              <a:ea typeface="黑体" pitchFamily="49" charset="-122"/>
              <a:cs typeface="Arial" charset="0"/>
            </a:endParaRPr>
          </a:p>
          <a:p>
            <a:pPr marL="609600" indent="-609600">
              <a:lnSpc>
                <a:spcPct val="150000"/>
              </a:lnSpc>
            </a:pPr>
            <a:r>
              <a:rPr lang="zh-CN" altLang="en-US" sz="2000" dirty="0" smtClean="0">
                <a:solidFill>
                  <a:srgbClr val="00B0F0"/>
                </a:solidFill>
                <a:ea typeface="黑体" pitchFamily="49" charset="-122"/>
                <a:cs typeface="Arial" charset="0"/>
              </a:rPr>
              <a:t>本币升值（</a:t>
            </a:r>
            <a:r>
              <a:rPr lang="en-US" altLang="zh-CN" sz="2000" dirty="0" smtClean="0">
                <a:solidFill>
                  <a:srgbClr val="00B0F0"/>
                </a:solidFill>
                <a:ea typeface="黑体" pitchFamily="49" charset="-122"/>
                <a:cs typeface="Arial" charset="0"/>
              </a:rPr>
              <a:t>e</a:t>
            </a:r>
            <a:r>
              <a:rPr lang="zh-CN" altLang="en-US" sz="2000" dirty="0" smtClean="0">
                <a:solidFill>
                  <a:srgbClr val="00B0F0"/>
                </a:solidFill>
                <a:ea typeface="黑体" pitchFamily="49" charset="-122"/>
                <a:cs typeface="Arial" charset="0"/>
              </a:rPr>
              <a:t>下降）对贸易收支的影响如何？</a:t>
            </a:r>
            <a:r>
              <a:rPr lang="zh-CN" altLang="en-US" dirty="0" smtClean="0">
                <a:solidFill>
                  <a:schemeClr val="bg1"/>
                </a:solidFill>
                <a:ea typeface="黑体" pitchFamily="49" charset="-122"/>
                <a:cs typeface="Arial" charset="0"/>
              </a:rPr>
              <a:t>）</a:t>
            </a:r>
          </a:p>
        </p:txBody>
      </p:sp>
    </p:spTree>
    <p:extLst>
      <p:ext uri="{BB962C8B-B14F-4D97-AF65-F5344CB8AC3E}">
        <p14:creationId xmlns:p14="http://schemas.microsoft.com/office/powerpoint/2010/main" val="4219341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a:t>
            </a:r>
            <a:r>
              <a:rPr lang="zh-CN" altLang="en-US" dirty="0" smtClean="0"/>
              <a:t>弹性</a:t>
            </a:r>
            <a:r>
              <a:rPr lang="zh-CN" altLang="en-US" dirty="0"/>
              <a:t>分析法</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6" name="内容占位符 5"/>
          <p:cNvSpPr>
            <a:spLocks noGrp="1"/>
          </p:cNvSpPr>
          <p:nvPr>
            <p:ph idx="1"/>
          </p:nvPr>
        </p:nvSpPr>
        <p:spPr/>
        <p:txBody>
          <a:bodyPr>
            <a:normAutofit fontScale="92500" lnSpcReduction="10000"/>
          </a:bodyPr>
          <a:lstStyle/>
          <a:p>
            <a:pPr>
              <a:lnSpc>
                <a:spcPct val="150000"/>
              </a:lnSpc>
              <a:buNone/>
            </a:pPr>
            <a:r>
              <a:rPr altLang="en-US" sz="2400" dirty="0" smtClean="0">
                <a:ea typeface="黑体" pitchFamily="49" charset="-122"/>
              </a:rPr>
              <a:t>二、汇率变动与贸易收支</a:t>
            </a:r>
          </a:p>
          <a:p>
            <a:pPr lvl="1">
              <a:lnSpc>
                <a:spcPct val="150000"/>
              </a:lnSpc>
              <a:buNone/>
            </a:pPr>
            <a:r>
              <a:rPr altLang="en-US" sz="2400" dirty="0" smtClean="0">
                <a:solidFill>
                  <a:srgbClr val="00B0F0"/>
                </a:solidFill>
                <a:ea typeface="黑体" pitchFamily="49" charset="-122"/>
              </a:rPr>
              <a:t>	结论：</a:t>
            </a:r>
          </a:p>
          <a:p>
            <a:pPr lvl="1">
              <a:lnSpc>
                <a:spcPct val="150000"/>
              </a:lnSpc>
              <a:buNone/>
            </a:pPr>
            <a:r>
              <a:rPr altLang="en-US" sz="2400" dirty="0" smtClean="0">
                <a:solidFill>
                  <a:srgbClr val="00B0F0"/>
                </a:solidFill>
                <a:ea typeface="黑体" pitchFamily="49" charset="-122"/>
              </a:rPr>
              <a:t>		    本币贬值对贸易收支的影响取决于</a:t>
            </a:r>
            <a:r>
              <a:rPr lang="en-US" altLang="zh-CN" sz="2400" dirty="0" smtClean="0">
                <a:solidFill>
                  <a:srgbClr val="00B0F0"/>
                </a:solidFill>
                <a:ea typeface="黑体" pitchFamily="49" charset="-122"/>
              </a:rPr>
              <a:t>e</a:t>
            </a:r>
            <a:r>
              <a:rPr altLang="en-US" sz="2400" dirty="0" smtClean="0">
                <a:solidFill>
                  <a:srgbClr val="00B0F0"/>
                </a:solidFill>
                <a:ea typeface="黑体" pitchFamily="49" charset="-122"/>
              </a:rPr>
              <a:t>、</a:t>
            </a:r>
            <a:r>
              <a:rPr lang="en-US" altLang="zh-CN" sz="2400" dirty="0" smtClean="0">
                <a:solidFill>
                  <a:srgbClr val="00B0F0"/>
                </a:solidFill>
                <a:ea typeface="黑体" pitchFamily="49" charset="-122"/>
              </a:rPr>
              <a:t>X</a:t>
            </a:r>
            <a:r>
              <a:rPr altLang="en-US" sz="2400" dirty="0" smtClean="0">
                <a:solidFill>
                  <a:srgbClr val="00B0F0"/>
                </a:solidFill>
                <a:ea typeface="黑体" pitchFamily="49" charset="-122"/>
              </a:rPr>
              <a:t>、</a:t>
            </a:r>
            <a:r>
              <a:rPr lang="en-US" altLang="zh-CN" sz="2400" dirty="0" smtClean="0">
                <a:solidFill>
                  <a:srgbClr val="00B0F0"/>
                </a:solidFill>
                <a:ea typeface="黑体" pitchFamily="49" charset="-122"/>
              </a:rPr>
              <a:t>M</a:t>
            </a:r>
            <a:r>
              <a:rPr altLang="en-US" sz="2400" dirty="0" smtClean="0">
                <a:solidFill>
                  <a:srgbClr val="00B0F0"/>
                </a:solidFill>
                <a:ea typeface="黑体" pitchFamily="49" charset="-122"/>
              </a:rPr>
              <a:t>的变动幅度对比，即取决于进出口数量对汇率变动的反应，亦即取决于进出口弹性。</a:t>
            </a:r>
          </a:p>
          <a:p>
            <a:pPr lvl="1">
              <a:lnSpc>
                <a:spcPct val="150000"/>
              </a:lnSpc>
              <a:buNone/>
            </a:pPr>
            <a:r>
              <a:rPr altLang="en-US" sz="2400" dirty="0" smtClean="0">
                <a:solidFill>
                  <a:srgbClr val="00B0F0"/>
                </a:solidFill>
                <a:ea typeface="黑体" pitchFamily="49" charset="-122"/>
              </a:rPr>
              <a:t>		    在进出口供给弹性无穷大的假设下，进出口数量和贸易收支的变动将完全取决于进出口的需求价格弹性。</a:t>
            </a:r>
          </a:p>
          <a:p>
            <a:endParaRPr lang="zh-CN" altLang="en-US" dirty="0"/>
          </a:p>
        </p:txBody>
      </p:sp>
    </p:spTree>
    <p:extLst>
      <p:ext uri="{BB962C8B-B14F-4D97-AF65-F5344CB8AC3E}">
        <p14:creationId xmlns:p14="http://schemas.microsoft.com/office/powerpoint/2010/main" val="2224498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a:t>
            </a:r>
            <a:r>
              <a:rPr lang="zh-CN" altLang="en-US" dirty="0" smtClean="0"/>
              <a:t>弹性</a:t>
            </a:r>
            <a:r>
              <a:rPr lang="zh-CN" altLang="en-US" dirty="0"/>
              <a:t>分析法</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矩形 6"/>
          <p:cNvSpPr/>
          <p:nvPr/>
        </p:nvSpPr>
        <p:spPr>
          <a:xfrm>
            <a:off x="1106310" y="1241779"/>
            <a:ext cx="7326489" cy="4893647"/>
          </a:xfrm>
          <a:prstGeom prst="rect">
            <a:avLst/>
          </a:prstGeom>
        </p:spPr>
        <p:txBody>
          <a:bodyPr wrap="square">
            <a:spAutoFit/>
          </a:bodyPr>
          <a:lstStyle/>
          <a:p>
            <a:r>
              <a:rPr lang="zh-CN" altLang="en-US" sz="2400" dirty="0" smtClean="0">
                <a:ea typeface="黑体" pitchFamily="49" charset="-122"/>
              </a:rPr>
              <a:t>三、马歇尔－勒纳条件（</a:t>
            </a:r>
            <a:r>
              <a:rPr lang="en-US" altLang="zh-CN" sz="2400" dirty="0" smtClean="0">
                <a:ea typeface="黑体" pitchFamily="49" charset="-122"/>
              </a:rPr>
              <a:t>Marshall-Lerner Condition</a:t>
            </a:r>
            <a:r>
              <a:rPr lang="zh-CN" altLang="en-US" sz="2400" dirty="0" smtClean="0">
                <a:ea typeface="黑体" pitchFamily="49" charset="-122"/>
              </a:rPr>
              <a:t>）</a:t>
            </a:r>
            <a:endParaRPr lang="en-US" altLang="zh-CN" sz="2400" dirty="0" smtClean="0">
              <a:ea typeface="黑体" pitchFamily="49" charset="-122"/>
            </a:endParaRPr>
          </a:p>
          <a:p>
            <a:endParaRPr lang="en-US" altLang="zh-CN" sz="2400" dirty="0" smtClean="0">
              <a:ea typeface="黑体" pitchFamily="49" charset="-122"/>
            </a:endParaRPr>
          </a:p>
          <a:p>
            <a:r>
              <a:rPr lang="en-US" altLang="zh-CN" sz="2400" dirty="0" smtClean="0">
                <a:ea typeface="黑体" pitchFamily="49" charset="-122"/>
              </a:rPr>
              <a:t> </a:t>
            </a:r>
            <a:r>
              <a:rPr lang="zh-CN" altLang="en-US" sz="2000" dirty="0" smtClean="0">
                <a:solidFill>
                  <a:srgbClr val="00B0F0"/>
                </a:solidFill>
                <a:ea typeface="黑体" pitchFamily="49" charset="-122"/>
              </a:rPr>
              <a:t>以本币贬值</a:t>
            </a:r>
            <a:r>
              <a:rPr lang="en-US" altLang="zh-CN" sz="2000" dirty="0" smtClean="0">
                <a:solidFill>
                  <a:srgbClr val="00B0F0"/>
                </a:solidFill>
                <a:ea typeface="黑体" pitchFamily="49" charset="-122"/>
              </a:rPr>
              <a:t>1%</a:t>
            </a:r>
            <a:r>
              <a:rPr lang="zh-CN" altLang="en-US" sz="2000" dirty="0" smtClean="0">
                <a:solidFill>
                  <a:srgbClr val="00B0F0"/>
                </a:solidFill>
                <a:ea typeface="黑体" pitchFamily="49" charset="-122"/>
              </a:rPr>
              <a:t>为例，</a:t>
            </a:r>
            <a:endParaRPr lang="en-US" altLang="zh-CN" sz="2000" dirty="0" smtClean="0">
              <a:solidFill>
                <a:srgbClr val="00B0F0"/>
              </a:solidFill>
              <a:ea typeface="黑体" pitchFamily="49" charset="-122"/>
            </a:endParaRPr>
          </a:p>
          <a:p>
            <a:endParaRPr lang="en-US" altLang="zh-CN" sz="2000" dirty="0" smtClean="0">
              <a:solidFill>
                <a:srgbClr val="00B0F0"/>
              </a:solidFill>
              <a:ea typeface="黑体" pitchFamily="49" charset="-122"/>
            </a:endParaRPr>
          </a:p>
          <a:p>
            <a:pPr>
              <a:lnSpc>
                <a:spcPct val="150000"/>
              </a:lnSpc>
            </a:pPr>
            <a:r>
              <a:rPr lang="en-US" altLang="zh-CN" sz="2000" dirty="0" smtClean="0">
                <a:solidFill>
                  <a:srgbClr val="00B0F0"/>
                </a:solidFill>
                <a:ea typeface="黑体" pitchFamily="49" charset="-122"/>
              </a:rPr>
              <a:t>1</a:t>
            </a:r>
            <a:r>
              <a:rPr lang="zh-CN" altLang="en-US" sz="2000" dirty="0" smtClean="0">
                <a:solidFill>
                  <a:srgbClr val="00B0F0"/>
                </a:solidFill>
                <a:ea typeface="黑体" pitchFamily="49" charset="-122"/>
              </a:rPr>
              <a:t>、出口数量（</a:t>
            </a:r>
            <a:r>
              <a:rPr lang="en-US" altLang="zh-CN" sz="2000" dirty="0" smtClean="0">
                <a:solidFill>
                  <a:srgbClr val="00B0F0"/>
                </a:solidFill>
                <a:ea typeface="黑体" pitchFamily="49" charset="-122"/>
              </a:rPr>
              <a:t>X</a:t>
            </a:r>
            <a:r>
              <a:rPr lang="zh-CN" altLang="en-US" sz="2000" dirty="0" smtClean="0">
                <a:solidFill>
                  <a:srgbClr val="00B0F0"/>
                </a:solidFill>
                <a:ea typeface="黑体" pitchFamily="49" charset="-122"/>
              </a:rPr>
              <a:t>）会增加</a:t>
            </a:r>
            <a:r>
              <a:rPr lang="el-GR" altLang="zh-CN" sz="2000" dirty="0" smtClean="0">
                <a:solidFill>
                  <a:srgbClr val="00B0F0"/>
                </a:solidFill>
                <a:ea typeface="黑体" pitchFamily="49" charset="-122"/>
              </a:rPr>
              <a:t>η</a:t>
            </a:r>
            <a:r>
              <a:rPr lang="en-US" altLang="zh-CN" sz="2000" baseline="-25000" dirty="0" smtClean="0">
                <a:solidFill>
                  <a:srgbClr val="00B0F0"/>
                </a:solidFill>
                <a:ea typeface="黑体" pitchFamily="49" charset="-122"/>
              </a:rPr>
              <a:t>x</a:t>
            </a:r>
            <a:r>
              <a:rPr lang="zh-CN" altLang="en-US" sz="2000" dirty="0" smtClean="0">
                <a:solidFill>
                  <a:srgbClr val="00B0F0"/>
                </a:solidFill>
                <a:ea typeface="黑体" pitchFamily="49" charset="-122"/>
              </a:rPr>
              <a:t>％（ </a:t>
            </a:r>
            <a:r>
              <a:rPr lang="el-GR" altLang="zh-CN" sz="2000" dirty="0" smtClean="0">
                <a:solidFill>
                  <a:srgbClr val="00B0F0"/>
                </a:solidFill>
                <a:ea typeface="黑体" pitchFamily="49" charset="-122"/>
              </a:rPr>
              <a:t>η</a:t>
            </a:r>
            <a:r>
              <a:rPr lang="en-US" altLang="zh-CN" sz="2000" baseline="-25000" dirty="0" smtClean="0">
                <a:solidFill>
                  <a:srgbClr val="00B0F0"/>
                </a:solidFill>
                <a:ea typeface="黑体" pitchFamily="49" charset="-122"/>
              </a:rPr>
              <a:t>x</a:t>
            </a:r>
            <a:r>
              <a:rPr lang="en-US" altLang="zh-CN" sz="2000" dirty="0" smtClean="0">
                <a:solidFill>
                  <a:srgbClr val="00B0F0"/>
                </a:solidFill>
                <a:ea typeface="黑体" pitchFamily="49" charset="-122"/>
              </a:rPr>
              <a:t> </a:t>
            </a:r>
            <a:r>
              <a:rPr lang="zh-CN" altLang="en-US" sz="2000" dirty="0" smtClean="0">
                <a:solidFill>
                  <a:srgbClr val="00B0F0"/>
                </a:solidFill>
                <a:ea typeface="黑体" pitchFamily="49" charset="-122"/>
              </a:rPr>
              <a:t>为出口需求价格弹性的绝对值），在本币价格不变的情况下以本币表示的出口收入变动为</a:t>
            </a:r>
            <a:r>
              <a:rPr lang="en-US" altLang="zh-CN" sz="2000" dirty="0" smtClean="0">
                <a:solidFill>
                  <a:srgbClr val="00B0F0"/>
                </a:solidFill>
                <a:ea typeface="黑体" pitchFamily="49" charset="-122"/>
              </a:rPr>
              <a:t>+</a:t>
            </a:r>
            <a:r>
              <a:rPr lang="el-GR" altLang="zh-CN" sz="2000" dirty="0" smtClean="0">
                <a:solidFill>
                  <a:srgbClr val="00B0F0"/>
                </a:solidFill>
                <a:ea typeface="黑体" pitchFamily="49" charset="-122"/>
              </a:rPr>
              <a:t>η</a:t>
            </a:r>
            <a:r>
              <a:rPr lang="en-US" altLang="zh-CN" sz="2000" baseline="-25000" dirty="0" smtClean="0">
                <a:solidFill>
                  <a:srgbClr val="00B0F0"/>
                </a:solidFill>
                <a:ea typeface="黑体" pitchFamily="49" charset="-122"/>
              </a:rPr>
              <a:t>x</a:t>
            </a:r>
            <a:r>
              <a:rPr lang="zh-CN" altLang="en-US" sz="2000" dirty="0" smtClean="0">
                <a:solidFill>
                  <a:srgbClr val="00B0F0"/>
                </a:solidFill>
                <a:ea typeface="黑体" pitchFamily="49" charset="-122"/>
              </a:rPr>
              <a:t>％</a:t>
            </a:r>
            <a:r>
              <a:rPr lang="en-US" altLang="zh-CN" sz="2000" dirty="0" err="1" smtClean="0">
                <a:solidFill>
                  <a:srgbClr val="00B0F0"/>
                </a:solidFill>
                <a:ea typeface="黑体" pitchFamily="49" charset="-122"/>
              </a:rPr>
              <a:t>P</a:t>
            </a:r>
            <a:r>
              <a:rPr lang="en-US" altLang="zh-CN" sz="2000" baseline="-25000" dirty="0" err="1" smtClean="0">
                <a:solidFill>
                  <a:srgbClr val="00B0F0"/>
                </a:solidFill>
                <a:ea typeface="黑体" pitchFamily="49" charset="-122"/>
              </a:rPr>
              <a:t>x</a:t>
            </a:r>
            <a:r>
              <a:rPr lang="en-US" altLang="zh-CN" sz="2000" dirty="0" err="1" smtClean="0">
                <a:solidFill>
                  <a:srgbClr val="00B0F0"/>
                </a:solidFill>
                <a:ea typeface="黑体" pitchFamily="49" charset="-122"/>
              </a:rPr>
              <a:t>X</a:t>
            </a:r>
            <a:r>
              <a:rPr lang="zh-CN" altLang="en-US" sz="2000" dirty="0" smtClean="0">
                <a:solidFill>
                  <a:srgbClr val="00B0F0"/>
                </a:solidFill>
                <a:ea typeface="黑体" pitchFamily="49" charset="-122"/>
              </a:rPr>
              <a:t>；</a:t>
            </a:r>
            <a:endParaRPr lang="en-US" altLang="zh-CN" sz="2000" dirty="0" smtClean="0">
              <a:solidFill>
                <a:srgbClr val="00B0F0"/>
              </a:solidFill>
              <a:ea typeface="黑体" pitchFamily="49" charset="-122"/>
            </a:endParaRPr>
          </a:p>
          <a:p>
            <a:pPr>
              <a:lnSpc>
                <a:spcPct val="150000"/>
              </a:lnSpc>
            </a:pPr>
            <a:endParaRPr lang="en-US" altLang="zh-CN" sz="2000" dirty="0" smtClean="0">
              <a:solidFill>
                <a:srgbClr val="00B0F0"/>
              </a:solidFill>
              <a:ea typeface="黑体" pitchFamily="49" charset="-122"/>
            </a:endParaRPr>
          </a:p>
          <a:p>
            <a:pPr>
              <a:lnSpc>
                <a:spcPct val="150000"/>
              </a:lnSpc>
            </a:pPr>
            <a:r>
              <a:rPr lang="en-US" altLang="zh-CN" sz="2000" dirty="0" smtClean="0">
                <a:solidFill>
                  <a:srgbClr val="00B0F0"/>
                </a:solidFill>
                <a:ea typeface="黑体" pitchFamily="49" charset="-122"/>
              </a:rPr>
              <a:t>2</a:t>
            </a:r>
            <a:r>
              <a:rPr lang="zh-CN" altLang="en-US" sz="2000" dirty="0" smtClean="0">
                <a:solidFill>
                  <a:srgbClr val="00B0F0"/>
                </a:solidFill>
                <a:ea typeface="黑体" pitchFamily="49" charset="-122"/>
              </a:rPr>
              <a:t>、进口数量（</a:t>
            </a:r>
            <a:r>
              <a:rPr lang="en-US" altLang="zh-CN" sz="2000" dirty="0" smtClean="0">
                <a:solidFill>
                  <a:srgbClr val="00B0F0"/>
                </a:solidFill>
                <a:ea typeface="黑体" pitchFamily="49" charset="-122"/>
              </a:rPr>
              <a:t>M</a:t>
            </a:r>
            <a:r>
              <a:rPr lang="zh-CN" altLang="en-US" sz="2000" dirty="0" smtClean="0">
                <a:solidFill>
                  <a:srgbClr val="00B0F0"/>
                </a:solidFill>
                <a:ea typeface="黑体" pitchFamily="49" charset="-122"/>
              </a:rPr>
              <a:t>）会减少</a:t>
            </a:r>
            <a:r>
              <a:rPr lang="el-GR" altLang="zh-CN" sz="2000" dirty="0" smtClean="0">
                <a:solidFill>
                  <a:srgbClr val="00B0F0"/>
                </a:solidFill>
                <a:ea typeface="黑体" pitchFamily="49" charset="-122"/>
              </a:rPr>
              <a:t>η</a:t>
            </a:r>
            <a:r>
              <a:rPr lang="en-US" altLang="zh-CN" sz="2000" baseline="-25000" dirty="0" smtClean="0">
                <a:solidFill>
                  <a:srgbClr val="00B0F0"/>
                </a:solidFill>
                <a:ea typeface="黑体" pitchFamily="49" charset="-122"/>
              </a:rPr>
              <a:t>m</a:t>
            </a:r>
            <a:r>
              <a:rPr lang="zh-CN" altLang="en-US" sz="2000" dirty="0" smtClean="0">
                <a:solidFill>
                  <a:srgbClr val="00B0F0"/>
                </a:solidFill>
                <a:ea typeface="黑体" pitchFamily="49" charset="-122"/>
              </a:rPr>
              <a:t>％（</a:t>
            </a:r>
            <a:r>
              <a:rPr lang="el-GR" altLang="zh-CN" sz="2000" dirty="0" smtClean="0">
                <a:solidFill>
                  <a:srgbClr val="00B0F0"/>
                </a:solidFill>
                <a:ea typeface="黑体" pitchFamily="49" charset="-122"/>
              </a:rPr>
              <a:t>η</a:t>
            </a:r>
            <a:r>
              <a:rPr lang="en-US" altLang="zh-CN" sz="2000" baseline="-25000" dirty="0" smtClean="0">
                <a:solidFill>
                  <a:srgbClr val="00B0F0"/>
                </a:solidFill>
                <a:ea typeface="黑体" pitchFamily="49" charset="-122"/>
              </a:rPr>
              <a:t>m</a:t>
            </a:r>
            <a:r>
              <a:rPr lang="zh-CN" altLang="en-US" sz="2000" dirty="0" smtClean="0">
                <a:solidFill>
                  <a:srgbClr val="00B0F0"/>
                </a:solidFill>
                <a:ea typeface="黑体" pitchFamily="49" charset="-122"/>
              </a:rPr>
              <a:t>为进口需求价格弹性的绝对值），因进口数量减少引起的进口支出变动为</a:t>
            </a:r>
            <a:r>
              <a:rPr lang="en-US" altLang="zh-CN" sz="2000" dirty="0" smtClean="0">
                <a:solidFill>
                  <a:srgbClr val="00B0F0"/>
                </a:solidFill>
                <a:ea typeface="黑体" pitchFamily="49" charset="-122"/>
              </a:rPr>
              <a:t>-</a:t>
            </a:r>
            <a:r>
              <a:rPr lang="el-GR" altLang="zh-CN" sz="2000" dirty="0" smtClean="0">
                <a:solidFill>
                  <a:srgbClr val="00B0F0"/>
                </a:solidFill>
                <a:ea typeface="黑体" pitchFamily="49" charset="-122"/>
              </a:rPr>
              <a:t>η</a:t>
            </a:r>
            <a:r>
              <a:rPr lang="en-US" altLang="zh-CN" sz="2000" baseline="-25000" dirty="0" smtClean="0">
                <a:solidFill>
                  <a:srgbClr val="00B0F0"/>
                </a:solidFill>
                <a:ea typeface="黑体" pitchFamily="49" charset="-122"/>
              </a:rPr>
              <a:t>m</a:t>
            </a:r>
            <a:r>
              <a:rPr lang="zh-CN" altLang="en-US" sz="2000" dirty="0" smtClean="0">
                <a:solidFill>
                  <a:srgbClr val="00B0F0"/>
                </a:solidFill>
                <a:ea typeface="黑体" pitchFamily="49" charset="-122"/>
              </a:rPr>
              <a:t>％</a:t>
            </a:r>
            <a:r>
              <a:rPr lang="en-US" altLang="zh-CN" sz="2000" dirty="0" err="1" smtClean="0">
                <a:solidFill>
                  <a:srgbClr val="00B0F0"/>
                </a:solidFill>
                <a:ea typeface="黑体" pitchFamily="49" charset="-122"/>
              </a:rPr>
              <a:t>eP</a:t>
            </a:r>
            <a:r>
              <a:rPr lang="en-US" altLang="zh-CN" sz="2000" baseline="-25000" dirty="0" err="1" smtClean="0">
                <a:solidFill>
                  <a:srgbClr val="00B0F0"/>
                </a:solidFill>
                <a:ea typeface="黑体" pitchFamily="49" charset="-122"/>
              </a:rPr>
              <a:t>m</a:t>
            </a:r>
            <a:r>
              <a:rPr lang="en-US" altLang="zh-CN" sz="2000" dirty="0" err="1" smtClean="0">
                <a:solidFill>
                  <a:srgbClr val="00B0F0"/>
                </a:solidFill>
                <a:ea typeface="黑体" pitchFamily="49" charset="-122"/>
              </a:rPr>
              <a:t>M</a:t>
            </a:r>
            <a:r>
              <a:rPr lang="en-US" altLang="zh-CN" sz="2000" dirty="0" smtClean="0">
                <a:solidFill>
                  <a:srgbClr val="00B0F0"/>
                </a:solidFill>
                <a:ea typeface="黑体" pitchFamily="49" charset="-122"/>
              </a:rPr>
              <a:t> </a:t>
            </a:r>
            <a:r>
              <a:rPr lang="zh-CN" altLang="en-US" sz="2000" dirty="0" smtClean="0">
                <a:solidFill>
                  <a:srgbClr val="00B0F0"/>
                </a:solidFill>
                <a:ea typeface="黑体" pitchFamily="49" charset="-122"/>
              </a:rPr>
              <a:t>；</a:t>
            </a:r>
          </a:p>
          <a:p>
            <a:endParaRPr lang="zh-CN" altLang="en-US" sz="2000" dirty="0" smtClean="0">
              <a:solidFill>
                <a:srgbClr val="00B0F0"/>
              </a:solidFill>
              <a:ea typeface="黑体" pitchFamily="49" charset="-122"/>
            </a:endParaRPr>
          </a:p>
          <a:p>
            <a:r>
              <a:rPr lang="zh-CN" altLang="en-US" sz="2000" dirty="0" smtClean="0">
                <a:solidFill>
                  <a:srgbClr val="00B0F0"/>
                </a:solidFill>
                <a:ea typeface="黑体" pitchFamily="49" charset="-122"/>
              </a:rPr>
              <a:t>		</a:t>
            </a:r>
          </a:p>
        </p:txBody>
      </p:sp>
    </p:spTree>
    <p:extLst>
      <p:ext uri="{BB962C8B-B14F-4D97-AF65-F5344CB8AC3E}">
        <p14:creationId xmlns:p14="http://schemas.microsoft.com/office/powerpoint/2010/main" val="2965220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a:t>
            </a:r>
            <a:r>
              <a:rPr lang="zh-CN" altLang="en-US" dirty="0" smtClean="0"/>
              <a:t>弹性</a:t>
            </a:r>
            <a:r>
              <a:rPr lang="zh-CN" altLang="en-US" dirty="0"/>
              <a:t>分析法</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7" name="矩形 6"/>
          <p:cNvSpPr/>
          <p:nvPr/>
        </p:nvSpPr>
        <p:spPr>
          <a:xfrm>
            <a:off x="1106310" y="1241779"/>
            <a:ext cx="7326489" cy="4893647"/>
          </a:xfrm>
          <a:prstGeom prst="rect">
            <a:avLst/>
          </a:prstGeom>
        </p:spPr>
        <p:txBody>
          <a:bodyPr wrap="square">
            <a:spAutoFit/>
          </a:bodyPr>
          <a:lstStyle/>
          <a:p>
            <a:r>
              <a:rPr lang="zh-CN" altLang="en-US" sz="2400" dirty="0" smtClean="0">
                <a:ea typeface="黑体" pitchFamily="49" charset="-122"/>
              </a:rPr>
              <a:t>三、马歇尔－勒纳条件（</a:t>
            </a:r>
            <a:r>
              <a:rPr lang="en-US" altLang="zh-CN" sz="2400" dirty="0" smtClean="0">
                <a:ea typeface="黑体" pitchFamily="49" charset="-122"/>
              </a:rPr>
              <a:t>Marshall-Lerner Condition</a:t>
            </a:r>
            <a:r>
              <a:rPr lang="zh-CN" altLang="en-US" sz="2400" dirty="0" smtClean="0">
                <a:ea typeface="黑体" pitchFamily="49" charset="-122"/>
              </a:rPr>
              <a:t>）</a:t>
            </a:r>
            <a:endParaRPr lang="en-US" altLang="zh-CN" sz="2400" dirty="0" smtClean="0">
              <a:ea typeface="黑体" pitchFamily="49" charset="-122"/>
            </a:endParaRPr>
          </a:p>
          <a:p>
            <a:endParaRPr lang="en-US" altLang="zh-CN" sz="2400" dirty="0" smtClean="0">
              <a:ea typeface="黑体" pitchFamily="49" charset="-122"/>
            </a:endParaRPr>
          </a:p>
          <a:p>
            <a:r>
              <a:rPr lang="en-US" altLang="zh-CN" sz="2400" dirty="0" smtClean="0">
                <a:ea typeface="黑体" pitchFamily="49" charset="-122"/>
              </a:rPr>
              <a:t> </a:t>
            </a:r>
            <a:r>
              <a:rPr lang="zh-CN" altLang="en-US" sz="2000" dirty="0" smtClean="0">
                <a:solidFill>
                  <a:srgbClr val="00B0F0"/>
                </a:solidFill>
                <a:ea typeface="黑体" pitchFamily="49" charset="-122"/>
              </a:rPr>
              <a:t>以本币贬值</a:t>
            </a:r>
            <a:r>
              <a:rPr lang="en-US" altLang="zh-CN" sz="2000" dirty="0" smtClean="0">
                <a:solidFill>
                  <a:srgbClr val="00B0F0"/>
                </a:solidFill>
                <a:ea typeface="黑体" pitchFamily="49" charset="-122"/>
              </a:rPr>
              <a:t>1%</a:t>
            </a:r>
            <a:r>
              <a:rPr lang="zh-CN" altLang="en-US" sz="2000" dirty="0" smtClean="0">
                <a:solidFill>
                  <a:srgbClr val="00B0F0"/>
                </a:solidFill>
                <a:ea typeface="黑体" pitchFamily="49" charset="-122"/>
              </a:rPr>
              <a:t>为例，</a:t>
            </a:r>
            <a:endParaRPr lang="en-US" altLang="zh-CN" sz="2000" dirty="0" smtClean="0">
              <a:solidFill>
                <a:srgbClr val="00B0F0"/>
              </a:solidFill>
              <a:ea typeface="黑体" pitchFamily="49" charset="-122"/>
            </a:endParaRPr>
          </a:p>
          <a:p>
            <a:endParaRPr lang="en-US" altLang="zh-CN" sz="2000" dirty="0" smtClean="0">
              <a:solidFill>
                <a:srgbClr val="00B0F0"/>
              </a:solidFill>
              <a:ea typeface="黑体" pitchFamily="49" charset="-122"/>
            </a:endParaRPr>
          </a:p>
          <a:p>
            <a:pPr>
              <a:spcBef>
                <a:spcPct val="50000"/>
              </a:spcBef>
            </a:pPr>
            <a:r>
              <a:rPr lang="en-US" altLang="zh-CN" sz="2000" dirty="0" smtClean="0">
                <a:solidFill>
                  <a:srgbClr val="00B0F0"/>
                </a:solidFill>
                <a:ea typeface="黑体" pitchFamily="49" charset="-122"/>
              </a:rPr>
              <a:t>3</a:t>
            </a:r>
            <a:r>
              <a:rPr lang="zh-CN" altLang="en-US" sz="2000" dirty="0" smtClean="0">
                <a:solidFill>
                  <a:srgbClr val="00B0F0"/>
                </a:solidFill>
                <a:ea typeface="黑体" pitchFamily="49" charset="-122"/>
              </a:rPr>
              <a:t>、因本币贬值，进口的本币价格上升</a:t>
            </a:r>
            <a:r>
              <a:rPr lang="en-US" altLang="zh-CN" sz="2000" dirty="0" smtClean="0">
                <a:solidFill>
                  <a:srgbClr val="00B0F0"/>
                </a:solidFill>
                <a:ea typeface="黑体" pitchFamily="49" charset="-122"/>
              </a:rPr>
              <a:t>1</a:t>
            </a:r>
            <a:r>
              <a:rPr lang="zh-CN" altLang="en-US" sz="2000" dirty="0" smtClean="0">
                <a:solidFill>
                  <a:srgbClr val="00B0F0"/>
                </a:solidFill>
                <a:ea typeface="黑体" pitchFamily="49" charset="-122"/>
              </a:rPr>
              <a:t>％，从而引起的进口支出变动为</a:t>
            </a:r>
            <a:r>
              <a:rPr lang="en-US" altLang="zh-CN" sz="2000" dirty="0" smtClean="0">
                <a:solidFill>
                  <a:srgbClr val="00B0F0"/>
                </a:solidFill>
                <a:ea typeface="黑体" pitchFamily="49" charset="-122"/>
              </a:rPr>
              <a:t>+1%eP</a:t>
            </a:r>
            <a:r>
              <a:rPr lang="en-US" altLang="zh-CN" sz="2000" baseline="-25000" dirty="0" smtClean="0">
                <a:solidFill>
                  <a:srgbClr val="00B0F0"/>
                </a:solidFill>
                <a:ea typeface="黑体" pitchFamily="49" charset="-122"/>
              </a:rPr>
              <a:t>m</a:t>
            </a:r>
            <a:r>
              <a:rPr lang="en-US" altLang="zh-CN" sz="2000" dirty="0" smtClean="0">
                <a:solidFill>
                  <a:srgbClr val="00B0F0"/>
                </a:solidFill>
                <a:ea typeface="黑体" pitchFamily="49" charset="-122"/>
              </a:rPr>
              <a:t>M</a:t>
            </a:r>
            <a:r>
              <a:rPr lang="zh-CN" altLang="en-US" sz="2000" dirty="0" smtClean="0">
                <a:solidFill>
                  <a:srgbClr val="00B0F0"/>
                </a:solidFill>
                <a:ea typeface="黑体" pitchFamily="49" charset="-122"/>
              </a:rPr>
              <a:t>。</a:t>
            </a:r>
            <a:endParaRPr lang="en-US" altLang="zh-CN" sz="2000" dirty="0" smtClean="0">
              <a:solidFill>
                <a:srgbClr val="00B0F0"/>
              </a:solidFill>
              <a:ea typeface="黑体" pitchFamily="49" charset="-122"/>
            </a:endParaRPr>
          </a:p>
          <a:p>
            <a:pPr lvl="1">
              <a:lnSpc>
                <a:spcPct val="150000"/>
              </a:lnSpc>
            </a:pPr>
            <a:endParaRPr lang="en-US" altLang="zh-CN" sz="2000" dirty="0" smtClean="0">
              <a:solidFill>
                <a:srgbClr val="00B0F0"/>
              </a:solidFill>
              <a:ea typeface="黑体" pitchFamily="49" charset="-122"/>
            </a:endParaRPr>
          </a:p>
          <a:p>
            <a:pPr lvl="1">
              <a:lnSpc>
                <a:spcPct val="150000"/>
              </a:lnSpc>
            </a:pPr>
            <a:r>
              <a:rPr lang="zh-CN" altLang="en-US" sz="2000" dirty="0" smtClean="0">
                <a:solidFill>
                  <a:srgbClr val="00B0F0"/>
                </a:solidFill>
                <a:ea typeface="黑体" pitchFamily="49" charset="-122"/>
              </a:rPr>
              <a:t>综合进出口支出变动：</a:t>
            </a:r>
          </a:p>
          <a:p>
            <a:pPr lvl="2">
              <a:lnSpc>
                <a:spcPct val="150000"/>
              </a:lnSpc>
            </a:pPr>
            <a:r>
              <a:rPr lang="zh-CN" altLang="en-US" sz="2000" dirty="0" smtClean="0">
                <a:solidFill>
                  <a:srgbClr val="00B0F0"/>
                </a:solidFill>
                <a:ea typeface="黑体" pitchFamily="49" charset="-122"/>
              </a:rPr>
              <a:t>收入</a:t>
            </a:r>
            <a:r>
              <a:rPr lang="en-US" altLang="zh-CN" sz="2000" dirty="0" smtClean="0">
                <a:solidFill>
                  <a:srgbClr val="00B0F0"/>
                </a:solidFill>
                <a:ea typeface="黑体" pitchFamily="49" charset="-122"/>
              </a:rPr>
              <a:t>+</a:t>
            </a:r>
            <a:r>
              <a:rPr lang="el-GR" altLang="zh-CN" sz="2000" dirty="0" smtClean="0">
                <a:solidFill>
                  <a:srgbClr val="00B0F0"/>
                </a:solidFill>
                <a:ea typeface="黑体" pitchFamily="49" charset="-122"/>
              </a:rPr>
              <a:t>η</a:t>
            </a:r>
            <a:r>
              <a:rPr lang="en-US" altLang="zh-CN" sz="2000" baseline="-25000" dirty="0" smtClean="0">
                <a:solidFill>
                  <a:srgbClr val="00B0F0"/>
                </a:solidFill>
                <a:ea typeface="黑体" pitchFamily="49" charset="-122"/>
              </a:rPr>
              <a:t>x</a:t>
            </a:r>
            <a:r>
              <a:rPr lang="zh-CN" altLang="en-US" sz="2000" dirty="0" smtClean="0">
                <a:solidFill>
                  <a:srgbClr val="00B0F0"/>
                </a:solidFill>
                <a:ea typeface="黑体" pitchFamily="49" charset="-122"/>
              </a:rPr>
              <a:t>％</a:t>
            </a:r>
            <a:r>
              <a:rPr lang="en-US" altLang="zh-CN" sz="2000" dirty="0" err="1" smtClean="0">
                <a:solidFill>
                  <a:srgbClr val="00B0F0"/>
                </a:solidFill>
                <a:ea typeface="黑体" pitchFamily="49" charset="-122"/>
              </a:rPr>
              <a:t>P</a:t>
            </a:r>
            <a:r>
              <a:rPr lang="en-US" altLang="zh-CN" sz="2000" baseline="-25000" dirty="0" err="1" smtClean="0">
                <a:solidFill>
                  <a:srgbClr val="00B0F0"/>
                </a:solidFill>
                <a:ea typeface="黑体" pitchFamily="49" charset="-122"/>
              </a:rPr>
              <a:t>x</a:t>
            </a:r>
            <a:r>
              <a:rPr lang="en-US" altLang="zh-CN" sz="2000" dirty="0" err="1" smtClean="0">
                <a:solidFill>
                  <a:srgbClr val="00B0F0"/>
                </a:solidFill>
                <a:ea typeface="黑体" pitchFamily="49" charset="-122"/>
              </a:rPr>
              <a:t>X</a:t>
            </a:r>
            <a:endParaRPr lang="en-US" altLang="zh-CN" sz="2000" dirty="0" smtClean="0">
              <a:solidFill>
                <a:srgbClr val="00B0F0"/>
              </a:solidFill>
              <a:ea typeface="黑体" pitchFamily="49" charset="-122"/>
            </a:endParaRPr>
          </a:p>
          <a:p>
            <a:pPr lvl="2">
              <a:lnSpc>
                <a:spcPct val="150000"/>
              </a:lnSpc>
            </a:pPr>
            <a:r>
              <a:rPr lang="zh-CN" altLang="en-US" sz="2000" dirty="0" smtClean="0">
                <a:solidFill>
                  <a:srgbClr val="00B0F0"/>
                </a:solidFill>
                <a:ea typeface="黑体" pitchFamily="49" charset="-122"/>
              </a:rPr>
              <a:t>支出</a:t>
            </a:r>
            <a:r>
              <a:rPr lang="en-US" altLang="zh-CN" sz="2000" dirty="0" smtClean="0">
                <a:solidFill>
                  <a:srgbClr val="00B0F0"/>
                </a:solidFill>
                <a:ea typeface="黑体" pitchFamily="49" charset="-122"/>
              </a:rPr>
              <a:t>-</a:t>
            </a:r>
            <a:r>
              <a:rPr lang="el-GR" altLang="zh-CN" sz="2000" dirty="0" smtClean="0">
                <a:solidFill>
                  <a:srgbClr val="00B0F0"/>
                </a:solidFill>
                <a:ea typeface="黑体" pitchFamily="49" charset="-122"/>
              </a:rPr>
              <a:t>η</a:t>
            </a:r>
            <a:r>
              <a:rPr lang="en-US" altLang="zh-CN" sz="2000" baseline="-25000" dirty="0" smtClean="0">
                <a:solidFill>
                  <a:srgbClr val="00B0F0"/>
                </a:solidFill>
                <a:ea typeface="黑体" pitchFamily="49" charset="-122"/>
              </a:rPr>
              <a:t>m</a:t>
            </a:r>
            <a:r>
              <a:rPr lang="zh-CN" altLang="en-US" sz="2000" dirty="0" smtClean="0">
                <a:solidFill>
                  <a:srgbClr val="00B0F0"/>
                </a:solidFill>
                <a:ea typeface="黑体" pitchFamily="49" charset="-122"/>
              </a:rPr>
              <a:t>％</a:t>
            </a:r>
            <a:r>
              <a:rPr lang="en-US" altLang="zh-CN" sz="2000" dirty="0" err="1" smtClean="0">
                <a:solidFill>
                  <a:srgbClr val="00B0F0"/>
                </a:solidFill>
                <a:ea typeface="黑体" pitchFamily="49" charset="-122"/>
              </a:rPr>
              <a:t>eP</a:t>
            </a:r>
            <a:r>
              <a:rPr lang="en-US" altLang="zh-CN" sz="2000" baseline="-25000" dirty="0" err="1" smtClean="0">
                <a:solidFill>
                  <a:srgbClr val="00B0F0"/>
                </a:solidFill>
                <a:ea typeface="黑体" pitchFamily="49" charset="-122"/>
              </a:rPr>
              <a:t>m</a:t>
            </a:r>
            <a:r>
              <a:rPr lang="en-US" altLang="zh-CN" sz="2000" dirty="0" err="1" smtClean="0">
                <a:solidFill>
                  <a:srgbClr val="00B0F0"/>
                </a:solidFill>
                <a:ea typeface="黑体" pitchFamily="49" charset="-122"/>
              </a:rPr>
              <a:t>M</a:t>
            </a:r>
            <a:r>
              <a:rPr lang="en-US" altLang="zh-CN" sz="2000" dirty="0" smtClean="0">
                <a:solidFill>
                  <a:srgbClr val="00B0F0"/>
                </a:solidFill>
                <a:ea typeface="黑体" pitchFamily="49" charset="-122"/>
              </a:rPr>
              <a:t> </a:t>
            </a:r>
          </a:p>
          <a:p>
            <a:pPr lvl="2">
              <a:lnSpc>
                <a:spcPct val="150000"/>
              </a:lnSpc>
            </a:pPr>
            <a:r>
              <a:rPr lang="zh-CN" altLang="en-US" sz="2000" dirty="0" smtClean="0">
                <a:solidFill>
                  <a:srgbClr val="00B0F0"/>
                </a:solidFill>
                <a:ea typeface="黑体" pitchFamily="49" charset="-122"/>
              </a:rPr>
              <a:t>支出</a:t>
            </a:r>
            <a:r>
              <a:rPr lang="en-US" altLang="zh-CN" sz="2000" dirty="0" smtClean="0">
                <a:solidFill>
                  <a:srgbClr val="00B0F0"/>
                </a:solidFill>
                <a:ea typeface="黑体" pitchFamily="49" charset="-122"/>
              </a:rPr>
              <a:t>+ 1%eP</a:t>
            </a:r>
            <a:r>
              <a:rPr lang="en-US" altLang="zh-CN" sz="2000" baseline="-25000" dirty="0" smtClean="0">
                <a:solidFill>
                  <a:srgbClr val="00B0F0"/>
                </a:solidFill>
                <a:ea typeface="黑体" pitchFamily="49" charset="-122"/>
              </a:rPr>
              <a:t>m</a:t>
            </a:r>
            <a:r>
              <a:rPr lang="en-US" altLang="zh-CN" sz="2000" dirty="0" smtClean="0">
                <a:solidFill>
                  <a:srgbClr val="00B0F0"/>
                </a:solidFill>
                <a:ea typeface="黑体" pitchFamily="49" charset="-122"/>
              </a:rPr>
              <a:t>M</a:t>
            </a:r>
            <a:endParaRPr lang="zh-CN" altLang="en-US" sz="2000" dirty="0" smtClean="0">
              <a:solidFill>
                <a:srgbClr val="00B0F0"/>
              </a:solidFill>
              <a:ea typeface="黑体" pitchFamily="49" charset="-122"/>
            </a:endParaRPr>
          </a:p>
          <a:p>
            <a:pPr lvl="1"/>
            <a:r>
              <a:rPr lang="zh-CN" altLang="en-US" sz="2000" dirty="0" smtClean="0">
                <a:solidFill>
                  <a:srgbClr val="00B0F0"/>
                </a:solidFill>
                <a:ea typeface="黑体" pitchFamily="49" charset="-122"/>
              </a:rPr>
              <a:t>		</a:t>
            </a:r>
          </a:p>
        </p:txBody>
      </p:sp>
    </p:spTree>
    <p:extLst>
      <p:ext uri="{BB962C8B-B14F-4D97-AF65-F5344CB8AC3E}">
        <p14:creationId xmlns:p14="http://schemas.microsoft.com/office/powerpoint/2010/main" val="2965220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a:t>
            </a:r>
            <a:r>
              <a:rPr lang="zh-CN" altLang="en-US" dirty="0" smtClean="0"/>
              <a:t>弹性</a:t>
            </a:r>
            <a:r>
              <a:rPr lang="zh-CN" altLang="en-US" dirty="0"/>
              <a:t>分析法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marL="0" indent="0">
                  <a:lnSpc>
                    <a:spcPct val="110000"/>
                  </a:lnSpc>
                  <a:spcBef>
                    <a:spcPts val="1000"/>
                  </a:spcBef>
                  <a:buNone/>
                </a:pPr>
                <a:r>
                  <a:rPr lang="zh-CN" altLang="en-US" dirty="0" smtClean="0">
                    <a:latin typeface="微软雅黑" panose="020B0503020204020204" pitchFamily="34" charset="-122"/>
                    <a:ea typeface="微软雅黑" panose="020B0503020204020204" pitchFamily="34" charset="-122"/>
                  </a:rPr>
                  <a:t>三、马歇尔－勒纳条件（</a:t>
                </a:r>
                <a:r>
                  <a:rPr lang="en-US" altLang="zh-CN" dirty="0">
                    <a:latin typeface="微软雅黑" panose="020B0503020204020204" pitchFamily="34" charset="-122"/>
                    <a:ea typeface="微软雅黑" panose="020B0503020204020204" pitchFamily="34" charset="-122"/>
                  </a:rPr>
                  <a:t>Marshall-Lerner Condition</a:t>
                </a:r>
                <a:r>
                  <a:rPr lang="zh-CN" altLang="en-US" dirty="0">
                    <a:latin typeface="微软雅黑" panose="020B0503020204020204" pitchFamily="34" charset="-122"/>
                    <a:ea typeface="微软雅黑" panose="020B0503020204020204" pitchFamily="34" charset="-122"/>
                  </a:rPr>
                  <a:t>）</a:t>
                </a:r>
              </a:p>
              <a:p>
                <a:pPr marL="0" indent="0">
                  <a:lnSpc>
                    <a:spcPct val="110000"/>
                  </a:lnSpc>
                  <a:spcBef>
                    <a:spcPts val="1000"/>
                  </a:spcBef>
                  <a:buNone/>
                </a:pPr>
                <a:endParaRPr lang="en-US" altLang="zh-CN" sz="2400" dirty="0">
                  <a:latin typeface="微软雅黑" panose="020B0503020204020204" pitchFamily="34" charset="-122"/>
                  <a:ea typeface="微软雅黑" panose="020B0503020204020204" pitchFamily="34" charset="-122"/>
                </a:endParaRPr>
              </a:p>
              <a:p>
                <a:pPr marL="0" indent="0">
                  <a:lnSpc>
                    <a:spcPct val="110000"/>
                  </a:lnSpc>
                  <a:spcBef>
                    <a:spcPts val="1000"/>
                  </a:spcBef>
                  <a:buNone/>
                </a:pPr>
                <a:r>
                  <a:rPr lang="zh-CN" altLang="en-US" dirty="0" smtClean="0">
                    <a:latin typeface="微软雅黑" panose="020B0503020204020204" pitchFamily="34" charset="-122"/>
                    <a:ea typeface="微软雅黑" panose="020B0503020204020204" pitchFamily="34" charset="-122"/>
                  </a:rPr>
                  <a:t>即：</a:t>
                </a:r>
                <a:endParaRPr lang="en-US" altLang="zh-CN" dirty="0" smtClean="0">
                  <a:latin typeface="微软雅黑" panose="020B0503020204020204" pitchFamily="34" charset="-122"/>
                  <a:ea typeface="微软雅黑" panose="020B0503020204020204" pitchFamily="34" charset="-122"/>
                </a:endParaRPr>
              </a:p>
              <a:p>
                <a:pPr marL="0" indent="0">
                  <a:lnSpc>
                    <a:spcPct val="110000"/>
                  </a:lnSpc>
                  <a:spcBef>
                    <a:spcPts val="1000"/>
                  </a:spcBef>
                  <a:buNone/>
                </a:pPr>
                <a:r>
                  <a:rPr lang="en-US" altLang="zh-CN" dirty="0" smtClean="0">
                    <a:ea typeface="Cambria Math" panose="02040503050406030204" pitchFamily="18" charset="0"/>
                  </a:rPr>
                  <a:t>	</a:t>
                </a:r>
                <a14:m>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Δ</m:t>
                    </m:r>
                    <m:r>
                      <a:rPr lang="en-US" altLang="zh-CN" i="1">
                        <a:latin typeface="Cambria Math" panose="02040503050406030204" pitchFamily="18" charset="0"/>
                        <a:ea typeface="微软雅黑" panose="020B0503020204020204" pitchFamily="34" charset="-122"/>
                      </a:rPr>
                      <m:t>𝑇𝐵</m:t>
                    </m:r>
                    <m:r>
                      <a:rPr lang="en-US" altLang="zh-CN" i="1">
                        <a:latin typeface="Cambria Math" panose="02040503050406030204" pitchFamily="18" charset="0"/>
                        <a:ea typeface="微软雅黑" panose="020B0503020204020204" pitchFamily="34" charset="-122"/>
                      </a:rPr>
                      <m:t>=+</m:t>
                    </m:r>
                    <m:sSub>
                      <m:sSubPr>
                        <m:ctrlPr>
                          <a:rPr lang="en-US" altLang="zh-CN" i="1" dirty="0" smtClean="0">
                            <a:solidFill>
                              <a:schemeClr val="tx1"/>
                            </a:solidFill>
                            <a:latin typeface="Cambria Math"/>
                            <a:ea typeface="微软雅黑" panose="020B0503020204020204" pitchFamily="34" charset="-122"/>
                          </a:rPr>
                        </m:ctrlPr>
                      </m:sSubPr>
                      <m:e>
                        <m:r>
                          <a:rPr lang="en-US" altLang="zh-CN" i="1" dirty="0">
                            <a:solidFill>
                              <a:schemeClr val="tx1"/>
                            </a:solidFill>
                            <a:latin typeface="Cambria Math" panose="02040503050406030204" pitchFamily="18" charset="0"/>
                            <a:ea typeface="微软雅黑" panose="020B0503020204020204" pitchFamily="34" charset="-122"/>
                          </a:rPr>
                          <m:t>𝜂</m:t>
                        </m:r>
                      </m:e>
                      <m:sub>
                        <m:r>
                          <a:rPr lang="en-US" altLang="zh-CN" i="1" dirty="0">
                            <a:solidFill>
                              <a:schemeClr val="tx1"/>
                            </a:solidFill>
                            <a:latin typeface="Cambria Math" panose="02040503050406030204" pitchFamily="18" charset="0"/>
                            <a:ea typeface="微软雅黑" panose="020B0503020204020204" pitchFamily="34" charset="-122"/>
                          </a:rPr>
                          <m:t>𝑥</m:t>
                        </m:r>
                      </m:sub>
                    </m:sSub>
                    <m:r>
                      <a:rPr lang="en-US" altLang="zh-CN" i="1" smtClean="0">
                        <a:solidFill>
                          <a:schemeClr val="tx1"/>
                        </a:solidFill>
                        <a:latin typeface="Cambria Math" panose="02040503050406030204" pitchFamily="18" charset="0"/>
                        <a:ea typeface="微软雅黑" panose="020B0503020204020204" pitchFamily="34" charset="-122"/>
                      </a:rPr>
                      <m:t>%</m:t>
                    </m:r>
                    <m:sSub>
                      <m:sSubPr>
                        <m:ctrlPr>
                          <a:rPr lang="en-US" altLang="zh-CN" i="1" smtClean="0">
                            <a:solidFill>
                              <a:schemeClr val="tx1"/>
                            </a:solidFill>
                            <a:latin typeface="Cambria Math"/>
                            <a:ea typeface="微软雅黑" panose="020B0503020204020204" pitchFamily="34" charset="-122"/>
                          </a:rPr>
                        </m:ctrlPr>
                      </m:sSubPr>
                      <m:e>
                        <m:r>
                          <a:rPr lang="en-US" altLang="zh-CN" b="0" i="1" smtClean="0">
                            <a:solidFill>
                              <a:schemeClr val="tx1"/>
                            </a:solidFill>
                            <a:latin typeface="Cambria Math" panose="02040503050406030204" pitchFamily="18" charset="0"/>
                            <a:ea typeface="微软雅黑" panose="020B0503020204020204" pitchFamily="34" charset="-122"/>
                          </a:rPr>
                          <m:t>𝑃</m:t>
                        </m:r>
                      </m:e>
                      <m:sub>
                        <m:r>
                          <a:rPr lang="en-US" altLang="zh-CN" b="0" i="1" smtClean="0">
                            <a:solidFill>
                              <a:schemeClr val="tx1"/>
                            </a:solidFill>
                            <a:latin typeface="Cambria Math" panose="02040503050406030204" pitchFamily="18" charset="0"/>
                            <a:ea typeface="微软雅黑" panose="020B0503020204020204" pitchFamily="34" charset="-122"/>
                          </a:rPr>
                          <m:t>𝑥</m:t>
                        </m:r>
                      </m:sub>
                    </m:sSub>
                    <m:r>
                      <a:rPr lang="zh-CN" altLang="en-US" i="1">
                        <a:solidFill>
                          <a:schemeClr val="tx1"/>
                        </a:solidFill>
                        <a:latin typeface="Cambria Math" panose="02040503050406030204" pitchFamily="18" charset="0"/>
                        <a:ea typeface="微软雅黑" panose="020B0503020204020204" pitchFamily="34" charset="-122"/>
                      </a:rPr>
                      <m:t>𝑋</m:t>
                    </m:r>
                    <m:r>
                      <a:rPr lang="en-US" altLang="zh-CN" b="0" i="1" smtClean="0">
                        <a:solidFill>
                          <a:schemeClr val="tx1"/>
                        </a:solidFill>
                        <a:latin typeface="Cambria Math" panose="02040503050406030204" pitchFamily="18" charset="0"/>
                        <a:ea typeface="微软雅黑" panose="020B0503020204020204" pitchFamily="34" charset="-122"/>
                      </a:rPr>
                      <m:t>−</m:t>
                    </m:r>
                    <m:d>
                      <m:dPr>
                        <m:ctrlPr>
                          <a:rPr lang="en-US" altLang="zh-CN" b="0" i="1" smtClean="0">
                            <a:solidFill>
                              <a:schemeClr val="tx1"/>
                            </a:solidFill>
                            <a:latin typeface="Cambria Math"/>
                            <a:ea typeface="微软雅黑" panose="020B0503020204020204" pitchFamily="34" charset="-122"/>
                          </a:rPr>
                        </m:ctrlPr>
                      </m:dPr>
                      <m:e>
                        <m:r>
                          <a:rPr lang="zh-CN" altLang="en-US" i="1">
                            <a:solidFill>
                              <a:schemeClr val="tx1"/>
                            </a:solidFill>
                            <a:latin typeface="Cambria Math" panose="02040503050406030204" pitchFamily="18" charset="0"/>
                            <a:ea typeface="微软雅黑" panose="020B0503020204020204" pitchFamily="34" charset="-122"/>
                          </a:rPr>
                          <m:t>−</m:t>
                        </m:r>
                        <m:sSub>
                          <m:sSubPr>
                            <m:ctrlPr>
                              <a:rPr lang="en-US" altLang="zh-CN" i="1" dirty="0" smtClean="0">
                                <a:solidFill>
                                  <a:schemeClr val="tx1"/>
                                </a:solidFill>
                                <a:latin typeface="Cambria Math"/>
                                <a:ea typeface="微软雅黑" panose="020B0503020204020204" pitchFamily="34" charset="-122"/>
                              </a:rPr>
                            </m:ctrlPr>
                          </m:sSubPr>
                          <m:e>
                            <m:r>
                              <a:rPr lang="en-US" altLang="zh-CN" i="1" dirty="0">
                                <a:solidFill>
                                  <a:schemeClr val="tx1"/>
                                </a:solidFill>
                                <a:latin typeface="Cambria Math" panose="02040503050406030204" pitchFamily="18" charset="0"/>
                                <a:ea typeface="微软雅黑" panose="020B0503020204020204" pitchFamily="34" charset="-122"/>
                              </a:rPr>
                              <m:t>𝜂</m:t>
                            </m:r>
                          </m:e>
                          <m:sub>
                            <m:r>
                              <a:rPr lang="en-US" altLang="zh-CN" b="0" i="1" dirty="0" smtClean="0">
                                <a:solidFill>
                                  <a:schemeClr val="tx1"/>
                                </a:solidFill>
                                <a:latin typeface="Cambria Math" panose="02040503050406030204" pitchFamily="18" charset="0"/>
                                <a:ea typeface="微软雅黑" panose="020B0503020204020204" pitchFamily="34" charset="-122"/>
                              </a:rPr>
                              <m:t>𝑚</m:t>
                            </m:r>
                          </m:sub>
                        </m:sSub>
                        <m:r>
                          <a:rPr lang="en-US" altLang="zh-CN" i="1">
                            <a:solidFill>
                              <a:schemeClr val="tx1"/>
                            </a:solidFill>
                            <a:latin typeface="Cambria Math" panose="02040503050406030204" pitchFamily="18" charset="0"/>
                            <a:ea typeface="微软雅黑" panose="020B0503020204020204" pitchFamily="34" charset="-122"/>
                          </a:rPr>
                          <m:t>%</m:t>
                        </m:r>
                        <m:sSub>
                          <m:sSubPr>
                            <m:ctrlPr>
                              <a:rPr lang="en-US" altLang="zh-CN" i="1">
                                <a:solidFill>
                                  <a:schemeClr val="tx1"/>
                                </a:solidFill>
                                <a:latin typeface="Cambria Math"/>
                                <a:ea typeface="微软雅黑" panose="020B0503020204020204" pitchFamily="34" charset="-122"/>
                              </a:rPr>
                            </m:ctrlPr>
                          </m:sSubPr>
                          <m:e>
                            <m:r>
                              <a:rPr lang="en-US" altLang="zh-CN" b="0" i="1" smtClean="0">
                                <a:solidFill>
                                  <a:schemeClr val="tx1"/>
                                </a:solidFill>
                                <a:latin typeface="Cambria Math" panose="02040503050406030204" pitchFamily="18" charset="0"/>
                                <a:ea typeface="微软雅黑" panose="020B0503020204020204" pitchFamily="34" charset="-122"/>
                              </a:rPr>
                              <m:t>𝑒</m:t>
                            </m:r>
                            <m:r>
                              <a:rPr lang="en-US" altLang="zh-CN" i="1">
                                <a:solidFill>
                                  <a:schemeClr val="tx1"/>
                                </a:solidFill>
                                <a:latin typeface="Cambria Math" panose="02040503050406030204" pitchFamily="18" charset="0"/>
                                <a:ea typeface="微软雅黑" panose="020B0503020204020204" pitchFamily="34" charset="-122"/>
                              </a:rPr>
                              <m:t>𝑃</m:t>
                            </m:r>
                          </m:e>
                          <m:sub>
                            <m:r>
                              <a:rPr lang="en-US" altLang="zh-CN" i="1">
                                <a:solidFill>
                                  <a:schemeClr val="tx1"/>
                                </a:solidFill>
                                <a:latin typeface="Cambria Math" panose="02040503050406030204" pitchFamily="18" charset="0"/>
                                <a:ea typeface="微软雅黑" panose="020B0503020204020204" pitchFamily="34" charset="-122"/>
                              </a:rPr>
                              <m:t>𝑚</m:t>
                            </m:r>
                          </m:sub>
                        </m:sSub>
                        <m:r>
                          <a:rPr lang="zh-CN" altLang="en-US" i="1">
                            <a:solidFill>
                              <a:schemeClr val="tx1"/>
                            </a:solidFill>
                            <a:latin typeface="Cambria Math" panose="02040503050406030204" pitchFamily="18" charset="0"/>
                            <a:ea typeface="微软雅黑" panose="020B0503020204020204" pitchFamily="34" charset="-122"/>
                          </a:rPr>
                          <m:t>𝑀</m:t>
                        </m:r>
                        <m:r>
                          <a:rPr lang="en-US" altLang="zh-CN" i="1">
                            <a:solidFill>
                              <a:schemeClr val="tx1"/>
                            </a:solidFill>
                            <a:latin typeface="Cambria Math" panose="02040503050406030204" pitchFamily="18" charset="0"/>
                            <a:ea typeface="微软雅黑" panose="020B0503020204020204" pitchFamily="34" charset="-122"/>
                          </a:rPr>
                          <m:t>+1%</m:t>
                        </m:r>
                        <m:r>
                          <a:rPr lang="zh-CN" altLang="en-US" i="1">
                            <a:solidFill>
                              <a:schemeClr val="tx1"/>
                            </a:solidFill>
                            <a:latin typeface="Cambria Math" panose="02040503050406030204" pitchFamily="18" charset="0"/>
                            <a:ea typeface="微软雅黑" panose="020B0503020204020204" pitchFamily="34" charset="-122"/>
                          </a:rPr>
                          <m:t>𝑒</m:t>
                        </m:r>
                        <m:sSub>
                          <m:sSubPr>
                            <m:ctrlPr>
                              <a:rPr lang="en-US" altLang="zh-CN" i="1">
                                <a:solidFill>
                                  <a:schemeClr val="tx1"/>
                                </a:solidFill>
                                <a:latin typeface="Cambria Math"/>
                                <a:ea typeface="微软雅黑" panose="020B0503020204020204" pitchFamily="34" charset="-122"/>
                              </a:rPr>
                            </m:ctrlPr>
                          </m:sSubPr>
                          <m:e>
                            <m:r>
                              <a:rPr lang="en-US" altLang="zh-CN" i="1">
                                <a:solidFill>
                                  <a:schemeClr val="tx1"/>
                                </a:solidFill>
                                <a:latin typeface="Cambria Math" panose="02040503050406030204" pitchFamily="18" charset="0"/>
                                <a:ea typeface="微软雅黑" panose="020B0503020204020204" pitchFamily="34" charset="-122"/>
                              </a:rPr>
                              <m:t>𝑃</m:t>
                            </m:r>
                          </m:e>
                          <m:sub>
                            <m:r>
                              <a:rPr lang="en-US" altLang="zh-CN" i="1">
                                <a:solidFill>
                                  <a:schemeClr val="tx1"/>
                                </a:solidFill>
                                <a:latin typeface="Cambria Math" panose="02040503050406030204" pitchFamily="18" charset="0"/>
                                <a:ea typeface="微软雅黑" panose="020B0503020204020204" pitchFamily="34" charset="-122"/>
                              </a:rPr>
                              <m:t>𝑚</m:t>
                            </m:r>
                          </m:sub>
                        </m:sSub>
                        <m:r>
                          <a:rPr lang="zh-CN" altLang="en-US" i="1">
                            <a:solidFill>
                              <a:schemeClr val="tx1"/>
                            </a:solidFill>
                            <a:latin typeface="Cambria Math" panose="02040503050406030204" pitchFamily="18" charset="0"/>
                            <a:ea typeface="微软雅黑" panose="020B0503020204020204" pitchFamily="34" charset="-122"/>
                          </a:rPr>
                          <m:t>𝑀</m:t>
                        </m:r>
                      </m:e>
                    </m:d>
                  </m:oMath>
                </a14:m>
                <a:endParaRPr lang="en-US" altLang="zh-CN" dirty="0" smtClean="0">
                  <a:latin typeface="微软雅黑" panose="020B0503020204020204" pitchFamily="34" charset="-122"/>
                  <a:ea typeface="微软雅黑" panose="020B0503020204020204" pitchFamily="34" charset="-122"/>
                </a:endParaRPr>
              </a:p>
              <a:p>
                <a:pPr>
                  <a:lnSpc>
                    <a:spcPct val="110000"/>
                  </a:lnSpc>
                  <a:spcBef>
                    <a:spcPts val="1000"/>
                  </a:spcBef>
                </a:pPr>
                <a:endParaRPr lang="en-US" altLang="zh-CN" dirty="0" smtClean="0">
                  <a:latin typeface="微软雅黑" panose="020B0503020204020204" pitchFamily="34" charset="-122"/>
                  <a:ea typeface="微软雅黑" panose="020B0503020204020204" pitchFamily="34" charset="-122"/>
                </a:endParaRPr>
              </a:p>
              <a:p>
                <a:pPr marL="0" indent="0">
                  <a:lnSpc>
                    <a:spcPct val="110000"/>
                  </a:lnSpc>
                  <a:spcBef>
                    <a:spcPts val="1000"/>
                  </a:spcBef>
                  <a:buNone/>
                </a:pPr>
                <a:r>
                  <a:rPr lang="zh-CN" altLang="en-US" dirty="0" smtClean="0">
                    <a:solidFill>
                      <a:schemeClr val="accent1"/>
                    </a:solidFill>
                    <a:latin typeface="微软雅黑" panose="020B0503020204020204" pitchFamily="34" charset="-122"/>
                    <a:ea typeface="微软雅黑" panose="020B0503020204020204" pitchFamily="34" charset="-122"/>
                  </a:rPr>
                  <a:t>当</a:t>
                </a:r>
                <a14:m>
                  <m:oMath xmlns:m="http://schemas.openxmlformats.org/officeDocument/2006/math">
                    <m:r>
                      <m:rPr>
                        <m:sty m:val="p"/>
                      </m:rPr>
                      <a:rPr lang="el-GR" altLang="zh-CN" i="0" dirty="0" smtClean="0">
                        <a:solidFill>
                          <a:schemeClr val="accent1"/>
                        </a:solidFill>
                        <a:latin typeface="Cambria Math" panose="02040503050406030204" pitchFamily="18" charset="0"/>
                        <a:ea typeface="微软雅黑" panose="020B0503020204020204" pitchFamily="34" charset="-122"/>
                      </a:rPr>
                      <m:t>Δ</m:t>
                    </m:r>
                    <m:r>
                      <a:rPr lang="zh-CN" altLang="el-GR" i="1" dirty="0">
                        <a:solidFill>
                          <a:schemeClr val="accent1"/>
                        </a:solidFill>
                        <a:latin typeface="Cambria Math" panose="02040503050406030204" pitchFamily="18" charset="0"/>
                        <a:ea typeface="微软雅黑" panose="020B0503020204020204" pitchFamily="34" charset="-122"/>
                      </a:rPr>
                      <m:t>𝑇𝐵</m:t>
                    </m:r>
                    <m:r>
                      <a:rPr lang="en-US" altLang="zh-CN" i="1" dirty="0" smtClean="0">
                        <a:solidFill>
                          <a:schemeClr val="accent1"/>
                        </a:solidFill>
                        <a:latin typeface="Cambria Math" panose="02040503050406030204" pitchFamily="18" charset="0"/>
                        <a:ea typeface="Cambria Math" panose="02040503050406030204" pitchFamily="18" charset="0"/>
                      </a:rPr>
                      <m:t>&gt;</m:t>
                    </m:r>
                    <m:r>
                      <a:rPr lang="en-US" altLang="zh-CN" b="0" i="1" dirty="0" smtClean="0">
                        <a:solidFill>
                          <a:schemeClr val="accent1"/>
                        </a:solidFill>
                        <a:latin typeface="Cambria Math" panose="02040503050406030204" pitchFamily="18" charset="0"/>
                        <a:ea typeface="Cambria Math" panose="02040503050406030204" pitchFamily="18" charset="0"/>
                      </a:rPr>
                      <m:t>0</m:t>
                    </m:r>
                  </m:oMath>
                </a14:m>
                <a:r>
                  <a:rPr lang="zh-CN" altLang="en-US" dirty="0" smtClean="0">
                    <a:solidFill>
                      <a:schemeClr val="accent1"/>
                    </a:solidFill>
                    <a:latin typeface="微软雅黑" panose="020B0503020204020204" pitchFamily="34" charset="-122"/>
                    <a:ea typeface="微软雅黑" panose="020B0503020204020204" pitchFamily="34" charset="-122"/>
                  </a:rPr>
                  <a:t>时</a:t>
                </a:r>
                <a:r>
                  <a:rPr lang="zh-CN" altLang="en-US" dirty="0">
                    <a:solidFill>
                      <a:schemeClr val="accent1"/>
                    </a:solidFill>
                    <a:latin typeface="微软雅黑" panose="020B0503020204020204" pitchFamily="34" charset="-122"/>
                    <a:ea typeface="微软雅黑" panose="020B0503020204020204" pitchFamily="34" charset="-122"/>
                  </a:rPr>
                  <a:t>，本币贬值将会改善贸易收支，假设本币贬值前贸易收支是平衡的，即</a:t>
                </a:r>
              </a:p>
              <a:p>
                <a:pPr marL="685800" lvl="3" indent="0">
                  <a:lnSpc>
                    <a:spcPct val="110000"/>
                  </a:lnSpc>
                  <a:spcBef>
                    <a:spcPts val="1000"/>
                  </a:spcBef>
                  <a:buNone/>
                </a:pPr>
                <a14:m>
                  <m:oMathPara xmlns:m="http://schemas.openxmlformats.org/officeDocument/2006/math">
                    <m:oMathParaPr>
                      <m:jc m:val="centerGroup"/>
                    </m:oMathParaPr>
                    <m:oMath xmlns:m="http://schemas.openxmlformats.org/officeDocument/2006/math">
                      <m:r>
                        <a:rPr lang="en-US" altLang="zh-CN" sz="2000" i="1">
                          <a:solidFill>
                            <a:schemeClr val="accent1"/>
                          </a:solidFill>
                          <a:latin typeface="Cambria Math" panose="02040503050406030204" pitchFamily="18" charset="0"/>
                          <a:ea typeface="微软雅黑" panose="020B0503020204020204" pitchFamily="34" charset="-122"/>
                        </a:rPr>
                        <m:t>𝑇𝐵</m:t>
                      </m:r>
                      <m:r>
                        <a:rPr lang="en-US" altLang="zh-CN" sz="2000" i="1">
                          <a:solidFill>
                            <a:schemeClr val="accent1"/>
                          </a:solidFill>
                          <a:latin typeface="Cambria Math" panose="02040503050406030204" pitchFamily="18" charset="0"/>
                          <a:ea typeface="微软雅黑" panose="020B0503020204020204" pitchFamily="34" charset="-122"/>
                        </a:rPr>
                        <m:t>=</m:t>
                      </m:r>
                      <m:r>
                        <a:rPr lang="en-US" altLang="zh-CN" sz="2000" i="1">
                          <a:solidFill>
                            <a:schemeClr val="accent1"/>
                          </a:solidFill>
                          <a:latin typeface="Cambria Math" panose="02040503050406030204" pitchFamily="18" charset="0"/>
                          <a:ea typeface="微软雅黑" panose="020B0503020204020204" pitchFamily="34" charset="-122"/>
                        </a:rPr>
                        <m:t>𝑋</m:t>
                      </m:r>
                      <m:r>
                        <a:rPr lang="en-US" altLang="zh-CN" sz="2000" i="1">
                          <a:solidFill>
                            <a:schemeClr val="accent1"/>
                          </a:solidFill>
                          <a:latin typeface="Cambria Math" panose="02040503050406030204" pitchFamily="18" charset="0"/>
                          <a:ea typeface="Cambria Math" panose="02040503050406030204" pitchFamily="18" charset="0"/>
                        </a:rPr>
                        <m:t>⋅</m:t>
                      </m:r>
                      <m:sSub>
                        <m:sSubPr>
                          <m:ctrlPr>
                            <a:rPr lang="en-US" altLang="zh-CN" sz="2000" i="1">
                              <a:solidFill>
                                <a:schemeClr val="accent1"/>
                              </a:solidFill>
                              <a:latin typeface="Cambria Math"/>
                              <a:ea typeface="Cambria Math" panose="02040503050406030204" pitchFamily="18" charset="0"/>
                            </a:rPr>
                          </m:ctrlPr>
                        </m:sSubPr>
                        <m:e>
                          <m:r>
                            <a:rPr lang="en-US" altLang="zh-CN" sz="2000" i="1">
                              <a:solidFill>
                                <a:schemeClr val="accent1"/>
                              </a:solidFill>
                              <a:latin typeface="Cambria Math" panose="02040503050406030204" pitchFamily="18" charset="0"/>
                              <a:ea typeface="Cambria Math" panose="02040503050406030204" pitchFamily="18" charset="0"/>
                            </a:rPr>
                            <m:t>𝑃</m:t>
                          </m:r>
                        </m:e>
                        <m:sub>
                          <m:r>
                            <a:rPr lang="en-US" altLang="zh-CN" sz="2000" i="1">
                              <a:solidFill>
                                <a:schemeClr val="accent1"/>
                              </a:solidFill>
                              <a:latin typeface="Cambria Math" panose="02040503050406030204" pitchFamily="18" charset="0"/>
                              <a:ea typeface="Cambria Math" panose="02040503050406030204" pitchFamily="18" charset="0"/>
                            </a:rPr>
                            <m:t>𝑥</m:t>
                          </m:r>
                        </m:sub>
                      </m:sSub>
                      <m:r>
                        <a:rPr lang="en-US" altLang="zh-CN" sz="2000" i="1">
                          <a:solidFill>
                            <a:schemeClr val="accent1"/>
                          </a:solidFill>
                          <a:latin typeface="Cambria Math" panose="02040503050406030204" pitchFamily="18" charset="0"/>
                          <a:ea typeface="Cambria Math" panose="02040503050406030204" pitchFamily="18" charset="0"/>
                        </a:rPr>
                        <m:t>−</m:t>
                      </m:r>
                      <m:r>
                        <a:rPr lang="en-US" altLang="zh-CN" sz="2000" i="1">
                          <a:solidFill>
                            <a:schemeClr val="accent1"/>
                          </a:solidFill>
                          <a:latin typeface="Cambria Math" panose="02040503050406030204" pitchFamily="18" charset="0"/>
                          <a:ea typeface="Cambria Math" panose="02040503050406030204" pitchFamily="18" charset="0"/>
                        </a:rPr>
                        <m:t>𝑀</m:t>
                      </m:r>
                      <m:r>
                        <a:rPr lang="en-US" altLang="zh-CN" sz="2000" i="1">
                          <a:solidFill>
                            <a:schemeClr val="accent1"/>
                          </a:solidFill>
                          <a:latin typeface="Cambria Math" panose="02040503050406030204" pitchFamily="18" charset="0"/>
                          <a:ea typeface="Cambria Math" panose="02040503050406030204" pitchFamily="18" charset="0"/>
                        </a:rPr>
                        <m:t>⋅</m:t>
                      </m:r>
                      <m:d>
                        <m:dPr>
                          <m:ctrlPr>
                            <a:rPr lang="en-US" altLang="zh-CN" sz="2000" i="1">
                              <a:solidFill>
                                <a:schemeClr val="accent1"/>
                              </a:solidFill>
                              <a:latin typeface="Cambria Math"/>
                              <a:ea typeface="Cambria Math" panose="02040503050406030204" pitchFamily="18" charset="0"/>
                            </a:rPr>
                          </m:ctrlPr>
                        </m:dPr>
                        <m:e>
                          <m:r>
                            <a:rPr lang="en-US" altLang="zh-CN" sz="2000" i="1">
                              <a:solidFill>
                                <a:schemeClr val="accent1"/>
                              </a:solidFill>
                              <a:latin typeface="Cambria Math" panose="02040503050406030204" pitchFamily="18" charset="0"/>
                              <a:ea typeface="Cambria Math" panose="02040503050406030204" pitchFamily="18" charset="0"/>
                            </a:rPr>
                            <m:t>𝑒</m:t>
                          </m:r>
                          <m:sSub>
                            <m:sSubPr>
                              <m:ctrlPr>
                                <a:rPr lang="en-US" altLang="zh-CN" sz="2000" i="1">
                                  <a:solidFill>
                                    <a:schemeClr val="accent1"/>
                                  </a:solidFill>
                                  <a:latin typeface="Cambria Math"/>
                                  <a:ea typeface="Cambria Math" panose="02040503050406030204" pitchFamily="18" charset="0"/>
                                </a:rPr>
                              </m:ctrlPr>
                            </m:sSubPr>
                            <m:e>
                              <m:r>
                                <a:rPr lang="en-US" altLang="zh-CN" sz="2000" i="1">
                                  <a:solidFill>
                                    <a:schemeClr val="accent1"/>
                                  </a:solidFill>
                                  <a:latin typeface="Cambria Math" panose="02040503050406030204" pitchFamily="18" charset="0"/>
                                  <a:ea typeface="Cambria Math" panose="02040503050406030204" pitchFamily="18" charset="0"/>
                                </a:rPr>
                                <m:t>𝑃</m:t>
                              </m:r>
                            </m:e>
                            <m:sub>
                              <m:r>
                                <a:rPr lang="en-US" altLang="zh-CN" sz="2000" i="1">
                                  <a:solidFill>
                                    <a:schemeClr val="accent1"/>
                                  </a:solidFill>
                                  <a:latin typeface="Cambria Math" panose="02040503050406030204" pitchFamily="18" charset="0"/>
                                  <a:ea typeface="Cambria Math" panose="02040503050406030204" pitchFamily="18" charset="0"/>
                                </a:rPr>
                                <m:t>𝑚</m:t>
                              </m:r>
                            </m:sub>
                          </m:sSub>
                        </m:e>
                      </m:d>
                      <m:r>
                        <a:rPr lang="en-US" altLang="zh-CN" sz="2000" b="0" i="1" smtClean="0">
                          <a:solidFill>
                            <a:schemeClr val="accent1"/>
                          </a:solidFill>
                          <a:latin typeface="Cambria Math" panose="02040503050406030204" pitchFamily="18" charset="0"/>
                          <a:ea typeface="Cambria Math" panose="02040503050406030204" pitchFamily="18" charset="0"/>
                        </a:rPr>
                        <m:t>=0</m:t>
                      </m:r>
                    </m:oMath>
                  </m:oMathPara>
                </a14:m>
                <a:endParaRPr lang="en-US" altLang="zh-CN" sz="2000" b="0" dirty="0" smtClean="0">
                  <a:solidFill>
                    <a:schemeClr val="accent1"/>
                  </a:solidFill>
                  <a:latin typeface="微软雅黑" panose="020B0503020204020204" pitchFamily="34" charset="-122"/>
                  <a:ea typeface="Cambria Math" panose="02040503050406030204" pitchFamily="18" charset="0"/>
                </a:endParaRPr>
              </a:p>
              <a:p>
                <a:pPr marL="685800" lvl="3" indent="0">
                  <a:lnSpc>
                    <a:spcPct val="110000"/>
                  </a:lnSpc>
                  <a:spcBef>
                    <a:spcPts val="1000"/>
                  </a:spcBef>
                  <a:buNone/>
                </a:pPr>
                <a:r>
                  <a:rPr lang="zh-CN" altLang="en-US" sz="2000" dirty="0" smtClean="0">
                    <a:solidFill>
                      <a:schemeClr val="accent1"/>
                    </a:solidFill>
                    <a:latin typeface="微软雅黑" panose="020B0503020204020204" pitchFamily="34" charset="-122"/>
                    <a:ea typeface="微软雅黑" panose="020B0503020204020204" pitchFamily="34" charset="-122"/>
                  </a:rPr>
                  <a:t>就</a:t>
                </a:r>
                <a:r>
                  <a:rPr lang="zh-CN" altLang="en-US" sz="2000" dirty="0">
                    <a:solidFill>
                      <a:schemeClr val="accent1"/>
                    </a:solidFill>
                    <a:latin typeface="微软雅黑" panose="020B0503020204020204" pitchFamily="34" charset="-122"/>
                    <a:ea typeface="微软雅黑" panose="020B0503020204020204" pitchFamily="34" charset="-122"/>
                  </a:rPr>
                  <a:t>可以得到：</a:t>
                </a:r>
              </a:p>
              <a:p>
                <a:pPr marL="685800" lvl="3" indent="0">
                  <a:lnSpc>
                    <a:spcPct val="110000"/>
                  </a:lnSpc>
                  <a:spcBef>
                    <a:spcPts val="1000"/>
                  </a:spcBef>
                  <a:buNone/>
                </a:pPr>
                <a:endParaRPr lang="en-US" altLang="zh-CN" sz="22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3"/>
                <a:stretch>
                  <a:fillRect l="-846" t="-535"/>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987338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a:t>
            </a:r>
            <a:r>
              <a:rPr lang="zh-CN" altLang="en-US" dirty="0" smtClean="0"/>
              <a:t>弹性</a:t>
            </a:r>
            <a:r>
              <a:rPr lang="zh-CN" altLang="en-US" dirty="0"/>
              <a:t>分析法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marL="0" indent="0">
                  <a:lnSpc>
                    <a:spcPct val="110000"/>
                  </a:lnSpc>
                  <a:spcBef>
                    <a:spcPts val="1000"/>
                  </a:spcBef>
                  <a:buNone/>
                </a:pPr>
                <a:r>
                  <a:rPr lang="zh-CN" altLang="en-US" sz="2400" dirty="0" smtClean="0">
                    <a:latin typeface="微软雅黑" panose="020B0503020204020204" pitchFamily="34" charset="-122"/>
                    <a:ea typeface="微软雅黑" panose="020B0503020204020204" pitchFamily="34" charset="-122"/>
                  </a:rPr>
                  <a:t>三、马歇尔－勒纳条件（</a:t>
                </a:r>
                <a:r>
                  <a:rPr lang="en-US" altLang="zh-CN" sz="2400" dirty="0">
                    <a:latin typeface="微软雅黑" panose="020B0503020204020204" pitchFamily="34" charset="-122"/>
                    <a:ea typeface="微软雅黑" panose="020B0503020204020204" pitchFamily="34" charset="-122"/>
                  </a:rPr>
                  <a:t>Marshall-Lerner Condition</a:t>
                </a:r>
                <a:r>
                  <a:rPr lang="zh-CN" altLang="en-US" sz="2400" dirty="0">
                    <a:latin typeface="微软雅黑" panose="020B0503020204020204" pitchFamily="34" charset="-122"/>
                    <a:ea typeface="微软雅黑" panose="020B0503020204020204" pitchFamily="34" charset="-122"/>
                  </a:rPr>
                  <a:t>）</a:t>
                </a:r>
              </a:p>
              <a:p>
                <a:pPr>
                  <a:lnSpc>
                    <a:spcPct val="110000"/>
                  </a:lnSpc>
                  <a:spcBef>
                    <a:spcPts val="1000"/>
                  </a:spcBef>
                </a:pPr>
                <a:endParaRPr lang="en-US" altLang="zh-CN" sz="2400" dirty="0" smtClean="0">
                  <a:latin typeface="微软雅黑" panose="020B0503020204020204" pitchFamily="34" charset="-122"/>
                  <a:ea typeface="微软雅黑" panose="020B0503020204020204" pitchFamily="34" charset="-122"/>
                </a:endParaRPr>
              </a:p>
              <a:p>
                <a:pPr marL="0" indent="0">
                  <a:lnSpc>
                    <a:spcPct val="110000"/>
                  </a:lnSpc>
                  <a:spcBef>
                    <a:spcPts val="1000"/>
                  </a:spcBef>
                  <a:buNone/>
                </a:pPr>
                <a14:m>
                  <m:oMathPara xmlns:m="http://schemas.openxmlformats.org/officeDocument/2006/math">
                    <m:oMathParaPr>
                      <m:jc m:val="center"/>
                    </m:oMathParaPr>
                    <m:oMath xmlns:m="http://schemas.openxmlformats.org/officeDocument/2006/math">
                      <m:sSub>
                        <m:sSubPr>
                          <m:ctrlPr>
                            <a:rPr lang="en-US" altLang="zh-CN" sz="2400" i="1" dirty="0">
                              <a:solidFill>
                                <a:schemeClr val="tx1"/>
                              </a:solidFill>
                              <a:latin typeface="Cambria Math"/>
                              <a:ea typeface="微软雅黑" panose="020B0503020204020204" pitchFamily="34" charset="-122"/>
                            </a:rPr>
                          </m:ctrlPr>
                        </m:sSubPr>
                        <m:e>
                          <m:r>
                            <a:rPr lang="en-US" altLang="zh-CN" sz="2400" i="1" dirty="0">
                              <a:solidFill>
                                <a:schemeClr val="tx1"/>
                              </a:solidFill>
                              <a:latin typeface="Cambria Math" panose="02040503050406030204" pitchFamily="18" charset="0"/>
                              <a:ea typeface="微软雅黑" panose="020B0503020204020204" pitchFamily="34" charset="-122"/>
                            </a:rPr>
                            <m:t>𝜂</m:t>
                          </m:r>
                        </m:e>
                        <m:sub>
                          <m:r>
                            <a:rPr lang="en-US" altLang="zh-CN" sz="2400" b="0" i="1" dirty="0" smtClean="0">
                              <a:solidFill>
                                <a:schemeClr val="tx1"/>
                              </a:solidFill>
                              <a:latin typeface="Cambria Math" panose="02040503050406030204" pitchFamily="18" charset="0"/>
                              <a:ea typeface="微软雅黑" panose="020B0503020204020204" pitchFamily="34" charset="-122"/>
                            </a:rPr>
                            <m:t>𝑥</m:t>
                          </m:r>
                        </m:sub>
                      </m:sSub>
                      <m:r>
                        <a:rPr lang="en-US" altLang="zh-CN" sz="2400" b="0" i="1" smtClean="0">
                          <a:solidFill>
                            <a:schemeClr val="tx1"/>
                          </a:solidFill>
                          <a:latin typeface="Cambria Math" panose="02040503050406030204" pitchFamily="18" charset="0"/>
                          <a:ea typeface="微软雅黑" panose="020B0503020204020204" pitchFamily="34" charset="-122"/>
                        </a:rPr>
                        <m:t>+</m:t>
                      </m:r>
                      <m:sSub>
                        <m:sSubPr>
                          <m:ctrlPr>
                            <a:rPr lang="en-US" altLang="zh-CN" sz="2400" i="1" dirty="0">
                              <a:solidFill>
                                <a:schemeClr val="tx1"/>
                              </a:solidFill>
                              <a:latin typeface="Cambria Math"/>
                              <a:ea typeface="微软雅黑" panose="020B0503020204020204" pitchFamily="34" charset="-122"/>
                            </a:rPr>
                          </m:ctrlPr>
                        </m:sSubPr>
                        <m:e>
                          <m:r>
                            <a:rPr lang="en-US" altLang="zh-CN" sz="2400" i="1" dirty="0">
                              <a:solidFill>
                                <a:schemeClr val="tx1"/>
                              </a:solidFill>
                              <a:latin typeface="Cambria Math" panose="02040503050406030204" pitchFamily="18" charset="0"/>
                              <a:ea typeface="微软雅黑" panose="020B0503020204020204" pitchFamily="34" charset="-122"/>
                            </a:rPr>
                            <m:t>𝜂</m:t>
                          </m:r>
                        </m:e>
                        <m:sub>
                          <m:r>
                            <a:rPr lang="en-US" altLang="zh-CN" sz="2400" b="0" i="1" dirty="0" smtClean="0">
                              <a:solidFill>
                                <a:schemeClr val="tx1"/>
                              </a:solidFill>
                              <a:latin typeface="Cambria Math" panose="02040503050406030204" pitchFamily="18" charset="0"/>
                              <a:ea typeface="微软雅黑" panose="020B0503020204020204" pitchFamily="34" charset="-122"/>
                            </a:rPr>
                            <m:t>𝑚</m:t>
                          </m:r>
                        </m:sub>
                      </m:sSub>
                      <m:r>
                        <a:rPr lang="en-US" altLang="zh-CN" sz="2400" b="0" i="1" smtClean="0">
                          <a:solidFill>
                            <a:schemeClr val="tx1"/>
                          </a:solidFill>
                          <a:latin typeface="Cambria Math" panose="02040503050406030204" pitchFamily="18" charset="0"/>
                          <a:ea typeface="Cambria Math" panose="02040503050406030204" pitchFamily="18" charset="0"/>
                        </a:rPr>
                        <m:t>&gt;1</m:t>
                      </m:r>
                    </m:oMath>
                  </m:oMathPara>
                </a14:m>
                <a:endParaRPr lang="en-US" altLang="zh-CN" sz="2400" dirty="0" smtClean="0">
                  <a:solidFill>
                    <a:schemeClr val="tx1"/>
                  </a:solidFill>
                  <a:latin typeface="微软雅黑" panose="020B0503020204020204" pitchFamily="34" charset="-122"/>
                  <a:ea typeface="微软雅黑" panose="020B0503020204020204" pitchFamily="34" charset="-122"/>
                </a:endParaRPr>
              </a:p>
              <a:p>
                <a:pPr>
                  <a:lnSpc>
                    <a:spcPct val="110000"/>
                  </a:lnSpc>
                  <a:spcBef>
                    <a:spcPts val="1000"/>
                  </a:spcBef>
                </a:pPr>
                <a:endParaRPr lang="en-US" altLang="zh-CN" sz="2400" dirty="0">
                  <a:latin typeface="微软雅黑" panose="020B0503020204020204" pitchFamily="34" charset="-122"/>
                  <a:ea typeface="微软雅黑" panose="020B0503020204020204" pitchFamily="34" charset="-122"/>
                </a:endParaRPr>
              </a:p>
              <a:p>
                <a:pPr marL="685800" lvl="3" indent="0">
                  <a:lnSpc>
                    <a:spcPct val="110000"/>
                  </a:lnSpc>
                  <a:spcBef>
                    <a:spcPts val="1000"/>
                  </a:spcBef>
                  <a:buNone/>
                </a:pPr>
                <a:r>
                  <a:rPr lang="zh-CN" altLang="en-US" sz="2200" dirty="0">
                    <a:solidFill>
                      <a:schemeClr val="accent1"/>
                    </a:solidFill>
                    <a:latin typeface="微软雅黑" panose="020B0503020204020204" pitchFamily="34" charset="-122"/>
                    <a:ea typeface="微软雅黑" panose="020B0503020204020204" pitchFamily="34" charset="-122"/>
                  </a:rPr>
                  <a:t>此即马歇尔－勒纳条件，是</a:t>
                </a:r>
                <a:r>
                  <a:rPr lang="zh-CN" altLang="en-US" sz="2200" dirty="0">
                    <a:solidFill>
                      <a:srgbClr val="FF0000"/>
                    </a:solidFill>
                    <a:latin typeface="微软雅黑" panose="020B0503020204020204" pitchFamily="34" charset="-122"/>
                    <a:ea typeface="微软雅黑" panose="020B0503020204020204" pitchFamily="34" charset="-122"/>
                  </a:rPr>
                  <a:t>本币贬值能够带来贸易收支或经常账户改善的必要条件</a:t>
                </a:r>
                <a:r>
                  <a:rPr lang="zh-CN" altLang="en-US" sz="2200" dirty="0">
                    <a:solidFill>
                      <a:schemeClr val="accent1"/>
                    </a:solidFill>
                    <a:latin typeface="微软雅黑" panose="020B0503020204020204" pitchFamily="34" charset="-122"/>
                    <a:ea typeface="微软雅黑" panose="020B0503020204020204" pitchFamily="34" charset="-122"/>
                  </a:rPr>
                  <a:t>。</a:t>
                </a:r>
              </a:p>
              <a:p>
                <a:pPr marL="685800" lvl="3" indent="0">
                  <a:lnSpc>
                    <a:spcPct val="110000"/>
                  </a:lnSpc>
                  <a:spcBef>
                    <a:spcPts val="1000"/>
                  </a:spcBef>
                  <a:buNone/>
                </a:pPr>
                <a:endParaRPr lang="en-US" altLang="zh-CN" sz="22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3"/>
                <a:stretch>
                  <a:fillRect l="-1269" t="-803"/>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823948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a:t>
            </a:r>
            <a:r>
              <a:rPr lang="zh-CN" altLang="en-US" dirty="0" smtClean="0"/>
              <a:t>弹性</a:t>
            </a:r>
            <a:r>
              <a:rPr lang="zh-CN" altLang="en-US" dirty="0"/>
              <a:t>分析法</a:t>
            </a:r>
          </a:p>
        </p:txBody>
      </p:sp>
      <p:sp>
        <p:nvSpPr>
          <p:cNvPr id="3" name="内容占位符 2"/>
          <p:cNvSpPr>
            <a:spLocks noGrp="1"/>
          </p:cNvSpPr>
          <p:nvPr>
            <p:ph idx="1"/>
          </p:nvPr>
        </p:nvSpPr>
        <p:spPr/>
        <p:txBody>
          <a:bodyPr>
            <a:normAutofit/>
          </a:bodyPr>
          <a:lstStyle/>
          <a:p>
            <a:pPr marL="0" indent="0">
              <a:lnSpc>
                <a:spcPct val="110000"/>
              </a:lnSpc>
              <a:spcBef>
                <a:spcPts val="1000"/>
              </a:spcBef>
              <a:buNone/>
            </a:pPr>
            <a:r>
              <a:rPr lang="zh-CN" altLang="en-US" sz="2400" dirty="0">
                <a:latin typeface="微软雅黑" panose="020B0503020204020204" pitchFamily="34" charset="-122"/>
                <a:ea typeface="微软雅黑" panose="020B0503020204020204" pitchFamily="34" charset="-122"/>
              </a:rPr>
              <a:t>四、</a:t>
            </a:r>
            <a:r>
              <a:rPr lang="en-US" altLang="zh-CN" sz="2400" dirty="0">
                <a:latin typeface="微软雅黑" panose="020B0503020204020204" pitchFamily="34" charset="-122"/>
                <a:ea typeface="微软雅黑" panose="020B0503020204020204" pitchFamily="34" charset="-122"/>
              </a:rPr>
              <a:t>J</a:t>
            </a:r>
            <a:r>
              <a:rPr lang="zh-CN" altLang="en-US" sz="2400" dirty="0">
                <a:latin typeface="微软雅黑" panose="020B0503020204020204" pitchFamily="34" charset="-122"/>
                <a:ea typeface="微软雅黑" panose="020B0503020204020204" pitchFamily="34" charset="-122"/>
              </a:rPr>
              <a:t>曲线效应（</a:t>
            </a:r>
            <a:r>
              <a:rPr lang="en-US" altLang="zh-CN" sz="2400" dirty="0">
                <a:latin typeface="微软雅黑" panose="020B0503020204020204" pitchFamily="34" charset="-122"/>
                <a:ea typeface="微软雅黑" panose="020B0503020204020204" pitchFamily="34" charset="-122"/>
              </a:rPr>
              <a:t>J Curve</a:t>
            </a:r>
            <a:r>
              <a:rPr lang="zh-CN" altLang="en-US" sz="2400" dirty="0">
                <a:latin typeface="微软雅黑" panose="020B0503020204020204" pitchFamily="34" charset="-122"/>
                <a:ea typeface="微软雅黑" panose="020B0503020204020204" pitchFamily="34" charset="-122"/>
              </a:rPr>
              <a:t>）</a:t>
            </a:r>
          </a:p>
          <a:p>
            <a:pPr>
              <a:lnSpc>
                <a:spcPct val="110000"/>
              </a:lnSpc>
              <a:spcBef>
                <a:spcPts val="1000"/>
              </a:spcBef>
            </a:pPr>
            <a:endParaRPr lang="en-US" altLang="zh-CN" sz="2400" dirty="0" smtClean="0">
              <a:latin typeface="微软雅黑" panose="020B0503020204020204" pitchFamily="34" charset="-122"/>
              <a:ea typeface="微软雅黑" panose="020B0503020204020204" pitchFamily="34" charset="-122"/>
            </a:endParaRPr>
          </a:p>
          <a:p>
            <a:pPr marL="0" indent="0">
              <a:lnSpc>
                <a:spcPct val="110000"/>
              </a:lnSpc>
              <a:spcBef>
                <a:spcPts val="1000"/>
              </a:spcBef>
              <a:buNone/>
            </a:pP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弹性</a:t>
            </a:r>
            <a:r>
              <a:rPr lang="zh-CN" altLang="en-US" sz="2400" dirty="0">
                <a:latin typeface="微软雅黑" panose="020B0503020204020204" pitchFamily="34" charset="-122"/>
                <a:ea typeface="微软雅黑" panose="020B0503020204020204" pitchFamily="34" charset="-122"/>
              </a:rPr>
              <a:t>大小是不变的吗？弹性大小与什么有关系</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a:lnSpc>
                <a:spcPct val="110000"/>
              </a:lnSpc>
              <a:spcBef>
                <a:spcPts val="1000"/>
              </a:spcBef>
            </a:pPr>
            <a:endParaRPr lang="zh-CN" altLang="en-US" sz="2400" dirty="0">
              <a:latin typeface="微软雅黑" panose="020B0503020204020204" pitchFamily="34" charset="-122"/>
              <a:ea typeface="微软雅黑" panose="020B0503020204020204" pitchFamily="34" charset="-122"/>
            </a:endParaRPr>
          </a:p>
          <a:p>
            <a:pPr marL="0" indent="0">
              <a:lnSpc>
                <a:spcPct val="110000"/>
              </a:lnSpc>
              <a:spcBef>
                <a:spcPts val="1000"/>
              </a:spcBef>
              <a:buNone/>
            </a:pPr>
            <a:r>
              <a:rPr lang="zh-CN" altLang="en-US" sz="2400" dirty="0" smtClean="0">
                <a:latin typeface="微软雅黑" panose="020B0503020204020204" pitchFamily="34" charset="-122"/>
                <a:ea typeface="微软雅黑" panose="020B0503020204020204" pitchFamily="34" charset="-122"/>
              </a:rPr>
              <a:t>弹性</a:t>
            </a:r>
            <a:r>
              <a:rPr lang="zh-CN" altLang="en-US" sz="2400" dirty="0">
                <a:latin typeface="微软雅黑" panose="020B0503020204020204" pitchFamily="34" charset="-122"/>
                <a:ea typeface="微软雅黑" panose="020B0503020204020204" pitchFamily="34" charset="-122"/>
              </a:rPr>
              <a:t>大小与一定的时间相联系，通常来说，时间越长，数量对价格变化所作出的调整就越充分，或者说，短期弹性往往小于长期弹性。</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600157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a:t>
            </a:r>
            <a:r>
              <a:rPr lang="zh-CN" altLang="en-US" dirty="0" smtClean="0"/>
              <a:t>弹性</a:t>
            </a:r>
            <a:r>
              <a:rPr lang="zh-CN" altLang="en-US" dirty="0"/>
              <a:t>分析法</a:t>
            </a:r>
          </a:p>
        </p:txBody>
      </p:sp>
      <p:sp>
        <p:nvSpPr>
          <p:cNvPr id="3" name="内容占位符 2"/>
          <p:cNvSpPr>
            <a:spLocks noGrp="1"/>
          </p:cNvSpPr>
          <p:nvPr>
            <p:ph idx="1"/>
          </p:nvPr>
        </p:nvSpPr>
        <p:spPr/>
        <p:txBody>
          <a:bodyPr>
            <a:normAutofit/>
          </a:bodyPr>
          <a:lstStyle/>
          <a:p>
            <a:pPr marL="0" indent="0">
              <a:lnSpc>
                <a:spcPct val="110000"/>
              </a:lnSpc>
              <a:spcBef>
                <a:spcPts val="1000"/>
              </a:spcBef>
              <a:buNone/>
            </a:pPr>
            <a:r>
              <a:rPr lang="zh-CN" altLang="en-US" sz="2800" dirty="0">
                <a:latin typeface="微软雅黑" panose="020B0503020204020204" pitchFamily="34" charset="-122"/>
                <a:ea typeface="微软雅黑" panose="020B0503020204020204" pitchFamily="34" charset="-122"/>
              </a:rPr>
              <a:t>四、</a:t>
            </a:r>
            <a:r>
              <a:rPr lang="en-US" altLang="zh-CN" sz="2800" dirty="0">
                <a:latin typeface="微软雅黑" panose="020B0503020204020204" pitchFamily="34" charset="-122"/>
                <a:ea typeface="微软雅黑" panose="020B0503020204020204" pitchFamily="34" charset="-122"/>
              </a:rPr>
              <a:t>J</a:t>
            </a:r>
            <a:r>
              <a:rPr lang="zh-CN" altLang="en-US" sz="2800" dirty="0">
                <a:latin typeface="微软雅黑" panose="020B0503020204020204" pitchFamily="34" charset="-122"/>
                <a:ea typeface="微软雅黑" panose="020B0503020204020204" pitchFamily="34" charset="-122"/>
              </a:rPr>
              <a:t>曲线效应（</a:t>
            </a:r>
            <a:r>
              <a:rPr lang="en-US" altLang="zh-CN" sz="2800" dirty="0">
                <a:latin typeface="微软雅黑" panose="020B0503020204020204" pitchFamily="34" charset="-122"/>
                <a:ea typeface="微软雅黑" panose="020B0503020204020204" pitchFamily="34" charset="-122"/>
              </a:rPr>
              <a:t>J Curve</a:t>
            </a:r>
            <a:r>
              <a:rPr lang="zh-CN" altLang="en-US" sz="2800" dirty="0">
                <a:latin typeface="微软雅黑" panose="020B0503020204020204" pitchFamily="34" charset="-122"/>
                <a:ea typeface="微软雅黑" panose="020B0503020204020204" pitchFamily="34" charset="-122"/>
              </a:rPr>
              <a:t>）</a:t>
            </a:r>
          </a:p>
          <a:p>
            <a:pPr>
              <a:lnSpc>
                <a:spcPct val="110000"/>
              </a:lnSpc>
              <a:spcBef>
                <a:spcPts val="1000"/>
              </a:spcBef>
            </a:pPr>
            <a:endParaRPr lang="en-US" altLang="zh-CN" sz="2400" dirty="0" smtClean="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grpSp>
        <p:nvGrpSpPr>
          <p:cNvPr id="4" name="组合 3"/>
          <p:cNvGrpSpPr/>
          <p:nvPr/>
        </p:nvGrpSpPr>
        <p:grpSpPr>
          <a:xfrm>
            <a:off x="1619250" y="2276475"/>
            <a:ext cx="5689600" cy="3384550"/>
            <a:chOff x="1619250" y="2276475"/>
            <a:chExt cx="5689600" cy="3384550"/>
          </a:xfrm>
        </p:grpSpPr>
        <p:sp>
          <p:nvSpPr>
            <p:cNvPr id="7" name="Line 7"/>
            <p:cNvSpPr>
              <a:spLocks noChangeShapeType="1"/>
            </p:cNvSpPr>
            <p:nvPr/>
          </p:nvSpPr>
          <p:spPr bwMode="auto">
            <a:xfrm flipV="1">
              <a:off x="2411413" y="2492375"/>
              <a:ext cx="0" cy="316865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 name="Line 8"/>
            <p:cNvSpPr>
              <a:spLocks noChangeShapeType="1"/>
            </p:cNvSpPr>
            <p:nvPr/>
          </p:nvSpPr>
          <p:spPr bwMode="auto">
            <a:xfrm>
              <a:off x="2411413" y="4149725"/>
              <a:ext cx="4321175" cy="0"/>
            </a:xfrm>
            <a:prstGeom prst="line">
              <a:avLst/>
            </a:prstGeom>
            <a:noFill/>
            <a:ln w="31750">
              <a:solidFill>
                <a:schemeClr val="accent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 name="Text Box 9"/>
            <p:cNvSpPr txBox="1">
              <a:spLocks noChangeArrowheads="1"/>
            </p:cNvSpPr>
            <p:nvPr/>
          </p:nvSpPr>
          <p:spPr bwMode="auto">
            <a:xfrm>
              <a:off x="1619250" y="2276475"/>
              <a:ext cx="720725" cy="519113"/>
            </a:xfrm>
            <a:prstGeom prst="rect">
              <a:avLst/>
            </a:prstGeom>
            <a:noFill/>
            <a:ln w="9525">
              <a:noFill/>
              <a:miter lim="800000"/>
              <a:headEnd/>
              <a:tailEnd/>
            </a:ln>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TB</a:t>
              </a:r>
            </a:p>
          </p:txBody>
        </p:sp>
        <p:sp>
          <p:nvSpPr>
            <p:cNvPr id="10" name="Text Box 10"/>
            <p:cNvSpPr txBox="1">
              <a:spLocks noChangeArrowheads="1"/>
            </p:cNvSpPr>
            <p:nvPr/>
          </p:nvSpPr>
          <p:spPr bwMode="auto">
            <a:xfrm>
              <a:off x="6877050" y="3933825"/>
              <a:ext cx="431800" cy="519113"/>
            </a:xfrm>
            <a:prstGeom prst="rect">
              <a:avLst/>
            </a:prstGeom>
            <a:noFill/>
            <a:ln w="9525">
              <a:noFill/>
              <a:miter lim="800000"/>
              <a:headEnd/>
              <a:tailEnd/>
            </a:ln>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chemeClr val="accent1"/>
                  </a:solidFill>
                </a:rPr>
                <a:t>t</a:t>
              </a:r>
            </a:p>
          </p:txBody>
        </p:sp>
        <p:sp>
          <p:nvSpPr>
            <p:cNvPr id="11" name="Text Box 11"/>
            <p:cNvSpPr txBox="1">
              <a:spLocks noChangeArrowheads="1"/>
            </p:cNvSpPr>
            <p:nvPr/>
          </p:nvSpPr>
          <p:spPr bwMode="auto">
            <a:xfrm>
              <a:off x="1908175" y="3860800"/>
              <a:ext cx="431800" cy="519113"/>
            </a:xfrm>
            <a:prstGeom prst="rect">
              <a:avLst/>
            </a:prstGeom>
            <a:noFill/>
            <a:ln w="9525">
              <a:noFill/>
              <a:miter lim="800000"/>
              <a:headEnd/>
              <a:tailEnd/>
            </a:ln>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chemeClr val="accent1"/>
                  </a:solidFill>
                </a:rPr>
                <a:t>0</a:t>
              </a:r>
            </a:p>
          </p:txBody>
        </p:sp>
        <p:sp>
          <p:nvSpPr>
            <p:cNvPr id="12" name="Freeform 12"/>
            <p:cNvSpPr>
              <a:spLocks/>
            </p:cNvSpPr>
            <p:nvPr/>
          </p:nvSpPr>
          <p:spPr bwMode="auto">
            <a:xfrm>
              <a:off x="2411413" y="2516188"/>
              <a:ext cx="3060700" cy="2544762"/>
            </a:xfrm>
            <a:custGeom>
              <a:avLst/>
              <a:gdLst>
                <a:gd name="T0" fmla="*/ 0 w 1928"/>
                <a:gd name="T1" fmla="*/ 1920875 h 1603"/>
                <a:gd name="T2" fmla="*/ 865188 w 1928"/>
                <a:gd name="T3" fmla="*/ 2281237 h 1603"/>
                <a:gd name="T4" fmla="*/ 2736850 w 1928"/>
                <a:gd name="T5" fmla="*/ 336550 h 1603"/>
                <a:gd name="T6" fmla="*/ 2808288 w 1928"/>
                <a:gd name="T7" fmla="*/ 265112 h 1603"/>
                <a:gd name="T8" fmla="*/ 0 60000 65536"/>
                <a:gd name="T9" fmla="*/ 0 60000 65536"/>
                <a:gd name="T10" fmla="*/ 0 60000 65536"/>
                <a:gd name="T11" fmla="*/ 0 60000 65536"/>
                <a:gd name="T12" fmla="*/ 0 w 1928"/>
                <a:gd name="T13" fmla="*/ 0 h 1603"/>
                <a:gd name="T14" fmla="*/ 1928 w 1928"/>
                <a:gd name="T15" fmla="*/ 1603 h 1603"/>
              </a:gdLst>
              <a:ahLst/>
              <a:cxnLst>
                <a:cxn ang="T8">
                  <a:pos x="T0" y="T1"/>
                </a:cxn>
                <a:cxn ang="T9">
                  <a:pos x="T2" y="T3"/>
                </a:cxn>
                <a:cxn ang="T10">
                  <a:pos x="T4" y="T5"/>
                </a:cxn>
                <a:cxn ang="T11">
                  <a:pos x="T6" y="T7"/>
                </a:cxn>
              </a:cxnLst>
              <a:rect l="T12" t="T13" r="T14" b="T15"/>
              <a:pathLst>
                <a:path w="1928" h="1603">
                  <a:moveTo>
                    <a:pt x="0" y="1210"/>
                  </a:moveTo>
                  <a:cubicBezTo>
                    <a:pt x="129" y="1406"/>
                    <a:pt x="258" y="1603"/>
                    <a:pt x="545" y="1437"/>
                  </a:cubicBezTo>
                  <a:cubicBezTo>
                    <a:pt x="832" y="1271"/>
                    <a:pt x="1520" y="424"/>
                    <a:pt x="1724" y="212"/>
                  </a:cubicBezTo>
                  <a:cubicBezTo>
                    <a:pt x="1928" y="0"/>
                    <a:pt x="1848" y="83"/>
                    <a:pt x="1769" y="167"/>
                  </a:cubicBezTo>
                </a:path>
              </a:pathLst>
            </a:custGeom>
            <a:noFill/>
            <a:ln w="31750">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Tree>
    <p:extLst>
      <p:ext uri="{BB962C8B-B14F-4D97-AF65-F5344CB8AC3E}">
        <p14:creationId xmlns:p14="http://schemas.microsoft.com/office/powerpoint/2010/main" val="2349680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第一节	</a:t>
            </a:r>
            <a:r>
              <a:rPr lang="zh-CN" altLang="en-US" dirty="0" smtClean="0"/>
              <a:t>弹性</a:t>
            </a:r>
            <a:r>
              <a:rPr lang="zh-CN" altLang="en-US" dirty="0"/>
              <a:t>分析法</a:t>
            </a:r>
          </a:p>
        </p:txBody>
      </p:sp>
      <p:sp>
        <p:nvSpPr>
          <p:cNvPr id="3" name="内容占位符 2"/>
          <p:cNvSpPr>
            <a:spLocks noGrp="1"/>
          </p:cNvSpPr>
          <p:nvPr>
            <p:ph idx="1"/>
          </p:nvPr>
        </p:nvSpPr>
        <p:spPr/>
        <p:txBody>
          <a:bodyPr>
            <a:normAutofit/>
          </a:bodyPr>
          <a:lstStyle/>
          <a:p>
            <a:pPr marL="0" indent="0">
              <a:lnSpc>
                <a:spcPct val="110000"/>
              </a:lnSpc>
              <a:spcBef>
                <a:spcPts val="1000"/>
              </a:spcBef>
              <a:buNone/>
            </a:pPr>
            <a:r>
              <a:rPr lang="zh-CN" altLang="en-US" sz="2800" dirty="0">
                <a:latin typeface="微软雅黑" panose="020B0503020204020204" pitchFamily="34" charset="-122"/>
                <a:ea typeface="微软雅黑" panose="020B0503020204020204" pitchFamily="34" charset="-122"/>
              </a:rPr>
              <a:t>课后讨论：</a:t>
            </a:r>
          </a:p>
          <a:p>
            <a:pPr>
              <a:lnSpc>
                <a:spcPct val="110000"/>
              </a:lnSpc>
              <a:spcBef>
                <a:spcPts val="1000"/>
              </a:spcBef>
            </a:pPr>
            <a:endParaRPr lang="zh-CN" altLang="en-US" sz="2800" dirty="0">
              <a:latin typeface="微软雅黑" panose="020B0503020204020204" pitchFamily="34" charset="-122"/>
              <a:ea typeface="微软雅黑" panose="020B0503020204020204" pitchFamily="34" charset="-122"/>
            </a:endParaRPr>
          </a:p>
          <a:p>
            <a:pPr marL="0" indent="0">
              <a:lnSpc>
                <a:spcPct val="110000"/>
              </a:lnSpc>
              <a:spcBef>
                <a:spcPts val="1000"/>
              </a:spcBef>
              <a:buNone/>
            </a:pPr>
            <a:r>
              <a:rPr lang="zh-CN" altLang="en-US" sz="2800" dirty="0">
                <a:latin typeface="微软雅黑" panose="020B0503020204020204" pitchFamily="34" charset="-122"/>
                <a:ea typeface="微软雅黑" panose="020B0503020204020204" pitchFamily="34" charset="-122"/>
              </a:rPr>
              <a:t>人民币升值与全球失衡调整？</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826111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a:t>
            </a:r>
            <a:r>
              <a:rPr lang="zh-CN" altLang="en-US" dirty="0" smtClean="0"/>
              <a:t>乘数</a:t>
            </a:r>
            <a:r>
              <a:rPr lang="zh-CN" altLang="en-US" dirty="0"/>
              <a:t>分析法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92500"/>
              </a:bodyPr>
              <a:lstStyle/>
              <a:p>
                <a:pPr marL="0" indent="0">
                  <a:lnSpc>
                    <a:spcPct val="110000"/>
                  </a:lnSpc>
                  <a:spcBef>
                    <a:spcPts val="10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       二</a:t>
                </a:r>
                <a:r>
                  <a:rPr lang="zh-CN" altLang="en-US" sz="2400" dirty="0">
                    <a:solidFill>
                      <a:schemeClr val="accent1"/>
                    </a:solidFill>
                    <a:latin typeface="微软雅黑" panose="020B0503020204020204" pitchFamily="34" charset="-122"/>
                    <a:ea typeface="微软雅黑" panose="020B0503020204020204" pitchFamily="34" charset="-122"/>
                  </a:rPr>
                  <a:t>战后，马克卢普和梅茨勒将凯恩斯的乘数原理应用于国际收支分析，提出“对外贸易乘数论”</a:t>
                </a:r>
                <a:r>
                  <a:rPr lang="zh-CN" altLang="en-US" sz="2400" dirty="0" smtClean="0">
                    <a:solidFill>
                      <a:schemeClr val="accent1"/>
                    </a:solidFill>
                    <a:latin typeface="微软雅黑" panose="020B0503020204020204" pitchFamily="34" charset="-122"/>
                    <a:ea typeface="微软雅黑" panose="020B0503020204020204" pitchFamily="34" charset="-122"/>
                  </a:rPr>
                  <a:t>。</a:t>
                </a:r>
                <a:endParaRPr lang="en-US" altLang="zh-CN" sz="2400" dirty="0" smtClean="0">
                  <a:solidFill>
                    <a:schemeClr val="accent1"/>
                  </a:solidFill>
                  <a:latin typeface="微软雅黑" panose="020B0503020204020204" pitchFamily="34" charset="-122"/>
                  <a:ea typeface="微软雅黑" panose="020B0503020204020204" pitchFamily="34" charset="-122"/>
                </a:endParaRPr>
              </a:p>
              <a:p>
                <a:pPr>
                  <a:lnSpc>
                    <a:spcPct val="110000"/>
                  </a:lnSpc>
                  <a:spcBef>
                    <a:spcPts val="1000"/>
                  </a:spcBef>
                </a:pPr>
                <a:endParaRPr lang="zh-CN" altLang="en-US" sz="2800" dirty="0">
                  <a:latin typeface="微软雅黑" panose="020B0503020204020204" pitchFamily="34" charset="-122"/>
                  <a:ea typeface="微软雅黑" panose="020B0503020204020204" pitchFamily="34" charset="-122"/>
                </a:endParaRPr>
              </a:p>
              <a:p>
                <a:pPr marL="0" indent="0">
                  <a:lnSpc>
                    <a:spcPct val="110000"/>
                  </a:lnSpc>
                  <a:spcBef>
                    <a:spcPts val="1000"/>
                  </a:spcBef>
                  <a:buNone/>
                </a:pPr>
                <a:r>
                  <a:rPr lang="zh-CN" altLang="en-US" sz="2800" dirty="0" smtClean="0">
                    <a:latin typeface="微软雅黑" panose="020B0503020204020204" pitchFamily="34" charset="-122"/>
                    <a:ea typeface="微软雅黑" panose="020B0503020204020204" pitchFamily="34" charset="-122"/>
                  </a:rPr>
                  <a:t>一</a:t>
                </a:r>
                <a:r>
                  <a:rPr lang="zh-CN" altLang="en-US" sz="2800" dirty="0">
                    <a:latin typeface="微软雅黑" panose="020B0503020204020204" pitchFamily="34" charset="-122"/>
                    <a:ea typeface="微软雅黑" panose="020B0503020204020204" pitchFamily="34" charset="-122"/>
                  </a:rPr>
                  <a:t>、前提条件</a:t>
                </a:r>
              </a:p>
              <a:p>
                <a:pPr marL="971550" lvl="2" indent="-514350">
                  <a:lnSpc>
                    <a:spcPct val="110000"/>
                  </a:lnSpc>
                  <a:spcBef>
                    <a:spcPts val="1000"/>
                  </a:spcBef>
                  <a:buFont typeface="+mj-lt"/>
                  <a:buAutoNum type="arabicPeriod"/>
                </a:pPr>
                <a:r>
                  <a:rPr lang="zh-CN" altLang="en-US" sz="2400" dirty="0">
                    <a:latin typeface="微软雅黑" panose="020B0503020204020204" pitchFamily="34" charset="-122"/>
                    <a:ea typeface="微软雅黑" panose="020B0503020204020204" pitchFamily="34" charset="-122"/>
                  </a:rPr>
                  <a:t>汇率不变（</a:t>
                </a:r>
                <a14:m>
                  <m:oMath xmlns:m="http://schemas.openxmlformats.org/officeDocument/2006/math">
                    <m:r>
                      <a:rPr lang="en-US" altLang="zh-CN" sz="2400" i="1" dirty="0" smtClean="0">
                        <a:latin typeface="Cambria Math" panose="02040503050406030204" pitchFamily="18" charset="0"/>
                        <a:ea typeface="微软雅黑" panose="020B0503020204020204" pitchFamily="34" charset="-122"/>
                      </a:rPr>
                      <m:t>𝑒</m:t>
                    </m:r>
                  </m:oMath>
                </a14:m>
                <a:r>
                  <a:rPr lang="zh-CN" altLang="en-US" sz="2400" dirty="0">
                    <a:latin typeface="微软雅黑" panose="020B0503020204020204" pitchFamily="34" charset="-122"/>
                    <a:ea typeface="微软雅黑" panose="020B0503020204020204" pitchFamily="34" charset="-122"/>
                  </a:rPr>
                  <a:t>）；</a:t>
                </a:r>
              </a:p>
              <a:p>
                <a:pPr marL="971550" lvl="2" indent="-514350">
                  <a:lnSpc>
                    <a:spcPct val="110000"/>
                  </a:lnSpc>
                  <a:spcBef>
                    <a:spcPts val="1000"/>
                  </a:spcBef>
                  <a:buFont typeface="+mj-lt"/>
                  <a:buAutoNum type="arabicPeriod"/>
                </a:pPr>
                <a:r>
                  <a:rPr lang="zh-CN" altLang="en-US" sz="2400" dirty="0" smtClean="0">
                    <a:latin typeface="微软雅黑" panose="020B0503020204020204" pitchFamily="34" charset="-122"/>
                    <a:ea typeface="微软雅黑" panose="020B0503020204020204" pitchFamily="34" charset="-122"/>
                  </a:rPr>
                  <a:t>利率不变（</a:t>
                </a:r>
                <a:r>
                  <a:rPr lang="en-US" altLang="zh-CN" sz="2400" dirty="0" err="1" smtClean="0">
                    <a:latin typeface="微软雅黑" panose="020B0503020204020204" pitchFamily="34" charset="-122"/>
                    <a:ea typeface="微软雅黑" panose="020B0503020204020204" pitchFamily="34" charset="-122"/>
                  </a:rPr>
                  <a:t>i</a:t>
                </a:r>
                <a:r>
                  <a:rPr lang="zh-CN" altLang="en-US" sz="2400" dirty="0" smtClean="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不考虑国际资本流动，将国际收支等同于贸易收支；</a:t>
                </a:r>
              </a:p>
              <a:p>
                <a:pPr marL="971550" lvl="2" indent="-514350">
                  <a:lnSpc>
                    <a:spcPct val="110000"/>
                  </a:lnSpc>
                  <a:spcBef>
                    <a:spcPts val="1000"/>
                  </a:spcBef>
                  <a:buFont typeface="+mj-lt"/>
                  <a:buAutoNum type="arabicPeriod"/>
                </a:pPr>
                <a:r>
                  <a:rPr lang="zh-CN" altLang="en-US" sz="2400" dirty="0" smtClean="0">
                    <a:latin typeface="微软雅黑" panose="020B0503020204020204" pitchFamily="34" charset="-122"/>
                    <a:ea typeface="微软雅黑" panose="020B0503020204020204" pitchFamily="34" charset="-122"/>
                  </a:rPr>
                  <a:t>国内外</a:t>
                </a:r>
                <a:r>
                  <a:rPr lang="zh-CN" altLang="en-US" sz="2400" dirty="0">
                    <a:latin typeface="微软雅黑" panose="020B0503020204020204" pitchFamily="34" charset="-122"/>
                    <a:ea typeface="微软雅黑" panose="020B0503020204020204" pitchFamily="34" charset="-122"/>
                  </a:rPr>
                  <a:t>商品劳务的价格不变</a:t>
                </a:r>
                <a:r>
                  <a:rPr lang="zh-CN" altLang="en-US" sz="2400" dirty="0" smtClean="0">
                    <a:latin typeface="微软雅黑" panose="020B0503020204020204" pitchFamily="34" charset="-122"/>
                    <a:ea typeface="微软雅黑" panose="020B0503020204020204" pitchFamily="34" charset="-122"/>
                  </a:rPr>
                  <a:t>（</a:t>
                </a:r>
                <a14:m>
                  <m:oMath xmlns:m="http://schemas.openxmlformats.org/officeDocument/2006/math">
                    <m:sSub>
                      <m:sSubPr>
                        <m:ctrlPr>
                          <a:rPr lang="en-US" altLang="zh-CN" sz="2400" b="0" i="1" dirty="0" smtClean="0">
                            <a:latin typeface="Cambria Math"/>
                            <a:ea typeface="微软雅黑" panose="020B0503020204020204" pitchFamily="34" charset="-122"/>
                          </a:rPr>
                        </m:ctrlPr>
                      </m:sSubPr>
                      <m:e>
                        <m:r>
                          <a:rPr lang="en-US" altLang="zh-CN" sz="2400" b="0" i="1" dirty="0" smtClean="0">
                            <a:latin typeface="Cambria Math" panose="02040503050406030204" pitchFamily="18" charset="0"/>
                            <a:ea typeface="微软雅黑" panose="020B0503020204020204" pitchFamily="34" charset="-122"/>
                          </a:rPr>
                          <m:t>𝑃</m:t>
                        </m:r>
                      </m:e>
                      <m:sub>
                        <m:r>
                          <a:rPr lang="en-US" altLang="zh-CN" sz="2400" b="0" i="1" dirty="0" smtClean="0">
                            <a:latin typeface="Cambria Math" panose="02040503050406030204" pitchFamily="18" charset="0"/>
                            <a:ea typeface="微软雅黑" panose="020B0503020204020204" pitchFamily="34" charset="-122"/>
                          </a:rPr>
                          <m:t>𝑥</m:t>
                        </m:r>
                      </m:sub>
                    </m:sSub>
                  </m:oMath>
                </a14:m>
                <a:r>
                  <a:rPr lang="zh-CN" altLang="en-US" sz="2400" dirty="0" smtClean="0">
                    <a:latin typeface="微软雅黑" panose="020B0503020204020204" pitchFamily="34" charset="-122"/>
                    <a:ea typeface="微软雅黑" panose="020B0503020204020204" pitchFamily="34" charset="-122"/>
                  </a:rPr>
                  <a:t>和</a:t>
                </a:r>
                <a14:m>
                  <m:oMath xmlns:m="http://schemas.openxmlformats.org/officeDocument/2006/math">
                    <m:sSub>
                      <m:sSubPr>
                        <m:ctrlPr>
                          <a:rPr lang="en-US" altLang="zh-CN" sz="2400" i="1" dirty="0">
                            <a:latin typeface="Cambria Math"/>
                            <a:ea typeface="微软雅黑" panose="020B0503020204020204" pitchFamily="34" charset="-122"/>
                          </a:rPr>
                        </m:ctrlPr>
                      </m:sSubPr>
                      <m:e>
                        <m:r>
                          <a:rPr lang="en-US" altLang="zh-CN" sz="2400" i="1" dirty="0">
                            <a:latin typeface="Cambria Math" panose="02040503050406030204" pitchFamily="18" charset="0"/>
                            <a:ea typeface="微软雅黑" panose="020B0503020204020204" pitchFamily="34" charset="-122"/>
                          </a:rPr>
                          <m:t>𝑃</m:t>
                        </m:r>
                      </m:e>
                      <m:sub>
                        <m:r>
                          <a:rPr lang="en-US" altLang="zh-CN" sz="2400" b="0" i="1" dirty="0" smtClean="0">
                            <a:latin typeface="Cambria Math" panose="02040503050406030204" pitchFamily="18" charset="0"/>
                            <a:ea typeface="微软雅黑" panose="020B0503020204020204" pitchFamily="34" charset="-122"/>
                          </a:rPr>
                          <m:t>𝑚</m:t>
                        </m:r>
                      </m:sub>
                    </m:sSub>
                  </m:oMath>
                </a14:m>
                <a:r>
                  <a:rPr lang="zh-CN" altLang="en-US" sz="2400" dirty="0" smtClean="0">
                    <a:latin typeface="微软雅黑" panose="020B0503020204020204" pitchFamily="34" charset="-122"/>
                    <a:ea typeface="微软雅黑" panose="020B0503020204020204" pitchFamily="34" charset="-122"/>
                  </a:rPr>
                  <a:t>不变</a:t>
                </a:r>
                <a:r>
                  <a:rPr lang="zh-CN" altLang="en-US" sz="2400" dirty="0">
                    <a:latin typeface="微软雅黑" panose="020B0503020204020204" pitchFamily="34" charset="-122"/>
                    <a:ea typeface="微软雅黑" panose="020B0503020204020204" pitchFamily="34" charset="-122"/>
                  </a:rPr>
                  <a:t>）。</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3"/>
                <a:stretch>
                  <a:fillRect l="-1438" t="-669" r="-1100"/>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537480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a:t>
            </a:r>
            <a:r>
              <a:rPr lang="zh-CN" altLang="en-US" dirty="0" smtClean="0"/>
              <a:t>乘数</a:t>
            </a:r>
            <a:r>
              <a:rPr lang="zh-CN" altLang="en-US" dirty="0"/>
              <a:t>分析法</a:t>
            </a:r>
          </a:p>
        </p:txBody>
      </p:sp>
      <p:sp>
        <p:nvSpPr>
          <p:cNvPr id="3" name="内容占位符 2"/>
          <p:cNvSpPr>
            <a:spLocks noGrp="1"/>
          </p:cNvSpPr>
          <p:nvPr>
            <p:ph idx="1"/>
          </p:nvPr>
        </p:nvSpPr>
        <p:spPr/>
        <p:txBody>
          <a:bodyPr>
            <a:normAutofit/>
          </a:bodyPr>
          <a:lstStyle/>
          <a:p>
            <a:pPr marL="0" indent="0">
              <a:lnSpc>
                <a:spcPct val="110000"/>
              </a:lnSpc>
              <a:spcBef>
                <a:spcPts val="1000"/>
              </a:spcBef>
              <a:buNone/>
            </a:pPr>
            <a:r>
              <a:rPr lang="zh-CN" altLang="en-US" sz="2600" dirty="0">
                <a:latin typeface="微软雅黑" panose="020B0503020204020204" pitchFamily="34" charset="-122"/>
                <a:ea typeface="微软雅黑" panose="020B0503020204020204" pitchFamily="34" charset="-122"/>
              </a:rPr>
              <a:t>二、基本精神</a:t>
            </a:r>
          </a:p>
          <a:p>
            <a:pPr marL="0" indent="0">
              <a:lnSpc>
                <a:spcPct val="150000"/>
              </a:lnSpc>
              <a:spcBef>
                <a:spcPts val="1000"/>
              </a:spcBef>
              <a:buNone/>
            </a:pPr>
            <a:r>
              <a:rPr lang="zh-CN" altLang="en-US" sz="28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进口支出是国民收入的函数，自主性支出的变动通过乘数效应引起国民收入的变化，从而影响进口支出。</a:t>
            </a:r>
          </a:p>
          <a:p>
            <a:pPr marL="0" indent="0">
              <a:lnSpc>
                <a:spcPct val="150000"/>
              </a:lnSpc>
              <a:spcBef>
                <a:spcPts val="1000"/>
              </a:spcBef>
              <a:buNone/>
            </a:pPr>
            <a:r>
              <a:rPr lang="zh-CN" altLang="en-US" sz="2400" dirty="0">
                <a:solidFill>
                  <a:schemeClr val="accent1"/>
                </a:solidFill>
                <a:latin typeface="微软雅黑" panose="020B0503020204020204" pitchFamily="34" charset="-122"/>
                <a:ea typeface="微软雅黑" panose="020B0503020204020204" pitchFamily="34" charset="-122"/>
              </a:rPr>
              <a:t>	（注重的是收入效应）</a:t>
            </a:r>
          </a:p>
          <a:p>
            <a:pPr>
              <a:lnSpc>
                <a:spcPct val="110000"/>
              </a:lnSpc>
              <a:spcBef>
                <a:spcPts val="1000"/>
              </a:spcBef>
            </a:pPr>
            <a:endParaRPr lang="zh-CN" altLang="en-US" sz="2800" dirty="0">
              <a:latin typeface="微软雅黑" panose="020B0503020204020204" pitchFamily="34" charset="-122"/>
              <a:ea typeface="微软雅黑" panose="020B0503020204020204" pitchFamily="34" charset="-122"/>
            </a:endParaRPr>
          </a:p>
          <a:p>
            <a:pPr>
              <a:lnSpc>
                <a:spcPct val="110000"/>
              </a:lnSpc>
              <a:spcBef>
                <a:spcPts val="1000"/>
              </a:spcBef>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837410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a:t>
            </a:r>
            <a:r>
              <a:rPr lang="zh-CN" altLang="en-US" dirty="0" smtClean="0"/>
              <a:t>乘数</a:t>
            </a:r>
            <a:r>
              <a:rPr lang="zh-CN" altLang="en-US" dirty="0"/>
              <a:t>分析法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marL="0" indent="0">
                  <a:lnSpc>
                    <a:spcPct val="150000"/>
                  </a:lnSpc>
                  <a:spcBef>
                    <a:spcPts val="1000"/>
                  </a:spcBef>
                  <a:buNone/>
                </a:pPr>
                <a:r>
                  <a:rPr lang="zh-CN" altLang="en-US" sz="2400" dirty="0" smtClean="0">
                    <a:latin typeface="微软雅黑" panose="020B0503020204020204" pitchFamily="34" charset="-122"/>
                    <a:ea typeface="微软雅黑" panose="020B0503020204020204" pitchFamily="34" charset="-122"/>
                  </a:rPr>
                  <a:t>三、对外贸易乘数</a:t>
                </a:r>
              </a:p>
              <a:p>
                <a:pPr marL="914400" lvl="4" indent="0">
                  <a:lnSpc>
                    <a:spcPct val="150000"/>
                  </a:lnSpc>
                  <a:spcBef>
                    <a:spcPts val="1000"/>
                  </a:spcBef>
                  <a:buNone/>
                </a:pPr>
                <a14:m>
                  <m:oMathPara xmlns:m="http://schemas.openxmlformats.org/officeDocument/2006/math">
                    <m:oMathParaPr>
                      <m:jc m:val="left"/>
                    </m:oMathParaPr>
                    <m:oMath xmlns:m="http://schemas.openxmlformats.org/officeDocument/2006/math">
                      <m:r>
                        <a:rPr lang="en-US" altLang="zh-CN" sz="2400" b="0" i="1" smtClean="0">
                          <a:solidFill>
                            <a:schemeClr val="tx1"/>
                          </a:solidFill>
                          <a:latin typeface="Cambria Math" panose="02040503050406030204" pitchFamily="18" charset="0"/>
                          <a:ea typeface="微软雅黑" panose="020B0503020204020204" pitchFamily="34" charset="-122"/>
                        </a:rPr>
                        <m:t>𝐶</m:t>
                      </m:r>
                      <m:r>
                        <a:rPr lang="en-US" altLang="zh-CN" sz="2400" b="0" i="1" smtClean="0">
                          <a:solidFill>
                            <a:schemeClr val="tx1"/>
                          </a:solidFill>
                          <a:latin typeface="Cambria Math" panose="02040503050406030204" pitchFamily="18" charset="0"/>
                          <a:ea typeface="微软雅黑" panose="020B0503020204020204" pitchFamily="34" charset="-122"/>
                        </a:rPr>
                        <m:t>=</m:t>
                      </m:r>
                      <m:sSub>
                        <m:sSubPr>
                          <m:ctrlPr>
                            <a:rPr lang="en-US" altLang="zh-CN" sz="2400" b="0" i="1" smtClean="0">
                              <a:solidFill>
                                <a:schemeClr val="tx1"/>
                              </a:solidFill>
                              <a:latin typeface="Cambria Math"/>
                              <a:ea typeface="微软雅黑" panose="020B0503020204020204" pitchFamily="34" charset="-122"/>
                            </a:rPr>
                          </m:ctrlPr>
                        </m:sSubPr>
                        <m:e>
                          <m:r>
                            <a:rPr lang="en-US" altLang="zh-CN" sz="2400" b="0" i="1" smtClean="0">
                              <a:solidFill>
                                <a:schemeClr val="tx1"/>
                              </a:solidFill>
                              <a:latin typeface="Cambria Math" panose="02040503050406030204" pitchFamily="18" charset="0"/>
                              <a:ea typeface="微软雅黑" panose="020B0503020204020204" pitchFamily="34" charset="-122"/>
                            </a:rPr>
                            <m:t>𝐶</m:t>
                          </m:r>
                        </m:e>
                        <m:sub>
                          <m:r>
                            <a:rPr lang="en-US" altLang="zh-CN" sz="2400" b="0" i="1" smtClean="0">
                              <a:solidFill>
                                <a:schemeClr val="tx1"/>
                              </a:solidFill>
                              <a:latin typeface="Cambria Math" panose="02040503050406030204" pitchFamily="18" charset="0"/>
                              <a:ea typeface="微软雅黑" panose="020B0503020204020204" pitchFamily="34" charset="-122"/>
                            </a:rPr>
                            <m:t>0</m:t>
                          </m:r>
                        </m:sub>
                      </m:sSub>
                      <m:r>
                        <a:rPr lang="en-US" altLang="zh-CN" sz="2400" b="0" i="1" smtClean="0">
                          <a:solidFill>
                            <a:schemeClr val="tx1"/>
                          </a:solidFill>
                          <a:latin typeface="Cambria Math" panose="02040503050406030204" pitchFamily="18" charset="0"/>
                          <a:ea typeface="微软雅黑" panose="020B0503020204020204" pitchFamily="34" charset="-122"/>
                        </a:rPr>
                        <m:t>+</m:t>
                      </m:r>
                      <m:r>
                        <a:rPr lang="en-US" altLang="zh-CN" sz="2400" b="0" i="1" smtClean="0">
                          <a:solidFill>
                            <a:schemeClr val="tx1"/>
                          </a:solidFill>
                          <a:latin typeface="Cambria Math" panose="02040503050406030204" pitchFamily="18" charset="0"/>
                          <a:ea typeface="微软雅黑" panose="020B0503020204020204" pitchFamily="34" charset="-122"/>
                        </a:rPr>
                        <m:t>𝑐</m:t>
                      </m:r>
                      <m:r>
                        <a:rPr lang="en-US" altLang="zh-CN" sz="2400" b="0" i="1" smtClean="0">
                          <a:solidFill>
                            <a:schemeClr val="tx1"/>
                          </a:solidFill>
                          <a:latin typeface="Cambria Math" panose="02040503050406030204" pitchFamily="18" charset="0"/>
                          <a:ea typeface="Cambria Math" panose="02040503050406030204" pitchFamily="18" charset="0"/>
                        </a:rPr>
                        <m:t>×</m:t>
                      </m:r>
                      <m:r>
                        <a:rPr lang="en-US" altLang="zh-CN" sz="2400" b="0" i="1" smtClean="0">
                          <a:solidFill>
                            <a:schemeClr val="tx1"/>
                          </a:solidFill>
                          <a:latin typeface="Cambria Math" panose="02040503050406030204" pitchFamily="18" charset="0"/>
                          <a:ea typeface="Cambria Math" panose="02040503050406030204" pitchFamily="18" charset="0"/>
                        </a:rPr>
                        <m:t>𝑌</m:t>
                      </m:r>
                    </m:oMath>
                  </m:oMathPara>
                </a14:m>
                <a:endParaRPr lang="en-US" altLang="zh-CN" sz="2400" dirty="0" smtClean="0">
                  <a:solidFill>
                    <a:schemeClr val="tx1"/>
                  </a:solidFill>
                  <a:latin typeface="微软雅黑" panose="020B0503020204020204" pitchFamily="34" charset="-122"/>
                  <a:ea typeface="微软雅黑" panose="020B0503020204020204" pitchFamily="34" charset="-122"/>
                </a:endParaRPr>
              </a:p>
              <a:p>
                <a:pPr marL="914400" lvl="4" indent="0">
                  <a:lnSpc>
                    <a:spcPct val="150000"/>
                  </a:lnSpc>
                  <a:spcBef>
                    <a:spcPts val="1000"/>
                  </a:spcBef>
                  <a:buNone/>
                </a:pPr>
                <a14:m>
                  <m:oMathPara xmlns:m="http://schemas.openxmlformats.org/officeDocument/2006/math">
                    <m:oMathParaPr>
                      <m:jc m:val="left"/>
                    </m:oMathParaPr>
                    <m:oMath xmlns:m="http://schemas.openxmlformats.org/officeDocument/2006/math">
                      <m:r>
                        <a:rPr lang="en-US" altLang="zh-CN" sz="2400" b="0" i="1" smtClean="0">
                          <a:solidFill>
                            <a:schemeClr val="tx1"/>
                          </a:solidFill>
                          <a:latin typeface="Cambria Math" panose="02040503050406030204" pitchFamily="18" charset="0"/>
                          <a:ea typeface="微软雅黑" panose="020B0503020204020204" pitchFamily="34" charset="-122"/>
                        </a:rPr>
                        <m:t>𝑀</m:t>
                      </m:r>
                      <m:r>
                        <a:rPr lang="en-US" altLang="zh-CN" sz="2400" i="1">
                          <a:solidFill>
                            <a:schemeClr val="tx1"/>
                          </a:solidFill>
                          <a:latin typeface="Cambria Math" panose="02040503050406030204" pitchFamily="18" charset="0"/>
                          <a:ea typeface="微软雅黑" panose="020B0503020204020204" pitchFamily="34" charset="-122"/>
                        </a:rPr>
                        <m:t>=</m:t>
                      </m:r>
                      <m:sSub>
                        <m:sSubPr>
                          <m:ctrlPr>
                            <a:rPr lang="en-US" altLang="zh-CN" sz="2400" i="1">
                              <a:solidFill>
                                <a:schemeClr val="tx1"/>
                              </a:solidFill>
                              <a:latin typeface="Cambria Math"/>
                              <a:ea typeface="微软雅黑" panose="020B0503020204020204" pitchFamily="34" charset="-122"/>
                            </a:rPr>
                          </m:ctrlPr>
                        </m:sSubPr>
                        <m:e>
                          <m:r>
                            <a:rPr lang="en-US" altLang="zh-CN" sz="2400" b="0" i="1" smtClean="0">
                              <a:solidFill>
                                <a:schemeClr val="tx1"/>
                              </a:solidFill>
                              <a:latin typeface="Cambria Math" panose="02040503050406030204" pitchFamily="18" charset="0"/>
                              <a:ea typeface="微软雅黑" panose="020B0503020204020204" pitchFamily="34" charset="-122"/>
                            </a:rPr>
                            <m:t>𝑀</m:t>
                          </m:r>
                        </m:e>
                        <m:sub>
                          <m:r>
                            <a:rPr lang="en-US" altLang="zh-CN" sz="2400" i="1">
                              <a:solidFill>
                                <a:schemeClr val="tx1"/>
                              </a:solidFill>
                              <a:latin typeface="Cambria Math" panose="02040503050406030204" pitchFamily="18" charset="0"/>
                              <a:ea typeface="微软雅黑" panose="020B0503020204020204" pitchFamily="34" charset="-122"/>
                            </a:rPr>
                            <m:t>0</m:t>
                          </m:r>
                        </m:sub>
                      </m:sSub>
                      <m:r>
                        <a:rPr lang="en-US" altLang="zh-CN" sz="2400" i="1">
                          <a:solidFill>
                            <a:schemeClr val="tx1"/>
                          </a:solidFill>
                          <a:latin typeface="Cambria Math" panose="02040503050406030204" pitchFamily="18" charset="0"/>
                          <a:ea typeface="微软雅黑" panose="020B0503020204020204" pitchFamily="34" charset="-122"/>
                        </a:rPr>
                        <m:t>+</m:t>
                      </m:r>
                      <m:r>
                        <a:rPr lang="en-US" altLang="zh-CN" sz="2400" b="0" i="1" smtClean="0">
                          <a:solidFill>
                            <a:schemeClr val="tx1"/>
                          </a:solidFill>
                          <a:latin typeface="Cambria Math" panose="02040503050406030204" pitchFamily="18" charset="0"/>
                          <a:ea typeface="微软雅黑" panose="020B0503020204020204" pitchFamily="34" charset="-122"/>
                        </a:rPr>
                        <m:t>𝑚</m:t>
                      </m:r>
                      <m:r>
                        <a:rPr lang="en-US" altLang="zh-CN" sz="2400" i="1">
                          <a:solidFill>
                            <a:schemeClr val="tx1"/>
                          </a:solidFill>
                          <a:latin typeface="Cambria Math" panose="02040503050406030204" pitchFamily="18" charset="0"/>
                          <a:ea typeface="Cambria Math" panose="02040503050406030204" pitchFamily="18" charset="0"/>
                        </a:rPr>
                        <m:t>×</m:t>
                      </m:r>
                      <m:r>
                        <a:rPr lang="en-US" altLang="zh-CN" sz="2400" i="1">
                          <a:solidFill>
                            <a:schemeClr val="tx1"/>
                          </a:solidFill>
                          <a:latin typeface="Cambria Math" panose="02040503050406030204" pitchFamily="18" charset="0"/>
                          <a:ea typeface="Cambria Math" panose="02040503050406030204" pitchFamily="18" charset="0"/>
                        </a:rPr>
                        <m:t>𝑌</m:t>
                      </m:r>
                    </m:oMath>
                  </m:oMathPara>
                </a14:m>
                <a:endParaRPr lang="en-US" altLang="zh-CN" sz="2400" dirty="0">
                  <a:solidFill>
                    <a:schemeClr val="tx1"/>
                  </a:solidFill>
                  <a:latin typeface="微软雅黑" panose="020B0503020204020204" pitchFamily="34" charset="-122"/>
                  <a:ea typeface="微软雅黑" panose="020B0503020204020204" pitchFamily="34" charset="-122"/>
                </a:endParaRPr>
              </a:p>
              <a:p>
                <a:pPr marL="914400" lvl="4" indent="0">
                  <a:lnSpc>
                    <a:spcPct val="150000"/>
                  </a:lnSpc>
                  <a:spcBef>
                    <a:spcPts val="1000"/>
                  </a:spcBef>
                  <a:buNone/>
                </a:pPr>
                <a14:m>
                  <m:oMathPara xmlns:m="http://schemas.openxmlformats.org/officeDocument/2006/math">
                    <m:oMathParaPr>
                      <m:jc m:val="left"/>
                    </m:oMathParaPr>
                    <m:oMath xmlns:m="http://schemas.openxmlformats.org/officeDocument/2006/math">
                      <m:r>
                        <a:rPr lang="en-US" altLang="zh-CN" sz="2400" b="0" i="1" smtClean="0">
                          <a:solidFill>
                            <a:schemeClr val="tx1"/>
                          </a:solidFill>
                          <a:latin typeface="Cambria Math" panose="02040503050406030204" pitchFamily="18" charset="0"/>
                          <a:ea typeface="微软雅黑" panose="020B0503020204020204" pitchFamily="34" charset="-122"/>
                        </a:rPr>
                        <m:t>𝑌</m:t>
                      </m:r>
                      <m:r>
                        <a:rPr lang="en-US" altLang="zh-CN" sz="2400" i="1">
                          <a:solidFill>
                            <a:schemeClr val="tx1"/>
                          </a:solidFill>
                          <a:latin typeface="Cambria Math" panose="02040503050406030204" pitchFamily="18" charset="0"/>
                          <a:ea typeface="微软雅黑" panose="020B0503020204020204" pitchFamily="34" charset="-122"/>
                        </a:rPr>
                        <m:t>=</m:t>
                      </m:r>
                      <m:f>
                        <m:fPr>
                          <m:ctrlPr>
                            <a:rPr lang="en-US" altLang="zh-CN" sz="2400" i="1" smtClean="0">
                              <a:solidFill>
                                <a:schemeClr val="tx1"/>
                              </a:solidFill>
                              <a:latin typeface="Cambria Math"/>
                              <a:ea typeface="微软雅黑" panose="020B0503020204020204" pitchFamily="34" charset="-122"/>
                            </a:rPr>
                          </m:ctrlPr>
                        </m:fPr>
                        <m:num>
                          <m:r>
                            <a:rPr lang="en-US" altLang="zh-CN" sz="2400" b="0" i="1" smtClean="0">
                              <a:solidFill>
                                <a:schemeClr val="tx1"/>
                              </a:solidFill>
                              <a:latin typeface="Cambria Math" panose="02040503050406030204" pitchFamily="18" charset="0"/>
                              <a:ea typeface="微软雅黑" panose="020B0503020204020204" pitchFamily="34" charset="-122"/>
                            </a:rPr>
                            <m:t>1</m:t>
                          </m:r>
                        </m:num>
                        <m:den>
                          <m:r>
                            <a:rPr lang="en-US" altLang="zh-CN" sz="2400" b="0" i="1" smtClean="0">
                              <a:solidFill>
                                <a:schemeClr val="tx1"/>
                              </a:solidFill>
                              <a:latin typeface="Cambria Math" panose="02040503050406030204" pitchFamily="18" charset="0"/>
                              <a:ea typeface="微软雅黑" panose="020B0503020204020204" pitchFamily="34" charset="-122"/>
                            </a:rPr>
                            <m:t>1−</m:t>
                          </m:r>
                          <m:r>
                            <a:rPr lang="en-US" altLang="zh-CN" sz="2400" b="0" i="1" smtClean="0">
                              <a:solidFill>
                                <a:schemeClr val="tx1"/>
                              </a:solidFill>
                              <a:latin typeface="Cambria Math" panose="02040503050406030204" pitchFamily="18" charset="0"/>
                              <a:ea typeface="微软雅黑" panose="020B0503020204020204" pitchFamily="34" charset="-122"/>
                            </a:rPr>
                            <m:t>𝑐</m:t>
                          </m:r>
                          <m:r>
                            <a:rPr lang="en-US" altLang="zh-CN" sz="2400" b="0" i="1" smtClean="0">
                              <a:solidFill>
                                <a:schemeClr val="tx1"/>
                              </a:solidFill>
                              <a:latin typeface="Cambria Math" panose="02040503050406030204" pitchFamily="18" charset="0"/>
                              <a:ea typeface="微软雅黑" panose="020B0503020204020204" pitchFamily="34" charset="-122"/>
                            </a:rPr>
                            <m:t>+</m:t>
                          </m:r>
                          <m:r>
                            <a:rPr lang="en-US" altLang="zh-CN" sz="2400" b="0" i="1" smtClean="0">
                              <a:solidFill>
                                <a:schemeClr val="tx1"/>
                              </a:solidFill>
                              <a:latin typeface="Cambria Math" panose="02040503050406030204" pitchFamily="18" charset="0"/>
                              <a:ea typeface="微软雅黑" panose="020B0503020204020204" pitchFamily="34" charset="-122"/>
                            </a:rPr>
                            <m:t>𝑚</m:t>
                          </m:r>
                        </m:den>
                      </m:f>
                      <m:d>
                        <m:dPr>
                          <m:ctrlPr>
                            <a:rPr lang="en-US" altLang="zh-CN" sz="2400" i="1" smtClean="0">
                              <a:solidFill>
                                <a:schemeClr val="tx1"/>
                              </a:solidFill>
                              <a:latin typeface="Cambria Math"/>
                              <a:ea typeface="微软雅黑" panose="020B0503020204020204" pitchFamily="34" charset="-122"/>
                            </a:rPr>
                          </m:ctrlPr>
                        </m:dPr>
                        <m:e>
                          <m:sSub>
                            <m:sSubPr>
                              <m:ctrlPr>
                                <a:rPr lang="en-US" altLang="zh-CN" sz="2400" i="1">
                                  <a:solidFill>
                                    <a:schemeClr val="tx1"/>
                                  </a:solidFill>
                                  <a:latin typeface="Cambria Math"/>
                                  <a:ea typeface="微软雅黑" panose="020B0503020204020204" pitchFamily="34" charset="-122"/>
                                </a:rPr>
                              </m:ctrlPr>
                            </m:sSubPr>
                            <m:e>
                              <m:r>
                                <a:rPr lang="en-US" altLang="zh-CN" sz="2400" i="1">
                                  <a:solidFill>
                                    <a:schemeClr val="tx1"/>
                                  </a:solidFill>
                                  <a:latin typeface="Cambria Math" panose="02040503050406030204" pitchFamily="18" charset="0"/>
                                  <a:ea typeface="微软雅黑" panose="020B0503020204020204" pitchFamily="34" charset="-122"/>
                                </a:rPr>
                                <m:t>𝐶</m:t>
                              </m:r>
                            </m:e>
                            <m:sub>
                              <m:r>
                                <a:rPr lang="en-US" altLang="zh-CN" sz="2400" i="1">
                                  <a:solidFill>
                                    <a:schemeClr val="tx1"/>
                                  </a:solidFill>
                                  <a:latin typeface="Cambria Math" panose="02040503050406030204" pitchFamily="18" charset="0"/>
                                  <a:ea typeface="微软雅黑" panose="020B0503020204020204" pitchFamily="34" charset="-122"/>
                                </a:rPr>
                                <m:t>0</m:t>
                              </m:r>
                            </m:sub>
                          </m:sSub>
                          <m:r>
                            <a:rPr lang="en-US" altLang="zh-CN" sz="2400" i="1">
                              <a:solidFill>
                                <a:schemeClr val="tx1"/>
                              </a:solidFill>
                              <a:latin typeface="Cambria Math" panose="02040503050406030204" pitchFamily="18" charset="0"/>
                              <a:ea typeface="微软雅黑" panose="020B0503020204020204" pitchFamily="34" charset="-122"/>
                            </a:rPr>
                            <m:t>+</m:t>
                          </m:r>
                          <m:r>
                            <a:rPr lang="en-US" altLang="zh-CN" sz="2400" b="0" i="1" smtClean="0">
                              <a:solidFill>
                                <a:schemeClr val="tx1"/>
                              </a:solidFill>
                              <a:latin typeface="Cambria Math" panose="02040503050406030204" pitchFamily="18" charset="0"/>
                              <a:ea typeface="微软雅黑" panose="020B0503020204020204" pitchFamily="34" charset="-122"/>
                            </a:rPr>
                            <m:t>𝐼</m:t>
                          </m:r>
                          <m:r>
                            <a:rPr lang="en-US" altLang="zh-CN" sz="2400" b="0" i="1" smtClean="0">
                              <a:solidFill>
                                <a:schemeClr val="tx1"/>
                              </a:solidFill>
                              <a:latin typeface="Cambria Math" panose="02040503050406030204" pitchFamily="18" charset="0"/>
                              <a:ea typeface="微软雅黑" panose="020B0503020204020204" pitchFamily="34" charset="-122"/>
                            </a:rPr>
                            <m:t>+</m:t>
                          </m:r>
                          <m:r>
                            <a:rPr lang="en-US" altLang="zh-CN" sz="2400" b="0" i="1" smtClean="0">
                              <a:solidFill>
                                <a:schemeClr val="tx1"/>
                              </a:solidFill>
                              <a:latin typeface="Cambria Math" panose="02040503050406030204" pitchFamily="18" charset="0"/>
                              <a:ea typeface="微软雅黑" panose="020B0503020204020204" pitchFamily="34" charset="-122"/>
                            </a:rPr>
                            <m:t>𝐺</m:t>
                          </m:r>
                          <m:r>
                            <a:rPr lang="en-US" altLang="zh-CN" sz="2400" b="0" i="1" smtClean="0">
                              <a:solidFill>
                                <a:schemeClr val="tx1"/>
                              </a:solidFill>
                              <a:latin typeface="Cambria Math" panose="02040503050406030204" pitchFamily="18" charset="0"/>
                              <a:ea typeface="微软雅黑" panose="020B0503020204020204" pitchFamily="34" charset="-122"/>
                            </a:rPr>
                            <m:t>+</m:t>
                          </m:r>
                          <m:r>
                            <a:rPr lang="en-US" altLang="zh-CN" sz="2400" b="0" i="1" smtClean="0">
                              <a:solidFill>
                                <a:schemeClr val="tx1"/>
                              </a:solidFill>
                              <a:latin typeface="Cambria Math" panose="02040503050406030204" pitchFamily="18" charset="0"/>
                              <a:ea typeface="微软雅黑" panose="020B0503020204020204" pitchFamily="34" charset="-122"/>
                            </a:rPr>
                            <m:t>𝑋</m:t>
                          </m:r>
                          <m:r>
                            <a:rPr lang="en-US" altLang="zh-CN" sz="2400" b="0" i="1" smtClean="0">
                              <a:solidFill>
                                <a:schemeClr val="tx1"/>
                              </a:solidFill>
                              <a:latin typeface="Cambria Math" panose="02040503050406030204" pitchFamily="18" charset="0"/>
                              <a:ea typeface="微软雅黑" panose="020B0503020204020204" pitchFamily="34" charset="-122"/>
                            </a:rPr>
                            <m:t>−</m:t>
                          </m:r>
                          <m:sSub>
                            <m:sSubPr>
                              <m:ctrlPr>
                                <a:rPr lang="en-US" altLang="zh-CN" sz="2400" i="1">
                                  <a:solidFill>
                                    <a:schemeClr val="tx1"/>
                                  </a:solidFill>
                                  <a:latin typeface="Cambria Math"/>
                                  <a:ea typeface="微软雅黑" panose="020B0503020204020204" pitchFamily="34" charset="-122"/>
                                </a:rPr>
                              </m:ctrlPr>
                            </m:sSubPr>
                            <m:e>
                              <m:r>
                                <a:rPr lang="en-US" altLang="zh-CN" sz="2400" i="1">
                                  <a:solidFill>
                                    <a:schemeClr val="tx1"/>
                                  </a:solidFill>
                                  <a:latin typeface="Cambria Math" panose="02040503050406030204" pitchFamily="18" charset="0"/>
                                  <a:ea typeface="微软雅黑" panose="020B0503020204020204" pitchFamily="34" charset="-122"/>
                                </a:rPr>
                                <m:t>𝑀</m:t>
                              </m:r>
                            </m:e>
                            <m:sub>
                              <m:r>
                                <a:rPr lang="en-US" altLang="zh-CN" sz="2400" i="1">
                                  <a:solidFill>
                                    <a:schemeClr val="tx1"/>
                                  </a:solidFill>
                                  <a:latin typeface="Cambria Math" panose="02040503050406030204" pitchFamily="18" charset="0"/>
                                  <a:ea typeface="微软雅黑" panose="020B0503020204020204" pitchFamily="34" charset="-122"/>
                                </a:rPr>
                                <m:t>0</m:t>
                              </m:r>
                            </m:sub>
                          </m:sSub>
                        </m:e>
                      </m:d>
                    </m:oMath>
                  </m:oMathPara>
                </a14:m>
                <a:endParaRPr lang="zh-CN" altLang="en-US" sz="2400" dirty="0">
                  <a:solidFill>
                    <a:schemeClr val="tx1"/>
                  </a:solidFill>
                  <a:latin typeface="微软雅黑" panose="020B0503020204020204" pitchFamily="34" charset="-122"/>
                  <a:ea typeface="微软雅黑" panose="020B0503020204020204" pitchFamily="34" charset="-122"/>
                </a:endParaRPr>
              </a:p>
              <a:p>
                <a:pPr marL="914400" lvl="4" indent="0">
                  <a:lnSpc>
                    <a:spcPct val="150000"/>
                  </a:lnSpc>
                  <a:spcBef>
                    <a:spcPts val="1000"/>
                  </a:spcBef>
                  <a:buNone/>
                </a:pPr>
                <a14:m>
                  <m:oMath xmlns:m="http://schemas.openxmlformats.org/officeDocument/2006/math">
                    <m:f>
                      <m:fPr>
                        <m:ctrlPr>
                          <a:rPr lang="en-US" altLang="zh-CN" sz="2400" i="1">
                            <a:solidFill>
                              <a:schemeClr val="tx1"/>
                            </a:solidFill>
                            <a:latin typeface="Cambria Math"/>
                            <a:ea typeface="微软雅黑" panose="020B0503020204020204" pitchFamily="34" charset="-122"/>
                          </a:rPr>
                        </m:ctrlPr>
                      </m:fPr>
                      <m:num>
                        <m:r>
                          <a:rPr lang="en-US" altLang="zh-CN" sz="2400" i="1">
                            <a:solidFill>
                              <a:schemeClr val="tx1"/>
                            </a:solidFill>
                            <a:latin typeface="Cambria Math" panose="02040503050406030204" pitchFamily="18" charset="0"/>
                            <a:ea typeface="微软雅黑" panose="020B0503020204020204" pitchFamily="34" charset="-122"/>
                          </a:rPr>
                          <m:t>1</m:t>
                        </m:r>
                      </m:num>
                      <m:den>
                        <m:r>
                          <a:rPr lang="en-US" altLang="zh-CN" sz="2400" i="1">
                            <a:solidFill>
                              <a:schemeClr val="tx1"/>
                            </a:solidFill>
                            <a:latin typeface="Cambria Math" panose="02040503050406030204" pitchFamily="18" charset="0"/>
                            <a:ea typeface="微软雅黑" panose="020B0503020204020204" pitchFamily="34" charset="-122"/>
                          </a:rPr>
                          <m:t>1−</m:t>
                        </m:r>
                        <m:r>
                          <a:rPr lang="en-US" altLang="zh-CN" sz="2400" i="1">
                            <a:solidFill>
                              <a:schemeClr val="tx1"/>
                            </a:solidFill>
                            <a:latin typeface="Cambria Math" panose="02040503050406030204" pitchFamily="18" charset="0"/>
                            <a:ea typeface="微软雅黑" panose="020B0503020204020204" pitchFamily="34" charset="-122"/>
                          </a:rPr>
                          <m:t>𝑐</m:t>
                        </m:r>
                        <m:r>
                          <a:rPr lang="en-US" altLang="zh-CN" sz="2400" i="1">
                            <a:solidFill>
                              <a:schemeClr val="tx1"/>
                            </a:solidFill>
                            <a:latin typeface="Cambria Math" panose="02040503050406030204" pitchFamily="18" charset="0"/>
                            <a:ea typeface="微软雅黑" panose="020B0503020204020204" pitchFamily="34" charset="-122"/>
                          </a:rPr>
                          <m:t>+</m:t>
                        </m:r>
                        <m:r>
                          <a:rPr lang="en-US" altLang="zh-CN" sz="2400" i="1">
                            <a:solidFill>
                              <a:schemeClr val="tx1"/>
                            </a:solidFill>
                            <a:latin typeface="Cambria Math" panose="02040503050406030204" pitchFamily="18" charset="0"/>
                            <a:ea typeface="微软雅黑" panose="020B0503020204020204" pitchFamily="34" charset="-122"/>
                          </a:rPr>
                          <m:t>𝑚</m:t>
                        </m:r>
                      </m:den>
                    </m:f>
                  </m:oMath>
                </a14:m>
                <a:r>
                  <a:rPr lang="zh-CN" altLang="en-US" sz="2400" dirty="0" smtClean="0">
                    <a:latin typeface="微软雅黑" panose="020B0503020204020204" pitchFamily="34" charset="-122"/>
                    <a:ea typeface="微软雅黑" panose="020B0503020204020204" pitchFamily="34" charset="-122"/>
                  </a:rPr>
                  <a:t>就是</a:t>
                </a:r>
                <a:r>
                  <a:rPr lang="zh-CN" altLang="en-US" sz="2400" dirty="0">
                    <a:latin typeface="微软雅黑" panose="020B0503020204020204" pitchFamily="34" charset="-122"/>
                    <a:ea typeface="微软雅黑" panose="020B0503020204020204" pitchFamily="34" charset="-122"/>
                  </a:rPr>
                  <a:t>对外贸易</a:t>
                </a:r>
                <a:r>
                  <a:rPr lang="zh-CN" altLang="en-US" sz="2400" dirty="0" smtClean="0">
                    <a:latin typeface="微软雅黑" panose="020B0503020204020204" pitchFamily="34" charset="-122"/>
                    <a:ea typeface="微软雅黑" panose="020B0503020204020204" pitchFamily="34" charset="-122"/>
                  </a:rPr>
                  <a:t>乘数</a:t>
                </a:r>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3"/>
                <a:stretch>
                  <a:fillRect l="-1269"/>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523054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a:t>
            </a:r>
            <a:r>
              <a:rPr lang="zh-CN" altLang="en-US" dirty="0" smtClean="0"/>
              <a:t>乘数</a:t>
            </a:r>
            <a:r>
              <a:rPr lang="zh-CN" altLang="en-US" dirty="0"/>
              <a:t>分析法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800"/>
                <a:ext cx="7599244" cy="4559300"/>
              </a:xfrm>
            </p:spPr>
            <p:txBody>
              <a:bodyPr>
                <a:normAutofit fontScale="85000" lnSpcReduction="20000"/>
              </a:bodyPr>
              <a:lstStyle/>
              <a:p>
                <a:pPr marL="0" indent="0">
                  <a:lnSpc>
                    <a:spcPct val="150000"/>
                  </a:lnSpc>
                  <a:spcBef>
                    <a:spcPts val="1000"/>
                  </a:spcBef>
                  <a:buNone/>
                </a:pPr>
                <a:r>
                  <a:rPr lang="zh-CN" altLang="en-US" sz="3000" dirty="0" smtClean="0">
                    <a:latin typeface="微软雅黑" panose="020B0503020204020204" pitchFamily="34" charset="-122"/>
                    <a:ea typeface="微软雅黑" panose="020B0503020204020204" pitchFamily="34" charset="-122"/>
                  </a:rPr>
                  <a:t>四、贸易收支的收入分析</a:t>
                </a:r>
                <a:endParaRPr lang="en-US" altLang="zh-CN" sz="3000" dirty="0" smtClean="0">
                  <a:latin typeface="微软雅黑" panose="020B0503020204020204" pitchFamily="34" charset="-122"/>
                  <a:ea typeface="微软雅黑" panose="020B0503020204020204" pitchFamily="34" charset="-122"/>
                </a:endParaRPr>
              </a:p>
              <a:p>
                <a:pPr>
                  <a:lnSpc>
                    <a:spcPct val="150000"/>
                  </a:lnSpc>
                  <a:spcBef>
                    <a:spcPts val="1000"/>
                  </a:spcBef>
                </a:pPr>
                <a:endParaRPr lang="zh-CN" altLang="en-US" sz="2800" dirty="0" smtClean="0">
                  <a:latin typeface="微软雅黑" panose="020B0503020204020204" pitchFamily="34" charset="-122"/>
                  <a:ea typeface="微软雅黑" panose="020B0503020204020204" pitchFamily="34" charset="-122"/>
                </a:endParaRPr>
              </a:p>
              <a:p>
                <a:pPr marL="685800" lvl="7" indent="0">
                  <a:lnSpc>
                    <a:spcPct val="150000"/>
                  </a:lnSpc>
                  <a:spcBef>
                    <a:spcPts val="1000"/>
                  </a:spcBef>
                  <a:buNone/>
                </a:pPr>
                <a14:m>
                  <m:oMathPara xmlns:m="http://schemas.openxmlformats.org/officeDocument/2006/math">
                    <m:oMathParaPr>
                      <m:jc m:val="left"/>
                    </m:oMathParaPr>
                    <m:oMath xmlns:m="http://schemas.openxmlformats.org/officeDocument/2006/math">
                      <m:r>
                        <a:rPr lang="en-US" altLang="zh-CN" sz="2800" b="0" i="1" smtClean="0">
                          <a:latin typeface="Cambria Math" panose="02040503050406030204" pitchFamily="18" charset="0"/>
                          <a:ea typeface="微软雅黑" panose="020B0503020204020204" pitchFamily="34" charset="-122"/>
                        </a:rPr>
                        <m:t>𝐵</m:t>
                      </m:r>
                      <m:r>
                        <a:rPr lang="en-US" altLang="zh-CN" sz="2800" i="1">
                          <a:latin typeface="Cambria Math" panose="02040503050406030204" pitchFamily="18" charset="0"/>
                          <a:ea typeface="微软雅黑" panose="020B0503020204020204" pitchFamily="34" charset="-122"/>
                        </a:rPr>
                        <m:t>=</m:t>
                      </m:r>
                      <m:r>
                        <a:rPr lang="en-US" altLang="zh-CN" sz="2800" b="0" i="1" smtClean="0">
                          <a:latin typeface="Cambria Math" panose="02040503050406030204" pitchFamily="18" charset="0"/>
                          <a:ea typeface="微软雅黑" panose="020B0503020204020204" pitchFamily="34" charset="-122"/>
                        </a:rPr>
                        <m:t>𝑋</m:t>
                      </m:r>
                      <m:r>
                        <a:rPr lang="en-US" altLang="zh-CN" sz="2800" b="0" i="1" smtClean="0">
                          <a:latin typeface="Cambria Math" panose="02040503050406030204" pitchFamily="18" charset="0"/>
                          <a:ea typeface="微软雅黑" panose="020B0503020204020204" pitchFamily="34" charset="-122"/>
                        </a:rPr>
                        <m:t>−(</m:t>
                      </m:r>
                      <m:sSub>
                        <m:sSubPr>
                          <m:ctrlPr>
                            <a:rPr lang="en-US" altLang="zh-CN" sz="2800" b="0" i="1" smtClean="0">
                              <a:latin typeface="Cambria Math"/>
                              <a:ea typeface="微软雅黑" panose="020B0503020204020204" pitchFamily="34" charset="-122"/>
                            </a:rPr>
                          </m:ctrlPr>
                        </m:sSubPr>
                        <m:e>
                          <m:r>
                            <a:rPr lang="en-US" altLang="zh-CN" sz="2800" b="0" i="1" smtClean="0">
                              <a:latin typeface="Cambria Math" panose="02040503050406030204" pitchFamily="18" charset="0"/>
                              <a:ea typeface="微软雅黑" panose="020B0503020204020204" pitchFamily="34" charset="-122"/>
                            </a:rPr>
                            <m:t>𝑀</m:t>
                          </m:r>
                        </m:e>
                        <m:sub>
                          <m:r>
                            <a:rPr lang="en-US" altLang="zh-CN" sz="2800" b="0" i="1" smtClean="0">
                              <a:latin typeface="Cambria Math" panose="02040503050406030204" pitchFamily="18" charset="0"/>
                              <a:ea typeface="微软雅黑" panose="020B0503020204020204" pitchFamily="34" charset="-122"/>
                            </a:rPr>
                            <m:t>0</m:t>
                          </m:r>
                        </m:sub>
                      </m:sSub>
                      <m:r>
                        <a:rPr lang="en-US" altLang="zh-CN" sz="2800" b="0" i="1" smtClean="0">
                          <a:latin typeface="Cambria Math" panose="02040503050406030204" pitchFamily="18" charset="0"/>
                          <a:ea typeface="微软雅黑" panose="020B0503020204020204" pitchFamily="34" charset="-122"/>
                        </a:rPr>
                        <m:t>+</m:t>
                      </m:r>
                      <m:r>
                        <a:rPr lang="en-US" altLang="zh-CN" sz="2800" b="0" i="1" smtClean="0">
                          <a:latin typeface="Cambria Math" panose="02040503050406030204" pitchFamily="18" charset="0"/>
                          <a:ea typeface="微软雅黑" panose="020B0503020204020204" pitchFamily="34" charset="-122"/>
                        </a:rPr>
                        <m:t>𝑚</m:t>
                      </m:r>
                      <m:r>
                        <a:rPr lang="en-US" altLang="zh-CN" sz="2800" b="0" i="1" smtClean="0">
                          <a:latin typeface="Cambria Math" panose="02040503050406030204" pitchFamily="18" charset="0"/>
                          <a:ea typeface="Cambria Math" panose="02040503050406030204" pitchFamily="18" charset="0"/>
                        </a:rPr>
                        <m:t>×</m:t>
                      </m:r>
                      <m:r>
                        <a:rPr lang="en-US" altLang="zh-CN" sz="2800" b="0" i="1" smtClean="0">
                          <a:latin typeface="Cambria Math" panose="02040503050406030204" pitchFamily="18" charset="0"/>
                          <a:ea typeface="Cambria Math" panose="02040503050406030204" pitchFamily="18" charset="0"/>
                        </a:rPr>
                        <m:t>𝑌</m:t>
                      </m:r>
                      <m:r>
                        <a:rPr lang="en-US" altLang="zh-CN" sz="2800" b="0" i="1" smtClean="0">
                          <a:latin typeface="Cambria Math" panose="02040503050406030204" pitchFamily="18" charset="0"/>
                          <a:ea typeface="微软雅黑" panose="020B0503020204020204" pitchFamily="34" charset="-122"/>
                        </a:rPr>
                        <m:t>)</m:t>
                      </m:r>
                    </m:oMath>
                  </m:oMathPara>
                </a14:m>
                <a:endParaRPr lang="en-US" altLang="zh-CN" sz="2400" dirty="0">
                  <a:latin typeface="微软雅黑" panose="020B0503020204020204" pitchFamily="34" charset="-122"/>
                  <a:ea typeface="微软雅黑" panose="020B0503020204020204" pitchFamily="34" charset="-122"/>
                </a:endParaRPr>
              </a:p>
              <a:p>
                <a:pPr marL="685800" lvl="3" indent="0">
                  <a:lnSpc>
                    <a:spcPct val="150000"/>
                  </a:lnSpc>
                  <a:spcBef>
                    <a:spcPts val="1000"/>
                  </a:spcBef>
                  <a:buNone/>
                </a:pPr>
                <a14:m>
                  <m:oMathPara xmlns:m="http://schemas.openxmlformats.org/officeDocument/2006/math">
                    <m:oMathParaPr>
                      <m:jc m:val="left"/>
                    </m:oMathParaPr>
                    <m:oMath xmlns:m="http://schemas.openxmlformats.org/officeDocument/2006/math">
                      <m:r>
                        <a:rPr lang="en-US" altLang="zh-CN" sz="2800" b="0" i="1" smtClean="0">
                          <a:latin typeface="Cambria Math" panose="02040503050406030204" pitchFamily="18" charset="0"/>
                          <a:ea typeface="微软雅黑" panose="020B0503020204020204" pitchFamily="34" charset="-122"/>
                        </a:rPr>
                        <m:t>𝐵</m:t>
                      </m:r>
                      <m:r>
                        <a:rPr lang="en-US" altLang="zh-CN" sz="2800" i="1">
                          <a:latin typeface="Cambria Math" panose="02040503050406030204" pitchFamily="18" charset="0"/>
                          <a:ea typeface="微软雅黑" panose="020B0503020204020204" pitchFamily="34" charset="-122"/>
                        </a:rPr>
                        <m:t>=</m:t>
                      </m:r>
                      <m:r>
                        <a:rPr lang="en-US" altLang="zh-CN" sz="2800" b="0" i="1" smtClean="0">
                          <a:latin typeface="Cambria Math" panose="02040503050406030204" pitchFamily="18" charset="0"/>
                          <a:ea typeface="微软雅黑" panose="020B0503020204020204" pitchFamily="34" charset="-122"/>
                        </a:rPr>
                        <m:t>𝑋</m:t>
                      </m:r>
                      <m:r>
                        <a:rPr lang="en-US" altLang="zh-CN" sz="2800" b="0" i="1" smtClean="0">
                          <a:latin typeface="Cambria Math" panose="02040503050406030204" pitchFamily="18" charset="0"/>
                          <a:ea typeface="微软雅黑" panose="020B0503020204020204" pitchFamily="34" charset="-122"/>
                        </a:rPr>
                        <m:t>−</m:t>
                      </m:r>
                      <m:sSub>
                        <m:sSubPr>
                          <m:ctrlPr>
                            <a:rPr lang="en-US" altLang="zh-CN" sz="2800" i="1">
                              <a:latin typeface="Cambria Math"/>
                              <a:ea typeface="微软雅黑" panose="020B0503020204020204" pitchFamily="34" charset="-122"/>
                            </a:rPr>
                          </m:ctrlPr>
                        </m:sSubPr>
                        <m:e>
                          <m:r>
                            <a:rPr lang="en-US" altLang="zh-CN" sz="2800" i="1">
                              <a:latin typeface="Cambria Math" panose="02040503050406030204" pitchFamily="18" charset="0"/>
                              <a:ea typeface="微软雅黑" panose="020B0503020204020204" pitchFamily="34" charset="-122"/>
                            </a:rPr>
                            <m:t>𝑀</m:t>
                          </m:r>
                        </m:e>
                        <m:sub>
                          <m:r>
                            <a:rPr lang="en-US" altLang="zh-CN" sz="2800" i="1">
                              <a:latin typeface="Cambria Math" panose="02040503050406030204" pitchFamily="18" charset="0"/>
                              <a:ea typeface="微软雅黑" panose="020B0503020204020204" pitchFamily="34" charset="-122"/>
                            </a:rPr>
                            <m:t>0</m:t>
                          </m:r>
                        </m:sub>
                      </m:sSub>
                      <m:r>
                        <a:rPr lang="en-US" altLang="zh-CN" sz="2800" b="0" i="1" smtClean="0">
                          <a:latin typeface="Cambria Math" panose="02040503050406030204" pitchFamily="18" charset="0"/>
                          <a:ea typeface="微软雅黑" panose="020B0503020204020204" pitchFamily="34" charset="-122"/>
                        </a:rPr>
                        <m:t>−</m:t>
                      </m:r>
                      <m:f>
                        <m:fPr>
                          <m:ctrlPr>
                            <a:rPr lang="en-US" altLang="zh-CN" sz="2800" i="1">
                              <a:latin typeface="Cambria Math"/>
                              <a:ea typeface="微软雅黑" panose="020B0503020204020204" pitchFamily="34" charset="-122"/>
                            </a:rPr>
                          </m:ctrlPr>
                        </m:fPr>
                        <m:num>
                          <m:r>
                            <a:rPr lang="en-US" altLang="zh-CN" sz="2800" b="0" i="1" smtClean="0">
                              <a:latin typeface="Cambria Math" panose="02040503050406030204" pitchFamily="18" charset="0"/>
                              <a:ea typeface="微软雅黑" panose="020B0503020204020204" pitchFamily="34" charset="-122"/>
                            </a:rPr>
                            <m:t>𝑚</m:t>
                          </m:r>
                        </m:num>
                        <m:den>
                          <m:r>
                            <a:rPr lang="en-US" altLang="zh-CN" sz="2800" i="1">
                              <a:latin typeface="Cambria Math" panose="02040503050406030204" pitchFamily="18" charset="0"/>
                              <a:ea typeface="微软雅黑" panose="020B0503020204020204" pitchFamily="34" charset="-122"/>
                            </a:rPr>
                            <m:t>1−</m:t>
                          </m:r>
                          <m:r>
                            <a:rPr lang="en-US" altLang="zh-CN" sz="2800" i="1">
                              <a:latin typeface="Cambria Math" panose="02040503050406030204" pitchFamily="18" charset="0"/>
                              <a:ea typeface="微软雅黑" panose="020B0503020204020204" pitchFamily="34" charset="-122"/>
                            </a:rPr>
                            <m:t>𝑐</m:t>
                          </m:r>
                          <m:r>
                            <a:rPr lang="en-US" altLang="zh-CN" sz="2800" i="1">
                              <a:latin typeface="Cambria Math" panose="02040503050406030204" pitchFamily="18" charset="0"/>
                              <a:ea typeface="微软雅黑" panose="020B0503020204020204" pitchFamily="34" charset="-122"/>
                            </a:rPr>
                            <m:t>+</m:t>
                          </m:r>
                          <m:r>
                            <a:rPr lang="en-US" altLang="zh-CN" sz="2800" i="1">
                              <a:latin typeface="Cambria Math" panose="02040503050406030204" pitchFamily="18" charset="0"/>
                              <a:ea typeface="微软雅黑" panose="020B0503020204020204" pitchFamily="34" charset="-122"/>
                            </a:rPr>
                            <m:t>𝑚</m:t>
                          </m:r>
                        </m:den>
                      </m:f>
                      <m:d>
                        <m:dPr>
                          <m:ctrlPr>
                            <a:rPr lang="en-US" altLang="zh-CN" sz="2800" i="1">
                              <a:latin typeface="Cambria Math"/>
                              <a:ea typeface="微软雅黑" panose="020B0503020204020204" pitchFamily="34" charset="-122"/>
                            </a:rPr>
                          </m:ctrlPr>
                        </m:dPr>
                        <m:e>
                          <m:sSub>
                            <m:sSubPr>
                              <m:ctrlPr>
                                <a:rPr lang="en-US" altLang="zh-CN" sz="2800" i="1">
                                  <a:latin typeface="Cambria Math"/>
                                  <a:ea typeface="微软雅黑" panose="020B0503020204020204" pitchFamily="34" charset="-122"/>
                                </a:rPr>
                              </m:ctrlPr>
                            </m:sSubPr>
                            <m:e>
                              <m:r>
                                <a:rPr lang="en-US" altLang="zh-CN" sz="2800" i="1">
                                  <a:latin typeface="Cambria Math" panose="02040503050406030204" pitchFamily="18" charset="0"/>
                                  <a:ea typeface="微软雅黑" panose="020B0503020204020204" pitchFamily="34" charset="-122"/>
                                </a:rPr>
                                <m:t>𝐶</m:t>
                              </m:r>
                            </m:e>
                            <m:sub>
                              <m:r>
                                <a:rPr lang="en-US" altLang="zh-CN" sz="2800" i="1">
                                  <a:latin typeface="Cambria Math" panose="02040503050406030204" pitchFamily="18" charset="0"/>
                                  <a:ea typeface="微软雅黑" panose="020B0503020204020204" pitchFamily="34" charset="-122"/>
                                </a:rPr>
                                <m:t>0</m:t>
                              </m:r>
                            </m:sub>
                          </m:sSub>
                          <m:r>
                            <a:rPr lang="en-US" altLang="zh-CN" sz="2800" i="1">
                              <a:latin typeface="Cambria Math" panose="02040503050406030204" pitchFamily="18" charset="0"/>
                              <a:ea typeface="微软雅黑" panose="020B0503020204020204" pitchFamily="34" charset="-122"/>
                            </a:rPr>
                            <m:t>+</m:t>
                          </m:r>
                          <m:r>
                            <a:rPr lang="en-US" altLang="zh-CN" sz="2800" i="1">
                              <a:latin typeface="Cambria Math" panose="02040503050406030204" pitchFamily="18" charset="0"/>
                              <a:ea typeface="微软雅黑" panose="020B0503020204020204" pitchFamily="34" charset="-122"/>
                            </a:rPr>
                            <m:t>𝐼</m:t>
                          </m:r>
                          <m:r>
                            <a:rPr lang="en-US" altLang="zh-CN" sz="2800" i="1">
                              <a:latin typeface="Cambria Math" panose="02040503050406030204" pitchFamily="18" charset="0"/>
                              <a:ea typeface="微软雅黑" panose="020B0503020204020204" pitchFamily="34" charset="-122"/>
                            </a:rPr>
                            <m:t>+</m:t>
                          </m:r>
                          <m:r>
                            <a:rPr lang="en-US" altLang="zh-CN" sz="2800" i="1">
                              <a:latin typeface="Cambria Math" panose="02040503050406030204" pitchFamily="18" charset="0"/>
                              <a:ea typeface="微软雅黑" panose="020B0503020204020204" pitchFamily="34" charset="-122"/>
                            </a:rPr>
                            <m:t>𝐺</m:t>
                          </m:r>
                          <m:r>
                            <a:rPr lang="en-US" altLang="zh-CN" sz="2800" i="1">
                              <a:latin typeface="Cambria Math" panose="02040503050406030204" pitchFamily="18" charset="0"/>
                              <a:ea typeface="微软雅黑" panose="020B0503020204020204" pitchFamily="34" charset="-122"/>
                            </a:rPr>
                            <m:t>+</m:t>
                          </m:r>
                          <m:r>
                            <a:rPr lang="en-US" altLang="zh-CN" sz="2800" i="1">
                              <a:latin typeface="Cambria Math" panose="02040503050406030204" pitchFamily="18" charset="0"/>
                              <a:ea typeface="微软雅黑" panose="020B0503020204020204" pitchFamily="34" charset="-122"/>
                            </a:rPr>
                            <m:t>𝑋</m:t>
                          </m:r>
                          <m:r>
                            <a:rPr lang="en-US" altLang="zh-CN" sz="2800" i="1">
                              <a:latin typeface="Cambria Math" panose="02040503050406030204" pitchFamily="18" charset="0"/>
                              <a:ea typeface="微软雅黑" panose="020B0503020204020204" pitchFamily="34" charset="-122"/>
                            </a:rPr>
                            <m:t>−</m:t>
                          </m:r>
                          <m:sSub>
                            <m:sSubPr>
                              <m:ctrlPr>
                                <a:rPr lang="en-US" altLang="zh-CN" sz="2800" i="1">
                                  <a:latin typeface="Cambria Math"/>
                                  <a:ea typeface="微软雅黑" panose="020B0503020204020204" pitchFamily="34" charset="-122"/>
                                </a:rPr>
                              </m:ctrlPr>
                            </m:sSubPr>
                            <m:e>
                              <m:r>
                                <a:rPr lang="en-US" altLang="zh-CN" sz="2800" i="1">
                                  <a:latin typeface="Cambria Math" panose="02040503050406030204" pitchFamily="18" charset="0"/>
                                  <a:ea typeface="微软雅黑" panose="020B0503020204020204" pitchFamily="34" charset="-122"/>
                                </a:rPr>
                                <m:t>𝑀</m:t>
                              </m:r>
                            </m:e>
                            <m:sub>
                              <m:r>
                                <a:rPr lang="en-US" altLang="zh-CN" sz="2800" i="1">
                                  <a:latin typeface="Cambria Math" panose="02040503050406030204" pitchFamily="18" charset="0"/>
                                  <a:ea typeface="微软雅黑" panose="020B0503020204020204" pitchFamily="34" charset="-122"/>
                                </a:rPr>
                                <m:t>0</m:t>
                              </m:r>
                            </m:sub>
                          </m:sSub>
                        </m:e>
                      </m:d>
                    </m:oMath>
                  </m:oMathPara>
                </a14:m>
                <a:endParaRPr lang="zh-CN" altLang="en-US" sz="2000" dirty="0" smtClean="0">
                  <a:latin typeface="微软雅黑" panose="020B0503020204020204" pitchFamily="34" charset="-122"/>
                  <a:ea typeface="微软雅黑" panose="020B0503020204020204" pitchFamily="34" charset="-122"/>
                </a:endParaRPr>
              </a:p>
              <a:p>
                <a:pPr>
                  <a:lnSpc>
                    <a:spcPct val="150000"/>
                  </a:lnSpc>
                  <a:spcBef>
                    <a:spcPts val="1000"/>
                  </a:spcBef>
                </a:pPr>
                <a:endParaRPr lang="zh-CN" altLang="en-US" sz="2800" dirty="0" smtClean="0">
                  <a:latin typeface="微软雅黑" panose="020B0503020204020204" pitchFamily="34" charset="-122"/>
                  <a:ea typeface="微软雅黑" panose="020B0503020204020204" pitchFamily="34" charset="-122"/>
                </a:endParaRPr>
              </a:p>
              <a:p>
                <a:pPr marL="0" indent="0">
                  <a:lnSpc>
                    <a:spcPct val="150000"/>
                  </a:lnSpc>
                  <a:spcBef>
                    <a:spcPts val="1000"/>
                  </a:spcBef>
                  <a:buNone/>
                </a:pPr>
                <a:r>
                  <a:rPr lang="zh-CN" altLang="en-US" sz="3000" dirty="0">
                    <a:latin typeface="微软雅黑" panose="020B0503020204020204" pitchFamily="34" charset="-122"/>
                    <a:ea typeface="微软雅黑" panose="020B0503020204020204" pitchFamily="34" charset="-122"/>
                  </a:rPr>
                  <a:t>上式表面：一国可以通过需求管理政策来调整国际收支。</a:t>
                </a:r>
              </a:p>
              <a:p>
                <a:pPr>
                  <a:lnSpc>
                    <a:spcPct val="110000"/>
                  </a:lnSpc>
                  <a:spcBef>
                    <a:spcPts val="1000"/>
                  </a:spcBef>
                </a:pPr>
                <a:endParaRPr lang="zh-CN" altLang="en-US" sz="28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800"/>
                <a:ext cx="7599244" cy="4559300"/>
              </a:xfrm>
              <a:blipFill rotWithShape="1">
                <a:blip r:embed="rId3"/>
                <a:stretch>
                  <a:fillRect l="-1363" b="-268"/>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86478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a:t>
            </a:r>
            <a:r>
              <a:rPr lang="zh-CN" altLang="en-US" dirty="0" smtClean="0"/>
              <a:t>乘数</a:t>
            </a:r>
            <a:r>
              <a:rPr lang="zh-CN" altLang="en-US" dirty="0"/>
              <a:t>分析法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a:bodyPr>
              <a:lstStyle/>
              <a:p>
                <a:pPr marL="0" indent="0">
                  <a:lnSpc>
                    <a:spcPct val="110000"/>
                  </a:lnSpc>
                  <a:spcBef>
                    <a:spcPts val="1000"/>
                  </a:spcBef>
                  <a:buNone/>
                </a:pPr>
                <a:r>
                  <a:rPr lang="zh-CN" altLang="en-US" sz="2800" dirty="0" smtClean="0">
                    <a:latin typeface="微软雅黑" panose="020B0503020204020204" pitchFamily="34" charset="-122"/>
                    <a:ea typeface="微软雅黑" panose="020B0503020204020204" pitchFamily="34" charset="-122"/>
                  </a:rPr>
                  <a:t>五、哈伯格条件（</a:t>
                </a:r>
                <a:r>
                  <a:rPr lang="en-US" altLang="zh-CN" sz="2800" dirty="0" err="1">
                    <a:latin typeface="微软雅黑" panose="020B0503020204020204" pitchFamily="34" charset="-122"/>
                    <a:ea typeface="微软雅黑" panose="020B0503020204020204" pitchFamily="34" charset="-122"/>
                  </a:rPr>
                  <a:t>Harberger</a:t>
                </a:r>
                <a:r>
                  <a:rPr lang="en-US" altLang="zh-CN" sz="2800" dirty="0">
                    <a:latin typeface="微软雅黑" panose="020B0503020204020204" pitchFamily="34" charset="-122"/>
                    <a:ea typeface="微软雅黑" panose="020B0503020204020204" pitchFamily="34" charset="-122"/>
                  </a:rPr>
                  <a:t> Condition</a:t>
                </a:r>
                <a:r>
                  <a:rPr lang="zh-CN" altLang="en-US" sz="2800" dirty="0">
                    <a:latin typeface="微软雅黑" panose="020B0503020204020204" pitchFamily="34" charset="-122"/>
                    <a:ea typeface="微软雅黑" panose="020B0503020204020204" pitchFamily="34" charset="-122"/>
                  </a:rPr>
                  <a:t>）</a:t>
                </a:r>
              </a:p>
              <a:p>
                <a:pPr>
                  <a:lnSpc>
                    <a:spcPct val="110000"/>
                  </a:lnSpc>
                  <a:spcBef>
                    <a:spcPts val="1000"/>
                  </a:spcBef>
                </a:pPr>
                <a:endParaRPr lang="en-US" altLang="zh-CN" sz="2800" dirty="0" smtClean="0">
                  <a:latin typeface="微软雅黑" panose="020B0503020204020204" pitchFamily="34" charset="-122"/>
                  <a:ea typeface="微软雅黑" panose="020B0503020204020204" pitchFamily="34" charset="-122"/>
                </a:endParaRPr>
              </a:p>
              <a:p>
                <a:pPr marL="0" indent="0">
                  <a:lnSpc>
                    <a:spcPct val="110000"/>
                  </a:lnSpc>
                  <a:spcBef>
                    <a:spcPts val="1000"/>
                  </a:spcBef>
                  <a:buNone/>
                </a:pPr>
                <a:r>
                  <a:rPr lang="zh-CN" altLang="en-US" sz="2800" dirty="0">
                    <a:latin typeface="微软雅黑" panose="020B0503020204020204" pitchFamily="34" charset="-122"/>
                    <a:ea typeface="微软雅黑" panose="020B0503020204020204" pitchFamily="34" charset="-122"/>
                  </a:rPr>
                  <a:t>本币贬值改善国际收支的条件：</a:t>
                </a:r>
              </a:p>
              <a:p>
                <a:pPr>
                  <a:lnSpc>
                    <a:spcPct val="110000"/>
                  </a:lnSpc>
                  <a:spcBef>
                    <a:spcPts val="1000"/>
                  </a:spcBef>
                </a:pPr>
                <a:endParaRPr lang="zh-CN" altLang="en-US" sz="2800" dirty="0">
                  <a:latin typeface="微软雅黑" panose="020B0503020204020204" pitchFamily="34" charset="-122"/>
                  <a:ea typeface="微软雅黑" panose="020B0503020204020204" pitchFamily="34" charset="-122"/>
                </a:endParaRPr>
              </a:p>
              <a:p>
                <a:pPr marL="0" indent="0" algn="ctr">
                  <a:lnSpc>
                    <a:spcPct val="110000"/>
                  </a:lnSpc>
                  <a:spcBef>
                    <a:spcPts val="1000"/>
                  </a:spcBef>
                  <a:buNone/>
                </a:pPr>
                <a14:m>
                  <m:oMathPara xmlns:m="http://schemas.openxmlformats.org/officeDocument/2006/math">
                    <m:oMathParaPr>
                      <m:jc m:val="centerGroup"/>
                    </m:oMathParaPr>
                    <m:oMath xmlns:m="http://schemas.openxmlformats.org/officeDocument/2006/math">
                      <m:sSub>
                        <m:sSubPr>
                          <m:ctrlPr>
                            <a:rPr lang="en-US" altLang="zh-CN" sz="3600" i="1" dirty="0">
                              <a:solidFill>
                                <a:schemeClr val="accent1"/>
                              </a:solidFill>
                              <a:latin typeface="Cambria Math"/>
                              <a:ea typeface="微软雅黑" panose="020B0503020204020204" pitchFamily="34" charset="-122"/>
                            </a:rPr>
                          </m:ctrlPr>
                        </m:sSubPr>
                        <m:e>
                          <m:r>
                            <a:rPr lang="en-US" altLang="zh-CN" sz="3600" i="1" dirty="0">
                              <a:solidFill>
                                <a:schemeClr val="accent1"/>
                              </a:solidFill>
                              <a:latin typeface="Cambria Math" panose="02040503050406030204" pitchFamily="18" charset="0"/>
                              <a:ea typeface="微软雅黑" panose="020B0503020204020204" pitchFamily="34" charset="-122"/>
                            </a:rPr>
                            <m:t>𝜂</m:t>
                          </m:r>
                        </m:e>
                        <m:sub>
                          <m:r>
                            <a:rPr lang="en-US" altLang="zh-CN" sz="3600" i="1" dirty="0">
                              <a:solidFill>
                                <a:schemeClr val="accent1"/>
                              </a:solidFill>
                              <a:latin typeface="Cambria Math" panose="02040503050406030204" pitchFamily="18" charset="0"/>
                              <a:ea typeface="微软雅黑" panose="020B0503020204020204" pitchFamily="34" charset="-122"/>
                            </a:rPr>
                            <m:t>𝑥</m:t>
                          </m:r>
                        </m:sub>
                      </m:sSub>
                      <m:r>
                        <a:rPr lang="en-US" altLang="zh-CN" sz="3600" i="1">
                          <a:solidFill>
                            <a:schemeClr val="accent1"/>
                          </a:solidFill>
                          <a:latin typeface="Cambria Math" panose="02040503050406030204" pitchFamily="18" charset="0"/>
                          <a:ea typeface="微软雅黑" panose="020B0503020204020204" pitchFamily="34" charset="-122"/>
                        </a:rPr>
                        <m:t>+</m:t>
                      </m:r>
                      <m:sSub>
                        <m:sSubPr>
                          <m:ctrlPr>
                            <a:rPr lang="en-US" altLang="zh-CN" sz="3600" i="1" dirty="0">
                              <a:solidFill>
                                <a:schemeClr val="accent1"/>
                              </a:solidFill>
                              <a:latin typeface="Cambria Math"/>
                              <a:ea typeface="微软雅黑" panose="020B0503020204020204" pitchFamily="34" charset="-122"/>
                            </a:rPr>
                          </m:ctrlPr>
                        </m:sSubPr>
                        <m:e>
                          <m:r>
                            <a:rPr lang="en-US" altLang="zh-CN" sz="3600" i="1" dirty="0">
                              <a:solidFill>
                                <a:schemeClr val="accent1"/>
                              </a:solidFill>
                              <a:latin typeface="Cambria Math" panose="02040503050406030204" pitchFamily="18" charset="0"/>
                              <a:ea typeface="微软雅黑" panose="020B0503020204020204" pitchFamily="34" charset="-122"/>
                            </a:rPr>
                            <m:t>𝜂</m:t>
                          </m:r>
                        </m:e>
                        <m:sub>
                          <m:r>
                            <a:rPr lang="en-US" altLang="zh-CN" sz="3600" b="0" i="1" dirty="0" smtClean="0">
                              <a:solidFill>
                                <a:schemeClr val="accent1"/>
                              </a:solidFill>
                              <a:latin typeface="Cambria Math" panose="02040503050406030204" pitchFamily="18" charset="0"/>
                              <a:ea typeface="微软雅黑" panose="020B0503020204020204" pitchFamily="34" charset="-122"/>
                            </a:rPr>
                            <m:t>𝑚</m:t>
                          </m:r>
                        </m:sub>
                      </m:sSub>
                      <m:r>
                        <a:rPr lang="en-US" altLang="zh-CN" sz="3600" i="1">
                          <a:solidFill>
                            <a:schemeClr val="accent1"/>
                          </a:solidFill>
                          <a:latin typeface="Cambria Math" panose="02040503050406030204" pitchFamily="18" charset="0"/>
                          <a:ea typeface="Cambria Math" panose="02040503050406030204" pitchFamily="18" charset="0"/>
                        </a:rPr>
                        <m:t>&gt;1</m:t>
                      </m:r>
                      <m:r>
                        <a:rPr lang="en-US" altLang="zh-CN" sz="3600" b="0" i="1" smtClean="0">
                          <a:solidFill>
                            <a:schemeClr val="accent1"/>
                          </a:solidFill>
                          <a:latin typeface="Cambria Math" panose="02040503050406030204" pitchFamily="18" charset="0"/>
                          <a:ea typeface="Cambria Math" panose="02040503050406030204" pitchFamily="18" charset="0"/>
                        </a:rPr>
                        <m:t>+</m:t>
                      </m:r>
                      <m:r>
                        <a:rPr lang="en-US" altLang="zh-CN" sz="3600" b="0" i="1" smtClean="0">
                          <a:solidFill>
                            <a:schemeClr val="accent1"/>
                          </a:solidFill>
                          <a:latin typeface="Cambria Math" panose="02040503050406030204" pitchFamily="18" charset="0"/>
                          <a:ea typeface="Cambria Math" panose="02040503050406030204" pitchFamily="18" charset="0"/>
                        </a:rPr>
                        <m:t>𝑚</m:t>
                      </m:r>
                    </m:oMath>
                  </m:oMathPara>
                </a14:m>
                <a:endParaRPr lang="en-US" altLang="zh-CN" sz="3600" dirty="0">
                  <a:solidFill>
                    <a:schemeClr val="accent1"/>
                  </a:solidFill>
                  <a:latin typeface="微软雅黑" panose="020B0503020204020204" pitchFamily="34" charset="-122"/>
                  <a:ea typeface="微软雅黑" panose="020B0503020204020204" pitchFamily="34" charset="-122"/>
                </a:endParaRPr>
              </a:p>
              <a:p>
                <a:pPr>
                  <a:lnSpc>
                    <a:spcPct val="110000"/>
                  </a:lnSpc>
                  <a:spcBef>
                    <a:spcPts val="1000"/>
                  </a:spcBef>
                </a:pPr>
                <a:endParaRPr lang="zh-CN" altLang="en-US" sz="2800" dirty="0" smtClean="0">
                  <a:latin typeface="微软雅黑" panose="020B0503020204020204" pitchFamily="34" charset="-122"/>
                  <a:ea typeface="微软雅黑" panose="020B0503020204020204" pitchFamily="34" charset="-122"/>
                </a:endParaRPr>
              </a:p>
              <a:p>
                <a:pPr>
                  <a:lnSpc>
                    <a:spcPct val="110000"/>
                  </a:lnSpc>
                  <a:spcBef>
                    <a:spcPts val="1000"/>
                  </a:spcBef>
                </a:pPr>
                <a:endParaRPr lang="zh-CN" altLang="en-US" sz="28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rotWithShape="1">
                <a:blip r:embed="rId3"/>
                <a:stretch>
                  <a:fillRect l="-1692" t="-1071"/>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448570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第二节	</a:t>
            </a:r>
            <a:r>
              <a:rPr lang="zh-CN" altLang="en-US" dirty="0" smtClean="0"/>
              <a:t>乘数</a:t>
            </a:r>
            <a:r>
              <a:rPr lang="zh-CN" altLang="en-US" dirty="0"/>
              <a:t>分析法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800"/>
                <a:ext cx="7618658" cy="4559300"/>
              </a:xfrm>
            </p:spPr>
            <p:txBody>
              <a:bodyPr>
                <a:normAutofit/>
              </a:bodyPr>
              <a:lstStyle/>
              <a:p>
                <a:pPr marL="0" indent="0">
                  <a:lnSpc>
                    <a:spcPct val="110000"/>
                  </a:lnSpc>
                  <a:spcBef>
                    <a:spcPts val="1000"/>
                  </a:spcBef>
                  <a:buNone/>
                </a:pPr>
                <a:r>
                  <a:rPr lang="zh-CN" altLang="en-US" sz="2800" dirty="0" smtClean="0">
                    <a:latin typeface="微软雅黑" panose="020B0503020204020204" pitchFamily="34" charset="-122"/>
                    <a:ea typeface="微软雅黑" panose="020B0503020204020204" pitchFamily="34" charset="-122"/>
                  </a:rPr>
                  <a:t>六、国外回响效应（</a:t>
                </a:r>
                <a:r>
                  <a:rPr lang="en-US" altLang="zh-CN" sz="2800" dirty="0">
                    <a:latin typeface="微软雅黑" panose="020B0503020204020204" pitchFamily="34" charset="-122"/>
                    <a:ea typeface="微软雅黑" panose="020B0503020204020204" pitchFamily="34" charset="-122"/>
                  </a:rPr>
                  <a:t>Foreign Repercussion</a:t>
                </a:r>
                <a:r>
                  <a:rPr lang="zh-CN" altLang="en-US" sz="2800" dirty="0">
                    <a:latin typeface="微软雅黑" panose="020B0503020204020204" pitchFamily="34" charset="-122"/>
                    <a:ea typeface="微软雅黑" panose="020B0503020204020204" pitchFamily="34" charset="-122"/>
                  </a:rPr>
                  <a:t>）</a:t>
                </a:r>
              </a:p>
              <a:p>
                <a:pPr>
                  <a:lnSpc>
                    <a:spcPct val="110000"/>
                  </a:lnSpc>
                  <a:spcBef>
                    <a:spcPts val="1000"/>
                  </a:spcBef>
                </a:pPr>
                <a:endParaRPr lang="en-US" altLang="zh-CN" sz="2800" dirty="0" smtClean="0">
                  <a:latin typeface="微软雅黑" panose="020B0503020204020204" pitchFamily="34" charset="-122"/>
                  <a:ea typeface="微软雅黑" panose="020B0503020204020204" pitchFamily="34" charset="-122"/>
                </a:endParaRPr>
              </a:p>
              <a:p>
                <a:pPr marL="0" indent="0">
                  <a:lnSpc>
                    <a:spcPct val="110000"/>
                  </a:lnSpc>
                  <a:spcBef>
                    <a:spcPts val="1000"/>
                  </a:spcBef>
                  <a:buNone/>
                </a:pPr>
                <a:r>
                  <a:rPr lang="zh-CN" altLang="en-US" sz="2800" dirty="0">
                    <a:latin typeface="微软雅黑" panose="020B0503020204020204" pitchFamily="34" charset="-122"/>
                    <a:ea typeface="微软雅黑" panose="020B0503020204020204" pitchFamily="34" charset="-122"/>
                  </a:rPr>
                  <a:t>总</a:t>
                </a:r>
                <a:r>
                  <a:rPr lang="zh-CN" altLang="en-US" sz="2800" dirty="0" smtClean="0">
                    <a:latin typeface="微软雅黑" panose="020B0503020204020204" pitchFamily="34" charset="-122"/>
                    <a:ea typeface="微软雅黑" panose="020B0503020204020204" pitchFamily="34" charset="-122"/>
                  </a:rPr>
                  <a:t>弹性：</a:t>
                </a:r>
                <a:endParaRPr lang="zh-CN" altLang="en-US" sz="2800" dirty="0">
                  <a:latin typeface="微软雅黑" panose="020B0503020204020204" pitchFamily="34" charset="-122"/>
                  <a:ea typeface="微软雅黑" panose="020B0503020204020204" pitchFamily="34" charset="-122"/>
                </a:endParaRPr>
              </a:p>
              <a:p>
                <a:pPr>
                  <a:lnSpc>
                    <a:spcPct val="110000"/>
                  </a:lnSpc>
                  <a:spcBef>
                    <a:spcPts val="1000"/>
                  </a:spcBef>
                </a:pPr>
                <a:endParaRPr lang="zh-CN" altLang="en-US" sz="2800" dirty="0">
                  <a:latin typeface="微软雅黑" panose="020B0503020204020204" pitchFamily="34" charset="-122"/>
                  <a:ea typeface="微软雅黑" panose="020B0503020204020204" pitchFamily="34" charset="-122"/>
                </a:endParaRPr>
              </a:p>
              <a:p>
                <a:pPr marL="0" indent="0" algn="ctr">
                  <a:lnSpc>
                    <a:spcPct val="110000"/>
                  </a:lnSpc>
                  <a:spcBef>
                    <a:spcPts val="1000"/>
                  </a:spcBef>
                  <a:buNone/>
                </a:pPr>
                <a14:m>
                  <m:oMathPara xmlns:m="http://schemas.openxmlformats.org/officeDocument/2006/math">
                    <m:oMathParaPr>
                      <m:jc m:val="centerGroup"/>
                    </m:oMathParaPr>
                    <m:oMath xmlns:m="http://schemas.openxmlformats.org/officeDocument/2006/math">
                      <m:sSub>
                        <m:sSubPr>
                          <m:ctrlPr>
                            <a:rPr lang="en-US" altLang="zh-CN" sz="3600" i="1" dirty="0">
                              <a:solidFill>
                                <a:schemeClr val="accent1"/>
                              </a:solidFill>
                              <a:latin typeface="Cambria Math"/>
                              <a:ea typeface="微软雅黑" panose="020B0503020204020204" pitchFamily="34" charset="-122"/>
                            </a:rPr>
                          </m:ctrlPr>
                        </m:sSubPr>
                        <m:e>
                          <m:r>
                            <a:rPr lang="en-US" altLang="zh-CN" sz="3600" i="1" dirty="0">
                              <a:solidFill>
                                <a:schemeClr val="accent1"/>
                              </a:solidFill>
                              <a:latin typeface="Cambria Math" panose="02040503050406030204" pitchFamily="18" charset="0"/>
                              <a:ea typeface="微软雅黑" panose="020B0503020204020204" pitchFamily="34" charset="-122"/>
                            </a:rPr>
                            <m:t>𝜂</m:t>
                          </m:r>
                        </m:e>
                        <m:sub>
                          <m:r>
                            <a:rPr lang="en-US" altLang="zh-CN" sz="3600" i="1" dirty="0">
                              <a:solidFill>
                                <a:schemeClr val="accent1"/>
                              </a:solidFill>
                              <a:latin typeface="Cambria Math" panose="02040503050406030204" pitchFamily="18" charset="0"/>
                              <a:ea typeface="微软雅黑" panose="020B0503020204020204" pitchFamily="34" charset="-122"/>
                            </a:rPr>
                            <m:t>𝑥</m:t>
                          </m:r>
                        </m:sub>
                      </m:sSub>
                      <m:r>
                        <a:rPr lang="en-US" altLang="zh-CN" sz="3600" i="1">
                          <a:solidFill>
                            <a:schemeClr val="accent1"/>
                          </a:solidFill>
                          <a:latin typeface="Cambria Math" panose="02040503050406030204" pitchFamily="18" charset="0"/>
                          <a:ea typeface="微软雅黑" panose="020B0503020204020204" pitchFamily="34" charset="-122"/>
                        </a:rPr>
                        <m:t>+</m:t>
                      </m:r>
                      <m:sSub>
                        <m:sSubPr>
                          <m:ctrlPr>
                            <a:rPr lang="en-US" altLang="zh-CN" sz="3600" i="1" dirty="0">
                              <a:solidFill>
                                <a:schemeClr val="accent1"/>
                              </a:solidFill>
                              <a:latin typeface="Cambria Math"/>
                              <a:ea typeface="微软雅黑" panose="020B0503020204020204" pitchFamily="34" charset="-122"/>
                            </a:rPr>
                          </m:ctrlPr>
                        </m:sSubPr>
                        <m:e>
                          <m:r>
                            <a:rPr lang="en-US" altLang="zh-CN" sz="3600" i="1" dirty="0">
                              <a:solidFill>
                                <a:schemeClr val="accent1"/>
                              </a:solidFill>
                              <a:latin typeface="Cambria Math" panose="02040503050406030204" pitchFamily="18" charset="0"/>
                              <a:ea typeface="微软雅黑" panose="020B0503020204020204" pitchFamily="34" charset="-122"/>
                            </a:rPr>
                            <m:t>𝜂</m:t>
                          </m:r>
                        </m:e>
                        <m:sub>
                          <m:r>
                            <a:rPr lang="en-US" altLang="zh-CN" sz="3600" b="0" i="1" dirty="0" smtClean="0">
                              <a:solidFill>
                                <a:schemeClr val="accent1"/>
                              </a:solidFill>
                              <a:latin typeface="Cambria Math" panose="02040503050406030204" pitchFamily="18" charset="0"/>
                              <a:ea typeface="微软雅黑" panose="020B0503020204020204" pitchFamily="34" charset="-122"/>
                            </a:rPr>
                            <m:t>𝑚</m:t>
                          </m:r>
                        </m:sub>
                      </m:sSub>
                      <m:r>
                        <a:rPr lang="en-US" altLang="zh-CN" sz="3600" i="1">
                          <a:solidFill>
                            <a:schemeClr val="accent1"/>
                          </a:solidFill>
                          <a:latin typeface="Cambria Math" panose="02040503050406030204" pitchFamily="18" charset="0"/>
                          <a:ea typeface="Cambria Math" panose="02040503050406030204" pitchFamily="18" charset="0"/>
                        </a:rPr>
                        <m:t>&gt;1</m:t>
                      </m:r>
                      <m:r>
                        <a:rPr lang="en-US" altLang="zh-CN" sz="3600" b="0" i="1" smtClean="0">
                          <a:solidFill>
                            <a:schemeClr val="accent1"/>
                          </a:solidFill>
                          <a:latin typeface="Cambria Math" panose="02040503050406030204" pitchFamily="18" charset="0"/>
                          <a:ea typeface="Cambria Math" panose="02040503050406030204" pitchFamily="18" charset="0"/>
                        </a:rPr>
                        <m:t>+</m:t>
                      </m:r>
                      <m:r>
                        <a:rPr lang="en-US" altLang="zh-CN" sz="3600" b="0" i="1" smtClean="0">
                          <a:solidFill>
                            <a:schemeClr val="accent1"/>
                          </a:solidFill>
                          <a:latin typeface="Cambria Math" panose="02040503050406030204" pitchFamily="18" charset="0"/>
                          <a:ea typeface="Cambria Math" panose="02040503050406030204" pitchFamily="18" charset="0"/>
                        </a:rPr>
                        <m:t>𝑚</m:t>
                      </m:r>
                      <m:r>
                        <a:rPr lang="en-US" altLang="zh-CN" sz="3600" b="0" i="1" smtClean="0">
                          <a:solidFill>
                            <a:schemeClr val="accent1"/>
                          </a:solidFill>
                          <a:latin typeface="Cambria Math" panose="02040503050406030204" pitchFamily="18" charset="0"/>
                          <a:ea typeface="Cambria Math" panose="02040503050406030204" pitchFamily="18" charset="0"/>
                        </a:rPr>
                        <m:t>+</m:t>
                      </m:r>
                      <m:sSup>
                        <m:sSupPr>
                          <m:ctrlPr>
                            <a:rPr lang="en-US" altLang="zh-CN" sz="3600" b="0" i="1" smtClean="0">
                              <a:solidFill>
                                <a:schemeClr val="accent1"/>
                              </a:solidFill>
                              <a:latin typeface="Cambria Math"/>
                              <a:ea typeface="Cambria Math" panose="02040503050406030204" pitchFamily="18" charset="0"/>
                            </a:rPr>
                          </m:ctrlPr>
                        </m:sSupPr>
                        <m:e>
                          <m:r>
                            <a:rPr lang="en-US" altLang="zh-CN" sz="3600" b="0" i="1" smtClean="0">
                              <a:solidFill>
                                <a:schemeClr val="accent1"/>
                              </a:solidFill>
                              <a:latin typeface="Cambria Math" panose="02040503050406030204" pitchFamily="18" charset="0"/>
                              <a:ea typeface="Cambria Math" panose="02040503050406030204" pitchFamily="18" charset="0"/>
                            </a:rPr>
                            <m:t>𝑚</m:t>
                          </m:r>
                        </m:e>
                        <m:sup>
                          <m:r>
                            <a:rPr lang="en-US" altLang="zh-CN" sz="3600" b="0" i="1" smtClean="0">
                              <a:solidFill>
                                <a:schemeClr val="accent1"/>
                              </a:solidFill>
                              <a:latin typeface="Cambria Math" panose="02040503050406030204" pitchFamily="18" charset="0"/>
                              <a:ea typeface="Cambria Math" panose="02040503050406030204" pitchFamily="18" charset="0"/>
                            </a:rPr>
                            <m:t>∗</m:t>
                          </m:r>
                        </m:sup>
                      </m:sSup>
                    </m:oMath>
                  </m:oMathPara>
                </a14:m>
                <a:endParaRPr lang="en-US" altLang="zh-CN" sz="3200" dirty="0">
                  <a:solidFill>
                    <a:schemeClr val="accent1"/>
                  </a:solidFill>
                  <a:latin typeface="微软雅黑" panose="020B0503020204020204" pitchFamily="34" charset="-122"/>
                  <a:ea typeface="微软雅黑" panose="020B0503020204020204" pitchFamily="34" charset="-122"/>
                </a:endParaRPr>
              </a:p>
              <a:p>
                <a:pPr>
                  <a:lnSpc>
                    <a:spcPct val="110000"/>
                  </a:lnSpc>
                  <a:spcBef>
                    <a:spcPts val="1000"/>
                  </a:spcBef>
                </a:pPr>
                <a:endParaRPr lang="en-US" altLang="zh-CN" sz="2800" dirty="0" smtClean="0">
                  <a:latin typeface="微软雅黑" panose="020B0503020204020204" pitchFamily="34" charset="-122"/>
                  <a:ea typeface="微软雅黑" panose="020B0503020204020204" pitchFamily="34" charset="-122"/>
                </a:endParaRPr>
              </a:p>
              <a:p>
                <a:pPr marL="0" indent="0">
                  <a:lnSpc>
                    <a:spcPct val="110000"/>
                  </a:lnSpc>
                  <a:spcBef>
                    <a:spcPts val="1000"/>
                  </a:spcBef>
                  <a:buNone/>
                </a:pPr>
                <a:r>
                  <a:rPr lang="zh-CN" altLang="en-US" sz="2800" dirty="0">
                    <a:solidFill>
                      <a:schemeClr val="accent1"/>
                    </a:solidFill>
                    <a:latin typeface="微软雅黑" panose="020B0503020204020204" pitchFamily="34" charset="-122"/>
                    <a:ea typeface="微软雅黑" panose="020B0503020204020204" pitchFamily="34" charset="-122"/>
                  </a:rPr>
                  <a:t>思考：收入论的局限性</a:t>
                </a:r>
              </a:p>
              <a:p>
                <a:pPr>
                  <a:lnSpc>
                    <a:spcPct val="110000"/>
                  </a:lnSpc>
                  <a:spcBef>
                    <a:spcPts val="1000"/>
                  </a:spcBef>
                </a:pPr>
                <a:endParaRPr lang="zh-CN" altLang="en-US" sz="2800" dirty="0" smtClean="0">
                  <a:latin typeface="微软雅黑" panose="020B0503020204020204" pitchFamily="34" charset="-122"/>
                  <a:ea typeface="微软雅黑" panose="020B0503020204020204" pitchFamily="34" charset="-122"/>
                </a:endParaRPr>
              </a:p>
              <a:p>
                <a:pPr>
                  <a:lnSpc>
                    <a:spcPct val="110000"/>
                  </a:lnSpc>
                  <a:spcBef>
                    <a:spcPts val="1000"/>
                  </a:spcBef>
                </a:pPr>
                <a:endParaRPr lang="zh-CN" altLang="en-US" sz="28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800"/>
                <a:ext cx="7618658" cy="4559300"/>
              </a:xfrm>
              <a:blipFill rotWithShape="1">
                <a:blip r:embed="rId3"/>
                <a:stretch>
                  <a:fillRect l="-1600" t="-1071"/>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2715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a:t>
            </a:r>
            <a:r>
              <a:rPr lang="zh-CN" altLang="en-US" dirty="0" smtClean="0"/>
              <a:t>吸收</a:t>
            </a:r>
            <a:r>
              <a:rPr lang="zh-CN" altLang="en-US" dirty="0"/>
              <a:t>分析法</a:t>
            </a:r>
          </a:p>
        </p:txBody>
      </p:sp>
      <p:sp>
        <p:nvSpPr>
          <p:cNvPr id="3" name="内容占位符 2"/>
          <p:cNvSpPr>
            <a:spLocks noGrp="1"/>
          </p:cNvSpPr>
          <p:nvPr>
            <p:ph idx="1"/>
          </p:nvPr>
        </p:nvSpPr>
        <p:spPr>
          <a:xfrm>
            <a:off x="971550" y="1447800"/>
            <a:ext cx="7618658" cy="4559300"/>
          </a:xfrm>
        </p:spPr>
        <p:txBody>
          <a:bodyPr>
            <a:normAutofit/>
          </a:bodyPr>
          <a:lstStyle/>
          <a:p>
            <a:pPr marL="0" indent="0">
              <a:lnSpc>
                <a:spcPct val="150000"/>
              </a:lnSpc>
              <a:spcBef>
                <a:spcPts val="1000"/>
              </a:spcBef>
              <a:buNone/>
            </a:pPr>
            <a:r>
              <a:rPr lang="zh-CN" altLang="en-US" sz="2400" dirty="0">
                <a:latin typeface="微软雅黑" panose="020B0503020204020204" pitchFamily="34" charset="-122"/>
                <a:ea typeface="微软雅黑" panose="020B0503020204020204" pitchFamily="34" charset="-122"/>
              </a:rPr>
              <a:t>一、主张采用收入水平和支出行为来分析贬值对国际收支的影响</a:t>
            </a:r>
          </a:p>
          <a:p>
            <a:pPr marL="0" indent="0">
              <a:lnSpc>
                <a:spcPct val="150000"/>
              </a:lnSpc>
              <a:spcBef>
                <a:spcPts val="1000"/>
              </a:spcBef>
              <a:buNone/>
            </a:pPr>
            <a:r>
              <a:rPr lang="zh-CN" altLang="en-US" sz="2400" dirty="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吸收</a:t>
            </a:r>
            <a:r>
              <a:rPr lang="zh-CN" altLang="en-US" sz="2400" dirty="0">
                <a:latin typeface="微软雅黑" panose="020B0503020204020204" pitchFamily="34" charset="-122"/>
                <a:ea typeface="微软雅黑" panose="020B0503020204020204" pitchFamily="34" charset="-122"/>
              </a:rPr>
              <a:t>论是战后初期詹姆士</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米德（</a:t>
            </a:r>
            <a:r>
              <a:rPr lang="en-US" altLang="zh-CN" sz="2400" dirty="0">
                <a:latin typeface="微软雅黑" panose="020B0503020204020204" pitchFamily="34" charset="-122"/>
                <a:ea typeface="微软雅黑" panose="020B0503020204020204" pitchFamily="34" charset="-122"/>
              </a:rPr>
              <a:t>James Meade</a:t>
            </a:r>
            <a:r>
              <a:rPr lang="zh-CN" altLang="en-US" sz="2400" dirty="0">
                <a:latin typeface="微软雅黑" panose="020B0503020204020204" pitchFamily="34" charset="-122"/>
                <a:ea typeface="微软雅黑" panose="020B0503020204020204" pitchFamily="34" charset="-122"/>
              </a:rPr>
              <a:t>）和西德尼</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亚历山大（</a:t>
            </a:r>
            <a:r>
              <a:rPr lang="en-US" altLang="zh-CN" sz="2400" dirty="0">
                <a:latin typeface="微软雅黑" panose="020B0503020204020204" pitchFamily="34" charset="-122"/>
                <a:ea typeface="微软雅黑" panose="020B0503020204020204" pitchFamily="34" charset="-122"/>
              </a:rPr>
              <a:t>S. S. Alexander</a:t>
            </a:r>
            <a:r>
              <a:rPr lang="zh-CN" altLang="en-US" sz="2400" dirty="0">
                <a:latin typeface="微软雅黑" panose="020B0503020204020204" pitchFamily="34" charset="-122"/>
                <a:ea typeface="微软雅黑" panose="020B0503020204020204" pitchFamily="34" charset="-122"/>
              </a:rPr>
              <a:t>）在西方经济学界关于弹性论的激烈争论中系统提出的</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430646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a:t>
            </a:r>
            <a:r>
              <a:rPr lang="zh-CN" altLang="en-US" dirty="0" smtClean="0"/>
              <a:t>吸收</a:t>
            </a:r>
            <a:r>
              <a:rPr lang="zh-CN" altLang="en-US" dirty="0"/>
              <a:t>分析法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800"/>
                <a:ext cx="7618658" cy="4559300"/>
              </a:xfrm>
            </p:spPr>
            <p:txBody>
              <a:bodyPr>
                <a:normAutofit/>
              </a:bodyPr>
              <a:lstStyle/>
              <a:p>
                <a:pPr marL="0" indent="0">
                  <a:lnSpc>
                    <a:spcPct val="150000"/>
                  </a:lnSpc>
                  <a:spcBef>
                    <a:spcPts val="1000"/>
                  </a:spcBef>
                  <a:buNone/>
                </a:pPr>
                <a:r>
                  <a:rPr lang="zh-CN" altLang="en-US" sz="2400" dirty="0" smtClean="0">
                    <a:latin typeface="微软雅黑" panose="020B0503020204020204" pitchFamily="34" charset="-122"/>
                    <a:ea typeface="微软雅黑" panose="020B0503020204020204" pitchFamily="34" charset="-122"/>
                  </a:rPr>
                  <a:t>二、国民收入和支出与国际收支的关系</a:t>
                </a:r>
                <a:endParaRPr lang="en-US" altLang="zh-CN" sz="2400" dirty="0" smtClean="0">
                  <a:latin typeface="微软雅黑" panose="020B0503020204020204" pitchFamily="34" charset="-122"/>
                  <a:ea typeface="微软雅黑" panose="020B0503020204020204" pitchFamily="34" charset="-122"/>
                </a:endParaRPr>
              </a:p>
              <a:p>
                <a:pPr>
                  <a:lnSpc>
                    <a:spcPct val="150000"/>
                  </a:lnSpc>
                  <a:spcBef>
                    <a:spcPts val="1000"/>
                  </a:spcBef>
                </a:pPr>
                <a:endParaRPr lang="en-US" altLang="zh-CN" sz="2400" dirty="0" smtClean="0">
                  <a:latin typeface="微软雅黑" panose="020B0503020204020204" pitchFamily="34" charset="-122"/>
                  <a:ea typeface="微软雅黑" panose="020B0503020204020204" pitchFamily="34" charset="-122"/>
                </a:endParaRPr>
              </a:p>
              <a:p>
                <a:pPr marL="0" indent="0" algn="ctr">
                  <a:lnSpc>
                    <a:spcPct val="150000"/>
                  </a:lnSpc>
                  <a:spcBef>
                    <a:spcPts val="1000"/>
                  </a:spcBef>
                  <a:buNone/>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微软雅黑" panose="020B0503020204020204" pitchFamily="34" charset="-122"/>
                        </a:rPr>
                        <m:t>𝑌</m:t>
                      </m:r>
                      <m:r>
                        <a:rPr lang="zh-CN" altLang="en-US" sz="2400" i="1">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𝐶</m:t>
                      </m:r>
                      <m:r>
                        <a:rPr lang="en-US" altLang="zh-CN" sz="2400" i="1">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𝐼</m:t>
                      </m:r>
                      <m:r>
                        <a:rPr lang="en-US" altLang="zh-CN" sz="2400" i="1">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𝐺</m:t>
                      </m:r>
                      <m:r>
                        <a:rPr lang="en-US" altLang="zh-CN" sz="2400" i="1">
                          <a:latin typeface="Cambria Math" panose="02040503050406030204" pitchFamily="18" charset="0"/>
                          <a:ea typeface="微软雅黑" panose="020B0503020204020204" pitchFamily="34" charset="-122"/>
                        </a:rPr>
                        <m:t>+</m:t>
                      </m:r>
                      <m:d>
                        <m:dPr>
                          <m:ctrlPr>
                            <a:rPr lang="en-US" altLang="zh-CN" sz="2400" i="1" smtClean="0">
                              <a:latin typeface="Cambria Math"/>
                              <a:ea typeface="微软雅黑" panose="020B0503020204020204" pitchFamily="34" charset="-122"/>
                            </a:rPr>
                          </m:ctrlPr>
                        </m:dPr>
                        <m:e>
                          <m:r>
                            <a:rPr lang="en-US" altLang="zh-CN" sz="2400" i="1">
                              <a:latin typeface="Cambria Math" panose="02040503050406030204" pitchFamily="18" charset="0"/>
                              <a:ea typeface="微软雅黑" panose="020B0503020204020204" pitchFamily="34" charset="-122"/>
                            </a:rPr>
                            <m:t>𝑋</m:t>
                          </m:r>
                          <m:r>
                            <a:rPr lang="en-US" altLang="zh-CN" sz="2400" b="0" i="1" smtClean="0">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𝑀</m:t>
                          </m:r>
                        </m:e>
                      </m:d>
                    </m:oMath>
                  </m:oMathPara>
                </a14:m>
                <a:endParaRPr lang="en-US" altLang="zh-CN" sz="2400" dirty="0" smtClean="0">
                  <a:latin typeface="微软雅黑" panose="020B0503020204020204" pitchFamily="34" charset="-122"/>
                  <a:ea typeface="微软雅黑" panose="020B0503020204020204" pitchFamily="34" charset="-122"/>
                </a:endParaRPr>
              </a:p>
              <a:p>
                <a:pPr marL="0" indent="0">
                  <a:lnSpc>
                    <a:spcPct val="150000"/>
                  </a:lnSpc>
                  <a:spcBef>
                    <a:spcPts val="1000"/>
                  </a:spcBef>
                  <a:buNone/>
                </a:pPr>
                <a:endParaRPr lang="en-US" altLang="zh-CN" sz="2400" dirty="0" smtClean="0">
                  <a:latin typeface="微软雅黑" panose="020B0503020204020204" pitchFamily="34" charset="-122"/>
                  <a:ea typeface="微软雅黑" panose="020B0503020204020204" pitchFamily="34" charset="-122"/>
                </a:endParaRPr>
              </a:p>
              <a:p>
                <a:pPr marL="0" indent="0">
                  <a:lnSpc>
                    <a:spcPct val="150000"/>
                  </a:lnSpc>
                  <a:spcBef>
                    <a:spcPts val="1000"/>
                  </a:spcBef>
                  <a:buNone/>
                </a:pPr>
                <a:r>
                  <a:rPr lang="zh-CN" altLang="en-US" sz="2400" dirty="0" smtClean="0">
                    <a:latin typeface="微软雅黑" panose="020B0503020204020204" pitchFamily="34" charset="-122"/>
                    <a:ea typeface="微软雅黑" panose="020B0503020204020204" pitchFamily="34" charset="-122"/>
                  </a:rPr>
                  <a:t>将 </a:t>
                </a:r>
                <a14:m>
                  <m:oMath xmlns:m="http://schemas.openxmlformats.org/officeDocument/2006/math">
                    <m:d>
                      <m:dPr>
                        <m:ctrlPr>
                          <a:rPr lang="en-US" altLang="zh-CN" sz="2400" i="1">
                            <a:latin typeface="Cambria Math"/>
                            <a:ea typeface="微软雅黑" panose="020B0503020204020204" pitchFamily="34" charset="-122"/>
                          </a:rPr>
                        </m:ctrlPr>
                      </m:dPr>
                      <m:e>
                        <m:r>
                          <a:rPr lang="en-US" altLang="zh-CN" sz="2400" i="1">
                            <a:latin typeface="Cambria Math" panose="02040503050406030204" pitchFamily="18" charset="0"/>
                            <a:ea typeface="微软雅黑" panose="020B0503020204020204" pitchFamily="34" charset="-122"/>
                          </a:rPr>
                          <m:t>𝑋</m:t>
                        </m:r>
                        <m:r>
                          <a:rPr lang="en-US" altLang="zh-CN" sz="2400" i="1">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𝑀</m:t>
                        </m:r>
                      </m:e>
                    </m:d>
                  </m:oMath>
                </a14:m>
                <a:r>
                  <a:rPr lang="zh-CN" altLang="en-US" sz="2400" dirty="0" smtClean="0">
                    <a:latin typeface="微软雅黑" panose="020B0503020204020204" pitchFamily="34" charset="-122"/>
                    <a:ea typeface="微软雅黑" panose="020B0503020204020204" pitchFamily="34" charset="-122"/>
                  </a:rPr>
                  <a:t> 用 </a:t>
                </a:r>
                <a:r>
                  <a:rPr lang="en-US" altLang="zh-CN" sz="2400" dirty="0" smtClean="0">
                    <a:latin typeface="微软雅黑" panose="020B0503020204020204" pitchFamily="34" charset="-122"/>
                    <a:ea typeface="微软雅黑" panose="020B0503020204020204" pitchFamily="34" charset="-122"/>
                  </a:rPr>
                  <a:t>B </a:t>
                </a:r>
                <a:r>
                  <a:rPr lang="zh-CN" altLang="en-US" sz="2400" dirty="0" smtClean="0">
                    <a:latin typeface="微软雅黑" panose="020B0503020204020204" pitchFamily="34" charset="-122"/>
                    <a:ea typeface="微软雅黑" panose="020B0503020204020204" pitchFamily="34" charset="-122"/>
                  </a:rPr>
                  <a:t>来</a:t>
                </a:r>
                <a:r>
                  <a:rPr lang="zh-CN" altLang="en-US" sz="2400" dirty="0">
                    <a:latin typeface="微软雅黑" panose="020B0503020204020204" pitchFamily="34" charset="-122"/>
                    <a:ea typeface="微软雅黑" panose="020B0503020204020204" pitchFamily="34" charset="-122"/>
                  </a:rPr>
                  <a:t>表示，将</a:t>
                </a:r>
                <a:r>
                  <a:rPr lang="zh-CN" altLang="en-US" sz="2400" dirty="0" smtClean="0">
                    <a:latin typeface="微软雅黑" panose="020B0503020204020204" pitchFamily="34" charset="-122"/>
                    <a:ea typeface="微软雅黑" panose="020B0503020204020204" pitchFamily="34" charset="-122"/>
                  </a:rPr>
                  <a:t> </a:t>
                </a:r>
                <a14:m>
                  <m:oMath xmlns:m="http://schemas.openxmlformats.org/officeDocument/2006/math">
                    <m:d>
                      <m:dPr>
                        <m:ctrlPr>
                          <a:rPr lang="en-US" altLang="zh-CN" sz="2400" i="1" smtClean="0">
                            <a:latin typeface="Cambria Math"/>
                            <a:ea typeface="微软雅黑" panose="020B0503020204020204" pitchFamily="34" charset="-122"/>
                          </a:rPr>
                        </m:ctrlPr>
                      </m:dPr>
                      <m:e>
                        <m:r>
                          <a:rPr lang="en-US" altLang="zh-CN" sz="2400" i="1">
                            <a:latin typeface="Cambria Math" panose="02040503050406030204" pitchFamily="18" charset="0"/>
                            <a:ea typeface="微软雅黑" panose="020B0503020204020204" pitchFamily="34" charset="-122"/>
                          </a:rPr>
                          <m:t>𝐶</m:t>
                        </m:r>
                        <m:r>
                          <a:rPr lang="en-US" altLang="zh-CN" sz="2400" i="1">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𝐼</m:t>
                        </m:r>
                        <m:r>
                          <a:rPr lang="en-US" altLang="zh-CN" sz="2400" i="1">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𝐺</m:t>
                        </m:r>
                      </m:e>
                    </m:d>
                  </m:oMath>
                </a14:m>
                <a:r>
                  <a:rPr lang="zh-CN" altLang="en-US" sz="2400" dirty="0" smtClean="0">
                    <a:latin typeface="微软雅黑" panose="020B0503020204020204" pitchFamily="34" charset="-122"/>
                    <a:ea typeface="微软雅黑" panose="020B0503020204020204" pitchFamily="34" charset="-122"/>
                  </a:rPr>
                  <a:t> 称为</a:t>
                </a:r>
                <a:r>
                  <a:rPr lang="zh-CN" altLang="en-US" sz="2400" dirty="0">
                    <a:latin typeface="微软雅黑" panose="020B0503020204020204" pitchFamily="34" charset="-122"/>
                    <a:ea typeface="微软雅黑" panose="020B0503020204020204" pitchFamily="34" charset="-122"/>
                  </a:rPr>
                  <a:t>吸收，反映本国居民的支出，</a:t>
                </a:r>
                <a:r>
                  <a:rPr lang="zh-CN" altLang="en-US" sz="2400" dirty="0" smtClean="0">
                    <a:latin typeface="微软雅黑" panose="020B0503020204020204" pitchFamily="34" charset="-122"/>
                    <a:ea typeface="微软雅黑" panose="020B0503020204020204" pitchFamily="34" charset="-122"/>
                  </a:rPr>
                  <a:t>用 </a:t>
                </a:r>
                <a:r>
                  <a:rPr lang="en-US" altLang="zh-CN" sz="2400" dirty="0" smtClean="0">
                    <a:latin typeface="微软雅黑" panose="020B0503020204020204" pitchFamily="34" charset="-122"/>
                    <a:ea typeface="微软雅黑" panose="020B0503020204020204" pitchFamily="34" charset="-122"/>
                  </a:rPr>
                  <a:t>A </a:t>
                </a:r>
                <a:r>
                  <a:rPr lang="zh-CN" altLang="en-US" sz="2400" dirty="0" smtClean="0">
                    <a:latin typeface="微软雅黑" panose="020B0503020204020204" pitchFamily="34" charset="-122"/>
                    <a:ea typeface="微软雅黑" panose="020B0503020204020204" pitchFamily="34" charset="-122"/>
                  </a:rPr>
                  <a:t>表示：</a:t>
                </a:r>
                <a:endParaRPr lang="en-US" altLang="zh-CN" sz="2400" dirty="0" smtClean="0">
                  <a:ea typeface="微软雅黑" panose="020B0503020204020204" pitchFamily="34" charset="-122"/>
                </a:endParaRPr>
              </a:p>
              <a:p>
                <a:pPr marL="0" indent="0" algn="ctr">
                  <a:lnSpc>
                    <a:spcPct val="150000"/>
                  </a:lnSpc>
                  <a:spcBef>
                    <a:spcPts val="1000"/>
                  </a:spcBef>
                  <a:buNone/>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微软雅黑" panose="020B0503020204020204" pitchFamily="34" charset="-122"/>
                        </a:rPr>
                        <m:t>𝐵</m:t>
                      </m:r>
                      <m:r>
                        <a:rPr lang="zh-CN" altLang="en-US" sz="2400" i="1">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𝑌</m:t>
                      </m:r>
                      <m:r>
                        <a:rPr lang="en-US" altLang="zh-CN" sz="2400" i="1">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𝐴</m:t>
                      </m:r>
                    </m:oMath>
                  </m:oMathPara>
                </a14:m>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800"/>
                <a:ext cx="7618658" cy="4559300"/>
              </a:xfrm>
              <a:blipFill rotWithShape="1">
                <a:blip r:embed="rId3"/>
                <a:stretch>
                  <a:fillRect l="-1200"/>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707796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a:t>
            </a:r>
            <a:r>
              <a:rPr lang="zh-CN" altLang="en-US" dirty="0" smtClean="0"/>
              <a:t>吸收</a:t>
            </a:r>
            <a:r>
              <a:rPr lang="zh-CN" altLang="en-US" dirty="0"/>
              <a:t>分析法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800"/>
                <a:ext cx="7618658" cy="4559300"/>
              </a:xfrm>
            </p:spPr>
            <p:txBody>
              <a:bodyPr>
                <a:normAutofit/>
              </a:bodyPr>
              <a:lstStyle/>
              <a:p>
                <a:pPr marL="0" indent="0">
                  <a:lnSpc>
                    <a:spcPct val="150000"/>
                  </a:lnSpc>
                  <a:spcBef>
                    <a:spcPts val="1000"/>
                  </a:spcBef>
                  <a:buNone/>
                </a:pPr>
                <a:r>
                  <a:rPr lang="zh-CN" altLang="en-US" sz="2400" dirty="0" smtClean="0">
                    <a:latin typeface="微软雅黑" panose="020B0503020204020204" pitchFamily="34" charset="-122"/>
                    <a:ea typeface="微软雅黑" panose="020B0503020204020204" pitchFamily="34" charset="-122"/>
                  </a:rPr>
                  <a:t>三、本币贬值对国际收支的影响</a:t>
                </a:r>
                <a:endParaRPr lang="en-US" altLang="zh-CN" sz="2400" dirty="0">
                  <a:latin typeface="微软雅黑" panose="020B0503020204020204" pitchFamily="34" charset="-122"/>
                  <a:ea typeface="微软雅黑" panose="020B0503020204020204" pitchFamily="34" charset="-122"/>
                </a:endParaRPr>
              </a:p>
              <a:p>
                <a:pPr marL="0" indent="0">
                  <a:lnSpc>
                    <a:spcPct val="150000"/>
                  </a:lnSpc>
                  <a:spcBef>
                    <a:spcPts val="1000"/>
                  </a:spcBef>
                  <a:buNone/>
                </a:pPr>
                <a:r>
                  <a:rPr lang="zh-CN" altLang="en-US" sz="2400" dirty="0" smtClean="0">
                    <a:latin typeface="微软雅黑" panose="020B0503020204020204" pitchFamily="34" charset="-122"/>
                    <a:ea typeface="微软雅黑" panose="020B0503020204020204" pitchFamily="34" charset="-122"/>
                  </a:rPr>
                  <a:t>       将</a:t>
                </a:r>
                <a:r>
                  <a:rPr lang="zh-CN" altLang="en-US" sz="2400" dirty="0">
                    <a:latin typeface="微软雅黑" panose="020B0503020204020204" pitchFamily="34" charset="-122"/>
                    <a:ea typeface="微软雅黑" panose="020B0503020204020204" pitchFamily="34" charset="-122"/>
                  </a:rPr>
                  <a:t>吸收分为诱发性吸收和自主性吸收：</a:t>
                </a:r>
                <a:endParaRPr lang="en-US" altLang="zh-CN" sz="2400" dirty="0" smtClean="0">
                  <a:latin typeface="微软雅黑" panose="020B0503020204020204" pitchFamily="34" charset="-122"/>
                  <a:ea typeface="微软雅黑" panose="020B0503020204020204" pitchFamily="34" charset="-122"/>
                </a:endParaRPr>
              </a:p>
              <a:p>
                <a:pPr marL="0" indent="0" algn="ctr">
                  <a:lnSpc>
                    <a:spcPct val="150000"/>
                  </a:lnSpc>
                  <a:spcBef>
                    <a:spcPts val="1000"/>
                  </a:spcBef>
                  <a:buNone/>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ea typeface="微软雅黑" panose="020B0503020204020204" pitchFamily="34" charset="-122"/>
                        </a:rPr>
                        <m:t>𝐴</m:t>
                      </m:r>
                      <m:r>
                        <a:rPr lang="en-US" altLang="zh-CN" sz="2400" b="0" i="1" smtClean="0">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𝐷</m:t>
                      </m:r>
                      <m:r>
                        <a:rPr lang="en-US" altLang="zh-CN" sz="2400" i="1">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𝑎𝑌</m:t>
                      </m:r>
                    </m:oMath>
                  </m:oMathPara>
                </a14:m>
                <a:endParaRPr lang="en-US" altLang="zh-CN" sz="2400" dirty="0" smtClean="0">
                  <a:latin typeface="微软雅黑" panose="020B0503020204020204" pitchFamily="34" charset="-122"/>
                  <a:ea typeface="微软雅黑" panose="020B0503020204020204" pitchFamily="34" charset="-122"/>
                </a:endParaRPr>
              </a:p>
              <a:p>
                <a:pPr marL="0" indent="0">
                  <a:lnSpc>
                    <a:spcPct val="150000"/>
                  </a:lnSpc>
                  <a:spcBef>
                    <a:spcPts val="1000"/>
                  </a:spcBef>
                  <a:buNone/>
                </a:pPr>
                <a14:m>
                  <m:oMath xmlns:m="http://schemas.openxmlformats.org/officeDocument/2006/math">
                    <m:r>
                      <a:rPr lang="en-US" altLang="zh-CN" sz="2400" i="1">
                        <a:latin typeface="Cambria Math" panose="02040503050406030204" pitchFamily="18" charset="0"/>
                        <a:ea typeface="微软雅黑" panose="020B0503020204020204" pitchFamily="34" charset="-122"/>
                      </a:rPr>
                      <m:t>𝑎</m:t>
                    </m:r>
                  </m:oMath>
                </a14:m>
                <a:r>
                  <a:rPr lang="zh-CN" altLang="en-US" sz="2400" dirty="0">
                    <a:latin typeface="微软雅黑" panose="020B0503020204020204" pitchFamily="34" charset="-122"/>
                    <a:ea typeface="微软雅黑" panose="020B0503020204020204" pitchFamily="34" charset="-122"/>
                  </a:rPr>
                  <a:t>为边际吸收倾向	</a:t>
                </a:r>
              </a:p>
              <a:p>
                <a:pPr marL="0" indent="0">
                  <a:lnSpc>
                    <a:spcPct val="150000"/>
                  </a:lnSpc>
                  <a:spcBef>
                    <a:spcPts val="1000"/>
                  </a:spcBef>
                  <a:buNone/>
                </a:pPr>
                <a:r>
                  <a:rPr lang="zh-CN" altLang="en-US" sz="2400" dirty="0" smtClean="0">
                    <a:latin typeface="微软雅黑" panose="020B0503020204020204" pitchFamily="34" charset="-122"/>
                    <a:ea typeface="微软雅黑" panose="020B0503020204020204" pitchFamily="34" charset="-122"/>
                  </a:rPr>
                  <a:t>       则</a:t>
                </a:r>
                <a:r>
                  <a:rPr lang="zh-CN" altLang="en-US" sz="2400" dirty="0">
                    <a:latin typeface="微软雅黑" panose="020B0503020204020204" pitchFamily="34" charset="-122"/>
                    <a:ea typeface="微软雅黑" panose="020B0503020204020204" pitchFamily="34" charset="-122"/>
                  </a:rPr>
                  <a:t>本币贬值对国际收支的影响就取决于本币贬值后</a:t>
                </a:r>
                <a14:m>
                  <m:oMath xmlns:m="http://schemas.openxmlformats.org/officeDocument/2006/math">
                    <m:r>
                      <m:rPr>
                        <m:sty m:val="p"/>
                      </m:rPr>
                      <a:rPr lang="el-GR" altLang="zh-CN" sz="2400" i="1">
                        <a:latin typeface="Cambria Math" panose="02040503050406030204" pitchFamily="18" charset="0"/>
                        <a:ea typeface="Cambria Math" panose="02040503050406030204" pitchFamily="18" charset="0"/>
                      </a:rPr>
                      <m:t>Δ</m:t>
                    </m:r>
                    <m:r>
                      <a:rPr lang="en-US" altLang="zh-CN" sz="2400" i="1">
                        <a:latin typeface="Cambria Math" panose="02040503050406030204" pitchFamily="18" charset="0"/>
                        <a:ea typeface="微软雅黑" panose="020B0503020204020204" pitchFamily="34" charset="-122"/>
                      </a:rPr>
                      <m:t>𝐵</m:t>
                    </m:r>
                  </m:oMath>
                </a14:m>
                <a:r>
                  <a:rPr lang="zh-CN" altLang="en-US" sz="2400" dirty="0">
                    <a:latin typeface="微软雅黑" panose="020B0503020204020204" pitchFamily="34" charset="-122"/>
                    <a:ea typeface="微软雅黑" panose="020B0503020204020204" pitchFamily="34" charset="-122"/>
                  </a:rPr>
                  <a:t>是否大于</a:t>
                </a:r>
                <a:r>
                  <a:rPr lang="en-US" altLang="zh-CN" sz="2400" dirty="0">
                    <a:latin typeface="微软雅黑" panose="020B0503020204020204" pitchFamily="34" charset="-122"/>
                    <a:ea typeface="微软雅黑" panose="020B0503020204020204" pitchFamily="34" charset="-122"/>
                  </a:rPr>
                  <a:t>0</a:t>
                </a:r>
                <a:r>
                  <a:rPr lang="zh-CN" altLang="en-US" sz="2400" dirty="0" smtClean="0">
                    <a:latin typeface="微软雅黑" panose="020B0503020204020204" pitchFamily="34" charset="-122"/>
                    <a:ea typeface="微软雅黑" panose="020B0503020204020204" pitchFamily="34" charset="-122"/>
                  </a:rPr>
                  <a:t>：</a:t>
                </a:r>
                <a:endParaRPr lang="en-US" altLang="zh-CN" sz="2400" dirty="0" smtClean="0">
                  <a:latin typeface="微软雅黑" panose="020B0503020204020204" pitchFamily="34" charset="-122"/>
                  <a:ea typeface="微软雅黑" panose="020B0503020204020204" pitchFamily="34" charset="-122"/>
                </a:endParaRPr>
              </a:p>
              <a:p>
                <a:pPr marL="0" indent="0">
                  <a:lnSpc>
                    <a:spcPct val="150000"/>
                  </a:lnSpc>
                  <a:spcBef>
                    <a:spcPts val="1000"/>
                  </a:spcBef>
                  <a:buNone/>
                </a:pPr>
                <a14:m>
                  <m:oMathPara xmlns:m="http://schemas.openxmlformats.org/officeDocument/2006/math">
                    <m:oMathParaPr>
                      <m:jc m:val="centerGroup"/>
                    </m:oMathParaPr>
                    <m:oMath xmlns:m="http://schemas.openxmlformats.org/officeDocument/2006/math">
                      <m:r>
                        <m:rPr>
                          <m:sty m:val="p"/>
                        </m:rPr>
                        <a:rPr lang="el-GR" altLang="zh-CN" sz="2400" i="1" smtClean="0">
                          <a:latin typeface="Cambria Math" panose="02040503050406030204" pitchFamily="18" charset="0"/>
                          <a:ea typeface="Cambria Math" panose="02040503050406030204" pitchFamily="18" charset="0"/>
                        </a:rPr>
                        <m:t>Δ</m:t>
                      </m:r>
                      <m:r>
                        <a:rPr lang="en-US" altLang="zh-CN" sz="2400" i="1">
                          <a:latin typeface="Cambria Math" panose="02040503050406030204" pitchFamily="18" charset="0"/>
                          <a:ea typeface="微软雅黑" panose="020B0503020204020204" pitchFamily="34" charset="-122"/>
                        </a:rPr>
                        <m:t>𝐵</m:t>
                      </m:r>
                      <m:r>
                        <a:rPr lang="en-US" altLang="zh-CN" sz="2400" b="0" i="1" smtClean="0">
                          <a:latin typeface="Cambria Math" panose="02040503050406030204" pitchFamily="18" charset="0"/>
                          <a:ea typeface="微软雅黑" panose="020B0503020204020204" pitchFamily="34" charset="-122"/>
                        </a:rPr>
                        <m:t>=</m:t>
                      </m:r>
                      <m:r>
                        <m:rPr>
                          <m:sty m:val="p"/>
                        </m:rPr>
                        <a:rPr lang="el-GR" altLang="zh-CN" sz="2400" i="1">
                          <a:latin typeface="Cambria Math" panose="02040503050406030204" pitchFamily="18" charset="0"/>
                          <a:ea typeface="Cambria Math" panose="02040503050406030204" pitchFamily="18" charset="0"/>
                        </a:rPr>
                        <m:t>Δ</m:t>
                      </m:r>
                      <m:r>
                        <a:rPr lang="en-US" altLang="zh-CN" sz="2400" i="1">
                          <a:latin typeface="Cambria Math" panose="02040503050406030204" pitchFamily="18" charset="0"/>
                          <a:ea typeface="微软雅黑" panose="020B0503020204020204" pitchFamily="34" charset="-122"/>
                        </a:rPr>
                        <m:t>𝑌</m:t>
                      </m:r>
                      <m:r>
                        <a:rPr lang="en-US" altLang="zh-CN" sz="2400" b="0" i="1" smtClean="0">
                          <a:latin typeface="Cambria Math" panose="02040503050406030204" pitchFamily="18" charset="0"/>
                          <a:ea typeface="微软雅黑" panose="020B0503020204020204" pitchFamily="34" charset="-122"/>
                        </a:rPr>
                        <m:t>−</m:t>
                      </m:r>
                      <m:r>
                        <m:rPr>
                          <m:sty m:val="p"/>
                        </m:rPr>
                        <a:rPr lang="el-GR" altLang="zh-CN" sz="2400" i="1">
                          <a:latin typeface="Cambria Math" panose="02040503050406030204" pitchFamily="18" charset="0"/>
                          <a:ea typeface="Cambria Math" panose="02040503050406030204" pitchFamily="18" charset="0"/>
                        </a:rPr>
                        <m:t>Δ</m:t>
                      </m:r>
                      <m:r>
                        <a:rPr lang="en-US" altLang="zh-CN" sz="2400" i="1">
                          <a:latin typeface="Cambria Math" panose="02040503050406030204" pitchFamily="18" charset="0"/>
                          <a:ea typeface="微软雅黑" panose="020B0503020204020204" pitchFamily="34" charset="-122"/>
                        </a:rPr>
                        <m:t>𝐴</m:t>
                      </m:r>
                      <m:r>
                        <a:rPr lang="zh-CN" altLang="en-US" sz="2400" i="1">
                          <a:latin typeface="Cambria Math" panose="02040503050406030204" pitchFamily="18" charset="0"/>
                          <a:ea typeface="微软雅黑" panose="020B0503020204020204" pitchFamily="34" charset="-122"/>
                        </a:rPr>
                        <m:t>＝</m:t>
                      </m:r>
                      <m:d>
                        <m:dPr>
                          <m:begChr m:val="（"/>
                          <m:endChr m:val="）"/>
                          <m:ctrlPr>
                            <a:rPr lang="zh-CN" altLang="en-US" sz="2400" i="1">
                              <a:latin typeface="Cambria Math"/>
                              <a:ea typeface="微软雅黑" panose="020B0503020204020204" pitchFamily="34" charset="-122"/>
                            </a:rPr>
                          </m:ctrlPr>
                        </m:dPr>
                        <m:e>
                          <m:r>
                            <a:rPr lang="en-US" altLang="zh-CN" sz="2400" i="1">
                              <a:latin typeface="Cambria Math" panose="02040503050406030204" pitchFamily="18" charset="0"/>
                              <a:ea typeface="微软雅黑" panose="020B0503020204020204" pitchFamily="34" charset="-122"/>
                            </a:rPr>
                            <m:t>1</m:t>
                          </m:r>
                          <m:r>
                            <a:rPr lang="en-US" altLang="zh-CN" sz="2400" b="0" i="1" smtClean="0">
                              <a:latin typeface="Cambria Math" panose="02040503050406030204" pitchFamily="18" charset="0"/>
                              <a:ea typeface="微软雅黑" panose="020B0503020204020204" pitchFamily="34" charset="-122"/>
                            </a:rPr>
                            <m:t>−</m:t>
                          </m:r>
                          <m:r>
                            <a:rPr lang="en-US" altLang="zh-CN" sz="2400" i="1">
                              <a:latin typeface="Cambria Math" panose="02040503050406030204" pitchFamily="18" charset="0"/>
                              <a:ea typeface="微软雅黑" panose="020B0503020204020204" pitchFamily="34" charset="-122"/>
                            </a:rPr>
                            <m:t>𝑎</m:t>
                          </m:r>
                        </m:e>
                      </m:d>
                      <m:r>
                        <m:rPr>
                          <m:sty m:val="p"/>
                        </m:rPr>
                        <a:rPr lang="el-GR" altLang="zh-CN" sz="2400" i="1">
                          <a:latin typeface="Cambria Math" panose="02040503050406030204" pitchFamily="18" charset="0"/>
                          <a:ea typeface="Cambria Math" panose="02040503050406030204" pitchFamily="18" charset="0"/>
                        </a:rPr>
                        <m:t>Δ</m:t>
                      </m:r>
                      <m:r>
                        <a:rPr lang="en-US" altLang="zh-CN" sz="2400" i="1">
                          <a:latin typeface="Cambria Math" panose="02040503050406030204" pitchFamily="18" charset="0"/>
                          <a:ea typeface="微软雅黑" panose="020B0503020204020204" pitchFamily="34" charset="-122"/>
                        </a:rPr>
                        <m:t>𝑌</m:t>
                      </m:r>
                      <m:r>
                        <a:rPr lang="en-US" altLang="zh-CN" sz="2400" b="0" i="1" smtClean="0">
                          <a:latin typeface="Cambria Math" panose="02040503050406030204" pitchFamily="18" charset="0"/>
                          <a:ea typeface="微软雅黑" panose="020B0503020204020204" pitchFamily="34" charset="-122"/>
                        </a:rPr>
                        <m:t>−</m:t>
                      </m:r>
                      <m:r>
                        <m:rPr>
                          <m:sty m:val="p"/>
                        </m:rPr>
                        <a:rPr lang="el-GR" altLang="zh-CN" sz="2400" i="1">
                          <a:latin typeface="Cambria Math" panose="02040503050406030204" pitchFamily="18" charset="0"/>
                          <a:ea typeface="Cambria Math" panose="02040503050406030204" pitchFamily="18" charset="0"/>
                        </a:rPr>
                        <m:t>Δ</m:t>
                      </m:r>
                      <m:r>
                        <a:rPr lang="en-US" altLang="zh-CN" sz="2400" i="1">
                          <a:latin typeface="Cambria Math" panose="02040503050406030204" pitchFamily="18" charset="0"/>
                          <a:ea typeface="微软雅黑" panose="020B0503020204020204" pitchFamily="34" charset="-122"/>
                        </a:rPr>
                        <m:t>𝐷</m:t>
                      </m:r>
                    </m:oMath>
                  </m:oMathPara>
                </a14:m>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800"/>
                <a:ext cx="7618658" cy="4559300"/>
              </a:xfrm>
              <a:blipFill rotWithShape="1">
                <a:blip r:embed="rId3"/>
                <a:stretch>
                  <a:fillRect l="-1200"/>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79158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a:t>
            </a:r>
            <a:r>
              <a:rPr lang="zh-CN" altLang="en-US" dirty="0" smtClean="0"/>
              <a:t>吸收</a:t>
            </a:r>
            <a:r>
              <a:rPr lang="zh-CN" altLang="en-US" dirty="0"/>
              <a:t>分析法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800"/>
                <a:ext cx="7618658" cy="4559300"/>
              </a:xfrm>
            </p:spPr>
            <p:txBody>
              <a:bodyPr>
                <a:normAutofit fontScale="92500" lnSpcReduction="10000"/>
              </a:bodyPr>
              <a:lstStyle/>
              <a:p>
                <a:pPr marL="0" indent="0">
                  <a:lnSpc>
                    <a:spcPct val="110000"/>
                  </a:lnSpc>
                  <a:spcBef>
                    <a:spcPts val="1000"/>
                  </a:spcBef>
                  <a:buNone/>
                </a:pPr>
                <a:r>
                  <a:rPr lang="zh-CN" altLang="en-US" sz="2800" dirty="0">
                    <a:latin typeface="微软雅黑" panose="020B0503020204020204" pitchFamily="34" charset="-122"/>
                    <a:ea typeface="微软雅黑" panose="020B0503020204020204" pitchFamily="34" charset="-122"/>
                  </a:rPr>
                  <a:t>三、本币贬值对国际收支的影响</a:t>
                </a:r>
              </a:p>
              <a:p>
                <a:pPr marL="0" indent="0">
                  <a:lnSpc>
                    <a:spcPct val="110000"/>
                  </a:lnSpc>
                  <a:spcBef>
                    <a:spcPts val="1000"/>
                  </a:spcBef>
                  <a:buNone/>
                </a:pPr>
                <a:r>
                  <a:rPr lang="zh-CN" altLang="en-US" sz="2800" dirty="0" smtClean="0">
                    <a:latin typeface="微软雅黑" panose="020B0503020204020204" pitchFamily="34" charset="-122"/>
                    <a:ea typeface="微软雅黑" panose="020B0503020204020204" pitchFamily="34" charset="-122"/>
                  </a:rPr>
                  <a:t>       贬值</a:t>
                </a:r>
                <a:r>
                  <a:rPr lang="zh-CN" altLang="en-US" sz="2800" dirty="0">
                    <a:latin typeface="微软雅黑" panose="020B0503020204020204" pitchFamily="34" charset="-122"/>
                    <a:ea typeface="微软雅黑" panose="020B0503020204020204" pitchFamily="34" charset="-122"/>
                  </a:rPr>
                  <a:t>如何影响</a:t>
                </a:r>
                <a14:m>
                  <m:oMath xmlns:m="http://schemas.openxmlformats.org/officeDocument/2006/math">
                    <m:r>
                      <m:rPr>
                        <m:sty m:val="p"/>
                      </m:rPr>
                      <a:rPr lang="el-GR" altLang="zh-CN" sz="2800" i="1">
                        <a:latin typeface="Cambria Math" panose="02040503050406030204" pitchFamily="18" charset="0"/>
                        <a:ea typeface="Cambria Math" panose="02040503050406030204" pitchFamily="18" charset="0"/>
                      </a:rPr>
                      <m:t>Δ</m:t>
                    </m:r>
                    <m:r>
                      <a:rPr lang="en-US" altLang="zh-CN" sz="2800" i="1">
                        <a:latin typeface="Cambria Math" panose="02040503050406030204" pitchFamily="18" charset="0"/>
                        <a:ea typeface="微软雅黑" panose="020B0503020204020204" pitchFamily="34" charset="-122"/>
                      </a:rPr>
                      <m:t>𝑌</m:t>
                    </m:r>
                  </m:oMath>
                </a14:m>
                <a:r>
                  <a:rPr lang="zh-CN" altLang="en-US" sz="2800" dirty="0">
                    <a:latin typeface="微软雅黑" panose="020B0503020204020204" pitchFamily="34" charset="-122"/>
                    <a:ea typeface="微软雅黑" panose="020B0503020204020204" pitchFamily="34" charset="-122"/>
                  </a:rPr>
                  <a:t>：</a:t>
                </a:r>
              </a:p>
              <a:p>
                <a:pPr lvl="3">
                  <a:lnSpc>
                    <a:spcPct val="110000"/>
                  </a:lnSpc>
                  <a:spcBef>
                    <a:spcPts val="100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闲置资源效应</a:t>
                </a:r>
              </a:p>
              <a:p>
                <a:pPr lvl="3">
                  <a:lnSpc>
                    <a:spcPct val="110000"/>
                  </a:lnSpc>
                  <a:spcBef>
                    <a:spcPts val="100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贸易条件效应	</a:t>
                </a:r>
              </a:p>
              <a:p>
                <a:pPr marL="0" indent="0">
                  <a:lnSpc>
                    <a:spcPct val="110000"/>
                  </a:lnSpc>
                  <a:spcBef>
                    <a:spcPts val="1000"/>
                  </a:spcBef>
                  <a:buNone/>
                </a:pPr>
                <a:r>
                  <a:rPr lang="zh-CN" altLang="en-US" sz="2800" dirty="0" smtClean="0">
                    <a:latin typeface="微软雅黑" panose="020B0503020204020204" pitchFamily="34" charset="-122"/>
                    <a:ea typeface="微软雅黑" panose="020B0503020204020204" pitchFamily="34" charset="-122"/>
                  </a:rPr>
                  <a:t>       贬值</a:t>
                </a:r>
                <a:r>
                  <a:rPr lang="zh-CN" altLang="en-US" sz="2800" dirty="0">
                    <a:latin typeface="微软雅黑" panose="020B0503020204020204" pitchFamily="34" charset="-122"/>
                    <a:ea typeface="微软雅黑" panose="020B0503020204020204" pitchFamily="34" charset="-122"/>
                  </a:rPr>
                  <a:t>如何影响吸收：</a:t>
                </a:r>
              </a:p>
              <a:p>
                <a:pPr lvl="3">
                  <a:lnSpc>
                    <a:spcPct val="110000"/>
                  </a:lnSpc>
                  <a:spcBef>
                    <a:spcPts val="100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现金余额效应</a:t>
                </a:r>
              </a:p>
              <a:p>
                <a:pPr lvl="3">
                  <a:lnSpc>
                    <a:spcPct val="110000"/>
                  </a:lnSpc>
                  <a:spcBef>
                    <a:spcPts val="100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收入再分配效应</a:t>
                </a:r>
              </a:p>
              <a:p>
                <a:pPr lvl="3">
                  <a:lnSpc>
                    <a:spcPct val="110000"/>
                  </a:lnSpc>
                  <a:spcBef>
                    <a:spcPts val="100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货币幻觉效应</a:t>
                </a:r>
              </a:p>
              <a:p>
                <a:pPr lvl="3">
                  <a:lnSpc>
                    <a:spcPct val="110000"/>
                  </a:lnSpc>
                  <a:spcBef>
                    <a:spcPts val="100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其他效应	</a:t>
                </a:r>
              </a:p>
              <a:p>
                <a:pPr>
                  <a:lnSpc>
                    <a:spcPct val="110000"/>
                  </a:lnSpc>
                  <a:spcBef>
                    <a:spcPts val="1000"/>
                  </a:spcBef>
                </a:pPr>
                <a:endParaRPr lang="zh-CN" altLang="en-US" sz="28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800"/>
                <a:ext cx="7618658" cy="4559300"/>
              </a:xfrm>
              <a:blipFill rotWithShape="1">
                <a:blip r:embed="rId4"/>
                <a:stretch>
                  <a:fillRect l="-1360" t="-1205"/>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
        <p:nvSpPr>
          <p:cNvPr id="4" name="文本框 3"/>
          <p:cNvSpPr txBox="1"/>
          <p:nvPr/>
        </p:nvSpPr>
        <p:spPr>
          <a:xfrm>
            <a:off x="4752302" y="2125015"/>
            <a:ext cx="3837906" cy="2554545"/>
          </a:xfrm>
          <a:prstGeom prst="wedgeRectCallout">
            <a:avLst>
              <a:gd name="adj1" fmla="val -74525"/>
              <a:gd name="adj2" fmla="val -9594"/>
            </a:avLst>
          </a:prstGeom>
          <a:noFill/>
          <a:ln>
            <a:solidFill>
              <a:schemeClr val="accent1"/>
            </a:solidFill>
          </a:ln>
        </p:spPr>
        <p:txBody>
          <a:bodyPr wrap="square" rtlCol="0">
            <a:spAutoFit/>
          </a:bodyPr>
          <a:lstStyle/>
          <a:p>
            <a:r>
              <a:rPr lang="zh-CN" altLang="en-US" sz="2000" dirty="0">
                <a:solidFill>
                  <a:schemeClr val="accent1"/>
                </a:solidFill>
                <a:latin typeface="微软雅黑" panose="020B0503020204020204" pitchFamily="34" charset="-122"/>
                <a:ea typeface="微软雅黑" panose="020B0503020204020204" pitchFamily="34" charset="-122"/>
              </a:rPr>
              <a:t>贸易条件指一国出口产品的价格除以进口产品的价格，当一国货币贬值时，将使得本国生产的出口品的价格相对下降，而外国居民生产的产品（进口品）价格相对上升，造成本国的贸易条件恶化。本国产品的价格相对下降，将使得本国的实际收入下降。 </a:t>
            </a:r>
          </a:p>
        </p:txBody>
      </p:sp>
    </p:spTree>
    <p:extLst>
      <p:ext uri="{BB962C8B-B14F-4D97-AF65-F5344CB8AC3E}">
        <p14:creationId xmlns:p14="http://schemas.microsoft.com/office/powerpoint/2010/main" val="1431275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500"/>
                                        <p:tgtEl>
                                          <p:spTgt spid="4"/>
                                        </p:tgtEl>
                                      </p:cBhvr>
                                    </p:animEffect>
                                    <p:set>
                                      <p:cBhvr>
                                        <p:cTn id="23" dur="1" fill="hold">
                                          <p:stCondLst>
                                            <p:cond delay="499"/>
                                          </p:stCondLst>
                                        </p:cTn>
                                        <p:tgtEl>
                                          <p:spTgt spid="4"/>
                                        </p:tgtEl>
                                        <p:attrNameLst>
                                          <p:attrName>style.visibility</p:attrName>
                                        </p:attrNameLst>
                                      </p:cBhvr>
                                      <p:to>
                                        <p:strVal val="hidden"/>
                                      </p:to>
                                    </p:set>
                                  </p:childTnLst>
                                </p:cTn>
                              </p:par>
                              <p:par>
                                <p:cTn id="24" presetID="10"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a:t>
            </a:r>
            <a:r>
              <a:rPr lang="zh-CN" altLang="en-US" dirty="0" smtClean="0"/>
              <a:t>吸收</a:t>
            </a:r>
            <a:r>
              <a:rPr lang="zh-CN" altLang="en-US" dirty="0"/>
              <a:t>分析法</a:t>
            </a:r>
          </a:p>
        </p:txBody>
      </p:sp>
      <p:sp>
        <p:nvSpPr>
          <p:cNvPr id="3" name="内容占位符 2"/>
          <p:cNvSpPr>
            <a:spLocks noGrp="1"/>
          </p:cNvSpPr>
          <p:nvPr>
            <p:ph idx="1"/>
          </p:nvPr>
        </p:nvSpPr>
        <p:spPr>
          <a:xfrm>
            <a:off x="971550" y="1447800"/>
            <a:ext cx="7618658" cy="4559300"/>
          </a:xfrm>
        </p:spPr>
        <p:txBody>
          <a:bodyPr>
            <a:normAutofit/>
          </a:bodyPr>
          <a:lstStyle/>
          <a:p>
            <a:pPr>
              <a:lnSpc>
                <a:spcPct val="100000"/>
              </a:lnSpc>
              <a:spcBef>
                <a:spcPts val="1000"/>
              </a:spcBef>
              <a:buNone/>
            </a:pPr>
            <a:r>
              <a:rPr lang="zh-CN" altLang="en-US" sz="2800" dirty="0">
                <a:latin typeface="微软雅黑" panose="020B0503020204020204" pitchFamily="34" charset="-122"/>
                <a:ea typeface="微软雅黑" panose="020B0503020204020204" pitchFamily="34" charset="-122"/>
              </a:rPr>
              <a:t>四、</a:t>
            </a:r>
            <a:r>
              <a:rPr lang="zh-CN" altLang="en-US" sz="2800" dirty="0" smtClean="0">
                <a:latin typeface="微软雅黑" panose="020B0503020204020204" pitchFamily="34" charset="-122"/>
                <a:ea typeface="微软雅黑" panose="020B0503020204020204" pitchFamily="34" charset="-122"/>
              </a:rPr>
              <a:t>吸收</a:t>
            </a:r>
            <a:r>
              <a:rPr altLang="en-US" sz="2800" dirty="0" smtClean="0">
                <a:latin typeface="微软雅黑" panose="020B0503020204020204" pitchFamily="34" charset="-122"/>
                <a:ea typeface="微软雅黑" panose="020B0503020204020204" pitchFamily="34" charset="-122"/>
              </a:rPr>
              <a:t>分析法的评价</a:t>
            </a:r>
            <a:endParaRPr lang="zh-CN" altLang="en-US" sz="2800" dirty="0">
              <a:latin typeface="微软雅黑" panose="020B0503020204020204" pitchFamily="34" charset="-122"/>
              <a:ea typeface="微软雅黑" panose="020B0503020204020204" pitchFamily="34" charset="-122"/>
            </a:endParaRPr>
          </a:p>
          <a:p>
            <a:pPr>
              <a:lnSpc>
                <a:spcPct val="120000"/>
              </a:lnSpc>
              <a:spcBef>
                <a:spcPts val="1000"/>
              </a:spcBef>
            </a:pPr>
            <a:r>
              <a:rPr altLang="en-US" dirty="0" smtClean="0">
                <a:solidFill>
                  <a:srgbClr val="0070C0"/>
                </a:solidFill>
              </a:rPr>
              <a:t>吸收法是从总收入与总吸收</a:t>
            </a:r>
            <a:r>
              <a:rPr lang="en-US" altLang="zh-CN" dirty="0" smtClean="0">
                <a:solidFill>
                  <a:srgbClr val="0070C0"/>
                </a:solidFill>
              </a:rPr>
              <a:t>(</a:t>
            </a:r>
            <a:r>
              <a:rPr altLang="en-US" dirty="0" smtClean="0">
                <a:solidFill>
                  <a:srgbClr val="0070C0"/>
                </a:solidFill>
              </a:rPr>
              <a:t>总支出或总需求</a:t>
            </a:r>
            <a:r>
              <a:rPr lang="en-US" altLang="zh-CN" dirty="0" smtClean="0">
                <a:solidFill>
                  <a:srgbClr val="0070C0"/>
                </a:solidFill>
              </a:rPr>
              <a:t>)</a:t>
            </a:r>
            <a:r>
              <a:rPr altLang="en-US" dirty="0" smtClean="0">
                <a:solidFill>
                  <a:srgbClr val="0070C0"/>
                </a:solidFill>
              </a:rPr>
              <a:t>的相对关系中来考察国际收支失衡的原因，是建立在凯恩斯的宏观经济学之上的，采用的是一般均衡分析方法；而弹性论是从相对价格关系出发，是建立在马歇尔等人建立的微观经济学基础之上的，采用的是局部均衡分析方法。</a:t>
            </a:r>
            <a:endParaRPr lang="en-US" altLang="en-US" dirty="0" smtClean="0">
              <a:solidFill>
                <a:srgbClr val="0070C0"/>
              </a:solidFill>
            </a:endParaRPr>
          </a:p>
          <a:p>
            <a:pPr>
              <a:lnSpc>
                <a:spcPct val="120000"/>
              </a:lnSpc>
              <a:spcBef>
                <a:spcPts val="1000"/>
              </a:spcBef>
            </a:pPr>
            <a:r>
              <a:rPr altLang="en-US" dirty="0" smtClean="0">
                <a:solidFill>
                  <a:srgbClr val="0070C0"/>
                </a:solidFill>
              </a:rPr>
              <a:t>就贬值的效应来讲，吸收论是从贬值对国民收入和国内吸收的相对影响中来考察贬值对国际收支的影响的，而弹性论则是从价格与需求的相对关系中来考察贬值对国际收支的影响的。</a:t>
            </a:r>
            <a:endParaRPr altLang="en-US" dirty="0">
              <a:solidFill>
                <a:srgbClr val="0070C0"/>
              </a:solidFill>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079429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第三节	</a:t>
            </a:r>
            <a:r>
              <a:rPr lang="zh-CN" altLang="en-US" dirty="0" smtClean="0"/>
              <a:t>吸收</a:t>
            </a:r>
            <a:r>
              <a:rPr lang="zh-CN" altLang="en-US" dirty="0"/>
              <a:t>分析法</a:t>
            </a:r>
          </a:p>
        </p:txBody>
      </p:sp>
      <p:sp>
        <p:nvSpPr>
          <p:cNvPr id="3" name="内容占位符 2"/>
          <p:cNvSpPr>
            <a:spLocks noGrp="1"/>
          </p:cNvSpPr>
          <p:nvPr>
            <p:ph idx="1"/>
          </p:nvPr>
        </p:nvSpPr>
        <p:spPr>
          <a:xfrm>
            <a:off x="971550" y="1447799"/>
            <a:ext cx="7618658" cy="4862689"/>
          </a:xfrm>
        </p:spPr>
        <p:txBody>
          <a:bodyPr>
            <a:normAutofit fontScale="85000" lnSpcReduction="20000"/>
          </a:bodyPr>
          <a:lstStyle/>
          <a:p>
            <a:pPr>
              <a:lnSpc>
                <a:spcPct val="100000"/>
              </a:lnSpc>
              <a:spcBef>
                <a:spcPts val="1000"/>
              </a:spcBef>
              <a:buNone/>
            </a:pPr>
            <a:r>
              <a:rPr lang="zh-CN" altLang="en-US" sz="2800" dirty="0">
                <a:latin typeface="微软雅黑" panose="020B0503020204020204" pitchFamily="34" charset="-122"/>
                <a:ea typeface="微软雅黑" panose="020B0503020204020204" pitchFamily="34" charset="-122"/>
              </a:rPr>
              <a:t>四、</a:t>
            </a:r>
            <a:r>
              <a:rPr lang="zh-CN" altLang="en-US" sz="2800" dirty="0" smtClean="0">
                <a:latin typeface="微软雅黑" panose="020B0503020204020204" pitchFamily="34" charset="-122"/>
                <a:ea typeface="微软雅黑" panose="020B0503020204020204" pitchFamily="34" charset="-122"/>
              </a:rPr>
              <a:t>吸收</a:t>
            </a:r>
            <a:r>
              <a:rPr altLang="en-US" sz="2800" dirty="0" smtClean="0">
                <a:latin typeface="微软雅黑" panose="020B0503020204020204" pitchFamily="34" charset="-122"/>
                <a:ea typeface="微软雅黑" panose="020B0503020204020204" pitchFamily="34" charset="-122"/>
              </a:rPr>
              <a:t>分析法的评价</a:t>
            </a:r>
            <a:endParaRPr lang="zh-CN" altLang="en-US" sz="2800" dirty="0">
              <a:latin typeface="微软雅黑" panose="020B0503020204020204" pitchFamily="34" charset="-122"/>
              <a:ea typeface="微软雅黑" panose="020B0503020204020204" pitchFamily="34" charset="-122"/>
            </a:endParaRPr>
          </a:p>
          <a:p>
            <a:pPr>
              <a:lnSpc>
                <a:spcPct val="140000"/>
              </a:lnSpc>
              <a:spcBef>
                <a:spcPts val="1000"/>
              </a:spcBef>
            </a:pPr>
            <a:r>
              <a:rPr altLang="en-US" sz="2400" dirty="0" smtClean="0">
                <a:solidFill>
                  <a:srgbClr val="0070C0"/>
                </a:solidFill>
              </a:rPr>
              <a:t>吸收论含有强烈的政策搭配取向。逆差时，若国内存有闲置资源</a:t>
            </a:r>
            <a:r>
              <a:rPr lang="en-US" altLang="zh-CN" sz="2400" dirty="0" smtClean="0">
                <a:solidFill>
                  <a:srgbClr val="0070C0"/>
                </a:solidFill>
              </a:rPr>
              <a:t>(</a:t>
            </a:r>
            <a:r>
              <a:rPr altLang="en-US" sz="2400" dirty="0" smtClean="0">
                <a:solidFill>
                  <a:srgbClr val="0070C0"/>
                </a:solidFill>
              </a:rPr>
              <a:t>衰退和非充分就业时</a:t>
            </a:r>
            <a:r>
              <a:rPr lang="en-US" altLang="zh-CN" sz="2400" dirty="0" smtClean="0">
                <a:solidFill>
                  <a:srgbClr val="0070C0"/>
                </a:solidFill>
              </a:rPr>
              <a:t>)</a:t>
            </a:r>
            <a:r>
              <a:rPr altLang="en-US" sz="2400" dirty="0" smtClean="0">
                <a:solidFill>
                  <a:srgbClr val="0070C0"/>
                </a:solidFill>
              </a:rPr>
              <a:t>，应采用扩张型财政货币政策来增加收入</a:t>
            </a:r>
            <a:r>
              <a:rPr lang="en-US" altLang="zh-CN" sz="2400" dirty="0" smtClean="0">
                <a:solidFill>
                  <a:srgbClr val="0070C0"/>
                </a:solidFill>
              </a:rPr>
              <a:t>(</a:t>
            </a:r>
            <a:r>
              <a:rPr altLang="en-US" sz="2400" dirty="0" smtClean="0">
                <a:solidFill>
                  <a:srgbClr val="0070C0"/>
                </a:solidFill>
              </a:rPr>
              <a:t>生产和出口</a:t>
            </a:r>
            <a:r>
              <a:rPr lang="en-US" altLang="zh-CN" sz="2400" dirty="0" smtClean="0">
                <a:solidFill>
                  <a:srgbClr val="0070C0"/>
                </a:solidFill>
              </a:rPr>
              <a:t>);</a:t>
            </a:r>
            <a:r>
              <a:rPr altLang="en-US" sz="2400" dirty="0" smtClean="0">
                <a:solidFill>
                  <a:srgbClr val="0070C0"/>
                </a:solidFill>
              </a:rPr>
              <a:t>若国内各项资源已达充分就业、经济处于膨胀时，应采用紧缩型财政货币政策来减少吸收（需求），从而使内部经济和外部经济同时达到平衡。</a:t>
            </a:r>
            <a:endParaRPr lang="en-US" altLang="en-US" sz="2400" dirty="0" smtClean="0">
              <a:solidFill>
                <a:srgbClr val="0070C0"/>
              </a:solidFill>
            </a:endParaRPr>
          </a:p>
          <a:p>
            <a:pPr>
              <a:lnSpc>
                <a:spcPct val="120000"/>
              </a:lnSpc>
              <a:spcBef>
                <a:spcPts val="1000"/>
              </a:spcBef>
              <a:buNone/>
            </a:pPr>
            <a:endParaRPr lang="en-US" altLang="en-US" sz="2200" dirty="0" smtClean="0">
              <a:solidFill>
                <a:srgbClr val="0070C0"/>
              </a:solidFill>
            </a:endParaRPr>
          </a:p>
          <a:p>
            <a:pPr>
              <a:lnSpc>
                <a:spcPct val="120000"/>
              </a:lnSpc>
              <a:spcBef>
                <a:spcPts val="1000"/>
              </a:spcBef>
            </a:pPr>
            <a:r>
              <a:rPr altLang="en-US" b="1" dirty="0" smtClean="0">
                <a:solidFill>
                  <a:schemeClr val="tx1">
                    <a:lumMod val="95000"/>
                    <a:lumOff val="5000"/>
                  </a:schemeClr>
                </a:solidFill>
              </a:rPr>
              <a:t>缺陷（思考）</a:t>
            </a:r>
            <a:endParaRPr lang="en-US" altLang="en-US" b="1" dirty="0" smtClean="0">
              <a:solidFill>
                <a:schemeClr val="tx1">
                  <a:lumMod val="95000"/>
                  <a:lumOff val="5000"/>
                </a:schemeClr>
              </a:solidFill>
            </a:endParaRPr>
          </a:p>
          <a:p>
            <a:pPr lvl="2">
              <a:lnSpc>
                <a:spcPct val="100000"/>
              </a:lnSpc>
              <a:spcBef>
                <a:spcPts val="1000"/>
              </a:spcBef>
            </a:pPr>
            <a:r>
              <a:rPr altLang="en-US" sz="2400" dirty="0" smtClean="0">
                <a:latin typeface="微软雅黑" panose="020B0503020204020204" pitchFamily="34" charset="-122"/>
                <a:ea typeface="微软雅黑" panose="020B0503020204020204" pitchFamily="34" charset="-122"/>
              </a:rPr>
              <a:t>因果关系的论证缺乏依据</a:t>
            </a:r>
          </a:p>
          <a:p>
            <a:pPr lvl="2">
              <a:lnSpc>
                <a:spcPct val="100000"/>
              </a:lnSpc>
              <a:spcBef>
                <a:spcPts val="1000"/>
              </a:spcBef>
            </a:pPr>
            <a:r>
              <a:rPr altLang="en-US" sz="2400" dirty="0" smtClean="0">
                <a:latin typeface="微软雅黑" panose="020B0503020204020204" pitchFamily="34" charset="-122"/>
                <a:ea typeface="微软雅黑" panose="020B0503020204020204" pitchFamily="34" charset="-122"/>
              </a:rPr>
              <a:t>完全没有考虑相对价格效应</a:t>
            </a:r>
          </a:p>
          <a:p>
            <a:pPr lvl="2">
              <a:lnSpc>
                <a:spcPct val="100000"/>
              </a:lnSpc>
              <a:spcBef>
                <a:spcPts val="1000"/>
              </a:spcBef>
            </a:pPr>
            <a:r>
              <a:rPr altLang="en-US" sz="2400" dirty="0" smtClean="0">
                <a:latin typeface="微软雅黑" panose="020B0503020204020204" pitchFamily="34" charset="-122"/>
                <a:ea typeface="微软雅黑" panose="020B0503020204020204" pitchFamily="34" charset="-122"/>
              </a:rPr>
              <a:t>单一国家模型</a:t>
            </a:r>
          </a:p>
          <a:p>
            <a:pPr lvl="2">
              <a:lnSpc>
                <a:spcPct val="100000"/>
              </a:lnSpc>
              <a:spcBef>
                <a:spcPts val="1000"/>
              </a:spcBef>
            </a:pPr>
            <a:r>
              <a:rPr altLang="en-US" sz="2400" dirty="0" smtClean="0">
                <a:latin typeface="微软雅黑" panose="020B0503020204020204" pitchFamily="34" charset="-122"/>
                <a:ea typeface="微软雅黑" panose="020B0503020204020204" pitchFamily="34" charset="-122"/>
              </a:rPr>
              <a:t>没有涉及国际资本流动</a:t>
            </a:r>
          </a:p>
          <a:p>
            <a:pPr lvl="1">
              <a:lnSpc>
                <a:spcPct val="120000"/>
              </a:lnSpc>
              <a:spcBef>
                <a:spcPts val="1000"/>
              </a:spcBef>
            </a:pPr>
            <a:endParaRPr altLang="en-US" dirty="0">
              <a:solidFill>
                <a:srgbClr val="0070C0"/>
              </a:solidFill>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079429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a:t>
            </a:r>
            <a:r>
              <a:rPr lang="zh-CN" altLang="en-US" dirty="0" smtClean="0"/>
              <a:t>货币</a:t>
            </a:r>
            <a:r>
              <a:rPr lang="zh-CN" altLang="en-US" dirty="0"/>
              <a:t>分析法</a:t>
            </a:r>
          </a:p>
        </p:txBody>
      </p:sp>
      <p:sp>
        <p:nvSpPr>
          <p:cNvPr id="3" name="内容占位符 2"/>
          <p:cNvSpPr>
            <a:spLocks noGrp="1"/>
          </p:cNvSpPr>
          <p:nvPr>
            <p:ph idx="1"/>
          </p:nvPr>
        </p:nvSpPr>
        <p:spPr>
          <a:xfrm>
            <a:off x="971550" y="1447800"/>
            <a:ext cx="7618658" cy="4559300"/>
          </a:xfrm>
        </p:spPr>
        <p:txBody>
          <a:bodyPr>
            <a:normAutofit fontScale="92500"/>
          </a:bodyPr>
          <a:lstStyle/>
          <a:p>
            <a:pPr>
              <a:lnSpc>
                <a:spcPct val="150000"/>
              </a:lnSpc>
              <a:spcBef>
                <a:spcPts val="1000"/>
              </a:spcBef>
              <a:buNone/>
            </a:pPr>
            <a:r>
              <a:rPr lang="zh-CN" altLang="en-US" sz="2400" dirty="0">
                <a:latin typeface="微软雅黑" panose="020B0503020204020204" pitchFamily="34" charset="-122"/>
                <a:ea typeface="微软雅黑" panose="020B0503020204020204" pitchFamily="34" charset="-122"/>
              </a:rPr>
              <a:t>一、货币论与弹性论、乘数论和吸收论的区别</a:t>
            </a:r>
          </a:p>
          <a:p>
            <a:pPr>
              <a:lnSpc>
                <a:spcPct val="150000"/>
              </a:lnSpc>
              <a:spcBef>
                <a:spcPts val="1000"/>
              </a:spcBef>
            </a:pPr>
            <a:endParaRPr lang="en-US" altLang="zh-CN" sz="2400" dirty="0" smtClean="0">
              <a:latin typeface="微软雅黑" panose="020B0503020204020204" pitchFamily="34" charset="-122"/>
              <a:ea typeface="微软雅黑" panose="020B0503020204020204" pitchFamily="34" charset="-122"/>
            </a:endParaRPr>
          </a:p>
          <a:p>
            <a:pPr marL="0" indent="0">
              <a:lnSpc>
                <a:spcPct val="150000"/>
              </a:lnSpc>
              <a:spcBef>
                <a:spcPts val="1000"/>
              </a:spcBef>
              <a:buNone/>
            </a:pPr>
            <a:r>
              <a:rPr lang="zh-CN" altLang="en-US" sz="2400" dirty="0">
                <a:latin typeface="微软雅黑" panose="020B0503020204020204" pitchFamily="34" charset="-122"/>
                <a:ea typeface="微软雅黑" panose="020B0503020204020204" pitchFamily="34" charset="-122"/>
              </a:rPr>
              <a:t>	弹性论、乘数论和吸收论强调的是商品市场流量均衡在国际收支调整中的作用，货币论强调货币市场存量均衡的作用；</a:t>
            </a:r>
          </a:p>
          <a:p>
            <a:pPr marL="0" indent="0">
              <a:lnSpc>
                <a:spcPct val="150000"/>
              </a:lnSpc>
              <a:spcBef>
                <a:spcPts val="1000"/>
              </a:spcBef>
              <a:buNone/>
            </a:pPr>
            <a:r>
              <a:rPr lang="zh-CN" altLang="en-US" sz="2400" dirty="0">
                <a:latin typeface="微软雅黑" panose="020B0503020204020204" pitchFamily="34" charset="-122"/>
                <a:ea typeface="微软雅黑" panose="020B0503020204020204" pitchFamily="34" charset="-122"/>
              </a:rPr>
              <a:t>	弹性论、乘数论和吸收论注重经常账户交易，强调贸易差额，而货币论则将国际资本流动作为考察对象，强调综合差额</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379195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a:t>
            </a:r>
            <a:r>
              <a:rPr lang="zh-CN" altLang="en-US" dirty="0" smtClean="0"/>
              <a:t>货币</a:t>
            </a:r>
            <a:r>
              <a:rPr lang="zh-CN" altLang="en-US" dirty="0"/>
              <a:t>分析法</a:t>
            </a:r>
          </a:p>
        </p:txBody>
      </p:sp>
      <p:sp>
        <p:nvSpPr>
          <p:cNvPr id="3" name="内容占位符 2"/>
          <p:cNvSpPr>
            <a:spLocks noGrp="1"/>
          </p:cNvSpPr>
          <p:nvPr>
            <p:ph idx="1"/>
          </p:nvPr>
        </p:nvSpPr>
        <p:spPr>
          <a:xfrm>
            <a:off x="971550" y="1447800"/>
            <a:ext cx="7618658" cy="4559300"/>
          </a:xfrm>
        </p:spPr>
        <p:txBody>
          <a:bodyPr>
            <a:normAutofit/>
          </a:bodyPr>
          <a:lstStyle/>
          <a:p>
            <a:pPr>
              <a:lnSpc>
                <a:spcPct val="150000"/>
              </a:lnSpc>
              <a:spcBef>
                <a:spcPts val="1000"/>
              </a:spcBef>
              <a:buNone/>
            </a:pPr>
            <a:r>
              <a:rPr lang="zh-CN" altLang="en-US" sz="2400" dirty="0">
                <a:latin typeface="微软雅黑" panose="020B0503020204020204" pitchFamily="34" charset="-122"/>
                <a:ea typeface="微软雅黑" panose="020B0503020204020204" pitchFamily="34" charset="-122"/>
              </a:rPr>
              <a:t>一、货币论与弹性论、乘数论和吸收论的区别</a:t>
            </a:r>
          </a:p>
          <a:p>
            <a:pPr>
              <a:lnSpc>
                <a:spcPct val="150000"/>
              </a:lnSpc>
              <a:spcBef>
                <a:spcPts val="1000"/>
              </a:spcBef>
            </a:pPr>
            <a:endParaRPr lang="en-US" altLang="zh-CN" sz="2400" dirty="0" smtClean="0">
              <a:latin typeface="微软雅黑" panose="020B0503020204020204" pitchFamily="34" charset="-122"/>
              <a:ea typeface="微软雅黑" panose="020B0503020204020204" pitchFamily="34" charset="-122"/>
            </a:endParaRPr>
          </a:p>
          <a:p>
            <a:pPr marL="0" indent="0">
              <a:lnSpc>
                <a:spcPct val="150000"/>
              </a:lnSpc>
              <a:spcBef>
                <a:spcPts val="1000"/>
              </a:spcBef>
              <a:buNone/>
            </a:pPr>
            <a:r>
              <a:rPr lang="zh-CN" altLang="en-US" sz="2400" dirty="0">
                <a:latin typeface="微软雅黑" panose="020B0503020204020204" pitchFamily="34" charset="-122"/>
                <a:ea typeface="微软雅黑" panose="020B0503020204020204" pitchFamily="34" charset="-122"/>
              </a:rPr>
              <a:t>	弹性论、乘数论和吸收论注重对线上项目的分析，而货币论则主张从线下项目分析国际收支，通过分析线下的国际储备的变化来分析国际收支。</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864532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a:t>
            </a:r>
            <a:r>
              <a:rPr lang="zh-CN" altLang="en-US" dirty="0" smtClean="0"/>
              <a:t>货币</a:t>
            </a:r>
            <a:r>
              <a:rPr lang="zh-CN" altLang="en-US" dirty="0"/>
              <a:t>分析法</a:t>
            </a:r>
          </a:p>
        </p:txBody>
      </p:sp>
      <p:sp>
        <p:nvSpPr>
          <p:cNvPr id="3" name="内容占位符 2"/>
          <p:cNvSpPr>
            <a:spLocks noGrp="1"/>
          </p:cNvSpPr>
          <p:nvPr>
            <p:ph idx="1"/>
          </p:nvPr>
        </p:nvSpPr>
        <p:spPr>
          <a:xfrm>
            <a:off x="971550" y="1447800"/>
            <a:ext cx="7618658" cy="4559300"/>
          </a:xfrm>
        </p:spPr>
        <p:txBody>
          <a:bodyPr>
            <a:normAutofit/>
          </a:bodyPr>
          <a:lstStyle/>
          <a:p>
            <a:pPr>
              <a:lnSpc>
                <a:spcPct val="100000"/>
              </a:lnSpc>
              <a:spcBef>
                <a:spcPts val="1000"/>
              </a:spcBef>
              <a:buNone/>
            </a:pPr>
            <a:r>
              <a:rPr altLang="en-US" sz="2400" dirty="0">
                <a:latin typeface="微软雅黑" panose="020B0503020204020204" pitchFamily="34" charset="-122"/>
                <a:ea typeface="微软雅黑" panose="020B0503020204020204" pitchFamily="34" charset="-122"/>
              </a:rPr>
              <a:t>二</a:t>
            </a:r>
            <a:r>
              <a:rPr lang="zh-CN" altLang="en-US" sz="2400" dirty="0" smtClean="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货币</a:t>
            </a:r>
            <a:r>
              <a:rPr lang="zh-CN" altLang="en-US" sz="2400" dirty="0" smtClean="0">
                <a:latin typeface="微软雅黑" panose="020B0503020204020204" pitchFamily="34" charset="-122"/>
                <a:ea typeface="微软雅黑" panose="020B0503020204020204" pitchFamily="34" charset="-122"/>
              </a:rPr>
              <a:t>论</a:t>
            </a:r>
            <a:r>
              <a:rPr altLang="en-US" sz="2400" dirty="0" smtClean="0">
                <a:latin typeface="微软雅黑" panose="020B0503020204020204" pitchFamily="34" charset="-122"/>
                <a:ea typeface="微软雅黑" panose="020B0503020204020204" pitchFamily="34" charset="-122"/>
              </a:rPr>
              <a:t>的主要内容</a:t>
            </a:r>
            <a:endParaRPr lang="en-US" altLang="en-US" sz="2400" dirty="0" smtClean="0">
              <a:latin typeface="微软雅黑" panose="020B0503020204020204" pitchFamily="34" charset="-122"/>
              <a:ea typeface="微软雅黑" panose="020B0503020204020204" pitchFamily="34" charset="-122"/>
            </a:endParaRPr>
          </a:p>
          <a:p>
            <a:pPr>
              <a:lnSpc>
                <a:spcPct val="100000"/>
              </a:lnSpc>
              <a:spcBef>
                <a:spcPts val="1000"/>
              </a:spcBef>
              <a:buNone/>
            </a:pPr>
            <a:endParaRPr lang="en-US" altLang="en-US" sz="2400" dirty="0" smtClean="0">
              <a:latin typeface="微软雅黑" panose="020B0503020204020204" pitchFamily="34" charset="-122"/>
              <a:ea typeface="微软雅黑" panose="020B0503020204020204" pitchFamily="34" charset="-122"/>
            </a:endParaRPr>
          </a:p>
          <a:p>
            <a:pPr>
              <a:lnSpc>
                <a:spcPct val="100000"/>
              </a:lnSpc>
              <a:spcBef>
                <a:spcPts val="1000"/>
              </a:spcBef>
              <a:buNone/>
            </a:pPr>
            <a:r>
              <a:rPr altLang="en-US" sz="2400" dirty="0" smtClean="0">
                <a:latin typeface="微软雅黑" panose="020B0503020204020204" pitchFamily="34" charset="-122"/>
                <a:ea typeface="微软雅黑" panose="020B0503020204020204" pitchFamily="34" charset="-122"/>
              </a:rPr>
              <a:t>基本假定：</a:t>
            </a:r>
            <a:endParaRPr lang="en-US" altLang="en-US" sz="2400" dirty="0" smtClean="0">
              <a:latin typeface="微软雅黑" panose="020B0503020204020204" pitchFamily="34" charset="-122"/>
              <a:ea typeface="微软雅黑" panose="020B0503020204020204" pitchFamily="34" charset="-122"/>
            </a:endParaRPr>
          </a:p>
          <a:p>
            <a:pPr>
              <a:lnSpc>
                <a:spcPct val="120000"/>
              </a:lnSpc>
              <a:buNone/>
            </a:pPr>
            <a:r>
              <a:rPr lang="en-US" altLang="zh-CN" dirty="0" smtClean="0"/>
              <a:t>	</a:t>
            </a:r>
            <a:r>
              <a:rPr altLang="en-US" dirty="0" smtClean="0"/>
              <a:t>（</a:t>
            </a:r>
            <a:r>
              <a:rPr lang="en-US" altLang="zh-CN" dirty="0" smtClean="0"/>
              <a:t>1</a:t>
            </a:r>
            <a:r>
              <a:rPr altLang="en-US" dirty="0" smtClean="0"/>
              <a:t>）在充分就业均衡状态下，一国的实际货币需求是收入和利率等变量的稳定函数。</a:t>
            </a:r>
          </a:p>
          <a:p>
            <a:pPr>
              <a:lnSpc>
                <a:spcPct val="120000"/>
              </a:lnSpc>
              <a:buNone/>
            </a:pPr>
            <a:r>
              <a:rPr lang="en-US" altLang="en-US" dirty="0" smtClean="0"/>
              <a:t>   </a:t>
            </a:r>
            <a:r>
              <a:rPr altLang="en-US" dirty="0" smtClean="0"/>
              <a:t>（</a:t>
            </a:r>
            <a:r>
              <a:rPr lang="en-US" altLang="zh-CN" dirty="0" smtClean="0"/>
              <a:t>2</a:t>
            </a:r>
            <a:r>
              <a:rPr altLang="en-US" dirty="0" smtClean="0"/>
              <a:t>）长期看，货币需求是稳定的，货币供给变动不影响实物产量。</a:t>
            </a:r>
          </a:p>
          <a:p>
            <a:pPr>
              <a:lnSpc>
                <a:spcPct val="120000"/>
              </a:lnSpc>
              <a:buNone/>
            </a:pPr>
            <a:r>
              <a:rPr lang="en-US" altLang="zh-CN" dirty="0" smtClean="0"/>
              <a:t>	</a:t>
            </a:r>
            <a:r>
              <a:rPr altLang="en-US" dirty="0" smtClean="0"/>
              <a:t>（</a:t>
            </a:r>
            <a:r>
              <a:rPr lang="en-US" altLang="zh-CN" dirty="0" smtClean="0"/>
              <a:t>3</a:t>
            </a:r>
            <a:r>
              <a:rPr altLang="en-US" dirty="0" smtClean="0"/>
              <a:t>）贸易商品的价格是由世界市场决定的，从长期来看，一国的价格水平和利率水平接近世界市场水平。</a:t>
            </a: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864532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a:t>
            </a:r>
            <a:r>
              <a:rPr lang="zh-CN" altLang="en-US" dirty="0" smtClean="0"/>
              <a:t>货币</a:t>
            </a:r>
            <a:r>
              <a:rPr lang="zh-CN" altLang="en-US" dirty="0"/>
              <a:t>分析法</a:t>
            </a:r>
          </a:p>
        </p:txBody>
      </p:sp>
      <p:sp>
        <p:nvSpPr>
          <p:cNvPr id="3" name="内容占位符 2"/>
          <p:cNvSpPr>
            <a:spLocks noGrp="1"/>
          </p:cNvSpPr>
          <p:nvPr>
            <p:ph idx="1"/>
          </p:nvPr>
        </p:nvSpPr>
        <p:spPr>
          <a:xfrm>
            <a:off x="971550" y="1447800"/>
            <a:ext cx="7618658" cy="4559300"/>
          </a:xfrm>
        </p:spPr>
        <p:txBody>
          <a:bodyPr>
            <a:normAutofit/>
          </a:bodyPr>
          <a:lstStyle/>
          <a:p>
            <a:pPr>
              <a:lnSpc>
                <a:spcPct val="100000"/>
              </a:lnSpc>
              <a:spcBef>
                <a:spcPts val="1000"/>
              </a:spcBef>
              <a:buNone/>
            </a:pPr>
            <a:r>
              <a:rPr altLang="en-US" sz="2400" dirty="0">
                <a:latin typeface="微软雅黑" panose="020B0503020204020204" pitchFamily="34" charset="-122"/>
                <a:ea typeface="微软雅黑" panose="020B0503020204020204" pitchFamily="34" charset="-122"/>
              </a:rPr>
              <a:t>二</a:t>
            </a:r>
            <a:r>
              <a:rPr lang="zh-CN" altLang="en-US" sz="2400" dirty="0" smtClean="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货币</a:t>
            </a:r>
            <a:r>
              <a:rPr lang="zh-CN" altLang="en-US" sz="2400" dirty="0" smtClean="0">
                <a:latin typeface="微软雅黑" panose="020B0503020204020204" pitchFamily="34" charset="-122"/>
                <a:ea typeface="微软雅黑" panose="020B0503020204020204" pitchFamily="34" charset="-122"/>
              </a:rPr>
              <a:t>论</a:t>
            </a:r>
            <a:r>
              <a:rPr altLang="en-US" sz="2400" dirty="0" smtClean="0">
                <a:latin typeface="微软雅黑" panose="020B0503020204020204" pitchFamily="34" charset="-122"/>
                <a:ea typeface="微软雅黑" panose="020B0503020204020204" pitchFamily="34" charset="-122"/>
              </a:rPr>
              <a:t>的主要内容</a:t>
            </a:r>
            <a:endParaRPr lang="en-US" altLang="en-US" sz="2400" dirty="0" smtClean="0">
              <a:latin typeface="微软雅黑" panose="020B0503020204020204" pitchFamily="34" charset="-122"/>
              <a:ea typeface="微软雅黑" panose="020B0503020204020204" pitchFamily="34" charset="-122"/>
            </a:endParaRPr>
          </a:p>
          <a:p>
            <a:pPr>
              <a:lnSpc>
                <a:spcPct val="100000"/>
              </a:lnSpc>
              <a:spcBef>
                <a:spcPts val="1000"/>
              </a:spcBef>
              <a:buNone/>
            </a:pPr>
            <a:endParaRPr lang="en-US" altLang="en-US" sz="2400" dirty="0" smtClean="0">
              <a:latin typeface="微软雅黑" panose="020B0503020204020204" pitchFamily="34" charset="-122"/>
              <a:ea typeface="微软雅黑" panose="020B0503020204020204" pitchFamily="34" charset="-122"/>
            </a:endParaRPr>
          </a:p>
          <a:p>
            <a:pPr>
              <a:lnSpc>
                <a:spcPct val="100000"/>
              </a:lnSpc>
              <a:spcBef>
                <a:spcPts val="1000"/>
              </a:spcBef>
              <a:buNone/>
            </a:pPr>
            <a:r>
              <a:rPr lang="en-US" altLang="en-US" sz="2400" dirty="0" smtClean="0">
                <a:latin typeface="微软雅黑" panose="020B0503020204020204" pitchFamily="34" charset="-122"/>
                <a:ea typeface="微软雅黑" panose="020B0503020204020204" pitchFamily="34" charset="-122"/>
              </a:rPr>
              <a:t>1</a:t>
            </a:r>
            <a:r>
              <a:rPr lang="zh-CN" altLang="en-US" sz="2400" dirty="0" smtClean="0">
                <a:latin typeface="微软雅黑" panose="020B0503020204020204" pitchFamily="34" charset="-122"/>
                <a:ea typeface="微软雅黑" panose="020B0503020204020204" pitchFamily="34" charset="-122"/>
              </a:rPr>
              <a:t>、货币市场均衡的条件</a:t>
            </a:r>
            <a:endParaRPr lang="en-US" altLang="en-US" sz="2400" dirty="0" smtClean="0">
              <a:latin typeface="微软雅黑" panose="020B0503020204020204" pitchFamily="34" charset="-122"/>
              <a:ea typeface="微软雅黑" panose="020B0503020204020204" pitchFamily="34" charset="-122"/>
            </a:endParaRPr>
          </a:p>
          <a:p>
            <a:pPr>
              <a:lnSpc>
                <a:spcPct val="120000"/>
              </a:lnSpc>
              <a:buNone/>
            </a:pPr>
            <a:r>
              <a:rPr lang="en-US" altLang="zh-CN" dirty="0" smtClean="0"/>
              <a:t>	</a:t>
            </a:r>
            <a:endParaRPr altLang="en-US" sz="2400" dirty="0">
              <a:solidFill>
                <a:schemeClr val="accent1">
                  <a:lumMod val="75000"/>
                </a:schemeClr>
              </a:solidFill>
              <a:ea typeface="黑体" pitchFamily="2" charset="-122"/>
            </a:endParaRPr>
          </a:p>
        </p:txBody>
      </p:sp>
      <p:sp>
        <p:nvSpPr>
          <p:cNvPr id="5" name="页脚占位符 4"/>
          <p:cNvSpPr>
            <a:spLocks noGrp="1"/>
          </p:cNvSpPr>
          <p:nvPr>
            <p:ph type="ftr" sz="quarter" idx="11"/>
          </p:nvPr>
        </p:nvSpPr>
        <p:spPr/>
        <p:txBody>
          <a:bodyPr/>
          <a:lstStyle/>
          <a:p>
            <a:r>
              <a:rPr lang="zh-CN" altLang="en-US" dirty="0" smtClean="0"/>
              <a:t>国际金融学 范小云</a:t>
            </a:r>
            <a:endParaRPr lang="zh-CN" altLang="en-US" dirty="0"/>
          </a:p>
        </p:txBody>
      </p:sp>
      <mc:AlternateContent xmlns:mc="http://schemas.openxmlformats.org/markup-compatibility/2006" xmlns:a14="http://schemas.microsoft.com/office/drawing/2010/main">
        <mc:Choice Requires="a14">
          <p:sp>
            <p:nvSpPr>
              <p:cNvPr id="4" name="矩形 3"/>
              <p:cNvSpPr/>
              <p:nvPr/>
            </p:nvSpPr>
            <p:spPr>
              <a:xfrm>
                <a:off x="305809" y="3010505"/>
                <a:ext cx="4572000" cy="3162404"/>
              </a:xfrm>
              <a:prstGeom prst="rect">
                <a:avLst/>
              </a:prstGeom>
            </p:spPr>
            <p:txBody>
              <a:bodyPr>
                <a:spAutoFit/>
              </a:bodyPr>
              <a:lstStyle/>
              <a:p>
                <a:pPr>
                  <a:spcBef>
                    <a:spcPct val="50000"/>
                  </a:spcBef>
                </a:pPr>
                <a14:m>
                  <m:oMathPara xmlns:m="http://schemas.openxmlformats.org/officeDocument/2006/math">
                    <m:oMathParaPr>
                      <m:jc m:val="centerGroup"/>
                    </m:oMathParaPr>
                    <m:oMath xmlns:m="http://schemas.openxmlformats.org/officeDocument/2006/math">
                      <m:r>
                        <m:rPr>
                          <m:sty m:val="p"/>
                        </m:rPr>
                        <a:rPr lang="en-US" altLang="zh-CN" sz="2400" i="1" smtClean="0">
                          <a:solidFill>
                            <a:schemeClr val="accent1">
                              <a:lumMod val="75000"/>
                            </a:schemeClr>
                          </a:solidFill>
                          <a:latin typeface="Cambria Math"/>
                          <a:ea typeface="黑体" pitchFamily="2" charset="-122"/>
                        </a:rPr>
                        <m:t>M</m:t>
                      </m:r>
                      <m:r>
                        <a:rPr lang="en-US" altLang="zh-CN" sz="2400" b="0" i="1" baseline="-25000" smtClean="0">
                          <a:solidFill>
                            <a:schemeClr val="accent1">
                              <a:lumMod val="75000"/>
                            </a:schemeClr>
                          </a:solidFill>
                          <a:latin typeface="Cambria Math"/>
                          <a:ea typeface="黑体" pitchFamily="2" charset="-122"/>
                        </a:rPr>
                        <m:t>𝑠</m:t>
                      </m:r>
                      <m:r>
                        <a:rPr lang="en-US" altLang="zh-CN" sz="2400" b="0" i="1" smtClean="0">
                          <a:solidFill>
                            <a:schemeClr val="accent1">
                              <a:lumMod val="75000"/>
                            </a:schemeClr>
                          </a:solidFill>
                          <a:latin typeface="Cambria Math"/>
                          <a:ea typeface="黑体" pitchFamily="2" charset="-122"/>
                        </a:rPr>
                        <m:t>=</m:t>
                      </m:r>
                      <m:r>
                        <a:rPr lang="en-US" altLang="zh-CN" sz="2400" b="0" i="1" smtClean="0">
                          <a:solidFill>
                            <a:schemeClr val="accent1">
                              <a:lumMod val="75000"/>
                            </a:schemeClr>
                          </a:solidFill>
                          <a:latin typeface="Cambria Math"/>
                          <a:ea typeface="黑体" pitchFamily="2" charset="-122"/>
                        </a:rPr>
                        <m:t>𝑀𝑑</m:t>
                      </m:r>
                    </m:oMath>
                  </m:oMathPara>
                </a14:m>
                <a:endParaRPr lang="en-US" altLang="zh-CN" sz="2400" dirty="0" smtClean="0">
                  <a:solidFill>
                    <a:schemeClr val="accent1">
                      <a:lumMod val="75000"/>
                    </a:schemeClr>
                  </a:solidFill>
                  <a:ea typeface="黑体" pitchFamily="2" charset="-122"/>
                </a:endParaRPr>
              </a:p>
              <a:p>
                <a:pPr>
                  <a:spcBef>
                    <a:spcPct val="50000"/>
                  </a:spcBef>
                </a:pPr>
                <a:endParaRPr lang="en-US" altLang="zh-CN" sz="1050" dirty="0" smtClean="0">
                  <a:solidFill>
                    <a:schemeClr val="accent1">
                      <a:lumMod val="75000"/>
                    </a:schemeClr>
                  </a:solidFill>
                  <a:ea typeface="黑体" pitchFamily="2" charset="-122"/>
                </a:endParaRPr>
              </a:p>
              <a:p>
                <a:pPr>
                  <a:spcBef>
                    <a:spcPct val="50000"/>
                  </a:spcBef>
                </a:pPr>
                <a14:m>
                  <m:oMathPara xmlns:m="http://schemas.openxmlformats.org/officeDocument/2006/math">
                    <m:oMathParaPr>
                      <m:jc m:val="centerGroup"/>
                    </m:oMathParaPr>
                    <m:oMath xmlns:m="http://schemas.openxmlformats.org/officeDocument/2006/math">
                      <m:r>
                        <a:rPr lang="en-US" altLang="zh-CN" sz="2400" b="0" i="1" smtClean="0">
                          <a:solidFill>
                            <a:schemeClr val="accent1">
                              <a:lumMod val="75000"/>
                            </a:schemeClr>
                          </a:solidFill>
                          <a:latin typeface="Cambria Math"/>
                          <a:ea typeface="黑体" pitchFamily="2" charset="-122"/>
                        </a:rPr>
                        <m:t>𝑀</m:t>
                      </m:r>
                      <m:r>
                        <a:rPr lang="en-US" altLang="zh-CN" sz="2400" b="0" i="1" baseline="-25000" smtClean="0">
                          <a:solidFill>
                            <a:schemeClr val="accent1">
                              <a:lumMod val="75000"/>
                            </a:schemeClr>
                          </a:solidFill>
                          <a:latin typeface="Cambria Math"/>
                          <a:ea typeface="黑体" pitchFamily="2" charset="-122"/>
                        </a:rPr>
                        <m:t>𝑑</m:t>
                      </m:r>
                      <m:r>
                        <a:rPr lang="en-US" altLang="zh-CN" sz="2400" b="0" i="1" smtClean="0">
                          <a:solidFill>
                            <a:schemeClr val="accent1">
                              <a:lumMod val="75000"/>
                            </a:schemeClr>
                          </a:solidFill>
                          <a:latin typeface="Cambria Math"/>
                          <a:ea typeface="黑体" pitchFamily="2" charset="-122"/>
                        </a:rPr>
                        <m:t>=</m:t>
                      </m:r>
                      <m:r>
                        <a:rPr lang="en-US" altLang="zh-CN" sz="2400" b="0" i="1" smtClean="0">
                          <a:solidFill>
                            <a:schemeClr val="accent1">
                              <a:lumMod val="75000"/>
                            </a:schemeClr>
                          </a:solidFill>
                          <a:latin typeface="Cambria Math"/>
                          <a:ea typeface="黑体" pitchFamily="2" charset="-122"/>
                        </a:rPr>
                        <m:t>𝑝𝑓</m:t>
                      </m:r>
                      <m:d>
                        <m:dPr>
                          <m:ctrlPr>
                            <a:rPr lang="en-US" altLang="zh-CN" sz="2400" b="0" i="1" smtClean="0">
                              <a:solidFill>
                                <a:schemeClr val="accent1">
                                  <a:lumMod val="75000"/>
                                </a:schemeClr>
                              </a:solidFill>
                              <a:latin typeface="Cambria Math"/>
                              <a:ea typeface="黑体" pitchFamily="2" charset="-122"/>
                            </a:rPr>
                          </m:ctrlPr>
                        </m:dPr>
                        <m:e>
                          <m:r>
                            <a:rPr lang="en-US" altLang="zh-CN" sz="2400" b="0" i="1" smtClean="0">
                              <a:solidFill>
                                <a:schemeClr val="accent1">
                                  <a:lumMod val="75000"/>
                                </a:schemeClr>
                              </a:solidFill>
                              <a:latin typeface="Cambria Math"/>
                              <a:ea typeface="黑体" pitchFamily="2" charset="-122"/>
                            </a:rPr>
                            <m:t>𝑦</m:t>
                          </m:r>
                          <m:r>
                            <a:rPr lang="en-US" altLang="zh-CN" sz="2400" b="0" i="1" smtClean="0">
                              <a:solidFill>
                                <a:schemeClr val="accent1">
                                  <a:lumMod val="75000"/>
                                </a:schemeClr>
                              </a:solidFill>
                              <a:latin typeface="Cambria Math"/>
                              <a:ea typeface="黑体" pitchFamily="2" charset="-122"/>
                            </a:rPr>
                            <m:t>,</m:t>
                          </m:r>
                          <m:r>
                            <a:rPr lang="en-US" altLang="zh-CN" sz="2400" b="0" i="1" smtClean="0">
                              <a:solidFill>
                                <a:schemeClr val="accent1">
                                  <a:lumMod val="75000"/>
                                </a:schemeClr>
                              </a:solidFill>
                              <a:latin typeface="Cambria Math"/>
                              <a:ea typeface="黑体" pitchFamily="2" charset="-122"/>
                            </a:rPr>
                            <m:t>𝑖</m:t>
                          </m:r>
                        </m:e>
                      </m:d>
                    </m:oMath>
                  </m:oMathPara>
                </a14:m>
                <a:endParaRPr lang="en-US" altLang="zh-CN" sz="2400" b="0" dirty="0" smtClean="0">
                  <a:solidFill>
                    <a:schemeClr val="accent1">
                      <a:lumMod val="75000"/>
                    </a:schemeClr>
                  </a:solidFill>
                  <a:ea typeface="黑体" pitchFamily="2" charset="-122"/>
                </a:endParaRPr>
              </a:p>
              <a:p>
                <a:pPr>
                  <a:spcBef>
                    <a:spcPct val="50000"/>
                  </a:spcBef>
                </a:pPr>
                <a:endParaRPr lang="en-US" altLang="zh-CN" sz="1050" b="0" dirty="0" smtClean="0">
                  <a:solidFill>
                    <a:schemeClr val="accent1">
                      <a:lumMod val="75000"/>
                    </a:schemeClr>
                  </a:solidFill>
                  <a:ea typeface="黑体" pitchFamily="2" charset="-122"/>
                </a:endParaRPr>
              </a:p>
              <a:p>
                <a:pPr>
                  <a:spcBef>
                    <a:spcPct val="50000"/>
                  </a:spcBef>
                </a:pPr>
                <a14:m>
                  <m:oMathPara xmlns:m="http://schemas.openxmlformats.org/officeDocument/2006/math">
                    <m:oMathParaPr>
                      <m:jc m:val="centerGroup"/>
                    </m:oMathParaPr>
                    <m:oMath xmlns:m="http://schemas.openxmlformats.org/officeDocument/2006/math">
                      <m:r>
                        <a:rPr lang="en-US" altLang="zh-CN" sz="2400" b="0" i="1" smtClean="0">
                          <a:solidFill>
                            <a:schemeClr val="accent1">
                              <a:lumMod val="75000"/>
                            </a:schemeClr>
                          </a:solidFill>
                          <a:latin typeface="Cambria Math"/>
                          <a:ea typeface="黑体" pitchFamily="2" charset="-122"/>
                        </a:rPr>
                        <m:t>𝑀𝑠</m:t>
                      </m:r>
                      <m:r>
                        <a:rPr lang="en-US" altLang="zh-CN" sz="2400" b="0" i="1" smtClean="0">
                          <a:solidFill>
                            <a:schemeClr val="accent1">
                              <a:lumMod val="75000"/>
                            </a:schemeClr>
                          </a:solidFill>
                          <a:latin typeface="Cambria Math"/>
                          <a:ea typeface="黑体" pitchFamily="2" charset="-122"/>
                        </a:rPr>
                        <m:t>=</m:t>
                      </m:r>
                      <m:r>
                        <a:rPr lang="en-US" altLang="zh-CN" sz="2400" b="0" i="1" smtClean="0">
                          <a:solidFill>
                            <a:schemeClr val="accent1">
                              <a:lumMod val="75000"/>
                            </a:schemeClr>
                          </a:solidFill>
                          <a:latin typeface="Cambria Math"/>
                          <a:ea typeface="黑体" pitchFamily="2" charset="-122"/>
                        </a:rPr>
                        <m:t>𝑚</m:t>
                      </m:r>
                      <m:r>
                        <a:rPr lang="en-US" altLang="zh-CN" sz="2400" b="0" i="1" smtClean="0">
                          <a:solidFill>
                            <a:schemeClr val="accent1">
                              <a:lumMod val="75000"/>
                            </a:schemeClr>
                          </a:solidFill>
                          <a:latin typeface="Cambria Math"/>
                          <a:ea typeface="黑体" pitchFamily="2" charset="-122"/>
                        </a:rPr>
                        <m:t>(</m:t>
                      </m:r>
                      <m:r>
                        <a:rPr lang="en-US" altLang="zh-CN" sz="2400" b="0" i="1" smtClean="0">
                          <a:solidFill>
                            <a:schemeClr val="accent1">
                              <a:lumMod val="75000"/>
                            </a:schemeClr>
                          </a:solidFill>
                          <a:latin typeface="Cambria Math"/>
                          <a:ea typeface="黑体" pitchFamily="2" charset="-122"/>
                        </a:rPr>
                        <m:t>𝐷</m:t>
                      </m:r>
                      <m:r>
                        <a:rPr lang="en-US" altLang="zh-CN" sz="2400" b="0" i="1" smtClean="0">
                          <a:solidFill>
                            <a:schemeClr val="accent1">
                              <a:lumMod val="75000"/>
                            </a:schemeClr>
                          </a:solidFill>
                          <a:latin typeface="Cambria Math"/>
                          <a:ea typeface="黑体" pitchFamily="2" charset="-122"/>
                        </a:rPr>
                        <m:t>+</m:t>
                      </m:r>
                      <m:r>
                        <a:rPr lang="en-US" altLang="zh-CN" sz="2400" b="0" i="1" smtClean="0">
                          <a:solidFill>
                            <a:schemeClr val="accent1">
                              <a:lumMod val="75000"/>
                            </a:schemeClr>
                          </a:solidFill>
                          <a:latin typeface="Cambria Math"/>
                          <a:ea typeface="黑体" pitchFamily="2" charset="-122"/>
                        </a:rPr>
                        <m:t>𝑅</m:t>
                      </m:r>
                      <m:r>
                        <a:rPr lang="en-US" altLang="zh-CN" sz="2400" b="0" i="1" smtClean="0">
                          <a:solidFill>
                            <a:schemeClr val="accent1">
                              <a:lumMod val="75000"/>
                            </a:schemeClr>
                          </a:solidFill>
                          <a:latin typeface="Cambria Math"/>
                          <a:ea typeface="黑体" pitchFamily="2" charset="-122"/>
                        </a:rPr>
                        <m:t>)</m:t>
                      </m:r>
                    </m:oMath>
                  </m:oMathPara>
                </a14:m>
                <a:endParaRPr lang="en-US" altLang="zh-CN" sz="2400" b="0" dirty="0" smtClean="0">
                  <a:solidFill>
                    <a:schemeClr val="accent1">
                      <a:lumMod val="75000"/>
                    </a:schemeClr>
                  </a:solidFill>
                  <a:ea typeface="黑体" pitchFamily="2" charset="-122"/>
                </a:endParaRPr>
              </a:p>
              <a:p>
                <a:pPr>
                  <a:spcBef>
                    <a:spcPct val="50000"/>
                  </a:spcBef>
                </a:pPr>
                <a:endParaRPr lang="en-US" altLang="zh-CN" sz="2400" b="0" dirty="0" smtClean="0">
                  <a:solidFill>
                    <a:schemeClr val="accent1">
                      <a:lumMod val="75000"/>
                    </a:schemeClr>
                  </a:solidFill>
                  <a:ea typeface="黑体" pitchFamily="2" charset="-122"/>
                </a:endParaRPr>
              </a:p>
              <a:p>
                <a:pPr>
                  <a:spcBef>
                    <a:spcPct val="50000"/>
                  </a:spcBef>
                </a:pPr>
                <a14:m>
                  <m:oMathPara xmlns:m="http://schemas.openxmlformats.org/officeDocument/2006/math">
                    <m:oMathParaPr>
                      <m:jc m:val="centerGroup"/>
                    </m:oMathParaPr>
                    <m:oMath xmlns:m="http://schemas.openxmlformats.org/officeDocument/2006/math">
                      <m:r>
                        <a:rPr lang="zh-CN" altLang="en-US" sz="2400" dirty="0">
                          <a:solidFill>
                            <a:schemeClr val="accent1">
                              <a:lumMod val="75000"/>
                            </a:schemeClr>
                          </a:solidFill>
                          <a:latin typeface="Cambria Math"/>
                          <a:ea typeface="黑体" pitchFamily="2" charset="-122"/>
                        </a:rPr>
                        <m:t>因此</m:t>
                      </m:r>
                      <m:r>
                        <a:rPr lang="zh-CN" altLang="en-US" sz="2400" b="0" i="1" dirty="0" smtClean="0">
                          <a:solidFill>
                            <a:schemeClr val="accent1">
                              <a:lumMod val="75000"/>
                            </a:schemeClr>
                          </a:solidFill>
                          <a:latin typeface="Cambria Math"/>
                          <a:ea typeface="黑体" pitchFamily="2" charset="-122"/>
                        </a:rPr>
                        <m:t>，</m:t>
                      </m:r>
                      <m:r>
                        <a:rPr lang="en-US" altLang="zh-CN" sz="2400" b="0" i="1" dirty="0" smtClean="0">
                          <a:solidFill>
                            <a:schemeClr val="accent1">
                              <a:lumMod val="75000"/>
                            </a:schemeClr>
                          </a:solidFill>
                          <a:latin typeface="Cambria Math"/>
                          <a:ea typeface="黑体" pitchFamily="2" charset="-122"/>
                        </a:rPr>
                        <m:t>𝑀</m:t>
                      </m:r>
                      <m:r>
                        <a:rPr lang="en-US" altLang="zh-CN" sz="2400" b="0" i="1" baseline="-25000" dirty="0" smtClean="0">
                          <a:solidFill>
                            <a:schemeClr val="accent1">
                              <a:lumMod val="75000"/>
                            </a:schemeClr>
                          </a:solidFill>
                          <a:latin typeface="Cambria Math"/>
                          <a:ea typeface="黑体" pitchFamily="2" charset="-122"/>
                        </a:rPr>
                        <m:t>𝑠</m:t>
                      </m:r>
                      <m:r>
                        <a:rPr lang="en-US" altLang="zh-CN" sz="2400" b="0" i="1" dirty="0" smtClean="0">
                          <a:solidFill>
                            <a:schemeClr val="accent1">
                              <a:lumMod val="75000"/>
                            </a:schemeClr>
                          </a:solidFill>
                          <a:latin typeface="Cambria Math"/>
                          <a:ea typeface="黑体" pitchFamily="2" charset="-122"/>
                        </a:rPr>
                        <m:t>=</m:t>
                      </m:r>
                      <m:r>
                        <a:rPr lang="en-US" altLang="zh-CN" sz="2400" b="0" i="1" dirty="0" smtClean="0">
                          <a:solidFill>
                            <a:schemeClr val="accent1">
                              <a:lumMod val="75000"/>
                            </a:schemeClr>
                          </a:solidFill>
                          <a:latin typeface="Cambria Math"/>
                          <a:ea typeface="黑体" pitchFamily="2" charset="-122"/>
                        </a:rPr>
                        <m:t>𝑀𝑑</m:t>
                      </m:r>
                      <m:r>
                        <a:rPr lang="en-US" altLang="zh-CN" sz="2400" b="0" i="1" dirty="0" smtClean="0">
                          <a:solidFill>
                            <a:schemeClr val="accent1">
                              <a:lumMod val="75000"/>
                            </a:schemeClr>
                          </a:solidFill>
                          <a:latin typeface="Cambria Math"/>
                          <a:ea typeface="黑体" pitchFamily="2" charset="-122"/>
                        </a:rPr>
                        <m:t>=</m:t>
                      </m:r>
                      <m:r>
                        <a:rPr lang="en-US" altLang="zh-CN" sz="2400" b="0" i="1" dirty="0" smtClean="0">
                          <a:solidFill>
                            <a:schemeClr val="accent1">
                              <a:lumMod val="75000"/>
                            </a:schemeClr>
                          </a:solidFill>
                          <a:latin typeface="Cambria Math"/>
                          <a:ea typeface="黑体" pitchFamily="2" charset="-122"/>
                        </a:rPr>
                        <m:t>𝐷</m:t>
                      </m:r>
                      <m:r>
                        <a:rPr lang="en-US" altLang="zh-CN" sz="2400" b="0" i="1" dirty="0" smtClean="0">
                          <a:solidFill>
                            <a:schemeClr val="accent1">
                              <a:lumMod val="75000"/>
                            </a:schemeClr>
                          </a:solidFill>
                          <a:latin typeface="Cambria Math"/>
                          <a:ea typeface="黑体" pitchFamily="2" charset="-122"/>
                        </a:rPr>
                        <m:t>+</m:t>
                      </m:r>
                      <m:r>
                        <a:rPr lang="en-US" altLang="zh-CN" sz="2400" b="0" i="1" dirty="0" smtClean="0">
                          <a:solidFill>
                            <a:schemeClr val="accent1">
                              <a:lumMod val="75000"/>
                            </a:schemeClr>
                          </a:solidFill>
                          <a:latin typeface="Cambria Math"/>
                          <a:ea typeface="黑体" pitchFamily="2" charset="-122"/>
                        </a:rPr>
                        <m:t>𝑅</m:t>
                      </m:r>
                    </m:oMath>
                  </m:oMathPara>
                </a14:m>
                <a:endParaRPr lang="en-US" altLang="zh-CN" sz="2400" dirty="0">
                  <a:solidFill>
                    <a:schemeClr val="accent1">
                      <a:lumMod val="75000"/>
                    </a:schemeClr>
                  </a:solidFill>
                  <a:ea typeface="黑体" pitchFamily="2" charset="-122"/>
                </a:endParaRPr>
              </a:p>
              <a:p>
                <a:pPr>
                  <a:spcBef>
                    <a:spcPct val="50000"/>
                  </a:spcBef>
                </a:pPr>
                <a:endParaRPr lang="en-US" altLang="zh-CN" sz="2400" b="0" dirty="0" smtClean="0">
                  <a:solidFill>
                    <a:schemeClr val="accent1">
                      <a:lumMod val="75000"/>
                    </a:schemeClr>
                  </a:solidFill>
                  <a:ea typeface="黑体" pitchFamily="2"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305809" y="3010505"/>
                <a:ext cx="4572000" cy="3162404"/>
              </a:xfrm>
              <a:prstGeom prst="rect">
                <a:avLst/>
              </a:prstGeom>
              <a:blipFill rotWithShape="1">
                <a:blip r:embed="rId3"/>
                <a:stretch>
                  <a:fillRect/>
                </a:stretch>
              </a:blipFill>
            </p:spPr>
            <p:txBody>
              <a:bodyPr/>
              <a:lstStyle/>
              <a:p>
                <a:r>
                  <a:rPr lang="zh-CN" altLang="en-US">
                    <a:noFill/>
                  </a:rPr>
                  <a:t> </a:t>
                </a:r>
              </a:p>
            </p:txBody>
          </p:sp>
        </mc:Fallback>
      </mc:AlternateContent>
      <p:sp>
        <p:nvSpPr>
          <p:cNvPr id="8" name="矩形标注 7"/>
          <p:cNvSpPr/>
          <p:nvPr/>
        </p:nvSpPr>
        <p:spPr>
          <a:xfrm>
            <a:off x="4587514" y="2609975"/>
            <a:ext cx="3296915" cy="2157914"/>
          </a:xfrm>
          <a:prstGeom prst="wedgeRectCallout">
            <a:avLst>
              <a:gd name="adj1" fmla="val -69874"/>
              <a:gd name="adj2" fmla="val -2848"/>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p:cNvSpPr txBox="1"/>
          <p:nvPr/>
        </p:nvSpPr>
        <p:spPr>
          <a:xfrm>
            <a:off x="4681001" y="2694755"/>
            <a:ext cx="3282151" cy="2308324"/>
          </a:xfrm>
          <a:prstGeom prst="rect">
            <a:avLst/>
          </a:prstGeom>
          <a:noFill/>
        </p:spPr>
        <p:txBody>
          <a:bodyPr wrap="square" rtlCol="0">
            <a:spAutoFit/>
          </a:bodyPr>
          <a:lstStyle/>
          <a:p>
            <a:r>
              <a:rPr lang="zh-CN" altLang="en-US" dirty="0">
                <a:ea typeface="黑体" pitchFamily="2" charset="-122"/>
              </a:rPr>
              <a:t>在一价定律发挥作用的前提下，对于一个小国经济，价格和利率由世界市场决定；而货币论者假定货币供给不影响国民收入；因此，货币需求函数是稳定的。货币市场均衡是通过货币供给的增减来实现的。</a:t>
            </a:r>
          </a:p>
          <a:p>
            <a:endParaRPr lang="zh-CN" altLang="en-US" dirty="0"/>
          </a:p>
        </p:txBody>
      </p:sp>
      <p:sp>
        <p:nvSpPr>
          <p:cNvPr id="10" name="矩形标注 9"/>
          <p:cNvSpPr/>
          <p:nvPr/>
        </p:nvSpPr>
        <p:spPr>
          <a:xfrm>
            <a:off x="4333178" y="5091276"/>
            <a:ext cx="3296916" cy="557128"/>
          </a:xfrm>
          <a:prstGeom prst="wedgeRectCallout">
            <a:avLst>
              <a:gd name="adj1" fmla="val -63257"/>
              <a:gd name="adj2" fmla="val -124053"/>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4396387" y="5198819"/>
            <a:ext cx="2949092" cy="369332"/>
          </a:xfrm>
          <a:prstGeom prst="rect">
            <a:avLst/>
          </a:prstGeom>
          <a:noFill/>
        </p:spPr>
        <p:txBody>
          <a:bodyPr wrap="square" rtlCol="0">
            <a:spAutoFit/>
          </a:bodyPr>
          <a:lstStyle/>
          <a:p>
            <a:r>
              <a:rPr lang="zh-CN" altLang="en-US" b="1" dirty="0" smtClean="0"/>
              <a:t>为方便起见，令 </a:t>
            </a:r>
            <a:r>
              <a:rPr lang="en-US" altLang="zh-CN" b="1" dirty="0" smtClean="0"/>
              <a:t>m =1</a:t>
            </a:r>
            <a:endParaRPr lang="zh-CN" altLang="en-US" b="1" dirty="0"/>
          </a:p>
        </p:txBody>
      </p:sp>
    </p:spTree>
    <p:extLst>
      <p:ext uri="{BB962C8B-B14F-4D97-AF65-F5344CB8AC3E}">
        <p14:creationId xmlns:p14="http://schemas.microsoft.com/office/powerpoint/2010/main" val="3079472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a:t>
            </a:r>
            <a:r>
              <a:rPr lang="zh-CN" altLang="en-US" dirty="0" smtClean="0"/>
              <a:t>货币</a:t>
            </a:r>
            <a:r>
              <a:rPr lang="zh-CN" altLang="en-US" dirty="0"/>
              <a:t>分析法</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800"/>
                <a:ext cx="7618658" cy="4559300"/>
              </a:xfrm>
            </p:spPr>
            <p:txBody>
              <a:bodyPr>
                <a:normAutofit/>
              </a:bodyPr>
              <a:lstStyle/>
              <a:p>
                <a:pPr marL="0" indent="0">
                  <a:lnSpc>
                    <a:spcPct val="100000"/>
                  </a:lnSpc>
                  <a:spcBef>
                    <a:spcPts val="1000"/>
                  </a:spcBef>
                  <a:buNone/>
                </a:pPr>
                <a:r>
                  <a:rPr lang="zh-CN" altLang="en-US" sz="2800" dirty="0" smtClean="0">
                    <a:latin typeface="微软雅黑" panose="020B0503020204020204" pitchFamily="34" charset="-122"/>
                    <a:ea typeface="微软雅黑" panose="020B0503020204020204" pitchFamily="34" charset="-122"/>
                  </a:rPr>
                  <a:t>二、货币论的主要内容</a:t>
                </a:r>
                <a:endParaRPr lang="en-US" altLang="zh-CN" sz="2800" dirty="0" smtClean="0">
                  <a:latin typeface="微软雅黑" panose="020B0503020204020204" pitchFamily="34" charset="-122"/>
                  <a:ea typeface="微软雅黑" panose="020B0503020204020204" pitchFamily="34" charset="-122"/>
                </a:endParaRPr>
              </a:p>
              <a:p>
                <a:pPr>
                  <a:lnSpc>
                    <a:spcPct val="100000"/>
                  </a:lnSpc>
                  <a:spcBef>
                    <a:spcPts val="1000"/>
                  </a:spcBef>
                </a:pPr>
                <a:endParaRPr lang="en-US" altLang="zh-CN" sz="2800" dirty="0" smtClean="0">
                  <a:latin typeface="微软雅黑" panose="020B0503020204020204" pitchFamily="34" charset="-122"/>
                  <a:ea typeface="微软雅黑" panose="020B0503020204020204" pitchFamily="34" charset="-122"/>
                </a:endParaRPr>
              </a:p>
              <a:p>
                <a:pPr marL="0" indent="0">
                  <a:lnSpc>
                    <a:spcPct val="100000"/>
                  </a:lnSpc>
                  <a:spcBef>
                    <a:spcPts val="1000"/>
                  </a:spcBef>
                  <a:buNone/>
                </a:pPr>
                <a14:m>
                  <m:oMathPara xmlns:m="http://schemas.openxmlformats.org/officeDocument/2006/math">
                    <m:oMathParaPr>
                      <m:jc m:val="centerGroup"/>
                    </m:oMathParaPr>
                    <m:oMath xmlns:m="http://schemas.openxmlformats.org/officeDocument/2006/math">
                      <m:sSub>
                        <m:sSubPr>
                          <m:ctrlPr>
                            <a:rPr lang="en-US" altLang="zh-CN" sz="3200" i="1">
                              <a:solidFill>
                                <a:schemeClr val="accent1"/>
                              </a:solidFill>
                              <a:latin typeface="Cambria Math"/>
                              <a:ea typeface="微软雅黑" panose="020B0503020204020204" pitchFamily="34" charset="-122"/>
                            </a:rPr>
                          </m:ctrlPr>
                        </m:sSubPr>
                        <m:e>
                          <m:r>
                            <a:rPr lang="en-US" altLang="zh-CN" sz="3200" i="1">
                              <a:solidFill>
                                <a:schemeClr val="accent1"/>
                              </a:solidFill>
                              <a:latin typeface="Cambria Math" panose="02040503050406030204" pitchFamily="18" charset="0"/>
                              <a:ea typeface="微软雅黑" panose="020B0503020204020204" pitchFamily="34" charset="-122"/>
                            </a:rPr>
                            <m:t>𝑀</m:t>
                          </m:r>
                        </m:e>
                        <m:sub>
                          <m:r>
                            <a:rPr lang="en-US" altLang="zh-CN" sz="3200" i="1">
                              <a:solidFill>
                                <a:schemeClr val="accent1"/>
                              </a:solidFill>
                              <a:latin typeface="Cambria Math" panose="02040503050406030204" pitchFamily="18" charset="0"/>
                              <a:ea typeface="微软雅黑" panose="020B0503020204020204" pitchFamily="34" charset="-122"/>
                            </a:rPr>
                            <m:t>𝑠</m:t>
                          </m:r>
                        </m:sub>
                      </m:sSub>
                      <m:r>
                        <a:rPr lang="zh-CN" altLang="en-US" sz="3200" i="1">
                          <a:solidFill>
                            <a:schemeClr val="accent1"/>
                          </a:solidFill>
                          <a:latin typeface="Cambria Math" panose="02040503050406030204" pitchFamily="18" charset="0"/>
                          <a:ea typeface="微软雅黑" panose="020B0503020204020204" pitchFamily="34" charset="-122"/>
                        </a:rPr>
                        <m:t>＝</m:t>
                      </m:r>
                      <m:sSub>
                        <m:sSubPr>
                          <m:ctrlPr>
                            <a:rPr lang="en-US" altLang="zh-CN" sz="3200" i="1">
                              <a:solidFill>
                                <a:schemeClr val="accent1"/>
                              </a:solidFill>
                              <a:latin typeface="Cambria Math"/>
                              <a:ea typeface="微软雅黑" panose="020B0503020204020204" pitchFamily="34" charset="-122"/>
                            </a:rPr>
                          </m:ctrlPr>
                        </m:sSubPr>
                        <m:e>
                          <m:r>
                            <a:rPr lang="en-US" altLang="zh-CN" sz="3200" i="1">
                              <a:solidFill>
                                <a:schemeClr val="accent1"/>
                              </a:solidFill>
                              <a:latin typeface="Cambria Math" panose="02040503050406030204" pitchFamily="18" charset="0"/>
                              <a:ea typeface="微软雅黑" panose="020B0503020204020204" pitchFamily="34" charset="-122"/>
                            </a:rPr>
                            <m:t>𝑀</m:t>
                          </m:r>
                        </m:e>
                        <m:sub>
                          <m:r>
                            <a:rPr lang="en-US" altLang="zh-CN" sz="3200" i="1">
                              <a:solidFill>
                                <a:schemeClr val="accent1"/>
                              </a:solidFill>
                              <a:latin typeface="Cambria Math" panose="02040503050406030204" pitchFamily="18" charset="0"/>
                              <a:ea typeface="微软雅黑" panose="020B0503020204020204" pitchFamily="34" charset="-122"/>
                            </a:rPr>
                            <m:t>𝑑</m:t>
                          </m:r>
                        </m:sub>
                      </m:sSub>
                      <m:r>
                        <a:rPr lang="en-US" altLang="zh-CN" sz="3200" i="1">
                          <a:solidFill>
                            <a:schemeClr val="accent1"/>
                          </a:solidFill>
                          <a:latin typeface="Cambria Math" panose="02040503050406030204" pitchFamily="18" charset="0"/>
                          <a:ea typeface="微软雅黑" panose="020B0503020204020204" pitchFamily="34" charset="-122"/>
                        </a:rPr>
                        <m:t>=</m:t>
                      </m:r>
                      <m:r>
                        <a:rPr lang="en-US" altLang="zh-CN" sz="3200" i="1">
                          <a:solidFill>
                            <a:schemeClr val="accent1"/>
                          </a:solidFill>
                          <a:latin typeface="Cambria Math" panose="02040503050406030204" pitchFamily="18" charset="0"/>
                          <a:ea typeface="微软雅黑" panose="020B0503020204020204" pitchFamily="34" charset="-122"/>
                        </a:rPr>
                        <m:t>𝐷</m:t>
                      </m:r>
                      <m:r>
                        <a:rPr lang="en-US" altLang="zh-CN" sz="3200" i="1">
                          <a:solidFill>
                            <a:schemeClr val="accent1"/>
                          </a:solidFill>
                          <a:latin typeface="Cambria Math" panose="02040503050406030204" pitchFamily="18" charset="0"/>
                          <a:ea typeface="微软雅黑" panose="020B0503020204020204" pitchFamily="34" charset="-122"/>
                        </a:rPr>
                        <m:t>+</m:t>
                      </m:r>
                      <m:r>
                        <a:rPr lang="en-US" altLang="zh-CN" sz="3200" i="1">
                          <a:solidFill>
                            <a:schemeClr val="accent1"/>
                          </a:solidFill>
                          <a:latin typeface="Cambria Math" panose="02040503050406030204" pitchFamily="18" charset="0"/>
                          <a:ea typeface="微软雅黑" panose="020B0503020204020204" pitchFamily="34" charset="-122"/>
                        </a:rPr>
                        <m:t>𝑅</m:t>
                      </m:r>
                    </m:oMath>
                  </m:oMathPara>
                </a14:m>
                <a:endParaRPr lang="en-US" altLang="zh-CN" sz="3200" dirty="0" smtClean="0">
                  <a:latin typeface="微软雅黑" panose="020B0503020204020204" pitchFamily="34" charset="-122"/>
                  <a:ea typeface="微软雅黑" panose="020B0503020204020204" pitchFamily="34" charset="-122"/>
                </a:endParaRPr>
              </a:p>
              <a:p>
                <a:pPr marL="0" indent="0">
                  <a:lnSpc>
                    <a:spcPct val="100000"/>
                  </a:lnSpc>
                  <a:spcBef>
                    <a:spcPts val="1000"/>
                  </a:spcBef>
                  <a:buNone/>
                </a:pPr>
                <a:endParaRPr lang="zh-CN" altLang="en-US" sz="2800" dirty="0">
                  <a:latin typeface="微软雅黑" panose="020B0503020204020204" pitchFamily="34" charset="-122"/>
                  <a:ea typeface="微软雅黑" panose="020B0503020204020204" pitchFamily="34" charset="-122"/>
                </a:endParaRPr>
              </a:p>
              <a:p>
                <a:pPr marL="0" indent="0">
                  <a:lnSpc>
                    <a:spcPct val="150000"/>
                  </a:lnSpc>
                  <a:spcBef>
                    <a:spcPts val="1000"/>
                  </a:spcBef>
                  <a:buNone/>
                </a:pPr>
                <a:r>
                  <a:rPr lang="zh-CN" altLang="en-US" sz="28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当</a:t>
                </a:r>
                <a:r>
                  <a:rPr lang="zh-CN" altLang="en-US" sz="2400" dirty="0">
                    <a:latin typeface="微软雅黑" panose="020B0503020204020204" pitchFamily="34" charset="-122"/>
                    <a:ea typeface="微软雅黑" panose="020B0503020204020204" pitchFamily="34" charset="-122"/>
                  </a:rPr>
                  <a:t>货币供给由于国内信贷总量</a:t>
                </a:r>
                <a:r>
                  <a:rPr lang="en-US" altLang="zh-CN" sz="2400" dirty="0">
                    <a:latin typeface="微软雅黑" panose="020B0503020204020204" pitchFamily="34" charset="-122"/>
                    <a:ea typeface="微软雅黑" panose="020B0503020204020204" pitchFamily="34" charset="-122"/>
                  </a:rPr>
                  <a:t>D</a:t>
                </a:r>
                <a:r>
                  <a:rPr lang="zh-CN" altLang="en-US" sz="2400" dirty="0">
                    <a:latin typeface="微软雅黑" panose="020B0503020204020204" pitchFamily="34" charset="-122"/>
                    <a:ea typeface="微软雅黑" panose="020B0503020204020204" pitchFamily="34" charset="-122"/>
                  </a:rPr>
                  <a:t>的紧缩和扩张而小于或大于货币需求时，国际储备量</a:t>
                </a:r>
                <a:r>
                  <a:rPr lang="en-US" altLang="zh-CN" sz="2400" dirty="0">
                    <a:latin typeface="微软雅黑" panose="020B0503020204020204" pitchFamily="34" charset="-122"/>
                    <a:ea typeface="微软雅黑" panose="020B0503020204020204" pitchFamily="34" charset="-122"/>
                  </a:rPr>
                  <a:t>R</a:t>
                </a:r>
                <a:r>
                  <a:rPr lang="zh-CN" altLang="en-US" sz="2400" dirty="0">
                    <a:latin typeface="微软雅黑" panose="020B0503020204020204" pitchFamily="34" charset="-122"/>
                    <a:ea typeface="微软雅黑" panose="020B0503020204020204" pitchFamily="34" charset="-122"/>
                  </a:rPr>
                  <a:t>就显然会出现增加或减少，使货币供给等于货币需求</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800"/>
                <a:ext cx="7618658" cy="4559300"/>
              </a:xfrm>
              <a:blipFill rotWithShape="1">
                <a:blip r:embed="rId3"/>
                <a:stretch>
                  <a:fillRect l="-1600" t="-1339" r="-320"/>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923410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a:t>
            </a:r>
            <a:r>
              <a:rPr lang="zh-CN" altLang="en-US" dirty="0" smtClean="0"/>
              <a:t>货币</a:t>
            </a:r>
            <a:r>
              <a:rPr lang="zh-CN" altLang="en-US" dirty="0"/>
              <a:t>分析法</a:t>
            </a:r>
          </a:p>
        </p:txBody>
      </p:sp>
      <p:sp>
        <p:nvSpPr>
          <p:cNvPr id="3" name="内容占位符 2"/>
          <p:cNvSpPr>
            <a:spLocks noGrp="1"/>
          </p:cNvSpPr>
          <p:nvPr>
            <p:ph idx="1"/>
          </p:nvPr>
        </p:nvSpPr>
        <p:spPr>
          <a:xfrm>
            <a:off x="971550" y="1447800"/>
            <a:ext cx="7618658" cy="4559300"/>
          </a:xfrm>
        </p:spPr>
        <p:txBody>
          <a:bodyPr>
            <a:normAutofit/>
          </a:bodyPr>
          <a:lstStyle/>
          <a:p>
            <a:pPr marL="0" indent="0">
              <a:lnSpc>
                <a:spcPct val="100000"/>
              </a:lnSpc>
              <a:spcBef>
                <a:spcPts val="1000"/>
              </a:spcBef>
              <a:buNone/>
            </a:pPr>
            <a:r>
              <a:rPr lang="zh-CN" altLang="en-US" sz="2400" dirty="0" smtClean="0">
                <a:latin typeface="微软雅黑" panose="020B0503020204020204" pitchFamily="34" charset="-122"/>
                <a:ea typeface="微软雅黑" panose="020B0503020204020204" pitchFamily="34" charset="-122"/>
              </a:rPr>
              <a:t>二、货币论的主要内容</a:t>
            </a:r>
            <a:endParaRPr lang="zh-CN" altLang="en-US" sz="2400" dirty="0">
              <a:latin typeface="微软雅黑" panose="020B0503020204020204" pitchFamily="34" charset="-122"/>
              <a:ea typeface="微软雅黑" panose="020B0503020204020204" pitchFamily="34" charset="-122"/>
            </a:endParaRPr>
          </a:p>
          <a:p>
            <a:pPr marL="514350" indent="-514350">
              <a:lnSpc>
                <a:spcPct val="100000"/>
              </a:lnSpc>
              <a:spcBef>
                <a:spcPts val="1000"/>
              </a:spcBef>
              <a:buFont typeface="+mj-lt"/>
              <a:buAutoNum type="arabicPeriod" startAt="2"/>
            </a:pPr>
            <a:r>
              <a:rPr lang="zh-CN" altLang="en-US" sz="2400" dirty="0" smtClean="0">
                <a:latin typeface="微软雅黑" panose="020B0503020204020204" pitchFamily="34" charset="-122"/>
                <a:ea typeface="微软雅黑" panose="020B0503020204020204" pitchFamily="34" charset="-122"/>
              </a:rPr>
              <a:t>实行</a:t>
            </a:r>
            <a:r>
              <a:rPr lang="zh-CN" altLang="en-US" sz="2400" dirty="0">
                <a:latin typeface="微软雅黑" panose="020B0503020204020204" pitchFamily="34" charset="-122"/>
                <a:ea typeface="微软雅黑" panose="020B0503020204020204" pitchFamily="34" charset="-122"/>
              </a:rPr>
              <a:t>固定汇率制的小国的货币市场均衡与国际收支的</a:t>
            </a:r>
            <a:r>
              <a:rPr lang="zh-CN" altLang="en-US" sz="2400" dirty="0" smtClean="0">
                <a:latin typeface="微软雅黑" panose="020B0503020204020204" pitchFamily="34" charset="-122"/>
                <a:ea typeface="微软雅黑" panose="020B0503020204020204" pitchFamily="34" charset="-122"/>
              </a:rPr>
              <a:t>关系</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mc:AlternateContent xmlns:mc="http://schemas.openxmlformats.org/markup-compatibility/2006" xmlns:a14="http://schemas.microsoft.com/office/drawing/2010/main">
        <mc:Choice Requires="a14">
          <p:sp>
            <p:nvSpPr>
              <p:cNvPr id="35" name="Text Box 5"/>
              <p:cNvSpPr txBox="1">
                <a:spLocks noChangeArrowheads="1"/>
              </p:cNvSpPr>
              <p:nvPr/>
            </p:nvSpPr>
            <p:spPr bwMode="auto">
              <a:xfrm>
                <a:off x="1337481" y="3196429"/>
                <a:ext cx="1331197" cy="830997"/>
              </a:xfrm>
              <a:prstGeom prst="rect">
                <a:avLst/>
              </a:prstGeom>
              <a:noFill/>
              <a:ln>
                <a:solidFill>
                  <a:schemeClr val="accent1"/>
                </a:solidFill>
              </a:ln>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0" dirty="0" smtClean="0">
                    <a:latin typeface="微软雅黑" panose="020B0503020204020204" pitchFamily="34" charset="-122"/>
                    <a:ea typeface="微软雅黑" panose="020B0503020204020204" pitchFamily="34" charset="-122"/>
                  </a:rPr>
                  <a:t>国内信贷</a:t>
                </a:r>
                <a14:m>
                  <m:oMath xmlns:m="http://schemas.openxmlformats.org/officeDocument/2006/math">
                    <m:r>
                      <a:rPr lang="en-US" altLang="zh-CN" sz="2400" b="0" i="1" smtClean="0">
                        <a:latin typeface="Cambria Math" panose="02040503050406030204" pitchFamily="18" charset="0"/>
                        <a:ea typeface="微软雅黑" panose="020B0503020204020204" pitchFamily="34" charset="-122"/>
                      </a:rPr>
                      <m:t>𝐷</m:t>
                    </m:r>
                    <m:r>
                      <a:rPr lang="en-US" altLang="zh-CN" sz="2400" b="0" i="1" smtClean="0">
                        <a:latin typeface="Cambria Math" panose="02040503050406030204" pitchFamily="18" charset="0"/>
                        <a:ea typeface="Cambria Math" panose="02040503050406030204" pitchFamily="18" charset="0"/>
                      </a:rPr>
                      <m:t>↑</m:t>
                    </m:r>
                  </m:oMath>
                </a14:m>
                <a:endParaRPr lang="en-US" altLang="zh-CN" sz="2400" b="0" dirty="0">
                  <a:latin typeface="微软雅黑" panose="020B0503020204020204" pitchFamily="34" charset="-122"/>
                  <a:ea typeface="微软雅黑" panose="020B0503020204020204" pitchFamily="34" charset="-122"/>
                </a:endParaRPr>
              </a:p>
            </p:txBody>
          </p:sp>
        </mc:Choice>
        <mc:Fallback xmlns="">
          <p:sp>
            <p:nvSpPr>
              <p:cNvPr id="35" name="Text Box 5"/>
              <p:cNvSpPr txBox="1">
                <a:spLocks noRot="1" noChangeAspect="1" noMove="1" noResize="1" noEditPoints="1" noAdjustHandles="1" noChangeArrowheads="1" noChangeShapeType="1" noTextEdit="1"/>
              </p:cNvSpPr>
              <p:nvPr/>
            </p:nvSpPr>
            <p:spPr bwMode="auto">
              <a:xfrm>
                <a:off x="1337481" y="3196429"/>
                <a:ext cx="1331197" cy="830997"/>
              </a:xfrm>
              <a:prstGeom prst="rect">
                <a:avLst/>
              </a:prstGeom>
              <a:blipFill rotWithShape="1">
                <a:blip r:embed="rId3"/>
                <a:stretch>
                  <a:fillRect l="-6335" t="-5036" b="-14388"/>
                </a:stretch>
              </a:blipFill>
              <a:ln>
                <a:solidFill>
                  <a:schemeClr val="accent1"/>
                </a:solidFill>
              </a:ln>
            </p:spPr>
            <p:txBody>
              <a:bodyPr/>
              <a:lstStyle/>
              <a:p>
                <a:r>
                  <a:rPr lang="zh-CN" altLang="en-US">
                    <a:noFill/>
                  </a:rPr>
                  <a:t> </a:t>
                </a:r>
              </a:p>
            </p:txBody>
          </p:sp>
        </mc:Fallback>
      </mc:AlternateContent>
      <p:grpSp>
        <p:nvGrpSpPr>
          <p:cNvPr id="48" name="组合 47"/>
          <p:cNvGrpSpPr/>
          <p:nvPr/>
        </p:nvGrpSpPr>
        <p:grpSpPr>
          <a:xfrm>
            <a:off x="1336582" y="3665055"/>
            <a:ext cx="7253626" cy="2037995"/>
            <a:chOff x="1336582" y="3665055"/>
            <a:chExt cx="7253626" cy="2037995"/>
          </a:xfrm>
        </p:grpSpPr>
        <p:sp>
          <p:nvSpPr>
            <p:cNvPr id="38" name="Text Box 11"/>
            <p:cNvSpPr txBox="1">
              <a:spLocks noChangeArrowheads="1"/>
            </p:cNvSpPr>
            <p:nvPr/>
          </p:nvSpPr>
          <p:spPr bwMode="auto">
            <a:xfrm>
              <a:off x="1336582" y="4872053"/>
              <a:ext cx="1332096" cy="830997"/>
            </a:xfrm>
            <a:prstGeom prst="rect">
              <a:avLst/>
            </a:prstGeom>
            <a:noFill/>
            <a:ln>
              <a:solidFill>
                <a:schemeClr val="accent1"/>
              </a:solidFill>
            </a:ln>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0" dirty="0">
                  <a:latin typeface="微软雅黑" panose="020B0503020204020204" pitchFamily="34" charset="-122"/>
                  <a:ea typeface="微软雅黑" panose="020B0503020204020204" pitchFamily="34" charset="-122"/>
                </a:rPr>
                <a:t>国际</a:t>
              </a:r>
              <a:r>
                <a:rPr lang="zh-CN" altLang="en-US" sz="2400" b="0" dirty="0" smtClean="0">
                  <a:latin typeface="微软雅黑" panose="020B0503020204020204" pitchFamily="34" charset="-122"/>
                  <a:ea typeface="微软雅黑" panose="020B0503020204020204" pitchFamily="34" charset="-122"/>
                </a:rPr>
                <a:t>收支赤字</a:t>
              </a:r>
              <a:endParaRPr lang="zh-CN" altLang="en-US" sz="2400" b="0" dirty="0">
                <a:latin typeface="微软雅黑" panose="020B0503020204020204" pitchFamily="34" charset="-122"/>
                <a:ea typeface="微软雅黑" panose="020B0503020204020204" pitchFamily="34" charset="-122"/>
              </a:endParaRPr>
            </a:p>
          </p:txBody>
        </p:sp>
        <p:cxnSp>
          <p:nvCxnSpPr>
            <p:cNvPr id="40" name="肘形连接符 39"/>
            <p:cNvCxnSpPr>
              <a:stCxn id="37" idx="3"/>
              <a:endCxn id="38" idx="1"/>
            </p:cNvCxnSpPr>
            <p:nvPr/>
          </p:nvCxnSpPr>
          <p:spPr>
            <a:xfrm flipH="1">
              <a:off x="1336582" y="3665055"/>
              <a:ext cx="7253626" cy="1622497"/>
            </a:xfrm>
            <a:prstGeom prst="bentConnector5">
              <a:avLst>
                <a:gd name="adj1" fmla="val -3152"/>
                <a:gd name="adj2" fmla="val 50000"/>
                <a:gd name="adj3" fmla="val 103152"/>
              </a:avLst>
            </a:prstGeom>
            <a:ln w="38100">
              <a:tailEnd type="triangle"/>
            </a:ln>
          </p:spPr>
          <p:style>
            <a:lnRef idx="3">
              <a:schemeClr val="accent1"/>
            </a:lnRef>
            <a:fillRef idx="0">
              <a:schemeClr val="accent1"/>
            </a:fillRef>
            <a:effectRef idx="2">
              <a:schemeClr val="accent1"/>
            </a:effectRef>
            <a:fontRef idx="minor">
              <a:schemeClr val="tx1"/>
            </a:fontRef>
          </p:style>
        </p:cxnSp>
      </p:grpSp>
      <p:grpSp>
        <p:nvGrpSpPr>
          <p:cNvPr id="46" name="组合 45"/>
          <p:cNvGrpSpPr/>
          <p:nvPr/>
        </p:nvGrpSpPr>
        <p:grpSpPr>
          <a:xfrm>
            <a:off x="2668678" y="3403445"/>
            <a:ext cx="2097212" cy="461665"/>
            <a:chOff x="2668678" y="3403445"/>
            <a:chExt cx="2097212" cy="461665"/>
          </a:xfrm>
        </p:grpSpPr>
        <mc:AlternateContent xmlns:mc="http://schemas.openxmlformats.org/markup-compatibility/2006" xmlns:a14="http://schemas.microsoft.com/office/drawing/2010/main">
          <mc:Choice Requires="a14">
            <p:sp>
              <p:nvSpPr>
                <p:cNvPr id="36" name="Text Box 7"/>
                <p:cNvSpPr txBox="1">
                  <a:spLocks noChangeArrowheads="1"/>
                </p:cNvSpPr>
                <p:nvPr/>
              </p:nvSpPr>
              <p:spPr bwMode="auto">
                <a:xfrm>
                  <a:off x="3210045" y="3403445"/>
                  <a:ext cx="1555845" cy="461665"/>
                </a:xfrm>
                <a:prstGeom prst="rect">
                  <a:avLst/>
                </a:prstGeom>
                <a:noFill/>
                <a:ln>
                  <a:solidFill>
                    <a:schemeClr val="accent1"/>
                  </a:solidFill>
                </a:ln>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a:ea typeface="微软雅黑" panose="020B0503020204020204" pitchFamily="34" charset="-122"/>
                              </a:rPr>
                            </m:ctrlPr>
                          </m:sSubPr>
                          <m:e>
                            <m:r>
                              <a:rPr lang="en-US" altLang="zh-CN" sz="2400" i="1">
                                <a:solidFill>
                                  <a:schemeClr val="tx1"/>
                                </a:solidFill>
                                <a:latin typeface="Cambria Math" panose="02040503050406030204" pitchFamily="18" charset="0"/>
                                <a:ea typeface="微软雅黑" panose="020B0503020204020204" pitchFamily="34" charset="-122"/>
                              </a:rPr>
                              <m:t>𝑀</m:t>
                            </m:r>
                          </m:e>
                          <m:sub>
                            <m:r>
                              <a:rPr lang="en-US" altLang="zh-CN" sz="2400" b="0" i="1">
                                <a:solidFill>
                                  <a:schemeClr val="tx1"/>
                                </a:solidFill>
                                <a:latin typeface="Cambria Math" panose="02040503050406030204" pitchFamily="18" charset="0"/>
                                <a:ea typeface="微软雅黑" panose="020B0503020204020204" pitchFamily="34" charset="-122"/>
                              </a:rPr>
                              <m:t>𝑠</m:t>
                            </m:r>
                          </m:sub>
                        </m:sSub>
                        <m:r>
                          <a:rPr lang="en-US" altLang="zh-CN" sz="2400" b="1" i="1" smtClean="0">
                            <a:solidFill>
                              <a:schemeClr val="tx1"/>
                            </a:solidFill>
                            <a:latin typeface="Cambria Math" panose="02040503050406030204" pitchFamily="18" charset="0"/>
                            <a:ea typeface="微软雅黑" panose="020B0503020204020204" pitchFamily="34" charset="-122"/>
                          </a:rPr>
                          <m:t>&gt;</m:t>
                        </m:r>
                        <m:sSub>
                          <m:sSubPr>
                            <m:ctrlPr>
                              <a:rPr lang="en-US" altLang="zh-CN" sz="2400" i="1">
                                <a:solidFill>
                                  <a:schemeClr val="tx1"/>
                                </a:solidFill>
                                <a:latin typeface="Cambria Math"/>
                                <a:ea typeface="微软雅黑" panose="020B0503020204020204" pitchFamily="34" charset="-122"/>
                              </a:rPr>
                            </m:ctrlPr>
                          </m:sSubPr>
                          <m:e>
                            <m:r>
                              <a:rPr lang="en-US" altLang="zh-CN" sz="2400" i="1">
                                <a:solidFill>
                                  <a:schemeClr val="tx1"/>
                                </a:solidFill>
                                <a:latin typeface="Cambria Math" panose="02040503050406030204" pitchFamily="18" charset="0"/>
                                <a:ea typeface="微软雅黑" panose="020B0503020204020204" pitchFamily="34" charset="-122"/>
                              </a:rPr>
                              <m:t>𝑀</m:t>
                            </m:r>
                          </m:e>
                          <m:sub>
                            <m:r>
                              <a:rPr lang="en-US" altLang="zh-CN" sz="2400" b="0" i="1">
                                <a:solidFill>
                                  <a:schemeClr val="tx1"/>
                                </a:solidFill>
                                <a:latin typeface="Cambria Math" panose="02040503050406030204" pitchFamily="18" charset="0"/>
                                <a:ea typeface="微软雅黑" panose="020B0503020204020204" pitchFamily="34" charset="-122"/>
                              </a:rPr>
                              <m:t>𝑑</m:t>
                            </m:r>
                          </m:sub>
                        </m:sSub>
                      </m:oMath>
                    </m:oMathPara>
                  </a14:m>
                  <a:endParaRPr lang="en-US" altLang="zh-CN" sz="2400" b="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mc:Choice>
          <mc:Fallback xmlns="">
            <p:sp>
              <p:nvSpPr>
                <p:cNvPr id="36" name="Text Box 7"/>
                <p:cNvSpPr txBox="1">
                  <a:spLocks noRot="1" noChangeAspect="1" noMove="1" noResize="1" noEditPoints="1" noAdjustHandles="1" noChangeArrowheads="1" noChangeShapeType="1" noTextEdit="1"/>
                </p:cNvSpPr>
                <p:nvPr/>
              </p:nvSpPr>
              <p:spPr bwMode="auto">
                <a:xfrm>
                  <a:off x="3210045" y="3403445"/>
                  <a:ext cx="1555845" cy="523220"/>
                </a:xfrm>
                <a:prstGeom prst="rect">
                  <a:avLst/>
                </a:prstGeom>
                <a:blipFill rotWithShape="0">
                  <a:blip r:embed="rId4"/>
                  <a:stretch>
                    <a:fillRect/>
                  </a:stretch>
                </a:blipFill>
                <a:ln>
                  <a:solidFill>
                    <a:schemeClr val="accent1"/>
                  </a:solidFill>
                </a:ln>
              </p:spPr>
              <p:txBody>
                <a:bodyPr/>
                <a:lstStyle/>
                <a:p>
                  <a:r>
                    <a:rPr lang="zh-CN" altLang="en-US">
                      <a:noFill/>
                    </a:rPr>
                    <a:t> </a:t>
                  </a:r>
                </a:p>
              </p:txBody>
            </p:sp>
          </mc:Fallback>
        </mc:AlternateContent>
        <p:cxnSp>
          <p:nvCxnSpPr>
            <p:cNvPr id="41" name="直接箭头连接符 40"/>
            <p:cNvCxnSpPr>
              <a:stCxn id="35" idx="3"/>
              <a:endCxn id="36" idx="1"/>
            </p:cNvCxnSpPr>
            <p:nvPr/>
          </p:nvCxnSpPr>
          <p:spPr>
            <a:xfrm>
              <a:off x="2668678" y="3611928"/>
              <a:ext cx="541367" cy="223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nvGrpSpPr>
        <p:grpSpPr>
          <a:xfrm>
            <a:off x="4765890" y="3249556"/>
            <a:ext cx="3824318" cy="830997"/>
            <a:chOff x="4765890" y="3249556"/>
            <a:chExt cx="3824318" cy="830997"/>
          </a:xfrm>
        </p:grpSpPr>
        <mc:AlternateContent xmlns:mc="http://schemas.openxmlformats.org/markup-compatibility/2006" xmlns:a14="http://schemas.microsoft.com/office/drawing/2010/main">
          <mc:Choice Requires="a14">
            <p:sp>
              <p:nvSpPr>
                <p:cNvPr id="37" name="Text Box 9"/>
                <p:cNvSpPr txBox="1">
                  <a:spLocks noChangeArrowheads="1"/>
                </p:cNvSpPr>
                <p:nvPr/>
              </p:nvSpPr>
              <p:spPr bwMode="auto">
                <a:xfrm>
                  <a:off x="5307257" y="3249556"/>
                  <a:ext cx="3282951" cy="830997"/>
                </a:xfrm>
                <a:prstGeom prst="rect">
                  <a:avLst/>
                </a:prstGeom>
                <a:noFill/>
                <a:ln>
                  <a:solidFill>
                    <a:schemeClr val="accent1"/>
                  </a:solidFill>
                </a:ln>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0" dirty="0" smtClean="0">
                      <a:latin typeface="微软雅黑" panose="020B0503020204020204" pitchFamily="34" charset="-122"/>
                      <a:ea typeface="微软雅黑" panose="020B0503020204020204" pitchFamily="34" charset="-122"/>
                    </a:rPr>
                    <a:t>对国外商品和金融资产的需求</a:t>
                  </a:r>
                  <a14:m>
                    <m:oMath xmlns:m="http://schemas.openxmlformats.org/officeDocument/2006/math">
                      <m:r>
                        <a:rPr lang="en-US" altLang="zh-CN" sz="2400" b="0" i="0" smtClean="0">
                          <a:latin typeface="Cambria Math" panose="02040503050406030204" pitchFamily="18" charset="0"/>
                          <a:ea typeface="Cambria Math" panose="02040503050406030204" pitchFamily="18" charset="0"/>
                        </a:rPr>
                        <m:t> </m:t>
                      </m:r>
                      <m:r>
                        <a:rPr lang="en-US" altLang="zh-CN" sz="2400" b="0" i="1">
                          <a:latin typeface="Cambria Math" panose="02040503050406030204" pitchFamily="18" charset="0"/>
                          <a:ea typeface="Cambria Math" panose="02040503050406030204" pitchFamily="18" charset="0"/>
                        </a:rPr>
                        <m:t>↑</m:t>
                      </m:r>
                    </m:oMath>
                  </a14:m>
                  <a:endParaRPr lang="zh-CN" altLang="en-US" sz="2400" b="0" dirty="0">
                    <a:latin typeface="微软雅黑" panose="020B0503020204020204" pitchFamily="34" charset="-122"/>
                    <a:ea typeface="微软雅黑" panose="020B0503020204020204" pitchFamily="34" charset="-122"/>
                  </a:endParaRPr>
                </a:p>
              </p:txBody>
            </p:sp>
          </mc:Choice>
          <mc:Fallback xmlns="">
            <p:sp>
              <p:nvSpPr>
                <p:cNvPr id="37" name="Text Box 9"/>
                <p:cNvSpPr txBox="1">
                  <a:spLocks noRot="1" noChangeAspect="1" noMove="1" noResize="1" noEditPoints="1" noAdjustHandles="1" noChangeArrowheads="1" noChangeShapeType="1" noTextEdit="1"/>
                </p:cNvSpPr>
                <p:nvPr/>
              </p:nvSpPr>
              <p:spPr bwMode="auto">
                <a:xfrm>
                  <a:off x="5307257" y="3249556"/>
                  <a:ext cx="3282951" cy="830997"/>
                </a:xfrm>
                <a:prstGeom prst="rect">
                  <a:avLst/>
                </a:prstGeom>
                <a:blipFill rotWithShape="0">
                  <a:blip r:embed="rId5"/>
                  <a:stretch>
                    <a:fillRect l="-2778" t="-5072" r="-1111" b="-15217"/>
                  </a:stretch>
                </a:blipFill>
                <a:ln>
                  <a:solidFill>
                    <a:schemeClr val="accent1"/>
                  </a:solidFill>
                </a:ln>
              </p:spPr>
              <p:txBody>
                <a:bodyPr/>
                <a:lstStyle/>
                <a:p>
                  <a:r>
                    <a:rPr lang="zh-CN" altLang="en-US">
                      <a:noFill/>
                    </a:rPr>
                    <a:t> </a:t>
                  </a:r>
                </a:p>
              </p:txBody>
            </p:sp>
          </mc:Fallback>
        </mc:AlternateContent>
        <p:cxnSp>
          <p:nvCxnSpPr>
            <p:cNvPr id="42" name="直接箭头连接符 41"/>
            <p:cNvCxnSpPr/>
            <p:nvPr/>
          </p:nvCxnSpPr>
          <p:spPr>
            <a:xfrm flipV="1">
              <a:off x="4765890" y="3665055"/>
              <a:ext cx="541367" cy="52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49" name="组合 48"/>
          <p:cNvGrpSpPr/>
          <p:nvPr/>
        </p:nvGrpSpPr>
        <p:grpSpPr>
          <a:xfrm>
            <a:off x="2687233" y="4872053"/>
            <a:ext cx="2803664" cy="830997"/>
            <a:chOff x="2687233" y="4872053"/>
            <a:chExt cx="2803664" cy="830997"/>
          </a:xfrm>
        </p:grpSpPr>
        <mc:AlternateContent xmlns:mc="http://schemas.openxmlformats.org/markup-compatibility/2006" xmlns:a14="http://schemas.microsoft.com/office/drawing/2010/main">
          <mc:Choice Requires="a14">
            <p:sp>
              <p:nvSpPr>
                <p:cNvPr id="39" name="Text Box 12"/>
                <p:cNvSpPr txBox="1">
                  <a:spLocks noChangeArrowheads="1"/>
                </p:cNvSpPr>
                <p:nvPr/>
              </p:nvSpPr>
              <p:spPr bwMode="auto">
                <a:xfrm>
                  <a:off x="3228600" y="4872053"/>
                  <a:ext cx="2262297" cy="830997"/>
                </a:xfrm>
                <a:prstGeom prst="rect">
                  <a:avLst/>
                </a:prstGeom>
                <a:noFill/>
                <a:ln>
                  <a:solidFill>
                    <a:schemeClr val="accent1"/>
                  </a:solidFill>
                </a:ln>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0" dirty="0" smtClean="0">
                      <a:latin typeface="微软雅黑" panose="020B0503020204020204" pitchFamily="34" charset="-122"/>
                      <a:ea typeface="微软雅黑" panose="020B0503020204020204" pitchFamily="34" charset="-122"/>
                    </a:rPr>
                    <a:t>外汇市场干预、储备</a:t>
                  </a:r>
                  <a14:m>
                    <m:oMath xmlns:m="http://schemas.openxmlformats.org/officeDocument/2006/math">
                      <m:r>
                        <m:rPr>
                          <m:sty m:val="p"/>
                        </m:rPr>
                        <a:rPr lang="en-US" altLang="zh-CN" sz="2400" b="0" i="0" smtClean="0">
                          <a:latin typeface="Cambria Math" panose="02040503050406030204" pitchFamily="18" charset="0"/>
                          <a:ea typeface="Cambria Math" panose="02040503050406030204" pitchFamily="18" charset="0"/>
                        </a:rPr>
                        <m:t>R</m:t>
                      </m:r>
                      <m:r>
                        <a:rPr lang="en-US" altLang="zh-CN" sz="2400" b="0" i="1" smtClean="0">
                          <a:latin typeface="Cambria Math" panose="02040503050406030204" pitchFamily="18" charset="0"/>
                          <a:ea typeface="Cambria Math" panose="02040503050406030204" pitchFamily="18" charset="0"/>
                        </a:rPr>
                        <m:t>↓</m:t>
                      </m:r>
                    </m:oMath>
                  </a14:m>
                  <a:endParaRPr lang="en-US" altLang="zh-CN" sz="2400" b="0" dirty="0">
                    <a:latin typeface="微软雅黑" panose="020B0503020204020204" pitchFamily="34" charset="-122"/>
                    <a:ea typeface="微软雅黑" panose="020B0503020204020204" pitchFamily="34" charset="-122"/>
                  </a:endParaRPr>
                </a:p>
              </p:txBody>
            </p:sp>
          </mc:Choice>
          <mc:Fallback xmlns="">
            <p:sp>
              <p:nvSpPr>
                <p:cNvPr id="39" name="Text Box 12"/>
                <p:cNvSpPr txBox="1">
                  <a:spLocks noRot="1" noChangeAspect="1" noMove="1" noResize="1" noEditPoints="1" noAdjustHandles="1" noChangeArrowheads="1" noChangeShapeType="1" noTextEdit="1"/>
                </p:cNvSpPr>
                <p:nvPr/>
              </p:nvSpPr>
              <p:spPr bwMode="auto">
                <a:xfrm>
                  <a:off x="3228600" y="4872053"/>
                  <a:ext cx="2262297" cy="954107"/>
                </a:xfrm>
                <a:prstGeom prst="rect">
                  <a:avLst/>
                </a:prstGeom>
                <a:blipFill rotWithShape="0">
                  <a:blip r:embed="rId6"/>
                  <a:stretch>
                    <a:fillRect l="-5362" t="-5660" b="-15723"/>
                  </a:stretch>
                </a:blipFill>
                <a:ln>
                  <a:solidFill>
                    <a:schemeClr val="accent1"/>
                  </a:solidFill>
                </a:ln>
              </p:spPr>
              <p:txBody>
                <a:bodyPr/>
                <a:lstStyle/>
                <a:p>
                  <a:r>
                    <a:rPr lang="zh-CN" altLang="en-US">
                      <a:noFill/>
                    </a:rPr>
                    <a:t> </a:t>
                  </a:r>
                </a:p>
              </p:txBody>
            </p:sp>
          </mc:Fallback>
        </mc:AlternateContent>
        <p:cxnSp>
          <p:nvCxnSpPr>
            <p:cNvPr id="43" name="直接箭头连接符 42"/>
            <p:cNvCxnSpPr/>
            <p:nvPr/>
          </p:nvCxnSpPr>
          <p:spPr>
            <a:xfrm flipV="1">
              <a:off x="2687233" y="5346501"/>
              <a:ext cx="541367" cy="52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50" name="组合 49"/>
          <p:cNvGrpSpPr/>
          <p:nvPr/>
        </p:nvGrpSpPr>
        <p:grpSpPr>
          <a:xfrm>
            <a:off x="5500174" y="5087495"/>
            <a:ext cx="2106489" cy="461665"/>
            <a:chOff x="5500174" y="5087495"/>
            <a:chExt cx="2106489" cy="461665"/>
          </a:xfrm>
        </p:grpSpPr>
        <p:cxnSp>
          <p:nvCxnSpPr>
            <p:cNvPr id="44" name="直接箭头连接符 43"/>
            <p:cNvCxnSpPr/>
            <p:nvPr/>
          </p:nvCxnSpPr>
          <p:spPr>
            <a:xfrm flipV="1">
              <a:off x="5500174" y="5341292"/>
              <a:ext cx="541367" cy="52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 Box 7"/>
                <p:cNvSpPr txBox="1">
                  <a:spLocks noChangeArrowheads="1"/>
                </p:cNvSpPr>
                <p:nvPr/>
              </p:nvSpPr>
              <p:spPr bwMode="auto">
                <a:xfrm>
                  <a:off x="6050818" y="5087495"/>
                  <a:ext cx="1555845" cy="461665"/>
                </a:xfrm>
                <a:prstGeom prst="rect">
                  <a:avLst/>
                </a:prstGeom>
                <a:noFill/>
                <a:ln>
                  <a:solidFill>
                    <a:schemeClr val="accent1"/>
                  </a:solidFill>
                </a:ln>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a:ea typeface="微软雅黑" panose="020B0503020204020204" pitchFamily="34" charset="-122"/>
                              </a:rPr>
                            </m:ctrlPr>
                          </m:sSubPr>
                          <m:e>
                            <m:r>
                              <a:rPr lang="en-US" altLang="zh-CN" sz="2400" i="1">
                                <a:solidFill>
                                  <a:schemeClr val="tx1"/>
                                </a:solidFill>
                                <a:latin typeface="Cambria Math" panose="02040503050406030204" pitchFamily="18" charset="0"/>
                                <a:ea typeface="微软雅黑" panose="020B0503020204020204" pitchFamily="34" charset="-122"/>
                              </a:rPr>
                              <m:t>𝑀</m:t>
                            </m:r>
                          </m:e>
                          <m:sub>
                            <m:r>
                              <a:rPr lang="en-US" altLang="zh-CN" sz="2400" b="0" i="1">
                                <a:solidFill>
                                  <a:schemeClr val="tx1"/>
                                </a:solidFill>
                                <a:latin typeface="Cambria Math" panose="02040503050406030204" pitchFamily="18" charset="0"/>
                                <a:ea typeface="微软雅黑" panose="020B0503020204020204" pitchFamily="34" charset="-122"/>
                              </a:rPr>
                              <m:t>𝑠</m:t>
                            </m:r>
                          </m:sub>
                        </m:sSub>
                        <m:r>
                          <a:rPr lang="en-US" altLang="zh-CN" sz="2400" b="0" i="1" smtClean="0">
                            <a:solidFill>
                              <a:schemeClr val="tx1"/>
                            </a:solidFill>
                            <a:latin typeface="Cambria Math" panose="02040503050406030204" pitchFamily="18" charset="0"/>
                            <a:ea typeface="微软雅黑" panose="020B0503020204020204" pitchFamily="34" charset="-122"/>
                          </a:rPr>
                          <m:t>=</m:t>
                        </m:r>
                        <m:sSub>
                          <m:sSubPr>
                            <m:ctrlPr>
                              <a:rPr lang="en-US" altLang="zh-CN" sz="2400" i="1">
                                <a:solidFill>
                                  <a:schemeClr val="tx1"/>
                                </a:solidFill>
                                <a:latin typeface="Cambria Math"/>
                                <a:ea typeface="微软雅黑" panose="020B0503020204020204" pitchFamily="34" charset="-122"/>
                              </a:rPr>
                            </m:ctrlPr>
                          </m:sSubPr>
                          <m:e>
                            <m:r>
                              <a:rPr lang="en-US" altLang="zh-CN" sz="2400" i="1">
                                <a:solidFill>
                                  <a:schemeClr val="tx1"/>
                                </a:solidFill>
                                <a:latin typeface="Cambria Math" panose="02040503050406030204" pitchFamily="18" charset="0"/>
                                <a:ea typeface="微软雅黑" panose="020B0503020204020204" pitchFamily="34" charset="-122"/>
                              </a:rPr>
                              <m:t>𝑀</m:t>
                            </m:r>
                          </m:e>
                          <m:sub>
                            <m:r>
                              <a:rPr lang="en-US" altLang="zh-CN" sz="2400" b="0" i="1">
                                <a:solidFill>
                                  <a:schemeClr val="tx1"/>
                                </a:solidFill>
                                <a:latin typeface="Cambria Math" panose="02040503050406030204" pitchFamily="18" charset="0"/>
                                <a:ea typeface="微软雅黑" panose="020B0503020204020204" pitchFamily="34" charset="-122"/>
                              </a:rPr>
                              <m:t>𝑑</m:t>
                            </m:r>
                          </m:sub>
                        </m:sSub>
                      </m:oMath>
                    </m:oMathPara>
                  </a14:m>
                  <a:endParaRPr lang="en-US" altLang="zh-CN" sz="2400" b="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mc:Choice>
          <mc:Fallback xmlns="">
            <p:sp>
              <p:nvSpPr>
                <p:cNvPr id="45" name="Text Box 7"/>
                <p:cNvSpPr txBox="1">
                  <a:spLocks noRot="1" noChangeAspect="1" noMove="1" noResize="1" noEditPoints="1" noAdjustHandles="1" noChangeArrowheads="1" noChangeShapeType="1" noTextEdit="1"/>
                </p:cNvSpPr>
                <p:nvPr/>
              </p:nvSpPr>
              <p:spPr bwMode="auto">
                <a:xfrm>
                  <a:off x="6050818" y="5087495"/>
                  <a:ext cx="1555845" cy="523220"/>
                </a:xfrm>
                <a:prstGeom prst="rect">
                  <a:avLst/>
                </a:prstGeom>
                <a:blipFill rotWithShape="0">
                  <a:blip r:embed="rId7"/>
                  <a:stretch>
                    <a:fillRect/>
                  </a:stretch>
                </a:blipFill>
                <a:ln>
                  <a:solidFill>
                    <a:schemeClr val="accent1"/>
                  </a:solidFill>
                </a:ln>
              </p:spPr>
              <p:txBody>
                <a:bodyPr/>
                <a:lstStyle/>
                <a:p>
                  <a:r>
                    <a:rPr lang="zh-CN" altLang="en-US">
                      <a:noFill/>
                    </a:rPr>
                    <a:t> </a:t>
                  </a:r>
                </a:p>
              </p:txBody>
            </p:sp>
          </mc:Fallback>
        </mc:AlternateContent>
      </p:grpSp>
    </p:spTree>
    <p:extLst>
      <p:ext uri="{BB962C8B-B14F-4D97-AF65-F5344CB8AC3E}">
        <p14:creationId xmlns:p14="http://schemas.microsoft.com/office/powerpoint/2010/main" val="3896952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 calcmode="lin" valueType="num">
                                      <p:cBhvr additive="base">
                                        <p:cTn id="12" dur="500" fill="hold"/>
                                        <p:tgtEl>
                                          <p:spTgt spid="35"/>
                                        </p:tgtEl>
                                        <p:attrNameLst>
                                          <p:attrName>ppt_x</p:attrName>
                                        </p:attrNameLst>
                                      </p:cBhvr>
                                      <p:tavLst>
                                        <p:tav tm="0">
                                          <p:val>
                                            <p:strVal val="0-#ppt_w/2"/>
                                          </p:val>
                                        </p:tav>
                                        <p:tav tm="100000">
                                          <p:val>
                                            <p:strVal val="#ppt_x"/>
                                          </p:val>
                                        </p:tav>
                                      </p:tavLst>
                                    </p:anim>
                                    <p:anim calcmode="lin" valueType="num">
                                      <p:cBhvr additive="base">
                                        <p:cTn id="13"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46"/>
                                        </p:tgtEl>
                                        <p:attrNameLst>
                                          <p:attrName>style.visibility</p:attrName>
                                        </p:attrNameLst>
                                      </p:cBhvr>
                                      <p:to>
                                        <p:strVal val="visible"/>
                                      </p:to>
                                    </p:set>
                                    <p:anim calcmode="lin" valueType="num">
                                      <p:cBhvr additive="base">
                                        <p:cTn id="18" dur="500" fill="hold"/>
                                        <p:tgtEl>
                                          <p:spTgt spid="46"/>
                                        </p:tgtEl>
                                        <p:attrNameLst>
                                          <p:attrName>ppt_x</p:attrName>
                                        </p:attrNameLst>
                                      </p:cBhvr>
                                      <p:tavLst>
                                        <p:tav tm="0">
                                          <p:val>
                                            <p:strVal val="0-#ppt_w/2"/>
                                          </p:val>
                                        </p:tav>
                                        <p:tav tm="100000">
                                          <p:val>
                                            <p:strVal val="#ppt_x"/>
                                          </p:val>
                                        </p:tav>
                                      </p:tavLst>
                                    </p:anim>
                                    <p:anim calcmode="lin" valueType="num">
                                      <p:cBhvr additive="base">
                                        <p:cTn id="19" dur="500" fill="hold"/>
                                        <p:tgtEl>
                                          <p:spTgt spid="4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47"/>
                                        </p:tgtEl>
                                        <p:attrNameLst>
                                          <p:attrName>style.visibility</p:attrName>
                                        </p:attrNameLst>
                                      </p:cBhvr>
                                      <p:to>
                                        <p:strVal val="visible"/>
                                      </p:to>
                                    </p:set>
                                    <p:anim calcmode="lin" valueType="num">
                                      <p:cBhvr additive="base">
                                        <p:cTn id="24" dur="500" fill="hold"/>
                                        <p:tgtEl>
                                          <p:spTgt spid="47"/>
                                        </p:tgtEl>
                                        <p:attrNameLst>
                                          <p:attrName>ppt_x</p:attrName>
                                        </p:attrNameLst>
                                      </p:cBhvr>
                                      <p:tavLst>
                                        <p:tav tm="0">
                                          <p:val>
                                            <p:strVal val="0-#ppt_w/2"/>
                                          </p:val>
                                        </p:tav>
                                        <p:tav tm="100000">
                                          <p:val>
                                            <p:strVal val="#ppt_x"/>
                                          </p:val>
                                        </p:tav>
                                      </p:tavLst>
                                    </p:anim>
                                    <p:anim calcmode="lin" valueType="num">
                                      <p:cBhvr additive="base">
                                        <p:cTn id="25"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48"/>
                                        </p:tgtEl>
                                        <p:attrNameLst>
                                          <p:attrName>style.visibility</p:attrName>
                                        </p:attrNameLst>
                                      </p:cBhvr>
                                      <p:to>
                                        <p:strVal val="visible"/>
                                      </p:to>
                                    </p:set>
                                    <p:anim calcmode="lin" valueType="num">
                                      <p:cBhvr additive="base">
                                        <p:cTn id="30" dur="500" fill="hold"/>
                                        <p:tgtEl>
                                          <p:spTgt spid="48"/>
                                        </p:tgtEl>
                                        <p:attrNameLst>
                                          <p:attrName>ppt_x</p:attrName>
                                        </p:attrNameLst>
                                      </p:cBhvr>
                                      <p:tavLst>
                                        <p:tav tm="0">
                                          <p:val>
                                            <p:strVal val="#ppt_x"/>
                                          </p:val>
                                        </p:tav>
                                        <p:tav tm="100000">
                                          <p:val>
                                            <p:strVal val="#ppt_x"/>
                                          </p:val>
                                        </p:tav>
                                      </p:tavLst>
                                    </p:anim>
                                    <p:anim calcmode="lin" valueType="num">
                                      <p:cBhvr additive="base">
                                        <p:cTn id="31"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49"/>
                                        </p:tgtEl>
                                        <p:attrNameLst>
                                          <p:attrName>style.visibility</p:attrName>
                                        </p:attrNameLst>
                                      </p:cBhvr>
                                      <p:to>
                                        <p:strVal val="visible"/>
                                      </p:to>
                                    </p:set>
                                    <p:anim calcmode="lin" valueType="num">
                                      <p:cBhvr additive="base">
                                        <p:cTn id="36" dur="500" fill="hold"/>
                                        <p:tgtEl>
                                          <p:spTgt spid="49"/>
                                        </p:tgtEl>
                                        <p:attrNameLst>
                                          <p:attrName>ppt_x</p:attrName>
                                        </p:attrNameLst>
                                      </p:cBhvr>
                                      <p:tavLst>
                                        <p:tav tm="0">
                                          <p:val>
                                            <p:strVal val="0-#ppt_w/2"/>
                                          </p:val>
                                        </p:tav>
                                        <p:tav tm="100000">
                                          <p:val>
                                            <p:strVal val="#ppt_x"/>
                                          </p:val>
                                        </p:tav>
                                      </p:tavLst>
                                    </p:anim>
                                    <p:anim calcmode="lin" valueType="num">
                                      <p:cBhvr additive="base">
                                        <p:cTn id="37" dur="500" fill="hold"/>
                                        <p:tgtEl>
                                          <p:spTgt spid="49"/>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50"/>
                                        </p:tgtEl>
                                        <p:attrNameLst>
                                          <p:attrName>style.visibility</p:attrName>
                                        </p:attrNameLst>
                                      </p:cBhvr>
                                      <p:to>
                                        <p:strVal val="visible"/>
                                      </p:to>
                                    </p:set>
                                    <p:anim calcmode="lin" valueType="num">
                                      <p:cBhvr additive="base">
                                        <p:cTn id="42" dur="500" fill="hold"/>
                                        <p:tgtEl>
                                          <p:spTgt spid="50"/>
                                        </p:tgtEl>
                                        <p:attrNameLst>
                                          <p:attrName>ppt_x</p:attrName>
                                        </p:attrNameLst>
                                      </p:cBhvr>
                                      <p:tavLst>
                                        <p:tav tm="0">
                                          <p:val>
                                            <p:strVal val="0-#ppt_w/2"/>
                                          </p:val>
                                        </p:tav>
                                        <p:tav tm="100000">
                                          <p:val>
                                            <p:strVal val="#ppt_x"/>
                                          </p:val>
                                        </p:tav>
                                      </p:tavLst>
                                    </p:anim>
                                    <p:anim calcmode="lin" valueType="num">
                                      <p:cBhvr additive="base">
                                        <p:cTn id="43" dur="500" fill="hold"/>
                                        <p:tgtEl>
                                          <p:spTgt spid="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a:t>
            </a:r>
            <a:r>
              <a:rPr lang="zh-CN" altLang="en-US" dirty="0" smtClean="0"/>
              <a:t>货币</a:t>
            </a:r>
            <a:r>
              <a:rPr lang="zh-CN" altLang="en-US" dirty="0"/>
              <a:t>分析法</a:t>
            </a:r>
          </a:p>
        </p:txBody>
      </p:sp>
      <p:sp>
        <p:nvSpPr>
          <p:cNvPr id="3" name="内容占位符 2"/>
          <p:cNvSpPr>
            <a:spLocks noGrp="1"/>
          </p:cNvSpPr>
          <p:nvPr>
            <p:ph idx="1"/>
          </p:nvPr>
        </p:nvSpPr>
        <p:spPr>
          <a:xfrm>
            <a:off x="971550" y="1447800"/>
            <a:ext cx="7618658" cy="4559300"/>
          </a:xfrm>
        </p:spPr>
        <p:txBody>
          <a:bodyPr>
            <a:normAutofit/>
          </a:bodyPr>
          <a:lstStyle/>
          <a:p>
            <a:pPr marL="0" indent="0">
              <a:lnSpc>
                <a:spcPct val="100000"/>
              </a:lnSpc>
              <a:spcBef>
                <a:spcPts val="1000"/>
              </a:spcBef>
              <a:buNone/>
            </a:pPr>
            <a:r>
              <a:rPr lang="zh-CN" altLang="en-US" sz="2400" dirty="0" smtClean="0">
                <a:latin typeface="微软雅黑" panose="020B0503020204020204" pitchFamily="34" charset="-122"/>
                <a:ea typeface="微软雅黑" panose="020B0503020204020204" pitchFamily="34" charset="-122"/>
              </a:rPr>
              <a:t>二、货币论的主要内容</a:t>
            </a:r>
            <a:endParaRPr lang="zh-CN" altLang="en-US" sz="2400" dirty="0">
              <a:latin typeface="微软雅黑" panose="020B0503020204020204" pitchFamily="34" charset="-122"/>
              <a:ea typeface="微软雅黑" panose="020B0503020204020204" pitchFamily="34" charset="-122"/>
            </a:endParaRPr>
          </a:p>
          <a:p>
            <a:pPr marL="514350" indent="-514350">
              <a:lnSpc>
                <a:spcPct val="100000"/>
              </a:lnSpc>
              <a:spcBef>
                <a:spcPts val="1000"/>
              </a:spcBef>
              <a:buFont typeface="+mj-lt"/>
              <a:buAutoNum type="arabicPeriod" startAt="2"/>
            </a:pPr>
            <a:r>
              <a:rPr lang="zh-CN" altLang="en-US" sz="2400" dirty="0" smtClean="0">
                <a:latin typeface="微软雅黑" panose="020B0503020204020204" pitchFamily="34" charset="-122"/>
                <a:ea typeface="微软雅黑" panose="020B0503020204020204" pitchFamily="34" charset="-122"/>
              </a:rPr>
              <a:t>实行</a:t>
            </a:r>
            <a:r>
              <a:rPr lang="zh-CN" altLang="en-US" sz="2400" dirty="0">
                <a:latin typeface="微软雅黑" panose="020B0503020204020204" pitchFamily="34" charset="-122"/>
                <a:ea typeface="微软雅黑" panose="020B0503020204020204" pitchFamily="34" charset="-122"/>
              </a:rPr>
              <a:t>固定汇率制的小国的货币市场均衡与国际收支的</a:t>
            </a:r>
            <a:r>
              <a:rPr lang="zh-CN" altLang="en-US" sz="2400" dirty="0" smtClean="0">
                <a:latin typeface="微软雅黑" panose="020B0503020204020204" pitchFamily="34" charset="-122"/>
                <a:ea typeface="微软雅黑" panose="020B0503020204020204" pitchFamily="34" charset="-122"/>
              </a:rPr>
              <a:t>关系</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mc:AlternateContent xmlns:mc="http://schemas.openxmlformats.org/markup-compatibility/2006" xmlns:a14="http://schemas.microsoft.com/office/drawing/2010/main">
        <mc:Choice Requires="a14">
          <p:sp>
            <p:nvSpPr>
              <p:cNvPr id="8" name="Text Box 5"/>
              <p:cNvSpPr txBox="1">
                <a:spLocks noChangeArrowheads="1"/>
              </p:cNvSpPr>
              <p:nvPr/>
            </p:nvSpPr>
            <p:spPr bwMode="auto">
              <a:xfrm>
                <a:off x="1337481" y="3196429"/>
                <a:ext cx="1331197" cy="830997"/>
              </a:xfrm>
              <a:prstGeom prst="rect">
                <a:avLst/>
              </a:prstGeom>
              <a:noFill/>
              <a:ln>
                <a:solidFill>
                  <a:schemeClr val="accent1"/>
                </a:solidFill>
              </a:ln>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0" dirty="0" smtClean="0">
                    <a:latin typeface="微软雅黑" panose="020B0503020204020204" pitchFamily="34" charset="-122"/>
                    <a:ea typeface="微软雅黑" panose="020B0503020204020204" pitchFamily="34" charset="-122"/>
                  </a:rPr>
                  <a:t>国内信贷</a:t>
                </a:r>
                <a14:m>
                  <m:oMath xmlns:m="http://schemas.openxmlformats.org/officeDocument/2006/math">
                    <m:r>
                      <a:rPr lang="en-US" altLang="zh-CN" sz="2400" b="0" i="1" smtClean="0">
                        <a:latin typeface="Cambria Math" panose="02040503050406030204" pitchFamily="18" charset="0"/>
                        <a:ea typeface="微软雅黑" panose="020B0503020204020204" pitchFamily="34" charset="-122"/>
                      </a:rPr>
                      <m:t>𝐷</m:t>
                    </m:r>
                    <m:r>
                      <a:rPr lang="en-US" altLang="zh-CN" sz="2400" b="0" i="1" smtClean="0">
                        <a:latin typeface="Cambria Math" panose="02040503050406030204" pitchFamily="18" charset="0"/>
                        <a:ea typeface="Cambria Math" panose="02040503050406030204" pitchFamily="18" charset="0"/>
                      </a:rPr>
                      <m:t>↓</m:t>
                    </m:r>
                  </m:oMath>
                </a14:m>
                <a:endParaRPr lang="en-US" altLang="zh-CN" sz="2400" b="0" dirty="0">
                  <a:latin typeface="微软雅黑" panose="020B0503020204020204" pitchFamily="34" charset="-122"/>
                  <a:ea typeface="微软雅黑" panose="020B0503020204020204" pitchFamily="34" charset="-122"/>
                </a:endParaRPr>
              </a:p>
            </p:txBody>
          </p:sp>
        </mc:Choice>
        <mc:Fallback xmlns="">
          <p:sp>
            <p:nvSpPr>
              <p:cNvPr id="8" name="Text Box 5"/>
              <p:cNvSpPr txBox="1">
                <a:spLocks noRot="1" noChangeAspect="1" noMove="1" noResize="1" noEditPoints="1" noAdjustHandles="1" noChangeArrowheads="1" noChangeShapeType="1" noTextEdit="1"/>
              </p:cNvSpPr>
              <p:nvPr/>
            </p:nvSpPr>
            <p:spPr bwMode="auto">
              <a:xfrm>
                <a:off x="1337481" y="3196429"/>
                <a:ext cx="1331197" cy="830997"/>
              </a:xfrm>
              <a:prstGeom prst="rect">
                <a:avLst/>
              </a:prstGeom>
              <a:blipFill rotWithShape="1">
                <a:blip r:embed="rId3"/>
                <a:stretch>
                  <a:fillRect l="-6335" t="-5036" b="-14388"/>
                </a:stretch>
              </a:blipFill>
              <a:ln>
                <a:solidFill>
                  <a:schemeClr val="accent1"/>
                </a:solidFill>
              </a:ln>
            </p:spPr>
            <p:txBody>
              <a:bodyPr/>
              <a:lstStyle/>
              <a:p>
                <a:r>
                  <a:rPr lang="zh-CN" altLang="en-US">
                    <a:noFill/>
                  </a:rPr>
                  <a:t> </a:t>
                </a:r>
              </a:p>
            </p:txBody>
          </p:sp>
        </mc:Fallback>
      </mc:AlternateContent>
      <p:grpSp>
        <p:nvGrpSpPr>
          <p:cNvPr id="23" name="组合 22"/>
          <p:cNvGrpSpPr/>
          <p:nvPr/>
        </p:nvGrpSpPr>
        <p:grpSpPr>
          <a:xfrm>
            <a:off x="1336582" y="3665055"/>
            <a:ext cx="7253626" cy="2037995"/>
            <a:chOff x="1336582" y="3665055"/>
            <a:chExt cx="7253626" cy="2037995"/>
          </a:xfrm>
        </p:grpSpPr>
        <p:sp>
          <p:nvSpPr>
            <p:cNvPr id="14" name="Text Box 11"/>
            <p:cNvSpPr txBox="1">
              <a:spLocks noChangeArrowheads="1"/>
            </p:cNvSpPr>
            <p:nvPr/>
          </p:nvSpPr>
          <p:spPr bwMode="auto">
            <a:xfrm>
              <a:off x="1336582" y="4872053"/>
              <a:ext cx="1332096" cy="830997"/>
            </a:xfrm>
            <a:prstGeom prst="rect">
              <a:avLst/>
            </a:prstGeom>
            <a:noFill/>
            <a:ln>
              <a:solidFill>
                <a:schemeClr val="accent1"/>
              </a:solidFill>
            </a:ln>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0" dirty="0">
                  <a:latin typeface="微软雅黑" panose="020B0503020204020204" pitchFamily="34" charset="-122"/>
                  <a:ea typeface="微软雅黑" panose="020B0503020204020204" pitchFamily="34" charset="-122"/>
                </a:rPr>
                <a:t>国际</a:t>
              </a:r>
              <a:r>
                <a:rPr lang="zh-CN" altLang="en-US" sz="2400" b="0" dirty="0" smtClean="0">
                  <a:latin typeface="微软雅黑" panose="020B0503020204020204" pitchFamily="34" charset="-122"/>
                  <a:ea typeface="微软雅黑" panose="020B0503020204020204" pitchFamily="34" charset="-122"/>
                </a:rPr>
                <a:t>收支盈余</a:t>
              </a:r>
              <a:endParaRPr lang="zh-CN" altLang="en-US" sz="2400" b="0" dirty="0">
                <a:latin typeface="微软雅黑" panose="020B0503020204020204" pitchFamily="34" charset="-122"/>
                <a:ea typeface="微软雅黑" panose="020B0503020204020204" pitchFamily="34" charset="-122"/>
              </a:endParaRPr>
            </a:p>
          </p:txBody>
        </p:sp>
        <p:cxnSp>
          <p:nvCxnSpPr>
            <p:cNvPr id="19" name="肘形连接符 18"/>
            <p:cNvCxnSpPr>
              <a:stCxn id="12" idx="3"/>
              <a:endCxn id="14" idx="1"/>
            </p:cNvCxnSpPr>
            <p:nvPr/>
          </p:nvCxnSpPr>
          <p:spPr>
            <a:xfrm flipH="1">
              <a:off x="1336582" y="3665055"/>
              <a:ext cx="7253626" cy="1622497"/>
            </a:xfrm>
            <a:prstGeom prst="bentConnector5">
              <a:avLst>
                <a:gd name="adj1" fmla="val -3152"/>
                <a:gd name="adj2" fmla="val 50000"/>
                <a:gd name="adj3" fmla="val 103152"/>
              </a:avLst>
            </a:prstGeom>
            <a:ln w="38100">
              <a:tailEnd type="triangle"/>
            </a:ln>
          </p:spPr>
          <p:style>
            <a:lnRef idx="3">
              <a:schemeClr val="accent1"/>
            </a:lnRef>
            <a:fillRef idx="0">
              <a:schemeClr val="accent1"/>
            </a:fillRef>
            <a:effectRef idx="2">
              <a:schemeClr val="accent1"/>
            </a:effectRef>
            <a:fontRef idx="minor">
              <a:schemeClr val="tx1"/>
            </a:fontRef>
          </p:style>
        </p:cxnSp>
      </p:grpSp>
      <p:grpSp>
        <p:nvGrpSpPr>
          <p:cNvPr id="21" name="组合 20"/>
          <p:cNvGrpSpPr/>
          <p:nvPr/>
        </p:nvGrpSpPr>
        <p:grpSpPr>
          <a:xfrm>
            <a:off x="2668678" y="3403445"/>
            <a:ext cx="2097212" cy="461665"/>
            <a:chOff x="2668678" y="3403445"/>
            <a:chExt cx="2097212" cy="461665"/>
          </a:xfrm>
        </p:grpSpPr>
        <mc:AlternateContent xmlns:mc="http://schemas.openxmlformats.org/markup-compatibility/2006" xmlns:a14="http://schemas.microsoft.com/office/drawing/2010/main">
          <mc:Choice Requires="a14">
            <p:sp>
              <p:nvSpPr>
                <p:cNvPr id="10" name="Text Box 7"/>
                <p:cNvSpPr txBox="1">
                  <a:spLocks noChangeArrowheads="1"/>
                </p:cNvSpPr>
                <p:nvPr/>
              </p:nvSpPr>
              <p:spPr bwMode="auto">
                <a:xfrm>
                  <a:off x="3210045" y="3403445"/>
                  <a:ext cx="1555845" cy="461665"/>
                </a:xfrm>
                <a:prstGeom prst="rect">
                  <a:avLst/>
                </a:prstGeom>
                <a:noFill/>
                <a:ln>
                  <a:solidFill>
                    <a:schemeClr val="accent1"/>
                  </a:solidFill>
                </a:ln>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a:ea typeface="微软雅黑" panose="020B0503020204020204" pitchFamily="34" charset="-122"/>
                              </a:rPr>
                            </m:ctrlPr>
                          </m:sSubPr>
                          <m:e>
                            <m:r>
                              <a:rPr lang="en-US" altLang="zh-CN" sz="2400" i="1">
                                <a:solidFill>
                                  <a:schemeClr val="tx1"/>
                                </a:solidFill>
                                <a:latin typeface="Cambria Math" panose="02040503050406030204" pitchFamily="18" charset="0"/>
                                <a:ea typeface="微软雅黑" panose="020B0503020204020204" pitchFamily="34" charset="-122"/>
                              </a:rPr>
                              <m:t>𝑀</m:t>
                            </m:r>
                          </m:e>
                          <m:sub>
                            <m:r>
                              <a:rPr lang="en-US" altLang="zh-CN" sz="2400" b="0" i="1">
                                <a:solidFill>
                                  <a:schemeClr val="tx1"/>
                                </a:solidFill>
                                <a:latin typeface="Cambria Math" panose="02040503050406030204" pitchFamily="18" charset="0"/>
                                <a:ea typeface="微软雅黑" panose="020B0503020204020204" pitchFamily="34" charset="-122"/>
                              </a:rPr>
                              <m:t>𝑠</m:t>
                            </m:r>
                          </m:sub>
                        </m:sSub>
                        <m:r>
                          <a:rPr lang="en-US" altLang="zh-CN" sz="2400" b="1" i="1" smtClean="0">
                            <a:solidFill>
                              <a:schemeClr val="tx1"/>
                            </a:solidFill>
                            <a:latin typeface="Cambria Math" panose="02040503050406030204" pitchFamily="18" charset="0"/>
                            <a:ea typeface="微软雅黑" panose="020B0503020204020204" pitchFamily="34" charset="-122"/>
                          </a:rPr>
                          <m:t>&lt;</m:t>
                        </m:r>
                        <m:sSub>
                          <m:sSubPr>
                            <m:ctrlPr>
                              <a:rPr lang="en-US" altLang="zh-CN" sz="2400" i="1">
                                <a:solidFill>
                                  <a:schemeClr val="tx1"/>
                                </a:solidFill>
                                <a:latin typeface="Cambria Math"/>
                                <a:ea typeface="微软雅黑" panose="020B0503020204020204" pitchFamily="34" charset="-122"/>
                              </a:rPr>
                            </m:ctrlPr>
                          </m:sSubPr>
                          <m:e>
                            <m:r>
                              <a:rPr lang="en-US" altLang="zh-CN" sz="2400" i="1">
                                <a:solidFill>
                                  <a:schemeClr val="tx1"/>
                                </a:solidFill>
                                <a:latin typeface="Cambria Math" panose="02040503050406030204" pitchFamily="18" charset="0"/>
                                <a:ea typeface="微软雅黑" panose="020B0503020204020204" pitchFamily="34" charset="-122"/>
                              </a:rPr>
                              <m:t>𝑀</m:t>
                            </m:r>
                          </m:e>
                          <m:sub>
                            <m:r>
                              <a:rPr lang="en-US" altLang="zh-CN" sz="2400" b="0" i="1">
                                <a:solidFill>
                                  <a:schemeClr val="tx1"/>
                                </a:solidFill>
                                <a:latin typeface="Cambria Math" panose="02040503050406030204" pitchFamily="18" charset="0"/>
                                <a:ea typeface="微软雅黑" panose="020B0503020204020204" pitchFamily="34" charset="-122"/>
                              </a:rPr>
                              <m:t>𝑑</m:t>
                            </m:r>
                          </m:sub>
                        </m:sSub>
                      </m:oMath>
                    </m:oMathPara>
                  </a14:m>
                  <a:endParaRPr lang="en-US" altLang="zh-CN" sz="2400" b="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mc:Choice>
          <mc:Fallback xmlns="">
            <p:sp>
              <p:nvSpPr>
                <p:cNvPr id="10" name="Text Box 7"/>
                <p:cNvSpPr txBox="1">
                  <a:spLocks noRot="1" noChangeAspect="1" noMove="1" noResize="1" noEditPoints="1" noAdjustHandles="1" noChangeArrowheads="1" noChangeShapeType="1" noTextEdit="1"/>
                </p:cNvSpPr>
                <p:nvPr/>
              </p:nvSpPr>
              <p:spPr bwMode="auto">
                <a:xfrm>
                  <a:off x="3210045" y="3403445"/>
                  <a:ext cx="1555845" cy="523220"/>
                </a:xfrm>
                <a:prstGeom prst="rect">
                  <a:avLst/>
                </a:prstGeom>
                <a:blipFill rotWithShape="0">
                  <a:blip r:embed="rId4"/>
                  <a:stretch>
                    <a:fillRect/>
                  </a:stretch>
                </a:blipFill>
                <a:ln>
                  <a:solidFill>
                    <a:schemeClr val="accent1"/>
                  </a:solidFill>
                </a:ln>
              </p:spPr>
              <p:txBody>
                <a:bodyPr/>
                <a:lstStyle/>
                <a:p>
                  <a:r>
                    <a:rPr lang="zh-CN" altLang="en-US">
                      <a:noFill/>
                    </a:rPr>
                    <a:t> </a:t>
                  </a:r>
                </a:p>
              </p:txBody>
            </p:sp>
          </mc:Fallback>
        </mc:AlternateContent>
        <p:cxnSp>
          <p:nvCxnSpPr>
            <p:cNvPr id="25" name="直接箭头连接符 24"/>
            <p:cNvCxnSpPr>
              <a:stCxn id="8" idx="3"/>
              <a:endCxn id="10" idx="1"/>
            </p:cNvCxnSpPr>
            <p:nvPr/>
          </p:nvCxnSpPr>
          <p:spPr>
            <a:xfrm>
              <a:off x="2668678" y="3611928"/>
              <a:ext cx="541367" cy="2235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4765890" y="3249556"/>
            <a:ext cx="3824318" cy="830997"/>
            <a:chOff x="4765890" y="3249556"/>
            <a:chExt cx="3824318" cy="830997"/>
          </a:xfrm>
        </p:grpSpPr>
        <p:sp>
          <p:nvSpPr>
            <p:cNvPr id="12" name="Text Box 9"/>
            <p:cNvSpPr txBox="1">
              <a:spLocks noChangeArrowheads="1"/>
            </p:cNvSpPr>
            <p:nvPr/>
          </p:nvSpPr>
          <p:spPr bwMode="auto">
            <a:xfrm>
              <a:off x="5307257" y="3249556"/>
              <a:ext cx="3282951" cy="830997"/>
            </a:xfrm>
            <a:prstGeom prst="rect">
              <a:avLst/>
            </a:prstGeom>
            <a:noFill/>
            <a:ln>
              <a:solidFill>
                <a:schemeClr val="accent1"/>
              </a:solidFill>
            </a:ln>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0" dirty="0">
                  <a:latin typeface="微软雅黑" panose="020B0503020204020204" pitchFamily="34" charset="-122"/>
                  <a:ea typeface="微软雅黑" panose="020B0503020204020204" pitchFamily="34" charset="-122"/>
                </a:rPr>
                <a:t>变卖国外金融资产、减少对国外商品的需求</a:t>
              </a:r>
            </a:p>
          </p:txBody>
        </p:sp>
        <p:cxnSp>
          <p:nvCxnSpPr>
            <p:cNvPr id="26" name="直接箭头连接符 25"/>
            <p:cNvCxnSpPr/>
            <p:nvPr/>
          </p:nvCxnSpPr>
          <p:spPr>
            <a:xfrm flipV="1">
              <a:off x="4765890" y="3665055"/>
              <a:ext cx="541367" cy="52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nvGrpSpPr>
        <p:grpSpPr>
          <a:xfrm>
            <a:off x="2687233" y="4872053"/>
            <a:ext cx="2803664" cy="830997"/>
            <a:chOff x="2687233" y="4872053"/>
            <a:chExt cx="2803664" cy="830997"/>
          </a:xfrm>
        </p:grpSpPr>
        <mc:AlternateContent xmlns:mc="http://schemas.openxmlformats.org/markup-compatibility/2006" xmlns:a14="http://schemas.microsoft.com/office/drawing/2010/main">
          <mc:Choice Requires="a14">
            <p:sp>
              <p:nvSpPr>
                <p:cNvPr id="15" name="Text Box 12"/>
                <p:cNvSpPr txBox="1">
                  <a:spLocks noChangeArrowheads="1"/>
                </p:cNvSpPr>
                <p:nvPr/>
              </p:nvSpPr>
              <p:spPr bwMode="auto">
                <a:xfrm>
                  <a:off x="3228600" y="4872053"/>
                  <a:ext cx="2262297" cy="830997"/>
                </a:xfrm>
                <a:prstGeom prst="rect">
                  <a:avLst/>
                </a:prstGeom>
                <a:noFill/>
                <a:ln>
                  <a:solidFill>
                    <a:schemeClr val="accent1"/>
                  </a:solidFill>
                </a:ln>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0" dirty="0" smtClean="0">
                      <a:latin typeface="微软雅黑" panose="020B0503020204020204" pitchFamily="34" charset="-122"/>
                      <a:ea typeface="微软雅黑" panose="020B0503020204020204" pitchFamily="34" charset="-122"/>
                    </a:rPr>
                    <a:t>外汇市场干预、储备</a:t>
                  </a:r>
                  <a14:m>
                    <m:oMath xmlns:m="http://schemas.openxmlformats.org/officeDocument/2006/math">
                      <m:r>
                        <m:rPr>
                          <m:sty m:val="p"/>
                        </m:rPr>
                        <a:rPr lang="en-US" altLang="zh-CN" sz="2400" b="0" i="0" smtClean="0">
                          <a:latin typeface="Cambria Math" panose="02040503050406030204" pitchFamily="18" charset="0"/>
                          <a:ea typeface="Cambria Math" panose="02040503050406030204" pitchFamily="18" charset="0"/>
                        </a:rPr>
                        <m:t>R</m:t>
                      </m:r>
                      <m:r>
                        <a:rPr lang="en-US" altLang="zh-CN" sz="2400" b="0" i="1" smtClean="0">
                          <a:latin typeface="Cambria Math" panose="02040503050406030204" pitchFamily="18" charset="0"/>
                          <a:ea typeface="Cambria Math" panose="02040503050406030204" pitchFamily="18" charset="0"/>
                        </a:rPr>
                        <m:t>↑</m:t>
                      </m:r>
                    </m:oMath>
                  </a14:m>
                  <a:endParaRPr lang="en-US" altLang="zh-CN" sz="2400" b="0" dirty="0">
                    <a:latin typeface="微软雅黑" panose="020B0503020204020204" pitchFamily="34" charset="-122"/>
                    <a:ea typeface="微软雅黑" panose="020B0503020204020204" pitchFamily="34" charset="-122"/>
                  </a:endParaRPr>
                </a:p>
              </p:txBody>
            </p:sp>
          </mc:Choice>
          <mc:Fallback xmlns="">
            <p:sp>
              <p:nvSpPr>
                <p:cNvPr id="15" name="Text Box 12"/>
                <p:cNvSpPr txBox="1">
                  <a:spLocks noRot="1" noChangeAspect="1" noMove="1" noResize="1" noEditPoints="1" noAdjustHandles="1" noChangeArrowheads="1" noChangeShapeType="1" noTextEdit="1"/>
                </p:cNvSpPr>
                <p:nvPr/>
              </p:nvSpPr>
              <p:spPr bwMode="auto">
                <a:xfrm>
                  <a:off x="3228600" y="4872053"/>
                  <a:ext cx="2262297" cy="954107"/>
                </a:xfrm>
                <a:prstGeom prst="rect">
                  <a:avLst/>
                </a:prstGeom>
                <a:blipFill rotWithShape="0">
                  <a:blip r:embed="rId5"/>
                  <a:stretch>
                    <a:fillRect l="-5362" t="-5660" b="-15723"/>
                  </a:stretch>
                </a:blipFill>
                <a:ln>
                  <a:solidFill>
                    <a:schemeClr val="accent1"/>
                  </a:solidFill>
                </a:ln>
              </p:spPr>
              <p:txBody>
                <a:bodyPr/>
                <a:lstStyle/>
                <a:p>
                  <a:r>
                    <a:rPr lang="zh-CN" altLang="en-US">
                      <a:noFill/>
                    </a:rPr>
                    <a:t> </a:t>
                  </a:r>
                </a:p>
              </p:txBody>
            </p:sp>
          </mc:Fallback>
        </mc:AlternateContent>
        <p:cxnSp>
          <p:nvCxnSpPr>
            <p:cNvPr id="29" name="直接箭头连接符 28"/>
            <p:cNvCxnSpPr/>
            <p:nvPr/>
          </p:nvCxnSpPr>
          <p:spPr>
            <a:xfrm flipV="1">
              <a:off x="2687233" y="5346501"/>
              <a:ext cx="541367" cy="52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5500174" y="5087495"/>
            <a:ext cx="2106489" cy="461665"/>
            <a:chOff x="5500174" y="5087495"/>
            <a:chExt cx="2106489" cy="461665"/>
          </a:xfrm>
        </p:grpSpPr>
        <p:cxnSp>
          <p:nvCxnSpPr>
            <p:cNvPr id="30" name="直接箭头连接符 29"/>
            <p:cNvCxnSpPr/>
            <p:nvPr/>
          </p:nvCxnSpPr>
          <p:spPr>
            <a:xfrm flipV="1">
              <a:off x="5500174" y="5341292"/>
              <a:ext cx="541367" cy="520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 Box 7"/>
                <p:cNvSpPr txBox="1">
                  <a:spLocks noChangeArrowheads="1"/>
                </p:cNvSpPr>
                <p:nvPr/>
              </p:nvSpPr>
              <p:spPr bwMode="auto">
                <a:xfrm>
                  <a:off x="6050818" y="5087495"/>
                  <a:ext cx="1555845" cy="461665"/>
                </a:xfrm>
                <a:prstGeom prst="rect">
                  <a:avLst/>
                </a:prstGeom>
                <a:noFill/>
                <a:ln>
                  <a:solidFill>
                    <a:schemeClr val="accent1"/>
                  </a:solidFill>
                </a:ln>
              </p:spPr>
              <p:txBody>
                <a:bodyPr wrap="square">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sSub>
                          <m:sSubPr>
                            <m:ctrlPr>
                              <a:rPr lang="en-US" altLang="zh-CN" sz="2400" i="1" smtClean="0">
                                <a:solidFill>
                                  <a:schemeClr val="tx1"/>
                                </a:solidFill>
                                <a:latin typeface="Cambria Math"/>
                                <a:ea typeface="微软雅黑" panose="020B0503020204020204" pitchFamily="34" charset="-122"/>
                              </a:rPr>
                            </m:ctrlPr>
                          </m:sSubPr>
                          <m:e>
                            <m:r>
                              <a:rPr lang="en-US" altLang="zh-CN" sz="2400" i="1">
                                <a:solidFill>
                                  <a:schemeClr val="tx1"/>
                                </a:solidFill>
                                <a:latin typeface="Cambria Math" panose="02040503050406030204" pitchFamily="18" charset="0"/>
                                <a:ea typeface="微软雅黑" panose="020B0503020204020204" pitchFamily="34" charset="-122"/>
                              </a:rPr>
                              <m:t>𝑀</m:t>
                            </m:r>
                          </m:e>
                          <m:sub>
                            <m:r>
                              <a:rPr lang="en-US" altLang="zh-CN" sz="2400" b="0" i="1">
                                <a:solidFill>
                                  <a:schemeClr val="tx1"/>
                                </a:solidFill>
                                <a:latin typeface="Cambria Math" panose="02040503050406030204" pitchFamily="18" charset="0"/>
                                <a:ea typeface="微软雅黑" panose="020B0503020204020204" pitchFamily="34" charset="-122"/>
                              </a:rPr>
                              <m:t>𝑠</m:t>
                            </m:r>
                          </m:sub>
                        </m:sSub>
                        <m:r>
                          <a:rPr lang="en-US" altLang="zh-CN" sz="2400" b="1" i="1" smtClean="0">
                            <a:solidFill>
                              <a:schemeClr val="tx1"/>
                            </a:solidFill>
                            <a:latin typeface="Cambria Math" panose="02040503050406030204" pitchFamily="18" charset="0"/>
                            <a:ea typeface="微软雅黑" panose="020B0503020204020204" pitchFamily="34" charset="-122"/>
                          </a:rPr>
                          <m:t>=</m:t>
                        </m:r>
                        <m:sSub>
                          <m:sSubPr>
                            <m:ctrlPr>
                              <a:rPr lang="en-US" altLang="zh-CN" sz="2400" i="1">
                                <a:solidFill>
                                  <a:schemeClr val="tx1"/>
                                </a:solidFill>
                                <a:latin typeface="Cambria Math"/>
                                <a:ea typeface="微软雅黑" panose="020B0503020204020204" pitchFamily="34" charset="-122"/>
                              </a:rPr>
                            </m:ctrlPr>
                          </m:sSubPr>
                          <m:e>
                            <m:r>
                              <a:rPr lang="en-US" altLang="zh-CN" sz="2400" i="1">
                                <a:solidFill>
                                  <a:schemeClr val="tx1"/>
                                </a:solidFill>
                                <a:latin typeface="Cambria Math" panose="02040503050406030204" pitchFamily="18" charset="0"/>
                                <a:ea typeface="微软雅黑" panose="020B0503020204020204" pitchFamily="34" charset="-122"/>
                              </a:rPr>
                              <m:t>𝑀</m:t>
                            </m:r>
                          </m:e>
                          <m:sub>
                            <m:r>
                              <a:rPr lang="en-US" altLang="zh-CN" sz="2400" b="0" i="1">
                                <a:solidFill>
                                  <a:schemeClr val="tx1"/>
                                </a:solidFill>
                                <a:latin typeface="Cambria Math" panose="02040503050406030204" pitchFamily="18" charset="0"/>
                                <a:ea typeface="微软雅黑" panose="020B0503020204020204" pitchFamily="34" charset="-122"/>
                              </a:rPr>
                              <m:t>𝑑</m:t>
                            </m:r>
                          </m:sub>
                        </m:sSub>
                      </m:oMath>
                    </m:oMathPara>
                  </a14:m>
                  <a:endParaRPr lang="en-US" altLang="zh-CN" sz="2400" b="0" dirty="0">
                    <a:solidFill>
                      <a:schemeClr val="tx1"/>
                    </a:solidFill>
                    <a:latin typeface="微软雅黑" panose="020B0503020204020204" pitchFamily="34" charset="-122"/>
                    <a:ea typeface="微软雅黑" panose="020B0503020204020204" pitchFamily="34" charset="-122"/>
                    <a:cs typeface="Arial" panose="020B0604020202020204" pitchFamily="34" charset="0"/>
                  </a:endParaRPr>
                </a:p>
              </p:txBody>
            </p:sp>
          </mc:Choice>
          <mc:Fallback xmlns="">
            <p:sp>
              <p:nvSpPr>
                <p:cNvPr id="28" name="Text Box 7"/>
                <p:cNvSpPr txBox="1">
                  <a:spLocks noRot="1" noChangeAspect="1" noMove="1" noResize="1" noEditPoints="1" noAdjustHandles="1" noChangeArrowheads="1" noChangeShapeType="1" noTextEdit="1"/>
                </p:cNvSpPr>
                <p:nvPr/>
              </p:nvSpPr>
              <p:spPr bwMode="auto">
                <a:xfrm>
                  <a:off x="6050818" y="5087495"/>
                  <a:ext cx="1555845" cy="523220"/>
                </a:xfrm>
                <a:prstGeom prst="rect">
                  <a:avLst/>
                </a:prstGeom>
                <a:blipFill rotWithShape="0">
                  <a:blip r:embed="rId6"/>
                  <a:stretch>
                    <a:fillRect/>
                  </a:stretch>
                </a:blipFill>
                <a:ln>
                  <a:solidFill>
                    <a:schemeClr val="accent1"/>
                  </a:solidFill>
                </a:ln>
              </p:spPr>
              <p:txBody>
                <a:bodyPr/>
                <a:lstStyle/>
                <a:p>
                  <a:r>
                    <a:rPr lang="zh-CN" altLang="en-US">
                      <a:noFill/>
                    </a:rPr>
                    <a:t> </a:t>
                  </a:r>
                </a:p>
              </p:txBody>
            </p:sp>
          </mc:Fallback>
        </mc:AlternateContent>
      </p:grpSp>
    </p:spTree>
    <p:extLst>
      <p:ext uri="{BB962C8B-B14F-4D97-AF65-F5344CB8AC3E}">
        <p14:creationId xmlns:p14="http://schemas.microsoft.com/office/powerpoint/2010/main" val="242291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 calcmode="lin" valueType="num">
                                      <p:cBhvr additive="base">
                                        <p:cTn id="13" dur="500" fill="hold"/>
                                        <p:tgtEl>
                                          <p:spTgt spid="21"/>
                                        </p:tgtEl>
                                        <p:attrNameLst>
                                          <p:attrName>ppt_x</p:attrName>
                                        </p:attrNameLst>
                                      </p:cBhvr>
                                      <p:tavLst>
                                        <p:tav tm="0">
                                          <p:val>
                                            <p:strVal val="0-#ppt_w/2"/>
                                          </p:val>
                                        </p:tav>
                                        <p:tav tm="100000">
                                          <p:val>
                                            <p:strVal val="#ppt_x"/>
                                          </p:val>
                                        </p:tav>
                                      </p:tavLst>
                                    </p:anim>
                                    <p:anim calcmode="lin" valueType="num">
                                      <p:cBhvr additive="base">
                                        <p:cTn id="14"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additive="base">
                                        <p:cTn id="19" dur="500" fill="hold"/>
                                        <p:tgtEl>
                                          <p:spTgt spid="22"/>
                                        </p:tgtEl>
                                        <p:attrNameLst>
                                          <p:attrName>ppt_x</p:attrName>
                                        </p:attrNameLst>
                                      </p:cBhvr>
                                      <p:tavLst>
                                        <p:tav tm="0">
                                          <p:val>
                                            <p:strVal val="0-#ppt_w/2"/>
                                          </p:val>
                                        </p:tav>
                                        <p:tav tm="100000">
                                          <p:val>
                                            <p:strVal val="#ppt_x"/>
                                          </p:val>
                                        </p:tav>
                                      </p:tavLst>
                                    </p:anim>
                                    <p:anim calcmode="lin" valueType="num">
                                      <p:cBhvr additive="base">
                                        <p:cTn id="20"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ppt_x"/>
                                          </p:val>
                                        </p:tav>
                                        <p:tav tm="100000">
                                          <p:val>
                                            <p:strVal val="#ppt_x"/>
                                          </p:val>
                                        </p:tav>
                                      </p:tavLst>
                                    </p:anim>
                                    <p:anim calcmode="lin" valueType="num">
                                      <p:cBhvr additive="base">
                                        <p:cTn id="2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additive="base">
                                        <p:cTn id="31" dur="500" fill="hold"/>
                                        <p:tgtEl>
                                          <p:spTgt spid="24"/>
                                        </p:tgtEl>
                                        <p:attrNameLst>
                                          <p:attrName>ppt_x</p:attrName>
                                        </p:attrNameLst>
                                      </p:cBhvr>
                                      <p:tavLst>
                                        <p:tav tm="0">
                                          <p:val>
                                            <p:strVal val="0-#ppt_w/2"/>
                                          </p:val>
                                        </p:tav>
                                        <p:tav tm="100000">
                                          <p:val>
                                            <p:strVal val="#ppt_x"/>
                                          </p:val>
                                        </p:tav>
                                      </p:tavLst>
                                    </p:anim>
                                    <p:anim calcmode="lin" valueType="num">
                                      <p:cBhvr additive="base">
                                        <p:cTn id="32"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0-#ppt_w/2"/>
                                          </p:val>
                                        </p:tav>
                                        <p:tav tm="100000">
                                          <p:val>
                                            <p:strVal val="#ppt_x"/>
                                          </p:val>
                                        </p:tav>
                                      </p:tavLst>
                                    </p:anim>
                                    <p:anim calcmode="lin" valueType="num">
                                      <p:cBhvr additive="base">
                                        <p:cTn id="38"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a:t>
            </a:r>
            <a:r>
              <a:rPr lang="zh-CN" altLang="en-US" dirty="0" smtClean="0"/>
              <a:t>货币</a:t>
            </a:r>
            <a:r>
              <a:rPr lang="zh-CN" altLang="en-US" dirty="0"/>
              <a:t>分析法</a:t>
            </a:r>
          </a:p>
        </p:txBody>
      </p:sp>
      <p:sp>
        <p:nvSpPr>
          <p:cNvPr id="3" name="内容占位符 2"/>
          <p:cNvSpPr>
            <a:spLocks noGrp="1"/>
          </p:cNvSpPr>
          <p:nvPr>
            <p:ph idx="1"/>
          </p:nvPr>
        </p:nvSpPr>
        <p:spPr>
          <a:xfrm>
            <a:off x="971550" y="1447800"/>
            <a:ext cx="7618658" cy="4559300"/>
          </a:xfrm>
        </p:spPr>
        <p:txBody>
          <a:bodyPr>
            <a:normAutofit/>
          </a:bodyPr>
          <a:lstStyle/>
          <a:p>
            <a:pPr marL="0" indent="0">
              <a:lnSpc>
                <a:spcPct val="150000"/>
              </a:lnSpc>
              <a:spcBef>
                <a:spcPts val="1000"/>
              </a:spcBef>
              <a:buNone/>
            </a:pPr>
            <a:r>
              <a:rPr lang="zh-CN" altLang="en-US" sz="2400" dirty="0" smtClean="0">
                <a:latin typeface="微软雅黑" panose="020B0503020204020204" pitchFamily="34" charset="-122"/>
                <a:ea typeface="微软雅黑" panose="020B0503020204020204" pitchFamily="34" charset="-122"/>
              </a:rPr>
              <a:t>二、货币论的主要内容</a:t>
            </a:r>
            <a:endParaRPr lang="zh-CN" altLang="en-US" sz="2400" dirty="0">
              <a:latin typeface="微软雅黑" panose="020B0503020204020204" pitchFamily="34" charset="-122"/>
              <a:ea typeface="微软雅黑" panose="020B0503020204020204" pitchFamily="34" charset="-122"/>
            </a:endParaRPr>
          </a:p>
          <a:p>
            <a:pPr marL="514350" indent="-514350">
              <a:lnSpc>
                <a:spcPct val="150000"/>
              </a:lnSpc>
              <a:spcBef>
                <a:spcPts val="1000"/>
              </a:spcBef>
              <a:buFont typeface="+mj-lt"/>
              <a:buAutoNum type="arabicPeriod" startAt="2"/>
            </a:pPr>
            <a:r>
              <a:rPr lang="zh-CN" altLang="en-US" sz="2400" dirty="0" smtClean="0">
                <a:latin typeface="微软雅黑" panose="020B0503020204020204" pitchFamily="34" charset="-122"/>
                <a:ea typeface="微软雅黑" panose="020B0503020204020204" pitchFamily="34" charset="-122"/>
              </a:rPr>
              <a:t>实行</a:t>
            </a:r>
            <a:r>
              <a:rPr lang="zh-CN" altLang="en-US" sz="2400" dirty="0">
                <a:latin typeface="微软雅黑" panose="020B0503020204020204" pitchFamily="34" charset="-122"/>
                <a:ea typeface="微软雅黑" panose="020B0503020204020204" pitchFamily="34" charset="-122"/>
              </a:rPr>
              <a:t>固定汇率制的小国的货币市场均衡与国际收支的</a:t>
            </a:r>
            <a:r>
              <a:rPr lang="zh-CN" altLang="en-US" sz="2400" dirty="0" smtClean="0">
                <a:latin typeface="微软雅黑" panose="020B0503020204020204" pitchFamily="34" charset="-122"/>
                <a:ea typeface="微软雅黑" panose="020B0503020204020204" pitchFamily="34" charset="-122"/>
              </a:rPr>
              <a:t>关系</a:t>
            </a:r>
            <a:endParaRPr lang="en-US" altLang="zh-CN" sz="2400" dirty="0" smtClean="0">
              <a:latin typeface="微软雅黑" panose="020B0503020204020204" pitchFamily="34" charset="-122"/>
              <a:ea typeface="微软雅黑" panose="020B0503020204020204" pitchFamily="34" charset="-122"/>
            </a:endParaRPr>
          </a:p>
          <a:p>
            <a:pPr marL="0" indent="0">
              <a:lnSpc>
                <a:spcPct val="150000"/>
              </a:lnSpc>
              <a:spcBef>
                <a:spcPts val="1000"/>
              </a:spcBef>
              <a:buNone/>
            </a:pPr>
            <a:endParaRPr lang="en-US" altLang="zh-CN" sz="2400" dirty="0" smtClean="0">
              <a:latin typeface="微软雅黑" panose="020B0503020204020204" pitchFamily="34" charset="-122"/>
              <a:ea typeface="微软雅黑" panose="020B0503020204020204" pitchFamily="34" charset="-122"/>
            </a:endParaRPr>
          </a:p>
          <a:p>
            <a:pPr marL="0" indent="0">
              <a:lnSpc>
                <a:spcPct val="150000"/>
              </a:lnSpc>
              <a:spcBef>
                <a:spcPts val="10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结论</a:t>
            </a:r>
            <a:r>
              <a:rPr lang="zh-CN" altLang="en-US" sz="2400" dirty="0">
                <a:solidFill>
                  <a:schemeClr val="accent1"/>
                </a:solidFill>
                <a:latin typeface="微软雅黑" panose="020B0503020204020204" pitchFamily="34" charset="-122"/>
                <a:ea typeface="微软雅黑" panose="020B0503020204020204" pitchFamily="34" charset="-122"/>
              </a:rPr>
              <a:t>：</a:t>
            </a:r>
          </a:p>
          <a:p>
            <a:pPr marL="0" indent="0">
              <a:lnSpc>
                <a:spcPct val="150000"/>
              </a:lnSpc>
              <a:spcBef>
                <a:spcPts val="1000"/>
              </a:spcBef>
              <a:buNone/>
            </a:pPr>
            <a:r>
              <a:rPr lang="zh-CN" altLang="en-US" sz="2400" dirty="0">
                <a:latin typeface="微软雅黑" panose="020B0503020204020204" pitchFamily="34" charset="-122"/>
                <a:ea typeface="微软雅黑" panose="020B0503020204020204" pitchFamily="34" charset="-122"/>
              </a:rPr>
              <a:t>	国际收支盈余或赤字是一国</a:t>
            </a:r>
            <a:r>
              <a:rPr lang="zh-CN" altLang="en-US" sz="2400" dirty="0" smtClean="0">
                <a:latin typeface="微软雅黑" panose="020B0503020204020204" pitchFamily="34" charset="-122"/>
                <a:ea typeface="微软雅黑" panose="020B0503020204020204" pitchFamily="34" charset="-122"/>
              </a:rPr>
              <a:t>货币市场</a:t>
            </a:r>
            <a:r>
              <a:rPr lang="zh-CN" altLang="en-US" sz="2400" dirty="0">
                <a:latin typeface="微软雅黑" panose="020B0503020204020204" pitchFamily="34" charset="-122"/>
                <a:ea typeface="微软雅黑" panose="020B0503020204020204" pitchFamily="34" charset="-122"/>
              </a:rPr>
              <a:t>供求存量失衡的反映，国际</a:t>
            </a:r>
            <a:r>
              <a:rPr lang="zh-CN" altLang="en-US" sz="2400" dirty="0" smtClean="0">
                <a:latin typeface="微软雅黑" panose="020B0503020204020204" pitchFamily="34" charset="-122"/>
                <a:ea typeface="微软雅黑" panose="020B0503020204020204" pitchFamily="34" charset="-122"/>
              </a:rPr>
              <a:t>收支从</a:t>
            </a:r>
            <a:r>
              <a:rPr lang="zh-CN" altLang="en-US" sz="2400" dirty="0">
                <a:latin typeface="微软雅黑" panose="020B0503020204020204" pitchFamily="34" charset="-122"/>
                <a:ea typeface="微软雅黑" panose="020B0503020204020204" pitchFamily="34" charset="-122"/>
              </a:rPr>
              <a:t>根本上说是一种货币现象。</a:t>
            </a:r>
          </a:p>
          <a:p>
            <a:pPr marL="514350" indent="-514350">
              <a:lnSpc>
                <a:spcPct val="100000"/>
              </a:lnSpc>
              <a:spcBef>
                <a:spcPts val="1000"/>
              </a:spcBef>
              <a:buFont typeface="+mj-lt"/>
              <a:buAutoNum type="arabicPeriod" startAt="2"/>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18374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a:t>
            </a:r>
            <a:r>
              <a:rPr lang="zh-CN" altLang="en-US" dirty="0" smtClean="0"/>
              <a:t>货币</a:t>
            </a:r>
            <a:r>
              <a:rPr lang="zh-CN" altLang="en-US" dirty="0"/>
              <a:t>分析法</a:t>
            </a:r>
          </a:p>
        </p:txBody>
      </p:sp>
      <p:sp>
        <p:nvSpPr>
          <p:cNvPr id="3" name="内容占位符 2"/>
          <p:cNvSpPr>
            <a:spLocks noGrp="1"/>
          </p:cNvSpPr>
          <p:nvPr>
            <p:ph idx="1"/>
          </p:nvPr>
        </p:nvSpPr>
        <p:spPr>
          <a:xfrm>
            <a:off x="971550" y="1447800"/>
            <a:ext cx="7618658" cy="4559300"/>
          </a:xfrm>
        </p:spPr>
        <p:txBody>
          <a:bodyPr>
            <a:normAutofit/>
          </a:bodyPr>
          <a:lstStyle/>
          <a:p>
            <a:pPr marL="0" indent="0">
              <a:lnSpc>
                <a:spcPct val="150000"/>
              </a:lnSpc>
              <a:spcBef>
                <a:spcPts val="1000"/>
              </a:spcBef>
              <a:buNone/>
            </a:pPr>
            <a:r>
              <a:rPr lang="zh-CN" altLang="en-US" sz="2400" dirty="0" smtClean="0">
                <a:latin typeface="微软雅黑" panose="020B0503020204020204" pitchFamily="34" charset="-122"/>
                <a:ea typeface="微软雅黑" panose="020B0503020204020204" pitchFamily="34" charset="-122"/>
              </a:rPr>
              <a:t>二、货币论的主要内容</a:t>
            </a:r>
            <a:endParaRPr lang="zh-CN" altLang="en-US" sz="2400" dirty="0">
              <a:latin typeface="微软雅黑" panose="020B0503020204020204" pitchFamily="34" charset="-122"/>
              <a:ea typeface="微软雅黑" panose="020B0503020204020204" pitchFamily="34" charset="-122"/>
            </a:endParaRPr>
          </a:p>
          <a:p>
            <a:pPr marL="514350" indent="-514350">
              <a:lnSpc>
                <a:spcPct val="150000"/>
              </a:lnSpc>
              <a:spcBef>
                <a:spcPts val="1000"/>
              </a:spcBef>
              <a:buFont typeface="+mj-lt"/>
              <a:buAutoNum type="arabicPeriod" startAt="2"/>
            </a:pPr>
            <a:r>
              <a:rPr lang="zh-CN" altLang="en-US" sz="2400" dirty="0" smtClean="0">
                <a:latin typeface="微软雅黑" panose="020B0503020204020204" pitchFamily="34" charset="-122"/>
                <a:ea typeface="微软雅黑" panose="020B0503020204020204" pitchFamily="34" charset="-122"/>
              </a:rPr>
              <a:t>实行</a:t>
            </a:r>
            <a:r>
              <a:rPr lang="zh-CN" altLang="en-US" sz="2400" dirty="0">
                <a:latin typeface="微软雅黑" panose="020B0503020204020204" pitchFamily="34" charset="-122"/>
                <a:ea typeface="微软雅黑" panose="020B0503020204020204" pitchFamily="34" charset="-122"/>
              </a:rPr>
              <a:t>固定汇率制的小国的货币市场均衡与国际收支的</a:t>
            </a:r>
            <a:r>
              <a:rPr lang="zh-CN" altLang="en-US" sz="2400" dirty="0" smtClean="0">
                <a:latin typeface="微软雅黑" panose="020B0503020204020204" pitchFamily="34" charset="-122"/>
                <a:ea typeface="微软雅黑" panose="020B0503020204020204" pitchFamily="34" charset="-122"/>
              </a:rPr>
              <a:t>关系</a:t>
            </a:r>
            <a:endParaRPr lang="en-US" altLang="zh-CN" sz="2400" dirty="0" smtClean="0">
              <a:latin typeface="微软雅黑" panose="020B0503020204020204" pitchFamily="34" charset="-122"/>
              <a:ea typeface="微软雅黑" panose="020B0503020204020204" pitchFamily="34" charset="-122"/>
            </a:endParaRPr>
          </a:p>
          <a:p>
            <a:pPr marL="0" indent="0">
              <a:lnSpc>
                <a:spcPct val="150000"/>
              </a:lnSpc>
              <a:spcBef>
                <a:spcPts val="1000"/>
              </a:spcBef>
              <a:buNone/>
            </a:pPr>
            <a:endParaRPr lang="en-US" altLang="zh-CN" sz="2400" dirty="0" smtClean="0">
              <a:latin typeface="微软雅黑" panose="020B0503020204020204" pitchFamily="34" charset="-122"/>
              <a:ea typeface="微软雅黑" panose="020B0503020204020204" pitchFamily="34" charset="-122"/>
            </a:endParaRPr>
          </a:p>
          <a:p>
            <a:pPr marL="0" indent="0">
              <a:lnSpc>
                <a:spcPct val="150000"/>
              </a:lnSpc>
              <a:spcBef>
                <a:spcPts val="10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结论：</a:t>
            </a:r>
          </a:p>
          <a:p>
            <a:pPr marL="0" indent="0">
              <a:lnSpc>
                <a:spcPct val="150000"/>
              </a:lnSpc>
              <a:spcBef>
                <a:spcPts val="1000"/>
              </a:spcBef>
              <a:buNone/>
            </a:pPr>
            <a:r>
              <a:rPr lang="zh-CN" altLang="en-US" sz="2400" dirty="0">
                <a:latin typeface="微软雅黑" panose="020B0503020204020204" pitchFamily="34" charset="-122"/>
                <a:ea typeface="微软雅黑" panose="020B0503020204020204" pitchFamily="34" charset="-122"/>
              </a:rPr>
              <a:t>	对于实行固定汇率制的小国来讲，货币当局无法控制本国的货币供给。</a:t>
            </a:r>
          </a:p>
          <a:p>
            <a:pPr marL="514350" indent="-514350">
              <a:lnSpc>
                <a:spcPct val="100000"/>
              </a:lnSpc>
              <a:spcBef>
                <a:spcPts val="1000"/>
              </a:spcBef>
              <a:buFont typeface="+mj-lt"/>
              <a:buAutoNum type="arabicPeriod" startAt="2"/>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330883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a:t>
            </a:r>
            <a:r>
              <a:rPr lang="zh-CN" altLang="en-US" dirty="0" smtClean="0"/>
              <a:t>货币</a:t>
            </a:r>
            <a:r>
              <a:rPr lang="zh-CN" altLang="en-US" dirty="0"/>
              <a:t>分析法</a:t>
            </a:r>
          </a:p>
        </p:txBody>
      </p:sp>
      <p:sp>
        <p:nvSpPr>
          <p:cNvPr id="3" name="内容占位符 2"/>
          <p:cNvSpPr>
            <a:spLocks noGrp="1"/>
          </p:cNvSpPr>
          <p:nvPr>
            <p:ph idx="1"/>
          </p:nvPr>
        </p:nvSpPr>
        <p:spPr>
          <a:xfrm>
            <a:off x="971550" y="1447800"/>
            <a:ext cx="7618658" cy="4559300"/>
          </a:xfrm>
        </p:spPr>
        <p:txBody>
          <a:bodyPr>
            <a:normAutofit/>
          </a:bodyPr>
          <a:lstStyle/>
          <a:p>
            <a:pPr marL="0" indent="0">
              <a:lnSpc>
                <a:spcPct val="150000"/>
              </a:lnSpc>
              <a:spcBef>
                <a:spcPts val="1000"/>
              </a:spcBef>
              <a:buNone/>
            </a:pPr>
            <a:r>
              <a:rPr lang="zh-CN" altLang="en-US" sz="2400" dirty="0" smtClean="0">
                <a:latin typeface="微软雅黑" panose="020B0503020204020204" pitchFamily="34" charset="-122"/>
                <a:ea typeface="微软雅黑" panose="020B0503020204020204" pitchFamily="34" charset="-122"/>
              </a:rPr>
              <a:t>二、货币论的主要内容</a:t>
            </a:r>
            <a:endParaRPr lang="zh-CN" altLang="en-US" sz="2400" dirty="0">
              <a:latin typeface="微软雅黑" panose="020B0503020204020204" pitchFamily="34" charset="-122"/>
              <a:ea typeface="微软雅黑" panose="020B0503020204020204" pitchFamily="34" charset="-122"/>
            </a:endParaRPr>
          </a:p>
          <a:p>
            <a:pPr marL="514350" indent="-514350">
              <a:lnSpc>
                <a:spcPct val="150000"/>
              </a:lnSpc>
              <a:spcBef>
                <a:spcPts val="1000"/>
              </a:spcBef>
              <a:buFont typeface="+mj-lt"/>
              <a:buAutoNum type="arabicPeriod" startAt="2"/>
            </a:pPr>
            <a:r>
              <a:rPr lang="zh-CN" altLang="en-US" sz="2400" dirty="0" smtClean="0">
                <a:latin typeface="微软雅黑" panose="020B0503020204020204" pitchFamily="34" charset="-122"/>
                <a:ea typeface="微软雅黑" panose="020B0503020204020204" pitchFamily="34" charset="-122"/>
              </a:rPr>
              <a:t>实行</a:t>
            </a:r>
            <a:r>
              <a:rPr lang="zh-CN" altLang="en-US" sz="2400" dirty="0">
                <a:latin typeface="微软雅黑" panose="020B0503020204020204" pitchFamily="34" charset="-122"/>
                <a:ea typeface="微软雅黑" panose="020B0503020204020204" pitchFamily="34" charset="-122"/>
              </a:rPr>
              <a:t>固定汇率制的小国的货币市场均衡与国际收支的</a:t>
            </a:r>
            <a:r>
              <a:rPr lang="zh-CN" altLang="en-US" sz="2400" dirty="0" smtClean="0">
                <a:latin typeface="微软雅黑" panose="020B0503020204020204" pitchFamily="34" charset="-122"/>
                <a:ea typeface="微软雅黑" panose="020B0503020204020204" pitchFamily="34" charset="-122"/>
              </a:rPr>
              <a:t>关系</a:t>
            </a:r>
            <a:endParaRPr lang="en-US" altLang="zh-CN" sz="2400" dirty="0" smtClean="0">
              <a:latin typeface="微软雅黑" panose="020B0503020204020204" pitchFamily="34" charset="-122"/>
              <a:ea typeface="微软雅黑" panose="020B0503020204020204" pitchFamily="34" charset="-122"/>
            </a:endParaRPr>
          </a:p>
          <a:p>
            <a:pPr marL="0" indent="0">
              <a:lnSpc>
                <a:spcPct val="150000"/>
              </a:lnSpc>
              <a:spcBef>
                <a:spcPts val="1000"/>
              </a:spcBef>
              <a:buNone/>
            </a:pPr>
            <a:endParaRPr lang="en-US" altLang="zh-CN" sz="2400" dirty="0" smtClean="0">
              <a:latin typeface="微软雅黑" panose="020B0503020204020204" pitchFamily="34" charset="-122"/>
              <a:ea typeface="微软雅黑" panose="020B0503020204020204" pitchFamily="34" charset="-122"/>
            </a:endParaRPr>
          </a:p>
          <a:p>
            <a:pPr marL="0" indent="0">
              <a:lnSpc>
                <a:spcPct val="150000"/>
              </a:lnSpc>
              <a:spcBef>
                <a:spcPts val="10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结论：</a:t>
            </a:r>
          </a:p>
          <a:p>
            <a:pPr marL="0" indent="0">
              <a:lnSpc>
                <a:spcPct val="150000"/>
              </a:lnSpc>
              <a:spcBef>
                <a:spcPts val="1000"/>
              </a:spcBef>
              <a:buNone/>
            </a:pPr>
            <a:r>
              <a:rPr lang="zh-CN" altLang="en-US" sz="2400" dirty="0">
                <a:latin typeface="微软雅黑" panose="020B0503020204020204" pitchFamily="34" charset="-122"/>
                <a:ea typeface="微软雅黑" panose="020B0503020204020204" pitchFamily="34" charset="-122"/>
              </a:rPr>
              <a:t>	一国国际收支赤字的根源在于</a:t>
            </a:r>
            <a:r>
              <a:rPr lang="zh-CN" altLang="en-US" sz="2400" dirty="0" smtClean="0">
                <a:latin typeface="微软雅黑" panose="020B0503020204020204" pitchFamily="34" charset="-122"/>
                <a:ea typeface="微软雅黑" panose="020B0503020204020204" pitchFamily="34" charset="-122"/>
              </a:rPr>
              <a:t>国内信贷</a:t>
            </a:r>
            <a:r>
              <a:rPr lang="zh-CN" altLang="en-US" sz="2400" dirty="0">
                <a:latin typeface="微软雅黑" panose="020B0503020204020204" pitchFamily="34" charset="-122"/>
                <a:ea typeface="微软雅黑" panose="020B0503020204020204" pitchFamily="34" charset="-122"/>
              </a:rPr>
              <a:t>扩张过大，故调节国际收支</a:t>
            </a:r>
            <a:r>
              <a:rPr lang="zh-CN" altLang="en-US" sz="2400" dirty="0" smtClean="0">
                <a:latin typeface="微软雅黑" panose="020B0503020204020204" pitchFamily="34" charset="-122"/>
                <a:ea typeface="微软雅黑" panose="020B0503020204020204" pitchFamily="34" charset="-122"/>
              </a:rPr>
              <a:t>的对策</a:t>
            </a:r>
            <a:r>
              <a:rPr lang="zh-CN" altLang="en-US" sz="2400" dirty="0">
                <a:latin typeface="微软雅黑" panose="020B0503020204020204" pitchFamily="34" charset="-122"/>
                <a:ea typeface="微软雅黑" panose="020B0503020204020204" pitchFamily="34" charset="-122"/>
              </a:rPr>
              <a:t>是实行紧缩的货币政策。</a:t>
            </a:r>
          </a:p>
          <a:p>
            <a:pPr marL="514350" indent="-514350">
              <a:lnSpc>
                <a:spcPct val="100000"/>
              </a:lnSpc>
              <a:spcBef>
                <a:spcPts val="1000"/>
              </a:spcBef>
              <a:buFont typeface="+mj-lt"/>
              <a:buAutoNum type="arabicPeriod" startAt="2"/>
            </a:pPr>
            <a:endParaRPr lang="zh-CN" altLang="en-US" sz="28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6641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a:t>
            </a:r>
            <a:r>
              <a:rPr lang="zh-CN" altLang="en-US" dirty="0" smtClean="0"/>
              <a:t>货币</a:t>
            </a:r>
            <a:r>
              <a:rPr lang="zh-CN" altLang="en-US" dirty="0"/>
              <a:t>分析法</a:t>
            </a:r>
          </a:p>
        </p:txBody>
      </p:sp>
      <p:sp>
        <p:nvSpPr>
          <p:cNvPr id="3" name="内容占位符 2"/>
          <p:cNvSpPr>
            <a:spLocks noGrp="1"/>
          </p:cNvSpPr>
          <p:nvPr>
            <p:ph idx="1"/>
          </p:nvPr>
        </p:nvSpPr>
        <p:spPr>
          <a:xfrm>
            <a:off x="971550" y="1447799"/>
            <a:ext cx="7618658" cy="4841880"/>
          </a:xfrm>
        </p:spPr>
        <p:txBody>
          <a:bodyPr>
            <a:noAutofit/>
          </a:bodyPr>
          <a:lstStyle/>
          <a:p>
            <a:pPr marL="0" indent="0">
              <a:lnSpc>
                <a:spcPct val="120000"/>
              </a:lnSpc>
              <a:spcBef>
                <a:spcPts val="1000"/>
              </a:spcBef>
              <a:buNone/>
            </a:pPr>
            <a:r>
              <a:rPr lang="zh-CN" altLang="en-US" sz="2400" dirty="0" smtClean="0">
                <a:latin typeface="微软雅黑" panose="020B0503020204020204" pitchFamily="34" charset="-122"/>
                <a:ea typeface="微软雅黑" panose="020B0503020204020204" pitchFamily="34" charset="-122"/>
              </a:rPr>
              <a:t>二、货币论的主要内容</a:t>
            </a:r>
            <a:endParaRPr lang="zh-CN" altLang="en-US" sz="2400" dirty="0">
              <a:latin typeface="微软雅黑" panose="020B0503020204020204" pitchFamily="34" charset="-122"/>
              <a:ea typeface="微软雅黑" panose="020B0503020204020204" pitchFamily="34" charset="-122"/>
            </a:endParaRPr>
          </a:p>
          <a:p>
            <a:pPr marL="514350" indent="-514350">
              <a:lnSpc>
                <a:spcPct val="120000"/>
              </a:lnSpc>
              <a:spcBef>
                <a:spcPts val="1000"/>
              </a:spcBef>
              <a:buFont typeface="+mj-lt"/>
              <a:buAutoNum type="arabicPeriod" startAt="2"/>
            </a:pPr>
            <a:r>
              <a:rPr lang="zh-CN" altLang="en-US" sz="2400" dirty="0" smtClean="0">
                <a:latin typeface="微软雅黑" panose="020B0503020204020204" pitchFamily="34" charset="-122"/>
                <a:ea typeface="微软雅黑" panose="020B0503020204020204" pitchFamily="34" charset="-122"/>
              </a:rPr>
              <a:t>实行</a:t>
            </a:r>
            <a:r>
              <a:rPr lang="zh-CN" altLang="en-US" sz="2400" dirty="0">
                <a:latin typeface="微软雅黑" panose="020B0503020204020204" pitchFamily="34" charset="-122"/>
                <a:ea typeface="微软雅黑" panose="020B0503020204020204" pitchFamily="34" charset="-122"/>
              </a:rPr>
              <a:t>固定汇率制的小国的货币市场均衡与国际收支的</a:t>
            </a:r>
            <a:r>
              <a:rPr lang="zh-CN" altLang="en-US" sz="2400" dirty="0" smtClean="0">
                <a:latin typeface="微软雅黑" panose="020B0503020204020204" pitchFamily="34" charset="-122"/>
                <a:ea typeface="微软雅黑" panose="020B0503020204020204" pitchFamily="34" charset="-122"/>
              </a:rPr>
              <a:t>关系</a:t>
            </a:r>
            <a:endParaRPr lang="en-US" altLang="zh-CN" sz="2400" dirty="0" smtClean="0">
              <a:latin typeface="微软雅黑" panose="020B0503020204020204" pitchFamily="34" charset="-122"/>
              <a:ea typeface="微软雅黑" panose="020B0503020204020204" pitchFamily="34" charset="-122"/>
            </a:endParaRPr>
          </a:p>
          <a:p>
            <a:pPr marL="0" indent="0">
              <a:lnSpc>
                <a:spcPct val="120000"/>
              </a:lnSpc>
              <a:spcBef>
                <a:spcPts val="1000"/>
              </a:spcBef>
              <a:buNone/>
            </a:pPr>
            <a:r>
              <a:rPr lang="zh-CN" altLang="en-US" sz="2400" dirty="0" smtClean="0">
                <a:solidFill>
                  <a:schemeClr val="accent1"/>
                </a:solidFill>
                <a:latin typeface="微软雅黑" panose="020B0503020204020204" pitchFamily="34" charset="-122"/>
                <a:ea typeface="微软雅黑" panose="020B0503020204020204" pitchFamily="34" charset="-122"/>
              </a:rPr>
              <a:t>结论：</a:t>
            </a:r>
          </a:p>
          <a:p>
            <a:pPr marL="0" indent="0">
              <a:lnSpc>
                <a:spcPct val="120000"/>
              </a:lnSpc>
              <a:spcBef>
                <a:spcPts val="1000"/>
              </a:spcBef>
              <a:buNone/>
            </a:pPr>
            <a:r>
              <a:rPr lang="zh-CN" altLang="en-US" sz="2400" dirty="0">
                <a:latin typeface="微软雅黑" panose="020B0503020204020204" pitchFamily="34" charset="-122"/>
                <a:ea typeface="微软雅黑" panose="020B0503020204020204" pitchFamily="34" charset="-122"/>
              </a:rPr>
              <a:t>	国际收支是一种货币现象，实际因素对国际收支的影响需经由货币需求来产生影响。收入增长和价格上升通过提高货币需求造成国际收支盈余，利率上升通过降低货币需求造成国际收支赤字。</a:t>
            </a:r>
          </a:p>
          <a:p>
            <a:pPr marL="0" indent="0" algn="ctr">
              <a:lnSpc>
                <a:spcPct val="120000"/>
              </a:lnSpc>
              <a:spcBef>
                <a:spcPts val="1000"/>
              </a:spcBef>
              <a:buNone/>
            </a:pPr>
            <a:r>
              <a:rPr lang="zh-CN" altLang="en-US" sz="2400" dirty="0">
                <a:solidFill>
                  <a:schemeClr val="accent1"/>
                </a:solidFill>
                <a:latin typeface="微软雅黑" panose="020B0503020204020204" pitchFamily="34" charset="-122"/>
                <a:ea typeface="微软雅黑" panose="020B0503020204020204" pitchFamily="34" charset="-122"/>
              </a:rPr>
              <a:t>（思考：与传统理论的结论有何不同？</a:t>
            </a:r>
            <a:r>
              <a:rPr lang="zh-CN" altLang="en-US" sz="2400" dirty="0" smtClean="0">
                <a:solidFill>
                  <a:schemeClr val="accent1"/>
                </a:solidFill>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4201370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a:t>
            </a:r>
            <a:r>
              <a:rPr lang="zh-CN" altLang="en-US" dirty="0" smtClean="0"/>
              <a:t>货币</a:t>
            </a:r>
            <a:r>
              <a:rPr lang="zh-CN" altLang="en-US" dirty="0"/>
              <a:t>分析法</a:t>
            </a:r>
          </a:p>
        </p:txBody>
      </p:sp>
      <p:sp>
        <p:nvSpPr>
          <p:cNvPr id="3" name="内容占位符 2"/>
          <p:cNvSpPr>
            <a:spLocks noGrp="1"/>
          </p:cNvSpPr>
          <p:nvPr>
            <p:ph idx="1"/>
          </p:nvPr>
        </p:nvSpPr>
        <p:spPr>
          <a:xfrm>
            <a:off x="971550" y="1447799"/>
            <a:ext cx="7618658" cy="4475329"/>
          </a:xfrm>
        </p:spPr>
        <p:txBody>
          <a:bodyPr>
            <a:normAutofit/>
          </a:bodyPr>
          <a:lstStyle/>
          <a:p>
            <a:pPr marL="0" indent="0">
              <a:lnSpc>
                <a:spcPct val="120000"/>
              </a:lnSpc>
              <a:spcBef>
                <a:spcPts val="1000"/>
              </a:spcBef>
              <a:buNone/>
            </a:pPr>
            <a:r>
              <a:rPr lang="zh-CN" altLang="en-US" sz="2400" dirty="0" smtClean="0">
                <a:latin typeface="微软雅黑" panose="020B0503020204020204" pitchFamily="34" charset="-122"/>
                <a:ea typeface="微软雅黑" panose="020B0503020204020204" pitchFamily="34" charset="-122"/>
              </a:rPr>
              <a:t>二、货币论的主要内容</a:t>
            </a:r>
            <a:endParaRPr lang="zh-CN" altLang="en-US" sz="2400" dirty="0">
              <a:latin typeface="微软雅黑" panose="020B0503020204020204" pitchFamily="34" charset="-122"/>
              <a:ea typeface="微软雅黑" panose="020B0503020204020204" pitchFamily="34" charset="-122"/>
            </a:endParaRPr>
          </a:p>
          <a:p>
            <a:pPr marL="514350" indent="-514350">
              <a:lnSpc>
                <a:spcPct val="120000"/>
              </a:lnSpc>
              <a:spcBef>
                <a:spcPts val="1000"/>
              </a:spcBef>
              <a:buFont typeface="+mj-lt"/>
              <a:buAutoNum type="arabicPeriod" startAt="3"/>
            </a:pPr>
            <a:r>
              <a:rPr lang="zh-CN" altLang="en-US" sz="2400" dirty="0" smtClean="0">
                <a:latin typeface="微软雅黑" panose="020B0503020204020204" pitchFamily="34" charset="-122"/>
                <a:ea typeface="微软雅黑" panose="020B0503020204020204" pitchFamily="34" charset="-122"/>
              </a:rPr>
              <a:t>本币</a:t>
            </a:r>
            <a:r>
              <a:rPr lang="zh-CN" altLang="en-US" sz="2400" dirty="0">
                <a:latin typeface="微软雅黑" panose="020B0503020204020204" pitchFamily="34" charset="-122"/>
                <a:ea typeface="微软雅黑" panose="020B0503020204020204" pitchFamily="34" charset="-122"/>
              </a:rPr>
              <a:t>贬值对国际收支的</a:t>
            </a:r>
            <a:r>
              <a:rPr lang="zh-CN" altLang="en-US" sz="2400" dirty="0" smtClean="0">
                <a:latin typeface="微软雅黑" panose="020B0503020204020204" pitchFamily="34" charset="-122"/>
                <a:ea typeface="微软雅黑" panose="020B0503020204020204" pitchFamily="34" charset="-122"/>
              </a:rPr>
              <a:t>影响</a:t>
            </a:r>
            <a:endParaRPr lang="en-US" altLang="zh-CN" sz="2400" dirty="0" smtClean="0">
              <a:latin typeface="微软雅黑" panose="020B0503020204020204" pitchFamily="34" charset="-122"/>
              <a:ea typeface="微软雅黑" panose="020B0503020204020204" pitchFamily="34" charset="-122"/>
            </a:endParaRPr>
          </a:p>
          <a:p>
            <a:pPr lvl="1">
              <a:lnSpc>
                <a:spcPct val="120000"/>
              </a:lnSpc>
              <a:spcBef>
                <a:spcPts val="100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在充分就业情况下，贬值意味着贬值国的国内价格上涨；</a:t>
            </a:r>
          </a:p>
          <a:p>
            <a:pPr lvl="1">
              <a:lnSpc>
                <a:spcPct val="120000"/>
              </a:lnSpc>
              <a:spcBef>
                <a:spcPts val="100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物价变化意味着实际现金余额减少，压缩投资、消费支出；</a:t>
            </a:r>
          </a:p>
          <a:p>
            <a:pPr lvl="1">
              <a:lnSpc>
                <a:spcPct val="120000"/>
              </a:lnSpc>
              <a:spcBef>
                <a:spcPts val="1000"/>
              </a:spcBef>
              <a:buFont typeface="Wingdings" panose="05000000000000000000" pitchFamily="2" charset="2"/>
              <a:buChar char="ü"/>
            </a:pPr>
            <a:r>
              <a:rPr lang="zh-CN" altLang="en-US" sz="2400" dirty="0">
                <a:latin typeface="微软雅黑" panose="020B0503020204020204" pitchFamily="34" charset="-122"/>
                <a:ea typeface="微软雅黑" panose="020B0503020204020204" pitchFamily="34" charset="-122"/>
              </a:rPr>
              <a:t>支出减少，进口需求减少，贸易收支改善</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1673228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第四节	</a:t>
            </a:r>
            <a:r>
              <a:rPr lang="zh-CN" altLang="en-US" dirty="0" smtClean="0"/>
              <a:t>货币</a:t>
            </a:r>
            <a:r>
              <a:rPr lang="zh-CN" altLang="en-US" dirty="0"/>
              <a:t>分析法</a:t>
            </a:r>
          </a:p>
        </p:txBody>
      </p:sp>
      <p:sp>
        <p:nvSpPr>
          <p:cNvPr id="3" name="内容占位符 2"/>
          <p:cNvSpPr>
            <a:spLocks noGrp="1"/>
          </p:cNvSpPr>
          <p:nvPr>
            <p:ph idx="1"/>
          </p:nvPr>
        </p:nvSpPr>
        <p:spPr>
          <a:xfrm>
            <a:off x="717213" y="1441743"/>
            <a:ext cx="8099782" cy="4841880"/>
          </a:xfrm>
        </p:spPr>
        <p:txBody>
          <a:bodyPr>
            <a:normAutofit/>
          </a:bodyPr>
          <a:lstStyle/>
          <a:p>
            <a:pPr marL="0" indent="0">
              <a:lnSpc>
                <a:spcPct val="110000"/>
              </a:lnSpc>
              <a:spcBef>
                <a:spcPts val="1000"/>
              </a:spcBef>
              <a:buNone/>
            </a:pPr>
            <a:r>
              <a:rPr lang="zh-CN" altLang="en-US" sz="2400" dirty="0">
                <a:latin typeface="微软雅黑" panose="020B0503020204020204" pitchFamily="34" charset="-122"/>
                <a:ea typeface="微软雅黑" panose="020B0503020204020204" pitchFamily="34" charset="-122"/>
              </a:rPr>
              <a:t>三、货币论的主要贡献和主要缺陷</a:t>
            </a:r>
          </a:p>
          <a:p>
            <a:pPr marL="0" indent="0">
              <a:lnSpc>
                <a:spcPct val="110000"/>
              </a:lnSpc>
              <a:spcBef>
                <a:spcPts val="1000"/>
              </a:spcBef>
              <a:buNone/>
            </a:pPr>
            <a:endParaRPr lang="zh-CN" altLang="en-US" sz="2400" dirty="0">
              <a:latin typeface="微软雅黑" panose="020B0503020204020204" pitchFamily="34" charset="-122"/>
              <a:ea typeface="微软雅黑" panose="020B0503020204020204" pitchFamily="34" charset="-122"/>
            </a:endParaRPr>
          </a:p>
          <a:p>
            <a:pPr marL="0" indent="0">
              <a:lnSpc>
                <a:spcPct val="110000"/>
              </a:lnSpc>
              <a:spcBef>
                <a:spcPts val="1000"/>
              </a:spcBef>
              <a:buNone/>
            </a:pPr>
            <a:r>
              <a:rPr lang="zh-CN" altLang="en-US" sz="2400" dirty="0">
                <a:latin typeface="微软雅黑" panose="020B0503020204020204" pitchFamily="34" charset="-122"/>
                <a:ea typeface="微软雅黑" panose="020B0503020204020204" pitchFamily="34" charset="-122"/>
              </a:rPr>
              <a:t>贡献</a:t>
            </a:r>
            <a:r>
              <a:rPr lang="zh-CN" altLang="en-US" sz="2400" dirty="0" smtClean="0">
                <a:latin typeface="微软雅黑" panose="020B0503020204020204" pitchFamily="34" charset="-122"/>
                <a:ea typeface="微软雅黑" panose="020B0503020204020204" pitchFamily="34" charset="-122"/>
              </a:rPr>
              <a:t>：在</a:t>
            </a:r>
            <a:r>
              <a:rPr lang="zh-CN" altLang="en-US" sz="2400" dirty="0">
                <a:latin typeface="微软雅黑" panose="020B0503020204020204" pitchFamily="34" charset="-122"/>
                <a:ea typeface="微软雅黑" panose="020B0503020204020204" pitchFamily="34" charset="-122"/>
              </a:rPr>
              <a:t>国际收支分析中</a:t>
            </a:r>
            <a:r>
              <a:rPr lang="zh-CN" altLang="en-US" sz="2400" dirty="0">
                <a:solidFill>
                  <a:schemeClr val="accent1"/>
                </a:solidFill>
                <a:latin typeface="微软雅黑" panose="020B0503020204020204" pitchFamily="34" charset="-122"/>
                <a:ea typeface="微软雅黑" panose="020B0503020204020204" pitchFamily="34" charset="-122"/>
              </a:rPr>
              <a:t>重新</a:t>
            </a:r>
            <a:r>
              <a:rPr lang="zh-CN" altLang="en-US" sz="2400" dirty="0">
                <a:latin typeface="微软雅黑" panose="020B0503020204020204" pitchFamily="34" charset="-122"/>
                <a:ea typeface="微软雅黑" panose="020B0503020204020204" pitchFamily="34" charset="-122"/>
              </a:rPr>
              <a:t>重视货币因素</a:t>
            </a:r>
          </a:p>
          <a:p>
            <a:pPr marL="0" indent="0">
              <a:lnSpc>
                <a:spcPct val="110000"/>
              </a:lnSpc>
              <a:spcBef>
                <a:spcPts val="1000"/>
              </a:spcBef>
              <a:buNone/>
            </a:pPr>
            <a:endParaRPr lang="zh-CN" altLang="en-US" sz="2400" dirty="0">
              <a:latin typeface="微软雅黑" panose="020B0503020204020204" pitchFamily="34" charset="-122"/>
              <a:ea typeface="微软雅黑" panose="020B0503020204020204" pitchFamily="34" charset="-122"/>
            </a:endParaRPr>
          </a:p>
          <a:p>
            <a:pPr marL="0" indent="0">
              <a:lnSpc>
                <a:spcPct val="110000"/>
              </a:lnSpc>
              <a:spcBef>
                <a:spcPts val="1000"/>
              </a:spcBef>
              <a:buNone/>
            </a:pPr>
            <a:r>
              <a:rPr lang="zh-CN" altLang="en-US" sz="2400" dirty="0">
                <a:latin typeface="微软雅黑" panose="020B0503020204020204" pitchFamily="34" charset="-122"/>
                <a:ea typeface="微软雅黑" panose="020B0503020204020204" pitchFamily="34" charset="-122"/>
              </a:rPr>
              <a:t>缺陷：</a:t>
            </a:r>
          </a:p>
          <a:p>
            <a:pPr marL="514350" indent="-514350">
              <a:lnSpc>
                <a:spcPct val="110000"/>
              </a:lnSpc>
              <a:spcBef>
                <a:spcPts val="1000"/>
              </a:spcBef>
              <a:buFont typeface="+mj-lt"/>
              <a:buAutoNum type="arabicPeriod"/>
            </a:pPr>
            <a:r>
              <a:rPr lang="zh-CN" altLang="en-US" sz="2400" dirty="0" smtClean="0">
                <a:latin typeface="微软雅黑" panose="020B0503020204020204" pitchFamily="34" charset="-122"/>
                <a:ea typeface="微软雅黑" panose="020B0503020204020204" pitchFamily="34" charset="-122"/>
              </a:rPr>
              <a:t>货币</a:t>
            </a:r>
            <a:r>
              <a:rPr lang="zh-CN" altLang="en-US" sz="2400" dirty="0">
                <a:latin typeface="微软雅黑" panose="020B0503020204020204" pitchFamily="34" charset="-122"/>
                <a:ea typeface="微软雅黑" panose="020B0503020204020204" pitchFamily="34" charset="-122"/>
              </a:rPr>
              <a:t>需求往往很不稳定，也很难不受货币供给变动</a:t>
            </a:r>
            <a:r>
              <a:rPr lang="zh-CN" altLang="en-US" sz="2400" dirty="0" smtClean="0">
                <a:latin typeface="微软雅黑" panose="020B0503020204020204" pitchFamily="34" charset="-122"/>
                <a:ea typeface="微软雅黑" panose="020B0503020204020204" pitchFamily="34" charset="-122"/>
              </a:rPr>
              <a:t>影响</a:t>
            </a:r>
            <a:endParaRPr lang="en-US" altLang="zh-CN" sz="2400" dirty="0" smtClean="0">
              <a:latin typeface="微软雅黑" panose="020B0503020204020204" pitchFamily="34" charset="-122"/>
              <a:ea typeface="微软雅黑" panose="020B0503020204020204" pitchFamily="34" charset="-122"/>
            </a:endParaRPr>
          </a:p>
          <a:p>
            <a:pPr marL="514350" indent="-514350">
              <a:lnSpc>
                <a:spcPct val="110000"/>
              </a:lnSpc>
              <a:spcBef>
                <a:spcPts val="1000"/>
              </a:spcBef>
              <a:buFont typeface="+mj-lt"/>
              <a:buAutoNum type="arabicPeriod"/>
            </a:pPr>
            <a:r>
              <a:rPr lang="zh-CN" altLang="en-US" sz="2400" dirty="0">
                <a:latin typeface="微软雅黑" panose="020B0503020204020204" pitchFamily="34" charset="-122"/>
                <a:ea typeface="微软雅黑" panose="020B0503020204020204" pitchFamily="34" charset="-122"/>
              </a:rPr>
              <a:t>货币供给变动改变支出，由此影响国内</a:t>
            </a:r>
            <a:r>
              <a:rPr lang="zh-CN" altLang="en-US" sz="2400" dirty="0" smtClean="0">
                <a:latin typeface="微软雅黑" panose="020B0503020204020204" pitchFamily="34" charset="-122"/>
                <a:ea typeface="微软雅黑" panose="020B0503020204020204" pitchFamily="34" charset="-122"/>
              </a:rPr>
              <a:t>产量</a:t>
            </a: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819026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第五节	对国际收支理论发展的评论</a:t>
            </a:r>
          </a:p>
        </p:txBody>
      </p:sp>
      <p:sp>
        <p:nvSpPr>
          <p:cNvPr id="3" name="内容占位符 2"/>
          <p:cNvSpPr>
            <a:spLocks noGrp="1"/>
          </p:cNvSpPr>
          <p:nvPr>
            <p:ph idx="1"/>
          </p:nvPr>
        </p:nvSpPr>
        <p:spPr>
          <a:xfrm>
            <a:off x="971550" y="1447799"/>
            <a:ext cx="7618658" cy="4841880"/>
          </a:xfrm>
        </p:spPr>
        <p:txBody>
          <a:bodyPr>
            <a:normAutofit fontScale="92500"/>
          </a:bodyPr>
          <a:lstStyle/>
          <a:p>
            <a:pPr marL="0" indent="0">
              <a:lnSpc>
                <a:spcPct val="150000"/>
              </a:lnSpc>
              <a:spcBef>
                <a:spcPts val="1000"/>
              </a:spcBef>
              <a:buNone/>
            </a:pPr>
            <a:r>
              <a:rPr lang="en-US" altLang="zh-CN" sz="2400" dirty="0">
                <a:latin typeface="微软雅黑" panose="020B0503020204020204" pitchFamily="34" charset="-122"/>
                <a:ea typeface="微软雅黑" panose="020B0503020204020204" pitchFamily="34" charset="-122"/>
              </a:rPr>
              <a:t>20</a:t>
            </a:r>
            <a:r>
              <a:rPr lang="zh-CN" altLang="en-US" sz="2400" dirty="0">
                <a:latin typeface="微软雅黑" panose="020B0503020204020204" pitchFamily="34" charset="-122"/>
                <a:ea typeface="微软雅黑" panose="020B0503020204020204" pitchFamily="34" charset="-122"/>
              </a:rPr>
              <a:t>世纪</a:t>
            </a:r>
            <a:r>
              <a:rPr lang="en-US" altLang="zh-CN" sz="2400" dirty="0">
                <a:latin typeface="微软雅黑" panose="020B0503020204020204" pitchFamily="34" charset="-122"/>
                <a:ea typeface="微软雅黑" panose="020B0503020204020204" pitchFamily="34" charset="-122"/>
              </a:rPr>
              <a:t>30-70</a:t>
            </a:r>
            <a:r>
              <a:rPr lang="zh-CN" altLang="en-US" sz="2400" dirty="0">
                <a:latin typeface="微软雅黑" panose="020B0503020204020204" pitchFamily="34" charset="-122"/>
                <a:ea typeface="微软雅黑" panose="020B0503020204020204" pitchFamily="34" charset="-122"/>
              </a:rPr>
              <a:t>年代是国际收支理论发展的鼎盛期。与经济思潮的发展、经济现实形势的发展变化息息相关。</a:t>
            </a:r>
          </a:p>
          <a:p>
            <a:pPr>
              <a:lnSpc>
                <a:spcPct val="150000"/>
              </a:lnSpc>
              <a:spcBef>
                <a:spcPts val="1000"/>
              </a:spcBef>
            </a:pPr>
            <a:endParaRPr lang="zh-CN" altLang="en-US" sz="2400" dirty="0">
              <a:latin typeface="微软雅黑" panose="020B0503020204020204" pitchFamily="34" charset="-122"/>
              <a:ea typeface="微软雅黑" panose="020B0503020204020204" pitchFamily="34" charset="-122"/>
            </a:endParaRPr>
          </a:p>
          <a:p>
            <a:pPr marL="514350" indent="-514350">
              <a:lnSpc>
                <a:spcPct val="150000"/>
              </a:lnSpc>
              <a:spcBef>
                <a:spcPts val="1000"/>
              </a:spcBef>
              <a:buFont typeface="+mj-lt"/>
              <a:buAutoNum type="arabicPeriod"/>
            </a:pPr>
            <a:r>
              <a:rPr lang="zh-CN" altLang="en-US" sz="2400" dirty="0" smtClean="0">
                <a:latin typeface="微软雅黑" panose="020B0503020204020204" pitchFamily="34" charset="-122"/>
                <a:ea typeface="微软雅黑" panose="020B0503020204020204" pitchFamily="34" charset="-122"/>
              </a:rPr>
              <a:t>弹性</a:t>
            </a:r>
            <a:r>
              <a:rPr lang="zh-CN" altLang="en-US" sz="2400" dirty="0">
                <a:latin typeface="微软雅黑" panose="020B0503020204020204" pitchFamily="34" charset="-122"/>
                <a:ea typeface="微软雅黑" panose="020B0503020204020204" pitchFamily="34" charset="-122"/>
              </a:rPr>
              <a:t>论在金本位制崩溃后各国汇率剧烈波动背景下产生；二战后布雷顿森林体系下，关注重点为宏观经济与国际收支，但国际经济交往以商品贸易为主；</a:t>
            </a:r>
            <a:r>
              <a:rPr lang="en-US" altLang="zh-CN" sz="2400" dirty="0">
                <a:latin typeface="微软雅黑" panose="020B0503020204020204" pitchFamily="34" charset="-122"/>
                <a:ea typeface="微软雅黑" panose="020B0503020204020204" pitchFamily="34" charset="-122"/>
              </a:rPr>
              <a:t>60</a:t>
            </a:r>
            <a:r>
              <a:rPr lang="zh-CN" altLang="en-US" sz="2400" dirty="0">
                <a:latin typeface="微软雅黑" panose="020B0503020204020204" pitchFamily="34" charset="-122"/>
                <a:ea typeface="微软雅黑" panose="020B0503020204020204" pitchFamily="34" charset="-122"/>
              </a:rPr>
              <a:t>年代以来，世界经济领域的显著变化为国际资本流动获得巨大发展，货币论强调货币因素与国际资本流动的作用。</a:t>
            </a:r>
          </a:p>
          <a:p>
            <a:pPr>
              <a:lnSpc>
                <a:spcPct val="100000"/>
              </a:lnSpc>
              <a:spcBef>
                <a:spcPts val="1000"/>
              </a:spcBef>
            </a:pPr>
            <a:endParaRPr lang="zh-CN" altLang="en-US" sz="2400" dirty="0">
              <a:latin typeface="微软雅黑" panose="020B0503020204020204" pitchFamily="34" charset="-122"/>
              <a:ea typeface="微软雅黑" panose="020B0503020204020204" pitchFamily="34" charset="-122"/>
            </a:endParaRPr>
          </a:p>
        </p:txBody>
      </p:sp>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2087344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第五节	对国际收支理论发展的评论</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971550" y="1447799"/>
                <a:ext cx="7618658" cy="4841880"/>
              </a:xfrm>
            </p:spPr>
            <p:txBody>
              <a:bodyPr>
                <a:normAutofit/>
              </a:bodyPr>
              <a:lstStyle/>
              <a:p>
                <a:pPr marL="514350" indent="-514350">
                  <a:lnSpc>
                    <a:spcPct val="100000"/>
                  </a:lnSpc>
                  <a:spcBef>
                    <a:spcPts val="1000"/>
                  </a:spcBef>
                  <a:buFont typeface="+mj-lt"/>
                  <a:buAutoNum type="arabicPeriod"/>
                </a:pPr>
                <a:endParaRPr lang="zh-CN" altLang="en-US" sz="2400" dirty="0" smtClean="0">
                  <a:latin typeface="微软雅黑" panose="020B0503020204020204" pitchFamily="34" charset="-122"/>
                  <a:ea typeface="微软雅黑" panose="020B0503020204020204" pitchFamily="34" charset="-122"/>
                </a:endParaRPr>
              </a:p>
              <a:p>
                <a:pPr marL="514350" indent="-514350">
                  <a:lnSpc>
                    <a:spcPct val="100000"/>
                  </a:lnSpc>
                  <a:spcBef>
                    <a:spcPts val="1000"/>
                  </a:spcBef>
                  <a:buFont typeface="+mj-lt"/>
                  <a:buAutoNum type="arabicPeriod" startAt="2"/>
                </a:pPr>
                <a:r>
                  <a:rPr lang="zh-CN" altLang="en-US" sz="2400" dirty="0" smtClean="0">
                    <a:latin typeface="微软雅黑" panose="020B0503020204020204" pitchFamily="34" charset="-122"/>
                    <a:ea typeface="微软雅黑" panose="020B0503020204020204" pitchFamily="34" charset="-122"/>
                  </a:rPr>
                  <a:t>几种</a:t>
                </a:r>
                <a:r>
                  <a:rPr lang="zh-CN" altLang="en-US" sz="2400" dirty="0">
                    <a:latin typeface="微软雅黑" panose="020B0503020204020204" pitchFamily="34" charset="-122"/>
                    <a:ea typeface="微软雅黑" panose="020B0503020204020204" pitchFamily="34" charset="-122"/>
                  </a:rPr>
                  <a:t>理论相互补充，并非相互排斥、对立；方法和角度不同，强调重点不同。如果不考虑资本流动，</a:t>
                </a:r>
              </a:p>
              <a:p>
                <a:pPr marL="0" indent="0">
                  <a:lnSpc>
                    <a:spcPct val="100000"/>
                  </a:lnSpc>
                  <a:spcBef>
                    <a:spcPts val="1000"/>
                  </a:spcBef>
                  <a:buNone/>
                </a:pPr>
                <a:endParaRPr lang="en-US" altLang="zh-CN" sz="2400" i="1" dirty="0" smtClean="0">
                  <a:latin typeface="Cambria Math" panose="02040503050406030204" pitchFamily="18" charset="0"/>
                  <a:ea typeface="微软雅黑" panose="020B0503020204020204" pitchFamily="34" charset="-122"/>
                </a:endParaRPr>
              </a:p>
              <a:p>
                <a:pPr marL="0" indent="0">
                  <a:lnSpc>
                    <a:spcPct val="100000"/>
                  </a:lnSpc>
                  <a:spcBef>
                    <a:spcPts val="1000"/>
                  </a:spcBef>
                  <a:buNone/>
                </a:pPr>
                <a14:m>
                  <m:oMathPara xmlns:m="http://schemas.openxmlformats.org/officeDocument/2006/math">
                    <m:oMathParaPr>
                      <m:jc m:val="centerGroup"/>
                    </m:oMathParaPr>
                    <m:oMath xmlns:m="http://schemas.openxmlformats.org/officeDocument/2006/math">
                      <m:r>
                        <a:rPr lang="en-US" altLang="zh-CN" sz="3200" b="0" i="1" smtClean="0">
                          <a:latin typeface="Cambria Math" panose="02040503050406030204" pitchFamily="18" charset="0"/>
                          <a:ea typeface="微软雅黑" panose="020B0503020204020204" pitchFamily="34" charset="-122"/>
                        </a:rPr>
                        <m:t>𝐵</m:t>
                      </m:r>
                      <m:r>
                        <a:rPr lang="en-US" altLang="zh-CN" sz="3200" b="0" i="1" smtClean="0">
                          <a:latin typeface="Cambria Math" panose="02040503050406030204" pitchFamily="18" charset="0"/>
                          <a:ea typeface="微软雅黑" panose="020B0503020204020204" pitchFamily="34" charset="-122"/>
                        </a:rPr>
                        <m:t>=</m:t>
                      </m:r>
                      <m:r>
                        <a:rPr lang="en-US" altLang="zh-CN" sz="3200" b="0" i="1" smtClean="0">
                          <a:latin typeface="Cambria Math" panose="02040503050406030204" pitchFamily="18" charset="0"/>
                          <a:ea typeface="微软雅黑" panose="020B0503020204020204" pitchFamily="34" charset="-122"/>
                        </a:rPr>
                        <m:t>𝑌</m:t>
                      </m:r>
                      <m:r>
                        <a:rPr lang="en-US" altLang="zh-CN" sz="3200" b="0" i="1" smtClean="0">
                          <a:latin typeface="Cambria Math" panose="02040503050406030204" pitchFamily="18" charset="0"/>
                          <a:ea typeface="微软雅黑" panose="020B0503020204020204" pitchFamily="34" charset="-122"/>
                        </a:rPr>
                        <m:t>−</m:t>
                      </m:r>
                      <m:r>
                        <a:rPr lang="en-US" altLang="zh-CN" sz="3200" b="0" i="1" smtClean="0">
                          <a:latin typeface="Cambria Math" panose="02040503050406030204" pitchFamily="18" charset="0"/>
                          <a:ea typeface="微软雅黑" panose="020B0503020204020204" pitchFamily="34" charset="-122"/>
                        </a:rPr>
                        <m:t>𝐴</m:t>
                      </m:r>
                      <m:r>
                        <a:rPr lang="en-US" altLang="zh-CN" sz="3200" b="0" i="1" smtClean="0">
                          <a:latin typeface="Cambria Math" panose="02040503050406030204" pitchFamily="18" charset="0"/>
                          <a:ea typeface="微软雅黑" panose="020B0503020204020204" pitchFamily="34" charset="-122"/>
                        </a:rPr>
                        <m:t>=</m:t>
                      </m:r>
                      <m:r>
                        <a:rPr lang="en-US" altLang="zh-CN" sz="3200" b="0" i="1" smtClean="0">
                          <a:latin typeface="Cambria Math" panose="02040503050406030204" pitchFamily="18" charset="0"/>
                          <a:ea typeface="微软雅黑" panose="020B0503020204020204" pitchFamily="34" charset="-122"/>
                        </a:rPr>
                        <m:t>𝑋</m:t>
                      </m:r>
                      <m:r>
                        <a:rPr lang="en-US" altLang="zh-CN" sz="3200" b="0" i="1" smtClean="0">
                          <a:latin typeface="Cambria Math" panose="02040503050406030204" pitchFamily="18" charset="0"/>
                          <a:ea typeface="微软雅黑" panose="020B0503020204020204" pitchFamily="34" charset="-122"/>
                        </a:rPr>
                        <m:t>−</m:t>
                      </m:r>
                      <m:r>
                        <a:rPr lang="en-US" altLang="zh-CN" sz="3200" b="0" i="1" smtClean="0">
                          <a:latin typeface="Cambria Math" panose="02040503050406030204" pitchFamily="18" charset="0"/>
                          <a:ea typeface="微软雅黑" panose="020B0503020204020204" pitchFamily="34" charset="-122"/>
                        </a:rPr>
                        <m:t>𝑀</m:t>
                      </m:r>
                      <m:r>
                        <a:rPr lang="en-US" altLang="zh-CN" sz="3200" b="0" i="1" smtClean="0">
                          <a:latin typeface="Cambria Math" panose="02040503050406030204" pitchFamily="18" charset="0"/>
                          <a:ea typeface="微软雅黑" panose="020B0503020204020204" pitchFamily="34" charset="-122"/>
                        </a:rPr>
                        <m:t>=</m:t>
                      </m:r>
                      <m:r>
                        <m:rPr>
                          <m:sty m:val="p"/>
                        </m:rPr>
                        <a:rPr lang="el-GR" altLang="zh-CN" sz="3200" b="0" i="1" smtClean="0">
                          <a:latin typeface="Cambria Math" panose="02040503050406030204" pitchFamily="18" charset="0"/>
                          <a:ea typeface="Cambria Math" panose="02040503050406030204" pitchFamily="18" charset="0"/>
                        </a:rPr>
                        <m:t>Δ</m:t>
                      </m:r>
                      <m:r>
                        <a:rPr lang="en-US" altLang="zh-CN" sz="3200" b="0" i="1" smtClean="0">
                          <a:latin typeface="Cambria Math" panose="02040503050406030204" pitchFamily="18" charset="0"/>
                          <a:ea typeface="Cambria Math" panose="02040503050406030204" pitchFamily="18" charset="0"/>
                        </a:rPr>
                        <m:t>𝑅</m:t>
                      </m:r>
                    </m:oMath>
                  </m:oMathPara>
                </a14:m>
                <a:endParaRPr lang="en-US" altLang="zh-CN" sz="3200" dirty="0">
                  <a:latin typeface="微软雅黑" panose="020B0503020204020204" pitchFamily="34" charset="-122"/>
                  <a:ea typeface="微软雅黑" panose="020B0503020204020204" pitchFamily="34" charset="-122"/>
                </a:endParaRPr>
              </a:p>
              <a:p>
                <a:pPr marL="0" indent="0">
                  <a:lnSpc>
                    <a:spcPct val="100000"/>
                  </a:lnSpc>
                  <a:spcBef>
                    <a:spcPts val="1000"/>
                  </a:spcBef>
                  <a:buNone/>
                </a:pPr>
                <a:endParaRPr lang="en-US" altLang="zh-CN" sz="2400" dirty="0">
                  <a:latin typeface="微软雅黑" panose="020B0503020204020204" pitchFamily="34" charset="-122"/>
                  <a:ea typeface="微软雅黑" panose="020B0503020204020204" pitchFamily="34" charset="-122"/>
                </a:endParaRPr>
              </a:p>
              <a:p>
                <a:pPr marL="514350" indent="-514350">
                  <a:lnSpc>
                    <a:spcPct val="100000"/>
                  </a:lnSpc>
                  <a:spcBef>
                    <a:spcPts val="1000"/>
                  </a:spcBef>
                  <a:buFont typeface="+mj-lt"/>
                  <a:buAutoNum type="arabicPeriod" startAt="3"/>
                </a:pPr>
                <a:r>
                  <a:rPr lang="zh-CN" altLang="en-US" sz="2400" dirty="0" smtClean="0">
                    <a:latin typeface="微软雅黑" panose="020B0503020204020204" pitchFamily="34" charset="-122"/>
                    <a:ea typeface="微软雅黑" panose="020B0503020204020204" pitchFamily="34" charset="-122"/>
                  </a:rPr>
                  <a:t>政策</a:t>
                </a:r>
                <a:r>
                  <a:rPr lang="zh-CN" altLang="en-US" sz="2400" dirty="0">
                    <a:latin typeface="微软雅黑" panose="020B0503020204020204" pitchFamily="34" charset="-122"/>
                    <a:ea typeface="微软雅黑" panose="020B0503020204020204" pitchFamily="34" charset="-122"/>
                  </a:rPr>
                  <a:t>主张上，货币论重视货币政策、弹性论重视支出转换政策、吸收论重视财政政策。</a:t>
                </a:r>
              </a:p>
              <a:p>
                <a:pPr marL="514350" indent="-514350">
                  <a:lnSpc>
                    <a:spcPct val="100000"/>
                  </a:lnSpc>
                  <a:spcBef>
                    <a:spcPts val="1000"/>
                  </a:spcBef>
                  <a:buFont typeface="+mj-lt"/>
                  <a:buAutoNum type="arabicPeriod" startAt="3"/>
                </a:pPr>
                <a:endParaRPr lang="zh-CN" altLang="en-US" sz="2400" dirty="0">
                  <a:latin typeface="微软雅黑" panose="020B0503020204020204" pitchFamily="34" charset="-122"/>
                  <a:ea typeface="微软雅黑" panose="020B0503020204020204" pitchFamily="34" charset="-122"/>
                </a:endParaRPr>
              </a:p>
              <a:p>
                <a:pPr>
                  <a:lnSpc>
                    <a:spcPct val="100000"/>
                  </a:lnSpc>
                  <a:spcBef>
                    <a:spcPts val="1000"/>
                  </a:spcBef>
                </a:pPr>
                <a:endParaRPr lang="zh-CN" altLang="en-US" sz="2400" dirty="0">
                  <a:latin typeface="微软雅黑" panose="020B0503020204020204" pitchFamily="34" charset="-122"/>
                  <a:ea typeface="微软雅黑" panose="020B0503020204020204" pitchFamily="34"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971550" y="1447799"/>
                <a:ext cx="7618658" cy="4841880"/>
              </a:xfrm>
              <a:blipFill rotWithShape="0">
                <a:blip r:embed="rId3"/>
                <a:stretch>
                  <a:fillRect l="-1440"/>
                </a:stretch>
              </a:blipFill>
            </p:spPr>
            <p:txBody>
              <a:bodyPr/>
              <a:lstStyle/>
              <a:p>
                <a:r>
                  <a:rPr lang="zh-CN" altLang="en-US">
                    <a:noFill/>
                  </a:rPr>
                  <a:t> </a:t>
                </a:r>
              </a:p>
            </p:txBody>
          </p:sp>
        </mc:Fallback>
      </mc:AlternateContent>
      <p:sp>
        <p:nvSpPr>
          <p:cNvPr id="5" name="页脚占位符 4"/>
          <p:cNvSpPr>
            <a:spLocks noGrp="1"/>
          </p:cNvSpPr>
          <p:nvPr>
            <p:ph type="ftr" sz="quarter" idx="11"/>
          </p:nvPr>
        </p:nvSpPr>
        <p:spPr/>
        <p:txBody>
          <a:bodyPr/>
          <a:lstStyle/>
          <a:p>
            <a:r>
              <a:rPr lang="zh-CN" altLang="en-US" smtClean="0"/>
              <a:t>国际金融学 范小云</a:t>
            </a:r>
            <a:endParaRPr lang="zh-CN" altLang="en-US" dirty="0"/>
          </a:p>
        </p:txBody>
      </p:sp>
    </p:spTree>
    <p:extLst>
      <p:ext uri="{BB962C8B-B14F-4D97-AF65-F5344CB8AC3E}">
        <p14:creationId xmlns:p14="http://schemas.microsoft.com/office/powerpoint/2010/main" val="3413161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Diamond Grid 16x9">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15_4109default" id="{E728D685-11FC-4812-BA85-57AC6F9C9F40}" vid="{BC4E008B-95FF-4815-904E-143A8EDFC1D4}"/>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27087C0F-7449-45C4-B248-63D02665BF1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1909</Words>
  <Application>Microsoft Office PowerPoint</Application>
  <PresentationFormat>全屏显示(4:3)</PresentationFormat>
  <Paragraphs>369</Paragraphs>
  <Slides>43</Slides>
  <Notes>42</Notes>
  <HiddenSlides>0</HiddenSlides>
  <MMClips>0</MMClips>
  <ScaleCrop>false</ScaleCrop>
  <HeadingPairs>
    <vt:vector size="4" baseType="variant">
      <vt:variant>
        <vt:lpstr>主题</vt:lpstr>
      </vt:variant>
      <vt:variant>
        <vt:i4>1</vt:i4>
      </vt:variant>
      <vt:variant>
        <vt:lpstr>幻灯片标题</vt:lpstr>
      </vt:variant>
      <vt:variant>
        <vt:i4>43</vt:i4>
      </vt:variant>
    </vt:vector>
  </HeadingPairs>
  <TitlesOfParts>
    <vt:vector size="44" baseType="lpstr">
      <vt:lpstr>Diamond Grid 16x9</vt:lpstr>
      <vt:lpstr>国际金融学</vt:lpstr>
      <vt:lpstr>第三章   固定汇率制下的汇率理论 ——国际收支理论</vt:lpstr>
      <vt:lpstr>PowerPoint 演示文稿</vt:lpstr>
      <vt:lpstr>第一节 弹性分析法</vt:lpstr>
      <vt:lpstr>第一节 弹性分析法</vt:lpstr>
      <vt:lpstr>第一节 弹性分析法</vt:lpstr>
      <vt:lpstr>第一节 弹性分析法</vt:lpstr>
      <vt:lpstr>第一节 弹性分析法</vt:lpstr>
      <vt:lpstr>第一节 弹性分析法</vt:lpstr>
      <vt:lpstr>第一节 弹性分析法</vt:lpstr>
      <vt:lpstr>第一节 弹性分析法</vt:lpstr>
      <vt:lpstr>第一节 弹性分析法</vt:lpstr>
      <vt:lpstr>第一节 弹性分析法</vt:lpstr>
      <vt:lpstr>第一节 弹性分析法</vt:lpstr>
      <vt:lpstr>第一节 弹性分析法</vt:lpstr>
      <vt:lpstr>第一节 弹性分析法</vt:lpstr>
      <vt:lpstr>第二节 乘数分析法</vt:lpstr>
      <vt:lpstr>第二节 乘数分析法</vt:lpstr>
      <vt:lpstr>第二节 乘数分析法</vt:lpstr>
      <vt:lpstr>第二节 乘数分析法</vt:lpstr>
      <vt:lpstr>第二节 乘数分析法</vt:lpstr>
      <vt:lpstr>第二节 乘数分析法</vt:lpstr>
      <vt:lpstr>第三节 吸收分析法</vt:lpstr>
      <vt:lpstr>第三节 吸收分析法</vt:lpstr>
      <vt:lpstr>第三节 吸收分析法</vt:lpstr>
      <vt:lpstr>第三节 吸收分析法</vt:lpstr>
      <vt:lpstr>第三节 吸收分析法</vt:lpstr>
      <vt:lpstr>第三节 吸收分析法</vt:lpstr>
      <vt:lpstr>第四节 货币分析法</vt:lpstr>
      <vt:lpstr>第四节 货币分析法</vt:lpstr>
      <vt:lpstr>第四节 货币分析法</vt:lpstr>
      <vt:lpstr>第四节 货币分析法</vt:lpstr>
      <vt:lpstr>第四节 货币分析法</vt:lpstr>
      <vt:lpstr>第四节 货币分析法</vt:lpstr>
      <vt:lpstr>第四节 货币分析法</vt:lpstr>
      <vt:lpstr>第四节 货币分析法</vt:lpstr>
      <vt:lpstr>第四节 货币分析法</vt:lpstr>
      <vt:lpstr>第四节 货币分析法</vt:lpstr>
      <vt:lpstr>第四节 货币分析法</vt:lpstr>
      <vt:lpstr>第四节 货币分析法</vt:lpstr>
      <vt:lpstr>第四节 货币分析法</vt:lpstr>
      <vt:lpstr>第五节 对国际收支理论发展的评论</vt:lpstr>
      <vt:lpstr>第五节 对国际收支理论发展的评论</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2015-03-10T15:06:14Z</dcterms:created>
  <dcterms:modified xsi:type="dcterms:W3CDTF">2019-10-14T06:56:04Z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TC030310159991</vt:lpwstr>
  </property>
</Properties>
</file>