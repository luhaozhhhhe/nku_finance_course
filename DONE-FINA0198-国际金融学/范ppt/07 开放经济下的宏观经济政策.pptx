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xls" ContentType="application/vnd.ms-excel"/>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charts/chart1.xml" ContentType="application/vnd.openxmlformats-officedocument.drawingml.chart+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rts/style1.xml" ContentType="application/vnd.ms-office.chartstyle+xml"/>
  <Override PartName="/ppt/charts/colors1.xml" ContentType="application/vnd.ms-office.chartcolorstyl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2"/>
  </p:sldMasterIdLst>
  <p:notesMasterIdLst>
    <p:notesMasterId r:id="rId129"/>
  </p:notesMasterIdLst>
  <p:handoutMasterIdLst>
    <p:handoutMasterId r:id="rId130"/>
  </p:handoutMasterIdLst>
  <p:sldIdLst>
    <p:sldId id="261" r:id="rId3"/>
    <p:sldId id="275" r:id="rId4"/>
    <p:sldId id="437" r:id="rId5"/>
    <p:sldId id="438" r:id="rId6"/>
    <p:sldId id="439" r:id="rId7"/>
    <p:sldId id="441" r:id="rId8"/>
    <p:sldId id="442" r:id="rId9"/>
    <p:sldId id="443" r:id="rId10"/>
    <p:sldId id="444" r:id="rId11"/>
    <p:sldId id="445" r:id="rId12"/>
    <p:sldId id="446" r:id="rId13"/>
    <p:sldId id="575" r:id="rId14"/>
    <p:sldId id="447" r:id="rId15"/>
    <p:sldId id="567" r:id="rId16"/>
    <p:sldId id="568" r:id="rId17"/>
    <p:sldId id="566" r:id="rId18"/>
    <p:sldId id="569" r:id="rId19"/>
    <p:sldId id="450" r:id="rId20"/>
    <p:sldId id="451" r:id="rId21"/>
    <p:sldId id="452" r:id="rId22"/>
    <p:sldId id="453" r:id="rId23"/>
    <p:sldId id="454" r:id="rId24"/>
    <p:sldId id="455" r:id="rId25"/>
    <p:sldId id="456" r:id="rId26"/>
    <p:sldId id="459" r:id="rId27"/>
    <p:sldId id="458" r:id="rId28"/>
    <p:sldId id="457" r:id="rId29"/>
    <p:sldId id="460" r:id="rId30"/>
    <p:sldId id="461" r:id="rId31"/>
    <p:sldId id="462" r:id="rId32"/>
    <p:sldId id="463" r:id="rId33"/>
    <p:sldId id="464" r:id="rId34"/>
    <p:sldId id="465" r:id="rId35"/>
    <p:sldId id="466" r:id="rId36"/>
    <p:sldId id="467" r:id="rId37"/>
    <p:sldId id="468" r:id="rId38"/>
    <p:sldId id="469" r:id="rId39"/>
    <p:sldId id="471" r:id="rId40"/>
    <p:sldId id="472" r:id="rId41"/>
    <p:sldId id="473" r:id="rId42"/>
    <p:sldId id="474" r:id="rId43"/>
    <p:sldId id="475" r:id="rId44"/>
    <p:sldId id="476" r:id="rId45"/>
    <p:sldId id="477" r:id="rId46"/>
    <p:sldId id="478" r:id="rId47"/>
    <p:sldId id="479" r:id="rId48"/>
    <p:sldId id="480" r:id="rId49"/>
    <p:sldId id="481" r:id="rId50"/>
    <p:sldId id="482" r:id="rId51"/>
    <p:sldId id="483" r:id="rId52"/>
    <p:sldId id="484" r:id="rId53"/>
    <p:sldId id="485" r:id="rId54"/>
    <p:sldId id="486" r:id="rId55"/>
    <p:sldId id="487" r:id="rId56"/>
    <p:sldId id="488" r:id="rId57"/>
    <p:sldId id="489" r:id="rId58"/>
    <p:sldId id="565" r:id="rId59"/>
    <p:sldId id="490" r:id="rId60"/>
    <p:sldId id="491" r:id="rId61"/>
    <p:sldId id="492" r:id="rId62"/>
    <p:sldId id="493" r:id="rId63"/>
    <p:sldId id="494" r:id="rId64"/>
    <p:sldId id="495" r:id="rId65"/>
    <p:sldId id="496" r:id="rId66"/>
    <p:sldId id="497" r:id="rId67"/>
    <p:sldId id="498" r:id="rId68"/>
    <p:sldId id="499" r:id="rId69"/>
    <p:sldId id="500" r:id="rId70"/>
    <p:sldId id="501" r:id="rId71"/>
    <p:sldId id="502" r:id="rId72"/>
    <p:sldId id="503" r:id="rId73"/>
    <p:sldId id="504" r:id="rId74"/>
    <p:sldId id="505" r:id="rId75"/>
    <p:sldId id="506" r:id="rId76"/>
    <p:sldId id="507" r:id="rId77"/>
    <p:sldId id="508" r:id="rId78"/>
    <p:sldId id="509" r:id="rId79"/>
    <p:sldId id="510" r:id="rId80"/>
    <p:sldId id="511" r:id="rId81"/>
    <p:sldId id="512" r:id="rId82"/>
    <p:sldId id="513" r:id="rId83"/>
    <p:sldId id="515" r:id="rId84"/>
    <p:sldId id="516" r:id="rId85"/>
    <p:sldId id="517" r:id="rId86"/>
    <p:sldId id="518" r:id="rId87"/>
    <p:sldId id="519" r:id="rId88"/>
    <p:sldId id="520" r:id="rId89"/>
    <p:sldId id="521" r:id="rId90"/>
    <p:sldId id="522" r:id="rId91"/>
    <p:sldId id="523" r:id="rId92"/>
    <p:sldId id="524" r:id="rId93"/>
    <p:sldId id="525" r:id="rId94"/>
    <p:sldId id="526" r:id="rId95"/>
    <p:sldId id="527" r:id="rId96"/>
    <p:sldId id="528" r:id="rId97"/>
    <p:sldId id="529" r:id="rId98"/>
    <p:sldId id="530" r:id="rId99"/>
    <p:sldId id="531" r:id="rId100"/>
    <p:sldId id="532" r:id="rId101"/>
    <p:sldId id="533" r:id="rId102"/>
    <p:sldId id="572" r:id="rId103"/>
    <p:sldId id="534" r:id="rId104"/>
    <p:sldId id="535" r:id="rId105"/>
    <p:sldId id="536" r:id="rId106"/>
    <p:sldId id="537" r:id="rId107"/>
    <p:sldId id="538" r:id="rId108"/>
    <p:sldId id="541" r:id="rId109"/>
    <p:sldId id="539" r:id="rId110"/>
    <p:sldId id="542" r:id="rId111"/>
    <p:sldId id="570" r:id="rId112"/>
    <p:sldId id="544" r:id="rId113"/>
    <p:sldId id="545" r:id="rId114"/>
    <p:sldId id="546" r:id="rId115"/>
    <p:sldId id="547" r:id="rId116"/>
    <p:sldId id="548" r:id="rId117"/>
    <p:sldId id="549" r:id="rId118"/>
    <p:sldId id="550" r:id="rId119"/>
    <p:sldId id="552" r:id="rId120"/>
    <p:sldId id="553" r:id="rId121"/>
    <p:sldId id="554" r:id="rId122"/>
    <p:sldId id="555" r:id="rId123"/>
    <p:sldId id="556" r:id="rId124"/>
    <p:sldId id="557" r:id="rId125"/>
    <p:sldId id="558" r:id="rId126"/>
    <p:sldId id="560" r:id="rId127"/>
    <p:sldId id="573" r:id="rId1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pos="2880" userDrawn="1">
          <p15:clr>
            <a:srgbClr val="A4A3A4"/>
          </p15:clr>
        </p15:guide>
        <p15:guide id="2" orient="horz" pos="2160" userDrawn="1">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FF3399"/>
    <a:srgbClr val="CC9900"/>
    <a:srgbClr val="A50021"/>
    <a:srgbClr val="FF6699"/>
    <a:srgbClr val="FF505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12" autoAdjust="0"/>
    <p:restoredTop sz="89687" autoAdjust="0"/>
  </p:normalViewPr>
  <p:slideViewPr>
    <p:cSldViewPr snapToGrid="0">
      <p:cViewPr varScale="1">
        <p:scale>
          <a:sx n="99" d="100"/>
          <a:sy n="99" d="100"/>
        </p:scale>
        <p:origin x="-144" y="-5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82" d="100"/>
          <a:sy n="82" d="100"/>
        </p:scale>
        <p:origin x="3852" y="7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theme" Target="theme/theme1.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13" Type="http://schemas.openxmlformats.org/officeDocument/2006/relationships/slide" Target="slides/slide111.xml"/><Relationship Id="rId118" Type="http://schemas.openxmlformats.org/officeDocument/2006/relationships/slide" Target="slides/slide116.xml"/><Relationship Id="rId126" Type="http://schemas.openxmlformats.org/officeDocument/2006/relationships/slide" Target="slides/slide124.xml"/><Relationship Id="rId134"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slide" Target="slides/slide101.xml"/><Relationship Id="rId108" Type="http://schemas.openxmlformats.org/officeDocument/2006/relationships/slide" Target="slides/slide106.xml"/><Relationship Id="rId116" Type="http://schemas.openxmlformats.org/officeDocument/2006/relationships/slide" Target="slides/slide114.xml"/><Relationship Id="rId124" Type="http://schemas.openxmlformats.org/officeDocument/2006/relationships/slide" Target="slides/slide122.xml"/><Relationship Id="rId129"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11" Type="http://schemas.openxmlformats.org/officeDocument/2006/relationships/slide" Target="slides/slide109.xml"/><Relationship Id="rId13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slide" Target="slides/slide112.xml"/><Relationship Id="rId119" Type="http://schemas.openxmlformats.org/officeDocument/2006/relationships/slide" Target="slides/slide117.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30"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1.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presProps" Target="pres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3" Type="http://schemas.microsoft.com/office/2011/relationships/chartStyle" Target="style1.xml"/><Relationship Id="rId2" Type="http://schemas.microsoft.com/office/2011/relationships/chartColorStyle" Target="colors1.xml"/><Relationship Id="rId1" Type="http://schemas.openxmlformats.org/officeDocument/2006/relationships/oleObject" Target="file:///D:\&#25105;&#30340;&#25991;&#26723;\&#20010;&#20154;&#36164;&#26009;\2014&#21338;\&#21161;&#25945;\&#22269;&#38469;&#37329;&#34701;&#35838;&#20214;&#65288;2015&#65289;\&#36164;&#26009;\&#39321;&#28207;&#20154;&#27665;&#24065;.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hPercent val="35"/>
      <c:rotY val="20"/>
      <c:depthPercent val="100"/>
      <c:rAngAx val="1"/>
    </c:view3D>
    <c:floor>
      <c:thickness val="0"/>
      <c:spPr>
        <a:solidFill>
          <a:srgbClr val="C0C0C0"/>
        </a:solidFill>
        <a:ln w="3175">
          <a:solidFill>
            <a:srgbClr val="000000"/>
          </a:solidFill>
          <a:prstDash val="solid"/>
        </a:ln>
      </c:spPr>
    </c:floor>
    <c:sideWall>
      <c:thickness val="0"/>
      <c:spPr>
        <a:noFill/>
        <a:ln w="25400">
          <a:noFill/>
        </a:ln>
      </c:spPr>
    </c:sideWall>
    <c:backWall>
      <c:thickness val="0"/>
      <c:spPr>
        <a:noFill/>
        <a:ln w="25400">
          <a:noFill/>
        </a:ln>
      </c:spPr>
    </c:backWall>
    <c:plotArea>
      <c:layout>
        <c:manualLayout>
          <c:layoutTarget val="inner"/>
          <c:xMode val="edge"/>
          <c:yMode val="edge"/>
          <c:x val="8.7398373983739938E-2"/>
          <c:y val="4.8648648648648672E-2"/>
          <c:w val="0.89227642276422758"/>
          <c:h val="0.77837837837837931"/>
        </c:manualLayout>
      </c:layout>
      <c:bar3DChart>
        <c:barDir val="col"/>
        <c:grouping val="clustered"/>
        <c:varyColors val="0"/>
        <c:ser>
          <c:idx val="0"/>
          <c:order val="0"/>
          <c:tx>
            <c:strRef>
              <c:f>人民币结算占比!$B$28</c:f>
              <c:strCache>
                <c:ptCount val="1"/>
                <c:pt idx="0">
                  <c:v>结算金额</c:v>
                </c:pt>
              </c:strCache>
            </c:strRef>
          </c:tx>
          <c:spPr>
            <a:solidFill>
              <a:srgbClr val="9999FF"/>
            </a:solidFill>
            <a:ln w="24026">
              <a:solidFill>
                <a:srgbClr val="000000"/>
              </a:solidFill>
              <a:prstDash val="solid"/>
            </a:ln>
          </c:spPr>
          <c:invertIfNegative val="0"/>
          <c:dLbls>
            <c:dLbl>
              <c:idx val="0"/>
              <c:layout>
                <c:manualLayout>
                  <c:x val="1.134519770394554E-2"/>
                  <c:y val="1.5980137617932953E-2"/>
                </c:manualLayout>
              </c:layout>
              <c:spPr>
                <a:noFill/>
                <a:ln w="48052">
                  <a:noFill/>
                </a:ln>
              </c:spPr>
              <c:txPr>
                <a:bodyPr/>
                <a:lstStyle/>
                <a:p>
                  <a:pPr>
                    <a:defRPr sz="1655" b="0" i="0" u="none" strike="noStrike" baseline="0">
                      <a:solidFill>
                        <a:srgbClr val="000000"/>
                      </a:solidFill>
                      <a:latin typeface="宋体"/>
                      <a:ea typeface="宋体"/>
                      <a:cs typeface="宋体"/>
                    </a:defRPr>
                  </a:pPr>
                  <a:endParaRPr lang="zh-CN"/>
                </a:p>
              </c:txPr>
              <c:showLegendKey val="0"/>
              <c:showVal val="1"/>
              <c:showCatName val="0"/>
              <c:showSerName val="0"/>
              <c:showPercent val="0"/>
              <c:showBubbleSize val="0"/>
              <c:extLst>
                <c:ext xmlns:c15="http://schemas.microsoft.com/office/drawing/2012/chart" uri="{CE6537A1-D6FC-4f65-9D91-7224C49458BB}">
                  <c15:layout/>
                </c:ext>
              </c:extLst>
            </c:dLbl>
            <c:spPr>
              <a:noFill/>
              <a:ln w="48052">
                <a:noFill/>
              </a:ln>
            </c:spPr>
            <c:txPr>
              <a:bodyPr wrap="square" lIns="38100" tIns="19050" rIns="38100" bIns="19050" anchor="ctr">
                <a:spAutoFit/>
              </a:bodyPr>
              <a:lstStyle/>
              <a:p>
                <a:pPr>
                  <a:defRPr sz="1655" b="0" i="0" u="none" strike="noStrike" baseline="0">
                    <a:solidFill>
                      <a:srgbClr val="000000"/>
                    </a:solidFill>
                    <a:latin typeface="宋体"/>
                    <a:ea typeface="宋体"/>
                    <a:cs typeface="宋体"/>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人民币结算占比!$A$29:$A$33</c:f>
              <c:strCache>
                <c:ptCount val="5"/>
                <c:pt idx="0">
                  <c:v>2009.7-12</c:v>
                </c:pt>
                <c:pt idx="1">
                  <c:v>2010.1-6</c:v>
                </c:pt>
                <c:pt idx="2">
                  <c:v>2010.7-12</c:v>
                </c:pt>
                <c:pt idx="3">
                  <c:v>2011.1-6</c:v>
                </c:pt>
                <c:pt idx="4">
                  <c:v>2011.7-12</c:v>
                </c:pt>
              </c:strCache>
            </c:strRef>
          </c:cat>
          <c:val>
            <c:numRef>
              <c:f>人民币结算占比!$B$29:$B$33</c:f>
              <c:numCache>
                <c:formatCode>General</c:formatCode>
                <c:ptCount val="5"/>
                <c:pt idx="0">
                  <c:v>35.800000000000004</c:v>
                </c:pt>
                <c:pt idx="1">
                  <c:v>706</c:v>
                </c:pt>
                <c:pt idx="2">
                  <c:v>4393</c:v>
                </c:pt>
                <c:pt idx="3">
                  <c:v>9575.7000000000007</c:v>
                </c:pt>
                <c:pt idx="4">
                  <c:v>11224.3</c:v>
                </c:pt>
              </c:numCache>
            </c:numRef>
          </c:val>
        </c:ser>
        <c:dLbls>
          <c:showLegendKey val="0"/>
          <c:showVal val="1"/>
          <c:showCatName val="0"/>
          <c:showSerName val="0"/>
          <c:showPercent val="0"/>
          <c:showBubbleSize val="0"/>
        </c:dLbls>
        <c:gapWidth val="150"/>
        <c:shape val="box"/>
        <c:axId val="229528704"/>
        <c:axId val="229530240"/>
        <c:axId val="0"/>
      </c:bar3DChart>
      <c:catAx>
        <c:axId val="229528704"/>
        <c:scaling>
          <c:orientation val="minMax"/>
        </c:scaling>
        <c:delete val="0"/>
        <c:axPos val="b"/>
        <c:numFmt formatCode="General" sourceLinked="1"/>
        <c:majorTickMark val="in"/>
        <c:minorTickMark val="none"/>
        <c:tickLblPos val="low"/>
        <c:spPr>
          <a:ln w="6006">
            <a:solidFill>
              <a:srgbClr val="000000"/>
            </a:solidFill>
            <a:prstDash val="solid"/>
          </a:ln>
        </c:spPr>
        <c:txPr>
          <a:bodyPr rot="0" vert="horz"/>
          <a:lstStyle/>
          <a:p>
            <a:pPr>
              <a:defRPr sz="1655" b="0" i="0" u="none" strike="noStrike" baseline="0">
                <a:solidFill>
                  <a:srgbClr val="000000"/>
                </a:solidFill>
                <a:latin typeface="宋体"/>
                <a:ea typeface="宋体"/>
                <a:cs typeface="宋体"/>
              </a:defRPr>
            </a:pPr>
            <a:endParaRPr lang="zh-CN"/>
          </a:p>
        </c:txPr>
        <c:crossAx val="229530240"/>
        <c:crosses val="autoZero"/>
        <c:auto val="1"/>
        <c:lblAlgn val="ctr"/>
        <c:lblOffset val="100"/>
        <c:tickLblSkip val="1"/>
        <c:tickMarkSkip val="1"/>
        <c:noMultiLvlLbl val="0"/>
      </c:catAx>
      <c:valAx>
        <c:axId val="229530240"/>
        <c:scaling>
          <c:orientation val="minMax"/>
        </c:scaling>
        <c:delete val="0"/>
        <c:axPos val="l"/>
        <c:majorGridlines>
          <c:spPr>
            <a:ln w="6006">
              <a:solidFill>
                <a:srgbClr val="000000"/>
              </a:solidFill>
              <a:prstDash val="solid"/>
            </a:ln>
          </c:spPr>
        </c:majorGridlines>
        <c:numFmt formatCode="General" sourceLinked="1"/>
        <c:majorTickMark val="in"/>
        <c:minorTickMark val="none"/>
        <c:tickLblPos val="nextTo"/>
        <c:spPr>
          <a:ln w="6006">
            <a:solidFill>
              <a:srgbClr val="000000"/>
            </a:solidFill>
            <a:prstDash val="solid"/>
          </a:ln>
        </c:spPr>
        <c:txPr>
          <a:bodyPr rot="0" vert="horz"/>
          <a:lstStyle/>
          <a:p>
            <a:pPr>
              <a:defRPr sz="1655" b="0" i="0" u="none" strike="noStrike" baseline="0">
                <a:solidFill>
                  <a:srgbClr val="000000"/>
                </a:solidFill>
                <a:latin typeface="宋体"/>
                <a:ea typeface="宋体"/>
                <a:cs typeface="宋体"/>
              </a:defRPr>
            </a:pPr>
            <a:endParaRPr lang="zh-CN"/>
          </a:p>
        </c:txPr>
        <c:crossAx val="229528704"/>
        <c:crosses val="autoZero"/>
        <c:crossBetween val="between"/>
      </c:valAx>
      <c:spPr>
        <a:noFill/>
        <a:ln w="48052">
          <a:noFill/>
        </a:ln>
      </c:spPr>
    </c:plotArea>
    <c:plotVisOnly val="1"/>
    <c:dispBlanksAs val="gap"/>
    <c:showDLblsOverMax val="0"/>
  </c:chart>
  <c:spPr>
    <a:solidFill>
      <a:schemeClr val="bg1"/>
    </a:solidFill>
    <a:ln>
      <a:noFill/>
    </a:ln>
  </c:spPr>
  <c:txPr>
    <a:bodyPr/>
    <a:lstStyle/>
    <a:p>
      <a:pPr>
        <a:defRPr sz="1655" b="0" i="0" u="none" strike="noStrike" baseline="0">
          <a:solidFill>
            <a:srgbClr val="000000"/>
          </a:solidFill>
          <a:latin typeface="宋体"/>
          <a:ea typeface="宋体"/>
          <a:cs typeface="宋体"/>
        </a:defRPr>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980906713581072"/>
          <c:y val="9.7322513383137313E-2"/>
          <c:w val="0.80826627675078822"/>
          <c:h val="0.72688188976377965"/>
        </c:manualLayout>
      </c:layout>
      <c:barChart>
        <c:barDir val="col"/>
        <c:grouping val="clustered"/>
        <c:varyColors val="0"/>
        <c:ser>
          <c:idx val="1"/>
          <c:order val="1"/>
          <c:tx>
            <c:strRef>
              <c:f>香港人民币!$J$1</c:f>
              <c:strCache>
                <c:ptCount val="1"/>
                <c:pt idx="0">
                  <c:v>人民币存款（百万元）</c:v>
                </c:pt>
              </c:strCache>
            </c:strRef>
          </c:tx>
          <c:spPr>
            <a:solidFill>
              <a:schemeClr val="accent2"/>
            </a:solidFill>
            <a:ln w="63500" cap="sq" cmpd="sng">
              <a:solidFill>
                <a:schemeClr val="accent2">
                  <a:shade val="95000"/>
                </a:schemeClr>
              </a:solidFill>
              <a:miter lim="800000"/>
            </a:ln>
            <a:effectLst/>
          </c:spPr>
          <c:invertIfNegative val="0"/>
          <c:cat>
            <c:numRef>
              <c:f>香港人民币!$H$2:$H$26</c:f>
              <c:numCache>
                <c:formatCode>yyyy"年"m"月";@</c:formatCode>
                <c:ptCount val="25"/>
                <c:pt idx="0">
                  <c:v>39873</c:v>
                </c:pt>
                <c:pt idx="1">
                  <c:v>39965</c:v>
                </c:pt>
                <c:pt idx="2">
                  <c:v>40057</c:v>
                </c:pt>
                <c:pt idx="3">
                  <c:v>40148</c:v>
                </c:pt>
                <c:pt idx="4">
                  <c:v>40238</c:v>
                </c:pt>
                <c:pt idx="5">
                  <c:v>40330</c:v>
                </c:pt>
                <c:pt idx="6">
                  <c:v>40422</c:v>
                </c:pt>
                <c:pt idx="7">
                  <c:v>40513</c:v>
                </c:pt>
                <c:pt idx="8">
                  <c:v>40603</c:v>
                </c:pt>
                <c:pt idx="9">
                  <c:v>40695</c:v>
                </c:pt>
                <c:pt idx="10">
                  <c:v>40787</c:v>
                </c:pt>
                <c:pt idx="11">
                  <c:v>40878</c:v>
                </c:pt>
                <c:pt idx="12">
                  <c:v>40969</c:v>
                </c:pt>
                <c:pt idx="13">
                  <c:v>41061</c:v>
                </c:pt>
                <c:pt idx="14">
                  <c:v>41153</c:v>
                </c:pt>
                <c:pt idx="15">
                  <c:v>41244</c:v>
                </c:pt>
                <c:pt idx="16">
                  <c:v>41334</c:v>
                </c:pt>
                <c:pt idx="17">
                  <c:v>41426</c:v>
                </c:pt>
                <c:pt idx="18">
                  <c:v>41518</c:v>
                </c:pt>
                <c:pt idx="19">
                  <c:v>41609</c:v>
                </c:pt>
                <c:pt idx="20">
                  <c:v>41699</c:v>
                </c:pt>
                <c:pt idx="21">
                  <c:v>41791</c:v>
                </c:pt>
                <c:pt idx="22">
                  <c:v>41883</c:v>
                </c:pt>
                <c:pt idx="23">
                  <c:v>41974</c:v>
                </c:pt>
                <c:pt idx="24">
                  <c:v>42064</c:v>
                </c:pt>
              </c:numCache>
            </c:numRef>
          </c:cat>
          <c:val>
            <c:numRef>
              <c:f>香港人民币!$J$2:$J$26</c:f>
              <c:numCache>
                <c:formatCode>#,##0_ </c:formatCode>
                <c:ptCount val="25"/>
                <c:pt idx="0">
                  <c:v>53110</c:v>
                </c:pt>
                <c:pt idx="1">
                  <c:v>54381</c:v>
                </c:pt>
                <c:pt idx="2">
                  <c:v>58174</c:v>
                </c:pt>
                <c:pt idx="3">
                  <c:v>62718</c:v>
                </c:pt>
                <c:pt idx="4">
                  <c:v>70755</c:v>
                </c:pt>
                <c:pt idx="5">
                  <c:v>89702</c:v>
                </c:pt>
                <c:pt idx="6">
                  <c:v>149326</c:v>
                </c:pt>
                <c:pt idx="7">
                  <c:v>314938</c:v>
                </c:pt>
                <c:pt idx="8">
                  <c:v>451419</c:v>
                </c:pt>
                <c:pt idx="9">
                  <c:v>553602</c:v>
                </c:pt>
                <c:pt idx="10">
                  <c:v>622236</c:v>
                </c:pt>
                <c:pt idx="11" formatCode="#,##0">
                  <c:v>588529</c:v>
                </c:pt>
                <c:pt idx="12" formatCode="#,##0">
                  <c:v>554317</c:v>
                </c:pt>
                <c:pt idx="13" formatCode="#,##0">
                  <c:v>557710</c:v>
                </c:pt>
                <c:pt idx="14" formatCode="#,##0">
                  <c:v>545701</c:v>
                </c:pt>
                <c:pt idx="15" formatCode="#,##0">
                  <c:v>602996</c:v>
                </c:pt>
                <c:pt idx="16" formatCode="#,##0">
                  <c:v>668058</c:v>
                </c:pt>
                <c:pt idx="17" formatCode="#,##0">
                  <c:v>697959</c:v>
                </c:pt>
                <c:pt idx="18" formatCode="#,##0">
                  <c:v>730018</c:v>
                </c:pt>
                <c:pt idx="19" formatCode="#,##0">
                  <c:v>860472</c:v>
                </c:pt>
                <c:pt idx="20" formatCode="#,##0">
                  <c:v>944910</c:v>
                </c:pt>
                <c:pt idx="21" formatCode="#,##0">
                  <c:v>925914</c:v>
                </c:pt>
                <c:pt idx="22" formatCode="#,##0">
                  <c:v>944473</c:v>
                </c:pt>
                <c:pt idx="23" formatCode="#,##0">
                  <c:v>1003557</c:v>
                </c:pt>
                <c:pt idx="24" formatCode="#,##0">
                  <c:v>951994</c:v>
                </c:pt>
              </c:numCache>
            </c:numRef>
          </c:val>
        </c:ser>
        <c:dLbls>
          <c:showLegendKey val="0"/>
          <c:showVal val="0"/>
          <c:showCatName val="0"/>
          <c:showSerName val="0"/>
          <c:showPercent val="0"/>
          <c:showBubbleSize val="0"/>
        </c:dLbls>
        <c:gapWidth val="219"/>
        <c:axId val="213477632"/>
        <c:axId val="213824256"/>
      </c:barChart>
      <c:scatterChart>
        <c:scatterStyle val="lineMarker"/>
        <c:varyColors val="0"/>
        <c:ser>
          <c:idx val="0"/>
          <c:order val="0"/>
          <c:tx>
            <c:strRef>
              <c:f>香港人民币!$I$1</c:f>
              <c:strCache>
                <c:ptCount val="1"/>
                <c:pt idx="0">
                  <c:v>经营人民币业务的认可机构</c:v>
                </c:pt>
              </c:strCache>
            </c:strRef>
          </c:tx>
          <c:spPr>
            <a:ln w="28575" cap="rnd">
              <a:solidFill>
                <a:srgbClr val="FFC000"/>
              </a:solidFill>
              <a:round/>
            </a:ln>
            <a:effectLst/>
          </c:spPr>
          <c:marker>
            <c:symbol val="circle"/>
            <c:size val="5"/>
            <c:spPr>
              <a:solidFill>
                <a:srgbClr val="FFC000"/>
              </a:solidFill>
              <a:ln w="50800">
                <a:solidFill>
                  <a:srgbClr val="FFC000"/>
                </a:solidFill>
                <a:round/>
              </a:ln>
              <a:effectLst/>
            </c:spPr>
          </c:marker>
          <c:xVal>
            <c:numRef>
              <c:f>香港人民币!$H$2:$H$27</c:f>
              <c:numCache>
                <c:formatCode>yyyy"年"m"月";@</c:formatCode>
                <c:ptCount val="26"/>
                <c:pt idx="0">
                  <c:v>39873</c:v>
                </c:pt>
                <c:pt idx="1">
                  <c:v>39965</c:v>
                </c:pt>
                <c:pt idx="2">
                  <c:v>40057</c:v>
                </c:pt>
                <c:pt idx="3">
                  <c:v>40148</c:v>
                </c:pt>
                <c:pt idx="4">
                  <c:v>40238</c:v>
                </c:pt>
                <c:pt idx="5">
                  <c:v>40330</c:v>
                </c:pt>
                <c:pt idx="6">
                  <c:v>40422</c:v>
                </c:pt>
                <c:pt idx="7">
                  <c:v>40513</c:v>
                </c:pt>
                <c:pt idx="8">
                  <c:v>40603</c:v>
                </c:pt>
                <c:pt idx="9">
                  <c:v>40695</c:v>
                </c:pt>
                <c:pt idx="10">
                  <c:v>40787</c:v>
                </c:pt>
                <c:pt idx="11">
                  <c:v>40878</c:v>
                </c:pt>
                <c:pt idx="12">
                  <c:v>40969</c:v>
                </c:pt>
                <c:pt idx="13">
                  <c:v>41061</c:v>
                </c:pt>
                <c:pt idx="14">
                  <c:v>41153</c:v>
                </c:pt>
                <c:pt idx="15">
                  <c:v>41244</c:v>
                </c:pt>
                <c:pt idx="16">
                  <c:v>41334</c:v>
                </c:pt>
                <c:pt idx="17">
                  <c:v>41426</c:v>
                </c:pt>
                <c:pt idx="18">
                  <c:v>41518</c:v>
                </c:pt>
                <c:pt idx="19">
                  <c:v>41609</c:v>
                </c:pt>
                <c:pt idx="20">
                  <c:v>41699</c:v>
                </c:pt>
                <c:pt idx="21">
                  <c:v>41791</c:v>
                </c:pt>
                <c:pt idx="22">
                  <c:v>41883</c:v>
                </c:pt>
                <c:pt idx="23">
                  <c:v>41974</c:v>
                </c:pt>
                <c:pt idx="24">
                  <c:v>42064</c:v>
                </c:pt>
                <c:pt idx="25">
                  <c:v>42095</c:v>
                </c:pt>
              </c:numCache>
            </c:numRef>
          </c:xVal>
          <c:yVal>
            <c:numRef>
              <c:f>香港人民币!$I$2:$I$27</c:f>
              <c:numCache>
                <c:formatCode>General</c:formatCode>
                <c:ptCount val="26"/>
                <c:pt idx="0">
                  <c:v>39</c:v>
                </c:pt>
                <c:pt idx="1">
                  <c:v>40</c:v>
                </c:pt>
                <c:pt idx="2">
                  <c:v>44</c:v>
                </c:pt>
                <c:pt idx="3">
                  <c:v>60</c:v>
                </c:pt>
                <c:pt idx="4">
                  <c:v>73</c:v>
                </c:pt>
                <c:pt idx="5">
                  <c:v>77</c:v>
                </c:pt>
                <c:pt idx="6">
                  <c:v>92</c:v>
                </c:pt>
                <c:pt idx="7">
                  <c:v>111</c:v>
                </c:pt>
                <c:pt idx="8">
                  <c:v>118</c:v>
                </c:pt>
                <c:pt idx="9">
                  <c:v>128</c:v>
                </c:pt>
                <c:pt idx="10">
                  <c:v>131</c:v>
                </c:pt>
                <c:pt idx="11">
                  <c:v>133</c:v>
                </c:pt>
                <c:pt idx="12">
                  <c:v>135</c:v>
                </c:pt>
                <c:pt idx="13">
                  <c:v>133</c:v>
                </c:pt>
                <c:pt idx="14">
                  <c:v>136</c:v>
                </c:pt>
                <c:pt idx="15">
                  <c:v>139</c:v>
                </c:pt>
                <c:pt idx="16">
                  <c:v>140</c:v>
                </c:pt>
                <c:pt idx="17">
                  <c:v>140</c:v>
                </c:pt>
                <c:pt idx="18">
                  <c:v>143</c:v>
                </c:pt>
                <c:pt idx="19">
                  <c:v>146</c:v>
                </c:pt>
                <c:pt idx="20">
                  <c:v>147</c:v>
                </c:pt>
                <c:pt idx="21">
                  <c:v>148</c:v>
                </c:pt>
                <c:pt idx="22">
                  <c:v>149</c:v>
                </c:pt>
                <c:pt idx="23">
                  <c:v>149</c:v>
                </c:pt>
                <c:pt idx="24">
                  <c:v>147</c:v>
                </c:pt>
                <c:pt idx="25">
                  <c:v>147</c:v>
                </c:pt>
              </c:numCache>
            </c:numRef>
          </c:yVal>
          <c:smooth val="0"/>
        </c:ser>
        <c:dLbls>
          <c:showLegendKey val="0"/>
          <c:showVal val="0"/>
          <c:showCatName val="0"/>
          <c:showSerName val="0"/>
          <c:showPercent val="0"/>
          <c:showBubbleSize val="0"/>
        </c:dLbls>
        <c:axId val="213835776"/>
        <c:axId val="213825792"/>
      </c:scatterChart>
      <c:dateAx>
        <c:axId val="213477632"/>
        <c:scaling>
          <c:orientation val="minMax"/>
        </c:scaling>
        <c:delete val="0"/>
        <c:axPos val="b"/>
        <c:numFmt formatCode="yyyy&quot;年&quot;m&quot;月&quot;;@" sourceLinked="1"/>
        <c:majorTickMark val="out"/>
        <c:minorTickMark val="none"/>
        <c:tickLblPos val="nextTo"/>
        <c:spPr>
          <a:noFill/>
          <a:ln w="9525" cap="flat" cmpd="sng" algn="ctr">
            <a:solidFill>
              <a:schemeClr val="tx1">
                <a:lumMod val="15000"/>
                <a:lumOff val="85000"/>
              </a:schemeClr>
            </a:solidFill>
            <a:round/>
          </a:ln>
          <a:effectLst/>
        </c:spPr>
        <c:txPr>
          <a:bodyPr rot="-2700000" spcFirstLastPara="1" vertOverflow="ellipsis" wrap="square" anchor="ctr" anchorCtr="1"/>
          <a:lstStyle/>
          <a:p>
            <a:pPr>
              <a:defRPr sz="12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213824256"/>
        <c:crosses val="autoZero"/>
        <c:auto val="1"/>
        <c:lblOffset val="100"/>
        <c:baseTimeUnit val="months"/>
      </c:dateAx>
      <c:valAx>
        <c:axId val="213824256"/>
        <c:scaling>
          <c:orientation val="minMax"/>
        </c:scaling>
        <c:delete val="0"/>
        <c:axPos val="l"/>
        <c:majorGridlines>
          <c:spPr>
            <a:ln w="9525" cap="flat" cmpd="sng" algn="ctr">
              <a:solidFill>
                <a:schemeClr val="tx1">
                  <a:lumMod val="15000"/>
                  <a:lumOff val="85000"/>
                </a:schemeClr>
              </a:solidFill>
              <a:round/>
            </a:ln>
            <a:effectLst/>
          </c:spPr>
        </c:majorGridlines>
        <c:numFmt formatCode="#,##0_ "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213477632"/>
        <c:crosses val="autoZero"/>
        <c:crossBetween val="between"/>
      </c:valAx>
      <c:valAx>
        <c:axId val="213825792"/>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213835776"/>
        <c:crosses val="max"/>
        <c:crossBetween val="midCat"/>
      </c:valAx>
      <c:valAx>
        <c:axId val="213835776"/>
        <c:scaling>
          <c:orientation val="minMax"/>
        </c:scaling>
        <c:delete val="1"/>
        <c:axPos val="b"/>
        <c:numFmt formatCode="yyyy&quot;年&quot;m&quot;月&quot;;@" sourceLinked="1"/>
        <c:majorTickMark val="out"/>
        <c:minorTickMark val="none"/>
        <c:tickLblPos val="nextTo"/>
        <c:crossAx val="213825792"/>
        <c:crosses val="autoZero"/>
        <c:crossBetween val="midCat"/>
      </c:valAx>
      <c:spPr>
        <a:noFill/>
        <a:ln>
          <a:noFill/>
        </a:ln>
        <a:effectLst/>
      </c:spPr>
    </c:plotArea>
    <c:legend>
      <c:legendPos val="b"/>
      <c:layout>
        <c:manualLayout>
          <c:xMode val="edge"/>
          <c:yMode val="edge"/>
          <c:x val="0.19038520816764828"/>
          <c:y val="2.7121172353455854E-2"/>
          <c:w val="0.62933635072480532"/>
          <c:h val="5.3434383202099735E-2"/>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1">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latinLnBrk="0">
              <a:defRPr lang="zh-CN" sz="1200"/>
            </a:lvl1pPr>
          </a:lstStyle>
          <a:p>
            <a:endParaRPr lang="zh-CN" dirty="0">
              <a:ea typeface="Microsoft YaHei UI"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latinLnBrk="0">
              <a:defRPr lang="zh-CN" sz="1200"/>
            </a:lvl1pPr>
          </a:lstStyle>
          <a:p>
            <a:fld id="{59041DB8-B66F-4DC8-A96E-33677E0F90FF}" type="datetimeFigureOut">
              <a:rPr lang="en-US" altLang="zh-CN" smtClean="0">
                <a:ea typeface="Microsoft YaHei UI" panose="020B0503020204020204" pitchFamily="34" charset="-122"/>
              </a:rPr>
              <a:pPr/>
              <a:t>12/24/2019</a:t>
            </a:fld>
            <a:endParaRPr lang="zh-CN" dirty="0">
              <a:ea typeface="Microsoft YaHei UI"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latinLnBrk="0">
              <a:defRPr lang="zh-CN" sz="1200"/>
            </a:lvl1pPr>
          </a:lstStyle>
          <a:p>
            <a:endParaRPr lang="zh-CN" dirty="0">
              <a:ea typeface="Microsoft YaHei UI" panose="020B0503020204020204" pitchFamily="34" charset="-122"/>
            </a:endParaRPr>
          </a:p>
        </p:txBody>
      </p:sp>
      <p:sp>
        <p:nvSpPr>
          <p:cNvPr id="5" name="幻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latinLnBrk="0">
              <a:defRPr lang="zh-CN" sz="1200"/>
            </a:lvl1pPr>
          </a:lstStyle>
          <a:p>
            <a:fld id="{1604A0D4-B89B-4ADD-AF9E-38636B40EE4E}" type="slidenum">
              <a:rPr lang="zh-CN" smtClean="0">
                <a:ea typeface="Microsoft YaHei UI" panose="020B0503020204020204" pitchFamily="34" charset="-122"/>
              </a:rPr>
              <a:pPr/>
              <a:t>‹#›</a:t>
            </a:fld>
            <a:endParaRPr lang="zh-CN" dirty="0">
              <a:ea typeface="Microsoft YaHei UI" panose="020B0503020204020204" pitchFamily="34" charset="-122"/>
            </a:endParaRPr>
          </a:p>
        </p:txBody>
      </p:sp>
    </p:spTree>
    <p:extLst>
      <p:ext uri="{BB962C8B-B14F-4D97-AF65-F5344CB8AC3E}">
        <p14:creationId xmlns:p14="http://schemas.microsoft.com/office/powerpoint/2010/main" val="42473891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latinLnBrk="0">
              <a:defRPr lang="zh-CN" sz="1200">
                <a:ea typeface="Microsoft YaHei UI"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latinLnBrk="0">
              <a:defRPr lang="zh-CN" sz="1200">
                <a:ea typeface="Microsoft YaHei UI" panose="020B0503020204020204" pitchFamily="34" charset="-122"/>
              </a:defRPr>
            </a:lvl1pPr>
          </a:lstStyle>
          <a:p>
            <a:fld id="{DEB49C4A-65AC-492D-9701-81B46C3AD0E4}" type="datetimeFigureOut">
              <a:rPr lang="en-US" altLang="zh-CN" smtClean="0"/>
              <a:pPr/>
              <a:t>12/24/2019</a:t>
            </a:fld>
            <a:endParaRPr lang="zh-CN" altLang="en-US" dirty="0"/>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dirty="0"/>
          </a:p>
        </p:txBody>
      </p:sp>
      <p:sp>
        <p:nvSpPr>
          <p:cNvPr id="5" name="备注占位符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rPr lang="zh-CN" dirty="0"/>
              <a:t>单击此处编辑母版文本样式</a:t>
            </a:r>
          </a:p>
          <a:p>
            <a:pPr lvl="1"/>
            <a:r>
              <a:rPr lang="zh-CN" dirty="0"/>
              <a:t>第二级</a:t>
            </a:r>
          </a:p>
          <a:p>
            <a:pPr lvl="2"/>
            <a:r>
              <a:rPr lang="zh-CN" dirty="0"/>
              <a:t>第三级</a:t>
            </a:r>
          </a:p>
          <a:p>
            <a:pPr lvl="3"/>
            <a:r>
              <a:rPr lang="zh-CN" dirty="0"/>
              <a:t>第四级</a:t>
            </a:r>
          </a:p>
          <a:p>
            <a:pPr lvl="4"/>
            <a:r>
              <a:rPr lang="zh-CN"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latinLnBrk="0">
              <a:defRPr lang="zh-CN" sz="1200">
                <a:ea typeface="Microsoft YaHei UI" panose="020B0503020204020204" pitchFamily="34" charset="-122"/>
              </a:defRPr>
            </a:lvl1pPr>
          </a:lstStyle>
          <a:p>
            <a:endParaRPr lang="zh-CN" altLang="en-US" dirty="0"/>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latinLnBrk="0">
              <a:defRPr lang="zh-CN" sz="1200">
                <a:ea typeface="Microsoft YaHei UI" panose="020B0503020204020204" pitchFamily="34" charset="-122"/>
              </a:defRPr>
            </a:lvl1pPr>
          </a:lstStyle>
          <a:p>
            <a:fld id="{82869989-EB00-4EE7-BCB5-25BDC5BB29F8}" type="slidenum">
              <a:rPr lang="en-US" altLang="zh-CN" smtClean="0"/>
              <a:pPr/>
              <a:t>‹#›</a:t>
            </a:fld>
            <a:endParaRPr lang="en-US" altLang="zh-CN" dirty="0"/>
          </a:p>
        </p:txBody>
      </p:sp>
    </p:spTree>
    <p:extLst>
      <p:ext uri="{BB962C8B-B14F-4D97-AF65-F5344CB8AC3E}">
        <p14:creationId xmlns:p14="http://schemas.microsoft.com/office/powerpoint/2010/main" val="2193636149"/>
      </p:ext>
    </p:extLst>
  </p:cSld>
  <p:clrMap bg1="lt1" tx1="dk1" bg2="lt2" tx2="dk2" accent1="accent1" accent2="accent2" accent3="accent3" accent4="accent4" accent5="accent5" accent6="accent6" hlink="hlink" folHlink="folHlink"/>
  <p:notesStyle>
    <a:lvl1pPr marL="0" algn="l" defTabSz="914400" rtl="0" eaLnBrk="1" latinLnBrk="0" hangingPunct="1">
      <a:defRPr lang="zh-CN" sz="1200" kern="1200">
        <a:solidFill>
          <a:schemeClr val="tx1"/>
        </a:solidFill>
        <a:latin typeface="+mn-lt"/>
        <a:ea typeface="Microsoft YaHei UI" panose="020B0503020204020204" pitchFamily="34" charset="-122"/>
        <a:cs typeface="+mn-cs"/>
      </a:defRPr>
    </a:lvl1pPr>
    <a:lvl2pPr marL="457200" algn="l" defTabSz="914400" rtl="0" eaLnBrk="1" latinLnBrk="0" hangingPunct="1">
      <a:defRPr lang="zh-CN" sz="1200" kern="1200">
        <a:solidFill>
          <a:schemeClr val="tx1"/>
        </a:solidFill>
        <a:latin typeface="+mn-lt"/>
        <a:ea typeface="Microsoft YaHei UI" panose="020B0503020204020204" pitchFamily="34" charset="-122"/>
        <a:cs typeface="+mn-cs"/>
      </a:defRPr>
    </a:lvl2pPr>
    <a:lvl3pPr marL="914400" algn="l" defTabSz="914400" rtl="0" eaLnBrk="1" latinLnBrk="0" hangingPunct="1">
      <a:defRPr lang="zh-CN" sz="1200" kern="1200">
        <a:solidFill>
          <a:schemeClr val="tx1"/>
        </a:solidFill>
        <a:latin typeface="+mn-lt"/>
        <a:ea typeface="Microsoft YaHei UI" panose="020B0503020204020204" pitchFamily="34" charset="-122"/>
        <a:cs typeface="+mn-cs"/>
      </a:defRPr>
    </a:lvl3pPr>
    <a:lvl4pPr marL="1371600" algn="l" defTabSz="914400" rtl="0" eaLnBrk="1" latinLnBrk="0" hangingPunct="1">
      <a:defRPr lang="zh-CN" sz="1200" kern="1200">
        <a:solidFill>
          <a:schemeClr val="tx1"/>
        </a:solidFill>
        <a:latin typeface="+mn-lt"/>
        <a:ea typeface="Microsoft YaHei UI" panose="020B0503020204020204" pitchFamily="34" charset="-122"/>
        <a:cs typeface="+mn-cs"/>
      </a:defRPr>
    </a:lvl4pPr>
    <a:lvl5pPr marL="1828800" algn="l" defTabSz="914400" rtl="0" eaLnBrk="1" latinLnBrk="0" hangingPunct="1">
      <a:defRPr lang="zh-CN" sz="1200" kern="1200">
        <a:solidFill>
          <a:schemeClr val="tx1"/>
        </a:solidFill>
        <a:latin typeface="+mn-lt"/>
        <a:ea typeface="Microsoft YaHei UI" panose="020B0503020204020204" pitchFamily="34" charset="-122"/>
        <a:cs typeface="+mn-cs"/>
      </a:defRPr>
    </a:lvl5pPr>
    <a:lvl6pPr marL="2286000" algn="l" defTabSz="914400" rtl="0" eaLnBrk="1" latinLnBrk="0" hangingPunct="1">
      <a:defRPr lang="zh-CN" sz="1200" kern="1200">
        <a:solidFill>
          <a:schemeClr val="tx1"/>
        </a:solidFill>
        <a:latin typeface="+mn-lt"/>
        <a:ea typeface="+mn-ea"/>
        <a:cs typeface="+mn-cs"/>
      </a:defRPr>
    </a:lvl6pPr>
    <a:lvl7pPr marL="2743200" algn="l" defTabSz="914400" rtl="0" eaLnBrk="1" latinLnBrk="0" hangingPunct="1">
      <a:defRPr lang="zh-CN" sz="1200" kern="1200">
        <a:solidFill>
          <a:schemeClr val="tx1"/>
        </a:solidFill>
        <a:latin typeface="+mn-lt"/>
        <a:ea typeface="+mn-ea"/>
        <a:cs typeface="+mn-cs"/>
      </a:defRPr>
    </a:lvl7pPr>
    <a:lvl8pPr marL="3200400" algn="l" defTabSz="914400" rtl="0" eaLnBrk="1" latinLnBrk="0" hangingPunct="1">
      <a:defRPr lang="zh-CN" sz="1200" kern="1200">
        <a:solidFill>
          <a:schemeClr val="tx1"/>
        </a:solidFill>
        <a:latin typeface="+mn-lt"/>
        <a:ea typeface="+mn-ea"/>
        <a:cs typeface="+mn-cs"/>
      </a:defRPr>
    </a:lvl8pPr>
    <a:lvl9pPr marL="3657600" algn="l" defTabSz="914400" rtl="0" eaLnBrk="1" latinLnBrk="0" hangingPunct="1">
      <a:defRPr lang="zh-CN"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wiki.mbalib.com/wiki/%E5%9B%BD%E9%99%85%E8%B5%84%E6%9C%AC%E5%B8%82%E5%9C%BA"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r"/>
            <a:endParaRPr lang="zh-CN" altLang="en-US" dirty="0"/>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1</a:t>
            </a:fld>
            <a:endParaRPr lang="en-US" altLang="zh-CN" dirty="0"/>
          </a:p>
        </p:txBody>
      </p:sp>
    </p:spTree>
    <p:extLst>
      <p:ext uri="{BB962C8B-B14F-4D97-AF65-F5344CB8AC3E}">
        <p14:creationId xmlns:p14="http://schemas.microsoft.com/office/powerpoint/2010/main" val="4053403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a:t>
            </a:fld>
            <a:endParaRPr lang="zh-CN"/>
          </a:p>
        </p:txBody>
      </p:sp>
    </p:spTree>
    <p:extLst>
      <p:ext uri="{BB962C8B-B14F-4D97-AF65-F5344CB8AC3E}">
        <p14:creationId xmlns:p14="http://schemas.microsoft.com/office/powerpoint/2010/main" val="18186537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4</a:t>
            </a:fld>
            <a:endParaRPr lang="zh-CN"/>
          </a:p>
        </p:txBody>
      </p:sp>
    </p:spTree>
    <p:extLst>
      <p:ext uri="{BB962C8B-B14F-4D97-AF65-F5344CB8AC3E}">
        <p14:creationId xmlns:p14="http://schemas.microsoft.com/office/powerpoint/2010/main" val="20219314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5</a:t>
            </a:fld>
            <a:endParaRPr lang="zh-CN"/>
          </a:p>
        </p:txBody>
      </p:sp>
    </p:spTree>
    <p:extLst>
      <p:ext uri="{BB962C8B-B14F-4D97-AF65-F5344CB8AC3E}">
        <p14:creationId xmlns:p14="http://schemas.microsoft.com/office/powerpoint/2010/main" val="188123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6</a:t>
            </a:fld>
            <a:endParaRPr lang="zh-CN"/>
          </a:p>
        </p:txBody>
      </p:sp>
    </p:spTree>
    <p:extLst>
      <p:ext uri="{BB962C8B-B14F-4D97-AF65-F5344CB8AC3E}">
        <p14:creationId xmlns:p14="http://schemas.microsoft.com/office/powerpoint/2010/main" val="41073977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7</a:t>
            </a:fld>
            <a:endParaRPr lang="zh-CN"/>
          </a:p>
        </p:txBody>
      </p:sp>
    </p:spTree>
    <p:extLst>
      <p:ext uri="{BB962C8B-B14F-4D97-AF65-F5344CB8AC3E}">
        <p14:creationId xmlns:p14="http://schemas.microsoft.com/office/powerpoint/2010/main" val="30839762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8</a:t>
            </a:fld>
            <a:endParaRPr lang="zh-CN"/>
          </a:p>
        </p:txBody>
      </p:sp>
    </p:spTree>
    <p:extLst>
      <p:ext uri="{BB962C8B-B14F-4D97-AF65-F5344CB8AC3E}">
        <p14:creationId xmlns:p14="http://schemas.microsoft.com/office/powerpoint/2010/main" val="6206930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9</a:t>
            </a:fld>
            <a:endParaRPr lang="zh-CN"/>
          </a:p>
        </p:txBody>
      </p:sp>
    </p:spTree>
    <p:extLst>
      <p:ext uri="{BB962C8B-B14F-4D97-AF65-F5344CB8AC3E}">
        <p14:creationId xmlns:p14="http://schemas.microsoft.com/office/powerpoint/2010/main" val="39191831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10</a:t>
            </a:fld>
            <a:endParaRPr lang="zh-CN"/>
          </a:p>
        </p:txBody>
      </p:sp>
    </p:spTree>
    <p:extLst>
      <p:ext uri="{BB962C8B-B14F-4D97-AF65-F5344CB8AC3E}">
        <p14:creationId xmlns:p14="http://schemas.microsoft.com/office/powerpoint/2010/main" val="39404083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11</a:t>
            </a:fld>
            <a:endParaRPr lang="zh-CN"/>
          </a:p>
        </p:txBody>
      </p:sp>
    </p:spTree>
    <p:extLst>
      <p:ext uri="{BB962C8B-B14F-4D97-AF65-F5344CB8AC3E}">
        <p14:creationId xmlns:p14="http://schemas.microsoft.com/office/powerpoint/2010/main" val="30934089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12</a:t>
            </a:fld>
            <a:endParaRPr lang="zh-CN"/>
          </a:p>
        </p:txBody>
      </p:sp>
    </p:spTree>
    <p:extLst>
      <p:ext uri="{BB962C8B-B14F-4D97-AF65-F5344CB8AC3E}">
        <p14:creationId xmlns:p14="http://schemas.microsoft.com/office/powerpoint/2010/main" val="30934089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13</a:t>
            </a:fld>
            <a:endParaRPr lang="zh-CN"/>
          </a:p>
        </p:txBody>
      </p:sp>
    </p:spTree>
    <p:extLst>
      <p:ext uri="{BB962C8B-B14F-4D97-AF65-F5344CB8AC3E}">
        <p14:creationId xmlns:p14="http://schemas.microsoft.com/office/powerpoint/2010/main" val="35358846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33E854BD-826D-4E1A-BB57-366B7D5B2DD3}" type="slidenum">
              <a:rPr lang="en-US" altLang="zh-CN"/>
              <a:pPr/>
              <a:t>14</a:t>
            </a:fld>
            <a:endParaRPr lang="en-US" altLang="zh-CN"/>
          </a:p>
        </p:txBody>
      </p:sp>
      <p:sp>
        <p:nvSpPr>
          <p:cNvPr id="49154" name="Rectangle 7"/>
          <p:cNvSpPr txBox="1">
            <a:spLocks noGrp="1" noChangeArrowheads="1"/>
          </p:cNvSpPr>
          <p:nvPr/>
        </p:nvSpPr>
        <p:spPr bwMode="auto">
          <a:xfrm>
            <a:off x="3884463" y="8685878"/>
            <a:ext cx="2972004" cy="456704"/>
          </a:xfrm>
          <a:prstGeom prst="rect">
            <a:avLst/>
          </a:prstGeom>
          <a:noFill/>
          <a:ln w="9525">
            <a:noFill/>
            <a:miter lim="800000"/>
            <a:headEnd/>
            <a:tailEnd/>
          </a:ln>
        </p:spPr>
        <p:txBody>
          <a:bodyPr lIns="91431" tIns="45716" rIns="91431" bIns="45716" anchor="b"/>
          <a:lstStyle/>
          <a:p>
            <a:pPr algn="r" defTabSz="914423"/>
            <a:fld id="{50856E82-93CF-4B93-8418-F561A542FCCE}" type="slidenum">
              <a:rPr lang="en-US" altLang="zh-CN" sz="1200">
                <a:solidFill>
                  <a:srgbClr val="000000"/>
                </a:solidFill>
                <a:ea typeface="宋体" charset="-122"/>
              </a:rPr>
              <a:pPr algn="r" defTabSz="914423"/>
              <a:t>14</a:t>
            </a:fld>
            <a:endParaRPr lang="en-US" altLang="zh-CN" sz="1200" dirty="0">
              <a:solidFill>
                <a:srgbClr val="000000"/>
              </a:solidFill>
              <a:ea typeface="宋体" charset="-122"/>
            </a:endParaRPr>
          </a:p>
        </p:txBody>
      </p:sp>
      <p:sp>
        <p:nvSpPr>
          <p:cNvPr id="49155" name="Rectangle 2"/>
          <p:cNvSpPr>
            <a:spLocks noGrp="1" noRot="1" noChangeAspect="1" noChangeArrowheads="1" noTextEdit="1"/>
          </p:cNvSpPr>
          <p:nvPr>
            <p:ph type="sldImg"/>
          </p:nvPr>
        </p:nvSpPr>
        <p:spPr>
          <a:xfrm>
            <a:off x="1143000" y="685800"/>
            <a:ext cx="4572000" cy="3429000"/>
          </a:xfrm>
          <a:ln/>
        </p:spPr>
      </p:sp>
      <p:sp>
        <p:nvSpPr>
          <p:cNvPr id="49156" name="Rectangle 3"/>
          <p:cNvSpPr>
            <a:spLocks noGrp="1" noChangeArrowheads="1"/>
          </p:cNvSpPr>
          <p:nvPr>
            <p:ph type="body" idx="1"/>
          </p:nvPr>
        </p:nvSpPr>
        <p:spPr>
          <a:xfrm>
            <a:off x="913991" y="4342939"/>
            <a:ext cx="5030018" cy="4114587"/>
          </a:xfrm>
        </p:spPr>
        <p:txBody>
          <a:bodyPr/>
          <a:lstStyle/>
          <a:p>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B3C7F1E8-3AFA-4DB9-B923-E3B636F220A8}" type="slidenum">
              <a:rPr lang="en-US" altLang="zh-CN"/>
              <a:pPr/>
              <a:t>15</a:t>
            </a:fld>
            <a:endParaRPr lang="en-US" altLang="zh-CN"/>
          </a:p>
        </p:txBody>
      </p:sp>
      <p:sp>
        <p:nvSpPr>
          <p:cNvPr id="51202" name="Rectangle 7"/>
          <p:cNvSpPr txBox="1">
            <a:spLocks noGrp="1" noChangeArrowheads="1"/>
          </p:cNvSpPr>
          <p:nvPr/>
        </p:nvSpPr>
        <p:spPr bwMode="auto">
          <a:xfrm>
            <a:off x="3884463" y="8685878"/>
            <a:ext cx="2972004" cy="456704"/>
          </a:xfrm>
          <a:prstGeom prst="rect">
            <a:avLst/>
          </a:prstGeom>
          <a:noFill/>
          <a:ln w="9525">
            <a:noFill/>
            <a:miter lim="800000"/>
            <a:headEnd/>
            <a:tailEnd/>
          </a:ln>
        </p:spPr>
        <p:txBody>
          <a:bodyPr lIns="91431" tIns="45716" rIns="91431" bIns="45716" anchor="b"/>
          <a:lstStyle/>
          <a:p>
            <a:pPr algn="r" defTabSz="914423"/>
            <a:fld id="{518FC0A6-884F-49A8-85DA-A5240A8821E0}" type="slidenum">
              <a:rPr lang="en-US" altLang="zh-CN" sz="1200">
                <a:solidFill>
                  <a:srgbClr val="000000"/>
                </a:solidFill>
                <a:ea typeface="宋体" charset="-122"/>
              </a:rPr>
              <a:pPr algn="r" defTabSz="914423"/>
              <a:t>15</a:t>
            </a:fld>
            <a:endParaRPr lang="en-US" altLang="zh-CN" sz="1200" dirty="0">
              <a:solidFill>
                <a:srgbClr val="000000"/>
              </a:solidFill>
              <a:ea typeface="宋体" charset="-122"/>
            </a:endParaRPr>
          </a:p>
        </p:txBody>
      </p:sp>
      <p:sp>
        <p:nvSpPr>
          <p:cNvPr id="51203" name="Rectangle 2"/>
          <p:cNvSpPr>
            <a:spLocks noGrp="1" noRot="1" noChangeAspect="1" noChangeArrowheads="1" noTextEdit="1"/>
          </p:cNvSpPr>
          <p:nvPr>
            <p:ph type="sldImg"/>
          </p:nvPr>
        </p:nvSpPr>
        <p:spPr>
          <a:xfrm>
            <a:off x="1143000" y="685800"/>
            <a:ext cx="4572000" cy="3429000"/>
          </a:xfrm>
          <a:ln/>
        </p:spPr>
      </p:sp>
      <p:sp>
        <p:nvSpPr>
          <p:cNvPr id="51204" name="Rectangle 3"/>
          <p:cNvSpPr>
            <a:spLocks noGrp="1" noChangeArrowheads="1"/>
          </p:cNvSpPr>
          <p:nvPr>
            <p:ph type="body" idx="1"/>
          </p:nvPr>
        </p:nvSpPr>
        <p:spPr>
          <a:xfrm>
            <a:off x="913991" y="4342939"/>
            <a:ext cx="5030018" cy="4114587"/>
          </a:xfrm>
        </p:spPr>
        <p:txBody>
          <a:bodyPr/>
          <a:lstStyle/>
          <a:p>
            <a:r>
              <a:rPr lang="zh-CN" altLang="en-US" sz="1200" b="0" i="0" kern="1200" dirty="0" smtClean="0">
                <a:solidFill>
                  <a:schemeClr val="tx1"/>
                </a:solidFill>
                <a:latin typeface="+mn-lt"/>
                <a:ea typeface="Microsoft YaHei UI" panose="020B0503020204020204" pitchFamily="34" charset="-122"/>
                <a:cs typeface="+mn-cs"/>
              </a:rPr>
              <a:t>虽然蒙代尔</a:t>
            </a:r>
            <a:r>
              <a:rPr lang="en-US" altLang="zh-CN" sz="1200" b="0" i="0" kern="1200" dirty="0" smtClean="0">
                <a:solidFill>
                  <a:schemeClr val="tx1"/>
                </a:solidFill>
                <a:latin typeface="+mn-lt"/>
                <a:ea typeface="Microsoft YaHei UI" panose="020B0503020204020204" pitchFamily="34" charset="-122"/>
                <a:cs typeface="+mn-cs"/>
              </a:rPr>
              <a:t>—</a:t>
            </a:r>
            <a:r>
              <a:rPr lang="zh-CN" altLang="en-US" sz="1200" b="0" i="0" kern="1200" dirty="0" smtClean="0">
                <a:solidFill>
                  <a:schemeClr val="tx1"/>
                </a:solidFill>
                <a:latin typeface="+mn-lt"/>
                <a:ea typeface="Microsoft YaHei UI" panose="020B0503020204020204" pitchFamily="34" charset="-122"/>
                <a:cs typeface="+mn-cs"/>
              </a:rPr>
              <a:t>弗莱明模型代表了内外均衡调节的最高理论成就，但是随着研究的深入，蒙代尔关于内外均衡调节政策组合存在两个重要缺陷：首先，它遗漏了关于</a:t>
            </a:r>
            <a:r>
              <a:rPr lang="zh-CN" altLang="en-US" sz="1200" b="0" i="0" u="none" strike="noStrike" kern="1200" dirty="0" smtClean="0">
                <a:solidFill>
                  <a:schemeClr val="tx1"/>
                </a:solidFill>
                <a:latin typeface="+mn-lt"/>
                <a:ea typeface="Microsoft YaHei UI" panose="020B0503020204020204" pitchFamily="34" charset="-122"/>
                <a:cs typeface="+mn-cs"/>
                <a:hlinkClick r:id="rId3" tooltip="国际资本市场"/>
              </a:rPr>
              <a:t>国际资本市场</a:t>
            </a:r>
            <a:r>
              <a:rPr lang="zh-CN" altLang="en-US" sz="1200" b="0" i="0" kern="1200" dirty="0" smtClean="0">
                <a:solidFill>
                  <a:schemeClr val="tx1"/>
                </a:solidFill>
                <a:latin typeface="+mn-lt"/>
                <a:ea typeface="Microsoft YaHei UI" panose="020B0503020204020204" pitchFamily="34" charset="-122"/>
                <a:cs typeface="+mn-cs"/>
              </a:rPr>
              <a:t>中存量均衡的讨论，因为在模型中，蒙代尔认为国际资本流动是利率差别的唯一函数，因而只要存在利差，资本就会一贯的流动从而弥补任何水平的经常项目不平衡，而在现实中各国间的利率差别普遍存在。第二个问题是，在外部均衡</a:t>
            </a:r>
            <a:r>
              <a:rPr lang="zh-CN" altLang="en-US" sz="1200" b="0" i="0" u="none" kern="1200" dirty="0" smtClean="0">
                <a:solidFill>
                  <a:schemeClr val="tx1"/>
                </a:solidFill>
                <a:latin typeface="+mn-lt"/>
                <a:ea typeface="Microsoft YaHei UI" panose="020B0503020204020204" pitchFamily="34" charset="-122"/>
                <a:cs typeface="+mn-cs"/>
              </a:rPr>
              <a:t>的标准上蒙代尔非常强调资本账户，而国际资本流动是利率差别的唯一函数，因此如果一国出现国际收支逆差，只有通过提高国内利率以吸引资本流入，但是这既是一个挤出挤出私人投资，又是依靠对外债台高筑的取得外部均衡的政策。因此无论是货币主义的以储备衡量的外部均衡标准</a:t>
            </a:r>
            <a:r>
              <a:rPr lang="en-US" altLang="zh-CN" sz="1200" b="0" i="0" u="none" kern="1200" dirty="0" smtClean="0">
                <a:solidFill>
                  <a:schemeClr val="tx1"/>
                </a:solidFill>
                <a:latin typeface="+mn-lt"/>
                <a:ea typeface="Microsoft YaHei UI" panose="020B0503020204020204" pitchFamily="34" charset="-122"/>
                <a:cs typeface="+mn-cs"/>
              </a:rPr>
              <a:t>—</a:t>
            </a:r>
            <a:r>
              <a:rPr lang="zh-CN" altLang="en-US" sz="1200" b="0" i="0" u="none" kern="1200" dirty="0" smtClean="0">
                <a:solidFill>
                  <a:schemeClr val="tx1"/>
                </a:solidFill>
                <a:latin typeface="+mn-lt"/>
                <a:ea typeface="Microsoft YaHei UI" panose="020B0503020204020204" pitchFamily="34" charset="-122"/>
                <a:cs typeface="+mn-cs"/>
              </a:rPr>
              <a:t>国际收支平衡，还是蒙代尔强调的资本账户的外均衡标准都存在缺陷。</a:t>
            </a:r>
            <a:endParaRPr lang="en-US" altLang="zh-CN" sz="1200" b="0" i="0" u="none" kern="1200" dirty="0" smtClean="0">
              <a:solidFill>
                <a:schemeClr val="tx1"/>
              </a:solidFill>
              <a:latin typeface="+mn-lt"/>
              <a:ea typeface="Microsoft YaHei UI" panose="020B0503020204020204" pitchFamily="34" charset="-122"/>
              <a:cs typeface="+mn-cs"/>
            </a:endParaRPr>
          </a:p>
          <a:p>
            <a:r>
              <a:rPr lang="zh-CN" altLang="en-US" sz="1200" b="0" i="0" kern="1200" dirty="0" smtClean="0">
                <a:solidFill>
                  <a:schemeClr val="tx1"/>
                </a:solidFill>
                <a:latin typeface="+mn-lt"/>
                <a:ea typeface="Microsoft YaHei UI" panose="020B0503020204020204" pitchFamily="34" charset="-122"/>
                <a:cs typeface="+mn-cs"/>
              </a:rPr>
              <a:t>蒙代尔</a:t>
            </a:r>
            <a:r>
              <a:rPr lang="en-US" altLang="zh-CN" sz="1200" b="0" i="0" kern="1200" dirty="0" smtClean="0">
                <a:solidFill>
                  <a:schemeClr val="tx1"/>
                </a:solidFill>
                <a:latin typeface="+mn-lt"/>
                <a:ea typeface="Microsoft YaHei UI" panose="020B0503020204020204" pitchFamily="34" charset="-122"/>
                <a:cs typeface="+mn-cs"/>
              </a:rPr>
              <a:t>—</a:t>
            </a:r>
            <a:r>
              <a:rPr lang="zh-CN" altLang="en-US" sz="1200" b="0" i="0" kern="1200" dirty="0" smtClean="0">
                <a:solidFill>
                  <a:schemeClr val="tx1"/>
                </a:solidFill>
                <a:latin typeface="+mn-lt"/>
                <a:ea typeface="Microsoft YaHei UI" panose="020B0503020204020204" pitchFamily="34" charset="-122"/>
                <a:cs typeface="+mn-cs"/>
              </a:rPr>
              <a:t>弗莱明模型研究的是开放的小国的内外部均衡，假定总需求不足，国际资本自由流动，货币需求和资本流动富有利率弹性，并满足马歇尔</a:t>
            </a:r>
            <a:r>
              <a:rPr lang="en-US" altLang="zh-CN" sz="1200" b="0" i="0" kern="1200" dirty="0" smtClean="0">
                <a:solidFill>
                  <a:schemeClr val="tx1"/>
                </a:solidFill>
                <a:latin typeface="+mn-lt"/>
                <a:ea typeface="Microsoft YaHei UI" panose="020B0503020204020204" pitchFamily="34" charset="-122"/>
                <a:cs typeface="+mn-cs"/>
              </a:rPr>
              <a:t>-</a:t>
            </a:r>
            <a:r>
              <a:rPr lang="zh-CN" altLang="en-US" sz="1200" b="0" i="0" kern="1200" dirty="0" smtClean="0">
                <a:solidFill>
                  <a:schemeClr val="tx1"/>
                </a:solidFill>
                <a:latin typeface="+mn-lt"/>
                <a:ea typeface="Microsoft YaHei UI" panose="020B0503020204020204" pitchFamily="34" charset="-122"/>
                <a:cs typeface="+mn-cs"/>
              </a:rPr>
              <a:t>勒纳条件。但在中国，情况有所不同：首先，中国经济规模相当大，不属于小国；其次，中国对资本流动实行严格管制，因此在理论上短期资本流动不受利率变化影响；再次，中国资本市场不发达，投资机会缺乏，对货币的投机需求少，货币需求对利率变化不敏感；第四，即使在达到充分就业之前，物价水平也是有变化的，如前所述，中国一些大宗商品的进口数量对进口价格就有明显影响；第五，由于中央银行采取对冲措施，国际收支平衡与货币供给量从而与利率之间不存在必然联系。最后，当前中国的情况不是要在新的均衡点上实现更高的国民收人水平，而是要争取以较小的代价实现</a:t>
            </a:r>
            <a:r>
              <a:rPr lang="zh-CN" altLang="en-US" sz="1200" b="0" i="0" u="none" strike="noStrike" kern="1200" dirty="0" smtClean="0">
                <a:solidFill>
                  <a:schemeClr val="tx1"/>
                </a:solidFill>
                <a:latin typeface="+mn-lt"/>
                <a:ea typeface="Microsoft YaHei UI" panose="020B0503020204020204" pitchFamily="34" charset="-122"/>
                <a:cs typeface="+mn-cs"/>
              </a:rPr>
              <a:t>贸易收支</a:t>
            </a:r>
            <a:r>
              <a:rPr lang="zh-CN" altLang="en-US" sz="1200" b="0" i="0" kern="1200" dirty="0" smtClean="0">
                <a:solidFill>
                  <a:schemeClr val="tx1"/>
                </a:solidFill>
                <a:latin typeface="+mn-lt"/>
                <a:ea typeface="Microsoft YaHei UI" panose="020B0503020204020204" pitchFamily="34" charset="-122"/>
                <a:cs typeface="+mn-cs"/>
              </a:rPr>
              <a:t>的相对平衡。</a:t>
            </a:r>
          </a:p>
          <a:p>
            <a:r>
              <a:rPr lang="zh-CN" altLang="en-US" sz="1200" b="0" i="0" kern="1200" dirty="0" smtClean="0">
                <a:solidFill>
                  <a:schemeClr val="tx1"/>
                </a:solidFill>
                <a:latin typeface="+mn-lt"/>
                <a:ea typeface="Microsoft YaHei UI" panose="020B0503020204020204" pitchFamily="34" charset="-122"/>
                <a:cs typeface="+mn-cs"/>
              </a:rPr>
              <a:t>　　但是从另一个角度看，中国当前的内外部均衡关系仍可在一定程度上由蒙代尔</a:t>
            </a:r>
            <a:r>
              <a:rPr lang="en-US" altLang="zh-CN" sz="1200" b="0" i="0" kern="1200" dirty="0" smtClean="0">
                <a:solidFill>
                  <a:schemeClr val="tx1"/>
                </a:solidFill>
                <a:latin typeface="+mn-lt"/>
                <a:ea typeface="Microsoft YaHei UI" panose="020B0503020204020204" pitchFamily="34" charset="-122"/>
                <a:cs typeface="+mn-cs"/>
              </a:rPr>
              <a:t>—</a:t>
            </a:r>
            <a:r>
              <a:rPr lang="zh-CN" altLang="en-US" sz="1200" b="0" i="0" kern="1200" dirty="0" smtClean="0">
                <a:solidFill>
                  <a:schemeClr val="tx1"/>
                </a:solidFill>
                <a:latin typeface="+mn-lt"/>
                <a:ea typeface="Microsoft YaHei UI" panose="020B0503020204020204" pitchFamily="34" charset="-122"/>
                <a:cs typeface="+mn-cs"/>
              </a:rPr>
              <a:t>弗莱明模型解释。尽管中国经济规模相当大，但是近年来</a:t>
            </a:r>
            <a:r>
              <a:rPr lang="zh-CN" altLang="en-US" sz="1200" b="0" i="0" u="none" kern="1200" dirty="0" smtClean="0">
                <a:solidFill>
                  <a:schemeClr val="tx1"/>
                </a:solidFill>
                <a:latin typeface="+mn-lt"/>
                <a:ea typeface="Microsoft YaHei UI" panose="020B0503020204020204" pitchFamily="34" charset="-122"/>
                <a:cs typeface="+mn-cs"/>
              </a:rPr>
              <a:t>外贸依存度</a:t>
            </a:r>
            <a:r>
              <a:rPr lang="zh-CN" altLang="en-US" sz="1200" b="0" i="0" kern="1200" dirty="0" smtClean="0">
                <a:solidFill>
                  <a:schemeClr val="tx1"/>
                </a:solidFill>
                <a:latin typeface="+mn-lt"/>
                <a:ea typeface="Microsoft YaHei UI" panose="020B0503020204020204" pitchFamily="34" charset="-122"/>
                <a:cs typeface="+mn-cs"/>
              </a:rPr>
              <a:t>大幅上升，</a:t>
            </a:r>
            <a:r>
              <a:rPr lang="en-US" altLang="zh-CN" sz="1200" b="0" i="0" kern="1200" dirty="0" smtClean="0">
                <a:solidFill>
                  <a:schemeClr val="tx1"/>
                </a:solidFill>
                <a:latin typeface="+mn-lt"/>
                <a:ea typeface="Microsoft YaHei UI" panose="020B0503020204020204" pitchFamily="34" charset="-122"/>
                <a:cs typeface="+mn-cs"/>
              </a:rPr>
              <a:t>2005</a:t>
            </a:r>
            <a:r>
              <a:rPr lang="zh-CN" altLang="en-US" sz="1200" b="0" i="0" kern="1200" dirty="0" smtClean="0">
                <a:solidFill>
                  <a:schemeClr val="tx1"/>
                </a:solidFill>
                <a:latin typeface="+mn-lt"/>
                <a:ea typeface="Microsoft YaHei UI" panose="020B0503020204020204" pitchFamily="34" charset="-122"/>
                <a:cs typeface="+mn-cs"/>
              </a:rPr>
              <a:t>年达到</a:t>
            </a:r>
            <a:r>
              <a:rPr lang="en-US" altLang="zh-CN" sz="1200" b="0" i="0" kern="1200" dirty="0" smtClean="0">
                <a:solidFill>
                  <a:schemeClr val="tx1"/>
                </a:solidFill>
                <a:latin typeface="+mn-lt"/>
                <a:ea typeface="Microsoft YaHei UI" panose="020B0503020204020204" pitchFamily="34" charset="-122"/>
                <a:cs typeface="+mn-cs"/>
              </a:rPr>
              <a:t>64</a:t>
            </a:r>
            <a:r>
              <a:rPr lang="zh-CN" altLang="en-US" sz="1200" b="0" i="0" kern="1200" dirty="0" smtClean="0">
                <a:solidFill>
                  <a:schemeClr val="tx1"/>
                </a:solidFill>
                <a:latin typeface="+mn-lt"/>
                <a:ea typeface="Microsoft YaHei UI" panose="020B0503020204020204" pitchFamily="34" charset="-122"/>
                <a:cs typeface="+mn-cs"/>
              </a:rPr>
              <a:t>％，</a:t>
            </a:r>
            <a:r>
              <a:rPr lang="zh-CN" altLang="en-US" sz="1200" b="0" i="0" u="none" strike="noStrike" kern="1200" dirty="0" smtClean="0">
                <a:solidFill>
                  <a:schemeClr val="tx1"/>
                </a:solidFill>
                <a:latin typeface="+mn-lt"/>
                <a:ea typeface="Microsoft YaHei UI" panose="020B0503020204020204" pitchFamily="34" charset="-122"/>
                <a:cs typeface="+mn-cs"/>
              </a:rPr>
              <a:t>国民经济</a:t>
            </a:r>
            <a:r>
              <a:rPr lang="zh-CN" altLang="en-US" sz="1200" b="0" i="0" kern="1200" dirty="0" smtClean="0">
                <a:solidFill>
                  <a:schemeClr val="tx1"/>
                </a:solidFill>
                <a:latin typeface="+mn-lt"/>
                <a:ea typeface="Microsoft YaHei UI" panose="020B0503020204020204" pitchFamily="34" charset="-122"/>
                <a:cs typeface="+mn-cs"/>
              </a:rPr>
              <a:t>通过</a:t>
            </a:r>
            <a:r>
              <a:rPr lang="zh-CN" altLang="en-US" sz="1200" b="0" i="0" u="none" strike="noStrike" kern="1200" dirty="0" smtClean="0">
                <a:solidFill>
                  <a:schemeClr val="tx1"/>
                </a:solidFill>
                <a:latin typeface="+mn-lt"/>
                <a:ea typeface="Microsoft YaHei UI" panose="020B0503020204020204" pitchFamily="34" charset="-122"/>
                <a:cs typeface="+mn-cs"/>
              </a:rPr>
              <a:t>对外贸易</a:t>
            </a:r>
            <a:r>
              <a:rPr lang="zh-CN" altLang="en-US" sz="1200" b="0" i="0" kern="1200" dirty="0" smtClean="0">
                <a:solidFill>
                  <a:schemeClr val="tx1"/>
                </a:solidFill>
                <a:latin typeface="+mn-lt"/>
                <a:ea typeface="Microsoft YaHei UI" panose="020B0503020204020204" pitchFamily="34" charset="-122"/>
                <a:cs typeface="+mn-cs"/>
              </a:rPr>
              <a:t>与</a:t>
            </a:r>
            <a:r>
              <a:rPr lang="zh-CN" altLang="en-US" sz="1200" b="0" i="0" u="none" strike="noStrike" kern="1200" dirty="0" smtClean="0">
                <a:solidFill>
                  <a:schemeClr val="tx1"/>
                </a:solidFill>
                <a:latin typeface="+mn-lt"/>
                <a:ea typeface="Microsoft YaHei UI" panose="020B0503020204020204" pitchFamily="34" charset="-122"/>
                <a:cs typeface="+mn-cs"/>
              </a:rPr>
              <a:t>国际市场</a:t>
            </a:r>
            <a:r>
              <a:rPr lang="zh-CN" altLang="en-US" sz="1200" b="0" i="0" kern="1200" dirty="0" smtClean="0">
                <a:solidFill>
                  <a:schemeClr val="tx1"/>
                </a:solidFill>
                <a:latin typeface="+mn-lt"/>
                <a:ea typeface="Microsoft YaHei UI" panose="020B0503020204020204" pitchFamily="34" charset="-122"/>
                <a:cs typeface="+mn-cs"/>
              </a:rPr>
              <a:t>的联系越来越紧密，这一点与开放的小国是类似的。中国确实存在</a:t>
            </a:r>
            <a:r>
              <a:rPr lang="zh-CN" altLang="en-US" sz="1200" b="0" i="0" u="none" strike="noStrike" kern="1200" dirty="0" smtClean="0">
                <a:solidFill>
                  <a:schemeClr val="tx1"/>
                </a:solidFill>
                <a:latin typeface="+mn-lt"/>
                <a:ea typeface="Microsoft YaHei UI" panose="020B0503020204020204" pitchFamily="34" charset="-122"/>
                <a:cs typeface="+mn-cs"/>
              </a:rPr>
              <a:t>资本管制</a:t>
            </a:r>
            <a:r>
              <a:rPr lang="zh-CN" altLang="en-US" sz="1200" b="0" i="0" kern="1200" dirty="0" smtClean="0">
                <a:solidFill>
                  <a:schemeClr val="tx1"/>
                </a:solidFill>
                <a:latin typeface="+mn-lt"/>
                <a:ea typeface="Microsoft YaHei UI" panose="020B0503020204020204" pitchFamily="34" charset="-122"/>
                <a:cs typeface="+mn-cs"/>
              </a:rPr>
              <a:t>，但事实上管制无法完全限制资本跨国流动，相当数量的短期资本可以在贸易收支、</a:t>
            </a:r>
            <a:r>
              <a:rPr lang="zh-CN" altLang="en-US" sz="1200" b="0" i="0" u="none" strike="noStrike" kern="1200" dirty="0" smtClean="0">
                <a:solidFill>
                  <a:schemeClr val="tx1"/>
                </a:solidFill>
                <a:latin typeface="+mn-lt"/>
                <a:ea typeface="Microsoft YaHei UI" panose="020B0503020204020204" pitchFamily="34" charset="-122"/>
                <a:cs typeface="+mn-cs"/>
              </a:rPr>
              <a:t>直接投资</a:t>
            </a:r>
            <a:r>
              <a:rPr lang="zh-CN" altLang="en-US" sz="1200" b="0" i="0" kern="1200" dirty="0" smtClean="0">
                <a:solidFill>
                  <a:schemeClr val="tx1"/>
                </a:solidFill>
                <a:latin typeface="+mn-lt"/>
                <a:ea typeface="Microsoft YaHei UI" panose="020B0503020204020204" pitchFamily="34" charset="-122"/>
                <a:cs typeface="+mn-cs"/>
              </a:rPr>
              <a:t>或收益等</a:t>
            </a:r>
            <a:r>
              <a:rPr lang="zh-CN" altLang="en-US" sz="1200" b="0" i="0" u="none" strike="noStrike" kern="1200" dirty="0" smtClean="0">
                <a:solidFill>
                  <a:schemeClr val="tx1"/>
                </a:solidFill>
                <a:latin typeface="+mn-lt"/>
                <a:ea typeface="Microsoft YaHei UI" panose="020B0503020204020204" pitchFamily="34" charset="-122"/>
                <a:cs typeface="+mn-cs"/>
              </a:rPr>
              <a:t>国际收支</a:t>
            </a:r>
            <a:r>
              <a:rPr lang="zh-CN" altLang="en-US" sz="1200" b="0" i="0" kern="1200" dirty="0" smtClean="0">
                <a:solidFill>
                  <a:schemeClr val="tx1"/>
                </a:solidFill>
                <a:latin typeface="+mn-lt"/>
                <a:ea typeface="Microsoft YaHei UI" panose="020B0503020204020204" pitchFamily="34" charset="-122"/>
                <a:cs typeface="+mn-cs"/>
              </a:rPr>
              <a:t>项下跨境转移，因而短期资本流动仍具有一定利率弹性。</a:t>
            </a:r>
          </a:p>
          <a:p>
            <a:endParaRPr lang="zh-CN" altLang="zh-CN" sz="1200" b="0" i="0" u="none" kern="1200" dirty="0">
              <a:solidFill>
                <a:schemeClr val="tx1"/>
              </a:solidFill>
              <a:latin typeface="+mn-lt"/>
              <a:ea typeface="Microsoft YaHei UI" panose="020B0503020204020204" pitchFamily="34"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14F5D985-F2DB-4076-9E39-48C163E6C0DA}" type="slidenum">
              <a:rPr lang="en-US" altLang="zh-CN"/>
              <a:pPr/>
              <a:t>16</a:t>
            </a:fld>
            <a:endParaRPr lang="en-US" altLang="zh-CN"/>
          </a:p>
        </p:txBody>
      </p:sp>
      <p:sp>
        <p:nvSpPr>
          <p:cNvPr id="47106" name="Rectangle 7"/>
          <p:cNvSpPr txBox="1">
            <a:spLocks noGrp="1" noChangeArrowheads="1"/>
          </p:cNvSpPr>
          <p:nvPr/>
        </p:nvSpPr>
        <p:spPr bwMode="auto">
          <a:xfrm>
            <a:off x="3884463" y="8685878"/>
            <a:ext cx="2972004" cy="456704"/>
          </a:xfrm>
          <a:prstGeom prst="rect">
            <a:avLst/>
          </a:prstGeom>
          <a:noFill/>
          <a:ln w="9525">
            <a:noFill/>
            <a:miter lim="800000"/>
            <a:headEnd/>
            <a:tailEnd/>
          </a:ln>
        </p:spPr>
        <p:txBody>
          <a:bodyPr lIns="91431" tIns="45716" rIns="91431" bIns="45716" anchor="b"/>
          <a:lstStyle/>
          <a:p>
            <a:pPr algn="r" defTabSz="914423"/>
            <a:fld id="{1B798638-92A6-4B31-B192-529FC3CB76A4}" type="slidenum">
              <a:rPr lang="en-US" altLang="zh-CN" sz="1200">
                <a:solidFill>
                  <a:srgbClr val="000000"/>
                </a:solidFill>
                <a:ea typeface="宋体" charset="-122"/>
              </a:rPr>
              <a:pPr algn="r" defTabSz="914423"/>
              <a:t>16</a:t>
            </a:fld>
            <a:endParaRPr lang="en-US" altLang="zh-CN" sz="1200" dirty="0">
              <a:solidFill>
                <a:srgbClr val="000000"/>
              </a:solidFill>
              <a:ea typeface="宋体" charset="-122"/>
            </a:endParaRPr>
          </a:p>
        </p:txBody>
      </p:sp>
      <p:sp>
        <p:nvSpPr>
          <p:cNvPr id="47107" name="Rectangle 2"/>
          <p:cNvSpPr>
            <a:spLocks noGrp="1" noRot="1" noChangeAspect="1" noChangeArrowheads="1" noTextEdit="1"/>
          </p:cNvSpPr>
          <p:nvPr>
            <p:ph type="sldImg"/>
          </p:nvPr>
        </p:nvSpPr>
        <p:spPr>
          <a:xfrm>
            <a:off x="1143000" y="685800"/>
            <a:ext cx="4572000" cy="3429000"/>
          </a:xfrm>
          <a:ln/>
        </p:spPr>
      </p:sp>
      <p:sp>
        <p:nvSpPr>
          <p:cNvPr id="47108"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C735E6FC-3BE5-4C45-ACEE-C59A310E0F31}" type="slidenum">
              <a:rPr lang="en-US" altLang="zh-CN"/>
              <a:pPr/>
              <a:t>17</a:t>
            </a:fld>
            <a:endParaRPr lang="en-US" altLang="zh-CN"/>
          </a:p>
        </p:txBody>
      </p:sp>
      <p:sp>
        <p:nvSpPr>
          <p:cNvPr id="53250" name="Rectangle 7"/>
          <p:cNvSpPr txBox="1">
            <a:spLocks noGrp="1" noChangeArrowheads="1"/>
          </p:cNvSpPr>
          <p:nvPr/>
        </p:nvSpPr>
        <p:spPr bwMode="auto">
          <a:xfrm>
            <a:off x="3884463" y="8685878"/>
            <a:ext cx="2972004" cy="456704"/>
          </a:xfrm>
          <a:prstGeom prst="rect">
            <a:avLst/>
          </a:prstGeom>
          <a:noFill/>
          <a:ln w="9525">
            <a:noFill/>
            <a:miter lim="800000"/>
            <a:headEnd/>
            <a:tailEnd/>
          </a:ln>
        </p:spPr>
        <p:txBody>
          <a:bodyPr lIns="91431" tIns="45716" rIns="91431" bIns="45716" anchor="b"/>
          <a:lstStyle/>
          <a:p>
            <a:pPr algn="r" defTabSz="914423"/>
            <a:fld id="{DA48B169-F4AA-4FFF-8872-BB1D1D2A7DCC}" type="slidenum">
              <a:rPr lang="en-US" altLang="zh-CN" sz="1200">
                <a:solidFill>
                  <a:srgbClr val="000000"/>
                </a:solidFill>
                <a:ea typeface="宋体" charset="-122"/>
              </a:rPr>
              <a:pPr algn="r" defTabSz="914423"/>
              <a:t>17</a:t>
            </a:fld>
            <a:endParaRPr lang="en-US" altLang="zh-CN" sz="1200" dirty="0">
              <a:solidFill>
                <a:srgbClr val="000000"/>
              </a:solidFill>
              <a:ea typeface="宋体" charset="-122"/>
            </a:endParaRPr>
          </a:p>
        </p:txBody>
      </p:sp>
      <p:sp>
        <p:nvSpPr>
          <p:cNvPr id="53251" name="Rectangle 2"/>
          <p:cNvSpPr>
            <a:spLocks noGrp="1" noRot="1" noChangeAspect="1" noChangeArrowheads="1" noTextEdit="1"/>
          </p:cNvSpPr>
          <p:nvPr>
            <p:ph type="sldImg"/>
          </p:nvPr>
        </p:nvSpPr>
        <p:spPr>
          <a:xfrm>
            <a:off x="1143000" y="685800"/>
            <a:ext cx="4572000" cy="3429000"/>
          </a:xfrm>
          <a:ln/>
        </p:spPr>
      </p:sp>
      <p:sp>
        <p:nvSpPr>
          <p:cNvPr id="53252"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18</a:t>
            </a:fld>
            <a:endParaRPr lang="zh-CN"/>
          </a:p>
        </p:txBody>
      </p:sp>
    </p:spTree>
    <p:extLst>
      <p:ext uri="{BB962C8B-B14F-4D97-AF65-F5344CB8AC3E}">
        <p14:creationId xmlns:p14="http://schemas.microsoft.com/office/powerpoint/2010/main" val="38767897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19</a:t>
            </a:fld>
            <a:endParaRPr lang="zh-CN"/>
          </a:p>
        </p:txBody>
      </p:sp>
    </p:spTree>
    <p:extLst>
      <p:ext uri="{BB962C8B-B14F-4D97-AF65-F5344CB8AC3E}">
        <p14:creationId xmlns:p14="http://schemas.microsoft.com/office/powerpoint/2010/main" val="35962378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20</a:t>
            </a:fld>
            <a:endParaRPr lang="zh-CN"/>
          </a:p>
        </p:txBody>
      </p:sp>
    </p:spTree>
    <p:extLst>
      <p:ext uri="{BB962C8B-B14F-4D97-AF65-F5344CB8AC3E}">
        <p14:creationId xmlns:p14="http://schemas.microsoft.com/office/powerpoint/2010/main" val="6676579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21</a:t>
            </a:fld>
            <a:endParaRPr lang="zh-CN"/>
          </a:p>
        </p:txBody>
      </p:sp>
    </p:spTree>
    <p:extLst>
      <p:ext uri="{BB962C8B-B14F-4D97-AF65-F5344CB8AC3E}">
        <p14:creationId xmlns:p14="http://schemas.microsoft.com/office/powerpoint/2010/main" val="32308654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22</a:t>
            </a:fld>
            <a:endParaRPr lang="zh-CN"/>
          </a:p>
        </p:txBody>
      </p:sp>
    </p:spTree>
    <p:extLst>
      <p:ext uri="{BB962C8B-B14F-4D97-AF65-F5344CB8AC3E}">
        <p14:creationId xmlns:p14="http://schemas.microsoft.com/office/powerpoint/2010/main" val="35010017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23</a:t>
            </a:fld>
            <a:endParaRPr lang="zh-CN"/>
          </a:p>
        </p:txBody>
      </p:sp>
    </p:spTree>
    <p:extLst>
      <p:ext uri="{BB962C8B-B14F-4D97-AF65-F5344CB8AC3E}">
        <p14:creationId xmlns:p14="http://schemas.microsoft.com/office/powerpoint/2010/main" val="31861823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24</a:t>
            </a:fld>
            <a:endParaRPr lang="zh-CN"/>
          </a:p>
        </p:txBody>
      </p:sp>
    </p:spTree>
    <p:extLst>
      <p:ext uri="{BB962C8B-B14F-4D97-AF65-F5344CB8AC3E}">
        <p14:creationId xmlns:p14="http://schemas.microsoft.com/office/powerpoint/2010/main" val="20004952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25</a:t>
            </a:fld>
            <a:endParaRPr lang="zh-CN"/>
          </a:p>
        </p:txBody>
      </p:sp>
    </p:spTree>
    <p:extLst>
      <p:ext uri="{BB962C8B-B14F-4D97-AF65-F5344CB8AC3E}">
        <p14:creationId xmlns:p14="http://schemas.microsoft.com/office/powerpoint/2010/main" val="4827807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26</a:t>
            </a:fld>
            <a:endParaRPr lang="zh-CN"/>
          </a:p>
        </p:txBody>
      </p:sp>
    </p:spTree>
    <p:extLst>
      <p:ext uri="{BB962C8B-B14F-4D97-AF65-F5344CB8AC3E}">
        <p14:creationId xmlns:p14="http://schemas.microsoft.com/office/powerpoint/2010/main" val="11393045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27</a:t>
            </a:fld>
            <a:endParaRPr lang="zh-CN"/>
          </a:p>
        </p:txBody>
      </p:sp>
    </p:spTree>
    <p:extLst>
      <p:ext uri="{BB962C8B-B14F-4D97-AF65-F5344CB8AC3E}">
        <p14:creationId xmlns:p14="http://schemas.microsoft.com/office/powerpoint/2010/main" val="36065924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28</a:t>
            </a:fld>
            <a:endParaRPr lang="zh-CN"/>
          </a:p>
        </p:txBody>
      </p:sp>
    </p:spTree>
    <p:extLst>
      <p:ext uri="{BB962C8B-B14F-4D97-AF65-F5344CB8AC3E}">
        <p14:creationId xmlns:p14="http://schemas.microsoft.com/office/powerpoint/2010/main" val="2121062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29</a:t>
            </a:fld>
            <a:endParaRPr lang="zh-CN"/>
          </a:p>
        </p:txBody>
      </p:sp>
    </p:spTree>
    <p:extLst>
      <p:ext uri="{BB962C8B-B14F-4D97-AF65-F5344CB8AC3E}">
        <p14:creationId xmlns:p14="http://schemas.microsoft.com/office/powerpoint/2010/main" val="34574720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30</a:t>
            </a:fld>
            <a:endParaRPr lang="zh-CN"/>
          </a:p>
        </p:txBody>
      </p:sp>
    </p:spTree>
    <p:extLst>
      <p:ext uri="{BB962C8B-B14F-4D97-AF65-F5344CB8AC3E}">
        <p14:creationId xmlns:p14="http://schemas.microsoft.com/office/powerpoint/2010/main" val="8436870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31</a:t>
            </a:fld>
            <a:endParaRPr lang="zh-CN"/>
          </a:p>
        </p:txBody>
      </p:sp>
    </p:spTree>
    <p:extLst>
      <p:ext uri="{BB962C8B-B14F-4D97-AF65-F5344CB8AC3E}">
        <p14:creationId xmlns:p14="http://schemas.microsoft.com/office/powerpoint/2010/main" val="8279371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32</a:t>
            </a:fld>
            <a:endParaRPr lang="zh-CN"/>
          </a:p>
        </p:txBody>
      </p:sp>
    </p:spTree>
    <p:extLst>
      <p:ext uri="{BB962C8B-B14F-4D97-AF65-F5344CB8AC3E}">
        <p14:creationId xmlns:p14="http://schemas.microsoft.com/office/powerpoint/2010/main" val="12106076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33</a:t>
            </a:fld>
            <a:endParaRPr lang="zh-CN"/>
          </a:p>
        </p:txBody>
      </p:sp>
    </p:spTree>
    <p:extLst>
      <p:ext uri="{BB962C8B-B14F-4D97-AF65-F5344CB8AC3E}">
        <p14:creationId xmlns:p14="http://schemas.microsoft.com/office/powerpoint/2010/main" val="27228271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34</a:t>
            </a:fld>
            <a:endParaRPr lang="zh-CN"/>
          </a:p>
        </p:txBody>
      </p:sp>
    </p:spTree>
    <p:extLst>
      <p:ext uri="{BB962C8B-B14F-4D97-AF65-F5344CB8AC3E}">
        <p14:creationId xmlns:p14="http://schemas.microsoft.com/office/powerpoint/2010/main" val="30689968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35</a:t>
            </a:fld>
            <a:endParaRPr lang="zh-CN"/>
          </a:p>
        </p:txBody>
      </p:sp>
    </p:spTree>
    <p:extLst>
      <p:ext uri="{BB962C8B-B14F-4D97-AF65-F5344CB8AC3E}">
        <p14:creationId xmlns:p14="http://schemas.microsoft.com/office/powerpoint/2010/main" val="20672649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36</a:t>
            </a:fld>
            <a:endParaRPr lang="zh-CN"/>
          </a:p>
        </p:txBody>
      </p:sp>
    </p:spTree>
    <p:extLst>
      <p:ext uri="{BB962C8B-B14F-4D97-AF65-F5344CB8AC3E}">
        <p14:creationId xmlns:p14="http://schemas.microsoft.com/office/powerpoint/2010/main" val="50432590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37</a:t>
            </a:fld>
            <a:endParaRPr lang="zh-CN"/>
          </a:p>
        </p:txBody>
      </p:sp>
    </p:spTree>
    <p:extLst>
      <p:ext uri="{BB962C8B-B14F-4D97-AF65-F5344CB8AC3E}">
        <p14:creationId xmlns:p14="http://schemas.microsoft.com/office/powerpoint/2010/main" val="279736796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38</a:t>
            </a:fld>
            <a:endParaRPr lang="zh-CN"/>
          </a:p>
        </p:txBody>
      </p:sp>
    </p:spTree>
    <p:extLst>
      <p:ext uri="{BB962C8B-B14F-4D97-AF65-F5344CB8AC3E}">
        <p14:creationId xmlns:p14="http://schemas.microsoft.com/office/powerpoint/2010/main" val="23105122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latin typeface="Arial" panose="020B0604020202020204" pitchFamily="34" charset="0"/>
              </a:rPr>
              <a:t>自</a:t>
            </a:r>
            <a:r>
              <a:rPr lang="en-US" altLang="zh-CN" dirty="0" smtClean="0">
                <a:latin typeface="Arial" panose="020B0604020202020204" pitchFamily="34" charset="0"/>
              </a:rPr>
              <a:t>20</a:t>
            </a:r>
            <a:r>
              <a:rPr lang="zh-CN" altLang="en-US" dirty="0" smtClean="0">
                <a:latin typeface="Arial" panose="020B0604020202020204" pitchFamily="34" charset="0"/>
              </a:rPr>
              <a:t>世纪</a:t>
            </a:r>
            <a:r>
              <a:rPr lang="en-US" altLang="zh-CN" dirty="0" smtClean="0">
                <a:latin typeface="Arial" panose="020B0604020202020204" pitchFamily="34" charset="0"/>
              </a:rPr>
              <a:t>80</a:t>
            </a:r>
            <a:r>
              <a:rPr lang="zh-CN" altLang="en-US" dirty="0" smtClean="0">
                <a:latin typeface="Arial" panose="020B0604020202020204" pitchFamily="34" charset="0"/>
              </a:rPr>
              <a:t>年代以来，选择有限灵活性的国家比例大致不变，选择更加灵活的国家比例则在不断地上升，而选择钉住汇率制的国家比例在下降，此趋势在进入</a:t>
            </a:r>
            <a:r>
              <a:rPr lang="en-US" altLang="zh-CN" dirty="0" smtClean="0">
                <a:latin typeface="Arial" panose="020B0604020202020204" pitchFamily="34" charset="0"/>
              </a:rPr>
              <a:t>20</a:t>
            </a:r>
            <a:r>
              <a:rPr lang="zh-CN" altLang="en-US" dirty="0" smtClean="0">
                <a:latin typeface="Arial" panose="020B0604020202020204" pitchFamily="34" charset="0"/>
              </a:rPr>
              <a:t>世纪</a:t>
            </a:r>
            <a:r>
              <a:rPr lang="en-US" altLang="zh-CN" dirty="0" smtClean="0">
                <a:latin typeface="Arial" panose="020B0604020202020204" pitchFamily="34" charset="0"/>
              </a:rPr>
              <a:t>90</a:t>
            </a:r>
            <a:r>
              <a:rPr lang="zh-CN" altLang="en-US" dirty="0" smtClean="0">
                <a:latin typeface="Arial" panose="020B0604020202020204" pitchFamily="34" charset="0"/>
              </a:rPr>
              <a:t>年代后更为明显。</a:t>
            </a:r>
          </a:p>
          <a:p>
            <a:endParaRPr lang="zh-CN" altLang="en-US" dirty="0"/>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40</a:t>
            </a:fld>
            <a:endParaRPr lang="en-US" altLang="zh-CN" dirty="0"/>
          </a:p>
        </p:txBody>
      </p:sp>
    </p:spTree>
    <p:extLst>
      <p:ext uri="{BB962C8B-B14F-4D97-AF65-F5344CB8AC3E}">
        <p14:creationId xmlns:p14="http://schemas.microsoft.com/office/powerpoint/2010/main" val="169511927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41</a:t>
            </a:fld>
            <a:endParaRPr lang="zh-CN"/>
          </a:p>
        </p:txBody>
      </p:sp>
    </p:spTree>
    <p:extLst>
      <p:ext uri="{BB962C8B-B14F-4D97-AF65-F5344CB8AC3E}">
        <p14:creationId xmlns:p14="http://schemas.microsoft.com/office/powerpoint/2010/main" val="374355106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latin typeface="Arial" panose="020B0604020202020204" pitchFamily="34" charset="0"/>
              </a:rPr>
              <a:t>根据汇率的形成机制和波动幅度，我们把表中的第</a:t>
            </a:r>
            <a:r>
              <a:rPr lang="en-US" altLang="zh-CN" dirty="0" smtClean="0">
                <a:latin typeface="Arial" panose="020B0604020202020204" pitchFamily="34" charset="0"/>
              </a:rPr>
              <a:t>3</a:t>
            </a:r>
            <a:r>
              <a:rPr lang="zh-CN" altLang="en-US" dirty="0" smtClean="0">
                <a:latin typeface="Arial" panose="020B0604020202020204" pitchFamily="34" charset="0"/>
              </a:rPr>
              <a:t>、</a:t>
            </a:r>
            <a:r>
              <a:rPr lang="en-US" altLang="zh-CN" dirty="0" smtClean="0">
                <a:latin typeface="Arial" panose="020B0604020202020204" pitchFamily="34" charset="0"/>
              </a:rPr>
              <a:t>4</a:t>
            </a:r>
            <a:r>
              <a:rPr lang="zh-CN" altLang="en-US" dirty="0" smtClean="0">
                <a:latin typeface="Arial" panose="020B0604020202020204" pitchFamily="34" charset="0"/>
              </a:rPr>
              <a:t>、</a:t>
            </a:r>
            <a:r>
              <a:rPr lang="en-US" altLang="zh-CN" dirty="0" smtClean="0">
                <a:latin typeface="Arial" panose="020B0604020202020204" pitchFamily="34" charset="0"/>
              </a:rPr>
              <a:t>5</a:t>
            </a:r>
            <a:r>
              <a:rPr lang="zh-CN" altLang="en-US" dirty="0" smtClean="0">
                <a:latin typeface="Arial" panose="020B0604020202020204" pitchFamily="34" charset="0"/>
              </a:rPr>
              <a:t>、</a:t>
            </a:r>
            <a:r>
              <a:rPr lang="en-US" altLang="zh-CN" dirty="0" smtClean="0">
                <a:latin typeface="Arial" panose="020B0604020202020204" pitchFamily="34" charset="0"/>
              </a:rPr>
              <a:t>6</a:t>
            </a:r>
            <a:r>
              <a:rPr lang="zh-CN" altLang="en-US" dirty="0" smtClean="0">
                <a:latin typeface="Arial" panose="020B0604020202020204" pitchFamily="34" charset="0"/>
              </a:rPr>
              <a:t>、</a:t>
            </a:r>
            <a:r>
              <a:rPr lang="en-US" altLang="zh-CN" dirty="0" smtClean="0">
                <a:latin typeface="Arial" panose="020B0604020202020204" pitchFamily="34" charset="0"/>
              </a:rPr>
              <a:t>7</a:t>
            </a:r>
            <a:r>
              <a:rPr lang="zh-CN" altLang="en-US" dirty="0" smtClean="0">
                <a:latin typeface="Arial" panose="020B0604020202020204" pitchFamily="34" charset="0"/>
              </a:rPr>
              <a:t>类通称为“中间汇率制度”（都是在政府控制下，汇率在一个或大或小的范围内波动），第</a:t>
            </a:r>
            <a:r>
              <a:rPr lang="en-US" altLang="zh-CN" dirty="0" smtClean="0">
                <a:latin typeface="Arial" panose="020B0604020202020204" pitchFamily="34" charset="0"/>
              </a:rPr>
              <a:t>1</a:t>
            </a:r>
            <a:r>
              <a:rPr lang="zh-CN" altLang="en-US" dirty="0" smtClean="0">
                <a:latin typeface="Arial" panose="020B0604020202020204" pitchFamily="34" charset="0"/>
              </a:rPr>
              <a:t>、</a:t>
            </a:r>
            <a:r>
              <a:rPr lang="en-US" altLang="zh-CN" dirty="0" smtClean="0">
                <a:latin typeface="Arial" panose="020B0604020202020204" pitchFamily="34" charset="0"/>
              </a:rPr>
              <a:t>2</a:t>
            </a:r>
            <a:r>
              <a:rPr lang="zh-CN" altLang="en-US" dirty="0" smtClean="0">
                <a:latin typeface="Arial" panose="020B0604020202020204" pitchFamily="34" charset="0"/>
              </a:rPr>
              <a:t>和</a:t>
            </a:r>
            <a:r>
              <a:rPr lang="en-US" altLang="zh-CN" dirty="0" smtClean="0">
                <a:latin typeface="Arial" panose="020B0604020202020204" pitchFamily="34" charset="0"/>
              </a:rPr>
              <a:t>8</a:t>
            </a:r>
            <a:r>
              <a:rPr lang="zh-CN" altLang="en-US" dirty="0" smtClean="0">
                <a:latin typeface="Arial" panose="020B0604020202020204" pitchFamily="34" charset="0"/>
              </a:rPr>
              <a:t>类称为“两极汇率制度”。</a:t>
            </a:r>
            <a:r>
              <a:rPr lang="en-US" altLang="zh-CN" dirty="0" smtClean="0">
                <a:latin typeface="Arial" panose="020B0604020202020204" pitchFamily="34" charset="0"/>
              </a:rPr>
              <a:t>1999</a:t>
            </a:r>
            <a:r>
              <a:rPr lang="zh-CN" altLang="en-US" dirty="0" smtClean="0">
                <a:latin typeface="Arial" panose="020B0604020202020204" pitchFamily="34" charset="0"/>
              </a:rPr>
              <a:t>年采取两极汇率制度的国家比例超过了一半。初步的统计也表明，</a:t>
            </a:r>
            <a:r>
              <a:rPr lang="en-US" altLang="zh-CN" dirty="0" smtClean="0">
                <a:latin typeface="Arial" panose="020B0604020202020204" pitchFamily="34" charset="0"/>
              </a:rPr>
              <a:t>80</a:t>
            </a:r>
            <a:r>
              <a:rPr lang="zh-CN" altLang="en-US" dirty="0" smtClean="0">
                <a:latin typeface="Arial" panose="020B0604020202020204" pitchFamily="34" charset="0"/>
              </a:rPr>
              <a:t>年代以来，此比例一直是上升的。 </a:t>
            </a:r>
            <a:br>
              <a:rPr lang="zh-CN" altLang="en-US" dirty="0" smtClean="0">
                <a:latin typeface="Arial" panose="020B0604020202020204" pitchFamily="34" charset="0"/>
              </a:rPr>
            </a:br>
            <a:endParaRPr lang="zh-CN" altLang="en-US" dirty="0" smtClean="0">
              <a:latin typeface="Arial" panose="020B0604020202020204" pitchFamily="34" charset="0"/>
            </a:endParaRPr>
          </a:p>
          <a:p>
            <a:endParaRPr lang="zh-CN" altLang="en-US" dirty="0"/>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42</a:t>
            </a:fld>
            <a:endParaRPr lang="en-US" altLang="zh-CN" dirty="0"/>
          </a:p>
        </p:txBody>
      </p:sp>
    </p:spTree>
    <p:extLst>
      <p:ext uri="{BB962C8B-B14F-4D97-AF65-F5344CB8AC3E}">
        <p14:creationId xmlns:p14="http://schemas.microsoft.com/office/powerpoint/2010/main" val="2851812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43</a:t>
            </a:fld>
            <a:endParaRPr lang="zh-CN"/>
          </a:p>
        </p:txBody>
      </p:sp>
    </p:spTree>
    <p:extLst>
      <p:ext uri="{BB962C8B-B14F-4D97-AF65-F5344CB8AC3E}">
        <p14:creationId xmlns:p14="http://schemas.microsoft.com/office/powerpoint/2010/main" val="22564322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44</a:t>
            </a:fld>
            <a:endParaRPr lang="zh-CN"/>
          </a:p>
        </p:txBody>
      </p:sp>
    </p:spTree>
    <p:extLst>
      <p:ext uri="{BB962C8B-B14F-4D97-AF65-F5344CB8AC3E}">
        <p14:creationId xmlns:p14="http://schemas.microsoft.com/office/powerpoint/2010/main" val="18314433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45</a:t>
            </a:fld>
            <a:endParaRPr lang="zh-CN"/>
          </a:p>
        </p:txBody>
      </p:sp>
    </p:spTree>
    <p:extLst>
      <p:ext uri="{BB962C8B-B14F-4D97-AF65-F5344CB8AC3E}">
        <p14:creationId xmlns:p14="http://schemas.microsoft.com/office/powerpoint/2010/main" val="69908678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46</a:t>
            </a:fld>
            <a:endParaRPr lang="zh-CN"/>
          </a:p>
        </p:txBody>
      </p:sp>
    </p:spTree>
    <p:extLst>
      <p:ext uri="{BB962C8B-B14F-4D97-AF65-F5344CB8AC3E}">
        <p14:creationId xmlns:p14="http://schemas.microsoft.com/office/powerpoint/2010/main" val="329969311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47</a:t>
            </a:fld>
            <a:endParaRPr lang="zh-CN"/>
          </a:p>
        </p:txBody>
      </p:sp>
    </p:spTree>
    <p:extLst>
      <p:ext uri="{BB962C8B-B14F-4D97-AF65-F5344CB8AC3E}">
        <p14:creationId xmlns:p14="http://schemas.microsoft.com/office/powerpoint/2010/main" val="403538592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48</a:t>
            </a:fld>
            <a:endParaRPr lang="zh-CN"/>
          </a:p>
        </p:txBody>
      </p:sp>
    </p:spTree>
    <p:extLst>
      <p:ext uri="{BB962C8B-B14F-4D97-AF65-F5344CB8AC3E}">
        <p14:creationId xmlns:p14="http://schemas.microsoft.com/office/powerpoint/2010/main" val="343430809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49</a:t>
            </a:fld>
            <a:endParaRPr lang="zh-CN"/>
          </a:p>
        </p:txBody>
      </p:sp>
    </p:spTree>
    <p:extLst>
      <p:ext uri="{BB962C8B-B14F-4D97-AF65-F5344CB8AC3E}">
        <p14:creationId xmlns:p14="http://schemas.microsoft.com/office/powerpoint/2010/main" val="71162506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50</a:t>
            </a:fld>
            <a:endParaRPr lang="zh-CN"/>
          </a:p>
        </p:txBody>
      </p:sp>
    </p:spTree>
    <p:extLst>
      <p:ext uri="{BB962C8B-B14F-4D97-AF65-F5344CB8AC3E}">
        <p14:creationId xmlns:p14="http://schemas.microsoft.com/office/powerpoint/2010/main" val="317346790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51</a:t>
            </a:fld>
            <a:endParaRPr lang="zh-CN"/>
          </a:p>
        </p:txBody>
      </p:sp>
    </p:spTree>
    <p:extLst>
      <p:ext uri="{BB962C8B-B14F-4D97-AF65-F5344CB8AC3E}">
        <p14:creationId xmlns:p14="http://schemas.microsoft.com/office/powerpoint/2010/main" val="297761269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52</a:t>
            </a:fld>
            <a:endParaRPr lang="zh-CN"/>
          </a:p>
        </p:txBody>
      </p:sp>
    </p:spTree>
    <p:extLst>
      <p:ext uri="{BB962C8B-B14F-4D97-AF65-F5344CB8AC3E}">
        <p14:creationId xmlns:p14="http://schemas.microsoft.com/office/powerpoint/2010/main" val="309607733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53</a:t>
            </a:fld>
            <a:endParaRPr lang="zh-CN"/>
          </a:p>
        </p:txBody>
      </p:sp>
    </p:spTree>
    <p:extLst>
      <p:ext uri="{BB962C8B-B14F-4D97-AF65-F5344CB8AC3E}">
        <p14:creationId xmlns:p14="http://schemas.microsoft.com/office/powerpoint/2010/main" val="295608310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54</a:t>
            </a:fld>
            <a:endParaRPr lang="zh-CN"/>
          </a:p>
        </p:txBody>
      </p:sp>
    </p:spTree>
    <p:extLst>
      <p:ext uri="{BB962C8B-B14F-4D97-AF65-F5344CB8AC3E}">
        <p14:creationId xmlns:p14="http://schemas.microsoft.com/office/powerpoint/2010/main" val="265385149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55</a:t>
            </a:fld>
            <a:endParaRPr lang="zh-CN"/>
          </a:p>
        </p:txBody>
      </p:sp>
    </p:spTree>
    <p:extLst>
      <p:ext uri="{BB962C8B-B14F-4D97-AF65-F5344CB8AC3E}">
        <p14:creationId xmlns:p14="http://schemas.microsoft.com/office/powerpoint/2010/main" val="206386489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56</a:t>
            </a:fld>
            <a:endParaRPr lang="zh-CN"/>
          </a:p>
        </p:txBody>
      </p:sp>
    </p:spTree>
    <p:extLst>
      <p:ext uri="{BB962C8B-B14F-4D97-AF65-F5344CB8AC3E}">
        <p14:creationId xmlns:p14="http://schemas.microsoft.com/office/powerpoint/2010/main" val="424171665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57</a:t>
            </a:fld>
            <a:endParaRPr lang="zh-CN"/>
          </a:p>
        </p:txBody>
      </p:sp>
    </p:spTree>
    <p:extLst>
      <p:ext uri="{BB962C8B-B14F-4D97-AF65-F5344CB8AC3E}">
        <p14:creationId xmlns:p14="http://schemas.microsoft.com/office/powerpoint/2010/main" val="97568568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58</a:t>
            </a:fld>
            <a:endParaRPr lang="zh-CN"/>
          </a:p>
        </p:txBody>
      </p:sp>
    </p:spTree>
    <p:extLst>
      <p:ext uri="{BB962C8B-B14F-4D97-AF65-F5344CB8AC3E}">
        <p14:creationId xmlns:p14="http://schemas.microsoft.com/office/powerpoint/2010/main" val="142852823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59</a:t>
            </a:fld>
            <a:endParaRPr lang="zh-CN"/>
          </a:p>
        </p:txBody>
      </p:sp>
    </p:spTree>
    <p:extLst>
      <p:ext uri="{BB962C8B-B14F-4D97-AF65-F5344CB8AC3E}">
        <p14:creationId xmlns:p14="http://schemas.microsoft.com/office/powerpoint/2010/main" val="332326917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60</a:t>
            </a:fld>
            <a:endParaRPr lang="zh-CN"/>
          </a:p>
        </p:txBody>
      </p:sp>
    </p:spTree>
    <p:extLst>
      <p:ext uri="{BB962C8B-B14F-4D97-AF65-F5344CB8AC3E}">
        <p14:creationId xmlns:p14="http://schemas.microsoft.com/office/powerpoint/2010/main" val="95308293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61</a:t>
            </a:fld>
            <a:endParaRPr lang="zh-CN"/>
          </a:p>
        </p:txBody>
      </p:sp>
    </p:spTree>
    <p:extLst>
      <p:ext uri="{BB962C8B-B14F-4D97-AF65-F5344CB8AC3E}">
        <p14:creationId xmlns:p14="http://schemas.microsoft.com/office/powerpoint/2010/main" val="96019653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62</a:t>
            </a:fld>
            <a:endParaRPr lang="zh-CN"/>
          </a:p>
        </p:txBody>
      </p:sp>
    </p:spTree>
    <p:extLst>
      <p:ext uri="{BB962C8B-B14F-4D97-AF65-F5344CB8AC3E}">
        <p14:creationId xmlns:p14="http://schemas.microsoft.com/office/powerpoint/2010/main" val="320289825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latin typeface="Arial" panose="020B0604020202020204" pitchFamily="34" charset="0"/>
              </a:rPr>
              <a:t>爬行钉住制指汇率可以经常地、小幅调整的固定汇率制度；该国负有维持某种平价的义务。汇率目标区当局制定明确的区间限制，必要时利用货币政策等尽量将汇率变动限制在目标区内；但不严格承诺将汇率维持在目标区。</a:t>
            </a:r>
          </a:p>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63</a:t>
            </a:fld>
            <a:endParaRPr lang="zh-CN"/>
          </a:p>
        </p:txBody>
      </p:sp>
    </p:spTree>
    <p:extLst>
      <p:ext uri="{BB962C8B-B14F-4D97-AF65-F5344CB8AC3E}">
        <p14:creationId xmlns:p14="http://schemas.microsoft.com/office/powerpoint/2010/main" val="2339929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latin typeface="Arial" panose="020B0604020202020204" pitchFamily="34" charset="0"/>
              </a:rPr>
              <a:t>爬行钉住制指汇率可以经常地、小幅调整的固定汇率制度；该国负有维持某种平价的义务。汇率目标区当局制定明确的区间限制，必要时利用货币政策等尽量将汇率变动限制在目标区内；但不严格承诺将汇率维持在目标区。</a:t>
            </a:r>
          </a:p>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64</a:t>
            </a:fld>
            <a:endParaRPr lang="zh-CN"/>
          </a:p>
        </p:txBody>
      </p:sp>
    </p:spTree>
    <p:extLst>
      <p:ext uri="{BB962C8B-B14F-4D97-AF65-F5344CB8AC3E}">
        <p14:creationId xmlns:p14="http://schemas.microsoft.com/office/powerpoint/2010/main" val="215112447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65</a:t>
            </a:fld>
            <a:endParaRPr lang="zh-CN"/>
          </a:p>
        </p:txBody>
      </p:sp>
    </p:spTree>
    <p:extLst>
      <p:ext uri="{BB962C8B-B14F-4D97-AF65-F5344CB8AC3E}">
        <p14:creationId xmlns:p14="http://schemas.microsoft.com/office/powerpoint/2010/main" val="152716265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66</a:t>
            </a:fld>
            <a:endParaRPr lang="zh-CN"/>
          </a:p>
        </p:txBody>
      </p:sp>
    </p:spTree>
    <p:extLst>
      <p:ext uri="{BB962C8B-B14F-4D97-AF65-F5344CB8AC3E}">
        <p14:creationId xmlns:p14="http://schemas.microsoft.com/office/powerpoint/2010/main" val="310845779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如需求从</a:t>
            </a:r>
            <a:r>
              <a:rPr lang="en-US" altLang="zh-CN" dirty="0" smtClean="0"/>
              <a:t>A</a:t>
            </a:r>
            <a:r>
              <a:rPr lang="zh-CN" altLang="en-US" dirty="0" smtClean="0"/>
              <a:t>转向</a:t>
            </a:r>
            <a:r>
              <a:rPr lang="en-US" altLang="zh-CN" dirty="0" smtClean="0"/>
              <a:t>B</a:t>
            </a:r>
            <a:r>
              <a:rPr lang="zh-CN" altLang="en-US" dirty="0" smtClean="0"/>
              <a:t>，</a:t>
            </a:r>
            <a:r>
              <a:rPr lang="en-US" altLang="zh-CN" dirty="0" smtClean="0"/>
              <a:t>A</a:t>
            </a:r>
            <a:r>
              <a:rPr lang="zh-CN" altLang="en-US" dirty="0" smtClean="0"/>
              <a:t>的失业增加，外部逆差；如果是浮动汇率，</a:t>
            </a:r>
            <a:r>
              <a:rPr lang="en-US" altLang="zh-CN" dirty="0" smtClean="0"/>
              <a:t>A</a:t>
            </a:r>
            <a:r>
              <a:rPr lang="zh-CN" altLang="en-US" dirty="0" smtClean="0"/>
              <a:t>币贬值可以调节；若固定或同一通货区，则只能通过生产要素流动。</a:t>
            </a: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67</a:t>
            </a:fld>
            <a:endParaRPr lang="zh-CN"/>
          </a:p>
        </p:txBody>
      </p:sp>
    </p:spTree>
    <p:extLst>
      <p:ext uri="{BB962C8B-B14F-4D97-AF65-F5344CB8AC3E}">
        <p14:creationId xmlns:p14="http://schemas.microsoft.com/office/powerpoint/2010/main" val="65345376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68</a:t>
            </a:fld>
            <a:endParaRPr lang="zh-CN"/>
          </a:p>
        </p:txBody>
      </p:sp>
    </p:spTree>
    <p:extLst>
      <p:ext uri="{BB962C8B-B14F-4D97-AF65-F5344CB8AC3E}">
        <p14:creationId xmlns:p14="http://schemas.microsoft.com/office/powerpoint/2010/main" val="302785964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latin typeface="Arial" panose="020B0604020202020204" pitchFamily="34" charset="0"/>
              </a:rPr>
              <a:t>经济开放度高、经济规模小、进出口集中在某几种商品或某一国家的国家，固定汇率；经济开放程度低、进出口商品多样化或地域分布分散化、同国际金融市场联系密切、资本流出流进较为可观和频繁、或国内通货膨胀率与其他主要国家不一致的国家，则倾向于实行浮动汇率制或弹性汇率制。</a:t>
            </a:r>
          </a:p>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69</a:t>
            </a:fld>
            <a:endParaRPr lang="zh-CN"/>
          </a:p>
        </p:txBody>
      </p:sp>
    </p:spTree>
    <p:extLst>
      <p:ext uri="{BB962C8B-B14F-4D97-AF65-F5344CB8AC3E}">
        <p14:creationId xmlns:p14="http://schemas.microsoft.com/office/powerpoint/2010/main" val="231270743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70</a:t>
            </a:fld>
            <a:endParaRPr lang="zh-CN"/>
          </a:p>
        </p:txBody>
      </p:sp>
    </p:spTree>
    <p:extLst>
      <p:ext uri="{BB962C8B-B14F-4D97-AF65-F5344CB8AC3E}">
        <p14:creationId xmlns:p14="http://schemas.microsoft.com/office/powerpoint/2010/main" val="265451140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71</a:t>
            </a:fld>
            <a:endParaRPr lang="zh-CN"/>
          </a:p>
        </p:txBody>
      </p:sp>
    </p:spTree>
    <p:extLst>
      <p:ext uri="{BB962C8B-B14F-4D97-AF65-F5344CB8AC3E}">
        <p14:creationId xmlns:p14="http://schemas.microsoft.com/office/powerpoint/2010/main" val="343654002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72</a:t>
            </a:fld>
            <a:endParaRPr lang="zh-CN"/>
          </a:p>
        </p:txBody>
      </p:sp>
    </p:spTree>
    <p:extLst>
      <p:ext uri="{BB962C8B-B14F-4D97-AF65-F5344CB8AC3E}">
        <p14:creationId xmlns:p14="http://schemas.microsoft.com/office/powerpoint/2010/main" val="117859904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73</a:t>
            </a:fld>
            <a:endParaRPr lang="zh-CN"/>
          </a:p>
        </p:txBody>
      </p:sp>
    </p:spTree>
    <p:extLst>
      <p:ext uri="{BB962C8B-B14F-4D97-AF65-F5344CB8AC3E}">
        <p14:creationId xmlns:p14="http://schemas.microsoft.com/office/powerpoint/2010/main" val="325213720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74</a:t>
            </a:fld>
            <a:endParaRPr lang="zh-CN"/>
          </a:p>
        </p:txBody>
      </p:sp>
    </p:spTree>
    <p:extLst>
      <p:ext uri="{BB962C8B-B14F-4D97-AF65-F5344CB8AC3E}">
        <p14:creationId xmlns:p14="http://schemas.microsoft.com/office/powerpoint/2010/main" val="971117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75</a:t>
            </a:fld>
            <a:endParaRPr lang="zh-CN"/>
          </a:p>
        </p:txBody>
      </p:sp>
    </p:spTree>
    <p:extLst>
      <p:ext uri="{BB962C8B-B14F-4D97-AF65-F5344CB8AC3E}">
        <p14:creationId xmlns:p14="http://schemas.microsoft.com/office/powerpoint/2010/main" val="402040726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76</a:t>
            </a:fld>
            <a:endParaRPr lang="zh-CN"/>
          </a:p>
        </p:txBody>
      </p:sp>
    </p:spTree>
    <p:extLst>
      <p:ext uri="{BB962C8B-B14F-4D97-AF65-F5344CB8AC3E}">
        <p14:creationId xmlns:p14="http://schemas.microsoft.com/office/powerpoint/2010/main" val="187145080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77</a:t>
            </a:fld>
            <a:endParaRPr lang="zh-CN"/>
          </a:p>
        </p:txBody>
      </p:sp>
    </p:spTree>
    <p:extLst>
      <p:ext uri="{BB962C8B-B14F-4D97-AF65-F5344CB8AC3E}">
        <p14:creationId xmlns:p14="http://schemas.microsoft.com/office/powerpoint/2010/main" val="304643723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78</a:t>
            </a:fld>
            <a:endParaRPr lang="zh-CN"/>
          </a:p>
        </p:txBody>
      </p:sp>
    </p:spTree>
    <p:extLst>
      <p:ext uri="{BB962C8B-B14F-4D97-AF65-F5344CB8AC3E}">
        <p14:creationId xmlns:p14="http://schemas.microsoft.com/office/powerpoint/2010/main" val="61366855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79</a:t>
            </a:fld>
            <a:endParaRPr lang="zh-CN"/>
          </a:p>
        </p:txBody>
      </p:sp>
    </p:spTree>
    <p:extLst>
      <p:ext uri="{BB962C8B-B14F-4D97-AF65-F5344CB8AC3E}">
        <p14:creationId xmlns:p14="http://schemas.microsoft.com/office/powerpoint/2010/main" val="250523831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80</a:t>
            </a:fld>
            <a:endParaRPr lang="zh-CN"/>
          </a:p>
        </p:txBody>
      </p:sp>
    </p:spTree>
    <p:extLst>
      <p:ext uri="{BB962C8B-B14F-4D97-AF65-F5344CB8AC3E}">
        <p14:creationId xmlns:p14="http://schemas.microsoft.com/office/powerpoint/2010/main" val="411539978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81</a:t>
            </a:fld>
            <a:endParaRPr lang="zh-CN"/>
          </a:p>
        </p:txBody>
      </p:sp>
    </p:spTree>
    <p:extLst>
      <p:ext uri="{BB962C8B-B14F-4D97-AF65-F5344CB8AC3E}">
        <p14:creationId xmlns:p14="http://schemas.microsoft.com/office/powerpoint/2010/main" val="284146329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latin typeface="Arial" panose="020B0604020202020204" pitchFamily="34" charset="0"/>
              </a:rPr>
              <a:t>间接手段主要是通过改变金融变量来改变外汇供求，如利率、公开宣告；</a:t>
            </a:r>
          </a:p>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82</a:t>
            </a:fld>
            <a:endParaRPr lang="zh-CN"/>
          </a:p>
        </p:txBody>
      </p:sp>
    </p:spTree>
    <p:extLst>
      <p:ext uri="{BB962C8B-B14F-4D97-AF65-F5344CB8AC3E}">
        <p14:creationId xmlns:p14="http://schemas.microsoft.com/office/powerpoint/2010/main" val="156440241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83</a:t>
            </a:fld>
            <a:endParaRPr lang="zh-CN"/>
          </a:p>
        </p:txBody>
      </p:sp>
    </p:spTree>
    <p:extLst>
      <p:ext uri="{BB962C8B-B14F-4D97-AF65-F5344CB8AC3E}">
        <p14:creationId xmlns:p14="http://schemas.microsoft.com/office/powerpoint/2010/main" val="283978743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84</a:t>
            </a:fld>
            <a:endParaRPr lang="zh-CN"/>
          </a:p>
        </p:txBody>
      </p:sp>
    </p:spTree>
    <p:extLst>
      <p:ext uri="{BB962C8B-B14F-4D97-AF65-F5344CB8AC3E}">
        <p14:creationId xmlns:p14="http://schemas.microsoft.com/office/powerpoint/2010/main" val="313745273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r>
              <a:rPr lang="en-US" altLang="zh-CN" dirty="0" smtClean="0">
                <a:latin typeface="Arial" panose="020B0604020202020204" pitchFamily="34" charset="0"/>
              </a:rPr>
              <a:t>e</a:t>
            </a:r>
            <a:r>
              <a:rPr lang="zh-CN" altLang="en-US" dirty="0" smtClean="0">
                <a:latin typeface="Arial" panose="020B0604020202020204" pitchFamily="34" charset="0"/>
              </a:rPr>
              <a:t>值增大，本币贬值，在外国债券数量</a:t>
            </a:r>
            <a:r>
              <a:rPr lang="en-US" altLang="zh-CN" dirty="0" smtClean="0">
                <a:latin typeface="Arial" panose="020B0604020202020204" pitchFamily="34" charset="0"/>
              </a:rPr>
              <a:t>F</a:t>
            </a:r>
            <a:r>
              <a:rPr lang="zh-CN" altLang="en-US" dirty="0" smtClean="0">
                <a:latin typeface="Arial" panose="020B0604020202020204" pitchFamily="34" charset="0"/>
              </a:rPr>
              <a:t>一定时，以本币衡量的这一资产的价值提高了，这带来资产总量的本币价值提高。因此，如果其他条件不变，资产总量增加将导致对货币需求的上升。在货币供给既定的情况下，需要本国利率上升来降低货币需求、维持货币市场的供求平衡。</a:t>
            </a:r>
          </a:p>
          <a:p>
            <a:pPr eaLnBrk="1" hangingPunct="1"/>
            <a:r>
              <a:rPr lang="zh-CN" altLang="en-US" dirty="0" smtClean="0">
                <a:latin typeface="Arial" panose="020B0604020202020204" pitchFamily="34" charset="0"/>
              </a:rPr>
              <a:t>货币供给增加，在既定汇率下，利率需下降以提高货币需求。</a:t>
            </a:r>
          </a:p>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85</a:t>
            </a:fld>
            <a:endParaRPr lang="zh-CN"/>
          </a:p>
        </p:txBody>
      </p:sp>
    </p:spTree>
    <p:extLst>
      <p:ext uri="{BB962C8B-B14F-4D97-AF65-F5344CB8AC3E}">
        <p14:creationId xmlns:p14="http://schemas.microsoft.com/office/powerpoint/2010/main" val="28212387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r>
              <a:rPr lang="zh-CN" altLang="en-US" dirty="0" smtClean="0">
                <a:latin typeface="Arial" panose="020B0604020202020204" pitchFamily="34" charset="0"/>
              </a:rPr>
              <a:t>这一曲线斜率为负，是因为本币贬值同样带来资产总量增加，在其他条件不变时，对本国债券需求上升，这导致本国债券价格上涨，本国利率下降。</a:t>
            </a:r>
          </a:p>
          <a:p>
            <a:pPr eaLnBrk="1" hangingPunct="1"/>
            <a:r>
              <a:rPr lang="zh-CN" altLang="en-US" dirty="0" smtClean="0">
                <a:latin typeface="Arial" panose="020B0604020202020204" pitchFamily="34" charset="0"/>
              </a:rPr>
              <a:t>本国债券供给增加会使</a:t>
            </a:r>
            <a:r>
              <a:rPr lang="en-US" altLang="zh-CN" dirty="0" smtClean="0">
                <a:latin typeface="Arial" panose="020B0604020202020204" pitchFamily="34" charset="0"/>
              </a:rPr>
              <a:t>BB</a:t>
            </a:r>
            <a:r>
              <a:rPr lang="zh-CN" altLang="en-US" dirty="0" smtClean="0">
                <a:latin typeface="Arial" panose="020B0604020202020204" pitchFamily="34" charset="0"/>
              </a:rPr>
              <a:t>曲线向右移动。因为本国债券市场上供给超过需求时，若汇率既定，本国债券价格下降，本国利率上升。 </a:t>
            </a: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86</a:t>
            </a:fld>
            <a:endParaRPr lang="zh-CN"/>
          </a:p>
        </p:txBody>
      </p:sp>
    </p:spTree>
    <p:extLst>
      <p:ext uri="{BB962C8B-B14F-4D97-AF65-F5344CB8AC3E}">
        <p14:creationId xmlns:p14="http://schemas.microsoft.com/office/powerpoint/2010/main" val="270304746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r>
              <a:rPr lang="zh-CN" altLang="en-US" dirty="0" smtClean="0">
                <a:latin typeface="Arial" panose="020B0604020202020204" pitchFamily="34" charset="0"/>
              </a:rPr>
              <a:t>这一曲线斜率为负，是因为随着本国利率的上升，部分对外国债券的需求转移到本国债券上，在外国债券市场上出现超额供给，这就需要外汇贬值或本币升值来维持市场平衡。由于本国债券市场对本国利率的变化更敏感，即同样的汇率变动引起的债券供求波动只需较小的利率调整便能恢复平衡，</a:t>
            </a:r>
            <a:r>
              <a:rPr lang="en-US" altLang="zh-CN" dirty="0" smtClean="0">
                <a:latin typeface="Arial" panose="020B0604020202020204" pitchFamily="34" charset="0"/>
              </a:rPr>
              <a:t>FF</a:t>
            </a:r>
            <a:r>
              <a:rPr lang="zh-CN" altLang="en-US" dirty="0" smtClean="0">
                <a:latin typeface="Arial" panose="020B0604020202020204" pitchFamily="34" charset="0"/>
              </a:rPr>
              <a:t>曲线比</a:t>
            </a:r>
            <a:r>
              <a:rPr lang="en-US" altLang="zh-CN" dirty="0" smtClean="0">
                <a:latin typeface="Arial" panose="020B0604020202020204" pitchFamily="34" charset="0"/>
              </a:rPr>
              <a:t>BB</a:t>
            </a:r>
            <a:r>
              <a:rPr lang="zh-CN" altLang="en-US" dirty="0" smtClean="0">
                <a:latin typeface="Arial" panose="020B0604020202020204" pitchFamily="34" charset="0"/>
              </a:rPr>
              <a:t>曲线更平缓。</a:t>
            </a:r>
          </a:p>
          <a:p>
            <a:pPr eaLnBrk="1" hangingPunct="1"/>
            <a:r>
              <a:rPr lang="zh-CN" altLang="en-US" dirty="0" smtClean="0">
                <a:latin typeface="Arial" panose="020B0604020202020204" pitchFamily="34" charset="0"/>
              </a:rPr>
              <a:t>外国债券供给的增加将导致</a:t>
            </a:r>
            <a:r>
              <a:rPr lang="en-US" altLang="zh-CN" dirty="0" smtClean="0">
                <a:latin typeface="Arial" panose="020B0604020202020204" pitchFamily="34" charset="0"/>
              </a:rPr>
              <a:t>FF</a:t>
            </a:r>
            <a:r>
              <a:rPr lang="zh-CN" altLang="en-US" dirty="0" smtClean="0">
                <a:latin typeface="Arial" panose="020B0604020202020204" pitchFamily="34" charset="0"/>
              </a:rPr>
              <a:t>曲线向下移动。因为在利率既定时，外国债券市场上供给超过需求将导致本币汇率升值。</a:t>
            </a: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87</a:t>
            </a:fld>
            <a:endParaRPr lang="zh-CN"/>
          </a:p>
        </p:txBody>
      </p:sp>
    </p:spTree>
    <p:extLst>
      <p:ext uri="{BB962C8B-B14F-4D97-AF65-F5344CB8AC3E}">
        <p14:creationId xmlns:p14="http://schemas.microsoft.com/office/powerpoint/2010/main" val="414802408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88</a:t>
            </a:fld>
            <a:endParaRPr lang="zh-CN"/>
          </a:p>
        </p:txBody>
      </p:sp>
    </p:spTree>
    <p:extLst>
      <p:ext uri="{BB962C8B-B14F-4D97-AF65-F5344CB8AC3E}">
        <p14:creationId xmlns:p14="http://schemas.microsoft.com/office/powerpoint/2010/main" val="381193898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89</a:t>
            </a:fld>
            <a:endParaRPr lang="zh-CN"/>
          </a:p>
        </p:txBody>
      </p:sp>
    </p:spTree>
    <p:extLst>
      <p:ext uri="{BB962C8B-B14F-4D97-AF65-F5344CB8AC3E}">
        <p14:creationId xmlns:p14="http://schemas.microsoft.com/office/powerpoint/2010/main" val="596920154"/>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90</a:t>
            </a:fld>
            <a:endParaRPr lang="zh-CN"/>
          </a:p>
        </p:txBody>
      </p:sp>
    </p:spTree>
    <p:extLst>
      <p:ext uri="{BB962C8B-B14F-4D97-AF65-F5344CB8AC3E}">
        <p14:creationId xmlns:p14="http://schemas.microsoft.com/office/powerpoint/2010/main" val="52048137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91</a:t>
            </a:fld>
            <a:endParaRPr lang="zh-CN"/>
          </a:p>
        </p:txBody>
      </p:sp>
    </p:spTree>
    <p:extLst>
      <p:ext uri="{BB962C8B-B14F-4D97-AF65-F5344CB8AC3E}">
        <p14:creationId xmlns:p14="http://schemas.microsoft.com/office/powerpoint/2010/main" val="107380873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92</a:t>
            </a:fld>
            <a:endParaRPr lang="zh-CN"/>
          </a:p>
        </p:txBody>
      </p:sp>
    </p:spTree>
    <p:extLst>
      <p:ext uri="{BB962C8B-B14F-4D97-AF65-F5344CB8AC3E}">
        <p14:creationId xmlns:p14="http://schemas.microsoft.com/office/powerpoint/2010/main" val="120068324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93</a:t>
            </a:fld>
            <a:endParaRPr lang="zh-CN"/>
          </a:p>
        </p:txBody>
      </p:sp>
    </p:spTree>
    <p:extLst>
      <p:ext uri="{BB962C8B-B14F-4D97-AF65-F5344CB8AC3E}">
        <p14:creationId xmlns:p14="http://schemas.microsoft.com/office/powerpoint/2010/main" val="968915293"/>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r>
              <a:rPr lang="en-US" altLang="zh-CN" dirty="0" smtClean="0">
                <a:latin typeface="Arial" panose="020B0604020202020204" pitchFamily="34" charset="0"/>
              </a:rPr>
              <a:t>IMF</a:t>
            </a:r>
            <a:r>
              <a:rPr lang="zh-CN" altLang="en-US" dirty="0" smtClean="0">
                <a:latin typeface="Arial" panose="020B0604020202020204" pitchFamily="34" charset="0"/>
              </a:rPr>
              <a:t>对会员国在商品贸易方面所实行的限制并没有约束。</a:t>
            </a:r>
          </a:p>
          <a:p>
            <a:pPr eaLnBrk="1" hangingPunct="1"/>
            <a:r>
              <a:rPr lang="zh-CN" altLang="en-US" dirty="0" smtClean="0">
                <a:latin typeface="Arial" panose="020B0604020202020204" pitchFamily="34" charset="0"/>
              </a:rPr>
              <a:t>在二战后初期，各国都对资金流动实施了严格控制。随着经济发展，在一些发达国家资本和金融账户管制逐步取消了，国际资本流动迅速带来了金融市场的全球一体化，这一趋势的发展又呼唤着各国对资本与金融账户管制的进一步放松。</a:t>
            </a:r>
            <a:r>
              <a:rPr lang="en-US" altLang="zh-CN" dirty="0" smtClean="0">
                <a:latin typeface="Arial" panose="020B0604020202020204" pitchFamily="34" charset="0"/>
              </a:rPr>
              <a:t>IMF</a:t>
            </a:r>
            <a:r>
              <a:rPr lang="zh-CN" altLang="en-US" dirty="0" smtClean="0">
                <a:latin typeface="Arial" panose="020B0604020202020204" pitchFamily="34" charset="0"/>
              </a:rPr>
              <a:t>在</a:t>
            </a:r>
            <a:r>
              <a:rPr lang="en-US" altLang="zh-CN" dirty="0" smtClean="0">
                <a:latin typeface="Arial" panose="020B0604020202020204" pitchFamily="34" charset="0"/>
              </a:rPr>
              <a:t>1997</a:t>
            </a:r>
            <a:r>
              <a:rPr lang="zh-CN" altLang="en-US" dirty="0" smtClean="0">
                <a:latin typeface="Arial" panose="020B0604020202020204" pitchFamily="34" charset="0"/>
              </a:rPr>
              <a:t>年的在香港举行的年会上，确定了将以推动各国实行资本与金融账户下的自由兑换为目标。</a:t>
            </a:r>
          </a:p>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94</a:t>
            </a:fld>
            <a:endParaRPr lang="zh-CN"/>
          </a:p>
        </p:txBody>
      </p:sp>
    </p:spTree>
    <p:extLst>
      <p:ext uri="{BB962C8B-B14F-4D97-AF65-F5344CB8AC3E}">
        <p14:creationId xmlns:p14="http://schemas.microsoft.com/office/powerpoint/2010/main" val="248013598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r>
              <a:rPr lang="en-US" altLang="zh-CN" dirty="0" smtClean="0">
                <a:latin typeface="Arial" panose="020B0604020202020204" pitchFamily="34" charset="0"/>
              </a:rPr>
              <a:t>IMF</a:t>
            </a:r>
            <a:r>
              <a:rPr lang="zh-CN" altLang="en-US" dirty="0" smtClean="0">
                <a:latin typeface="Arial" panose="020B0604020202020204" pitchFamily="34" charset="0"/>
              </a:rPr>
              <a:t>对会员国在商品贸易方面所实行的限制并没有约束。</a:t>
            </a:r>
          </a:p>
          <a:p>
            <a:pPr eaLnBrk="1" hangingPunct="1"/>
            <a:r>
              <a:rPr lang="zh-CN" altLang="en-US" dirty="0" smtClean="0">
                <a:latin typeface="Arial" panose="020B0604020202020204" pitchFamily="34" charset="0"/>
              </a:rPr>
              <a:t>在二战后初期，各国都对资金流动实施了严格控制。随着经济发展，在一些发达国家资本和金融账户管制逐步取消了，国际资本流动迅速带来了金融市场的全球一体化，这一趋势的发展又呼唤着各国对资本与金融账户管制的进一步放松。</a:t>
            </a:r>
            <a:r>
              <a:rPr lang="en-US" altLang="zh-CN" dirty="0" smtClean="0">
                <a:latin typeface="Arial" panose="020B0604020202020204" pitchFamily="34" charset="0"/>
              </a:rPr>
              <a:t>IMF</a:t>
            </a:r>
            <a:r>
              <a:rPr lang="zh-CN" altLang="en-US" dirty="0" smtClean="0">
                <a:latin typeface="Arial" panose="020B0604020202020204" pitchFamily="34" charset="0"/>
              </a:rPr>
              <a:t>在</a:t>
            </a:r>
            <a:r>
              <a:rPr lang="en-US" altLang="zh-CN" dirty="0" smtClean="0">
                <a:latin typeface="Arial" panose="020B0604020202020204" pitchFamily="34" charset="0"/>
              </a:rPr>
              <a:t>1997</a:t>
            </a:r>
            <a:r>
              <a:rPr lang="zh-CN" altLang="en-US" smtClean="0">
                <a:latin typeface="Arial" panose="020B0604020202020204" pitchFamily="34" charset="0"/>
              </a:rPr>
              <a:t>年的在香港举行的年会上，确定了将以推动各国实行资本与金融账户下的自由兑换为目标。</a:t>
            </a:r>
          </a:p>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95</a:t>
            </a:fld>
            <a:endParaRPr lang="zh-CN"/>
          </a:p>
        </p:txBody>
      </p:sp>
    </p:spTree>
    <p:extLst>
      <p:ext uri="{BB962C8B-B14F-4D97-AF65-F5344CB8AC3E}">
        <p14:creationId xmlns:p14="http://schemas.microsoft.com/office/powerpoint/2010/main" val="122756354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96</a:t>
            </a:fld>
            <a:endParaRPr lang="zh-CN"/>
          </a:p>
        </p:txBody>
      </p:sp>
    </p:spTree>
    <p:extLst>
      <p:ext uri="{BB962C8B-B14F-4D97-AF65-F5344CB8AC3E}">
        <p14:creationId xmlns:p14="http://schemas.microsoft.com/office/powerpoint/2010/main" val="278563671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97</a:t>
            </a:fld>
            <a:endParaRPr lang="zh-CN"/>
          </a:p>
        </p:txBody>
      </p:sp>
    </p:spTree>
    <p:extLst>
      <p:ext uri="{BB962C8B-B14F-4D97-AF65-F5344CB8AC3E}">
        <p14:creationId xmlns:p14="http://schemas.microsoft.com/office/powerpoint/2010/main" val="287196518"/>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latin typeface="Arial" panose="020B0604020202020204" pitchFamily="34" charset="0"/>
              </a:rPr>
              <a:t>额度就是一种外汇所有权的凭证。一企业出口所得外汇为</a:t>
            </a:r>
            <a:r>
              <a:rPr lang="en-US" altLang="zh-CN" dirty="0" smtClean="0">
                <a:latin typeface="Arial" panose="020B0604020202020204" pitchFamily="34" charset="0"/>
              </a:rPr>
              <a:t>100</a:t>
            </a:r>
            <a:r>
              <a:rPr lang="zh-CN" altLang="en-US" dirty="0" smtClean="0">
                <a:latin typeface="Arial" panose="020B0604020202020204" pitchFamily="34" charset="0"/>
              </a:rPr>
              <a:t>万美元，留成比例为</a:t>
            </a:r>
            <a:r>
              <a:rPr lang="en-US" altLang="zh-CN" dirty="0" smtClean="0">
                <a:latin typeface="Arial" panose="020B0604020202020204" pitchFamily="34" charset="0"/>
              </a:rPr>
              <a:t>20</a:t>
            </a:r>
            <a:r>
              <a:rPr lang="zh-CN" altLang="en-US" dirty="0" smtClean="0">
                <a:latin typeface="Arial" panose="020B0604020202020204" pitchFamily="34" charset="0"/>
              </a:rPr>
              <a:t>％，该企业就获得</a:t>
            </a:r>
            <a:r>
              <a:rPr lang="en-US" altLang="zh-CN" dirty="0" smtClean="0">
                <a:latin typeface="Arial" panose="020B0604020202020204" pitchFamily="34" charset="0"/>
              </a:rPr>
              <a:t>20</a:t>
            </a:r>
            <a:r>
              <a:rPr lang="zh-CN" altLang="en-US" dirty="0" smtClean="0">
                <a:latin typeface="Arial" panose="020B0604020202020204" pitchFamily="34" charset="0"/>
              </a:rPr>
              <a:t>万＄的留成额度，需要用汇时凭此额度向政府官方汇率买回等值的美元。</a:t>
            </a:r>
          </a:p>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98</a:t>
            </a:fld>
            <a:endParaRPr lang="zh-CN"/>
          </a:p>
        </p:txBody>
      </p:sp>
    </p:spTree>
    <p:extLst>
      <p:ext uri="{BB962C8B-B14F-4D97-AF65-F5344CB8AC3E}">
        <p14:creationId xmlns:p14="http://schemas.microsoft.com/office/powerpoint/2010/main" val="72879966"/>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r>
              <a:rPr lang="zh-CN" altLang="en-US" dirty="0" smtClean="0">
                <a:latin typeface="Arial" panose="020B0604020202020204" pitchFamily="34" charset="0"/>
              </a:rPr>
              <a:t>外外商投资企业和个人在经常账户下的用汇需仍存在一定限制。</a:t>
            </a: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99</a:t>
            </a:fld>
            <a:endParaRPr lang="zh-CN"/>
          </a:p>
        </p:txBody>
      </p:sp>
    </p:spTree>
    <p:extLst>
      <p:ext uri="{BB962C8B-B14F-4D97-AF65-F5344CB8AC3E}">
        <p14:creationId xmlns:p14="http://schemas.microsoft.com/office/powerpoint/2010/main" val="205646331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r>
              <a:rPr lang="zh-CN" altLang="en-US" dirty="0" smtClean="0">
                <a:latin typeface="Arial" panose="020B0604020202020204" pitchFamily="34" charset="0"/>
              </a:rPr>
              <a:t>外外商投资企业和个人在经常账户下的用汇需仍存在一定限制。</a:t>
            </a: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100</a:t>
            </a:fld>
            <a:endParaRPr lang="zh-CN"/>
          </a:p>
        </p:txBody>
      </p:sp>
    </p:spTree>
    <p:extLst>
      <p:ext uri="{BB962C8B-B14F-4D97-AF65-F5344CB8AC3E}">
        <p14:creationId xmlns:p14="http://schemas.microsoft.com/office/powerpoint/2010/main" val="2415049260"/>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r>
              <a:rPr lang="en-US" altLang="zh-CN" dirty="0" smtClean="0">
                <a:latin typeface="Arial" panose="020B0604020202020204" pitchFamily="34" charset="0"/>
              </a:rPr>
              <a:t>1945</a:t>
            </a:r>
            <a:r>
              <a:rPr lang="zh-CN" altLang="en-US" dirty="0" smtClean="0">
                <a:latin typeface="Arial" panose="020B0604020202020204" pitchFamily="34" charset="0"/>
              </a:rPr>
              <a:t>－</a:t>
            </a:r>
            <a:r>
              <a:rPr lang="en-US" altLang="zh-CN" dirty="0" smtClean="0">
                <a:latin typeface="Arial" panose="020B0604020202020204" pitchFamily="34" charset="0"/>
              </a:rPr>
              <a:t>1968</a:t>
            </a:r>
            <a:r>
              <a:rPr lang="zh-CN" altLang="en-US" dirty="0" smtClean="0">
                <a:latin typeface="Arial" panose="020B0604020202020204" pitchFamily="34" charset="0"/>
              </a:rPr>
              <a:t>，</a:t>
            </a:r>
            <a:r>
              <a:rPr lang="en-US" altLang="zh-CN" dirty="0" smtClean="0">
                <a:latin typeface="Arial" panose="020B0604020202020204" pitchFamily="34" charset="0"/>
              </a:rPr>
              <a:t>35</a:t>
            </a:r>
            <a:r>
              <a:rPr lang="zh-CN" altLang="en-US" dirty="0" smtClean="0">
                <a:latin typeface="Arial" panose="020B0604020202020204" pitchFamily="34" charset="0"/>
              </a:rPr>
              <a:t>美元</a:t>
            </a:r>
            <a:r>
              <a:rPr lang="en-US" altLang="zh-CN" dirty="0" smtClean="0">
                <a:latin typeface="Arial" panose="020B0604020202020204" pitchFamily="34" charset="0"/>
              </a:rPr>
              <a:t>/</a:t>
            </a:r>
            <a:r>
              <a:rPr lang="zh-CN" altLang="en-US" dirty="0" smtClean="0">
                <a:latin typeface="Arial" panose="020B0604020202020204" pitchFamily="34" charset="0"/>
              </a:rPr>
              <a:t>盎司，</a:t>
            </a:r>
            <a:r>
              <a:rPr lang="en-US" altLang="zh-CN" dirty="0" smtClean="0">
                <a:latin typeface="Arial" panose="020B0604020202020204" pitchFamily="34" charset="0"/>
              </a:rPr>
              <a:t>80</a:t>
            </a:r>
            <a:r>
              <a:rPr lang="zh-CN" altLang="en-US" dirty="0" smtClean="0">
                <a:latin typeface="Arial" panose="020B0604020202020204" pitchFamily="34" charset="0"/>
              </a:rPr>
              <a:t>年代初期一度突破</a:t>
            </a:r>
            <a:r>
              <a:rPr lang="en-US" altLang="zh-CN" dirty="0" smtClean="0">
                <a:latin typeface="Arial" panose="020B0604020202020204" pitchFamily="34" charset="0"/>
              </a:rPr>
              <a:t>800</a:t>
            </a:r>
            <a:r>
              <a:rPr lang="zh-CN" altLang="en-US" dirty="0" smtClean="0">
                <a:latin typeface="Arial" panose="020B0604020202020204" pitchFamily="34" charset="0"/>
              </a:rPr>
              <a:t>美元</a:t>
            </a:r>
            <a:r>
              <a:rPr lang="en-US" altLang="zh-CN" dirty="0" smtClean="0">
                <a:latin typeface="Arial" panose="020B0604020202020204" pitchFamily="34" charset="0"/>
              </a:rPr>
              <a:t>/</a:t>
            </a:r>
            <a:r>
              <a:rPr lang="zh-CN" altLang="en-US" dirty="0" smtClean="0">
                <a:latin typeface="Arial" panose="020B0604020202020204" pitchFamily="34" charset="0"/>
              </a:rPr>
              <a:t>盎司</a:t>
            </a:r>
            <a:r>
              <a:rPr lang="en-US" altLang="zh-CN" dirty="0" smtClean="0">
                <a:latin typeface="Arial" panose="020B0604020202020204" pitchFamily="34" charset="0"/>
              </a:rPr>
              <a:t>,2011</a:t>
            </a:r>
            <a:r>
              <a:rPr lang="zh-CN" altLang="en-US" dirty="0" smtClean="0">
                <a:latin typeface="Arial" panose="020B0604020202020204" pitchFamily="34" charset="0"/>
              </a:rPr>
              <a:t>年更高达</a:t>
            </a:r>
            <a:r>
              <a:rPr lang="en-US" altLang="zh-CN" dirty="0" smtClean="0">
                <a:latin typeface="Arial" panose="020B0604020202020204" pitchFamily="34" charset="0"/>
              </a:rPr>
              <a:t>1900</a:t>
            </a:r>
            <a:r>
              <a:rPr lang="zh-CN" altLang="en-US" dirty="0" smtClean="0">
                <a:latin typeface="Arial" panose="020B0604020202020204" pitchFamily="34" charset="0"/>
              </a:rPr>
              <a:t>美元。</a:t>
            </a: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102</a:t>
            </a:fld>
            <a:endParaRPr lang="zh-CN"/>
          </a:p>
        </p:txBody>
      </p:sp>
    </p:spTree>
    <p:extLst>
      <p:ext uri="{BB962C8B-B14F-4D97-AF65-F5344CB8AC3E}">
        <p14:creationId xmlns:p14="http://schemas.microsoft.com/office/powerpoint/2010/main" val="1109446095"/>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r>
              <a:rPr lang="en-US" altLang="zh-CN" dirty="0" smtClean="0">
                <a:latin typeface="Arial" panose="020B0604020202020204" pitchFamily="34" charset="0"/>
              </a:rPr>
              <a:t>1945</a:t>
            </a:r>
            <a:r>
              <a:rPr lang="zh-CN" altLang="en-US" dirty="0" smtClean="0">
                <a:latin typeface="Arial" panose="020B0604020202020204" pitchFamily="34" charset="0"/>
              </a:rPr>
              <a:t>－</a:t>
            </a:r>
            <a:r>
              <a:rPr lang="en-US" altLang="zh-CN" dirty="0" smtClean="0">
                <a:latin typeface="Arial" panose="020B0604020202020204" pitchFamily="34" charset="0"/>
              </a:rPr>
              <a:t>1968</a:t>
            </a:r>
            <a:r>
              <a:rPr lang="zh-CN" altLang="en-US" dirty="0" smtClean="0">
                <a:latin typeface="Arial" panose="020B0604020202020204" pitchFamily="34" charset="0"/>
              </a:rPr>
              <a:t>，</a:t>
            </a:r>
            <a:r>
              <a:rPr lang="en-US" altLang="zh-CN" dirty="0" smtClean="0">
                <a:latin typeface="Arial" panose="020B0604020202020204" pitchFamily="34" charset="0"/>
              </a:rPr>
              <a:t>35</a:t>
            </a:r>
            <a:r>
              <a:rPr lang="zh-CN" altLang="en-US" dirty="0" smtClean="0">
                <a:latin typeface="Arial" panose="020B0604020202020204" pitchFamily="34" charset="0"/>
              </a:rPr>
              <a:t>美元</a:t>
            </a:r>
            <a:r>
              <a:rPr lang="en-US" altLang="zh-CN" dirty="0" smtClean="0">
                <a:latin typeface="Arial" panose="020B0604020202020204" pitchFamily="34" charset="0"/>
              </a:rPr>
              <a:t>/</a:t>
            </a:r>
            <a:r>
              <a:rPr lang="zh-CN" altLang="en-US" dirty="0" smtClean="0">
                <a:latin typeface="Arial" panose="020B0604020202020204" pitchFamily="34" charset="0"/>
              </a:rPr>
              <a:t>盎司，</a:t>
            </a:r>
            <a:r>
              <a:rPr lang="en-US" altLang="zh-CN" dirty="0" smtClean="0">
                <a:latin typeface="Arial" panose="020B0604020202020204" pitchFamily="34" charset="0"/>
              </a:rPr>
              <a:t>80</a:t>
            </a:r>
            <a:r>
              <a:rPr lang="zh-CN" altLang="en-US" dirty="0" smtClean="0">
                <a:latin typeface="Arial" panose="020B0604020202020204" pitchFamily="34" charset="0"/>
              </a:rPr>
              <a:t>年代初期一度突破</a:t>
            </a:r>
            <a:r>
              <a:rPr lang="en-US" altLang="zh-CN" dirty="0" smtClean="0">
                <a:latin typeface="Arial" panose="020B0604020202020204" pitchFamily="34" charset="0"/>
              </a:rPr>
              <a:t>800</a:t>
            </a:r>
            <a:r>
              <a:rPr lang="zh-CN" altLang="en-US" dirty="0" smtClean="0">
                <a:latin typeface="Arial" panose="020B0604020202020204" pitchFamily="34" charset="0"/>
              </a:rPr>
              <a:t>美元</a:t>
            </a:r>
            <a:r>
              <a:rPr lang="en-US" altLang="zh-CN" dirty="0" smtClean="0">
                <a:latin typeface="Arial" panose="020B0604020202020204" pitchFamily="34" charset="0"/>
              </a:rPr>
              <a:t>/</a:t>
            </a:r>
            <a:r>
              <a:rPr lang="zh-CN" altLang="en-US" dirty="0" smtClean="0">
                <a:latin typeface="Arial" panose="020B0604020202020204" pitchFamily="34" charset="0"/>
              </a:rPr>
              <a:t>盎司</a:t>
            </a:r>
            <a:r>
              <a:rPr lang="en-US" altLang="zh-CN" dirty="0" smtClean="0">
                <a:latin typeface="Arial" panose="020B0604020202020204" pitchFamily="34" charset="0"/>
              </a:rPr>
              <a:t>,2011</a:t>
            </a:r>
            <a:r>
              <a:rPr lang="zh-CN" altLang="en-US" dirty="0" smtClean="0">
                <a:latin typeface="Arial" panose="020B0604020202020204" pitchFamily="34" charset="0"/>
              </a:rPr>
              <a:t>年更高达</a:t>
            </a:r>
            <a:r>
              <a:rPr lang="en-US" altLang="zh-CN" dirty="0" smtClean="0">
                <a:latin typeface="Arial" panose="020B0604020202020204" pitchFamily="34" charset="0"/>
              </a:rPr>
              <a:t>1900</a:t>
            </a:r>
            <a:r>
              <a:rPr lang="zh-CN" altLang="en-US" dirty="0" smtClean="0">
                <a:latin typeface="Arial" panose="020B0604020202020204" pitchFamily="34" charset="0"/>
              </a:rPr>
              <a:t>美元。</a:t>
            </a: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103</a:t>
            </a:fld>
            <a:endParaRPr lang="zh-CN"/>
          </a:p>
        </p:txBody>
      </p:sp>
    </p:spTree>
    <p:extLst>
      <p:ext uri="{BB962C8B-B14F-4D97-AF65-F5344CB8AC3E}">
        <p14:creationId xmlns:p14="http://schemas.microsoft.com/office/powerpoint/2010/main" val="1926538796"/>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r>
              <a:rPr lang="en-US" altLang="zh-CN" dirty="0" smtClean="0">
                <a:latin typeface="Arial" panose="020B0604020202020204" pitchFamily="34" charset="0"/>
              </a:rPr>
              <a:t>1945</a:t>
            </a:r>
            <a:r>
              <a:rPr lang="zh-CN" altLang="en-US" dirty="0" smtClean="0">
                <a:latin typeface="Arial" panose="020B0604020202020204" pitchFamily="34" charset="0"/>
              </a:rPr>
              <a:t>－</a:t>
            </a:r>
            <a:r>
              <a:rPr lang="en-US" altLang="zh-CN" dirty="0" smtClean="0">
                <a:latin typeface="Arial" panose="020B0604020202020204" pitchFamily="34" charset="0"/>
              </a:rPr>
              <a:t>1968</a:t>
            </a:r>
            <a:r>
              <a:rPr lang="zh-CN" altLang="en-US" dirty="0" smtClean="0">
                <a:latin typeface="Arial" panose="020B0604020202020204" pitchFamily="34" charset="0"/>
              </a:rPr>
              <a:t>，</a:t>
            </a:r>
            <a:r>
              <a:rPr lang="en-US" altLang="zh-CN" dirty="0" smtClean="0">
                <a:latin typeface="Arial" panose="020B0604020202020204" pitchFamily="34" charset="0"/>
              </a:rPr>
              <a:t>35</a:t>
            </a:r>
            <a:r>
              <a:rPr lang="zh-CN" altLang="en-US" dirty="0" smtClean="0">
                <a:latin typeface="Arial" panose="020B0604020202020204" pitchFamily="34" charset="0"/>
              </a:rPr>
              <a:t>美元</a:t>
            </a:r>
            <a:r>
              <a:rPr lang="en-US" altLang="zh-CN" dirty="0" smtClean="0">
                <a:latin typeface="Arial" panose="020B0604020202020204" pitchFamily="34" charset="0"/>
              </a:rPr>
              <a:t>/</a:t>
            </a:r>
            <a:r>
              <a:rPr lang="zh-CN" altLang="en-US" dirty="0" smtClean="0">
                <a:latin typeface="Arial" panose="020B0604020202020204" pitchFamily="34" charset="0"/>
              </a:rPr>
              <a:t>盎司，</a:t>
            </a:r>
            <a:r>
              <a:rPr lang="en-US" altLang="zh-CN" dirty="0" smtClean="0">
                <a:latin typeface="Arial" panose="020B0604020202020204" pitchFamily="34" charset="0"/>
              </a:rPr>
              <a:t>80</a:t>
            </a:r>
            <a:r>
              <a:rPr lang="zh-CN" altLang="en-US" dirty="0" smtClean="0">
                <a:latin typeface="Arial" panose="020B0604020202020204" pitchFamily="34" charset="0"/>
              </a:rPr>
              <a:t>年代初期一度突破</a:t>
            </a:r>
            <a:r>
              <a:rPr lang="en-US" altLang="zh-CN" dirty="0" smtClean="0">
                <a:latin typeface="Arial" panose="020B0604020202020204" pitchFamily="34" charset="0"/>
              </a:rPr>
              <a:t>800</a:t>
            </a:r>
            <a:r>
              <a:rPr lang="zh-CN" altLang="en-US" dirty="0" smtClean="0">
                <a:latin typeface="Arial" panose="020B0604020202020204" pitchFamily="34" charset="0"/>
              </a:rPr>
              <a:t>美元</a:t>
            </a:r>
            <a:r>
              <a:rPr lang="en-US" altLang="zh-CN" dirty="0" smtClean="0">
                <a:latin typeface="Arial" panose="020B0604020202020204" pitchFamily="34" charset="0"/>
              </a:rPr>
              <a:t>/</a:t>
            </a:r>
            <a:r>
              <a:rPr lang="zh-CN" altLang="en-US" dirty="0" smtClean="0">
                <a:latin typeface="Arial" panose="020B0604020202020204" pitchFamily="34" charset="0"/>
              </a:rPr>
              <a:t>盎司</a:t>
            </a:r>
            <a:r>
              <a:rPr lang="en-US" altLang="zh-CN" dirty="0" smtClean="0">
                <a:latin typeface="Arial" panose="020B0604020202020204" pitchFamily="34" charset="0"/>
              </a:rPr>
              <a:t>,2011</a:t>
            </a:r>
            <a:r>
              <a:rPr lang="zh-CN" altLang="en-US" dirty="0" smtClean="0">
                <a:latin typeface="Arial" panose="020B0604020202020204" pitchFamily="34" charset="0"/>
              </a:rPr>
              <a:t>年更高达</a:t>
            </a:r>
            <a:r>
              <a:rPr lang="en-US" altLang="zh-CN" dirty="0" smtClean="0">
                <a:latin typeface="Arial" panose="020B0604020202020204" pitchFamily="34" charset="0"/>
              </a:rPr>
              <a:t>1900</a:t>
            </a:r>
            <a:r>
              <a:rPr lang="zh-CN" altLang="en-US" dirty="0" smtClean="0">
                <a:latin typeface="Arial" panose="020B0604020202020204" pitchFamily="34" charset="0"/>
              </a:rPr>
              <a:t>美元。</a:t>
            </a: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104</a:t>
            </a:fld>
            <a:endParaRPr lang="zh-CN"/>
          </a:p>
        </p:txBody>
      </p:sp>
    </p:spTree>
    <p:extLst>
      <p:ext uri="{BB962C8B-B14F-4D97-AF65-F5344CB8AC3E}">
        <p14:creationId xmlns:p14="http://schemas.microsoft.com/office/powerpoint/2010/main" val="168773585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105</a:t>
            </a:fld>
            <a:endParaRPr lang="zh-CN"/>
          </a:p>
        </p:txBody>
      </p:sp>
    </p:spTree>
    <p:extLst>
      <p:ext uri="{BB962C8B-B14F-4D97-AF65-F5344CB8AC3E}">
        <p14:creationId xmlns:p14="http://schemas.microsoft.com/office/powerpoint/2010/main" val="636560616"/>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106</a:t>
            </a:fld>
            <a:endParaRPr lang="zh-CN"/>
          </a:p>
        </p:txBody>
      </p:sp>
    </p:spTree>
    <p:extLst>
      <p:ext uri="{BB962C8B-B14F-4D97-AF65-F5344CB8AC3E}">
        <p14:creationId xmlns:p14="http://schemas.microsoft.com/office/powerpoint/2010/main" val="3504905306"/>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107</a:t>
            </a:fld>
            <a:endParaRPr lang="zh-CN"/>
          </a:p>
        </p:txBody>
      </p:sp>
    </p:spTree>
    <p:extLst>
      <p:ext uri="{BB962C8B-B14F-4D97-AF65-F5344CB8AC3E}">
        <p14:creationId xmlns:p14="http://schemas.microsoft.com/office/powerpoint/2010/main" val="2609081015"/>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108</a:t>
            </a:fld>
            <a:endParaRPr lang="zh-CN"/>
          </a:p>
        </p:txBody>
      </p:sp>
    </p:spTree>
    <p:extLst>
      <p:ext uri="{BB962C8B-B14F-4D97-AF65-F5344CB8AC3E}">
        <p14:creationId xmlns:p14="http://schemas.microsoft.com/office/powerpoint/2010/main" val="2694760599"/>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109</a:t>
            </a:fld>
            <a:endParaRPr lang="zh-CN"/>
          </a:p>
        </p:txBody>
      </p:sp>
    </p:spTree>
    <p:extLst>
      <p:ext uri="{BB962C8B-B14F-4D97-AF65-F5344CB8AC3E}">
        <p14:creationId xmlns:p14="http://schemas.microsoft.com/office/powerpoint/2010/main" val="108807872"/>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110</a:t>
            </a:fld>
            <a:endParaRPr lang="zh-CN"/>
          </a:p>
        </p:txBody>
      </p:sp>
    </p:spTree>
    <p:extLst>
      <p:ext uri="{BB962C8B-B14F-4D97-AF65-F5344CB8AC3E}">
        <p14:creationId xmlns:p14="http://schemas.microsoft.com/office/powerpoint/2010/main" val="108807872"/>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111</a:t>
            </a:fld>
            <a:endParaRPr lang="zh-CN"/>
          </a:p>
        </p:txBody>
      </p:sp>
    </p:spTree>
    <p:extLst>
      <p:ext uri="{BB962C8B-B14F-4D97-AF65-F5344CB8AC3E}">
        <p14:creationId xmlns:p14="http://schemas.microsoft.com/office/powerpoint/2010/main" val="3852496900"/>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112</a:t>
            </a:fld>
            <a:endParaRPr lang="zh-CN"/>
          </a:p>
        </p:txBody>
      </p:sp>
    </p:spTree>
    <p:extLst>
      <p:ext uri="{BB962C8B-B14F-4D97-AF65-F5344CB8AC3E}">
        <p14:creationId xmlns:p14="http://schemas.microsoft.com/office/powerpoint/2010/main" val="843215763"/>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113</a:t>
            </a:fld>
            <a:endParaRPr lang="zh-CN"/>
          </a:p>
        </p:txBody>
      </p:sp>
    </p:spTree>
    <p:extLst>
      <p:ext uri="{BB962C8B-B14F-4D97-AF65-F5344CB8AC3E}">
        <p14:creationId xmlns:p14="http://schemas.microsoft.com/office/powerpoint/2010/main" val="2814412484"/>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114</a:t>
            </a:fld>
            <a:endParaRPr lang="zh-CN"/>
          </a:p>
        </p:txBody>
      </p:sp>
    </p:spTree>
    <p:extLst>
      <p:ext uri="{BB962C8B-B14F-4D97-AF65-F5344CB8AC3E}">
        <p14:creationId xmlns:p14="http://schemas.microsoft.com/office/powerpoint/2010/main" val="3921555873"/>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115</a:t>
            </a:fld>
            <a:endParaRPr lang="zh-CN"/>
          </a:p>
        </p:txBody>
      </p:sp>
    </p:spTree>
    <p:extLst>
      <p:ext uri="{BB962C8B-B14F-4D97-AF65-F5344CB8AC3E}">
        <p14:creationId xmlns:p14="http://schemas.microsoft.com/office/powerpoint/2010/main" val="3704559276"/>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116</a:t>
            </a:fld>
            <a:endParaRPr lang="zh-CN"/>
          </a:p>
        </p:txBody>
      </p:sp>
    </p:spTree>
    <p:extLst>
      <p:ext uri="{BB962C8B-B14F-4D97-AF65-F5344CB8AC3E}">
        <p14:creationId xmlns:p14="http://schemas.microsoft.com/office/powerpoint/2010/main" val="878415757"/>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117</a:t>
            </a:fld>
            <a:endParaRPr lang="zh-CN"/>
          </a:p>
        </p:txBody>
      </p:sp>
    </p:spTree>
    <p:extLst>
      <p:ext uri="{BB962C8B-B14F-4D97-AF65-F5344CB8AC3E}">
        <p14:creationId xmlns:p14="http://schemas.microsoft.com/office/powerpoint/2010/main" val="984854024"/>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118</a:t>
            </a:fld>
            <a:endParaRPr lang="zh-CN"/>
          </a:p>
        </p:txBody>
      </p:sp>
    </p:spTree>
    <p:extLst>
      <p:ext uri="{BB962C8B-B14F-4D97-AF65-F5344CB8AC3E}">
        <p14:creationId xmlns:p14="http://schemas.microsoft.com/office/powerpoint/2010/main" val="2148469665"/>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119</a:t>
            </a:fld>
            <a:endParaRPr lang="zh-CN"/>
          </a:p>
        </p:txBody>
      </p:sp>
    </p:spTree>
    <p:extLst>
      <p:ext uri="{BB962C8B-B14F-4D97-AF65-F5344CB8AC3E}">
        <p14:creationId xmlns:p14="http://schemas.microsoft.com/office/powerpoint/2010/main" val="3218964940"/>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120</a:t>
            </a:fld>
            <a:endParaRPr lang="zh-CN"/>
          </a:p>
        </p:txBody>
      </p:sp>
    </p:spTree>
    <p:extLst>
      <p:ext uri="{BB962C8B-B14F-4D97-AF65-F5344CB8AC3E}">
        <p14:creationId xmlns:p14="http://schemas.microsoft.com/office/powerpoint/2010/main" val="68213766"/>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121</a:t>
            </a:fld>
            <a:endParaRPr lang="zh-CN"/>
          </a:p>
        </p:txBody>
      </p:sp>
    </p:spTree>
    <p:extLst>
      <p:ext uri="{BB962C8B-B14F-4D97-AF65-F5344CB8AC3E}">
        <p14:creationId xmlns:p14="http://schemas.microsoft.com/office/powerpoint/2010/main" val="3013406876"/>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122</a:t>
            </a:fld>
            <a:endParaRPr lang="zh-CN"/>
          </a:p>
        </p:txBody>
      </p:sp>
    </p:spTree>
    <p:extLst>
      <p:ext uri="{BB962C8B-B14F-4D97-AF65-F5344CB8AC3E}">
        <p14:creationId xmlns:p14="http://schemas.microsoft.com/office/powerpoint/2010/main" val="2827179292"/>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123</a:t>
            </a:fld>
            <a:endParaRPr lang="zh-CN"/>
          </a:p>
        </p:txBody>
      </p:sp>
    </p:spTree>
    <p:extLst>
      <p:ext uri="{BB962C8B-B14F-4D97-AF65-F5344CB8AC3E}">
        <p14:creationId xmlns:p14="http://schemas.microsoft.com/office/powerpoint/2010/main" val="2864711456"/>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124</a:t>
            </a:fld>
            <a:endParaRPr lang="zh-CN"/>
          </a:p>
        </p:txBody>
      </p:sp>
    </p:spTree>
    <p:extLst>
      <p:ext uri="{BB962C8B-B14F-4D97-AF65-F5344CB8AC3E}">
        <p14:creationId xmlns:p14="http://schemas.microsoft.com/office/powerpoint/2010/main" val="1444680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125</a:t>
            </a:fld>
            <a:endParaRPr lang="zh-CN"/>
          </a:p>
        </p:txBody>
      </p:sp>
    </p:spTree>
    <p:extLst>
      <p:ext uri="{BB962C8B-B14F-4D97-AF65-F5344CB8AC3E}">
        <p14:creationId xmlns:p14="http://schemas.microsoft.com/office/powerpoint/2010/main" val="31193812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70384" y="1909346"/>
            <a:ext cx="7203233" cy="3383280"/>
          </a:xfrm>
        </p:spPr>
        <p:txBody>
          <a:bodyPr anchor="b">
            <a:normAutofit/>
          </a:bodyPr>
          <a:lstStyle>
            <a:lvl1pPr algn="l" latinLnBrk="0">
              <a:lnSpc>
                <a:spcPct val="76000"/>
              </a:lnSpc>
              <a:defRPr lang="zh-CN" sz="8000" cap="none" baseline="0">
                <a:solidFill>
                  <a:schemeClr val="tx1"/>
                </a:solidFill>
              </a:defRPr>
            </a:lvl1pPr>
          </a:lstStyle>
          <a:p>
            <a:r>
              <a:rPr lang="zh-CN" altLang="en-US" smtClean="0"/>
              <a:t>单击此处编辑母版标题样式</a:t>
            </a:r>
            <a:endParaRPr lang="zh-CN" dirty="0"/>
          </a:p>
        </p:txBody>
      </p:sp>
      <p:sp>
        <p:nvSpPr>
          <p:cNvPr id="3" name="副标题 2"/>
          <p:cNvSpPr>
            <a:spLocks noGrp="1"/>
          </p:cNvSpPr>
          <p:nvPr>
            <p:ph type="subTitle" idx="1"/>
          </p:nvPr>
        </p:nvSpPr>
        <p:spPr>
          <a:xfrm>
            <a:off x="970384" y="5432564"/>
            <a:ext cx="7203233" cy="457200"/>
          </a:xfrm>
        </p:spPr>
        <p:txBody>
          <a:bodyPr>
            <a:normAutofit/>
          </a:bodyPr>
          <a:lstStyle>
            <a:lvl1pPr marL="0" indent="0" algn="l" latinLnBrk="0">
              <a:spcBef>
                <a:spcPts val="0"/>
              </a:spcBef>
              <a:buNone/>
              <a:defRPr lang="zh-CN" sz="2000" b="0">
                <a:solidFill>
                  <a:schemeClr val="accent1"/>
                </a:solidFill>
              </a:defRPr>
            </a:lvl1pPr>
            <a:lvl2pPr marL="457200" indent="0" algn="ctr" latinLnBrk="0">
              <a:buNone/>
              <a:defRPr lang="zh-CN" sz="2000"/>
            </a:lvl2pPr>
            <a:lvl3pPr marL="914400" indent="0" algn="ctr" latinLnBrk="0">
              <a:buNone/>
              <a:defRPr lang="zh-CN" sz="1800"/>
            </a:lvl3pPr>
            <a:lvl4pPr marL="1371600" indent="0" algn="ctr" latinLnBrk="0">
              <a:buNone/>
              <a:defRPr lang="zh-CN" sz="1600"/>
            </a:lvl4pPr>
            <a:lvl5pPr marL="1828800" indent="0" algn="ctr" latinLnBrk="0">
              <a:buNone/>
              <a:defRPr lang="zh-CN" sz="1600"/>
            </a:lvl5pPr>
            <a:lvl6pPr marL="2286000" indent="0" algn="ctr" latinLnBrk="0">
              <a:buNone/>
              <a:defRPr lang="zh-CN" sz="1600"/>
            </a:lvl6pPr>
            <a:lvl7pPr marL="2743200" indent="0" algn="ctr" latinLnBrk="0">
              <a:buNone/>
              <a:defRPr lang="zh-CN" sz="1600"/>
            </a:lvl7pPr>
            <a:lvl8pPr marL="3200400" indent="0" algn="ctr" latinLnBrk="0">
              <a:buNone/>
              <a:defRPr lang="zh-CN" sz="1600"/>
            </a:lvl8pPr>
            <a:lvl9pPr marL="3657600" indent="0" algn="ctr" latinLnBrk="0">
              <a:buNone/>
              <a:defRPr lang="zh-CN" sz="1600"/>
            </a:lvl9pPr>
          </a:lstStyle>
          <a:p>
            <a:r>
              <a:rPr lang="zh-CN" altLang="en-US" smtClean="0"/>
              <a:t>单击此处编辑母版副标题样式</a:t>
            </a:r>
            <a:endParaRPr lang="zh-CN"/>
          </a:p>
        </p:txBody>
      </p:sp>
      <p:cxnSp>
        <p:nvCxnSpPr>
          <p:cNvPr id="58" name="直线连接线 57"/>
          <p:cNvCxnSpPr/>
          <p:nvPr userDrawn="1"/>
        </p:nvCxnSpPr>
        <p:spPr>
          <a:xfrm>
            <a:off x="971550" y="5294175"/>
            <a:ext cx="720090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8" name="直接连接符 7"/>
          <p:cNvCxnSpPr>
            <a:endCxn id="3" idx="3"/>
          </p:cNvCxnSpPr>
          <p:nvPr userDrawn="1"/>
        </p:nvCxnSpPr>
        <p:spPr>
          <a:xfrm>
            <a:off x="8172450" y="1143000"/>
            <a:ext cx="1167" cy="4518164"/>
          </a:xfrm>
          <a:prstGeom prst="line">
            <a:avLst/>
          </a:prstGeom>
          <a:ln w="190500" cmpd="sng"/>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71550" y="18386"/>
            <a:ext cx="7200900" cy="1142385"/>
          </a:xfrm>
        </p:spPr>
        <p:txBody>
          <a:bodyPr/>
          <a:lstStyle/>
          <a:p>
            <a:r>
              <a:rPr lang="zh-CN" altLang="en-US" dirty="0" smtClean="0"/>
              <a:t>单击此处编辑母版标题样式</a:t>
            </a:r>
            <a:endParaRPr lang="zh-CN" dirty="0"/>
          </a:p>
        </p:txBody>
      </p:sp>
      <p:sp>
        <p:nvSpPr>
          <p:cNvPr id="3" name="内容占位符 2"/>
          <p:cNvSpPr>
            <a:spLocks noGrp="1"/>
          </p:cNvSpPr>
          <p:nvPr>
            <p:ph idx="1"/>
          </p:nvPr>
        </p:nvSpPr>
        <p:spPr>
          <a:xfrm>
            <a:off x="971550" y="1447800"/>
            <a:ext cx="7200900" cy="45593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dirty="0"/>
          </a:p>
        </p:txBody>
      </p:sp>
      <p:sp>
        <p:nvSpPr>
          <p:cNvPr id="4" name="日期占位符 3"/>
          <p:cNvSpPr>
            <a:spLocks noGrp="1"/>
          </p:cNvSpPr>
          <p:nvPr>
            <p:ph type="dt" sz="half" idx="10"/>
          </p:nvPr>
        </p:nvSpPr>
        <p:spPr/>
        <p:txBody>
          <a:bodyPr/>
          <a:lstStyle/>
          <a:p>
            <a:fld id="{955AE237-00C5-49C3-9620-3A7E1C66D777}" type="datetime1">
              <a:rPr lang="zh-CN" altLang="en-US" smtClean="0"/>
              <a:pPr/>
              <a:t>2019-12-24</a:t>
            </a:fld>
            <a:endParaRPr lang="zh-CN"/>
          </a:p>
        </p:txBody>
      </p:sp>
      <p:sp>
        <p:nvSpPr>
          <p:cNvPr id="5" name="页脚占位符 4"/>
          <p:cNvSpPr>
            <a:spLocks noGrp="1"/>
          </p:cNvSpPr>
          <p:nvPr>
            <p:ph type="ftr" sz="quarter" idx="11"/>
          </p:nvPr>
        </p:nvSpPr>
        <p:spPr/>
        <p:txBody>
          <a:bodyPr/>
          <a:lstStyle>
            <a:lvl1pPr>
              <a:defRPr sz="1600">
                <a:solidFill>
                  <a:schemeClr val="accent1"/>
                </a:solidFill>
                <a:latin typeface="微软雅黑" panose="020B0503020204020204" pitchFamily="34" charset="-122"/>
                <a:ea typeface="微软雅黑" panose="020B0503020204020204" pitchFamily="34" charset="-122"/>
              </a:defRPr>
            </a:lvl1pPr>
          </a:lstStyle>
          <a:p>
            <a:r>
              <a:rPr lang="zh-CN" altLang="en-US" dirty="0" smtClean="0"/>
              <a:t>国际金融学 范小云</a:t>
            </a:r>
            <a:endParaRPr lang="zh-CN" altLang="en-US" dirty="0"/>
          </a:p>
        </p:txBody>
      </p:sp>
      <p:sp>
        <p:nvSpPr>
          <p:cNvPr id="6" name="幻灯片编号占位符 5"/>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gradFill flip="none" rotWithShape="1">
          <a:gsLst>
            <a:gs pos="0">
              <a:schemeClr val="accent1"/>
            </a:gs>
            <a:gs pos="97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7" name="组 6"/>
          <p:cNvGrpSpPr/>
          <p:nvPr userDrawn="1"/>
        </p:nvGrpSpPr>
        <p:grpSpPr bwMode="hidden">
          <a:xfrm>
            <a:off x="-1" y="0"/>
            <a:ext cx="9144002" cy="6858000"/>
            <a:chOff x="-1" y="0"/>
            <a:chExt cx="12192002" cy="6858000"/>
          </a:xfrm>
        </p:grpSpPr>
        <p:cxnSp>
          <p:nvCxnSpPr>
            <p:cNvPr id="8" name="直线连接线 7"/>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直线连接线 8"/>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直线连接线 9"/>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直线连接线 10"/>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线连接线 11"/>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线连接线 12"/>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直线连接线 13"/>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线连接线 14"/>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线连接线 15"/>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线连接线 16"/>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线连接线 17"/>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线 18"/>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线连接线 19"/>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线连接线 20"/>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直线连接线 21"/>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线连接线 22"/>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4" name="组 23"/>
            <p:cNvGrpSpPr/>
            <p:nvPr userDrawn="1"/>
          </p:nvGrpSpPr>
          <p:grpSpPr bwMode="hidden">
            <a:xfrm>
              <a:off x="-1" y="0"/>
              <a:ext cx="12192001" cy="6858000"/>
              <a:chOff x="-1" y="0"/>
              <a:chExt cx="12192001" cy="6858000"/>
            </a:xfrm>
          </p:grpSpPr>
          <p:cxnSp>
            <p:nvCxnSpPr>
              <p:cNvPr id="42" name="直线连接线 41"/>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直线连接线 42"/>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直线连接线 43"/>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直线连接线 44"/>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直线连接线 45"/>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7" name="组 46"/>
              <p:cNvGrpSpPr/>
              <p:nvPr/>
            </p:nvGrpSpPr>
            <p:grpSpPr bwMode="hidden">
              <a:xfrm>
                <a:off x="6327885" y="0"/>
                <a:ext cx="5864115" cy="5898673"/>
                <a:chOff x="6327885" y="0"/>
                <a:chExt cx="5864115" cy="5898673"/>
              </a:xfrm>
            </p:grpSpPr>
            <p:cxnSp>
              <p:nvCxnSpPr>
                <p:cNvPr id="53" name="直线连接线 52"/>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直线连接线 53"/>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直线连接线 54"/>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直线连接线 55"/>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直线连接线 56"/>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8" name="直线连接线 47"/>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9" name="直线连接线 48"/>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直线连接线 49"/>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直线连接线 50"/>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直线连接线 51"/>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5" name="组 24"/>
            <p:cNvGrpSpPr/>
            <p:nvPr userDrawn="1"/>
          </p:nvGrpSpPr>
          <p:grpSpPr bwMode="hidden">
            <a:xfrm flipH="1">
              <a:off x="0" y="0"/>
              <a:ext cx="12192001" cy="6858000"/>
              <a:chOff x="-1" y="0"/>
              <a:chExt cx="12192001" cy="6858000"/>
            </a:xfrm>
          </p:grpSpPr>
          <p:cxnSp>
            <p:nvCxnSpPr>
              <p:cNvPr id="26" name="直线连接线 25"/>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7" name="直线连接线 26"/>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直线连接线 27"/>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直线连接线 28"/>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直线连接线 29"/>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1" name="组 30"/>
              <p:cNvGrpSpPr/>
              <p:nvPr/>
            </p:nvGrpSpPr>
            <p:grpSpPr bwMode="hidden">
              <a:xfrm>
                <a:off x="6327885" y="0"/>
                <a:ext cx="5864115" cy="5898673"/>
                <a:chOff x="6327885" y="0"/>
                <a:chExt cx="5864115" cy="5898673"/>
              </a:xfrm>
            </p:grpSpPr>
            <p:cxnSp>
              <p:nvCxnSpPr>
                <p:cNvPr id="37" name="直线连接线 36"/>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直线连接线 37"/>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直线连接线 38"/>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直线连接线 39"/>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线 40"/>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2" name="直线连接线 31"/>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3" name="直线连接线 32"/>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直线连接线 33"/>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直线连接线 34"/>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直线连接线 35"/>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title"/>
          </p:nvPr>
        </p:nvSpPr>
        <p:spPr>
          <a:xfrm>
            <a:off x="971550" y="2541573"/>
            <a:ext cx="7200900" cy="2743200"/>
          </a:xfrm>
        </p:spPr>
        <p:txBody>
          <a:bodyPr anchor="b">
            <a:normAutofit/>
          </a:bodyPr>
          <a:lstStyle>
            <a:lvl1pPr latinLnBrk="0">
              <a:lnSpc>
                <a:spcPct val="85000"/>
              </a:lnSpc>
              <a:defRPr lang="zh-CN" sz="6000" cap="none" baseline="0">
                <a:solidFill>
                  <a:schemeClr val="tx1"/>
                </a:solidFill>
              </a:defRPr>
            </a:lvl1pPr>
          </a:lstStyle>
          <a:p>
            <a:r>
              <a:rPr lang="zh-CN" altLang="en-US" smtClean="0"/>
              <a:t>单击此处编辑母版标题样式</a:t>
            </a:r>
            <a:endParaRPr lang="zh-CN" dirty="0"/>
          </a:p>
        </p:txBody>
      </p:sp>
      <p:sp>
        <p:nvSpPr>
          <p:cNvPr id="3" name="文本占位符 2"/>
          <p:cNvSpPr>
            <a:spLocks noGrp="1"/>
          </p:cNvSpPr>
          <p:nvPr>
            <p:ph type="body" idx="1"/>
          </p:nvPr>
        </p:nvSpPr>
        <p:spPr>
          <a:xfrm>
            <a:off x="971550" y="5431536"/>
            <a:ext cx="7200900" cy="457200"/>
          </a:xfrm>
        </p:spPr>
        <p:txBody>
          <a:bodyPr>
            <a:normAutofit/>
          </a:bodyPr>
          <a:lstStyle>
            <a:lvl1pPr marL="0" indent="0" latinLnBrk="0">
              <a:spcBef>
                <a:spcPts val="0"/>
              </a:spcBef>
              <a:buNone/>
              <a:defRPr lang="zh-CN" sz="2000" b="0">
                <a:solidFill>
                  <a:schemeClr val="tx1"/>
                </a:solidFill>
              </a:defRPr>
            </a:lvl1pPr>
            <a:lvl2pPr marL="457200" indent="0" latinLnBrk="0">
              <a:buNone/>
              <a:defRPr lang="zh-CN" sz="2000"/>
            </a:lvl2pPr>
            <a:lvl3pPr marL="914400" indent="0" latinLnBrk="0">
              <a:buNone/>
              <a:defRPr lang="zh-CN" sz="1800"/>
            </a:lvl3pPr>
            <a:lvl4pPr marL="1371600" indent="0" latinLnBrk="0">
              <a:buNone/>
              <a:defRPr lang="zh-CN" sz="1600"/>
            </a:lvl4pPr>
            <a:lvl5pPr marL="1828800" indent="0" latinLnBrk="0">
              <a:buNone/>
              <a:defRPr lang="zh-CN" sz="1600"/>
            </a:lvl5pPr>
            <a:lvl6pPr marL="2286000" indent="0" latinLnBrk="0">
              <a:buNone/>
              <a:defRPr lang="zh-CN" sz="1600"/>
            </a:lvl6pPr>
            <a:lvl7pPr marL="2743200" indent="0" latinLnBrk="0">
              <a:buNone/>
              <a:defRPr lang="zh-CN" sz="1600"/>
            </a:lvl7pPr>
            <a:lvl8pPr marL="3200400" indent="0" latinLnBrk="0">
              <a:buNone/>
              <a:defRPr lang="zh-CN" sz="1600"/>
            </a:lvl8pPr>
            <a:lvl9pPr marL="3657600" indent="0" latinLnBrk="0">
              <a:buNone/>
              <a:defRPr lang="zh-CN" sz="1600"/>
            </a:lvl9pPr>
          </a:lstStyle>
          <a:p>
            <a:pPr lvl="0"/>
            <a:r>
              <a:rPr lang="zh-CN" altLang="en-US" smtClean="0"/>
              <a:t>单击此处编辑母版文本样式</a:t>
            </a:r>
          </a:p>
        </p:txBody>
      </p:sp>
      <p:cxnSp>
        <p:nvCxnSpPr>
          <p:cNvPr id="58" name="直线连接线 57"/>
          <p:cNvCxnSpPr/>
          <p:nvPr userDrawn="1"/>
        </p:nvCxnSpPr>
        <p:spPr>
          <a:xfrm>
            <a:off x="971550" y="5294175"/>
            <a:ext cx="72009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67780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p>
        </p:txBody>
      </p:sp>
      <p:sp>
        <p:nvSpPr>
          <p:cNvPr id="3" name="内容占位符 2"/>
          <p:cNvSpPr>
            <a:spLocks noGrp="1"/>
          </p:cNvSpPr>
          <p:nvPr>
            <p:ph sz="half" idx="1"/>
          </p:nvPr>
        </p:nvSpPr>
        <p:spPr>
          <a:xfrm>
            <a:off x="971550" y="1981200"/>
            <a:ext cx="3429000" cy="3810001"/>
          </a:xfrm>
        </p:spPr>
        <p:txBody>
          <a:bodyP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1800"/>
            </a:lvl6pPr>
            <a:lvl7pPr latinLnBrk="0">
              <a:defRPr lang="zh-CN" sz="1800"/>
            </a:lvl7pPr>
            <a:lvl8pPr latinLnBrk="0">
              <a:defRPr lang="zh-CN" sz="1800"/>
            </a:lvl8pPr>
            <a:lvl9pPr latinLnBrk="0">
              <a:defRPr lang="zh-CN"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dirty="0"/>
          </a:p>
        </p:txBody>
      </p:sp>
      <p:sp>
        <p:nvSpPr>
          <p:cNvPr id="4" name="内容占位符 3"/>
          <p:cNvSpPr>
            <a:spLocks noGrp="1"/>
          </p:cNvSpPr>
          <p:nvPr>
            <p:ph sz="half" idx="2"/>
          </p:nvPr>
        </p:nvSpPr>
        <p:spPr>
          <a:xfrm>
            <a:off x="4743450" y="1981200"/>
            <a:ext cx="3429000" cy="3810001"/>
          </a:xfrm>
        </p:spPr>
        <p:txBody>
          <a:bodyP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1800"/>
            </a:lvl6pPr>
            <a:lvl7pPr latinLnBrk="0">
              <a:defRPr lang="zh-CN" sz="1800"/>
            </a:lvl7pPr>
            <a:lvl8pPr latinLnBrk="0">
              <a:defRPr lang="zh-CN" sz="1800"/>
            </a:lvl8pPr>
            <a:lvl9pPr latinLnBrk="0">
              <a:defRPr lang="zh-CN"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p>
        </p:txBody>
      </p:sp>
      <p:sp>
        <p:nvSpPr>
          <p:cNvPr id="5" name="日期占位符 4"/>
          <p:cNvSpPr>
            <a:spLocks noGrp="1"/>
          </p:cNvSpPr>
          <p:nvPr>
            <p:ph type="dt" sz="half" idx="10"/>
          </p:nvPr>
        </p:nvSpPr>
        <p:spPr/>
        <p:txBody>
          <a:bodyPr/>
          <a:lstStyle/>
          <a:p>
            <a:fld id="{4563F93A-6675-49B1-B272-AB78494A47C1}" type="datetime1">
              <a:rPr lang="zh-CN" altLang="en-US" smtClean="0"/>
              <a:pPr/>
              <a:t>2019-12-24</a:t>
            </a:fld>
            <a:endParaRPr lang="zh-CN"/>
          </a:p>
        </p:txBody>
      </p:sp>
      <p:sp>
        <p:nvSpPr>
          <p:cNvPr id="6" name="页脚占位符 5"/>
          <p:cNvSpPr>
            <a:spLocks noGrp="1"/>
          </p:cNvSpPr>
          <p:nvPr>
            <p:ph type="ftr" sz="quarter" idx="11"/>
          </p:nvPr>
        </p:nvSpPr>
        <p:spPr/>
        <p:txBody>
          <a:bodyPr/>
          <a:lstStyle/>
          <a:p>
            <a:r>
              <a:rPr lang="zh-CN" altLang="en-US" smtClean="0"/>
              <a:t>国际金融学 范小云</a:t>
            </a:r>
            <a:endParaRPr lang="zh-CN"/>
          </a:p>
        </p:txBody>
      </p:sp>
      <p:sp>
        <p:nvSpPr>
          <p:cNvPr id="7" name="幻灯片编号占位符 6"/>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p>
        </p:txBody>
      </p:sp>
      <p:sp>
        <p:nvSpPr>
          <p:cNvPr id="3" name="文本占位符 2"/>
          <p:cNvSpPr>
            <a:spLocks noGrp="1"/>
          </p:cNvSpPr>
          <p:nvPr>
            <p:ph type="body" idx="1"/>
          </p:nvPr>
        </p:nvSpPr>
        <p:spPr>
          <a:xfrm>
            <a:off x="971550" y="1818322"/>
            <a:ext cx="3429000" cy="641350"/>
          </a:xfrm>
        </p:spPr>
        <p:txBody>
          <a:bodyPr anchor="ctr">
            <a:normAutofit/>
          </a:bodyPr>
          <a:lstStyle>
            <a:lvl1pPr marL="0" indent="0" latinLnBrk="0">
              <a:spcBef>
                <a:spcPts val="0"/>
              </a:spcBef>
              <a:buNone/>
              <a:defRPr lang="zh-CN" sz="2000" b="0">
                <a:solidFill>
                  <a:schemeClr val="accent1"/>
                </a:solidFill>
              </a:defRPr>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smtClean="0"/>
              <a:t>单击此处编辑母版文本样式</a:t>
            </a:r>
          </a:p>
        </p:txBody>
      </p:sp>
      <p:sp>
        <p:nvSpPr>
          <p:cNvPr id="4" name="内容占位符 3"/>
          <p:cNvSpPr>
            <a:spLocks noGrp="1"/>
          </p:cNvSpPr>
          <p:nvPr>
            <p:ph sz="half" idx="2"/>
          </p:nvPr>
        </p:nvSpPr>
        <p:spPr>
          <a:xfrm>
            <a:off x="971550" y="2503714"/>
            <a:ext cx="3429000" cy="3287487"/>
          </a:xfrm>
        </p:spPr>
        <p:txBody>
          <a:bodyP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1600"/>
            </a:lvl6pPr>
            <a:lvl7pPr latinLnBrk="0">
              <a:defRPr lang="zh-CN" sz="1600"/>
            </a:lvl7pPr>
            <a:lvl8pPr latinLnBrk="0">
              <a:defRPr lang="zh-CN" sz="1600"/>
            </a:lvl8pPr>
            <a:lvl9pPr latinLnBrk="0">
              <a:defRPr lang="zh-CN"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dirty="0"/>
          </a:p>
        </p:txBody>
      </p:sp>
      <p:sp>
        <p:nvSpPr>
          <p:cNvPr id="5" name="文本占位符 4"/>
          <p:cNvSpPr>
            <a:spLocks noGrp="1"/>
          </p:cNvSpPr>
          <p:nvPr>
            <p:ph type="body" sz="quarter" idx="3"/>
          </p:nvPr>
        </p:nvSpPr>
        <p:spPr>
          <a:xfrm>
            <a:off x="4743450" y="1818322"/>
            <a:ext cx="3429000" cy="641350"/>
          </a:xfrm>
        </p:spPr>
        <p:txBody>
          <a:bodyPr anchor="ctr">
            <a:normAutofit/>
          </a:bodyPr>
          <a:lstStyle>
            <a:lvl1pPr marL="0" indent="0" latinLnBrk="0">
              <a:spcBef>
                <a:spcPts val="0"/>
              </a:spcBef>
              <a:buNone/>
              <a:defRPr lang="zh-CN" sz="2000" b="0">
                <a:solidFill>
                  <a:schemeClr val="accent1"/>
                </a:solidFill>
              </a:defRPr>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smtClean="0"/>
              <a:t>单击此处编辑母版文本样式</a:t>
            </a:r>
          </a:p>
        </p:txBody>
      </p:sp>
      <p:sp>
        <p:nvSpPr>
          <p:cNvPr id="6" name="内容占位符 5"/>
          <p:cNvSpPr>
            <a:spLocks noGrp="1"/>
          </p:cNvSpPr>
          <p:nvPr>
            <p:ph sz="quarter" idx="4"/>
          </p:nvPr>
        </p:nvSpPr>
        <p:spPr>
          <a:xfrm>
            <a:off x="4743450" y="2503714"/>
            <a:ext cx="3429000" cy="3287487"/>
          </a:xfrm>
        </p:spPr>
        <p:txBody>
          <a:bodyP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1600"/>
            </a:lvl6pPr>
            <a:lvl7pPr latinLnBrk="0">
              <a:defRPr lang="zh-CN" sz="1600"/>
            </a:lvl7pPr>
            <a:lvl8pPr latinLnBrk="0">
              <a:defRPr lang="zh-CN" sz="1600"/>
            </a:lvl8pPr>
            <a:lvl9pPr latinLnBrk="0">
              <a:defRPr lang="zh-CN"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p>
        </p:txBody>
      </p:sp>
      <p:sp>
        <p:nvSpPr>
          <p:cNvPr id="7" name="日期占位符 6"/>
          <p:cNvSpPr>
            <a:spLocks noGrp="1"/>
          </p:cNvSpPr>
          <p:nvPr>
            <p:ph type="dt" sz="half" idx="10"/>
          </p:nvPr>
        </p:nvSpPr>
        <p:spPr/>
        <p:txBody>
          <a:bodyPr/>
          <a:lstStyle/>
          <a:p>
            <a:fld id="{EFE3F164-49FE-47CA-AD0E-694FC8244535}" type="datetime1">
              <a:rPr lang="zh-CN" altLang="en-US" smtClean="0"/>
              <a:pPr/>
              <a:t>2019-12-24</a:t>
            </a:fld>
            <a:endParaRPr lang="zh-CN"/>
          </a:p>
        </p:txBody>
      </p:sp>
      <p:sp>
        <p:nvSpPr>
          <p:cNvPr id="8" name="页脚占位符 7"/>
          <p:cNvSpPr>
            <a:spLocks noGrp="1"/>
          </p:cNvSpPr>
          <p:nvPr>
            <p:ph type="ftr" sz="quarter" idx="11"/>
          </p:nvPr>
        </p:nvSpPr>
        <p:spPr/>
        <p:txBody>
          <a:bodyPr/>
          <a:lstStyle/>
          <a:p>
            <a:r>
              <a:rPr lang="zh-CN" altLang="en-US" smtClean="0"/>
              <a:t>国际金融学 范小云</a:t>
            </a:r>
            <a:endParaRPr lang="zh-CN"/>
          </a:p>
        </p:txBody>
      </p:sp>
      <p:sp>
        <p:nvSpPr>
          <p:cNvPr id="9" name="幻灯片编号占位符 8"/>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dirty="0"/>
          </a:p>
        </p:txBody>
      </p:sp>
      <p:sp>
        <p:nvSpPr>
          <p:cNvPr id="3" name="日期占位符 2"/>
          <p:cNvSpPr>
            <a:spLocks noGrp="1"/>
          </p:cNvSpPr>
          <p:nvPr>
            <p:ph type="dt" sz="half" idx="10"/>
          </p:nvPr>
        </p:nvSpPr>
        <p:spPr/>
        <p:txBody>
          <a:bodyPr/>
          <a:lstStyle/>
          <a:p>
            <a:fld id="{CBD9AAED-D86B-4435-A478-E7982A9F3D12}" type="datetime1">
              <a:rPr lang="zh-CN" altLang="en-US" smtClean="0"/>
              <a:pPr/>
              <a:t>2019-12-24</a:t>
            </a:fld>
            <a:endParaRPr lang="zh-CN"/>
          </a:p>
        </p:txBody>
      </p:sp>
      <p:sp>
        <p:nvSpPr>
          <p:cNvPr id="4" name="页脚占位符 3"/>
          <p:cNvSpPr>
            <a:spLocks noGrp="1"/>
          </p:cNvSpPr>
          <p:nvPr>
            <p:ph type="ftr" sz="quarter" idx="11"/>
          </p:nvPr>
        </p:nvSpPr>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r>
              <a:rPr lang="zh-CN" altLang="en-US" sz="1600" dirty="0" smtClean="0">
                <a:solidFill>
                  <a:srgbClr val="1CADE4"/>
                </a:solidFill>
                <a:latin typeface="微软雅黑" panose="020B0503020204020204" pitchFamily="34" charset="-122"/>
                <a:ea typeface="微软雅黑" panose="020B0503020204020204" pitchFamily="34" charset="-122"/>
              </a:rPr>
              <a:t>国际金融学 范小云</a:t>
            </a:r>
            <a:endParaRPr lang="zh-CN" altLang="en-US" sz="1600" dirty="0">
              <a:solidFill>
                <a:srgbClr val="1CADE4"/>
              </a:solidFill>
              <a:latin typeface="微软雅黑" panose="020B0503020204020204" pitchFamily="34" charset="-122"/>
              <a:ea typeface="微软雅黑" panose="020B0503020204020204" pitchFamily="34" charset="-122"/>
            </a:endParaRPr>
          </a:p>
        </p:txBody>
      </p:sp>
      <p:sp>
        <p:nvSpPr>
          <p:cNvPr id="5" name="幻灯片编号占位符 4"/>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12" name="日期占位符 211"/>
          <p:cNvSpPr>
            <a:spLocks noGrp="1"/>
          </p:cNvSpPr>
          <p:nvPr>
            <p:ph type="dt" sz="half" idx="10"/>
          </p:nvPr>
        </p:nvSpPr>
        <p:spPr/>
        <p:txBody>
          <a:bodyPr/>
          <a:lstStyle/>
          <a:p>
            <a:fld id="{8FD5366B-5DD5-4ECC-82BD-E5089146864D}" type="datetime1">
              <a:rPr lang="zh-CN" altLang="en-US" smtClean="0"/>
              <a:pPr/>
              <a:t>2019-12-24</a:t>
            </a:fld>
            <a:endParaRPr lang="zh-CN"/>
          </a:p>
        </p:txBody>
      </p:sp>
      <p:sp>
        <p:nvSpPr>
          <p:cNvPr id="213" name="页脚占位符 212"/>
          <p:cNvSpPr>
            <a:spLocks noGrp="1"/>
          </p:cNvSpPr>
          <p:nvPr>
            <p:ph type="ftr" sz="quarter" idx="11"/>
          </p:nvPr>
        </p:nvSpPr>
        <p:spPr/>
        <p:txBody>
          <a:bodyPr/>
          <a:lstStyle/>
          <a:p>
            <a:r>
              <a:rPr lang="zh-CN" altLang="en-US" smtClean="0"/>
              <a:t>国际金融学 范小云</a:t>
            </a:r>
            <a:endParaRPr lang="zh-CN"/>
          </a:p>
        </p:txBody>
      </p:sp>
      <p:sp>
        <p:nvSpPr>
          <p:cNvPr id="214" name="幻灯片编号占位符 213"/>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题注">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组 8"/>
          <p:cNvGrpSpPr/>
          <p:nvPr userDrawn="1"/>
        </p:nvGrpSpPr>
        <p:grpSpPr bwMode="hidden">
          <a:xfrm>
            <a:off x="-1" y="0"/>
            <a:ext cx="9144002" cy="6858000"/>
            <a:chOff x="-1" y="0"/>
            <a:chExt cx="12192002" cy="6858000"/>
          </a:xfrm>
        </p:grpSpPr>
        <p:cxnSp>
          <p:nvCxnSpPr>
            <p:cNvPr id="10" name="直线连接线 9"/>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直线连接线 10"/>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线连接线 11"/>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线连接线 12"/>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直线连接线 13"/>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线连接线 14"/>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线连接线 15"/>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线连接线 16"/>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线连接线 17"/>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线 18"/>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线连接线 19"/>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线连接线 20"/>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直线连接线 21"/>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线连接线 22"/>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线连接线 23"/>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线连接线 24"/>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6" name="组 25"/>
            <p:cNvGrpSpPr/>
            <p:nvPr userDrawn="1"/>
          </p:nvGrpSpPr>
          <p:grpSpPr bwMode="hidden">
            <a:xfrm>
              <a:off x="-1" y="0"/>
              <a:ext cx="12192001" cy="6858000"/>
              <a:chOff x="-1" y="0"/>
              <a:chExt cx="12192001" cy="6858000"/>
            </a:xfrm>
          </p:grpSpPr>
          <p:cxnSp>
            <p:nvCxnSpPr>
              <p:cNvPr id="44" name="直线连接线 43"/>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直线连接线 44"/>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直线连接线 45"/>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直线连接线 46"/>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8" name="直线连接线 47"/>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9" name="组 48"/>
              <p:cNvGrpSpPr/>
              <p:nvPr/>
            </p:nvGrpSpPr>
            <p:grpSpPr bwMode="hidden">
              <a:xfrm>
                <a:off x="6327885" y="0"/>
                <a:ext cx="5864115" cy="5898673"/>
                <a:chOff x="6327885" y="0"/>
                <a:chExt cx="5864115" cy="5898673"/>
              </a:xfrm>
            </p:grpSpPr>
            <p:cxnSp>
              <p:nvCxnSpPr>
                <p:cNvPr id="55" name="直线连接线 54"/>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直线连接线 55"/>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直线连接线 56"/>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直线连接线 57"/>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9" name="直线连接线 58"/>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50" name="直线连接线 49"/>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直线连接线 50"/>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直线连接线 51"/>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直线连接线 52"/>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直线连接线 53"/>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7" name="组 26"/>
            <p:cNvGrpSpPr/>
            <p:nvPr userDrawn="1"/>
          </p:nvGrpSpPr>
          <p:grpSpPr bwMode="hidden">
            <a:xfrm flipH="1">
              <a:off x="0" y="0"/>
              <a:ext cx="12192001" cy="6858000"/>
              <a:chOff x="-1" y="0"/>
              <a:chExt cx="12192001" cy="6858000"/>
            </a:xfrm>
          </p:grpSpPr>
          <p:cxnSp>
            <p:nvCxnSpPr>
              <p:cNvPr id="28" name="直线连接线 27"/>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直线连接线 28"/>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直线连接线 29"/>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直线连接线 30"/>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直线连接线 31"/>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3" name="组 32"/>
              <p:cNvGrpSpPr/>
              <p:nvPr/>
            </p:nvGrpSpPr>
            <p:grpSpPr bwMode="hidden">
              <a:xfrm>
                <a:off x="6327885" y="0"/>
                <a:ext cx="5864115" cy="5898673"/>
                <a:chOff x="6327885" y="0"/>
                <a:chExt cx="5864115" cy="5898673"/>
              </a:xfrm>
            </p:grpSpPr>
            <p:cxnSp>
              <p:nvCxnSpPr>
                <p:cNvPr id="39" name="直线连接线 38"/>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直线连接线 39"/>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线 40"/>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直线连接线 41"/>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直线连接线 42"/>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4" name="直线连接线 33"/>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直线连接线 34"/>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直线连接线 35"/>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直线连接线 36"/>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直线连接线 37"/>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7" name="矩形 6"/>
          <p:cNvSpPr/>
          <p:nvPr userDrawn="1"/>
        </p:nvSpPr>
        <p:spPr>
          <a:xfrm>
            <a:off x="0" y="0"/>
            <a:ext cx="54864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ea typeface="Microsoft YaHei UI" panose="020B0503020204020204" pitchFamily="34" charset="-122"/>
            </a:endParaRPr>
          </a:p>
        </p:txBody>
      </p:sp>
      <p:sp>
        <p:nvSpPr>
          <p:cNvPr id="2" name="标题 1"/>
          <p:cNvSpPr>
            <a:spLocks noGrp="1"/>
          </p:cNvSpPr>
          <p:nvPr>
            <p:ph type="title"/>
          </p:nvPr>
        </p:nvSpPr>
        <p:spPr>
          <a:xfrm>
            <a:off x="5934864" y="571500"/>
            <a:ext cx="2743200" cy="2197100"/>
          </a:xfrm>
        </p:spPr>
        <p:txBody>
          <a:bodyPr anchor="b">
            <a:normAutofit/>
          </a:bodyPr>
          <a:lstStyle>
            <a:lvl1pPr latinLnBrk="0">
              <a:defRPr lang="zh-CN" sz="2600">
                <a:solidFill>
                  <a:schemeClr val="bg1"/>
                </a:solidFill>
              </a:defRPr>
            </a:lvl1pPr>
          </a:lstStyle>
          <a:p>
            <a:r>
              <a:rPr lang="zh-CN" altLang="en-US" smtClean="0"/>
              <a:t>单击此处编辑母版标题样式</a:t>
            </a:r>
            <a:endParaRPr lang="zh-CN" dirty="0"/>
          </a:p>
        </p:txBody>
      </p:sp>
      <p:sp>
        <p:nvSpPr>
          <p:cNvPr id="3" name="内容占位符 2"/>
          <p:cNvSpPr>
            <a:spLocks noGrp="1"/>
          </p:cNvSpPr>
          <p:nvPr>
            <p:ph idx="1"/>
          </p:nvPr>
        </p:nvSpPr>
        <p:spPr>
          <a:xfrm>
            <a:off x="407398" y="571500"/>
            <a:ext cx="4663440" cy="5715000"/>
          </a:xfrm>
        </p:spPr>
        <p:txBody>
          <a:bodyP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2000"/>
            </a:lvl6pPr>
            <a:lvl7pPr latinLnBrk="0">
              <a:defRPr lang="zh-CN" sz="2000"/>
            </a:lvl7pPr>
            <a:lvl8pPr latinLnBrk="0">
              <a:defRPr lang="zh-CN" sz="2000"/>
            </a:lvl8pPr>
            <a:lvl9pPr latinLnBrk="0">
              <a:defRPr lang="zh-CN"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dirty="0"/>
          </a:p>
        </p:txBody>
      </p:sp>
      <p:sp>
        <p:nvSpPr>
          <p:cNvPr id="4" name="文本占位符 3"/>
          <p:cNvSpPr>
            <a:spLocks noGrp="1"/>
          </p:cNvSpPr>
          <p:nvPr>
            <p:ph type="body" sz="half" idx="2"/>
          </p:nvPr>
        </p:nvSpPr>
        <p:spPr>
          <a:xfrm>
            <a:off x="5934864" y="2995012"/>
            <a:ext cx="2743200" cy="2285950"/>
          </a:xfrm>
        </p:spPr>
        <p:txBody>
          <a:bodyPr>
            <a:normAutofit/>
          </a:bodyPr>
          <a:lstStyle>
            <a:lvl1pPr marL="0" indent="0" latinLnBrk="0">
              <a:spcBef>
                <a:spcPts val="1200"/>
              </a:spcBef>
              <a:buNone/>
              <a:defRPr lang="zh-CN" sz="1600">
                <a:solidFill>
                  <a:schemeClr val="bg1"/>
                </a:solidFill>
              </a:defRPr>
            </a:lvl1pPr>
            <a:lvl2pPr marL="457200" indent="0" latinLnBrk="0">
              <a:buNone/>
              <a:defRPr lang="zh-CN" sz="1400"/>
            </a:lvl2pPr>
            <a:lvl3pPr marL="914400" indent="0" latinLnBrk="0">
              <a:buNone/>
              <a:defRPr lang="zh-CN" sz="1200"/>
            </a:lvl3pPr>
            <a:lvl4pPr marL="1371600" indent="0" latinLnBrk="0">
              <a:buNone/>
              <a:defRPr lang="zh-CN" sz="1000"/>
            </a:lvl4pPr>
            <a:lvl5pPr marL="1828800" indent="0" latinLnBrk="0">
              <a:buNone/>
              <a:defRPr lang="zh-CN" sz="1000"/>
            </a:lvl5pPr>
            <a:lvl6pPr marL="2286000" indent="0" latinLnBrk="0">
              <a:buNone/>
              <a:defRPr lang="zh-CN" sz="1000"/>
            </a:lvl6pPr>
            <a:lvl7pPr marL="2743200" indent="0" latinLnBrk="0">
              <a:buNone/>
              <a:defRPr lang="zh-CN" sz="1000"/>
            </a:lvl7pPr>
            <a:lvl8pPr marL="3200400" indent="0" latinLnBrk="0">
              <a:buNone/>
              <a:defRPr lang="zh-CN" sz="1000"/>
            </a:lvl8pPr>
            <a:lvl9pPr marL="3657600" indent="0" latinLnBrk="0">
              <a:buNone/>
              <a:defRPr lang="zh-CN" sz="1000"/>
            </a:lvl9pPr>
          </a:lstStyle>
          <a:p>
            <a:pPr lvl="0"/>
            <a:r>
              <a:rPr lang="zh-CN" altLang="en-US" smtClean="0"/>
              <a:t>单击此处编辑母版文本样式</a:t>
            </a:r>
          </a:p>
        </p:txBody>
      </p:sp>
      <p:cxnSp>
        <p:nvCxnSpPr>
          <p:cNvPr id="60" name="直线连接线 59"/>
          <p:cNvCxnSpPr/>
          <p:nvPr userDrawn="1"/>
        </p:nvCxnSpPr>
        <p:spPr>
          <a:xfrm>
            <a:off x="5942317" y="2895600"/>
            <a:ext cx="274448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日期占位符 4"/>
          <p:cNvSpPr>
            <a:spLocks noGrp="1"/>
          </p:cNvSpPr>
          <p:nvPr>
            <p:ph type="dt" sz="half" idx="10"/>
          </p:nvPr>
        </p:nvSpPr>
        <p:spPr/>
        <p:txBody>
          <a:bodyPr/>
          <a:lstStyle/>
          <a:p>
            <a:fld id="{4E4E324D-2A43-40A1-B3DC-C387EAFC4699}" type="datetime1">
              <a:rPr lang="zh-CN" altLang="en-US" smtClean="0"/>
              <a:pPr/>
              <a:t>2019-12-24</a:t>
            </a:fld>
            <a:endParaRPr lang="zh-CN"/>
          </a:p>
        </p:txBody>
      </p:sp>
      <p:sp>
        <p:nvSpPr>
          <p:cNvPr id="6" name="页脚占位符 5"/>
          <p:cNvSpPr>
            <a:spLocks noGrp="1"/>
          </p:cNvSpPr>
          <p:nvPr>
            <p:ph type="ftr" sz="quarter" idx="11"/>
          </p:nvPr>
        </p:nvSpPr>
        <p:spPr/>
        <p:txBody>
          <a:bodyPr/>
          <a:lstStyle/>
          <a:p>
            <a:r>
              <a:rPr lang="zh-CN" altLang="en-US" smtClean="0"/>
              <a:t>国际金融学 范小云</a:t>
            </a:r>
            <a:endParaRPr lang="zh-CN"/>
          </a:p>
        </p:txBody>
      </p:sp>
      <p:sp>
        <p:nvSpPr>
          <p:cNvPr id="8" name="幻灯片编号占位符 7"/>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题注">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8" name="组 7"/>
          <p:cNvGrpSpPr/>
          <p:nvPr/>
        </p:nvGrpSpPr>
        <p:grpSpPr bwMode="hidden">
          <a:xfrm>
            <a:off x="-1" y="0"/>
            <a:ext cx="9144002" cy="6858000"/>
            <a:chOff x="-1" y="0"/>
            <a:chExt cx="12192002" cy="6858000"/>
          </a:xfrm>
        </p:grpSpPr>
        <p:cxnSp>
          <p:nvCxnSpPr>
            <p:cNvPr id="9" name="直线连接线 8"/>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直线连接线 9"/>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直线连接线 10"/>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线连接线 11"/>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线连接线 12"/>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直线连接线 13"/>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线连接线 14"/>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线连接线 15"/>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线连接线 16"/>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线连接线 17"/>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线 18"/>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线连接线 19"/>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线连接线 20"/>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直线连接线 21"/>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线连接线 22"/>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线连接线 23"/>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5" name="组 24"/>
            <p:cNvGrpSpPr/>
            <p:nvPr/>
          </p:nvGrpSpPr>
          <p:grpSpPr bwMode="hidden">
            <a:xfrm>
              <a:off x="-1" y="0"/>
              <a:ext cx="12192001" cy="6858000"/>
              <a:chOff x="-1" y="0"/>
              <a:chExt cx="12192001" cy="6858000"/>
            </a:xfrm>
          </p:grpSpPr>
          <p:cxnSp>
            <p:nvCxnSpPr>
              <p:cNvPr id="43" name="直线连接线 42"/>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直线连接线 43"/>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直线连接线 44"/>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直线连接线 45"/>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直线连接线 46"/>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8" name="组 47"/>
              <p:cNvGrpSpPr/>
              <p:nvPr/>
            </p:nvGrpSpPr>
            <p:grpSpPr bwMode="hidden">
              <a:xfrm>
                <a:off x="6327885" y="0"/>
                <a:ext cx="5864115" cy="5898673"/>
                <a:chOff x="6327885" y="0"/>
                <a:chExt cx="5864115" cy="5898673"/>
              </a:xfrm>
            </p:grpSpPr>
            <p:cxnSp>
              <p:nvCxnSpPr>
                <p:cNvPr id="54" name="直线连接线 53"/>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直线连接线 54"/>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直线连接线 55"/>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直线连接线 56"/>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直线连接线 57"/>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9" name="直线连接线 48"/>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直线连接线 49"/>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直线连接线 50"/>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直线连接线 51"/>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直线连接线 52"/>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6" name="组 25"/>
            <p:cNvGrpSpPr/>
            <p:nvPr/>
          </p:nvGrpSpPr>
          <p:grpSpPr bwMode="hidden">
            <a:xfrm flipH="1">
              <a:off x="0" y="0"/>
              <a:ext cx="12192001" cy="6858000"/>
              <a:chOff x="-1" y="0"/>
              <a:chExt cx="12192001" cy="6858000"/>
            </a:xfrm>
          </p:grpSpPr>
          <p:cxnSp>
            <p:nvCxnSpPr>
              <p:cNvPr id="27" name="直线连接线 26"/>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直线连接线 27"/>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直线连接线 28"/>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直线连接线 29"/>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直线连接线 30"/>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2" name="组 31"/>
              <p:cNvGrpSpPr/>
              <p:nvPr/>
            </p:nvGrpSpPr>
            <p:grpSpPr bwMode="hidden">
              <a:xfrm>
                <a:off x="6327885" y="0"/>
                <a:ext cx="5864115" cy="5898673"/>
                <a:chOff x="6327885" y="0"/>
                <a:chExt cx="5864115" cy="5898673"/>
              </a:xfrm>
            </p:grpSpPr>
            <p:cxnSp>
              <p:nvCxnSpPr>
                <p:cNvPr id="38" name="直线连接线 37"/>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直线连接线 38"/>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直线连接线 39"/>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线 40"/>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直线连接线 41"/>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3" name="直线连接线 32"/>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直线连接线 33"/>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直线连接线 34"/>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直线连接线 35"/>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直线连接线 36"/>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60" name="矩形 59"/>
          <p:cNvSpPr/>
          <p:nvPr/>
        </p:nvSpPr>
        <p:spPr>
          <a:xfrm>
            <a:off x="0" y="0"/>
            <a:ext cx="54864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ea typeface="Microsoft YaHei UI" panose="020B0503020204020204" pitchFamily="34" charset="-122"/>
            </a:endParaRPr>
          </a:p>
        </p:txBody>
      </p:sp>
      <p:sp>
        <p:nvSpPr>
          <p:cNvPr id="3" name="图片占位符 2"/>
          <p:cNvSpPr>
            <a:spLocks noGrp="1"/>
          </p:cNvSpPr>
          <p:nvPr>
            <p:ph type="pic" idx="1"/>
          </p:nvPr>
        </p:nvSpPr>
        <p:spPr>
          <a:xfrm>
            <a:off x="3309" y="-159"/>
            <a:ext cx="5486400" cy="6858000"/>
          </a:xfrm>
        </p:spPr>
        <p:txBody>
          <a:bodyPr tIns="457200">
            <a:normAutofit/>
          </a:bodyPr>
          <a:lstStyle>
            <a:lvl1pPr marL="0" indent="0" algn="ctr" latinLnBrk="0">
              <a:buNone/>
              <a:defRPr lang="zh-CN" sz="2000"/>
            </a:lvl1pPr>
            <a:lvl2pPr marL="457200" indent="0" latinLnBrk="0">
              <a:buNone/>
              <a:defRPr lang="zh-CN" sz="2800"/>
            </a:lvl2pPr>
            <a:lvl3pPr marL="914400" indent="0" latinLnBrk="0">
              <a:buNone/>
              <a:defRPr lang="zh-CN" sz="2400"/>
            </a:lvl3pPr>
            <a:lvl4pPr marL="1371600" indent="0" latinLnBrk="0">
              <a:buNone/>
              <a:defRPr lang="zh-CN" sz="2000"/>
            </a:lvl4pPr>
            <a:lvl5pPr marL="1828800" indent="0" latinLnBrk="0">
              <a:buNone/>
              <a:defRPr lang="zh-CN" sz="2000"/>
            </a:lvl5pPr>
            <a:lvl6pPr marL="2286000" indent="0" latinLnBrk="0">
              <a:buNone/>
              <a:defRPr lang="zh-CN" sz="2000"/>
            </a:lvl6pPr>
            <a:lvl7pPr marL="2743200" indent="0" latinLnBrk="0">
              <a:buNone/>
              <a:defRPr lang="zh-CN" sz="2000"/>
            </a:lvl7pPr>
            <a:lvl8pPr marL="3200400" indent="0" latinLnBrk="0">
              <a:buNone/>
              <a:defRPr lang="zh-CN" sz="2000"/>
            </a:lvl8pPr>
            <a:lvl9pPr marL="3657600" indent="0" latinLnBrk="0">
              <a:buNone/>
              <a:defRPr lang="zh-CN" sz="2000"/>
            </a:lvl9pPr>
          </a:lstStyle>
          <a:p>
            <a:r>
              <a:rPr lang="zh-CN" altLang="en-US" smtClean="0"/>
              <a:t>单击图标添加图片</a:t>
            </a:r>
            <a:endParaRPr lang="zh-CN" dirty="0"/>
          </a:p>
        </p:txBody>
      </p:sp>
      <p:cxnSp>
        <p:nvCxnSpPr>
          <p:cNvPr id="59" name="直线连接线 58"/>
          <p:cNvCxnSpPr/>
          <p:nvPr/>
        </p:nvCxnSpPr>
        <p:spPr>
          <a:xfrm>
            <a:off x="5942317" y="2895600"/>
            <a:ext cx="274448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a:xfrm>
            <a:off x="5932170" y="576072"/>
            <a:ext cx="2743200" cy="2194560"/>
          </a:xfrm>
        </p:spPr>
        <p:txBody>
          <a:bodyPr anchor="b">
            <a:normAutofit/>
          </a:bodyPr>
          <a:lstStyle>
            <a:lvl1pPr latinLnBrk="0">
              <a:defRPr lang="zh-CN" sz="2600">
                <a:solidFill>
                  <a:schemeClr val="bg1"/>
                </a:solidFill>
              </a:defRPr>
            </a:lvl1pPr>
          </a:lstStyle>
          <a:p>
            <a:r>
              <a:rPr lang="zh-CN" altLang="en-US" smtClean="0"/>
              <a:t>单击此处编辑母版标题样式</a:t>
            </a:r>
            <a:endParaRPr lang="zh-CN" dirty="0"/>
          </a:p>
        </p:txBody>
      </p:sp>
      <p:sp>
        <p:nvSpPr>
          <p:cNvPr id="4" name="文本占位符 3"/>
          <p:cNvSpPr>
            <a:spLocks noGrp="1"/>
          </p:cNvSpPr>
          <p:nvPr>
            <p:ph type="body" sz="half" idx="2"/>
          </p:nvPr>
        </p:nvSpPr>
        <p:spPr>
          <a:xfrm>
            <a:off x="5932170" y="2999232"/>
            <a:ext cx="2743200" cy="2286000"/>
          </a:xfrm>
        </p:spPr>
        <p:txBody>
          <a:bodyPr/>
          <a:lstStyle>
            <a:lvl1pPr marL="0" indent="0" latinLnBrk="0">
              <a:spcBef>
                <a:spcPts val="1200"/>
              </a:spcBef>
              <a:buNone/>
              <a:defRPr lang="zh-CN" sz="1600">
                <a:solidFill>
                  <a:schemeClr val="bg1"/>
                </a:solidFill>
              </a:defRPr>
            </a:lvl1pPr>
            <a:lvl2pPr marL="457200" indent="0" latinLnBrk="0">
              <a:buNone/>
              <a:defRPr lang="zh-CN" sz="1400"/>
            </a:lvl2pPr>
            <a:lvl3pPr marL="914400" indent="0" latinLnBrk="0">
              <a:buNone/>
              <a:defRPr lang="zh-CN" sz="1200"/>
            </a:lvl3pPr>
            <a:lvl4pPr marL="1371600" indent="0" latinLnBrk="0">
              <a:buNone/>
              <a:defRPr lang="zh-CN" sz="1000"/>
            </a:lvl4pPr>
            <a:lvl5pPr marL="1828800" indent="0" latinLnBrk="0">
              <a:buNone/>
              <a:defRPr lang="zh-CN" sz="1000"/>
            </a:lvl5pPr>
            <a:lvl6pPr marL="2286000" indent="0" latinLnBrk="0">
              <a:buNone/>
              <a:defRPr lang="zh-CN" sz="1000"/>
            </a:lvl6pPr>
            <a:lvl7pPr marL="2743200" indent="0" latinLnBrk="0">
              <a:buNone/>
              <a:defRPr lang="zh-CN" sz="1000"/>
            </a:lvl7pPr>
            <a:lvl8pPr marL="3200400" indent="0" latinLnBrk="0">
              <a:buNone/>
              <a:defRPr lang="zh-CN" sz="1000"/>
            </a:lvl8pPr>
            <a:lvl9pPr marL="3657600" indent="0" latinLnBrk="0">
              <a:buNone/>
              <a:defRPr lang="zh-CN" sz="1000"/>
            </a:lvl9pPr>
          </a:lstStyle>
          <a:p>
            <a:pPr lvl="0"/>
            <a:r>
              <a:rPr lang="zh-CN" altLang="en-US" smtClean="0"/>
              <a:t>单击此处编辑母版文本样式</a:t>
            </a:r>
          </a:p>
        </p:txBody>
      </p:sp>
    </p:spTree>
    <p:extLst>
      <p:ext uri="{BB962C8B-B14F-4D97-AF65-F5344CB8AC3E}">
        <p14:creationId xmlns:p14="http://schemas.microsoft.com/office/powerpoint/2010/main" val="620318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dirty="0"/>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dirty="0"/>
          </a:p>
        </p:txBody>
      </p:sp>
      <p:sp>
        <p:nvSpPr>
          <p:cNvPr id="4" name="日期占位符 3"/>
          <p:cNvSpPr>
            <a:spLocks noGrp="1"/>
          </p:cNvSpPr>
          <p:nvPr>
            <p:ph type="dt" sz="half" idx="10"/>
          </p:nvPr>
        </p:nvSpPr>
        <p:spPr/>
        <p:txBody>
          <a:bodyPr/>
          <a:lstStyle/>
          <a:p>
            <a:fld id="{3B70A53E-5BDE-449A-8325-0FD352C24776}" type="datetime1">
              <a:rPr lang="zh-CN" altLang="en-US" smtClean="0"/>
              <a:pPr/>
              <a:t>2019-12-24</a:t>
            </a:fld>
            <a:endParaRPr lang="zh-CN"/>
          </a:p>
        </p:txBody>
      </p:sp>
      <p:sp>
        <p:nvSpPr>
          <p:cNvPr id="5" name="页脚占位符 4"/>
          <p:cNvSpPr>
            <a:spLocks noGrp="1"/>
          </p:cNvSpPr>
          <p:nvPr>
            <p:ph type="ftr" sz="quarter" idx="11"/>
          </p:nvPr>
        </p:nvSpPr>
        <p:spPr/>
        <p:txBody>
          <a:bodyPr/>
          <a:lstStyle/>
          <a:p>
            <a:r>
              <a:rPr lang="zh-CN" altLang="en-US" smtClean="0"/>
              <a:t>国际金融学 范小云</a:t>
            </a:r>
            <a:endParaRPr lang="zh-CN"/>
          </a:p>
        </p:txBody>
      </p:sp>
      <p:sp>
        <p:nvSpPr>
          <p:cNvPr id="6" name="幻灯片编号占位符 5"/>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06985" y="489857"/>
            <a:ext cx="1265465" cy="5301343"/>
          </a:xfrm>
        </p:spPr>
        <p:txBody>
          <a:bodyPr vert="eaVert"/>
          <a:lstStyle/>
          <a:p>
            <a:r>
              <a:rPr lang="zh-CN" altLang="en-US" smtClean="0"/>
              <a:t>单击此处编辑母版标题样式</a:t>
            </a:r>
            <a:endParaRPr lang="zh-CN" dirty="0"/>
          </a:p>
        </p:txBody>
      </p:sp>
      <p:sp>
        <p:nvSpPr>
          <p:cNvPr id="3" name="竖排文字占位符 2"/>
          <p:cNvSpPr>
            <a:spLocks noGrp="1"/>
          </p:cNvSpPr>
          <p:nvPr>
            <p:ph type="body" orient="vert" idx="1"/>
          </p:nvPr>
        </p:nvSpPr>
        <p:spPr>
          <a:xfrm>
            <a:off x="971549" y="489857"/>
            <a:ext cx="5690508" cy="5301343"/>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dirty="0"/>
          </a:p>
        </p:txBody>
      </p:sp>
      <p:sp>
        <p:nvSpPr>
          <p:cNvPr id="4" name="日期占位符 3"/>
          <p:cNvSpPr>
            <a:spLocks noGrp="1"/>
          </p:cNvSpPr>
          <p:nvPr>
            <p:ph type="dt" sz="half" idx="10"/>
          </p:nvPr>
        </p:nvSpPr>
        <p:spPr/>
        <p:txBody>
          <a:bodyPr/>
          <a:lstStyle/>
          <a:p>
            <a:fld id="{27B70614-4D03-45B4-BA67-24D892EC8565}" type="datetime1">
              <a:rPr lang="zh-CN" altLang="en-US" smtClean="0"/>
              <a:pPr/>
              <a:t>2019-12-24</a:t>
            </a:fld>
            <a:endParaRPr lang="zh-CN"/>
          </a:p>
        </p:txBody>
      </p:sp>
      <p:sp>
        <p:nvSpPr>
          <p:cNvPr id="5" name="页脚占位符 4"/>
          <p:cNvSpPr>
            <a:spLocks noGrp="1"/>
          </p:cNvSpPr>
          <p:nvPr>
            <p:ph type="ftr" sz="quarter" idx="11"/>
          </p:nvPr>
        </p:nvSpPr>
        <p:spPr/>
        <p:txBody>
          <a:bodyPr/>
          <a:lstStyle/>
          <a:p>
            <a:r>
              <a:rPr lang="zh-CN" altLang="en-US" smtClean="0"/>
              <a:t>国际金融学 范小云</a:t>
            </a:r>
            <a:endParaRPr lang="zh-CN"/>
          </a:p>
        </p:txBody>
      </p:sp>
      <p:sp>
        <p:nvSpPr>
          <p:cNvPr id="6" name="幻灯片编号占位符 5"/>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3000">
              <a:schemeClr val="bg1"/>
            </a:gs>
            <a:gs pos="0">
              <a:schemeClr val="bg1">
                <a:lumMod val="100000"/>
              </a:schemeClr>
            </a:gs>
            <a:gs pos="100000">
              <a:schemeClr val="bg1">
                <a:lumMod val="95000"/>
                <a:alpha val="65000"/>
              </a:schemeClr>
            </a:gs>
          </a:gsLst>
          <a:lin ang="54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971550" y="503854"/>
            <a:ext cx="7200900" cy="1142385"/>
          </a:xfrm>
          <a:prstGeom prst="rect">
            <a:avLst/>
          </a:prstGeom>
        </p:spPr>
        <p:txBody>
          <a:bodyPr vert="horz" lIns="91440" tIns="45720" rIns="91440" bIns="45720" rtlCol="0" anchor="b">
            <a:normAutofit/>
          </a:bodyPr>
          <a:lstStyle/>
          <a:p>
            <a:r>
              <a:rPr lang="zh-CN" dirty="0"/>
              <a:t>单击此处编辑母版标题样式</a:t>
            </a:r>
          </a:p>
        </p:txBody>
      </p:sp>
      <p:sp>
        <p:nvSpPr>
          <p:cNvPr id="3" name="文本占位符 2"/>
          <p:cNvSpPr>
            <a:spLocks noGrp="1"/>
          </p:cNvSpPr>
          <p:nvPr>
            <p:ph type="body" idx="1"/>
          </p:nvPr>
        </p:nvSpPr>
        <p:spPr>
          <a:xfrm>
            <a:off x="971550" y="1981202"/>
            <a:ext cx="7200900" cy="3809999"/>
          </a:xfrm>
          <a:prstGeom prst="rect">
            <a:avLst/>
          </a:prstGeom>
        </p:spPr>
        <p:txBody>
          <a:bodyPr vert="horz" lIns="91440" tIns="45720" rIns="91440" bIns="45720" rtlCol="0">
            <a:normAutofit/>
          </a:bodyPr>
          <a:lstStyle/>
          <a:p>
            <a:pPr lvl="0"/>
            <a:r>
              <a:rPr lang="zh-CN" dirty="0"/>
              <a:t>单击此处编辑母版文本样式</a:t>
            </a:r>
          </a:p>
          <a:p>
            <a:pPr lvl="1"/>
            <a:r>
              <a:rPr lang="zh-CN" dirty="0"/>
              <a:t>第二级</a:t>
            </a:r>
          </a:p>
          <a:p>
            <a:pPr lvl="2"/>
            <a:r>
              <a:rPr lang="zh-CN" dirty="0"/>
              <a:t>第三级</a:t>
            </a:r>
          </a:p>
          <a:p>
            <a:pPr lvl="3"/>
            <a:r>
              <a:rPr lang="zh-CN" dirty="0"/>
              <a:t>第四级</a:t>
            </a:r>
          </a:p>
          <a:p>
            <a:pPr lvl="4"/>
            <a:r>
              <a:rPr lang="zh-CN" dirty="0"/>
              <a:t>第五级</a:t>
            </a:r>
          </a:p>
        </p:txBody>
      </p:sp>
      <p:sp>
        <p:nvSpPr>
          <p:cNvPr id="4" name="日期占位符 3"/>
          <p:cNvSpPr>
            <a:spLocks noGrp="1"/>
          </p:cNvSpPr>
          <p:nvPr>
            <p:ph type="dt" sz="half" idx="2"/>
          </p:nvPr>
        </p:nvSpPr>
        <p:spPr>
          <a:xfrm>
            <a:off x="6970531" y="6289679"/>
            <a:ext cx="724460" cy="222436"/>
          </a:xfrm>
          <a:prstGeom prst="rect">
            <a:avLst/>
          </a:prstGeom>
        </p:spPr>
        <p:txBody>
          <a:bodyPr vert="horz" lIns="91440" tIns="45720" rIns="91440" bIns="45720" rtlCol="0" anchor="ctr"/>
          <a:lstStyle>
            <a:lvl1pPr algn="r" latinLnBrk="0">
              <a:defRPr lang="zh-CN" sz="800">
                <a:solidFill>
                  <a:schemeClr val="tx1">
                    <a:lumMod val="50000"/>
                    <a:lumOff val="50000"/>
                  </a:schemeClr>
                </a:solidFill>
                <a:ea typeface="Microsoft YaHei UI" panose="020B0503020204020204" pitchFamily="34" charset="-122"/>
              </a:defRPr>
            </a:lvl1pPr>
          </a:lstStyle>
          <a:p>
            <a:fld id="{27321F5A-E3A2-4B01-A540-357B93D3E2B1}" type="datetime1">
              <a:rPr lang="zh-CN" altLang="en-US" smtClean="0"/>
              <a:pPr/>
              <a:t>2019-12-24</a:t>
            </a:fld>
            <a:endParaRPr lang="zh-CN" altLang="en-US" dirty="0"/>
          </a:p>
        </p:txBody>
      </p:sp>
      <p:sp>
        <p:nvSpPr>
          <p:cNvPr id="5" name="页脚占位符 4"/>
          <p:cNvSpPr>
            <a:spLocks noGrp="1"/>
          </p:cNvSpPr>
          <p:nvPr>
            <p:ph type="ftr" sz="quarter" idx="3"/>
          </p:nvPr>
        </p:nvSpPr>
        <p:spPr>
          <a:xfrm>
            <a:off x="457201" y="6289679"/>
            <a:ext cx="4596023" cy="222436"/>
          </a:xfrm>
          <a:prstGeom prst="rect">
            <a:avLst/>
          </a:prstGeom>
        </p:spPr>
        <p:txBody>
          <a:bodyPr vert="horz" lIns="91440" tIns="45720" rIns="91440" bIns="45720" rtlCol="0" anchor="ctr"/>
          <a:lstStyle>
            <a:lvl1pPr algn="l" latinLnBrk="0">
              <a:defRPr lang="zh-CN" sz="800">
                <a:solidFill>
                  <a:schemeClr val="tx1">
                    <a:lumMod val="50000"/>
                    <a:lumOff val="50000"/>
                  </a:schemeClr>
                </a:solidFill>
                <a:ea typeface="Microsoft YaHei UI" panose="020B0503020204020204" pitchFamily="34" charset="-122"/>
              </a:defRPr>
            </a:lvl1pPr>
          </a:lstStyle>
          <a:p>
            <a:r>
              <a:rPr lang="zh-CN" altLang="en-US" smtClean="0"/>
              <a:t>国际金融学 范小云</a:t>
            </a:r>
            <a:endParaRPr lang="zh-CN" altLang="en-US" dirty="0"/>
          </a:p>
        </p:txBody>
      </p:sp>
      <p:sp>
        <p:nvSpPr>
          <p:cNvPr id="6" name="幻灯片编号占位符 5"/>
          <p:cNvSpPr>
            <a:spLocks noGrp="1"/>
          </p:cNvSpPr>
          <p:nvPr>
            <p:ph type="sldNum" sz="quarter" idx="4"/>
          </p:nvPr>
        </p:nvSpPr>
        <p:spPr>
          <a:xfrm>
            <a:off x="7998983" y="6289679"/>
            <a:ext cx="689162" cy="222436"/>
          </a:xfrm>
          <a:prstGeom prst="rect">
            <a:avLst/>
          </a:prstGeom>
        </p:spPr>
        <p:txBody>
          <a:bodyPr vert="horz" lIns="91440" tIns="45720" rIns="91440" bIns="45720" rtlCol="0" anchor="ctr"/>
          <a:lstStyle>
            <a:lvl1pPr algn="r" latinLnBrk="0">
              <a:defRPr lang="zh-CN" sz="800">
                <a:solidFill>
                  <a:schemeClr val="tx1">
                    <a:lumMod val="50000"/>
                    <a:lumOff val="50000"/>
                  </a:schemeClr>
                </a:solidFill>
                <a:ea typeface="Microsoft YaHei UI" panose="020B0503020204020204" pitchFamily="34" charset="-122"/>
              </a:defRPr>
            </a:lvl1pPr>
          </a:lstStyle>
          <a:p>
            <a:fld id="{E31375A4-56A4-47D6-9801-1991572033F7}" type="slidenum">
              <a:rPr lang="en-US" altLang="zh-CN" smtClean="0"/>
              <a:pPr/>
              <a:t>‹#›</a:t>
            </a:fld>
            <a:endParaRPr lang="en-US" altLang="zh-CN" dirty="0"/>
          </a:p>
        </p:txBody>
      </p:sp>
      <p:cxnSp>
        <p:nvCxnSpPr>
          <p:cNvPr id="148" name="直线连接线 147"/>
          <p:cNvCxnSpPr/>
          <p:nvPr/>
        </p:nvCxnSpPr>
        <p:spPr>
          <a:xfrm>
            <a:off x="457200" y="6172200"/>
            <a:ext cx="82296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9"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sldNum="0" hdr="0" dt="0"/>
  <p:txStyles>
    <p:titleStyle>
      <a:lvl1pPr algn="l" defTabSz="914400" rtl="0" eaLnBrk="1" latinLnBrk="0" hangingPunct="1">
        <a:lnSpc>
          <a:spcPct val="90000"/>
        </a:lnSpc>
        <a:spcBef>
          <a:spcPct val="0"/>
        </a:spcBef>
        <a:buNone/>
        <a:defRPr lang="zh-CN" sz="3200" b="1" kern="1200">
          <a:solidFill>
            <a:schemeClr val="accent1"/>
          </a:solidFill>
          <a:latin typeface="+mj-lt"/>
          <a:ea typeface="Microsoft YaHei UI" panose="020B0503020204020204" pitchFamily="34" charset="-122"/>
          <a:cs typeface="+mj-cs"/>
        </a:defRPr>
      </a:lvl1pPr>
    </p:titleStyle>
    <p:bodyStyle>
      <a:lvl1pPr marL="228600" indent="-228600" algn="l" defTabSz="914400" rtl="0" eaLnBrk="1" latinLnBrk="0" hangingPunct="1">
        <a:lnSpc>
          <a:spcPct val="90000"/>
        </a:lnSpc>
        <a:spcBef>
          <a:spcPts val="1800"/>
        </a:spcBef>
        <a:buClr>
          <a:schemeClr val="accent1"/>
        </a:buClr>
        <a:buSzPct val="100000"/>
        <a:buFont typeface="Arial" pitchFamily="34" charset="0"/>
        <a:buChar char="▪"/>
        <a:defRPr lang="zh-CN" sz="2000" kern="1200">
          <a:solidFill>
            <a:schemeClr val="tx1"/>
          </a:solidFill>
          <a:latin typeface="+mn-lt"/>
          <a:ea typeface="Microsoft YaHei UI" panose="020B0503020204020204" pitchFamily="34" charset="-122"/>
          <a:cs typeface="+mn-cs"/>
        </a:defRPr>
      </a:lvl1pPr>
      <a:lvl2pPr marL="457200" indent="-182880" algn="l" defTabSz="914400" rtl="0" eaLnBrk="1" latinLnBrk="0" hangingPunct="1">
        <a:lnSpc>
          <a:spcPct val="90000"/>
        </a:lnSpc>
        <a:spcBef>
          <a:spcPts val="1200"/>
        </a:spcBef>
        <a:buClr>
          <a:schemeClr val="accent1"/>
        </a:buClr>
        <a:buSzPct val="100000"/>
        <a:buFont typeface="Arial" pitchFamily="34" charset="0"/>
        <a:buChar char="▪"/>
        <a:defRPr lang="zh-CN" sz="1800" kern="1200">
          <a:solidFill>
            <a:schemeClr val="tx1"/>
          </a:solidFill>
          <a:latin typeface="+mn-lt"/>
          <a:ea typeface="Microsoft YaHei UI" panose="020B0503020204020204" pitchFamily="34" charset="-122"/>
          <a:cs typeface="+mn-cs"/>
        </a:defRPr>
      </a:lvl2pPr>
      <a:lvl3pPr marL="685800" indent="-179388" algn="l" defTabSz="914400" rtl="0" eaLnBrk="1" latinLnBrk="0" hangingPunct="1">
        <a:lnSpc>
          <a:spcPct val="90000"/>
        </a:lnSpc>
        <a:spcBef>
          <a:spcPts val="800"/>
        </a:spcBef>
        <a:buClr>
          <a:schemeClr val="accent1"/>
        </a:buClr>
        <a:buSzPct val="100000"/>
        <a:buFont typeface="Arial" pitchFamily="34" charset="0"/>
        <a:buChar char="▪"/>
        <a:defRPr lang="zh-CN" sz="1600" kern="1200">
          <a:solidFill>
            <a:schemeClr val="tx1"/>
          </a:solidFill>
          <a:latin typeface="+mn-lt"/>
          <a:ea typeface="Microsoft YaHei UI" panose="020B0503020204020204" pitchFamily="34" charset="-122"/>
          <a:cs typeface="+mn-cs"/>
        </a:defRPr>
      </a:lvl3pPr>
      <a:lvl4pPr marL="914400" indent="-182880" algn="l" defTabSz="914400" rtl="0" eaLnBrk="1" latinLnBrk="0" hangingPunct="1">
        <a:lnSpc>
          <a:spcPct val="90000"/>
        </a:lnSpc>
        <a:spcBef>
          <a:spcPts val="800"/>
        </a:spcBef>
        <a:buClr>
          <a:schemeClr val="accent1"/>
        </a:buClr>
        <a:buSzPct val="100000"/>
        <a:buFont typeface="Arial" pitchFamily="34" charset="0"/>
        <a:buChar char="▪"/>
        <a:defRPr lang="zh-CN" sz="1400" kern="1200">
          <a:solidFill>
            <a:schemeClr val="tx1"/>
          </a:solidFill>
          <a:latin typeface="+mn-lt"/>
          <a:ea typeface="Microsoft YaHei UI" panose="020B0503020204020204" pitchFamily="34" charset="-122"/>
          <a:cs typeface="+mn-cs"/>
        </a:defRPr>
      </a:lvl4pPr>
      <a:lvl5pPr marL="1143000" indent="-179388" algn="l" defTabSz="914400" rtl="0" eaLnBrk="1" latinLnBrk="0" hangingPunct="1">
        <a:lnSpc>
          <a:spcPct val="90000"/>
        </a:lnSpc>
        <a:spcBef>
          <a:spcPts val="600"/>
        </a:spcBef>
        <a:buClr>
          <a:schemeClr val="accent1"/>
        </a:buClr>
        <a:buSzPct val="100000"/>
        <a:buFont typeface="Arial" pitchFamily="34" charset="0"/>
        <a:buChar char="▪"/>
        <a:defRPr lang="zh-CN" sz="1400" kern="1200">
          <a:solidFill>
            <a:schemeClr val="tx1"/>
          </a:solidFill>
          <a:latin typeface="+mn-lt"/>
          <a:ea typeface="Microsoft YaHei UI" panose="020B0503020204020204" pitchFamily="34" charset="-122"/>
          <a:cs typeface="+mn-cs"/>
        </a:defRPr>
      </a:lvl5pPr>
      <a:lvl6pPr marL="1371600" indent="-182880" algn="l" defTabSz="914400" rtl="0" eaLnBrk="1" latinLnBrk="0" hangingPunct="1">
        <a:lnSpc>
          <a:spcPct val="90000"/>
        </a:lnSpc>
        <a:spcBef>
          <a:spcPts val="600"/>
        </a:spcBef>
        <a:buClr>
          <a:schemeClr val="accent1"/>
        </a:buClr>
        <a:buSzPct val="100000"/>
        <a:buFont typeface="Arial" pitchFamily="34" charset="0"/>
        <a:buChar char="▪"/>
        <a:defRPr lang="zh-CN"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buClr>
        <a:buSzPct val="100000"/>
        <a:buFont typeface="Arial" pitchFamily="34" charset="0"/>
        <a:buChar char="▪"/>
        <a:defRPr lang="zh-CN"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buClr>
        <a:buSzPct val="100000"/>
        <a:buFont typeface="Arial" pitchFamily="34" charset="0"/>
        <a:buChar char="▪"/>
        <a:defRPr lang="zh-CN" sz="1400" kern="1200">
          <a:solidFill>
            <a:schemeClr val="tx1"/>
          </a:solidFill>
          <a:latin typeface="+mn-lt"/>
          <a:ea typeface="+mn-ea"/>
          <a:cs typeface="+mn-cs"/>
        </a:defRPr>
      </a:lvl8pPr>
      <a:lvl9pPr marL="2057400" indent="-179388" algn="l" defTabSz="914400" rtl="0" eaLnBrk="1" latinLnBrk="0" hangingPunct="1">
        <a:lnSpc>
          <a:spcPct val="90000"/>
        </a:lnSpc>
        <a:spcBef>
          <a:spcPts val="600"/>
        </a:spcBef>
        <a:buClr>
          <a:schemeClr val="accent1"/>
        </a:buClr>
        <a:buSzPct val="100000"/>
        <a:buFont typeface="Arial" pitchFamily="34" charset="0"/>
        <a:buChar char="▪"/>
        <a:defRPr lang="zh-CN" sz="1400" kern="1200">
          <a:solidFill>
            <a:schemeClr val="tx1"/>
          </a:solidFill>
          <a:latin typeface="+mn-lt"/>
          <a:ea typeface="+mn-ea"/>
          <a:cs typeface="+mn-cs"/>
        </a:defRPr>
      </a:lvl9pPr>
    </p:bodyStyle>
    <p:otherStyle>
      <a:defPPr>
        <a:defRPr lang="zh-CN"/>
      </a:defPPr>
      <a:lvl1pPr marL="0" algn="l" defTabSz="914400" rtl="0" eaLnBrk="1" latinLnBrk="0" hangingPunct="1">
        <a:defRPr lang="zh-CN" sz="1800" kern="1200">
          <a:solidFill>
            <a:schemeClr val="tx1"/>
          </a:solidFill>
          <a:latin typeface="+mn-lt"/>
          <a:ea typeface="+mn-ea"/>
          <a:cs typeface="+mn-cs"/>
        </a:defRPr>
      </a:lvl1pPr>
      <a:lvl2pPr marL="457200" algn="l" defTabSz="914400" rtl="0" eaLnBrk="1" latinLnBrk="0" hangingPunct="1">
        <a:defRPr lang="zh-CN" sz="1800" kern="1200">
          <a:solidFill>
            <a:schemeClr val="tx1"/>
          </a:solidFill>
          <a:latin typeface="+mn-lt"/>
          <a:ea typeface="+mn-ea"/>
          <a:cs typeface="+mn-cs"/>
        </a:defRPr>
      </a:lvl2pPr>
      <a:lvl3pPr marL="914400" algn="l" defTabSz="914400" rtl="0" eaLnBrk="1" latinLnBrk="0" hangingPunct="1">
        <a:defRPr lang="zh-CN" sz="1800" kern="1200">
          <a:solidFill>
            <a:schemeClr val="tx1"/>
          </a:solidFill>
          <a:latin typeface="+mn-lt"/>
          <a:ea typeface="+mn-ea"/>
          <a:cs typeface="+mn-cs"/>
        </a:defRPr>
      </a:lvl3pPr>
      <a:lvl4pPr marL="1371600" algn="l" defTabSz="914400" rtl="0" eaLnBrk="1" latinLnBrk="0" hangingPunct="1">
        <a:defRPr lang="zh-CN" sz="1800" kern="1200">
          <a:solidFill>
            <a:schemeClr val="tx1"/>
          </a:solidFill>
          <a:latin typeface="+mn-lt"/>
          <a:ea typeface="+mn-ea"/>
          <a:cs typeface="+mn-cs"/>
        </a:defRPr>
      </a:lvl4pPr>
      <a:lvl5pPr marL="1828800" algn="l" defTabSz="914400" rtl="0" eaLnBrk="1" latinLnBrk="0" hangingPunct="1">
        <a:defRPr lang="zh-CN" sz="1800" kern="1200">
          <a:solidFill>
            <a:schemeClr val="tx1"/>
          </a:solidFill>
          <a:latin typeface="+mn-lt"/>
          <a:ea typeface="+mn-ea"/>
          <a:cs typeface="+mn-cs"/>
        </a:defRPr>
      </a:lvl5pPr>
      <a:lvl6pPr marL="2286000" algn="l" defTabSz="914400" rtl="0" eaLnBrk="1" latinLnBrk="0" hangingPunct="1">
        <a:defRPr lang="zh-CN" sz="1800" kern="1200">
          <a:solidFill>
            <a:schemeClr val="tx1"/>
          </a:solidFill>
          <a:latin typeface="+mn-lt"/>
          <a:ea typeface="+mn-ea"/>
          <a:cs typeface="+mn-cs"/>
        </a:defRPr>
      </a:lvl6pPr>
      <a:lvl7pPr marL="2743200" algn="l" defTabSz="914400" rtl="0" eaLnBrk="1" latinLnBrk="0" hangingPunct="1">
        <a:defRPr lang="zh-CN" sz="1800" kern="1200">
          <a:solidFill>
            <a:schemeClr val="tx1"/>
          </a:solidFill>
          <a:latin typeface="+mn-lt"/>
          <a:ea typeface="+mn-ea"/>
          <a:cs typeface="+mn-cs"/>
        </a:defRPr>
      </a:lvl7pPr>
      <a:lvl8pPr marL="3200400" algn="l" defTabSz="914400" rtl="0" eaLnBrk="1" latinLnBrk="0" hangingPunct="1">
        <a:defRPr lang="zh-CN" sz="1800" kern="1200">
          <a:solidFill>
            <a:schemeClr val="tx1"/>
          </a:solidFill>
          <a:latin typeface="+mn-lt"/>
          <a:ea typeface="+mn-ea"/>
          <a:cs typeface="+mn-cs"/>
        </a:defRPr>
      </a:lvl8pPr>
      <a:lvl9pPr marL="3657600" algn="l" defTabSz="914400" rtl="0" eaLnBrk="1" latinLnBrk="0" hangingPunct="1">
        <a:defRPr lang="zh-CN" sz="1800" kern="1200">
          <a:solidFill>
            <a:schemeClr val="tx1"/>
          </a:solidFill>
          <a:latin typeface="+mn-lt"/>
          <a:ea typeface="+mn-ea"/>
          <a:cs typeface="+mn-cs"/>
        </a:defRPr>
      </a:lvl9pPr>
    </p:otherStyle>
  </p:txStyles>
  <p:extLst mod="1">
    <p:ext uri="{27BBF7A9-308A-43DC-89C8-2F10F3537804}">
      <p15:sldGuideLst xmlns:p15="http://schemas.microsoft.com/office/powerpoint/2012/main" xmlns="">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nkfanxiaoyun@vip.sina.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emf"/><Relationship Id="rId5" Type="http://schemas.openxmlformats.org/officeDocument/2006/relationships/oleObject" Target="../embeddings/Microsoft_Excel_97-2003_Worksheet1.xls"/><Relationship Id="rId4" Type="http://schemas.openxmlformats.org/officeDocument/2006/relationships/oleObject" Target="../embeddings/oleObject1.bin"/></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2.emf"/><Relationship Id="rId5" Type="http://schemas.openxmlformats.org/officeDocument/2006/relationships/oleObject" Target="../embeddings/Microsoft_Excel_97-2003_Worksheet2.xls"/><Relationship Id="rId4" Type="http://schemas.openxmlformats.org/officeDocument/2006/relationships/oleObject" Target="../embeddings/oleObject2.bin"/></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国际金融学</a:t>
            </a:r>
            <a:endParaRPr lang="zh-CN" dirty="0"/>
          </a:p>
        </p:txBody>
      </p:sp>
      <p:sp>
        <p:nvSpPr>
          <p:cNvPr id="3" name="副标题 2"/>
          <p:cNvSpPr>
            <a:spLocks noGrp="1"/>
          </p:cNvSpPr>
          <p:nvPr>
            <p:ph type="subTitle" idx="1"/>
          </p:nvPr>
        </p:nvSpPr>
        <p:spPr/>
        <p:txBody>
          <a:bodyPr>
            <a:normAutofit fontScale="92500"/>
          </a:bodyPr>
          <a:lstStyle/>
          <a:p>
            <a:r>
              <a:rPr lang="zh-CN" altLang="en-US" sz="1800" dirty="0"/>
              <a:t>主讲人 范小云  </a:t>
            </a:r>
            <a:r>
              <a:rPr lang="en-US" altLang="zh-CN" sz="1800" dirty="0"/>
              <a:t>E-mail</a:t>
            </a:r>
            <a:r>
              <a:rPr lang="en-US" altLang="zh-CN" sz="1800"/>
              <a:t>: </a:t>
            </a:r>
            <a:r>
              <a:rPr lang="en-US" altLang="zh-CN" sz="1800" smtClean="0">
                <a:hlinkClick r:id="rId3"/>
              </a:rPr>
              <a:t>nkfanxiaoyun@vip.sina.com</a:t>
            </a:r>
            <a:r>
              <a:rPr lang="en-US" altLang="zh-CN" sz="1800" smtClean="0"/>
              <a:t>  </a:t>
            </a:r>
            <a:r>
              <a:rPr lang="en-US" altLang="zh-CN" sz="1800" dirty="0"/>
              <a:t>Tel.: </a:t>
            </a:r>
            <a:r>
              <a:rPr lang="en-US" altLang="zh-CN" sz="1800" dirty="0" smtClean="0"/>
              <a:t>13032213932</a:t>
            </a:r>
            <a:endParaRPr lang="en-US" altLang="zh-CN" sz="1800" dirty="0"/>
          </a:p>
        </p:txBody>
      </p:sp>
    </p:spTree>
    <p:extLst>
      <p:ext uri="{BB962C8B-B14F-4D97-AF65-F5344CB8AC3E}">
        <p14:creationId xmlns:p14="http://schemas.microsoft.com/office/powerpoint/2010/main" val="106904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016155" y="1639229"/>
            <a:ext cx="7200900" cy="2538633"/>
          </a:xfrm>
        </p:spPr>
        <p:txBody>
          <a:bodyPr>
            <a:noAutofit/>
          </a:bodyPr>
          <a:lstStyle/>
          <a:p>
            <a:pPr algn="ctr">
              <a:lnSpc>
                <a:spcPct val="100000"/>
              </a:lnSpc>
            </a:pPr>
            <a:r>
              <a:rPr lang="zh-CN" altLang="en-US" sz="4000" dirty="0">
                <a:latin typeface="微软雅黑" panose="020B0503020204020204" pitchFamily="34" charset="-122"/>
                <a:ea typeface="微软雅黑" panose="020B0503020204020204" pitchFamily="34" charset="-122"/>
              </a:rPr>
              <a:t>第七章</a:t>
            </a:r>
            <a:r>
              <a:rPr lang="zh-CN" altLang="en-US" sz="4000" dirty="0" smtClean="0">
                <a:latin typeface="微软雅黑" panose="020B0503020204020204" pitchFamily="34" charset="-122"/>
                <a:ea typeface="微软雅黑" panose="020B0503020204020204" pitchFamily="34" charset="-122"/>
              </a:rPr>
              <a:t/>
            </a:r>
            <a:br>
              <a:rPr lang="zh-CN" altLang="en-US" sz="4000" dirty="0" smtClean="0">
                <a:latin typeface="微软雅黑" panose="020B0503020204020204" pitchFamily="34" charset="-122"/>
                <a:ea typeface="微软雅黑" panose="020B0503020204020204" pitchFamily="34" charset="-122"/>
              </a:rPr>
            </a:br>
            <a:r>
              <a:rPr lang="zh-CN" altLang="en-US" sz="4000" dirty="0" smtClean="0">
                <a:latin typeface="微软雅黑" panose="020B0503020204020204" pitchFamily="34" charset="-122"/>
                <a:ea typeface="微软雅黑" panose="020B0503020204020204" pitchFamily="34" charset="-122"/>
              </a:rPr>
              <a:t>		</a:t>
            </a:r>
            <a:r>
              <a:rPr lang="zh-CN" altLang="en-US" sz="4000" dirty="0">
                <a:latin typeface="微软雅黑" panose="020B0503020204020204" pitchFamily="34" charset="-122"/>
                <a:ea typeface="微软雅黑" panose="020B0503020204020204" pitchFamily="34" charset="-122"/>
              </a:rPr>
              <a:t/>
            </a:r>
            <a:br>
              <a:rPr lang="zh-CN" altLang="en-US" sz="4000" dirty="0">
                <a:latin typeface="微软雅黑" panose="020B0503020204020204" pitchFamily="34" charset="-122"/>
                <a:ea typeface="微软雅黑" panose="020B0503020204020204" pitchFamily="34" charset="-122"/>
              </a:rPr>
            </a:br>
            <a:r>
              <a:rPr lang="zh-CN" altLang="en-US" sz="4000" dirty="0">
                <a:latin typeface="微软雅黑" panose="020B0503020204020204" pitchFamily="34" charset="-122"/>
                <a:ea typeface="微软雅黑" panose="020B0503020204020204" pitchFamily="34" charset="-122"/>
              </a:rPr>
              <a:t>开放经济下的宏观经济政策</a:t>
            </a:r>
          </a:p>
        </p:txBody>
      </p:sp>
      <p:sp>
        <p:nvSpPr>
          <p:cNvPr id="4" name="页脚占位符 3"/>
          <p:cNvSpPr>
            <a:spLocks noGrp="1"/>
          </p:cNvSpPr>
          <p:nvPr>
            <p:ph type="ftr" sz="quarter" idx="11"/>
          </p:nvPr>
        </p:nvSpPr>
        <p:spPr/>
        <p:txBody>
          <a:bodyPr/>
          <a:lstStyle/>
          <a:p>
            <a:pPr lvl="0"/>
            <a:r>
              <a:rPr lang="zh-CN" altLang="en-US" sz="1600" dirty="0">
                <a:solidFill>
                  <a:srgbClr val="1CADE4"/>
                </a:solidFill>
                <a:latin typeface="微软雅黑" panose="020B0503020204020204" pitchFamily="34" charset="-122"/>
                <a:ea typeface="微软雅黑" panose="020B0503020204020204" pitchFamily="34" charset="-122"/>
              </a:rPr>
              <a:t>国际金融学 范小云</a:t>
            </a:r>
          </a:p>
        </p:txBody>
      </p:sp>
    </p:spTree>
    <p:extLst>
      <p:ext uri="{BB962C8B-B14F-4D97-AF65-F5344CB8AC3E}">
        <p14:creationId xmlns:p14="http://schemas.microsoft.com/office/powerpoint/2010/main" val="510345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400" b="1" dirty="0" smtClean="0">
                <a:solidFill>
                  <a:schemeClr val="accent1"/>
                </a:solidFill>
                <a:latin typeface="微软雅黑" panose="020B0503020204020204" pitchFamily="34" charset="-122"/>
                <a:ea typeface="微软雅黑" panose="020B0503020204020204" pitchFamily="34" charset="-122"/>
              </a:rPr>
              <a:t>一、开放经济条件下内外均衡的一致与冲突</a:t>
            </a:r>
          </a:p>
          <a:p>
            <a:pPr marL="0" indent="0">
              <a:lnSpc>
                <a:spcPct val="110000"/>
              </a:lnSpc>
              <a:buNone/>
            </a:pPr>
            <a:r>
              <a:rPr lang="zh-CN" altLang="en-US" sz="2400" b="1" dirty="0" smtClean="0">
                <a:solidFill>
                  <a:schemeClr val="accent1"/>
                </a:solidFill>
                <a:latin typeface="微软雅黑" panose="020B0503020204020204" pitchFamily="34" charset="-122"/>
                <a:ea typeface="微软雅黑" panose="020B0503020204020204" pitchFamily="34" charset="-122"/>
              </a:rPr>
              <a:t>二、米德冲突</a:t>
            </a:r>
          </a:p>
          <a:p>
            <a:pPr marL="0" indent="457200">
              <a:lnSpc>
                <a:spcPct val="130000"/>
              </a:lnSpc>
              <a:buNone/>
            </a:pPr>
            <a:r>
              <a:rPr lang="en-US" altLang="zh-CN" sz="2400" dirty="0" smtClean="0">
                <a:latin typeface="微软雅黑" panose="020B0503020204020204" pitchFamily="34" charset="-122"/>
                <a:ea typeface="微软雅黑" panose="020B0503020204020204" pitchFamily="34" charset="-122"/>
              </a:rPr>
              <a:t>1951</a:t>
            </a:r>
            <a:r>
              <a:rPr lang="zh-CN" altLang="en-US" sz="2400" dirty="0">
                <a:latin typeface="微软雅黑" panose="020B0503020204020204" pitchFamily="34" charset="-122"/>
                <a:ea typeface="微软雅黑" panose="020B0503020204020204" pitchFamily="34" charset="-122"/>
              </a:rPr>
              <a:t>年英国经济学家米德提出。他指出，在汇率固定时，政府主要运用需求管理政策来调节内外均衡。在开放经济运行的特定区间，便会出现内外均衡难以兼顾的情形。</a:t>
            </a:r>
          </a:p>
          <a:p>
            <a:pPr marL="0" indent="457200">
              <a:lnSpc>
                <a:spcPct val="100000"/>
              </a:lnSpc>
              <a:buNone/>
            </a:pPr>
            <a:endParaRPr lang="zh-CN" altLang="en-US" sz="26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7" name="标题 1"/>
          <p:cNvSpPr txBox="1">
            <a:spLocks/>
          </p:cNvSpPr>
          <p:nvPr/>
        </p:nvSpPr>
        <p:spPr>
          <a:xfrm>
            <a:off x="192505" y="18386"/>
            <a:ext cx="8951495" cy="1142385"/>
          </a:xfrm>
          <a:prstGeom prst="rect">
            <a:avLst/>
          </a:prstGeom>
        </p:spPr>
        <p:txBody>
          <a:bodyPr vert="horz" lIns="91440" tIns="45720" rIns="91440" bIns="45720" rtlCol="0" anchor="b">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2800" b="1" i="0" u="none" strike="noStrike" kern="1200" cap="none" spc="0" normalizeH="0" baseline="0" noProof="0" dirty="0" smtClean="0">
                <a:ln>
                  <a:noFill/>
                </a:ln>
                <a:solidFill>
                  <a:schemeClr val="accent1"/>
                </a:solidFill>
                <a:effectLst/>
                <a:uLnTx/>
                <a:uFillTx/>
                <a:latin typeface="+mj-lt"/>
                <a:ea typeface="Microsoft YaHei UI" panose="020B0503020204020204" pitchFamily="34" charset="-122"/>
                <a:cs typeface="+mj-cs"/>
              </a:rPr>
              <a:t>第一节  开放经济条件下的政策目标、工具和调控原理</a:t>
            </a:r>
            <a:endParaRPr kumimoji="0" lang="zh-CN" sz="2800" b="1" i="0" u="none" strike="noStrike" kern="1200" cap="none" spc="0" normalizeH="0" baseline="0" noProof="0" dirty="0">
              <a:ln>
                <a:noFill/>
              </a:ln>
              <a:solidFill>
                <a:schemeClr val="accent1"/>
              </a:solidFill>
              <a:effectLst/>
              <a:uLnTx/>
              <a:uFillTx/>
              <a:latin typeface="+mj-lt"/>
              <a:ea typeface="Microsoft YaHei UI" panose="020B0503020204020204" pitchFamily="34" charset="-122"/>
              <a:cs typeface="+mj-cs"/>
            </a:endParaRPr>
          </a:p>
        </p:txBody>
      </p:sp>
    </p:spTree>
    <p:extLst>
      <p:ext uri="{BB962C8B-B14F-4D97-AF65-F5344CB8AC3E}">
        <p14:creationId xmlns:p14="http://schemas.microsoft.com/office/powerpoint/2010/main" val="234426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graphicFrame>
        <p:nvGraphicFramePr>
          <p:cNvPr id="6" name="Group 35"/>
          <p:cNvGraphicFramePr>
            <a:graphicFrameLocks noGrp="1"/>
          </p:cNvGraphicFramePr>
          <p:nvPr>
            <p:extLst>
              <p:ext uri="{D42A27DB-BD31-4B8C-83A1-F6EECF244321}">
                <p14:modId xmlns:p14="http://schemas.microsoft.com/office/powerpoint/2010/main" val="2398706048"/>
              </p:ext>
            </p:extLst>
          </p:nvPr>
        </p:nvGraphicFramePr>
        <p:xfrm>
          <a:off x="878304" y="1925054"/>
          <a:ext cx="7448467" cy="3451725"/>
        </p:xfrm>
        <a:graphic>
          <a:graphicData uri="http://schemas.openxmlformats.org/drawingml/2006/table">
            <a:tbl>
              <a:tblPr>
                <a:tableStyleId>{BC89EF96-8CEA-46FF-86C4-4CE0E7609802}</a:tableStyleId>
              </a:tblPr>
              <a:tblGrid>
                <a:gridCol w="1083902"/>
                <a:gridCol w="3114352"/>
                <a:gridCol w="3250213"/>
              </a:tblGrid>
              <a:tr h="690345">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20000"/>
                        </a:spcBef>
                        <a:spcAft>
                          <a:spcPct val="0"/>
                        </a:spcAft>
                        <a:buClrTx/>
                        <a:buSzTx/>
                        <a:buFontTx/>
                        <a:buNone/>
                        <a:tabLst/>
                      </a:pPr>
                      <a:endParaRPr kumimoji="0" lang="zh-CN" altLang="zh-CN"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20000"/>
                        </a:spcBef>
                        <a:spcAft>
                          <a:spcPct val="0"/>
                        </a:spcAft>
                        <a:buClrTx/>
                        <a:buSzTx/>
                        <a:buFontTx/>
                        <a:buNone/>
                        <a:tabLst/>
                      </a:pPr>
                      <a:r>
                        <a:rPr kumimoji="0" lang="zh-CN" altLang="en-US" sz="2400" u="none" strike="noStrike" cap="none" normalizeH="0" baseline="0" smtClean="0">
                          <a:ln>
                            <a:noFill/>
                          </a:ln>
                          <a:effectLst/>
                          <a:latin typeface="微软雅黑" panose="020B0503020204020204" pitchFamily="34" charset="-122"/>
                          <a:ea typeface="微软雅黑" panose="020B0503020204020204" pitchFamily="34" charset="-122"/>
                        </a:rPr>
                        <a:t>内部经济状况</a:t>
                      </a:r>
                      <a:endParaRPr kumimoji="0" lang="zh-CN" altLang="en-US" sz="2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20000"/>
                        </a:spcBef>
                        <a:spcAft>
                          <a:spcPct val="0"/>
                        </a:spcAft>
                        <a:buClrTx/>
                        <a:buSzTx/>
                        <a:buFontTx/>
                        <a:buNone/>
                        <a:tabLst/>
                      </a:pPr>
                      <a:r>
                        <a:rPr kumimoji="0" lang="zh-CN" altLang="en-US" sz="2400" u="none" strike="noStrike" cap="none" normalizeH="0" baseline="0" smtClean="0">
                          <a:ln>
                            <a:noFill/>
                          </a:ln>
                          <a:effectLst/>
                          <a:latin typeface="微软雅黑" panose="020B0503020204020204" pitchFamily="34" charset="-122"/>
                          <a:ea typeface="微软雅黑" panose="020B0503020204020204" pitchFamily="34" charset="-122"/>
                        </a:rPr>
                        <a:t>外部状况</a:t>
                      </a:r>
                      <a:endParaRPr kumimoji="0" lang="zh-CN" altLang="en-US" sz="2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r>
              <a:tr h="690345">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20000"/>
                        </a:spcBef>
                        <a:spcAft>
                          <a:spcPct val="0"/>
                        </a:spcAft>
                        <a:buClrTx/>
                        <a:buSzTx/>
                        <a:buFontTx/>
                        <a:buNone/>
                        <a:tabLst/>
                      </a:pPr>
                      <a:r>
                        <a:rPr kumimoji="0" lang="en-US" altLang="zh-CN" sz="2400" u="none" strike="noStrike" cap="none" normalizeH="0" baseline="0" dirty="0" smtClean="0">
                          <a:ln>
                            <a:noFill/>
                          </a:ln>
                          <a:solidFill>
                            <a:srgbClr val="FF0000"/>
                          </a:solidFill>
                          <a:effectLst/>
                          <a:latin typeface="微软雅黑" panose="020B0503020204020204" pitchFamily="34" charset="-122"/>
                          <a:ea typeface="微软雅黑" panose="020B0503020204020204" pitchFamily="34" charset="-122"/>
                        </a:rPr>
                        <a:t>1</a:t>
                      </a:r>
                      <a:endParaRPr kumimoji="0" lang="en-US" altLang="zh-CN" sz="2400" b="0" i="0" u="none" strike="noStrike" cap="none" normalizeH="0" baseline="0" dirty="0" smtClean="0">
                        <a:ln>
                          <a:noFill/>
                        </a:ln>
                        <a:solidFill>
                          <a:srgbClr val="FF0000"/>
                        </a:solidFill>
                        <a:effectLst/>
                        <a:latin typeface="微软雅黑" panose="020B0503020204020204" pitchFamily="34" charset="-122"/>
                        <a:ea typeface="微软雅黑" panose="020B0503020204020204" pitchFamily="34" charset="-122"/>
                      </a:endParaRPr>
                    </a:p>
                  </a:txBody>
                  <a:tcPr anchor="ctr" horzOverflow="overflow"/>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20000"/>
                        </a:spcBef>
                        <a:spcAft>
                          <a:spcPct val="0"/>
                        </a:spcAft>
                        <a:buClrTx/>
                        <a:buSzTx/>
                        <a:buFontTx/>
                        <a:buNone/>
                        <a:tabLst/>
                      </a:pPr>
                      <a:r>
                        <a:rPr kumimoji="0" lang="zh-CN" altLang="en-US" sz="2400" u="none" strike="noStrike" cap="none" normalizeH="0" baseline="0" dirty="0" smtClean="0">
                          <a:ln>
                            <a:noFill/>
                          </a:ln>
                          <a:solidFill>
                            <a:srgbClr val="FF0000"/>
                          </a:solidFill>
                          <a:effectLst/>
                          <a:latin typeface="微软雅黑" panose="020B0503020204020204" pitchFamily="34" charset="-122"/>
                          <a:ea typeface="微软雅黑" panose="020B0503020204020204" pitchFamily="34" charset="-122"/>
                        </a:rPr>
                        <a:t>经济衰退</a:t>
                      </a:r>
                      <a:r>
                        <a:rPr kumimoji="0" lang="en-US" altLang="zh-CN" sz="2400" u="none" strike="noStrike" cap="none" normalizeH="0" baseline="0" dirty="0" smtClean="0">
                          <a:ln>
                            <a:noFill/>
                          </a:ln>
                          <a:solidFill>
                            <a:srgbClr val="FF0000"/>
                          </a:solidFill>
                          <a:effectLst/>
                          <a:latin typeface="微软雅黑" panose="020B0503020204020204" pitchFamily="34" charset="-122"/>
                          <a:ea typeface="微软雅黑" panose="020B0503020204020204" pitchFamily="34" charset="-122"/>
                        </a:rPr>
                        <a:t>/</a:t>
                      </a:r>
                      <a:r>
                        <a:rPr kumimoji="0" lang="zh-CN" altLang="en-US" sz="2400" u="none" strike="noStrike" cap="none" normalizeH="0" baseline="0" dirty="0" smtClean="0">
                          <a:ln>
                            <a:noFill/>
                          </a:ln>
                          <a:solidFill>
                            <a:srgbClr val="FF0000"/>
                          </a:solidFill>
                          <a:effectLst/>
                          <a:latin typeface="微软雅黑" panose="020B0503020204020204" pitchFamily="34" charset="-122"/>
                          <a:ea typeface="微软雅黑" panose="020B0503020204020204" pitchFamily="34" charset="-122"/>
                        </a:rPr>
                        <a:t>失业增加</a:t>
                      </a:r>
                      <a:endParaRPr kumimoji="0" lang="zh-CN" altLang="en-US" sz="2400" b="0" i="0" u="none" strike="noStrike" cap="none" normalizeH="0" baseline="0" dirty="0" smtClean="0">
                        <a:ln>
                          <a:noFill/>
                        </a:ln>
                        <a:solidFill>
                          <a:srgbClr val="FF0000"/>
                        </a:solidFill>
                        <a:effectLst/>
                        <a:latin typeface="微软雅黑" panose="020B0503020204020204" pitchFamily="34" charset="-122"/>
                        <a:ea typeface="微软雅黑" panose="020B0503020204020204" pitchFamily="34" charset="-122"/>
                      </a:endParaRPr>
                    </a:p>
                  </a:txBody>
                  <a:tcPr anchor="ctr" horzOverflow="overflow"/>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20000"/>
                        </a:spcBef>
                        <a:spcAft>
                          <a:spcPct val="0"/>
                        </a:spcAft>
                        <a:buClrTx/>
                        <a:buSzTx/>
                        <a:buFontTx/>
                        <a:buNone/>
                        <a:tabLst/>
                      </a:pPr>
                      <a:r>
                        <a:rPr kumimoji="0" lang="zh-CN" altLang="en-US" sz="2400" u="none" strike="noStrike" cap="none" normalizeH="0" baseline="0" dirty="0" smtClean="0">
                          <a:ln>
                            <a:noFill/>
                          </a:ln>
                          <a:solidFill>
                            <a:srgbClr val="FF0000"/>
                          </a:solidFill>
                          <a:effectLst/>
                          <a:latin typeface="微软雅黑" panose="020B0503020204020204" pitchFamily="34" charset="-122"/>
                          <a:ea typeface="微软雅黑" panose="020B0503020204020204" pitchFamily="34" charset="-122"/>
                        </a:rPr>
                        <a:t>国际收支逆差</a:t>
                      </a:r>
                      <a:endParaRPr kumimoji="0" lang="zh-CN" altLang="en-US" sz="2400" b="0" i="0" u="none" strike="noStrike" cap="none" normalizeH="0" baseline="0" dirty="0" smtClean="0">
                        <a:ln>
                          <a:noFill/>
                        </a:ln>
                        <a:solidFill>
                          <a:srgbClr val="FF0000"/>
                        </a:solidFill>
                        <a:effectLst/>
                        <a:latin typeface="微软雅黑" panose="020B0503020204020204" pitchFamily="34" charset="-122"/>
                        <a:ea typeface="微软雅黑" panose="020B0503020204020204" pitchFamily="34" charset="-122"/>
                      </a:endParaRPr>
                    </a:p>
                  </a:txBody>
                  <a:tcPr anchor="ctr" horzOverflow="overflow"/>
                </a:tc>
              </a:tr>
              <a:tr h="690345">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20000"/>
                        </a:spcBef>
                        <a:spcAft>
                          <a:spcPct val="0"/>
                        </a:spcAft>
                        <a:buClrTx/>
                        <a:buSzTx/>
                        <a:buFontTx/>
                        <a:buNone/>
                        <a:tabLst/>
                      </a:pPr>
                      <a:r>
                        <a:rPr kumimoji="0" lang="en-US" altLang="zh-CN" sz="2400" u="none" strike="noStrike" cap="none" normalizeH="0" baseline="0" dirty="0" smtClean="0">
                          <a:ln>
                            <a:noFill/>
                          </a:ln>
                          <a:effectLst/>
                          <a:latin typeface="微软雅黑" panose="020B0503020204020204" pitchFamily="34" charset="-122"/>
                          <a:ea typeface="微软雅黑" panose="020B0503020204020204" pitchFamily="34" charset="-122"/>
                        </a:rPr>
                        <a:t>2</a:t>
                      </a:r>
                      <a:endParaRPr kumimoji="0" lang="en-US" altLang="zh-CN"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20000"/>
                        </a:spcBef>
                        <a:spcAft>
                          <a:spcPct val="0"/>
                        </a:spcAft>
                        <a:buClrTx/>
                        <a:buSzTx/>
                        <a:buFontTx/>
                        <a:buNone/>
                        <a:tabLst/>
                      </a:pPr>
                      <a:r>
                        <a:rPr kumimoji="0" lang="zh-CN" altLang="en-US" sz="2400" u="none" strike="noStrike" cap="none" normalizeH="0" baseline="0" smtClean="0">
                          <a:ln>
                            <a:noFill/>
                          </a:ln>
                          <a:effectLst/>
                          <a:latin typeface="微软雅黑" panose="020B0503020204020204" pitchFamily="34" charset="-122"/>
                          <a:ea typeface="微软雅黑" panose="020B0503020204020204" pitchFamily="34" charset="-122"/>
                        </a:rPr>
                        <a:t>经济衰退</a:t>
                      </a: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a:t>
                      </a:r>
                      <a:r>
                        <a:rPr kumimoji="0" lang="zh-CN" altLang="en-US" sz="2400" u="none" strike="noStrike" cap="none" normalizeH="0" baseline="0" smtClean="0">
                          <a:ln>
                            <a:noFill/>
                          </a:ln>
                          <a:effectLst/>
                          <a:latin typeface="微软雅黑" panose="020B0503020204020204" pitchFamily="34" charset="-122"/>
                          <a:ea typeface="微软雅黑" panose="020B0503020204020204" pitchFamily="34" charset="-122"/>
                        </a:rPr>
                        <a:t>失业增加</a:t>
                      </a:r>
                      <a:endParaRPr kumimoji="0" lang="zh-CN" altLang="en-US" sz="2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20000"/>
                        </a:spcBef>
                        <a:spcAft>
                          <a:spcPct val="0"/>
                        </a:spcAft>
                        <a:buClrTx/>
                        <a:buSzTx/>
                        <a:buFontTx/>
                        <a:buNone/>
                        <a:tabLst/>
                      </a:pPr>
                      <a:r>
                        <a:rPr kumimoji="0" lang="zh-CN" altLang="en-US" sz="2400" u="none" strike="noStrike" cap="none" normalizeH="0" baseline="0" smtClean="0">
                          <a:ln>
                            <a:noFill/>
                          </a:ln>
                          <a:effectLst/>
                          <a:latin typeface="微软雅黑" panose="020B0503020204020204" pitchFamily="34" charset="-122"/>
                          <a:ea typeface="微软雅黑" panose="020B0503020204020204" pitchFamily="34" charset="-122"/>
                        </a:rPr>
                        <a:t>国际收支顺差</a:t>
                      </a:r>
                      <a:endParaRPr kumimoji="0" lang="zh-CN" altLang="en-US" sz="2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r>
              <a:tr h="690345">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20000"/>
                        </a:spcBef>
                        <a:spcAft>
                          <a:spcPct val="0"/>
                        </a:spcAft>
                        <a:buClrTx/>
                        <a:buSzTx/>
                        <a:buFontTx/>
                        <a:buNone/>
                        <a:tabLst/>
                      </a:pPr>
                      <a:r>
                        <a:rPr kumimoji="0" lang="en-US" altLang="zh-CN" sz="2400" u="none" strike="noStrike" cap="none" normalizeH="0" baseline="0" dirty="0" smtClean="0">
                          <a:ln>
                            <a:noFill/>
                          </a:ln>
                          <a:effectLst/>
                          <a:latin typeface="微软雅黑" panose="020B0503020204020204" pitchFamily="34" charset="-122"/>
                          <a:ea typeface="微软雅黑" panose="020B0503020204020204" pitchFamily="34" charset="-122"/>
                        </a:rPr>
                        <a:t>3</a:t>
                      </a:r>
                      <a:endParaRPr kumimoji="0" lang="en-US" altLang="zh-CN"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20000"/>
                        </a:spcBef>
                        <a:spcAft>
                          <a:spcPct val="0"/>
                        </a:spcAft>
                        <a:buClrTx/>
                        <a:buSzTx/>
                        <a:buFontTx/>
                        <a:buNone/>
                        <a:tabLst/>
                      </a:pPr>
                      <a:r>
                        <a:rPr kumimoji="0" lang="zh-CN" altLang="en-US" sz="2400" u="none" strike="noStrike" cap="none" normalizeH="0" baseline="0" smtClean="0">
                          <a:ln>
                            <a:noFill/>
                          </a:ln>
                          <a:effectLst/>
                          <a:latin typeface="微软雅黑" panose="020B0503020204020204" pitchFamily="34" charset="-122"/>
                          <a:ea typeface="微软雅黑" panose="020B0503020204020204" pitchFamily="34" charset="-122"/>
                        </a:rPr>
                        <a:t>通货膨胀</a:t>
                      </a:r>
                      <a:endParaRPr kumimoji="0" lang="zh-CN" altLang="en-US" sz="2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20000"/>
                        </a:spcBef>
                        <a:spcAft>
                          <a:spcPct val="0"/>
                        </a:spcAft>
                        <a:buClrTx/>
                        <a:buSzTx/>
                        <a:buFontTx/>
                        <a:buNone/>
                        <a:tabLst/>
                      </a:pPr>
                      <a:r>
                        <a:rPr kumimoji="0" lang="zh-CN" altLang="en-US" sz="2400" u="none" strike="noStrike" cap="none" normalizeH="0" baseline="0" smtClean="0">
                          <a:ln>
                            <a:noFill/>
                          </a:ln>
                          <a:effectLst/>
                          <a:latin typeface="微软雅黑" panose="020B0503020204020204" pitchFamily="34" charset="-122"/>
                          <a:ea typeface="微软雅黑" panose="020B0503020204020204" pitchFamily="34" charset="-122"/>
                        </a:rPr>
                        <a:t>国际收支逆差</a:t>
                      </a:r>
                      <a:endParaRPr kumimoji="0" lang="zh-CN" altLang="en-US" sz="2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r>
              <a:tr h="690345">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20000"/>
                        </a:spcBef>
                        <a:spcAft>
                          <a:spcPct val="0"/>
                        </a:spcAft>
                        <a:buClrTx/>
                        <a:buSzTx/>
                        <a:buFontTx/>
                        <a:buNone/>
                        <a:tabLst/>
                      </a:pPr>
                      <a:r>
                        <a:rPr kumimoji="0" lang="en-US" altLang="zh-CN" sz="2400" u="none" strike="noStrike" cap="none" normalizeH="0" baseline="0" dirty="0" smtClean="0">
                          <a:ln>
                            <a:noFill/>
                          </a:ln>
                          <a:solidFill>
                            <a:srgbClr val="FF0000"/>
                          </a:solidFill>
                          <a:effectLst/>
                          <a:latin typeface="微软雅黑" panose="020B0503020204020204" pitchFamily="34" charset="-122"/>
                          <a:ea typeface="微软雅黑" panose="020B0503020204020204" pitchFamily="34" charset="-122"/>
                        </a:rPr>
                        <a:t>4</a:t>
                      </a:r>
                      <a:endParaRPr kumimoji="0" lang="en-US" altLang="zh-CN" sz="2400" b="0" i="0" u="none" strike="noStrike" cap="none" normalizeH="0" baseline="0" dirty="0" smtClean="0">
                        <a:ln>
                          <a:noFill/>
                        </a:ln>
                        <a:solidFill>
                          <a:srgbClr val="FF0000"/>
                        </a:solidFill>
                        <a:effectLst/>
                        <a:latin typeface="微软雅黑" panose="020B0503020204020204" pitchFamily="34" charset="-122"/>
                        <a:ea typeface="微软雅黑" panose="020B0503020204020204" pitchFamily="34" charset="-122"/>
                      </a:endParaRPr>
                    </a:p>
                  </a:txBody>
                  <a:tcPr anchor="ctr" horzOverflow="overflow"/>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20000"/>
                        </a:spcBef>
                        <a:spcAft>
                          <a:spcPct val="0"/>
                        </a:spcAft>
                        <a:buClrTx/>
                        <a:buSzTx/>
                        <a:buFontTx/>
                        <a:buNone/>
                        <a:tabLst/>
                      </a:pPr>
                      <a:r>
                        <a:rPr kumimoji="0" lang="zh-CN" altLang="en-US" sz="2400" u="none" strike="noStrike" cap="none" normalizeH="0" baseline="0" smtClean="0">
                          <a:ln>
                            <a:noFill/>
                          </a:ln>
                          <a:solidFill>
                            <a:srgbClr val="FF0000"/>
                          </a:solidFill>
                          <a:effectLst/>
                          <a:latin typeface="微软雅黑" panose="020B0503020204020204" pitchFamily="34" charset="-122"/>
                          <a:ea typeface="微软雅黑" panose="020B0503020204020204" pitchFamily="34" charset="-122"/>
                        </a:rPr>
                        <a:t>通货膨胀</a:t>
                      </a:r>
                      <a:endParaRPr kumimoji="0" lang="zh-CN" altLang="en-US" sz="2400" b="0" i="0" u="none" strike="noStrike" cap="none" normalizeH="0" baseline="0" smtClean="0">
                        <a:ln>
                          <a:noFill/>
                        </a:ln>
                        <a:solidFill>
                          <a:srgbClr val="FF0000"/>
                        </a:solidFill>
                        <a:effectLst/>
                        <a:latin typeface="微软雅黑" panose="020B0503020204020204" pitchFamily="34" charset="-122"/>
                        <a:ea typeface="微软雅黑" panose="020B0503020204020204" pitchFamily="34" charset="-122"/>
                      </a:endParaRPr>
                    </a:p>
                  </a:txBody>
                  <a:tcPr anchor="ctr" horzOverflow="overflow"/>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20000"/>
                        </a:spcBef>
                        <a:spcAft>
                          <a:spcPct val="0"/>
                        </a:spcAft>
                        <a:buClrTx/>
                        <a:buSzTx/>
                        <a:buFontTx/>
                        <a:buNone/>
                        <a:tabLst/>
                      </a:pPr>
                      <a:r>
                        <a:rPr kumimoji="0" lang="zh-CN" altLang="en-US" sz="2400" u="none" strike="noStrike" cap="none" normalizeH="0" baseline="0" dirty="0" smtClean="0">
                          <a:ln>
                            <a:noFill/>
                          </a:ln>
                          <a:solidFill>
                            <a:srgbClr val="FF0000"/>
                          </a:solidFill>
                          <a:effectLst/>
                          <a:latin typeface="微软雅黑" panose="020B0503020204020204" pitchFamily="34" charset="-122"/>
                          <a:ea typeface="微软雅黑" panose="020B0503020204020204" pitchFamily="34" charset="-122"/>
                        </a:rPr>
                        <a:t>国际收支顺差</a:t>
                      </a:r>
                      <a:endParaRPr kumimoji="0" lang="zh-CN" altLang="en-US" sz="2400" b="0" i="0" u="none" strike="noStrike" cap="none" normalizeH="0" baseline="0" dirty="0" smtClean="0">
                        <a:ln>
                          <a:noFill/>
                        </a:ln>
                        <a:solidFill>
                          <a:srgbClr val="FF0000"/>
                        </a:solidFill>
                        <a:effectLst/>
                        <a:latin typeface="微软雅黑" panose="020B0503020204020204" pitchFamily="34" charset="-122"/>
                        <a:ea typeface="微软雅黑" panose="020B0503020204020204" pitchFamily="34" charset="-122"/>
                      </a:endParaRPr>
                    </a:p>
                  </a:txBody>
                  <a:tcPr anchor="ctr" horzOverflow="overflow"/>
                </a:tc>
              </a:tr>
            </a:tbl>
          </a:graphicData>
        </a:graphic>
      </p:graphicFrame>
      <p:sp>
        <p:nvSpPr>
          <p:cNvPr id="8" name="标题 1"/>
          <p:cNvSpPr>
            <a:spLocks noGrp="1"/>
          </p:cNvSpPr>
          <p:nvPr>
            <p:ph type="title"/>
          </p:nvPr>
        </p:nvSpPr>
        <p:spPr>
          <a:xfrm>
            <a:off x="192505" y="18386"/>
            <a:ext cx="8951495" cy="1142385"/>
          </a:xfrm>
        </p:spPr>
        <p:txBody>
          <a:bodyPr>
            <a:normAutofit/>
          </a:bodyPr>
          <a:lstStyle/>
          <a:p>
            <a:r>
              <a:rPr lang="zh-CN" altLang="en-US" sz="2800" dirty="0" smtClean="0"/>
              <a:t>第一节  开放</a:t>
            </a:r>
            <a:r>
              <a:rPr lang="zh-CN" altLang="en-US" sz="2800" dirty="0"/>
              <a:t>经济条件下的政策目标、工具和调控原理</a:t>
            </a:r>
            <a:endParaRPr lang="zh-CN" sz="2800" dirty="0"/>
          </a:p>
        </p:txBody>
      </p:sp>
    </p:spTree>
    <p:extLst>
      <p:ext uri="{BB962C8B-B14F-4D97-AF65-F5344CB8AC3E}">
        <p14:creationId xmlns:p14="http://schemas.microsoft.com/office/powerpoint/2010/main" val="3088766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550" y="1447799"/>
            <a:ext cx="7200900" cy="4841879"/>
          </a:xfrm>
        </p:spPr>
        <p:txBody>
          <a:bodyPr>
            <a:normAutofit fontScale="85000" lnSpcReduction="10000"/>
          </a:bodyPr>
          <a:lstStyle/>
          <a:p>
            <a:pPr marL="0" indent="0">
              <a:lnSpc>
                <a:spcPct val="110000"/>
              </a:lnSpc>
              <a:buNone/>
            </a:pPr>
            <a:r>
              <a:rPr lang="zh-CN" altLang="en-US" sz="2600" b="1" dirty="0">
                <a:solidFill>
                  <a:schemeClr val="accent1"/>
                </a:solidFill>
                <a:latin typeface="微软雅黑" panose="020B0503020204020204" pitchFamily="34" charset="-122"/>
                <a:ea typeface="微软雅黑" panose="020B0503020204020204" pitchFamily="34" charset="-122"/>
              </a:rPr>
              <a:t>一、开放经济条件下内外均衡的一致与冲突</a:t>
            </a:r>
          </a:p>
          <a:p>
            <a:pPr marL="0" indent="0">
              <a:lnSpc>
                <a:spcPct val="110000"/>
              </a:lnSpc>
              <a:buNone/>
            </a:pPr>
            <a:r>
              <a:rPr lang="zh-CN" altLang="en-US" sz="2600" b="1" dirty="0">
                <a:solidFill>
                  <a:schemeClr val="accent1"/>
                </a:solidFill>
                <a:latin typeface="微软雅黑" panose="020B0503020204020204" pitchFamily="34" charset="-122"/>
                <a:ea typeface="微软雅黑" panose="020B0503020204020204" pitchFamily="34" charset="-122"/>
              </a:rPr>
              <a:t>二、米德</a:t>
            </a:r>
            <a:r>
              <a:rPr lang="zh-CN" altLang="en-US" sz="2600" b="1" dirty="0" smtClean="0">
                <a:solidFill>
                  <a:schemeClr val="accent1"/>
                </a:solidFill>
                <a:latin typeface="微软雅黑" panose="020B0503020204020204" pitchFamily="34" charset="-122"/>
                <a:ea typeface="微软雅黑" panose="020B0503020204020204" pitchFamily="34" charset="-122"/>
              </a:rPr>
              <a:t>冲突</a:t>
            </a:r>
            <a:endParaRPr lang="en-US" altLang="zh-CN" sz="2600" b="1" dirty="0" smtClean="0">
              <a:solidFill>
                <a:schemeClr val="accent1"/>
              </a:solidFill>
              <a:latin typeface="微软雅黑" panose="020B0503020204020204" pitchFamily="34" charset="-122"/>
              <a:ea typeface="微软雅黑" panose="020B0503020204020204" pitchFamily="34" charset="-122"/>
            </a:endParaRPr>
          </a:p>
          <a:p>
            <a:pPr marL="0" indent="0">
              <a:lnSpc>
                <a:spcPct val="110000"/>
              </a:lnSpc>
              <a:buNone/>
            </a:pPr>
            <a:r>
              <a:rPr lang="zh-CN" altLang="en-US" sz="2600" b="1" dirty="0">
                <a:solidFill>
                  <a:schemeClr val="accent1"/>
                </a:solidFill>
                <a:latin typeface="微软雅黑" panose="020B0503020204020204" pitchFamily="34" charset="-122"/>
                <a:ea typeface="微软雅黑" panose="020B0503020204020204" pitchFamily="34" charset="-122"/>
              </a:rPr>
              <a:t>三、丁伯根原则</a:t>
            </a:r>
          </a:p>
          <a:p>
            <a:pPr marL="0" indent="457200">
              <a:lnSpc>
                <a:spcPct val="140000"/>
              </a:lnSpc>
              <a:buNone/>
            </a:pPr>
            <a:r>
              <a:rPr lang="en-US" altLang="zh-CN" sz="2200" dirty="0" smtClean="0">
                <a:latin typeface="微软雅黑" panose="020B0503020204020204" pitchFamily="34" charset="-122"/>
                <a:ea typeface="微软雅黑" panose="020B0503020204020204" pitchFamily="34" charset="-122"/>
              </a:rPr>
              <a:t>1952</a:t>
            </a:r>
            <a:r>
              <a:rPr lang="zh-CN" altLang="en-US" sz="2200" dirty="0">
                <a:latin typeface="微软雅黑" panose="020B0503020204020204" pitchFamily="34" charset="-122"/>
                <a:ea typeface="微软雅黑" panose="020B0503020204020204" pitchFamily="34" charset="-122"/>
              </a:rPr>
              <a:t>年荷兰经济学家丁伯根提出。他指出，要实现</a:t>
            </a:r>
            <a:r>
              <a:rPr lang="en-US" altLang="zh-CN" sz="2200" dirty="0">
                <a:latin typeface="微软雅黑" panose="020B0503020204020204" pitchFamily="34" charset="-122"/>
                <a:ea typeface="微软雅黑" panose="020B0503020204020204" pitchFamily="34" charset="-122"/>
              </a:rPr>
              <a:t>N</a:t>
            </a:r>
            <a:r>
              <a:rPr lang="zh-CN" altLang="en-US" sz="2200" dirty="0">
                <a:latin typeface="微软雅黑" panose="020B0503020204020204" pitchFamily="34" charset="-122"/>
                <a:ea typeface="微软雅黑" panose="020B0503020204020204" pitchFamily="34" charset="-122"/>
              </a:rPr>
              <a:t>种独立的政策目标，至少需要相互独立的</a:t>
            </a:r>
            <a:r>
              <a:rPr lang="en-US" altLang="zh-CN" sz="2200" dirty="0">
                <a:latin typeface="微软雅黑" panose="020B0503020204020204" pitchFamily="34" charset="-122"/>
                <a:ea typeface="微软雅黑" panose="020B0503020204020204" pitchFamily="34" charset="-122"/>
              </a:rPr>
              <a:t>N</a:t>
            </a:r>
            <a:r>
              <a:rPr lang="zh-CN" altLang="en-US" sz="2200" dirty="0">
                <a:latin typeface="微软雅黑" panose="020B0503020204020204" pitchFamily="34" charset="-122"/>
                <a:ea typeface="微软雅黑" panose="020B0503020204020204" pitchFamily="34" charset="-122"/>
              </a:rPr>
              <a:t>种有效的政策工具。这一结论对经济政策理论具有深远意义</a:t>
            </a:r>
            <a:r>
              <a:rPr lang="zh-CN" altLang="en-US" sz="2200" dirty="0" smtClean="0">
                <a:latin typeface="微软雅黑" panose="020B0503020204020204" pitchFamily="34" charset="-122"/>
                <a:ea typeface="微软雅黑" panose="020B0503020204020204" pitchFamily="34" charset="-122"/>
              </a:rPr>
              <a:t>。（</a:t>
            </a:r>
            <a:r>
              <a:rPr lang="en-US" altLang="zh-CN" sz="2200" dirty="0" smtClean="0">
                <a:latin typeface="微软雅黑" panose="020B0503020204020204" pitchFamily="34" charset="-122"/>
                <a:ea typeface="微软雅黑" panose="020B0503020204020204" pitchFamily="34" charset="-122"/>
              </a:rPr>
              <a:t>1969</a:t>
            </a:r>
            <a:r>
              <a:rPr lang="zh-CN" altLang="en-US" sz="2200" dirty="0" smtClean="0">
                <a:latin typeface="微软雅黑" panose="020B0503020204020204" pitchFamily="34" charset="-122"/>
                <a:ea typeface="微软雅黑" panose="020B0503020204020204" pitchFamily="34" charset="-122"/>
              </a:rPr>
              <a:t>年诺贝尔经济学奖获得者）</a:t>
            </a:r>
            <a:endParaRPr lang="zh-CN" altLang="en-US" sz="2200" dirty="0">
              <a:latin typeface="微软雅黑" panose="020B0503020204020204" pitchFamily="34" charset="-122"/>
              <a:ea typeface="微软雅黑" panose="020B0503020204020204" pitchFamily="34" charset="-122"/>
            </a:endParaRPr>
          </a:p>
          <a:p>
            <a:pPr marL="0" indent="457200">
              <a:lnSpc>
                <a:spcPct val="140000"/>
              </a:lnSpc>
              <a:buNone/>
            </a:pPr>
            <a:r>
              <a:rPr lang="zh-CN" altLang="en-US" sz="2200" dirty="0" smtClean="0">
                <a:latin typeface="微软雅黑" panose="020B0503020204020204" pitchFamily="34" charset="-122"/>
                <a:ea typeface="微软雅黑" panose="020B0503020204020204" pitchFamily="34" charset="-122"/>
              </a:rPr>
              <a:t>丁伯根</a:t>
            </a:r>
            <a:r>
              <a:rPr lang="zh-CN" altLang="en-US" sz="2200" dirty="0">
                <a:latin typeface="微软雅黑" panose="020B0503020204020204" pitchFamily="34" charset="-122"/>
                <a:ea typeface="微软雅黑" panose="020B0503020204020204" pitchFamily="34" charset="-122"/>
              </a:rPr>
              <a:t>原则假定各种政策工具可以供决策当局集中控制，从而通过各种工具紧密配合实现政策目标；丁伯根原则没有明确指出每种工具有无必要在调控中侧重某一目标的实现。这两个特点不尽与实际情况符合。</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7" name="标题 1"/>
          <p:cNvSpPr>
            <a:spLocks noGrp="1"/>
          </p:cNvSpPr>
          <p:nvPr>
            <p:ph type="title"/>
          </p:nvPr>
        </p:nvSpPr>
        <p:spPr>
          <a:xfrm>
            <a:off x="192505" y="18386"/>
            <a:ext cx="8951495" cy="1142385"/>
          </a:xfrm>
        </p:spPr>
        <p:txBody>
          <a:bodyPr>
            <a:normAutofit/>
          </a:bodyPr>
          <a:lstStyle/>
          <a:p>
            <a:r>
              <a:rPr lang="zh-CN" altLang="en-US" sz="2800" dirty="0" smtClean="0"/>
              <a:t>第一节  开放</a:t>
            </a:r>
            <a:r>
              <a:rPr lang="zh-CN" altLang="en-US" sz="2800" dirty="0"/>
              <a:t>经济条件下的政策目标、工具和调控原理</a:t>
            </a:r>
            <a:endParaRPr lang="zh-CN" sz="2800" dirty="0"/>
          </a:p>
        </p:txBody>
      </p:sp>
    </p:spTree>
    <p:extLst>
      <p:ext uri="{BB962C8B-B14F-4D97-AF65-F5344CB8AC3E}">
        <p14:creationId xmlns:p14="http://schemas.microsoft.com/office/powerpoint/2010/main" val="2581634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4384" y="445168"/>
            <a:ext cx="8843211" cy="715603"/>
          </a:xfrm>
        </p:spPr>
        <p:txBody>
          <a:bodyPr>
            <a:normAutofit/>
          </a:bodyPr>
          <a:lstStyle/>
          <a:p>
            <a:r>
              <a:rPr altLang="en-US" sz="2800" dirty="0" smtClean="0"/>
              <a:t>第一节  开放</a:t>
            </a:r>
            <a:r>
              <a:rPr lang="zh-CN" altLang="en-US" sz="2800" dirty="0"/>
              <a:t>经济条件下的政策</a:t>
            </a:r>
            <a:r>
              <a:rPr lang="zh-CN" altLang="en-US" sz="2800" dirty="0" smtClean="0"/>
              <a:t>目标</a:t>
            </a:r>
            <a:r>
              <a:rPr altLang="en-US" sz="2800" dirty="0" smtClean="0"/>
              <a:t>、</a:t>
            </a:r>
            <a:r>
              <a:rPr lang="zh-CN" altLang="en-US" sz="2800" dirty="0" smtClean="0"/>
              <a:t>工具</a:t>
            </a:r>
            <a:r>
              <a:rPr lang="zh-CN" altLang="en-US" sz="2800" dirty="0"/>
              <a:t>和调控原理</a:t>
            </a:r>
            <a:endParaRPr lang="zh-CN" sz="2800" dirty="0"/>
          </a:p>
        </p:txBody>
      </p:sp>
      <p:sp>
        <p:nvSpPr>
          <p:cNvPr id="3" name="内容占位符 2"/>
          <p:cNvSpPr>
            <a:spLocks noGrp="1"/>
          </p:cNvSpPr>
          <p:nvPr>
            <p:ph idx="1"/>
          </p:nvPr>
        </p:nvSpPr>
        <p:spPr>
          <a:xfrm>
            <a:off x="971550" y="1279351"/>
            <a:ext cx="7200900" cy="4841879"/>
          </a:xfrm>
        </p:spPr>
        <p:txBody>
          <a:bodyPr>
            <a:normAutofit/>
          </a:bodyPr>
          <a:lstStyle/>
          <a:p>
            <a:pPr marL="0" indent="0">
              <a:lnSpc>
                <a:spcPct val="110000"/>
              </a:lnSpc>
              <a:buNone/>
            </a:pPr>
            <a:r>
              <a:rPr lang="zh-CN" altLang="en-US" sz="2400" b="1" dirty="0">
                <a:solidFill>
                  <a:schemeClr val="accent1"/>
                </a:solidFill>
                <a:latin typeface="微软雅黑" panose="020B0503020204020204" pitchFamily="34" charset="-122"/>
                <a:ea typeface="微软雅黑" panose="020B0503020204020204" pitchFamily="34" charset="-122"/>
              </a:rPr>
              <a:t>四、斯旺曲线</a:t>
            </a:r>
          </a:p>
          <a:p>
            <a:pPr marL="0" indent="457200">
              <a:lnSpc>
                <a:spcPct val="100000"/>
              </a:lnSpc>
              <a:buNone/>
            </a:pPr>
            <a:r>
              <a:rPr lang="en-US" altLang="zh-CN" sz="2400" dirty="0">
                <a:latin typeface="微软雅黑" panose="020B0503020204020204" pitchFamily="34" charset="-122"/>
                <a:ea typeface="微软雅黑" panose="020B0503020204020204" pitchFamily="34" charset="-122"/>
              </a:rPr>
              <a:t>1955</a:t>
            </a:r>
            <a:r>
              <a:rPr lang="zh-CN" altLang="en-US" sz="2400" dirty="0">
                <a:latin typeface="微软雅黑" panose="020B0503020204020204" pitchFamily="34" charset="-122"/>
                <a:ea typeface="微软雅黑" panose="020B0503020204020204" pitchFamily="34" charset="-122"/>
              </a:rPr>
              <a:t>年澳大利亚经济学家斯旺提出</a:t>
            </a:r>
            <a:r>
              <a:rPr lang="zh-CN" altLang="en-US" sz="2600" dirty="0">
                <a:latin typeface="微软雅黑" panose="020B0503020204020204" pitchFamily="34" charset="-122"/>
                <a:ea typeface="微软雅黑" panose="020B0503020204020204" pitchFamily="34" charset="-122"/>
              </a:rPr>
              <a:t>。</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grpSp>
        <p:nvGrpSpPr>
          <p:cNvPr id="6" name="Group 31"/>
          <p:cNvGrpSpPr>
            <a:grpSpLocks/>
          </p:cNvGrpSpPr>
          <p:nvPr/>
        </p:nvGrpSpPr>
        <p:grpSpPr bwMode="auto">
          <a:xfrm>
            <a:off x="971551" y="2610856"/>
            <a:ext cx="7209924" cy="3662642"/>
            <a:chOff x="567" y="1344"/>
            <a:chExt cx="5193" cy="2421"/>
          </a:xfrm>
        </p:grpSpPr>
        <p:grpSp>
          <p:nvGrpSpPr>
            <p:cNvPr id="7" name="Group 28"/>
            <p:cNvGrpSpPr>
              <a:grpSpLocks/>
            </p:cNvGrpSpPr>
            <p:nvPr/>
          </p:nvGrpSpPr>
          <p:grpSpPr bwMode="auto">
            <a:xfrm>
              <a:off x="1202" y="1616"/>
              <a:ext cx="3266" cy="1981"/>
              <a:chOff x="1202" y="1616"/>
              <a:chExt cx="3266" cy="1981"/>
            </a:xfrm>
          </p:grpSpPr>
          <p:sp>
            <p:nvSpPr>
              <p:cNvPr id="28" name="Text Box 19"/>
              <p:cNvSpPr txBox="1">
                <a:spLocks noChangeArrowheads="1"/>
              </p:cNvSpPr>
              <p:nvPr/>
            </p:nvSpPr>
            <p:spPr bwMode="auto">
              <a:xfrm>
                <a:off x="2064" y="1616"/>
                <a:ext cx="635" cy="54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dirty="0">
                    <a:solidFill>
                      <a:srgbClr val="0070C0"/>
                    </a:solidFill>
                    <a:ea typeface="黑体" panose="02010609060101010101" pitchFamily="49" charset="-122"/>
                  </a:rPr>
                  <a:t>顺差通胀</a:t>
                </a:r>
              </a:p>
            </p:txBody>
          </p:sp>
          <p:sp>
            <p:nvSpPr>
              <p:cNvPr id="29" name="Text Box 20"/>
              <p:cNvSpPr txBox="1">
                <a:spLocks noChangeArrowheads="1"/>
              </p:cNvSpPr>
              <p:nvPr/>
            </p:nvSpPr>
            <p:spPr bwMode="auto">
              <a:xfrm>
                <a:off x="3833" y="1933"/>
                <a:ext cx="635" cy="54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dirty="0">
                    <a:solidFill>
                      <a:srgbClr val="0070C0"/>
                    </a:solidFill>
                    <a:ea typeface="黑体" panose="02010609060101010101" pitchFamily="49" charset="-122"/>
                  </a:rPr>
                  <a:t>逆差通胀</a:t>
                </a:r>
              </a:p>
            </p:txBody>
          </p:sp>
          <p:sp>
            <p:nvSpPr>
              <p:cNvPr id="30" name="Text Box 21"/>
              <p:cNvSpPr txBox="1">
                <a:spLocks noChangeArrowheads="1"/>
              </p:cNvSpPr>
              <p:nvPr/>
            </p:nvSpPr>
            <p:spPr bwMode="auto">
              <a:xfrm>
                <a:off x="2154" y="3048"/>
                <a:ext cx="635" cy="54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dirty="0">
                    <a:solidFill>
                      <a:srgbClr val="0070C0"/>
                    </a:solidFill>
                    <a:ea typeface="黑体" panose="02010609060101010101" pitchFamily="49" charset="-122"/>
                  </a:rPr>
                  <a:t>逆差失业</a:t>
                </a:r>
              </a:p>
            </p:txBody>
          </p:sp>
          <p:sp>
            <p:nvSpPr>
              <p:cNvPr id="31" name="Text Box 22"/>
              <p:cNvSpPr txBox="1">
                <a:spLocks noChangeArrowheads="1"/>
              </p:cNvSpPr>
              <p:nvPr/>
            </p:nvSpPr>
            <p:spPr bwMode="auto">
              <a:xfrm>
                <a:off x="1202" y="2322"/>
                <a:ext cx="635" cy="54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dirty="0">
                    <a:solidFill>
                      <a:srgbClr val="0070C0"/>
                    </a:solidFill>
                    <a:ea typeface="黑体" panose="02010609060101010101" pitchFamily="49" charset="-122"/>
                  </a:rPr>
                  <a:t>顺差失业</a:t>
                </a:r>
              </a:p>
            </p:txBody>
          </p:sp>
        </p:grpSp>
        <p:grpSp>
          <p:nvGrpSpPr>
            <p:cNvPr id="8" name="Group 30"/>
            <p:cNvGrpSpPr>
              <a:grpSpLocks/>
            </p:cNvGrpSpPr>
            <p:nvPr/>
          </p:nvGrpSpPr>
          <p:grpSpPr bwMode="auto">
            <a:xfrm>
              <a:off x="567" y="1344"/>
              <a:ext cx="5193" cy="2421"/>
              <a:chOff x="567" y="1344"/>
              <a:chExt cx="5193" cy="2421"/>
            </a:xfrm>
          </p:grpSpPr>
          <p:grpSp>
            <p:nvGrpSpPr>
              <p:cNvPr id="9" name="Group 27"/>
              <p:cNvGrpSpPr>
                <a:grpSpLocks/>
              </p:cNvGrpSpPr>
              <p:nvPr/>
            </p:nvGrpSpPr>
            <p:grpSpPr bwMode="auto">
              <a:xfrm>
                <a:off x="567" y="1344"/>
                <a:ext cx="5193" cy="2421"/>
                <a:chOff x="567" y="1344"/>
                <a:chExt cx="5193" cy="2421"/>
              </a:xfrm>
            </p:grpSpPr>
            <p:sp>
              <p:nvSpPr>
                <p:cNvPr id="14" name="Line 4"/>
                <p:cNvSpPr>
                  <a:spLocks noChangeShapeType="1"/>
                </p:cNvSpPr>
                <p:nvPr/>
              </p:nvSpPr>
              <p:spPr bwMode="auto">
                <a:xfrm flipV="1">
                  <a:off x="1020" y="1570"/>
                  <a:ext cx="0" cy="1996"/>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rgbClr val="0070C0"/>
                    </a:solidFill>
                  </a:endParaRPr>
                </a:p>
              </p:txBody>
            </p:sp>
            <p:sp>
              <p:nvSpPr>
                <p:cNvPr id="15" name="Line 5"/>
                <p:cNvSpPr>
                  <a:spLocks noChangeShapeType="1"/>
                </p:cNvSpPr>
                <p:nvPr/>
              </p:nvSpPr>
              <p:spPr bwMode="auto">
                <a:xfrm>
                  <a:off x="1020" y="3566"/>
                  <a:ext cx="3221" cy="0"/>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rgbClr val="0070C0"/>
                    </a:solidFill>
                  </a:endParaRPr>
                </a:p>
              </p:txBody>
            </p:sp>
            <p:sp>
              <p:nvSpPr>
                <p:cNvPr id="16" name="Text Box 6"/>
                <p:cNvSpPr txBox="1">
                  <a:spLocks noChangeArrowheads="1"/>
                </p:cNvSpPr>
                <p:nvPr/>
              </p:nvSpPr>
              <p:spPr bwMode="auto">
                <a:xfrm>
                  <a:off x="748" y="1344"/>
                  <a:ext cx="1655" cy="30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dirty="0">
                      <a:solidFill>
                        <a:srgbClr val="0070C0"/>
                      </a:solidFill>
                      <a:ea typeface="黑体" panose="02010609060101010101" pitchFamily="49" charset="-122"/>
                    </a:rPr>
                    <a:t>R</a:t>
                  </a:r>
                  <a:r>
                    <a:rPr lang="zh-CN" altLang="en-US" sz="2400" dirty="0">
                      <a:solidFill>
                        <a:srgbClr val="0070C0"/>
                      </a:solidFill>
                      <a:ea typeface="黑体" panose="02010609060101010101" pitchFamily="49" charset="-122"/>
                    </a:rPr>
                    <a:t>（实际汇率）</a:t>
                  </a:r>
                </a:p>
              </p:txBody>
            </p:sp>
            <p:sp>
              <p:nvSpPr>
                <p:cNvPr id="17" name="Text Box 7"/>
                <p:cNvSpPr txBox="1">
                  <a:spLocks noChangeArrowheads="1"/>
                </p:cNvSpPr>
                <p:nvPr/>
              </p:nvSpPr>
              <p:spPr bwMode="auto">
                <a:xfrm>
                  <a:off x="4286" y="3414"/>
                  <a:ext cx="1474" cy="30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dirty="0">
                      <a:solidFill>
                        <a:srgbClr val="0070C0"/>
                      </a:solidFill>
                      <a:ea typeface="黑体" panose="02010609060101010101" pitchFamily="49" charset="-122"/>
                    </a:rPr>
                    <a:t>A</a:t>
                  </a:r>
                  <a:r>
                    <a:rPr lang="zh-CN" altLang="en-US" sz="2400" dirty="0">
                      <a:solidFill>
                        <a:srgbClr val="0070C0"/>
                      </a:solidFill>
                      <a:ea typeface="黑体" panose="02010609060101010101" pitchFamily="49" charset="-122"/>
                    </a:rPr>
                    <a:t>（国内支出）</a:t>
                  </a:r>
                </a:p>
              </p:txBody>
            </p:sp>
            <p:sp>
              <p:nvSpPr>
                <p:cNvPr id="18" name="Text Box 8"/>
                <p:cNvSpPr txBox="1">
                  <a:spLocks noChangeArrowheads="1"/>
                </p:cNvSpPr>
                <p:nvPr/>
              </p:nvSpPr>
              <p:spPr bwMode="auto">
                <a:xfrm>
                  <a:off x="748" y="3460"/>
                  <a:ext cx="272" cy="30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dirty="0">
                      <a:solidFill>
                        <a:srgbClr val="0070C0"/>
                      </a:solidFill>
                      <a:ea typeface="黑体" panose="02010609060101010101" pitchFamily="49" charset="-122"/>
                    </a:rPr>
                    <a:t>O</a:t>
                  </a:r>
                </a:p>
              </p:txBody>
            </p:sp>
            <p:sp>
              <p:nvSpPr>
                <p:cNvPr id="19" name="Line 9"/>
                <p:cNvSpPr>
                  <a:spLocks noChangeShapeType="1"/>
                </p:cNvSpPr>
                <p:nvPr/>
              </p:nvSpPr>
              <p:spPr bwMode="auto">
                <a:xfrm flipV="1">
                  <a:off x="884" y="1616"/>
                  <a:ext cx="0" cy="725"/>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rgbClr val="0070C0"/>
                    </a:solidFill>
                  </a:endParaRPr>
                </a:p>
              </p:txBody>
            </p:sp>
            <p:sp>
              <p:nvSpPr>
                <p:cNvPr id="20" name="Line 10"/>
                <p:cNvSpPr>
                  <a:spLocks noChangeShapeType="1"/>
                </p:cNvSpPr>
                <p:nvPr/>
              </p:nvSpPr>
              <p:spPr bwMode="auto">
                <a:xfrm>
                  <a:off x="884" y="2704"/>
                  <a:ext cx="0" cy="771"/>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rgbClr val="0070C0"/>
                    </a:solidFill>
                  </a:endParaRPr>
                </a:p>
              </p:txBody>
            </p:sp>
            <p:sp>
              <p:nvSpPr>
                <p:cNvPr id="21" name="Text Box 11"/>
                <p:cNvSpPr txBox="1">
                  <a:spLocks noChangeArrowheads="1"/>
                </p:cNvSpPr>
                <p:nvPr/>
              </p:nvSpPr>
              <p:spPr bwMode="auto">
                <a:xfrm>
                  <a:off x="567" y="1842"/>
                  <a:ext cx="272" cy="54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dirty="0">
                      <a:solidFill>
                        <a:srgbClr val="0070C0"/>
                      </a:solidFill>
                      <a:ea typeface="黑体" panose="02010609060101010101" pitchFamily="49" charset="-122"/>
                    </a:rPr>
                    <a:t>贬值</a:t>
                  </a:r>
                </a:p>
              </p:txBody>
            </p:sp>
            <p:sp>
              <p:nvSpPr>
                <p:cNvPr id="22" name="Text Box 12"/>
                <p:cNvSpPr txBox="1">
                  <a:spLocks noChangeArrowheads="1"/>
                </p:cNvSpPr>
                <p:nvPr/>
              </p:nvSpPr>
              <p:spPr bwMode="auto">
                <a:xfrm>
                  <a:off x="567" y="2731"/>
                  <a:ext cx="272" cy="54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dirty="0">
                      <a:solidFill>
                        <a:srgbClr val="0070C0"/>
                      </a:solidFill>
                      <a:ea typeface="黑体" panose="02010609060101010101" pitchFamily="49" charset="-122"/>
                    </a:rPr>
                    <a:t>升值</a:t>
                  </a:r>
                </a:p>
              </p:txBody>
            </p:sp>
            <p:sp>
              <p:nvSpPr>
                <p:cNvPr id="23" name="Freeform 14"/>
                <p:cNvSpPr>
                  <a:spLocks/>
                </p:cNvSpPr>
                <p:nvPr/>
              </p:nvSpPr>
              <p:spPr bwMode="auto">
                <a:xfrm>
                  <a:off x="1429" y="1842"/>
                  <a:ext cx="2267" cy="1361"/>
                </a:xfrm>
                <a:custGeom>
                  <a:avLst/>
                  <a:gdLst>
                    <a:gd name="T0" fmla="*/ 0 w 2313"/>
                    <a:gd name="T1" fmla="*/ 0 h 1270"/>
                    <a:gd name="T2" fmla="*/ 247 w 2313"/>
                    <a:gd name="T3" fmla="*/ 449 h 1270"/>
                    <a:gd name="T4" fmla="*/ 698 w 2313"/>
                    <a:gd name="T5" fmla="*/ 1027 h 1270"/>
                    <a:gd name="T6" fmla="*/ 1312 w 2313"/>
                    <a:gd name="T7" fmla="*/ 1475 h 1270"/>
                    <a:gd name="T8" fmla="*/ 2093 w 2313"/>
                    <a:gd name="T9" fmla="*/ 1796 h 1270"/>
                    <a:gd name="T10" fmla="*/ 0 60000 65536"/>
                    <a:gd name="T11" fmla="*/ 0 60000 65536"/>
                    <a:gd name="T12" fmla="*/ 0 60000 65536"/>
                    <a:gd name="T13" fmla="*/ 0 60000 65536"/>
                    <a:gd name="T14" fmla="*/ 0 60000 65536"/>
                    <a:gd name="T15" fmla="*/ 0 w 2313"/>
                    <a:gd name="T16" fmla="*/ 0 h 1270"/>
                    <a:gd name="T17" fmla="*/ 2313 w 2313"/>
                    <a:gd name="T18" fmla="*/ 1270 h 1270"/>
                  </a:gdLst>
                  <a:ahLst/>
                  <a:cxnLst>
                    <a:cxn ang="T10">
                      <a:pos x="T0" y="T1"/>
                    </a:cxn>
                    <a:cxn ang="T11">
                      <a:pos x="T2" y="T3"/>
                    </a:cxn>
                    <a:cxn ang="T12">
                      <a:pos x="T4" y="T5"/>
                    </a:cxn>
                    <a:cxn ang="T13">
                      <a:pos x="T6" y="T7"/>
                    </a:cxn>
                    <a:cxn ang="T14">
                      <a:pos x="T8" y="T9"/>
                    </a:cxn>
                  </a:cxnLst>
                  <a:rect l="T15" t="T16" r="T17" b="T18"/>
                  <a:pathLst>
                    <a:path w="2313" h="1270">
                      <a:moveTo>
                        <a:pt x="0" y="0"/>
                      </a:moveTo>
                      <a:cubicBezTo>
                        <a:pt x="71" y="98"/>
                        <a:pt x="143" y="197"/>
                        <a:pt x="272" y="318"/>
                      </a:cubicBezTo>
                      <a:cubicBezTo>
                        <a:pt x="401" y="439"/>
                        <a:pt x="575" y="605"/>
                        <a:pt x="771" y="726"/>
                      </a:cubicBezTo>
                      <a:cubicBezTo>
                        <a:pt x="967" y="847"/>
                        <a:pt x="1194" y="952"/>
                        <a:pt x="1451" y="1043"/>
                      </a:cubicBezTo>
                      <a:cubicBezTo>
                        <a:pt x="1708" y="1134"/>
                        <a:pt x="2169" y="1232"/>
                        <a:pt x="2313" y="1270"/>
                      </a:cubicBezTo>
                    </a:path>
                  </a:pathLst>
                </a:custGeom>
                <a:noFill/>
                <a:ln w="317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0070C0"/>
                    </a:solidFill>
                  </a:endParaRPr>
                </a:p>
              </p:txBody>
            </p:sp>
            <p:sp>
              <p:nvSpPr>
                <p:cNvPr id="24" name="Freeform 15"/>
                <p:cNvSpPr>
                  <a:spLocks/>
                </p:cNvSpPr>
                <p:nvPr/>
              </p:nvSpPr>
              <p:spPr bwMode="auto">
                <a:xfrm>
                  <a:off x="1429" y="1752"/>
                  <a:ext cx="1632" cy="1451"/>
                </a:xfrm>
                <a:custGeom>
                  <a:avLst/>
                  <a:gdLst>
                    <a:gd name="T0" fmla="*/ 0 w 1632"/>
                    <a:gd name="T1" fmla="*/ 1451 h 1451"/>
                    <a:gd name="T2" fmla="*/ 362 w 1632"/>
                    <a:gd name="T3" fmla="*/ 1361 h 1451"/>
                    <a:gd name="T4" fmla="*/ 907 w 1632"/>
                    <a:gd name="T5" fmla="*/ 1043 h 1451"/>
                    <a:gd name="T6" fmla="*/ 1360 w 1632"/>
                    <a:gd name="T7" fmla="*/ 499 h 1451"/>
                    <a:gd name="T8" fmla="*/ 1632 w 1632"/>
                    <a:gd name="T9" fmla="*/ 0 h 1451"/>
                    <a:gd name="T10" fmla="*/ 0 60000 65536"/>
                    <a:gd name="T11" fmla="*/ 0 60000 65536"/>
                    <a:gd name="T12" fmla="*/ 0 60000 65536"/>
                    <a:gd name="T13" fmla="*/ 0 60000 65536"/>
                    <a:gd name="T14" fmla="*/ 0 60000 65536"/>
                    <a:gd name="T15" fmla="*/ 0 w 1632"/>
                    <a:gd name="T16" fmla="*/ 0 h 1451"/>
                    <a:gd name="T17" fmla="*/ 1632 w 1632"/>
                    <a:gd name="T18" fmla="*/ 1451 h 1451"/>
                  </a:gdLst>
                  <a:ahLst/>
                  <a:cxnLst>
                    <a:cxn ang="T10">
                      <a:pos x="T0" y="T1"/>
                    </a:cxn>
                    <a:cxn ang="T11">
                      <a:pos x="T2" y="T3"/>
                    </a:cxn>
                    <a:cxn ang="T12">
                      <a:pos x="T4" y="T5"/>
                    </a:cxn>
                    <a:cxn ang="T13">
                      <a:pos x="T6" y="T7"/>
                    </a:cxn>
                    <a:cxn ang="T14">
                      <a:pos x="T8" y="T9"/>
                    </a:cxn>
                  </a:cxnLst>
                  <a:rect l="T15" t="T16" r="T17" b="T18"/>
                  <a:pathLst>
                    <a:path w="1632" h="1451">
                      <a:moveTo>
                        <a:pt x="0" y="1451"/>
                      </a:moveTo>
                      <a:cubicBezTo>
                        <a:pt x="105" y="1440"/>
                        <a:pt x="211" y="1429"/>
                        <a:pt x="362" y="1361"/>
                      </a:cubicBezTo>
                      <a:cubicBezTo>
                        <a:pt x="513" y="1293"/>
                        <a:pt x="741" y="1187"/>
                        <a:pt x="907" y="1043"/>
                      </a:cubicBezTo>
                      <a:cubicBezTo>
                        <a:pt x="1073" y="899"/>
                        <a:pt x="1239" y="673"/>
                        <a:pt x="1360" y="499"/>
                      </a:cubicBezTo>
                      <a:cubicBezTo>
                        <a:pt x="1481" y="325"/>
                        <a:pt x="1587" y="83"/>
                        <a:pt x="1632" y="0"/>
                      </a:cubicBezTo>
                    </a:path>
                  </a:pathLst>
                </a:custGeom>
                <a:noFill/>
                <a:ln w="317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0070C0"/>
                    </a:solidFill>
                  </a:endParaRPr>
                </a:p>
              </p:txBody>
            </p:sp>
            <p:sp>
              <p:nvSpPr>
                <p:cNvPr id="25" name="Text Box 16"/>
                <p:cNvSpPr txBox="1">
                  <a:spLocks noChangeArrowheads="1"/>
                </p:cNvSpPr>
                <p:nvPr/>
              </p:nvSpPr>
              <p:spPr bwMode="auto">
                <a:xfrm>
                  <a:off x="3061" y="1434"/>
                  <a:ext cx="499" cy="30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dirty="0">
                      <a:solidFill>
                        <a:srgbClr val="0070C0"/>
                      </a:solidFill>
                      <a:ea typeface="黑体" panose="02010609060101010101" pitchFamily="49" charset="-122"/>
                    </a:rPr>
                    <a:t>EB</a:t>
                  </a:r>
                </a:p>
              </p:txBody>
            </p:sp>
            <p:sp>
              <p:nvSpPr>
                <p:cNvPr id="26" name="Text Box 17"/>
                <p:cNvSpPr txBox="1">
                  <a:spLocks noChangeArrowheads="1"/>
                </p:cNvSpPr>
                <p:nvPr/>
              </p:nvSpPr>
              <p:spPr bwMode="auto">
                <a:xfrm>
                  <a:off x="3787" y="3006"/>
                  <a:ext cx="408" cy="30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dirty="0">
                      <a:solidFill>
                        <a:srgbClr val="0070C0"/>
                      </a:solidFill>
                      <a:ea typeface="黑体" panose="02010609060101010101" pitchFamily="49" charset="-122"/>
                    </a:rPr>
                    <a:t>IB</a:t>
                  </a:r>
                </a:p>
              </p:txBody>
            </p:sp>
            <p:sp>
              <p:nvSpPr>
                <p:cNvPr id="27" name="Text Box 18"/>
                <p:cNvSpPr txBox="1">
                  <a:spLocks noChangeArrowheads="1"/>
                </p:cNvSpPr>
                <p:nvPr/>
              </p:nvSpPr>
              <p:spPr bwMode="auto">
                <a:xfrm>
                  <a:off x="2290" y="2416"/>
                  <a:ext cx="227" cy="30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dirty="0">
                      <a:solidFill>
                        <a:srgbClr val="0070C0"/>
                      </a:solidFill>
                      <a:ea typeface="黑体" panose="02010609060101010101" pitchFamily="49" charset="-122"/>
                    </a:rPr>
                    <a:t>E</a:t>
                  </a:r>
                </a:p>
              </p:txBody>
            </p:sp>
          </p:grpSp>
          <p:sp>
            <p:nvSpPr>
              <p:cNvPr id="10" name="Text Box 23"/>
              <p:cNvSpPr txBox="1">
                <a:spLocks noChangeArrowheads="1"/>
              </p:cNvSpPr>
              <p:nvPr/>
            </p:nvSpPr>
            <p:spPr bwMode="auto">
              <a:xfrm>
                <a:off x="3243" y="2704"/>
                <a:ext cx="227" cy="30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dirty="0">
                    <a:solidFill>
                      <a:srgbClr val="0070C0"/>
                    </a:solidFill>
                    <a:ea typeface="黑体" panose="02010609060101010101" pitchFamily="49" charset="-122"/>
                  </a:rPr>
                  <a:t>A</a:t>
                </a:r>
              </a:p>
            </p:txBody>
          </p:sp>
          <p:sp>
            <p:nvSpPr>
              <p:cNvPr id="11" name="Line 24"/>
              <p:cNvSpPr>
                <a:spLocks noChangeShapeType="1"/>
              </p:cNvSpPr>
              <p:nvPr/>
            </p:nvSpPr>
            <p:spPr bwMode="auto">
              <a:xfrm flipV="1">
                <a:off x="3198" y="2024"/>
                <a:ext cx="0" cy="952"/>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rgbClr val="0070C0"/>
                  </a:solidFill>
                </a:endParaRPr>
              </a:p>
            </p:txBody>
          </p:sp>
          <p:sp>
            <p:nvSpPr>
              <p:cNvPr id="12" name="Line 25"/>
              <p:cNvSpPr>
                <a:spLocks noChangeShapeType="1"/>
              </p:cNvSpPr>
              <p:nvPr/>
            </p:nvSpPr>
            <p:spPr bwMode="auto">
              <a:xfrm flipH="1">
                <a:off x="2200" y="2976"/>
                <a:ext cx="998" cy="0"/>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rgbClr val="0070C0"/>
                  </a:solidFill>
                </a:endParaRPr>
              </a:p>
            </p:txBody>
          </p:sp>
          <p:sp>
            <p:nvSpPr>
              <p:cNvPr id="13" name="Line 26"/>
              <p:cNvSpPr>
                <a:spLocks noChangeShapeType="1"/>
              </p:cNvSpPr>
              <p:nvPr/>
            </p:nvSpPr>
            <p:spPr bwMode="auto">
              <a:xfrm flipH="1" flipV="1">
                <a:off x="2699" y="2823"/>
                <a:ext cx="499" cy="153"/>
              </a:xfrm>
              <a:prstGeom prst="line">
                <a:avLst/>
              </a:prstGeom>
              <a:noFill/>
              <a:ln w="31750">
                <a:solidFill>
                  <a:schemeClr val="accent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rgbClr val="0070C0"/>
                  </a:solidFill>
                </a:endParaRPr>
              </a:p>
            </p:txBody>
          </p:sp>
        </p:grpSp>
      </p:grpSp>
    </p:spTree>
    <p:extLst>
      <p:ext uri="{BB962C8B-B14F-4D97-AF65-F5344CB8AC3E}">
        <p14:creationId xmlns:p14="http://schemas.microsoft.com/office/powerpoint/2010/main" val="3231703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400" b="1" dirty="0">
                <a:solidFill>
                  <a:srgbClr val="00B0F0"/>
                </a:solidFill>
                <a:latin typeface="微软雅黑" panose="020B0503020204020204" pitchFamily="34" charset="-122"/>
                <a:ea typeface="微软雅黑" panose="020B0503020204020204" pitchFamily="34" charset="-122"/>
              </a:rPr>
              <a:t>四、斯旺曲线</a:t>
            </a:r>
          </a:p>
          <a:p>
            <a:pPr marL="0" indent="457200">
              <a:lnSpc>
                <a:spcPct val="130000"/>
              </a:lnSpc>
              <a:buNone/>
            </a:pPr>
            <a:r>
              <a:rPr lang="zh-CN" altLang="en-US" sz="2400" dirty="0">
                <a:latin typeface="微软雅黑" panose="020B0503020204020204" pitchFamily="34" charset="-122"/>
                <a:ea typeface="微软雅黑" panose="020B0503020204020204" pitchFamily="34" charset="-122"/>
              </a:rPr>
              <a:t>斯旺曲线明确说明了仅用一种政策工具，要想同时解决内部和外部均衡问题是不可能的。但对所涉及的基本经济难题之间的相互关系没有给出深入分析，甚至没有区分货币政策和财政政策对总需求调节的不同方式。</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9" name="标题 1"/>
          <p:cNvSpPr>
            <a:spLocks noGrp="1"/>
          </p:cNvSpPr>
          <p:nvPr>
            <p:ph type="title"/>
          </p:nvPr>
        </p:nvSpPr>
        <p:spPr>
          <a:xfrm>
            <a:off x="192505" y="18386"/>
            <a:ext cx="8951495" cy="1142385"/>
          </a:xfrm>
        </p:spPr>
        <p:txBody>
          <a:bodyPr>
            <a:normAutofit/>
          </a:bodyPr>
          <a:lstStyle/>
          <a:p>
            <a:r>
              <a:rPr lang="zh-CN" altLang="en-US" sz="2800" dirty="0" smtClean="0"/>
              <a:t>第一节  开放</a:t>
            </a:r>
            <a:r>
              <a:rPr lang="zh-CN" altLang="en-US" sz="2800" dirty="0"/>
              <a:t>经济条件下的政策目标、工具和调控原理</a:t>
            </a:r>
            <a:endParaRPr lang="zh-CN" sz="2800" dirty="0"/>
          </a:p>
        </p:txBody>
      </p:sp>
    </p:spTree>
    <p:extLst>
      <p:ext uri="{BB962C8B-B14F-4D97-AF65-F5344CB8AC3E}">
        <p14:creationId xmlns:p14="http://schemas.microsoft.com/office/powerpoint/2010/main" val="3198113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400" b="1" dirty="0" smtClean="0">
                <a:solidFill>
                  <a:srgbClr val="00B0F0"/>
                </a:solidFill>
                <a:latin typeface="微软雅黑" panose="020B0503020204020204" pitchFamily="34" charset="-122"/>
                <a:ea typeface="微软雅黑" panose="020B0503020204020204" pitchFamily="34" charset="-122"/>
              </a:rPr>
              <a:t>五、蒙代尔的政策分派原理</a:t>
            </a:r>
          </a:p>
          <a:p>
            <a:pPr marL="0" indent="457200">
              <a:lnSpc>
                <a:spcPct val="130000"/>
              </a:lnSpc>
              <a:buNone/>
            </a:pPr>
            <a:r>
              <a:rPr lang="en-US" altLang="zh-CN" dirty="0" smtClean="0">
                <a:latin typeface="微软雅黑" panose="020B0503020204020204" pitchFamily="34" charset="-122"/>
                <a:ea typeface="微软雅黑" panose="020B0503020204020204" pitchFamily="34" charset="-122"/>
              </a:rPr>
              <a:t>1968</a:t>
            </a:r>
            <a:r>
              <a:rPr lang="zh-CN" altLang="en-US" dirty="0">
                <a:latin typeface="微软雅黑" panose="020B0503020204020204" pitchFamily="34" charset="-122"/>
                <a:ea typeface="微软雅黑" panose="020B0503020204020204" pitchFamily="34" charset="-122"/>
              </a:rPr>
              <a:t>年由蒙代尔指出。他认为，在许多情况下，不同的政策工具实际上掌握在不同的决策者手中，如果决策者并不能紧密协调这些政策而是独立进行决策的话，就不能达到最佳的政策目标。如果每一工具被合理地指派给一个目标，并且在该目标偏离其最佳水平时按规则进行调控，那么在分散决策的情况下仍有可能得到最佳调控目标。</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7" name="标题 1"/>
          <p:cNvSpPr>
            <a:spLocks noGrp="1"/>
          </p:cNvSpPr>
          <p:nvPr>
            <p:ph type="title"/>
          </p:nvPr>
        </p:nvSpPr>
        <p:spPr>
          <a:xfrm>
            <a:off x="192505" y="18386"/>
            <a:ext cx="8951495" cy="1142385"/>
          </a:xfrm>
        </p:spPr>
        <p:txBody>
          <a:bodyPr>
            <a:normAutofit/>
          </a:bodyPr>
          <a:lstStyle/>
          <a:p>
            <a:r>
              <a:rPr lang="zh-CN" altLang="en-US" sz="2800" dirty="0" smtClean="0"/>
              <a:t>第一节  开放</a:t>
            </a:r>
            <a:r>
              <a:rPr lang="zh-CN" altLang="en-US" sz="2800" dirty="0"/>
              <a:t>经济条件下的政策目标、工具和调控原理</a:t>
            </a:r>
            <a:endParaRPr lang="zh-CN" sz="2800" dirty="0"/>
          </a:p>
        </p:txBody>
      </p:sp>
    </p:spTree>
    <p:extLst>
      <p:ext uri="{BB962C8B-B14F-4D97-AF65-F5344CB8AC3E}">
        <p14:creationId xmlns:p14="http://schemas.microsoft.com/office/powerpoint/2010/main" val="4214747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550" y="1447799"/>
            <a:ext cx="7200900" cy="4841879"/>
          </a:xfrm>
        </p:spPr>
        <p:txBody>
          <a:bodyPr>
            <a:normAutofit fontScale="92500"/>
          </a:bodyPr>
          <a:lstStyle/>
          <a:p>
            <a:pPr marL="0" indent="0">
              <a:lnSpc>
                <a:spcPct val="110000"/>
              </a:lnSpc>
              <a:buNone/>
            </a:pPr>
            <a:r>
              <a:rPr lang="zh-CN" altLang="en-US" sz="2400" b="1" dirty="0">
                <a:solidFill>
                  <a:srgbClr val="00B0F0"/>
                </a:solidFill>
                <a:latin typeface="微软雅黑" panose="020B0503020204020204" pitchFamily="34" charset="-122"/>
                <a:ea typeface="微软雅黑" panose="020B0503020204020204" pitchFamily="34" charset="-122"/>
              </a:rPr>
              <a:t>五、蒙代尔的政策分派原理</a:t>
            </a:r>
          </a:p>
          <a:p>
            <a:pPr marL="0" indent="457200">
              <a:lnSpc>
                <a:spcPct val="130000"/>
              </a:lnSpc>
              <a:buNone/>
            </a:pPr>
            <a:r>
              <a:rPr lang="zh-CN" altLang="en-US" sz="2400" dirty="0">
                <a:latin typeface="微软雅黑" panose="020B0503020204020204" pitchFamily="34" charset="-122"/>
                <a:ea typeface="微软雅黑" panose="020B0503020204020204" pitchFamily="34" charset="-122"/>
              </a:rPr>
              <a:t>关于每一工具应如何指派给相应目标，蒙代尔提出</a:t>
            </a:r>
            <a:r>
              <a:rPr lang="zh-CN" altLang="en-US" sz="2400" dirty="0" smtClean="0">
                <a:latin typeface="微软雅黑" panose="020B0503020204020204" pitchFamily="34" charset="-122"/>
                <a:ea typeface="微软雅黑" panose="020B0503020204020204" pitchFamily="34" charset="-122"/>
              </a:rPr>
              <a:t>了</a:t>
            </a:r>
            <a:r>
              <a:rPr altLang="en-US" sz="2400" dirty="0" smtClean="0">
                <a:latin typeface="微软雅黑" panose="020B0503020204020204" pitchFamily="34" charset="-122"/>
                <a:ea typeface="微软雅黑" panose="020B0503020204020204" pitchFamily="34" charset="-122"/>
              </a:rPr>
              <a:t>”</a:t>
            </a:r>
            <a:r>
              <a:rPr lang="zh-CN" altLang="en-US" sz="2400" dirty="0" smtClean="0">
                <a:latin typeface="微软雅黑" panose="020B0503020204020204" pitchFamily="34" charset="-122"/>
                <a:ea typeface="微软雅黑" panose="020B0503020204020204" pitchFamily="34" charset="-122"/>
              </a:rPr>
              <a:t>有效</a:t>
            </a:r>
            <a:r>
              <a:rPr lang="zh-CN" altLang="en-US" sz="2400" dirty="0">
                <a:latin typeface="微软雅黑" panose="020B0503020204020204" pitchFamily="34" charset="-122"/>
                <a:ea typeface="微软雅黑" panose="020B0503020204020204" pitchFamily="34" charset="-122"/>
              </a:rPr>
              <a:t>市场分类原则”：每一目标应指派给对这一目标有相对最大的影响力、因而在影响政策目标上有相对优势的工具。并进而区分财政政策和货币政策的不同效果，提出以货币政策实现外部均衡目标、以财政政策实现内部均衡目标的指派方案。</a:t>
            </a:r>
          </a:p>
          <a:p>
            <a:pPr marL="0" indent="457200">
              <a:lnSpc>
                <a:spcPct val="130000"/>
              </a:lnSpc>
              <a:buNone/>
            </a:pPr>
            <a:r>
              <a:rPr lang="zh-CN" altLang="en-US" sz="2400" dirty="0" smtClean="0">
                <a:latin typeface="微软雅黑" panose="020B0503020204020204" pitchFamily="34" charset="-122"/>
                <a:ea typeface="微软雅黑" panose="020B0503020204020204" pitchFamily="34" charset="-122"/>
              </a:rPr>
              <a:t>货币</a:t>
            </a:r>
            <a:r>
              <a:rPr lang="zh-CN" altLang="en-US" sz="2400" dirty="0">
                <a:latin typeface="微软雅黑" panose="020B0503020204020204" pitchFamily="34" charset="-122"/>
                <a:ea typeface="微软雅黑" panose="020B0503020204020204" pitchFamily="34" charset="-122"/>
              </a:rPr>
              <a:t>政策对国际收支的影响是确定的，而财政政策对国际收支的影响有两方面：收入和利率效应，假如净结果是负相关的：</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7" name="标题 1"/>
          <p:cNvSpPr>
            <a:spLocks noGrp="1"/>
          </p:cNvSpPr>
          <p:nvPr>
            <p:ph type="title"/>
          </p:nvPr>
        </p:nvSpPr>
        <p:spPr>
          <a:xfrm>
            <a:off x="192505" y="18386"/>
            <a:ext cx="8951495" cy="1142385"/>
          </a:xfrm>
        </p:spPr>
        <p:txBody>
          <a:bodyPr>
            <a:normAutofit/>
          </a:bodyPr>
          <a:lstStyle/>
          <a:p>
            <a:r>
              <a:rPr lang="zh-CN" altLang="en-US" sz="2800" dirty="0" smtClean="0"/>
              <a:t>第一节  开放</a:t>
            </a:r>
            <a:r>
              <a:rPr lang="zh-CN" altLang="en-US" sz="2800" dirty="0"/>
              <a:t>经济条件下的政策目标、工具和调控原理</a:t>
            </a:r>
            <a:endParaRPr lang="zh-CN" sz="2800" dirty="0"/>
          </a:p>
        </p:txBody>
      </p:sp>
    </p:spTree>
    <p:extLst>
      <p:ext uri="{BB962C8B-B14F-4D97-AF65-F5344CB8AC3E}">
        <p14:creationId xmlns:p14="http://schemas.microsoft.com/office/powerpoint/2010/main" val="3445027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400" b="1" dirty="0">
                <a:solidFill>
                  <a:schemeClr val="accent1"/>
                </a:solidFill>
                <a:latin typeface="微软雅黑" panose="020B0503020204020204" pitchFamily="34" charset="-122"/>
                <a:ea typeface="微软雅黑" panose="020B0503020204020204" pitchFamily="34" charset="-122"/>
              </a:rPr>
              <a:t>五、蒙代尔的政策分派</a:t>
            </a:r>
            <a:r>
              <a:rPr lang="zh-CN" altLang="en-US" sz="2400" b="1" dirty="0" smtClean="0">
                <a:solidFill>
                  <a:schemeClr val="accent1"/>
                </a:solidFill>
                <a:latin typeface="微软雅黑" panose="020B0503020204020204" pitchFamily="34" charset="-122"/>
                <a:ea typeface="微软雅黑" panose="020B0503020204020204" pitchFamily="34" charset="-122"/>
              </a:rPr>
              <a:t>原理</a:t>
            </a:r>
            <a:endParaRPr lang="zh-CN" altLang="en-US" sz="2400" b="1" dirty="0">
              <a:solidFill>
                <a:schemeClr val="accent1"/>
              </a:solidFill>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grpSp>
        <p:nvGrpSpPr>
          <p:cNvPr id="6" name="Group 38"/>
          <p:cNvGrpSpPr>
            <a:grpSpLocks/>
          </p:cNvGrpSpPr>
          <p:nvPr/>
        </p:nvGrpSpPr>
        <p:grpSpPr bwMode="auto">
          <a:xfrm>
            <a:off x="900113" y="2133600"/>
            <a:ext cx="8243887" cy="4143375"/>
            <a:chOff x="567" y="1344"/>
            <a:chExt cx="5193" cy="2610"/>
          </a:xfrm>
        </p:grpSpPr>
        <p:grpSp>
          <p:nvGrpSpPr>
            <p:cNvPr id="7" name="Group 37"/>
            <p:cNvGrpSpPr>
              <a:grpSpLocks/>
            </p:cNvGrpSpPr>
            <p:nvPr/>
          </p:nvGrpSpPr>
          <p:grpSpPr bwMode="auto">
            <a:xfrm>
              <a:off x="567" y="1344"/>
              <a:ext cx="5193" cy="2610"/>
              <a:chOff x="567" y="1344"/>
              <a:chExt cx="5193" cy="2610"/>
            </a:xfrm>
          </p:grpSpPr>
          <p:sp>
            <p:nvSpPr>
              <p:cNvPr id="9" name="Line 5"/>
              <p:cNvSpPr>
                <a:spLocks noChangeShapeType="1"/>
              </p:cNvSpPr>
              <p:nvPr/>
            </p:nvSpPr>
            <p:spPr bwMode="auto">
              <a:xfrm flipV="1">
                <a:off x="1020" y="1570"/>
                <a:ext cx="0" cy="1996"/>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rgbClr val="0070C0"/>
                  </a:solidFill>
                </a:endParaRPr>
              </a:p>
            </p:txBody>
          </p:sp>
          <p:sp>
            <p:nvSpPr>
              <p:cNvPr id="10" name="Line 6"/>
              <p:cNvSpPr>
                <a:spLocks noChangeShapeType="1"/>
              </p:cNvSpPr>
              <p:nvPr/>
            </p:nvSpPr>
            <p:spPr bwMode="auto">
              <a:xfrm>
                <a:off x="1020" y="3566"/>
                <a:ext cx="3221" cy="0"/>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rgbClr val="0070C0"/>
                  </a:solidFill>
                </a:endParaRPr>
              </a:p>
            </p:txBody>
          </p:sp>
          <p:sp>
            <p:nvSpPr>
              <p:cNvPr id="11" name="Text Box 7"/>
              <p:cNvSpPr txBox="1">
                <a:spLocks noChangeArrowheads="1"/>
              </p:cNvSpPr>
              <p:nvPr/>
            </p:nvSpPr>
            <p:spPr bwMode="auto">
              <a:xfrm>
                <a:off x="748" y="1344"/>
                <a:ext cx="1655"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dirty="0">
                    <a:solidFill>
                      <a:srgbClr val="0070C0"/>
                    </a:solidFill>
                    <a:ea typeface="黑体" panose="02010609060101010101" pitchFamily="49" charset="-122"/>
                  </a:rPr>
                  <a:t>货币政策</a:t>
                </a:r>
              </a:p>
            </p:txBody>
          </p:sp>
          <p:sp>
            <p:nvSpPr>
              <p:cNvPr id="12" name="Text Box 8"/>
              <p:cNvSpPr txBox="1">
                <a:spLocks noChangeArrowheads="1"/>
              </p:cNvSpPr>
              <p:nvPr/>
            </p:nvSpPr>
            <p:spPr bwMode="auto">
              <a:xfrm>
                <a:off x="4286" y="3414"/>
                <a:ext cx="1474"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a:solidFill>
                      <a:srgbClr val="0070C0"/>
                    </a:solidFill>
                    <a:ea typeface="黑体" panose="02010609060101010101" pitchFamily="49" charset="-122"/>
                  </a:rPr>
                  <a:t>财政政策</a:t>
                </a:r>
              </a:p>
            </p:txBody>
          </p:sp>
          <p:sp>
            <p:nvSpPr>
              <p:cNvPr id="13" name="Text Box 9"/>
              <p:cNvSpPr txBox="1">
                <a:spLocks noChangeArrowheads="1"/>
              </p:cNvSpPr>
              <p:nvPr/>
            </p:nvSpPr>
            <p:spPr bwMode="auto">
              <a:xfrm>
                <a:off x="748" y="3460"/>
                <a:ext cx="272"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dirty="0">
                    <a:solidFill>
                      <a:srgbClr val="0070C0"/>
                    </a:solidFill>
                    <a:ea typeface="黑体" panose="02010609060101010101" pitchFamily="49" charset="-122"/>
                  </a:rPr>
                  <a:t>O</a:t>
                </a:r>
              </a:p>
            </p:txBody>
          </p:sp>
          <p:sp>
            <p:nvSpPr>
              <p:cNvPr id="14" name="Line 10"/>
              <p:cNvSpPr>
                <a:spLocks noChangeShapeType="1"/>
              </p:cNvSpPr>
              <p:nvPr/>
            </p:nvSpPr>
            <p:spPr bwMode="auto">
              <a:xfrm flipV="1">
                <a:off x="884" y="1616"/>
                <a:ext cx="0" cy="725"/>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rgbClr val="0070C0"/>
                  </a:solidFill>
                </a:endParaRPr>
              </a:p>
            </p:txBody>
          </p:sp>
          <p:sp>
            <p:nvSpPr>
              <p:cNvPr id="15" name="Line 11"/>
              <p:cNvSpPr>
                <a:spLocks noChangeShapeType="1"/>
              </p:cNvSpPr>
              <p:nvPr/>
            </p:nvSpPr>
            <p:spPr bwMode="auto">
              <a:xfrm>
                <a:off x="884" y="2704"/>
                <a:ext cx="0" cy="771"/>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rgbClr val="0070C0"/>
                  </a:solidFill>
                </a:endParaRPr>
              </a:p>
            </p:txBody>
          </p:sp>
          <p:sp>
            <p:nvSpPr>
              <p:cNvPr id="16" name="Text Box 12"/>
              <p:cNvSpPr txBox="1">
                <a:spLocks noChangeArrowheads="1"/>
              </p:cNvSpPr>
              <p:nvPr/>
            </p:nvSpPr>
            <p:spPr bwMode="auto">
              <a:xfrm>
                <a:off x="567" y="1842"/>
                <a:ext cx="272" cy="52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dirty="0">
                    <a:solidFill>
                      <a:srgbClr val="0070C0"/>
                    </a:solidFill>
                    <a:ea typeface="黑体" panose="02010609060101010101" pitchFamily="49" charset="-122"/>
                  </a:rPr>
                  <a:t>扩张</a:t>
                </a:r>
              </a:p>
            </p:txBody>
          </p:sp>
          <p:sp>
            <p:nvSpPr>
              <p:cNvPr id="17" name="Text Box 13"/>
              <p:cNvSpPr txBox="1">
                <a:spLocks noChangeArrowheads="1"/>
              </p:cNvSpPr>
              <p:nvPr/>
            </p:nvSpPr>
            <p:spPr bwMode="auto">
              <a:xfrm>
                <a:off x="567" y="2731"/>
                <a:ext cx="272" cy="52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dirty="0">
                    <a:solidFill>
                      <a:srgbClr val="0070C0"/>
                    </a:solidFill>
                    <a:ea typeface="黑体" panose="02010609060101010101" pitchFamily="49" charset="-122"/>
                  </a:rPr>
                  <a:t>紧缩</a:t>
                </a:r>
              </a:p>
            </p:txBody>
          </p:sp>
          <p:sp>
            <p:nvSpPr>
              <p:cNvPr id="18" name="Text Box 16"/>
              <p:cNvSpPr txBox="1">
                <a:spLocks noChangeArrowheads="1"/>
              </p:cNvSpPr>
              <p:nvPr/>
            </p:nvSpPr>
            <p:spPr bwMode="auto">
              <a:xfrm>
                <a:off x="3515" y="2840"/>
                <a:ext cx="499"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solidFill>
                      <a:srgbClr val="0070C0"/>
                    </a:solidFill>
                    <a:ea typeface="黑体" panose="02010609060101010101" pitchFamily="49" charset="-122"/>
                  </a:rPr>
                  <a:t>EB</a:t>
                </a:r>
              </a:p>
            </p:txBody>
          </p:sp>
          <p:sp>
            <p:nvSpPr>
              <p:cNvPr id="19" name="Text Box 17"/>
              <p:cNvSpPr txBox="1">
                <a:spLocks noChangeArrowheads="1"/>
              </p:cNvSpPr>
              <p:nvPr/>
            </p:nvSpPr>
            <p:spPr bwMode="auto">
              <a:xfrm>
                <a:off x="2562" y="3203"/>
                <a:ext cx="408"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dirty="0">
                    <a:solidFill>
                      <a:srgbClr val="0070C0"/>
                    </a:solidFill>
                    <a:ea typeface="黑体" panose="02010609060101010101" pitchFamily="49" charset="-122"/>
                  </a:rPr>
                  <a:t>IB</a:t>
                </a:r>
              </a:p>
            </p:txBody>
          </p:sp>
          <p:sp>
            <p:nvSpPr>
              <p:cNvPr id="20" name="Text Box 18"/>
              <p:cNvSpPr txBox="1">
                <a:spLocks noChangeArrowheads="1"/>
              </p:cNvSpPr>
              <p:nvPr/>
            </p:nvSpPr>
            <p:spPr bwMode="auto">
              <a:xfrm>
                <a:off x="2336" y="2478"/>
                <a:ext cx="227"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dirty="0">
                    <a:solidFill>
                      <a:srgbClr val="0070C0"/>
                    </a:solidFill>
                    <a:ea typeface="黑体" panose="02010609060101010101" pitchFamily="49" charset="-122"/>
                  </a:rPr>
                  <a:t>E</a:t>
                </a:r>
              </a:p>
            </p:txBody>
          </p:sp>
          <p:sp>
            <p:nvSpPr>
              <p:cNvPr id="21" name="Line 19"/>
              <p:cNvSpPr>
                <a:spLocks noChangeShapeType="1"/>
              </p:cNvSpPr>
              <p:nvPr/>
            </p:nvSpPr>
            <p:spPr bwMode="auto">
              <a:xfrm>
                <a:off x="3515" y="3702"/>
                <a:ext cx="635" cy="0"/>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rgbClr val="0070C0"/>
                  </a:solidFill>
                </a:endParaRPr>
              </a:p>
            </p:txBody>
          </p:sp>
          <p:sp>
            <p:nvSpPr>
              <p:cNvPr id="22" name="Text Box 20"/>
              <p:cNvSpPr txBox="1">
                <a:spLocks noChangeArrowheads="1"/>
              </p:cNvSpPr>
              <p:nvPr/>
            </p:nvSpPr>
            <p:spPr bwMode="auto">
              <a:xfrm>
                <a:off x="3560" y="3666"/>
                <a:ext cx="681"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dirty="0">
                    <a:solidFill>
                      <a:srgbClr val="0070C0"/>
                    </a:solidFill>
                    <a:ea typeface="黑体" panose="02010609060101010101" pitchFamily="49" charset="-122"/>
                  </a:rPr>
                  <a:t>扩张</a:t>
                </a:r>
              </a:p>
            </p:txBody>
          </p:sp>
          <p:sp>
            <p:nvSpPr>
              <p:cNvPr id="23" name="Line 21"/>
              <p:cNvSpPr>
                <a:spLocks noChangeShapeType="1"/>
              </p:cNvSpPr>
              <p:nvPr/>
            </p:nvSpPr>
            <p:spPr bwMode="auto">
              <a:xfrm>
                <a:off x="1610" y="1752"/>
                <a:ext cx="1225" cy="1542"/>
              </a:xfrm>
              <a:prstGeom prst="line">
                <a:avLst/>
              </a:prstGeom>
              <a:noFill/>
              <a:ln w="317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70C0"/>
                  </a:solidFill>
                </a:endParaRPr>
              </a:p>
            </p:txBody>
          </p:sp>
        </p:grpSp>
        <p:sp>
          <p:nvSpPr>
            <p:cNvPr id="8" name="Line 22"/>
            <p:cNvSpPr>
              <a:spLocks noChangeShapeType="1"/>
            </p:cNvSpPr>
            <p:nvPr/>
          </p:nvSpPr>
          <p:spPr bwMode="auto">
            <a:xfrm>
              <a:off x="1111" y="2160"/>
              <a:ext cx="2404" cy="1043"/>
            </a:xfrm>
            <a:prstGeom prst="line">
              <a:avLst/>
            </a:prstGeom>
            <a:noFill/>
            <a:ln w="317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70C0"/>
                </a:solidFill>
              </a:endParaRPr>
            </a:p>
          </p:txBody>
        </p:sp>
      </p:grpSp>
      <p:grpSp>
        <p:nvGrpSpPr>
          <p:cNvPr id="24" name="Group 41"/>
          <p:cNvGrpSpPr>
            <a:grpSpLocks/>
          </p:cNvGrpSpPr>
          <p:nvPr/>
        </p:nvGrpSpPr>
        <p:grpSpPr bwMode="auto">
          <a:xfrm>
            <a:off x="1908175" y="2205038"/>
            <a:ext cx="3671888" cy="3422649"/>
            <a:chOff x="1202" y="1389"/>
            <a:chExt cx="2313" cy="2156"/>
          </a:xfrm>
        </p:grpSpPr>
        <p:sp>
          <p:nvSpPr>
            <p:cNvPr id="25" name="Line 29"/>
            <p:cNvSpPr>
              <a:spLocks noChangeShapeType="1"/>
            </p:cNvSpPr>
            <p:nvPr/>
          </p:nvSpPr>
          <p:spPr bwMode="auto">
            <a:xfrm flipV="1">
              <a:off x="1565" y="1661"/>
              <a:ext cx="997" cy="227"/>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rgbClr val="0070C0"/>
                </a:solidFill>
              </a:endParaRPr>
            </a:p>
          </p:txBody>
        </p:sp>
        <p:grpSp>
          <p:nvGrpSpPr>
            <p:cNvPr id="26" name="Group 40"/>
            <p:cNvGrpSpPr>
              <a:grpSpLocks/>
            </p:cNvGrpSpPr>
            <p:nvPr/>
          </p:nvGrpSpPr>
          <p:grpSpPr bwMode="auto">
            <a:xfrm>
              <a:off x="1202" y="1389"/>
              <a:ext cx="2313" cy="2156"/>
              <a:chOff x="1202" y="1389"/>
              <a:chExt cx="2313" cy="2156"/>
            </a:xfrm>
          </p:grpSpPr>
          <p:sp>
            <p:nvSpPr>
              <p:cNvPr id="27" name="Text Box 24"/>
              <p:cNvSpPr txBox="1">
                <a:spLocks noChangeArrowheads="1"/>
              </p:cNvSpPr>
              <p:nvPr/>
            </p:nvSpPr>
            <p:spPr bwMode="auto">
              <a:xfrm>
                <a:off x="2880" y="2160"/>
                <a:ext cx="635" cy="52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dirty="0">
                    <a:solidFill>
                      <a:srgbClr val="0070C0"/>
                    </a:solidFill>
                    <a:ea typeface="黑体" panose="02010609060101010101" pitchFamily="49" charset="-122"/>
                  </a:rPr>
                  <a:t>通胀逆差</a:t>
                </a:r>
              </a:p>
            </p:txBody>
          </p:sp>
          <p:sp>
            <p:nvSpPr>
              <p:cNvPr id="28" name="Text Box 25"/>
              <p:cNvSpPr txBox="1">
                <a:spLocks noChangeArrowheads="1"/>
              </p:cNvSpPr>
              <p:nvPr/>
            </p:nvSpPr>
            <p:spPr bwMode="auto">
              <a:xfrm>
                <a:off x="1202" y="2886"/>
                <a:ext cx="680" cy="52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dirty="0">
                    <a:solidFill>
                      <a:srgbClr val="0070C0"/>
                    </a:solidFill>
                    <a:ea typeface="黑体" panose="02010609060101010101" pitchFamily="49" charset="-122"/>
                  </a:rPr>
                  <a:t>失业顺差</a:t>
                </a:r>
              </a:p>
            </p:txBody>
          </p:sp>
          <p:sp>
            <p:nvSpPr>
              <p:cNvPr id="29" name="Text Box 27"/>
              <p:cNvSpPr txBox="1">
                <a:spLocks noChangeArrowheads="1"/>
              </p:cNvSpPr>
              <p:nvPr/>
            </p:nvSpPr>
            <p:spPr bwMode="auto">
              <a:xfrm>
                <a:off x="2608" y="1389"/>
                <a:ext cx="635" cy="52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dirty="0">
                    <a:solidFill>
                      <a:srgbClr val="0070C0"/>
                    </a:solidFill>
                    <a:ea typeface="黑体" panose="02010609060101010101" pitchFamily="49" charset="-122"/>
                  </a:rPr>
                  <a:t>失业逆差</a:t>
                </a:r>
              </a:p>
            </p:txBody>
          </p:sp>
          <p:sp>
            <p:nvSpPr>
              <p:cNvPr id="30" name="Text Box 34"/>
              <p:cNvSpPr txBox="1">
                <a:spLocks noChangeArrowheads="1"/>
              </p:cNvSpPr>
              <p:nvPr/>
            </p:nvSpPr>
            <p:spPr bwMode="auto">
              <a:xfrm>
                <a:off x="2835" y="3022"/>
                <a:ext cx="635" cy="52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a:solidFill>
                      <a:srgbClr val="0070C0"/>
                    </a:solidFill>
                    <a:ea typeface="黑体" panose="02010609060101010101" pitchFamily="49" charset="-122"/>
                  </a:rPr>
                  <a:t>通胀顺差</a:t>
                </a:r>
              </a:p>
            </p:txBody>
          </p:sp>
        </p:grpSp>
      </p:grpSp>
      <p:sp>
        <p:nvSpPr>
          <p:cNvPr id="31" name="Line 30"/>
          <p:cNvSpPr>
            <a:spLocks noChangeShapeType="1"/>
          </p:cNvSpPr>
          <p:nvPr/>
        </p:nvSpPr>
        <p:spPr bwMode="auto">
          <a:xfrm>
            <a:off x="3059113" y="3428999"/>
            <a:ext cx="0" cy="576263"/>
          </a:xfrm>
          <a:prstGeom prst="line">
            <a:avLst/>
          </a:prstGeom>
          <a:noFill/>
          <a:ln w="25400">
            <a:solidFill>
              <a:srgbClr val="FF33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rgbClr val="0070C0"/>
              </a:solidFill>
            </a:endParaRPr>
          </a:p>
        </p:txBody>
      </p:sp>
      <p:sp>
        <p:nvSpPr>
          <p:cNvPr id="32" name="Line 31"/>
          <p:cNvSpPr>
            <a:spLocks noChangeShapeType="1"/>
          </p:cNvSpPr>
          <p:nvPr/>
        </p:nvSpPr>
        <p:spPr bwMode="auto">
          <a:xfrm>
            <a:off x="3059113" y="4005263"/>
            <a:ext cx="433387" cy="0"/>
          </a:xfrm>
          <a:prstGeom prst="line">
            <a:avLst/>
          </a:prstGeom>
          <a:noFill/>
          <a:ln w="25400">
            <a:solidFill>
              <a:srgbClr val="FF33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rgbClr val="0070C0"/>
              </a:solidFill>
            </a:endParaRPr>
          </a:p>
        </p:txBody>
      </p:sp>
      <p:sp>
        <p:nvSpPr>
          <p:cNvPr id="33" name="Line 33"/>
          <p:cNvSpPr>
            <a:spLocks noChangeShapeType="1"/>
          </p:cNvSpPr>
          <p:nvPr/>
        </p:nvSpPr>
        <p:spPr bwMode="auto">
          <a:xfrm>
            <a:off x="3492500" y="4005263"/>
            <a:ext cx="0" cy="215900"/>
          </a:xfrm>
          <a:prstGeom prst="line">
            <a:avLst/>
          </a:prstGeom>
          <a:noFill/>
          <a:ln w="25400">
            <a:solidFill>
              <a:srgbClr val="FF33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rgbClr val="0070C0"/>
              </a:solidFill>
            </a:endParaRPr>
          </a:p>
        </p:txBody>
      </p:sp>
      <p:sp>
        <p:nvSpPr>
          <p:cNvPr id="35" name="Line 36"/>
          <p:cNvSpPr>
            <a:spLocks noChangeShapeType="1"/>
          </p:cNvSpPr>
          <p:nvPr/>
        </p:nvSpPr>
        <p:spPr bwMode="auto">
          <a:xfrm flipH="1" flipV="1">
            <a:off x="1846262" y="3428998"/>
            <a:ext cx="1212851" cy="2"/>
          </a:xfrm>
          <a:prstGeom prst="line">
            <a:avLst/>
          </a:prstGeom>
          <a:noFill/>
          <a:ln w="28575">
            <a:solidFill>
              <a:srgbClr val="FF3399"/>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rgbClr val="0070C0"/>
              </a:solidFill>
            </a:endParaRPr>
          </a:p>
        </p:txBody>
      </p:sp>
      <p:sp>
        <p:nvSpPr>
          <p:cNvPr id="36" name="Line 39"/>
          <p:cNvSpPr>
            <a:spLocks noChangeShapeType="1"/>
          </p:cNvSpPr>
          <p:nvPr/>
        </p:nvSpPr>
        <p:spPr bwMode="auto">
          <a:xfrm flipV="1">
            <a:off x="1835150" y="2565400"/>
            <a:ext cx="0" cy="863600"/>
          </a:xfrm>
          <a:prstGeom prst="line">
            <a:avLst/>
          </a:prstGeom>
          <a:noFill/>
          <a:ln w="25400">
            <a:solidFill>
              <a:srgbClr val="FF3399"/>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rgbClr val="0070C0"/>
              </a:solidFill>
            </a:endParaRPr>
          </a:p>
        </p:txBody>
      </p:sp>
      <p:sp>
        <p:nvSpPr>
          <p:cNvPr id="38" name="标题 1"/>
          <p:cNvSpPr>
            <a:spLocks noGrp="1"/>
          </p:cNvSpPr>
          <p:nvPr>
            <p:ph type="title"/>
          </p:nvPr>
        </p:nvSpPr>
        <p:spPr>
          <a:xfrm>
            <a:off x="192505" y="18386"/>
            <a:ext cx="8951495" cy="1142385"/>
          </a:xfrm>
        </p:spPr>
        <p:txBody>
          <a:bodyPr>
            <a:normAutofit/>
          </a:bodyPr>
          <a:lstStyle/>
          <a:p>
            <a:r>
              <a:rPr lang="zh-CN" altLang="en-US" sz="2800" dirty="0" smtClean="0"/>
              <a:t>第一节  开放</a:t>
            </a:r>
            <a:r>
              <a:rPr lang="zh-CN" altLang="en-US" sz="2800" dirty="0"/>
              <a:t>经济条件下的政策目标、工具和调控原理</a:t>
            </a:r>
            <a:endParaRPr lang="zh-CN" sz="2800" dirty="0"/>
          </a:p>
        </p:txBody>
      </p:sp>
      <p:grpSp>
        <p:nvGrpSpPr>
          <p:cNvPr id="37" name="组合 36"/>
          <p:cNvGrpSpPr/>
          <p:nvPr/>
        </p:nvGrpSpPr>
        <p:grpSpPr>
          <a:xfrm>
            <a:off x="3023944" y="3068638"/>
            <a:ext cx="547028" cy="457200"/>
            <a:chOff x="3157590" y="3068638"/>
            <a:chExt cx="547028" cy="457200"/>
          </a:xfrm>
        </p:grpSpPr>
        <p:sp>
          <p:nvSpPr>
            <p:cNvPr id="34" name="Text Box 35"/>
            <p:cNvSpPr txBox="1">
              <a:spLocks noChangeArrowheads="1"/>
            </p:cNvSpPr>
            <p:nvPr/>
          </p:nvSpPr>
          <p:spPr bwMode="auto">
            <a:xfrm>
              <a:off x="3199793" y="3068638"/>
              <a:ext cx="504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dirty="0">
                  <a:solidFill>
                    <a:srgbClr val="0070C0"/>
                  </a:solidFill>
                </a:rPr>
                <a:t>A</a:t>
              </a:r>
            </a:p>
          </p:txBody>
        </p:sp>
        <p:sp>
          <p:nvSpPr>
            <p:cNvPr id="2" name="椭圆 1"/>
            <p:cNvSpPr/>
            <p:nvPr/>
          </p:nvSpPr>
          <p:spPr>
            <a:xfrm>
              <a:off x="3157590" y="3360408"/>
              <a:ext cx="108346" cy="93266"/>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948546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500"/>
                                        <p:tgtEl>
                                          <p:spTgt spid="2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fade">
                                      <p:cBhvr>
                                        <p:cTn id="20" dur="500"/>
                                        <p:tgtEl>
                                          <p:spTgt spid="3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fade">
                                      <p:cBhvr>
                                        <p:cTn id="25" dur="500"/>
                                        <p:tgtEl>
                                          <p:spTgt spid="3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3"/>
                                        </p:tgtEl>
                                        <p:attrNameLst>
                                          <p:attrName>style.visibility</p:attrName>
                                        </p:attrNameLst>
                                      </p:cBhvr>
                                      <p:to>
                                        <p:strVal val="visible"/>
                                      </p:to>
                                    </p:set>
                                    <p:animEffect transition="in" filter="fade">
                                      <p:cBhvr>
                                        <p:cTn id="30" dur="500"/>
                                        <p:tgtEl>
                                          <p:spTgt spid="3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500"/>
                                        <p:tgtEl>
                                          <p:spTgt spid="3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fade">
                                      <p:cBhvr>
                                        <p:cTn id="40"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3" grpId="0" animBg="1"/>
      <p:bldP spid="35" grpId="0" animBg="1"/>
      <p:bldP spid="3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400" b="1" dirty="0">
                <a:solidFill>
                  <a:srgbClr val="00B0F0"/>
                </a:solidFill>
                <a:latin typeface="微软雅黑" panose="020B0503020204020204" pitchFamily="34" charset="-122"/>
                <a:ea typeface="微软雅黑" panose="020B0503020204020204" pitchFamily="34" charset="-122"/>
              </a:rPr>
              <a:t>五、蒙代尔的政策分派原理</a:t>
            </a:r>
          </a:p>
          <a:p>
            <a:pPr marL="0" indent="457200">
              <a:lnSpc>
                <a:spcPct val="100000"/>
              </a:lnSpc>
              <a:buNone/>
            </a:pPr>
            <a:r>
              <a:rPr lang="zh-CN" altLang="en-US" sz="2400" dirty="0">
                <a:latin typeface="微软雅黑" panose="020B0503020204020204" pitchFamily="34" charset="-122"/>
                <a:ea typeface="微软雅黑" panose="020B0503020204020204" pitchFamily="34" charset="-122"/>
              </a:rPr>
              <a:t>？考虑财政政策对国际收支影响的净结果是正的情况</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7" name="标题 1"/>
          <p:cNvSpPr>
            <a:spLocks noGrp="1"/>
          </p:cNvSpPr>
          <p:nvPr>
            <p:ph type="title"/>
          </p:nvPr>
        </p:nvSpPr>
        <p:spPr>
          <a:xfrm>
            <a:off x="192505" y="18386"/>
            <a:ext cx="8951495" cy="1142385"/>
          </a:xfrm>
        </p:spPr>
        <p:txBody>
          <a:bodyPr>
            <a:normAutofit/>
          </a:bodyPr>
          <a:lstStyle/>
          <a:p>
            <a:r>
              <a:rPr lang="zh-CN" altLang="en-US" sz="2800" dirty="0" smtClean="0"/>
              <a:t>第一节  开放</a:t>
            </a:r>
            <a:r>
              <a:rPr lang="zh-CN" altLang="en-US" sz="2800" dirty="0"/>
              <a:t>经济条件下的政策目标、工具和调控原理</a:t>
            </a:r>
            <a:endParaRPr lang="zh-CN" sz="2800" dirty="0"/>
          </a:p>
        </p:txBody>
      </p:sp>
    </p:spTree>
    <p:extLst>
      <p:ext uri="{BB962C8B-B14F-4D97-AF65-F5344CB8AC3E}">
        <p14:creationId xmlns:p14="http://schemas.microsoft.com/office/powerpoint/2010/main" val="1312397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550" y="1447799"/>
            <a:ext cx="7200900" cy="4841879"/>
          </a:xfrm>
        </p:spPr>
        <p:txBody>
          <a:bodyPr>
            <a:normAutofit fontScale="92500" lnSpcReduction="10000"/>
          </a:bodyPr>
          <a:lstStyle/>
          <a:p>
            <a:pPr marL="0" indent="0">
              <a:lnSpc>
                <a:spcPct val="110000"/>
              </a:lnSpc>
              <a:buNone/>
            </a:pPr>
            <a:r>
              <a:rPr lang="zh-CN" altLang="en-US" sz="2400" b="1" dirty="0">
                <a:solidFill>
                  <a:srgbClr val="00B0F0"/>
                </a:solidFill>
                <a:latin typeface="微软雅黑" panose="020B0503020204020204" pitchFamily="34" charset="-122"/>
                <a:ea typeface="微软雅黑" panose="020B0503020204020204" pitchFamily="34" charset="-122"/>
              </a:rPr>
              <a:t>五、蒙代尔的政策分派原理</a:t>
            </a:r>
          </a:p>
          <a:p>
            <a:pPr marL="609600" indent="-609600">
              <a:buFontTx/>
              <a:buNone/>
            </a:pPr>
            <a:r>
              <a:rPr lang="zh-CN" altLang="en-US" sz="2400" b="1" dirty="0" smtClean="0">
                <a:solidFill>
                  <a:srgbClr val="0070C0"/>
                </a:solidFill>
                <a:latin typeface="楷体" panose="02010609060101010101" pitchFamily="49" charset="-122"/>
                <a:ea typeface="楷体" panose="02010609060101010101" pitchFamily="49" charset="-122"/>
              </a:rPr>
              <a:t>在</a:t>
            </a:r>
            <a:r>
              <a:rPr lang="zh-CN" altLang="en-US" sz="2400" b="1" dirty="0">
                <a:solidFill>
                  <a:srgbClr val="0070C0"/>
                </a:solidFill>
                <a:latin typeface="楷体" panose="02010609060101010101" pitchFamily="49" charset="-122"/>
                <a:ea typeface="楷体" panose="02010609060101010101" pitchFamily="49" charset="-122"/>
              </a:rPr>
              <a:t>汇率固定的条件下，财政与货币政策的分派</a:t>
            </a:r>
          </a:p>
          <a:p>
            <a:pPr marL="609600" indent="-609600">
              <a:buFontTx/>
              <a:buNone/>
            </a:pPr>
            <a:r>
              <a:rPr lang="zh-CN" altLang="en-US" sz="2400" b="1" dirty="0">
                <a:solidFill>
                  <a:srgbClr val="C00000"/>
                </a:solidFill>
                <a:latin typeface="楷体" panose="02010609060101010101" pitchFamily="49" charset="-122"/>
                <a:ea typeface="楷体" panose="02010609060101010101" pitchFamily="49" charset="-122"/>
              </a:rPr>
              <a:t>财政政策与货币政策效应的区别</a:t>
            </a:r>
          </a:p>
          <a:p>
            <a:pPr marL="609600" indent="-609600">
              <a:lnSpc>
                <a:spcPct val="110000"/>
              </a:lnSpc>
              <a:buFontTx/>
              <a:buNone/>
            </a:pPr>
            <a:r>
              <a:rPr lang="zh-CN" altLang="en-US" sz="2400" b="1" dirty="0">
                <a:solidFill>
                  <a:srgbClr val="0070C0"/>
                </a:solidFill>
                <a:latin typeface="楷体" panose="02010609060101010101" pitchFamily="49" charset="-122"/>
                <a:ea typeface="楷体" panose="02010609060101010101" pitchFamily="49" charset="-122"/>
              </a:rPr>
              <a:t>    </a:t>
            </a:r>
            <a:r>
              <a:rPr lang="en-US" altLang="zh-CN" sz="2400" b="1" u="sng" dirty="0">
                <a:solidFill>
                  <a:srgbClr val="0070C0"/>
                </a:solidFill>
                <a:latin typeface="楷体" panose="02010609060101010101" pitchFamily="49" charset="-122"/>
                <a:ea typeface="楷体" panose="02010609060101010101" pitchFamily="49" charset="-122"/>
              </a:rPr>
              <a:t>1.</a:t>
            </a:r>
            <a:r>
              <a:rPr lang="zh-CN" altLang="en-US" sz="2400" b="1" u="sng" dirty="0">
                <a:solidFill>
                  <a:srgbClr val="0070C0"/>
                </a:solidFill>
                <a:latin typeface="楷体" panose="02010609060101010101" pitchFamily="49" charset="-122"/>
                <a:ea typeface="楷体" panose="02010609060101010101" pitchFamily="49" charset="-122"/>
              </a:rPr>
              <a:t>对利率的影响不同：</a:t>
            </a:r>
          </a:p>
          <a:p>
            <a:pPr marL="609600" indent="-609600">
              <a:lnSpc>
                <a:spcPct val="110000"/>
              </a:lnSpc>
              <a:buFontTx/>
              <a:buNone/>
            </a:pPr>
            <a:r>
              <a:rPr lang="zh-CN" altLang="en-US" sz="2400" b="1" dirty="0">
                <a:solidFill>
                  <a:srgbClr val="0070C0"/>
                </a:solidFill>
                <a:latin typeface="楷体" panose="02010609060101010101" pitchFamily="49" charset="-122"/>
                <a:ea typeface="楷体" panose="02010609060101010101" pitchFamily="49" charset="-122"/>
              </a:rPr>
              <a:t>       </a:t>
            </a:r>
            <a:r>
              <a:rPr lang="en-US" altLang="zh-CN" sz="2400" b="1" dirty="0">
                <a:solidFill>
                  <a:srgbClr val="0070C0"/>
                </a:solidFill>
                <a:latin typeface="楷体" panose="02010609060101010101" pitchFamily="49" charset="-122"/>
                <a:ea typeface="楷体" panose="02010609060101010101" pitchFamily="49" charset="-122"/>
              </a:rPr>
              <a:t>a.</a:t>
            </a:r>
            <a:r>
              <a:rPr lang="zh-CN" altLang="en-US" sz="2400" b="1" dirty="0">
                <a:solidFill>
                  <a:srgbClr val="0070C0"/>
                </a:solidFill>
                <a:latin typeface="楷体" panose="02010609060101010101" pitchFamily="49" charset="-122"/>
                <a:ea typeface="楷体" panose="02010609060101010101" pitchFamily="49" charset="-122"/>
              </a:rPr>
              <a:t>紧缩性的财政政策趋向于降低利率</a:t>
            </a:r>
          </a:p>
          <a:p>
            <a:pPr marL="609600" indent="-609600">
              <a:lnSpc>
                <a:spcPct val="110000"/>
              </a:lnSpc>
              <a:buFontTx/>
              <a:buNone/>
            </a:pPr>
            <a:r>
              <a:rPr lang="zh-CN" altLang="en-US" sz="2400" b="1" dirty="0">
                <a:solidFill>
                  <a:srgbClr val="0070C0"/>
                </a:solidFill>
                <a:latin typeface="楷体" panose="02010609060101010101" pitchFamily="49" charset="-122"/>
                <a:ea typeface="楷体" panose="02010609060101010101" pitchFamily="49" charset="-122"/>
              </a:rPr>
              <a:t>       </a:t>
            </a:r>
            <a:r>
              <a:rPr lang="en-US" altLang="zh-CN" sz="2400" b="1" dirty="0">
                <a:solidFill>
                  <a:srgbClr val="0070C0"/>
                </a:solidFill>
                <a:latin typeface="楷体" panose="02010609060101010101" pitchFamily="49" charset="-122"/>
                <a:ea typeface="楷体" panose="02010609060101010101" pitchFamily="49" charset="-122"/>
              </a:rPr>
              <a:t>b.</a:t>
            </a:r>
            <a:r>
              <a:rPr lang="zh-CN" altLang="en-US" sz="2400" b="1" dirty="0">
                <a:solidFill>
                  <a:srgbClr val="0070C0"/>
                </a:solidFill>
                <a:latin typeface="楷体" panose="02010609060101010101" pitchFamily="49" charset="-122"/>
                <a:ea typeface="楷体" panose="02010609060101010101" pitchFamily="49" charset="-122"/>
              </a:rPr>
              <a:t>紧缩性货币政策趋向于提高利率</a:t>
            </a:r>
          </a:p>
          <a:p>
            <a:pPr marL="609600" indent="-609600">
              <a:lnSpc>
                <a:spcPct val="110000"/>
              </a:lnSpc>
              <a:buFontTx/>
              <a:buNone/>
            </a:pPr>
            <a:r>
              <a:rPr lang="zh-CN" altLang="en-US" sz="2400" b="1" dirty="0">
                <a:solidFill>
                  <a:srgbClr val="0070C0"/>
                </a:solidFill>
                <a:latin typeface="楷体" panose="02010609060101010101" pitchFamily="49" charset="-122"/>
                <a:ea typeface="楷体" panose="02010609060101010101" pitchFamily="49" charset="-122"/>
              </a:rPr>
              <a:t>    </a:t>
            </a:r>
            <a:r>
              <a:rPr lang="en-US" altLang="zh-CN" sz="2400" b="1" u="sng" dirty="0">
                <a:solidFill>
                  <a:srgbClr val="0070C0"/>
                </a:solidFill>
                <a:latin typeface="楷体" panose="02010609060101010101" pitchFamily="49" charset="-122"/>
                <a:ea typeface="楷体" panose="02010609060101010101" pitchFamily="49" charset="-122"/>
              </a:rPr>
              <a:t>2</a:t>
            </a:r>
            <a:r>
              <a:rPr lang="en-US" altLang="zh-CN" sz="2400" b="1" u="sng" dirty="0" smtClean="0">
                <a:solidFill>
                  <a:srgbClr val="0070C0"/>
                </a:solidFill>
                <a:latin typeface="楷体" panose="02010609060101010101" pitchFamily="49" charset="-122"/>
                <a:ea typeface="楷体" panose="02010609060101010101" pitchFamily="49" charset="-122"/>
              </a:rPr>
              <a:t>.</a:t>
            </a:r>
            <a:r>
              <a:rPr lang="zh-CN" altLang="en-US" sz="2400" b="1" u="sng" dirty="0" smtClean="0">
                <a:solidFill>
                  <a:srgbClr val="0070C0"/>
                </a:solidFill>
                <a:latin typeface="楷体" panose="02010609060101010101" pitchFamily="49" charset="-122"/>
                <a:ea typeface="楷体" panose="02010609060101010101" pitchFamily="49" charset="-122"/>
              </a:rPr>
              <a:t>对</a:t>
            </a:r>
            <a:r>
              <a:rPr lang="zh-CN" altLang="en-US" sz="2400" b="1" u="sng" dirty="0">
                <a:solidFill>
                  <a:srgbClr val="0070C0"/>
                </a:solidFill>
                <a:latin typeface="楷体" panose="02010609060101010101" pitchFamily="49" charset="-122"/>
                <a:ea typeface="楷体" panose="02010609060101010101" pitchFamily="49" charset="-122"/>
              </a:rPr>
              <a:t>国际收支的影响不同：</a:t>
            </a:r>
          </a:p>
          <a:p>
            <a:pPr marL="609600" indent="-609600">
              <a:lnSpc>
                <a:spcPct val="110000"/>
              </a:lnSpc>
              <a:buFontTx/>
              <a:buNone/>
            </a:pPr>
            <a:r>
              <a:rPr lang="zh-CN" altLang="en-US" sz="2400" b="1" dirty="0">
                <a:solidFill>
                  <a:srgbClr val="0070C0"/>
                </a:solidFill>
                <a:latin typeface="楷体" panose="02010609060101010101" pitchFamily="49" charset="-122"/>
                <a:ea typeface="楷体" panose="02010609060101010101" pitchFamily="49" charset="-122"/>
              </a:rPr>
              <a:t>       </a:t>
            </a:r>
            <a:r>
              <a:rPr lang="en-US" altLang="zh-CN" sz="2400" b="1" dirty="0">
                <a:solidFill>
                  <a:srgbClr val="0070C0"/>
                </a:solidFill>
                <a:latin typeface="楷体" panose="02010609060101010101" pitchFamily="49" charset="-122"/>
                <a:ea typeface="楷体" panose="02010609060101010101" pitchFamily="49" charset="-122"/>
              </a:rPr>
              <a:t>a.</a:t>
            </a:r>
            <a:r>
              <a:rPr lang="zh-CN" altLang="en-US" sz="2400" b="1" dirty="0">
                <a:solidFill>
                  <a:srgbClr val="0070C0"/>
                </a:solidFill>
                <a:latin typeface="楷体" panose="02010609060101010101" pitchFamily="49" charset="-122"/>
                <a:ea typeface="楷体" panose="02010609060101010101" pitchFamily="49" charset="-122"/>
              </a:rPr>
              <a:t>货币政策主要应用于治理国际收支失衡</a:t>
            </a:r>
          </a:p>
          <a:p>
            <a:pPr marL="609600" indent="-609600">
              <a:lnSpc>
                <a:spcPct val="110000"/>
              </a:lnSpc>
              <a:buFontTx/>
              <a:buNone/>
            </a:pPr>
            <a:r>
              <a:rPr lang="zh-CN" altLang="en-US" sz="2400" b="1" dirty="0">
                <a:solidFill>
                  <a:srgbClr val="0070C0"/>
                </a:solidFill>
                <a:latin typeface="楷体" panose="02010609060101010101" pitchFamily="49" charset="-122"/>
                <a:ea typeface="楷体" panose="02010609060101010101" pitchFamily="49" charset="-122"/>
              </a:rPr>
              <a:t>       </a:t>
            </a:r>
            <a:r>
              <a:rPr lang="en-US" altLang="zh-CN" sz="2400" b="1" dirty="0">
                <a:solidFill>
                  <a:srgbClr val="0070C0"/>
                </a:solidFill>
                <a:latin typeface="楷体" panose="02010609060101010101" pitchFamily="49" charset="-122"/>
                <a:ea typeface="楷体" panose="02010609060101010101" pitchFamily="49" charset="-122"/>
              </a:rPr>
              <a:t>b.</a:t>
            </a:r>
            <a:r>
              <a:rPr lang="zh-CN" altLang="en-US" sz="2400" b="1" dirty="0">
                <a:solidFill>
                  <a:srgbClr val="0070C0"/>
                </a:solidFill>
                <a:latin typeface="楷体" panose="02010609060101010101" pitchFamily="49" charset="-122"/>
                <a:ea typeface="楷体" panose="02010609060101010101" pitchFamily="49" charset="-122"/>
              </a:rPr>
              <a:t>财政政策应对内部经济失衡</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7" name="标题 1"/>
          <p:cNvSpPr>
            <a:spLocks noGrp="1"/>
          </p:cNvSpPr>
          <p:nvPr>
            <p:ph type="title"/>
          </p:nvPr>
        </p:nvSpPr>
        <p:spPr>
          <a:xfrm>
            <a:off x="192505" y="18386"/>
            <a:ext cx="8951495" cy="1142385"/>
          </a:xfrm>
        </p:spPr>
        <p:txBody>
          <a:bodyPr>
            <a:normAutofit/>
          </a:bodyPr>
          <a:lstStyle/>
          <a:p>
            <a:r>
              <a:rPr lang="zh-CN" altLang="en-US" sz="2800" dirty="0" smtClean="0"/>
              <a:t>第一节  开放</a:t>
            </a:r>
            <a:r>
              <a:rPr lang="zh-CN" altLang="en-US" sz="2800" dirty="0"/>
              <a:t>经济条件下的政策目标、工具和调控原理</a:t>
            </a:r>
            <a:endParaRPr lang="zh-CN" sz="2800" dirty="0"/>
          </a:p>
        </p:txBody>
      </p:sp>
    </p:spTree>
    <p:extLst>
      <p:ext uri="{BB962C8B-B14F-4D97-AF65-F5344CB8AC3E}">
        <p14:creationId xmlns:p14="http://schemas.microsoft.com/office/powerpoint/2010/main" val="426356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endParaRPr lang="en-US" altLang="zh-CN" sz="2800" dirty="0" smtClean="0">
              <a:solidFill>
                <a:schemeClr val="accent1"/>
              </a:solidFill>
              <a:latin typeface="微软雅黑" panose="020B0503020204020204" pitchFamily="34" charset="-122"/>
              <a:ea typeface="微软雅黑" panose="020B0503020204020204" pitchFamily="34" charset="-122"/>
            </a:endParaRPr>
          </a:p>
          <a:p>
            <a:pPr marL="0" indent="457200">
              <a:lnSpc>
                <a:spcPct val="130000"/>
              </a:lnSpc>
              <a:buNone/>
            </a:pPr>
            <a:r>
              <a:rPr lang="zh-CN" altLang="en-US" sz="2400" dirty="0" smtClean="0">
                <a:latin typeface="微软雅黑" panose="020B0503020204020204" pitchFamily="34" charset="-122"/>
                <a:ea typeface="微软雅黑" panose="020B0503020204020204" pitchFamily="34" charset="-122"/>
              </a:rPr>
              <a:t>蒙代尔</a:t>
            </a:r>
            <a:r>
              <a:rPr lang="zh-CN" altLang="en-US" sz="2400" dirty="0">
                <a:latin typeface="微软雅黑" panose="020B0503020204020204" pitchFamily="34" charset="-122"/>
                <a:ea typeface="微软雅黑" panose="020B0503020204020204" pitchFamily="34" charset="-122"/>
              </a:rPr>
              <a:t>－弗莱明模型是开放经济下进行宏观分析的工作母机。分析一个小型开放经济，在不同的资本流动程度下，固定汇率制和浮动汇率制下的财政货币政策。</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7" name="标题 1"/>
          <p:cNvSpPr>
            <a:spLocks noGrp="1"/>
          </p:cNvSpPr>
          <p:nvPr>
            <p:ph type="title"/>
          </p:nvPr>
        </p:nvSpPr>
        <p:spPr>
          <a:xfrm>
            <a:off x="192505" y="18386"/>
            <a:ext cx="8951495" cy="1142385"/>
          </a:xfrm>
        </p:spPr>
        <p:txBody>
          <a:bodyPr>
            <a:normAutofit/>
          </a:bodyPr>
          <a:lstStyle/>
          <a:p>
            <a:r>
              <a:rPr altLang="en-US" sz="2800" dirty="0" smtClean="0"/>
              <a:t>第二节</a:t>
            </a:r>
            <a:r>
              <a:rPr lang="en-US" altLang="en-US" sz="2800" dirty="0" smtClean="0"/>
              <a:t>	</a:t>
            </a:r>
            <a:r>
              <a:rPr altLang="en-US" sz="2800" dirty="0" smtClean="0"/>
              <a:t>开放经济条件下的财政、货币政策</a:t>
            </a:r>
            <a:br>
              <a:rPr altLang="en-US" sz="2800" dirty="0" smtClean="0"/>
            </a:br>
            <a:r>
              <a:rPr altLang="en-US" sz="2800" dirty="0" smtClean="0">
                <a:solidFill>
                  <a:srgbClr val="00B0F0"/>
                </a:solidFill>
                <a:latin typeface="黑体" pitchFamily="49" charset="-122"/>
                <a:ea typeface="黑体" pitchFamily="49" charset="-122"/>
              </a:rPr>
              <a:t>                             </a:t>
            </a:r>
            <a:r>
              <a:rPr lang="en-US" altLang="zh-CN" sz="2000" dirty="0" smtClean="0">
                <a:solidFill>
                  <a:srgbClr val="00B0F0"/>
                </a:solidFill>
                <a:latin typeface="黑体" pitchFamily="49" charset="-122"/>
                <a:ea typeface="黑体" pitchFamily="49" charset="-122"/>
              </a:rPr>
              <a:t>——</a:t>
            </a:r>
            <a:r>
              <a:rPr altLang="en-US" sz="2000" dirty="0" smtClean="0">
                <a:solidFill>
                  <a:srgbClr val="00B0F0"/>
                </a:solidFill>
                <a:latin typeface="黑体" pitchFamily="49" charset="-122"/>
                <a:ea typeface="黑体" pitchFamily="49" charset="-122"/>
              </a:rPr>
              <a:t>蒙代尔－弗莱明模型</a:t>
            </a:r>
            <a:endParaRPr lang="zh-CN" sz="2800" dirty="0">
              <a:solidFill>
                <a:srgbClr val="00B0F0"/>
              </a:solidFill>
            </a:endParaRPr>
          </a:p>
        </p:txBody>
      </p:sp>
    </p:spTree>
    <p:extLst>
      <p:ext uri="{BB962C8B-B14F-4D97-AF65-F5344CB8AC3E}">
        <p14:creationId xmlns:p14="http://schemas.microsoft.com/office/powerpoint/2010/main" val="3581064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idx="4294967295"/>
          </p:nvPr>
        </p:nvSpPr>
        <p:spPr>
          <a:xfrm>
            <a:off x="611188" y="1052513"/>
            <a:ext cx="2663825" cy="576262"/>
          </a:xfrm>
        </p:spPr>
        <p:txBody>
          <a:bodyPr/>
          <a:lstStyle/>
          <a:p>
            <a:pPr algn="l"/>
            <a:r>
              <a:rPr lang="zh-CN" altLang="en-US" sz="2600" dirty="0">
                <a:solidFill>
                  <a:srgbClr val="0070C0"/>
                </a:solidFill>
                <a:latin typeface="黑体" pitchFamily="49" charset="-122"/>
                <a:ea typeface="黑体" pitchFamily="49" charset="-122"/>
              </a:rPr>
              <a:t>基本模型</a:t>
            </a:r>
          </a:p>
        </p:txBody>
      </p:sp>
      <p:sp>
        <p:nvSpPr>
          <p:cNvPr id="48131" name="Rectangle 3"/>
          <p:cNvSpPr>
            <a:spLocks noGrp="1" noChangeArrowheads="1"/>
          </p:cNvSpPr>
          <p:nvPr>
            <p:ph type="body" idx="4294967295"/>
          </p:nvPr>
        </p:nvSpPr>
        <p:spPr>
          <a:xfrm>
            <a:off x="323850" y="1557337"/>
            <a:ext cx="8229600" cy="3929063"/>
          </a:xfrm>
        </p:spPr>
        <p:txBody>
          <a:bodyPr>
            <a:normAutofit fontScale="62500" lnSpcReduction="20000"/>
          </a:bodyPr>
          <a:lstStyle/>
          <a:p>
            <a:pPr algn="just">
              <a:lnSpc>
                <a:spcPct val="90000"/>
              </a:lnSpc>
              <a:buFontTx/>
              <a:buNone/>
            </a:pPr>
            <a:r>
              <a:rPr lang="en-US" altLang="zh-CN" sz="2200" dirty="0">
                <a:latin typeface="隶书" pitchFamily="49" charset="-122"/>
                <a:ea typeface="隶书" pitchFamily="49" charset="-122"/>
              </a:rPr>
              <a:t>      </a:t>
            </a:r>
            <a:endParaRPr lang="en-US" altLang="zh-CN" sz="2200" dirty="0" smtClean="0">
              <a:latin typeface="隶书" pitchFamily="49" charset="-122"/>
              <a:ea typeface="隶书" pitchFamily="49" charset="-122"/>
            </a:endParaRPr>
          </a:p>
          <a:p>
            <a:pPr algn="just">
              <a:lnSpc>
                <a:spcPct val="150000"/>
              </a:lnSpc>
              <a:buFontTx/>
              <a:buNone/>
            </a:pPr>
            <a:r>
              <a:rPr lang="en-US" altLang="zh-CN" sz="2200" dirty="0" smtClean="0">
                <a:latin typeface="隶书" pitchFamily="49" charset="-122"/>
                <a:ea typeface="隶书" pitchFamily="49" charset="-122"/>
              </a:rPr>
              <a:t>		 </a:t>
            </a:r>
            <a:r>
              <a:rPr lang="zh-CN" altLang="en-US" sz="3200" dirty="0">
                <a:solidFill>
                  <a:srgbClr val="0070C0"/>
                </a:solidFill>
                <a:latin typeface="黑体" pitchFamily="49" charset="-122"/>
                <a:ea typeface="黑体" pitchFamily="49" charset="-122"/>
              </a:rPr>
              <a:t>美国经济学家弗莱明（</a:t>
            </a:r>
            <a:r>
              <a:rPr lang="en-US" altLang="zh-CN" sz="3200" dirty="0">
                <a:solidFill>
                  <a:srgbClr val="0070C0"/>
                </a:solidFill>
                <a:latin typeface="黑体" pitchFamily="49" charset="-122"/>
                <a:ea typeface="黑体" pitchFamily="49" charset="-122"/>
              </a:rPr>
              <a:t>J. Fleming</a:t>
            </a:r>
            <a:r>
              <a:rPr lang="zh-CN" altLang="en-US" sz="3200" dirty="0">
                <a:solidFill>
                  <a:srgbClr val="0070C0"/>
                </a:solidFill>
                <a:latin typeface="黑体" pitchFamily="49" charset="-122"/>
                <a:ea typeface="黑体" pitchFamily="49" charset="-122"/>
              </a:rPr>
              <a:t>）和蒙代尔</a:t>
            </a:r>
            <a:r>
              <a:rPr lang="en-US" altLang="zh-CN" sz="3200" dirty="0">
                <a:solidFill>
                  <a:srgbClr val="0070C0"/>
                </a:solidFill>
                <a:latin typeface="黑体" pitchFamily="49" charset="-122"/>
                <a:ea typeface="黑体" pitchFamily="49" charset="-122"/>
              </a:rPr>
              <a:t>(R. </a:t>
            </a:r>
            <a:r>
              <a:rPr lang="en-US" altLang="zh-CN" sz="3200" dirty="0" err="1">
                <a:solidFill>
                  <a:srgbClr val="0070C0"/>
                </a:solidFill>
                <a:latin typeface="黑体" pitchFamily="49" charset="-122"/>
                <a:ea typeface="黑体" pitchFamily="49" charset="-122"/>
              </a:rPr>
              <a:t>Mundell</a:t>
            </a:r>
            <a:r>
              <a:rPr lang="en-US" altLang="zh-CN" sz="3200" dirty="0">
                <a:solidFill>
                  <a:srgbClr val="0070C0"/>
                </a:solidFill>
                <a:latin typeface="黑体" pitchFamily="49" charset="-122"/>
                <a:ea typeface="黑体" pitchFamily="49" charset="-122"/>
              </a:rPr>
              <a:t>)</a:t>
            </a:r>
            <a:r>
              <a:rPr lang="zh-CN" altLang="en-US" sz="3200" dirty="0">
                <a:solidFill>
                  <a:srgbClr val="0070C0"/>
                </a:solidFill>
                <a:latin typeface="黑体" pitchFamily="49" charset="-122"/>
                <a:ea typeface="黑体" pitchFamily="49" charset="-122"/>
              </a:rPr>
              <a:t>分别于</a:t>
            </a:r>
            <a:r>
              <a:rPr lang="en-US" altLang="zh-CN" sz="3200" dirty="0">
                <a:solidFill>
                  <a:srgbClr val="0070C0"/>
                </a:solidFill>
                <a:latin typeface="黑体" pitchFamily="49" charset="-122"/>
                <a:ea typeface="黑体" pitchFamily="49" charset="-122"/>
              </a:rPr>
              <a:t>1962</a:t>
            </a:r>
            <a:r>
              <a:rPr lang="zh-CN" altLang="en-US" sz="3200" dirty="0">
                <a:solidFill>
                  <a:srgbClr val="0070C0"/>
                </a:solidFill>
                <a:latin typeface="黑体" pitchFamily="49" charset="-122"/>
                <a:ea typeface="黑体" pitchFamily="49" charset="-122"/>
              </a:rPr>
              <a:t>年至</a:t>
            </a:r>
            <a:r>
              <a:rPr lang="en-US" altLang="zh-CN" sz="3200" dirty="0">
                <a:solidFill>
                  <a:srgbClr val="0070C0"/>
                </a:solidFill>
                <a:latin typeface="黑体" pitchFamily="49" charset="-122"/>
                <a:ea typeface="黑体" pitchFamily="49" charset="-122"/>
              </a:rPr>
              <a:t>1963</a:t>
            </a:r>
            <a:r>
              <a:rPr lang="zh-CN" altLang="en-US" sz="3200" dirty="0">
                <a:solidFill>
                  <a:srgbClr val="0070C0"/>
                </a:solidFill>
                <a:latin typeface="黑体" pitchFamily="49" charset="-122"/>
                <a:ea typeface="黑体" pitchFamily="49" charset="-122"/>
              </a:rPr>
              <a:t>年发表有关文章，运用凯恩斯主义的</a:t>
            </a:r>
            <a:r>
              <a:rPr lang="en-US" altLang="zh-CN" sz="3200" dirty="0">
                <a:solidFill>
                  <a:srgbClr val="0070C0"/>
                </a:solidFill>
                <a:latin typeface="黑体" pitchFamily="49" charset="-122"/>
                <a:ea typeface="黑体" pitchFamily="49" charset="-122"/>
              </a:rPr>
              <a:t>IS—LM—BP</a:t>
            </a:r>
            <a:r>
              <a:rPr lang="zh-CN" altLang="en-US" sz="3200" dirty="0">
                <a:solidFill>
                  <a:srgbClr val="0070C0"/>
                </a:solidFill>
                <a:latin typeface="黑体" pitchFamily="49" charset="-122"/>
                <a:ea typeface="黑体" pitchFamily="49" charset="-122"/>
              </a:rPr>
              <a:t>曲线，继续研究斯旺曲线模型提出的政策性难题。</a:t>
            </a:r>
          </a:p>
          <a:p>
            <a:pPr algn="just">
              <a:lnSpc>
                <a:spcPct val="150000"/>
              </a:lnSpc>
              <a:buFontTx/>
              <a:buNone/>
            </a:pPr>
            <a:r>
              <a:rPr lang="zh-CN" altLang="en-US" sz="3200" dirty="0">
                <a:solidFill>
                  <a:srgbClr val="0070C0"/>
                </a:solidFill>
                <a:latin typeface="黑体" pitchFamily="49" charset="-122"/>
                <a:ea typeface="黑体" pitchFamily="49" charset="-122"/>
              </a:rPr>
              <a:t>       他们的主要贡献是分析了财政政策和货币政策对一国经济内部和外部均衡的不同作用，并且着重探讨了国际资本流动的影响，他们的研究成果被称为蒙代尔</a:t>
            </a:r>
            <a:r>
              <a:rPr lang="en-US" altLang="zh-CN" sz="3200" dirty="0">
                <a:solidFill>
                  <a:srgbClr val="0070C0"/>
                </a:solidFill>
                <a:latin typeface="黑体" pitchFamily="49" charset="-122"/>
                <a:ea typeface="黑体" pitchFamily="49" charset="-122"/>
              </a:rPr>
              <a:t>——</a:t>
            </a:r>
            <a:r>
              <a:rPr lang="zh-CN" altLang="en-US" sz="3200" dirty="0">
                <a:solidFill>
                  <a:srgbClr val="0070C0"/>
                </a:solidFill>
                <a:latin typeface="黑体" pitchFamily="49" charset="-122"/>
                <a:ea typeface="黑体" pitchFamily="49" charset="-122"/>
              </a:rPr>
              <a:t>弗莱明模型（</a:t>
            </a:r>
            <a:r>
              <a:rPr lang="en-US" altLang="zh-CN" sz="3200" dirty="0">
                <a:solidFill>
                  <a:srgbClr val="0070C0"/>
                </a:solidFill>
                <a:latin typeface="黑体" pitchFamily="49" charset="-122"/>
                <a:ea typeface="黑体" pitchFamily="49" charset="-122"/>
              </a:rPr>
              <a:t>M-F </a:t>
            </a:r>
            <a:r>
              <a:rPr lang="zh-CN" altLang="en-US" sz="3200" dirty="0">
                <a:solidFill>
                  <a:srgbClr val="0070C0"/>
                </a:solidFill>
                <a:latin typeface="黑体" pitchFamily="49" charset="-122"/>
                <a:ea typeface="黑体" pitchFamily="49" charset="-122"/>
              </a:rPr>
              <a:t>）。</a:t>
            </a:r>
          </a:p>
          <a:p>
            <a:pPr algn="just">
              <a:lnSpc>
                <a:spcPct val="90000"/>
              </a:lnSpc>
              <a:buFontTx/>
              <a:buNone/>
            </a:pPr>
            <a:r>
              <a:rPr lang="zh-CN" altLang="en-US" sz="2200" dirty="0">
                <a:latin typeface="隶书" pitchFamily="49" charset="-122"/>
                <a:ea typeface="隶书" pitchFamily="49" charset="-122"/>
              </a:rPr>
              <a:t> </a:t>
            </a:r>
          </a:p>
        </p:txBody>
      </p:sp>
      <p:sp>
        <p:nvSpPr>
          <p:cNvPr id="48134" name="Rectangle 6"/>
          <p:cNvSpPr>
            <a:spLocks noChangeArrowheads="1"/>
          </p:cNvSpPr>
          <p:nvPr/>
        </p:nvSpPr>
        <p:spPr bwMode="auto">
          <a:xfrm>
            <a:off x="0" y="2381250"/>
            <a:ext cx="9144000" cy="0"/>
          </a:xfrm>
          <a:prstGeom prst="rect">
            <a:avLst/>
          </a:prstGeom>
          <a:noFill/>
          <a:ln w="9525">
            <a:noFill/>
            <a:miter lim="800000"/>
            <a:headEnd/>
            <a:tailEnd/>
          </a:ln>
          <a:effectLst/>
        </p:spPr>
        <p:txBody>
          <a:bodyPr wrap="none" anchor="ctr">
            <a:spAutoFit/>
          </a:bodyPr>
          <a:lstStyle/>
          <a:p>
            <a:endParaRPr lang="zh-CN" altLang="en-US"/>
          </a:p>
        </p:txBody>
      </p:sp>
      <p:sp>
        <p:nvSpPr>
          <p:cNvPr id="7" name="矩形 6"/>
          <p:cNvSpPr/>
          <p:nvPr/>
        </p:nvSpPr>
        <p:spPr>
          <a:xfrm>
            <a:off x="481263" y="409075"/>
            <a:ext cx="7676147" cy="830997"/>
          </a:xfrm>
          <a:prstGeom prst="rect">
            <a:avLst/>
          </a:prstGeom>
        </p:spPr>
        <p:txBody>
          <a:bodyPr wrap="square">
            <a:spAutoFit/>
          </a:bodyPr>
          <a:lstStyle/>
          <a:p>
            <a:pPr algn="r"/>
            <a:r>
              <a:rPr lang="zh-CN" altLang="en-US" sz="2800" b="1" dirty="0" smtClean="0">
                <a:solidFill>
                  <a:schemeClr val="accent1"/>
                </a:solidFill>
                <a:latin typeface="+mj-lt"/>
                <a:ea typeface="Microsoft YaHei UI" panose="020B0503020204020204" pitchFamily="34" charset="-122"/>
                <a:cs typeface="+mj-cs"/>
              </a:rPr>
              <a:t>第二节	开放经济条件下的财政、货币政策</a:t>
            </a:r>
            <a:r>
              <a:rPr lang="zh-CN" altLang="en-US" dirty="0" smtClean="0"/>
              <a:t/>
            </a:r>
            <a:br>
              <a:rPr lang="zh-CN" altLang="en-US" dirty="0" smtClean="0"/>
            </a:br>
            <a:r>
              <a:rPr lang="zh-CN" altLang="en-US" dirty="0" smtClean="0">
                <a:solidFill>
                  <a:srgbClr val="00B0F0"/>
                </a:solidFill>
                <a:latin typeface="黑体" pitchFamily="49" charset="-122"/>
                <a:ea typeface="黑体" pitchFamily="49" charset="-122"/>
              </a:rPr>
              <a:t>                             </a:t>
            </a:r>
            <a:r>
              <a:rPr lang="en-US" altLang="zh-CN" sz="2000" dirty="0" smtClean="0">
                <a:solidFill>
                  <a:srgbClr val="00B0F0"/>
                </a:solidFill>
                <a:latin typeface="黑体" pitchFamily="49" charset="-122"/>
                <a:ea typeface="黑体" pitchFamily="49" charset="-122"/>
              </a:rPr>
              <a:t>——</a:t>
            </a:r>
            <a:r>
              <a:rPr lang="zh-CN" altLang="en-US" sz="2000" dirty="0" smtClean="0">
                <a:solidFill>
                  <a:srgbClr val="00B0F0"/>
                </a:solidFill>
                <a:latin typeface="黑体" pitchFamily="49" charset="-122"/>
                <a:ea typeface="黑体" pitchFamily="49" charset="-122"/>
              </a:rPr>
              <a:t>蒙代尔－弗莱明模型</a:t>
            </a:r>
            <a:endParaRPr lang="zh-CN" altLang="en-US" sz="2000" dirty="0"/>
          </a:p>
        </p:txBody>
      </p:sp>
    </p:spTree>
  </p:cSld>
  <p:clrMapOvr>
    <a:masterClrMapping/>
  </p:clrMapOvr>
  <p:transition spd="med">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
          <p:cNvSpPr>
            <a:spLocks noGrp="1" noChangeArrowheads="1"/>
          </p:cNvSpPr>
          <p:nvPr>
            <p:ph type="body" idx="4294967295"/>
          </p:nvPr>
        </p:nvSpPr>
        <p:spPr>
          <a:xfrm>
            <a:off x="611188" y="1557337"/>
            <a:ext cx="7534191" cy="4951747"/>
          </a:xfrm>
        </p:spPr>
        <p:txBody>
          <a:bodyPr>
            <a:normAutofit lnSpcReduction="10000"/>
          </a:bodyPr>
          <a:lstStyle/>
          <a:p>
            <a:pPr>
              <a:lnSpc>
                <a:spcPct val="150000"/>
              </a:lnSpc>
              <a:buFontTx/>
              <a:buNone/>
            </a:pPr>
            <a:r>
              <a:rPr lang="en-US" altLang="zh-CN" sz="2200" dirty="0">
                <a:solidFill>
                  <a:schemeClr val="accent2"/>
                </a:solidFill>
                <a:latin typeface="黑体" pitchFamily="49" charset="-122"/>
                <a:ea typeface="黑体" pitchFamily="49" charset="-122"/>
              </a:rPr>
              <a:t>        </a:t>
            </a:r>
            <a:r>
              <a:rPr altLang="en-US" sz="2200" dirty="0">
                <a:solidFill>
                  <a:schemeClr val="accent2"/>
                </a:solidFill>
                <a:latin typeface="黑体" pitchFamily="49" charset="-122"/>
                <a:ea typeface="黑体" pitchFamily="49" charset="-122"/>
              </a:rPr>
              <a:t>为便于分析，这里建立一个小国模型，即一国国内经济形势、政策的任何变化均不会</a:t>
            </a:r>
            <a:r>
              <a:rPr lang="zh-CN" altLang="en-US" sz="2200" dirty="0">
                <a:solidFill>
                  <a:schemeClr val="accent2"/>
                </a:solidFill>
                <a:latin typeface="黑体" pitchFamily="49" charset="-122"/>
                <a:ea typeface="黑体" pitchFamily="49" charset="-122"/>
              </a:rPr>
              <a:t>影响世界经济状况</a:t>
            </a:r>
            <a:r>
              <a:rPr lang="zh-CN" altLang="en-US" sz="2200" dirty="0">
                <a:latin typeface="黑体" pitchFamily="49" charset="-122"/>
                <a:ea typeface="黑体" pitchFamily="49" charset="-122"/>
              </a:rPr>
              <a:t>。</a:t>
            </a:r>
          </a:p>
          <a:p>
            <a:pPr>
              <a:lnSpc>
                <a:spcPct val="150000"/>
              </a:lnSpc>
              <a:buFontTx/>
              <a:buNone/>
            </a:pPr>
            <a:r>
              <a:rPr lang="zh-CN" altLang="en-US" sz="2200" b="1" dirty="0">
                <a:latin typeface="黑体" pitchFamily="49" charset="-122"/>
                <a:ea typeface="黑体" pitchFamily="49" charset="-122"/>
              </a:rPr>
              <a:t>   </a:t>
            </a:r>
            <a:r>
              <a:rPr lang="zh-CN" altLang="en-US" sz="2800" b="1" dirty="0" smtClean="0">
                <a:solidFill>
                  <a:srgbClr val="CC0000"/>
                </a:solidFill>
                <a:latin typeface="黑体" pitchFamily="49" charset="-122"/>
                <a:ea typeface="黑体" pitchFamily="49" charset="-122"/>
              </a:rPr>
              <a:t>   </a:t>
            </a:r>
            <a:r>
              <a:rPr lang="zh-CN" altLang="en-US" sz="2800" b="1" dirty="0">
                <a:solidFill>
                  <a:srgbClr val="CC0000"/>
                </a:solidFill>
                <a:latin typeface="黑体" pitchFamily="49" charset="-122"/>
                <a:ea typeface="黑体" pitchFamily="49" charset="-122"/>
              </a:rPr>
              <a:t>假定条件</a:t>
            </a:r>
          </a:p>
          <a:p>
            <a:pPr lvl="3">
              <a:lnSpc>
                <a:spcPct val="150000"/>
              </a:lnSpc>
            </a:pPr>
            <a:r>
              <a:rPr lang="zh-CN" altLang="en-US" sz="2000" dirty="0">
                <a:solidFill>
                  <a:srgbClr val="0070C0"/>
                </a:solidFill>
                <a:latin typeface="黑体" pitchFamily="49" charset="-122"/>
                <a:ea typeface="黑体" pitchFamily="49" charset="-122"/>
              </a:rPr>
              <a:t>总供给曲线是平缓的</a:t>
            </a:r>
            <a:r>
              <a:rPr lang="zh-CN" altLang="en-US" sz="2000" dirty="0" smtClean="0">
                <a:solidFill>
                  <a:srgbClr val="0070C0"/>
                </a:solidFill>
                <a:latin typeface="黑体" pitchFamily="49" charset="-122"/>
                <a:ea typeface="黑体" pitchFamily="49" charset="-122"/>
              </a:rPr>
              <a:t>；</a:t>
            </a:r>
            <a:endParaRPr lang="en-US" altLang="zh-CN" sz="2000" dirty="0" smtClean="0">
              <a:solidFill>
                <a:srgbClr val="0070C0"/>
              </a:solidFill>
              <a:latin typeface="黑体" pitchFamily="49" charset="-122"/>
              <a:ea typeface="黑体" pitchFamily="49" charset="-122"/>
            </a:endParaRPr>
          </a:p>
          <a:p>
            <a:pPr lvl="3">
              <a:lnSpc>
                <a:spcPct val="150000"/>
              </a:lnSpc>
            </a:pPr>
            <a:r>
              <a:rPr lang="zh-CN" altLang="en-US" sz="2000" dirty="0" smtClean="0">
                <a:solidFill>
                  <a:srgbClr val="0070C0"/>
                </a:solidFill>
                <a:latin typeface="黑体" pitchFamily="49" charset="-122"/>
                <a:ea typeface="黑体" pitchFamily="49" charset="-122"/>
              </a:rPr>
              <a:t>即使</a:t>
            </a:r>
            <a:r>
              <a:rPr lang="zh-CN" altLang="en-US" sz="2000" dirty="0">
                <a:solidFill>
                  <a:srgbClr val="0070C0"/>
                </a:solidFill>
                <a:latin typeface="黑体" pitchFamily="49" charset="-122"/>
                <a:ea typeface="黑体" pitchFamily="49" charset="-122"/>
              </a:rPr>
              <a:t>在长期，购买力平价也不存在。相反，经常项目账户盈余的规模与（实际）汇率正相关，同（实际）收入负相关；</a:t>
            </a:r>
          </a:p>
          <a:p>
            <a:pPr lvl="3">
              <a:lnSpc>
                <a:spcPct val="150000"/>
              </a:lnSpc>
            </a:pPr>
            <a:r>
              <a:rPr lang="zh-CN" altLang="en-US" sz="2000" dirty="0">
                <a:solidFill>
                  <a:srgbClr val="0070C0"/>
                </a:solidFill>
                <a:latin typeface="黑体" pitchFamily="49" charset="-122"/>
                <a:ea typeface="黑体" pitchFamily="49" charset="-122"/>
              </a:rPr>
              <a:t>汇率预期是静态的；</a:t>
            </a:r>
          </a:p>
          <a:p>
            <a:pPr lvl="3">
              <a:lnSpc>
                <a:spcPct val="150000"/>
              </a:lnSpc>
            </a:pPr>
            <a:r>
              <a:rPr lang="zh-CN" altLang="en-US" sz="2000" dirty="0">
                <a:solidFill>
                  <a:srgbClr val="0070C0"/>
                </a:solidFill>
                <a:latin typeface="黑体" pitchFamily="49" charset="-122"/>
                <a:ea typeface="黑体" pitchFamily="49" charset="-122"/>
              </a:rPr>
              <a:t>资本的流动性是不完全的</a:t>
            </a:r>
            <a:r>
              <a:rPr lang="zh-CN" altLang="en-US" sz="2000" dirty="0">
                <a:solidFill>
                  <a:srgbClr val="0070C0"/>
                </a:solidFill>
                <a:latin typeface="隶书" pitchFamily="49" charset="-122"/>
                <a:ea typeface="隶书" pitchFamily="49" charset="-122"/>
              </a:rPr>
              <a:t>。 </a:t>
            </a:r>
          </a:p>
        </p:txBody>
      </p:sp>
      <p:sp>
        <p:nvSpPr>
          <p:cNvPr id="4" name="矩形 3"/>
          <p:cNvSpPr/>
          <p:nvPr/>
        </p:nvSpPr>
        <p:spPr>
          <a:xfrm>
            <a:off x="481263" y="409075"/>
            <a:ext cx="7676147" cy="830997"/>
          </a:xfrm>
          <a:prstGeom prst="rect">
            <a:avLst/>
          </a:prstGeom>
        </p:spPr>
        <p:txBody>
          <a:bodyPr wrap="square">
            <a:spAutoFit/>
          </a:bodyPr>
          <a:lstStyle/>
          <a:p>
            <a:pPr algn="r"/>
            <a:r>
              <a:rPr lang="zh-CN" altLang="en-US" sz="2800" b="1" dirty="0" smtClean="0">
                <a:solidFill>
                  <a:schemeClr val="accent1"/>
                </a:solidFill>
                <a:latin typeface="+mj-lt"/>
                <a:ea typeface="Microsoft YaHei UI" panose="020B0503020204020204" pitchFamily="34" charset="-122"/>
                <a:cs typeface="+mj-cs"/>
              </a:rPr>
              <a:t>第二节	开放经济条件下的财政、货币政策</a:t>
            </a:r>
            <a:r>
              <a:rPr lang="zh-CN" altLang="en-US" dirty="0" smtClean="0"/>
              <a:t/>
            </a:r>
            <a:br>
              <a:rPr lang="zh-CN" altLang="en-US" dirty="0" smtClean="0"/>
            </a:br>
            <a:r>
              <a:rPr lang="zh-CN" altLang="en-US" dirty="0" smtClean="0">
                <a:solidFill>
                  <a:srgbClr val="00B0F0"/>
                </a:solidFill>
                <a:latin typeface="黑体" pitchFamily="49" charset="-122"/>
                <a:ea typeface="黑体" pitchFamily="49" charset="-122"/>
              </a:rPr>
              <a:t>                             </a:t>
            </a:r>
            <a:r>
              <a:rPr lang="en-US" altLang="zh-CN" sz="2000" dirty="0" smtClean="0">
                <a:solidFill>
                  <a:srgbClr val="00B0F0"/>
                </a:solidFill>
                <a:latin typeface="黑体" pitchFamily="49" charset="-122"/>
                <a:ea typeface="黑体" pitchFamily="49" charset="-122"/>
              </a:rPr>
              <a:t>——</a:t>
            </a:r>
            <a:r>
              <a:rPr lang="zh-CN" altLang="en-US" sz="2000" dirty="0" smtClean="0">
                <a:solidFill>
                  <a:srgbClr val="00B0F0"/>
                </a:solidFill>
                <a:latin typeface="黑体" pitchFamily="49" charset="-122"/>
                <a:ea typeface="黑体" pitchFamily="49" charset="-122"/>
              </a:rPr>
              <a:t>蒙代尔－弗莱明模型</a:t>
            </a:r>
            <a:endParaRPr lang="zh-CN" altLang="en-US" sz="2000" dirty="0"/>
          </a:p>
        </p:txBody>
      </p:sp>
    </p:spTree>
  </p:cSld>
  <p:clrMapOvr>
    <a:masterClrMapping/>
  </p:clrMapOvr>
  <p:transition spd="med">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5" name="Rectangle 3"/>
          <p:cNvSpPr>
            <a:spLocks noGrp="1" noChangeArrowheads="1"/>
          </p:cNvSpPr>
          <p:nvPr>
            <p:ph type="body" idx="4294967295"/>
          </p:nvPr>
        </p:nvSpPr>
        <p:spPr>
          <a:xfrm>
            <a:off x="468313" y="2278063"/>
            <a:ext cx="8351837" cy="3095625"/>
          </a:xfrm>
        </p:spPr>
        <p:txBody>
          <a:bodyPr/>
          <a:lstStyle/>
          <a:p>
            <a:pPr lvl="2" indent="-220663">
              <a:buClr>
                <a:srgbClr val="FFFF00"/>
              </a:buClr>
              <a:buFont typeface="Arial" charset="0"/>
              <a:buChar char="►"/>
            </a:pPr>
            <a:r>
              <a:rPr lang="zh-CN" altLang="en-US" sz="2200" b="1" dirty="0">
                <a:solidFill>
                  <a:srgbClr val="0070C0"/>
                </a:solidFill>
                <a:latin typeface="黑体" pitchFamily="49" charset="-122"/>
                <a:ea typeface="黑体" pitchFamily="49" charset="-122"/>
              </a:rPr>
              <a:t>商品市场均衡</a:t>
            </a:r>
            <a:r>
              <a:rPr lang="en-US" altLang="zh-CN" sz="2200" b="1" dirty="0">
                <a:solidFill>
                  <a:srgbClr val="0070C0"/>
                </a:solidFill>
                <a:latin typeface="黑体" pitchFamily="49" charset="-122"/>
                <a:ea typeface="黑体" pitchFamily="49" charset="-122"/>
              </a:rPr>
              <a:t>——IS</a:t>
            </a:r>
            <a:r>
              <a:rPr lang="zh-CN" altLang="en-US" sz="2200" b="1" dirty="0">
                <a:solidFill>
                  <a:srgbClr val="0070C0"/>
                </a:solidFill>
                <a:latin typeface="黑体" pitchFamily="49" charset="-122"/>
                <a:ea typeface="黑体" pitchFamily="49" charset="-122"/>
              </a:rPr>
              <a:t>曲线</a:t>
            </a:r>
            <a:r>
              <a:rPr lang="zh-CN" altLang="en-US" sz="2200" dirty="0">
                <a:solidFill>
                  <a:srgbClr val="0070C0"/>
                </a:solidFill>
                <a:latin typeface="黑体" pitchFamily="49" charset="-122"/>
                <a:ea typeface="黑体" pitchFamily="49" charset="-122"/>
              </a:rPr>
              <a:t>：</a:t>
            </a:r>
          </a:p>
          <a:p>
            <a:pPr lvl="2" indent="-220663">
              <a:buClr>
                <a:srgbClr val="FFFF00"/>
              </a:buClr>
              <a:buFont typeface="Arial" charset="0"/>
              <a:buNone/>
            </a:pPr>
            <a:r>
              <a:rPr lang="zh-CN" altLang="en-US" sz="2200" dirty="0">
                <a:solidFill>
                  <a:srgbClr val="0070C0"/>
                </a:solidFill>
                <a:latin typeface="黑体" pitchFamily="49" charset="-122"/>
                <a:ea typeface="黑体" pitchFamily="49" charset="-122"/>
              </a:rPr>
              <a:t>     斜率为负，政府支出增加及汇率贬值都会使其右移；</a:t>
            </a:r>
          </a:p>
          <a:p>
            <a:pPr lvl="2" indent="-220663">
              <a:buClr>
                <a:srgbClr val="FFFF00"/>
              </a:buClr>
              <a:buFont typeface="Arial" charset="0"/>
              <a:buChar char="►"/>
            </a:pPr>
            <a:r>
              <a:rPr lang="zh-CN" altLang="en-US" sz="2200" b="1" dirty="0">
                <a:solidFill>
                  <a:srgbClr val="0070C0"/>
                </a:solidFill>
                <a:latin typeface="黑体" pitchFamily="49" charset="-122"/>
                <a:ea typeface="黑体" pitchFamily="49" charset="-122"/>
              </a:rPr>
              <a:t>货币市场均衡</a:t>
            </a:r>
            <a:r>
              <a:rPr lang="en-US" altLang="zh-CN" sz="2200" b="1" dirty="0">
                <a:solidFill>
                  <a:srgbClr val="0070C0"/>
                </a:solidFill>
                <a:latin typeface="黑体" pitchFamily="49" charset="-122"/>
                <a:ea typeface="黑体" pitchFamily="49" charset="-122"/>
              </a:rPr>
              <a:t>——LM</a:t>
            </a:r>
            <a:r>
              <a:rPr lang="zh-CN" altLang="en-US" sz="2200" b="1" dirty="0">
                <a:solidFill>
                  <a:srgbClr val="0070C0"/>
                </a:solidFill>
                <a:latin typeface="黑体" pitchFamily="49" charset="-122"/>
                <a:ea typeface="黑体" pitchFamily="49" charset="-122"/>
              </a:rPr>
              <a:t>曲线</a:t>
            </a:r>
            <a:r>
              <a:rPr lang="zh-CN" altLang="en-US" sz="2200" dirty="0">
                <a:solidFill>
                  <a:srgbClr val="0070C0"/>
                </a:solidFill>
                <a:latin typeface="黑体" pitchFamily="49" charset="-122"/>
                <a:ea typeface="黑体" pitchFamily="49" charset="-122"/>
              </a:rPr>
              <a:t>：</a:t>
            </a:r>
          </a:p>
          <a:p>
            <a:pPr lvl="2" indent="-220663">
              <a:buClr>
                <a:srgbClr val="FFFF00"/>
              </a:buClr>
              <a:buFont typeface="Arial" charset="0"/>
              <a:buNone/>
            </a:pPr>
            <a:r>
              <a:rPr lang="zh-CN" altLang="en-US" sz="2200" dirty="0">
                <a:solidFill>
                  <a:srgbClr val="0070C0"/>
                </a:solidFill>
                <a:latin typeface="黑体" pitchFamily="49" charset="-122"/>
                <a:ea typeface="黑体" pitchFamily="49" charset="-122"/>
              </a:rPr>
              <a:t>     斜率为正，货币供应量增加，曲线右移；</a:t>
            </a:r>
          </a:p>
          <a:p>
            <a:pPr lvl="2" indent="-220663">
              <a:buClr>
                <a:srgbClr val="FFFF00"/>
              </a:buClr>
              <a:buFont typeface="Arial" charset="0"/>
              <a:buNone/>
            </a:pPr>
            <a:endParaRPr lang="zh-CN" altLang="en-US" sz="2200" dirty="0">
              <a:solidFill>
                <a:srgbClr val="0070C0"/>
              </a:solidFill>
              <a:latin typeface="黑体" pitchFamily="49" charset="-122"/>
              <a:ea typeface="黑体" pitchFamily="49" charset="-122"/>
            </a:endParaRPr>
          </a:p>
          <a:p>
            <a:pPr lvl="2" indent="-220663">
              <a:buClr>
                <a:srgbClr val="FFFF00"/>
              </a:buClr>
              <a:buFont typeface="Arial" charset="0"/>
              <a:buNone/>
            </a:pPr>
            <a:r>
              <a:rPr lang="zh-CN" altLang="en-US" sz="2200" dirty="0">
                <a:solidFill>
                  <a:srgbClr val="0070C0"/>
                </a:solidFill>
                <a:latin typeface="黑体" pitchFamily="49" charset="-122"/>
                <a:ea typeface="黑体" pitchFamily="49" charset="-122"/>
              </a:rPr>
              <a:t>外汇市场均衡</a:t>
            </a:r>
            <a:r>
              <a:rPr lang="en-US" altLang="zh-CN" sz="2200" dirty="0">
                <a:solidFill>
                  <a:srgbClr val="0070C0"/>
                </a:solidFill>
                <a:latin typeface="黑体" pitchFamily="49" charset="-122"/>
                <a:ea typeface="黑体" pitchFamily="49" charset="-122"/>
              </a:rPr>
              <a:t>——</a:t>
            </a:r>
            <a:r>
              <a:rPr lang="zh-CN" altLang="en-US" sz="2200" dirty="0">
                <a:solidFill>
                  <a:srgbClr val="0070C0"/>
                </a:solidFill>
                <a:latin typeface="黑体" pitchFamily="49" charset="-122"/>
                <a:ea typeface="黑体" pitchFamily="49" charset="-122"/>
              </a:rPr>
              <a:t>均衡条件为：</a:t>
            </a:r>
          </a:p>
          <a:p>
            <a:pPr lvl="2" indent="-220663">
              <a:buClr>
                <a:srgbClr val="FFFF00"/>
              </a:buClr>
              <a:buFontTx/>
              <a:buNone/>
            </a:pPr>
            <a:r>
              <a:rPr lang="en-US" altLang="zh-CN" sz="2600" b="1" dirty="0">
                <a:solidFill>
                  <a:srgbClr val="0070C0"/>
                </a:solidFill>
                <a:effectLst>
                  <a:outerShdw blurRad="38100" dist="38100" dir="2700000" algn="tl">
                    <a:srgbClr val="C0C0C0"/>
                  </a:outerShdw>
                </a:effectLst>
                <a:latin typeface="黑体" pitchFamily="49" charset="-122"/>
                <a:ea typeface="黑体" pitchFamily="49" charset="-122"/>
              </a:rPr>
              <a:t>BP</a:t>
            </a:r>
            <a:r>
              <a:rPr lang="zh-CN" altLang="en-US" sz="2600" b="1" dirty="0">
                <a:solidFill>
                  <a:srgbClr val="0070C0"/>
                </a:solidFill>
                <a:effectLst>
                  <a:outerShdw blurRad="38100" dist="38100" dir="2700000" algn="tl">
                    <a:srgbClr val="C0C0C0"/>
                  </a:outerShdw>
                </a:effectLst>
                <a:latin typeface="黑体" pitchFamily="49" charset="-122"/>
                <a:ea typeface="黑体" pitchFamily="49" charset="-122"/>
              </a:rPr>
              <a:t>＝</a:t>
            </a:r>
            <a:r>
              <a:rPr lang="en-US" altLang="zh-CN" sz="2600" b="1" dirty="0">
                <a:solidFill>
                  <a:srgbClr val="0070C0"/>
                </a:solidFill>
                <a:effectLst>
                  <a:outerShdw blurRad="38100" dist="38100" dir="2700000" algn="tl">
                    <a:srgbClr val="C0C0C0"/>
                  </a:outerShdw>
                </a:effectLst>
                <a:latin typeface="黑体" pitchFamily="49" charset="-122"/>
                <a:ea typeface="黑体" pitchFamily="49" charset="-122"/>
              </a:rPr>
              <a:t>CA</a:t>
            </a:r>
            <a:r>
              <a:rPr lang="zh-CN" altLang="en-US" sz="2600" b="1" dirty="0">
                <a:solidFill>
                  <a:srgbClr val="0070C0"/>
                </a:solidFill>
                <a:effectLst>
                  <a:outerShdw blurRad="38100" dist="38100" dir="2700000" algn="tl">
                    <a:srgbClr val="C0C0C0"/>
                  </a:outerShdw>
                </a:effectLst>
                <a:latin typeface="黑体" pitchFamily="49" charset="-122"/>
                <a:ea typeface="黑体" pitchFamily="49" charset="-122"/>
              </a:rPr>
              <a:t>＋</a:t>
            </a:r>
            <a:r>
              <a:rPr lang="en-US" altLang="zh-CN" sz="2600" b="1" dirty="0">
                <a:solidFill>
                  <a:srgbClr val="0070C0"/>
                </a:solidFill>
                <a:effectLst>
                  <a:outerShdw blurRad="38100" dist="38100" dir="2700000" algn="tl">
                    <a:srgbClr val="C0C0C0"/>
                  </a:outerShdw>
                </a:effectLst>
                <a:latin typeface="黑体" pitchFamily="49" charset="-122"/>
                <a:ea typeface="黑体" pitchFamily="49" charset="-122"/>
              </a:rPr>
              <a:t>KA</a:t>
            </a:r>
            <a:r>
              <a:rPr lang="zh-CN" altLang="en-US" sz="2600" b="1" dirty="0">
                <a:solidFill>
                  <a:srgbClr val="0070C0"/>
                </a:solidFill>
                <a:effectLst>
                  <a:outerShdw blurRad="38100" dist="38100" dir="2700000" algn="tl">
                    <a:srgbClr val="C0C0C0"/>
                  </a:outerShdw>
                </a:effectLst>
                <a:latin typeface="黑体" pitchFamily="49" charset="-122"/>
                <a:ea typeface="黑体" pitchFamily="49" charset="-122"/>
              </a:rPr>
              <a:t>＝</a:t>
            </a:r>
            <a:r>
              <a:rPr lang="en-US" altLang="zh-CN" sz="2600" b="1" dirty="0">
                <a:solidFill>
                  <a:srgbClr val="0070C0"/>
                </a:solidFill>
                <a:effectLst>
                  <a:outerShdw blurRad="38100" dist="38100" dir="2700000" algn="tl">
                    <a:srgbClr val="C0C0C0"/>
                  </a:outerShdw>
                </a:effectLst>
                <a:latin typeface="黑体" pitchFamily="49" charset="-122"/>
                <a:ea typeface="黑体" pitchFamily="49" charset="-122"/>
              </a:rPr>
              <a:t>X</a:t>
            </a:r>
            <a:r>
              <a:rPr lang="zh-CN" altLang="en-US" sz="2600" b="1" dirty="0">
                <a:solidFill>
                  <a:srgbClr val="0070C0"/>
                </a:solidFill>
                <a:effectLst>
                  <a:outerShdw blurRad="38100" dist="38100" dir="2700000" algn="tl">
                    <a:srgbClr val="C0C0C0"/>
                  </a:outerShdw>
                </a:effectLst>
                <a:latin typeface="黑体" pitchFamily="49" charset="-122"/>
                <a:ea typeface="黑体" pitchFamily="49" charset="-122"/>
              </a:rPr>
              <a:t>（</a:t>
            </a:r>
            <a:r>
              <a:rPr lang="en-US" altLang="zh-CN" sz="2600" b="1" dirty="0">
                <a:solidFill>
                  <a:srgbClr val="0070C0"/>
                </a:solidFill>
                <a:effectLst>
                  <a:outerShdw blurRad="38100" dist="38100" dir="2700000" algn="tl">
                    <a:srgbClr val="C0C0C0"/>
                  </a:outerShdw>
                </a:effectLst>
                <a:latin typeface="黑体" pitchFamily="49" charset="-122"/>
                <a:ea typeface="黑体" pitchFamily="49" charset="-122"/>
              </a:rPr>
              <a:t>e</a:t>
            </a:r>
            <a:r>
              <a:rPr lang="zh-CN" altLang="en-US" sz="2600" b="1" dirty="0">
                <a:solidFill>
                  <a:srgbClr val="0070C0"/>
                </a:solidFill>
                <a:effectLst>
                  <a:outerShdw blurRad="38100" dist="38100" dir="2700000" algn="tl">
                    <a:srgbClr val="C0C0C0"/>
                  </a:outerShdw>
                </a:effectLst>
                <a:latin typeface="黑体" pitchFamily="49" charset="-122"/>
                <a:ea typeface="黑体" pitchFamily="49" charset="-122"/>
              </a:rPr>
              <a:t>）－</a:t>
            </a:r>
            <a:r>
              <a:rPr lang="en-US" altLang="zh-CN" sz="2600" b="1" dirty="0">
                <a:solidFill>
                  <a:srgbClr val="0070C0"/>
                </a:solidFill>
                <a:effectLst>
                  <a:outerShdw blurRad="38100" dist="38100" dir="2700000" algn="tl">
                    <a:srgbClr val="C0C0C0"/>
                  </a:outerShdw>
                </a:effectLst>
                <a:latin typeface="黑体" pitchFamily="49" charset="-122"/>
                <a:ea typeface="黑体" pitchFamily="49" charset="-122"/>
              </a:rPr>
              <a:t>M</a:t>
            </a:r>
            <a:r>
              <a:rPr lang="zh-CN" altLang="en-US" sz="2600" b="1" dirty="0">
                <a:solidFill>
                  <a:srgbClr val="0070C0"/>
                </a:solidFill>
                <a:effectLst>
                  <a:outerShdw blurRad="38100" dist="38100" dir="2700000" algn="tl">
                    <a:srgbClr val="C0C0C0"/>
                  </a:outerShdw>
                </a:effectLst>
                <a:latin typeface="黑体" pitchFamily="49" charset="-122"/>
                <a:ea typeface="黑体" pitchFamily="49" charset="-122"/>
              </a:rPr>
              <a:t>（</a:t>
            </a:r>
            <a:r>
              <a:rPr lang="en-US" altLang="zh-CN" sz="2600" b="1" dirty="0">
                <a:solidFill>
                  <a:srgbClr val="0070C0"/>
                </a:solidFill>
                <a:effectLst>
                  <a:outerShdw blurRad="38100" dist="38100" dir="2700000" algn="tl">
                    <a:srgbClr val="C0C0C0"/>
                  </a:outerShdw>
                </a:effectLst>
                <a:latin typeface="黑体" pitchFamily="49" charset="-122"/>
                <a:ea typeface="黑体" pitchFamily="49" charset="-122"/>
              </a:rPr>
              <a:t>Y</a:t>
            </a:r>
            <a:r>
              <a:rPr lang="zh-CN" altLang="en-US" sz="2600" b="1" dirty="0">
                <a:solidFill>
                  <a:srgbClr val="0070C0"/>
                </a:solidFill>
                <a:effectLst>
                  <a:outerShdw blurRad="38100" dist="38100" dir="2700000" algn="tl">
                    <a:srgbClr val="C0C0C0"/>
                  </a:outerShdw>
                </a:effectLst>
                <a:latin typeface="黑体" pitchFamily="49" charset="-122"/>
                <a:ea typeface="黑体" pitchFamily="49" charset="-122"/>
              </a:rPr>
              <a:t>）＋</a:t>
            </a:r>
            <a:r>
              <a:rPr lang="en-US" altLang="zh-CN" sz="2600" b="1" dirty="0">
                <a:solidFill>
                  <a:srgbClr val="0070C0"/>
                </a:solidFill>
                <a:effectLst>
                  <a:outerShdw blurRad="38100" dist="38100" dir="2700000" algn="tl">
                    <a:srgbClr val="C0C0C0"/>
                  </a:outerShdw>
                </a:effectLst>
                <a:latin typeface="黑体" pitchFamily="49" charset="-122"/>
                <a:ea typeface="黑体" pitchFamily="49" charset="-122"/>
              </a:rPr>
              <a:t>KA</a:t>
            </a:r>
            <a:r>
              <a:rPr lang="zh-CN" altLang="en-US" sz="2600" b="1" dirty="0">
                <a:solidFill>
                  <a:srgbClr val="0070C0"/>
                </a:solidFill>
                <a:effectLst>
                  <a:outerShdw blurRad="38100" dist="38100" dir="2700000" algn="tl">
                    <a:srgbClr val="C0C0C0"/>
                  </a:outerShdw>
                </a:effectLst>
                <a:latin typeface="黑体" pitchFamily="49" charset="-122"/>
                <a:ea typeface="黑体" pitchFamily="49" charset="-122"/>
              </a:rPr>
              <a:t>（</a:t>
            </a:r>
            <a:r>
              <a:rPr lang="en-US" altLang="zh-CN" sz="2600" b="1" dirty="0" err="1">
                <a:solidFill>
                  <a:srgbClr val="0070C0"/>
                </a:solidFill>
                <a:effectLst>
                  <a:outerShdw blurRad="38100" dist="38100" dir="2700000" algn="tl">
                    <a:srgbClr val="C0C0C0"/>
                  </a:outerShdw>
                </a:effectLst>
                <a:latin typeface="黑体" pitchFamily="49" charset="-122"/>
                <a:ea typeface="黑体" pitchFamily="49" charset="-122"/>
              </a:rPr>
              <a:t>i</a:t>
            </a:r>
            <a:r>
              <a:rPr lang="zh-CN" altLang="en-US" sz="2600" b="1" dirty="0">
                <a:solidFill>
                  <a:srgbClr val="0070C0"/>
                </a:solidFill>
                <a:effectLst>
                  <a:outerShdw blurRad="38100" dist="38100" dir="2700000" algn="tl">
                    <a:srgbClr val="C0C0C0"/>
                  </a:outerShdw>
                </a:effectLst>
                <a:latin typeface="黑体" pitchFamily="49" charset="-122"/>
                <a:ea typeface="黑体" pitchFamily="49" charset="-122"/>
              </a:rPr>
              <a:t>，</a:t>
            </a:r>
            <a:r>
              <a:rPr lang="en-US" altLang="zh-CN" sz="2600" b="1" dirty="0" err="1">
                <a:solidFill>
                  <a:srgbClr val="0070C0"/>
                </a:solidFill>
                <a:effectLst>
                  <a:outerShdw blurRad="38100" dist="38100" dir="2700000" algn="tl">
                    <a:srgbClr val="C0C0C0"/>
                  </a:outerShdw>
                </a:effectLst>
                <a:latin typeface="黑体" pitchFamily="49" charset="-122"/>
                <a:ea typeface="黑体" pitchFamily="49" charset="-122"/>
              </a:rPr>
              <a:t>i</a:t>
            </a:r>
            <a:r>
              <a:rPr lang="en-US" altLang="zh-CN" sz="2600" b="1" dirty="0">
                <a:solidFill>
                  <a:srgbClr val="0070C0"/>
                </a:solidFill>
                <a:effectLst>
                  <a:outerShdw blurRad="38100" dist="38100" dir="2700000" algn="tl">
                    <a:srgbClr val="C0C0C0"/>
                  </a:outerShdw>
                </a:effectLst>
                <a:latin typeface="黑体" pitchFamily="49" charset="-122"/>
                <a:ea typeface="黑体" pitchFamily="49" charset="-122"/>
              </a:rPr>
              <a:t>*</a:t>
            </a:r>
            <a:r>
              <a:rPr lang="zh-CN" altLang="en-US" sz="2600" b="1" dirty="0">
                <a:solidFill>
                  <a:srgbClr val="0070C0"/>
                </a:solidFill>
                <a:effectLst>
                  <a:outerShdw blurRad="38100" dist="38100" dir="2700000" algn="tl">
                    <a:srgbClr val="C0C0C0"/>
                  </a:outerShdw>
                </a:effectLst>
                <a:latin typeface="黑体" pitchFamily="49" charset="-122"/>
                <a:ea typeface="黑体" pitchFamily="49" charset="-122"/>
              </a:rPr>
              <a:t>）</a:t>
            </a:r>
            <a:r>
              <a:rPr lang="en-US" altLang="zh-CN" sz="2600" b="1" dirty="0">
                <a:solidFill>
                  <a:srgbClr val="0070C0"/>
                </a:solidFill>
                <a:effectLst>
                  <a:outerShdw blurRad="38100" dist="38100" dir="2700000" algn="tl">
                    <a:srgbClr val="C0C0C0"/>
                  </a:outerShdw>
                </a:effectLst>
                <a:latin typeface="黑体" pitchFamily="49" charset="-122"/>
                <a:ea typeface="黑体" pitchFamily="49" charset="-122"/>
              </a:rPr>
              <a:t>=0</a:t>
            </a:r>
          </a:p>
        </p:txBody>
      </p:sp>
      <p:sp>
        <p:nvSpPr>
          <p:cNvPr id="46085" name="Rectangle 5"/>
          <p:cNvSpPr>
            <a:spLocks noChangeArrowheads="1"/>
          </p:cNvSpPr>
          <p:nvPr/>
        </p:nvSpPr>
        <p:spPr bwMode="auto">
          <a:xfrm>
            <a:off x="250825" y="1341438"/>
            <a:ext cx="5084763" cy="519112"/>
          </a:xfrm>
          <a:prstGeom prst="rect">
            <a:avLst/>
          </a:prstGeom>
          <a:noFill/>
          <a:ln w="9525">
            <a:noFill/>
            <a:miter lim="800000"/>
            <a:headEnd/>
            <a:tailEnd/>
          </a:ln>
          <a:effectLst/>
        </p:spPr>
        <p:txBody>
          <a:bodyPr wrap="none">
            <a:spAutoFit/>
          </a:bodyPr>
          <a:lstStyle/>
          <a:p>
            <a:pPr>
              <a:spcBef>
                <a:spcPct val="20000"/>
              </a:spcBef>
            </a:pPr>
            <a:r>
              <a:rPr lang="en-US" altLang="zh-CN" sz="2800" b="1">
                <a:solidFill>
                  <a:srgbClr val="000066"/>
                </a:solidFill>
                <a:ea typeface="黑体" pitchFamily="49" charset="-122"/>
              </a:rPr>
              <a:t>	</a:t>
            </a:r>
            <a:r>
              <a:rPr lang="zh-CN" altLang="en-US" sz="2800" b="1">
                <a:solidFill>
                  <a:srgbClr val="000066"/>
                </a:solidFill>
                <a:ea typeface="黑体" pitchFamily="49" charset="-122"/>
              </a:rPr>
              <a:t>一、</a:t>
            </a:r>
            <a:r>
              <a:rPr lang="en-US" altLang="zh-CN" sz="2800" b="1">
                <a:solidFill>
                  <a:srgbClr val="000066"/>
                </a:solidFill>
                <a:ea typeface="黑体" pitchFamily="49" charset="-122"/>
              </a:rPr>
              <a:t>IS</a:t>
            </a:r>
            <a:r>
              <a:rPr lang="zh-CN" altLang="en-US" sz="2800" b="1">
                <a:solidFill>
                  <a:srgbClr val="000066"/>
                </a:solidFill>
                <a:ea typeface="黑体" pitchFamily="49" charset="-122"/>
              </a:rPr>
              <a:t>－</a:t>
            </a:r>
            <a:r>
              <a:rPr lang="en-US" altLang="zh-CN" sz="2800" b="1">
                <a:solidFill>
                  <a:srgbClr val="000066"/>
                </a:solidFill>
                <a:ea typeface="黑体" pitchFamily="49" charset="-122"/>
              </a:rPr>
              <a:t>LM</a:t>
            </a:r>
            <a:r>
              <a:rPr lang="zh-CN" altLang="en-US" sz="2800" b="1">
                <a:solidFill>
                  <a:srgbClr val="000066"/>
                </a:solidFill>
                <a:ea typeface="黑体" pitchFamily="49" charset="-122"/>
              </a:rPr>
              <a:t>－</a:t>
            </a:r>
            <a:r>
              <a:rPr lang="en-US" altLang="zh-CN" sz="2800" b="1">
                <a:solidFill>
                  <a:srgbClr val="000066"/>
                </a:solidFill>
                <a:ea typeface="黑体" pitchFamily="49" charset="-122"/>
              </a:rPr>
              <a:t>BP</a:t>
            </a:r>
            <a:r>
              <a:rPr lang="zh-CN" altLang="en-US" sz="2800" b="1">
                <a:solidFill>
                  <a:srgbClr val="000066"/>
                </a:solidFill>
                <a:ea typeface="黑体" pitchFamily="49" charset="-122"/>
              </a:rPr>
              <a:t>模型的建立</a:t>
            </a:r>
          </a:p>
        </p:txBody>
      </p:sp>
      <p:sp>
        <p:nvSpPr>
          <p:cNvPr id="7" name="矩形 6"/>
          <p:cNvSpPr/>
          <p:nvPr/>
        </p:nvSpPr>
        <p:spPr>
          <a:xfrm>
            <a:off x="481263" y="409075"/>
            <a:ext cx="7676147" cy="830997"/>
          </a:xfrm>
          <a:prstGeom prst="rect">
            <a:avLst/>
          </a:prstGeom>
        </p:spPr>
        <p:txBody>
          <a:bodyPr wrap="square">
            <a:spAutoFit/>
          </a:bodyPr>
          <a:lstStyle/>
          <a:p>
            <a:pPr algn="r"/>
            <a:r>
              <a:rPr lang="zh-CN" altLang="en-US" sz="2800" b="1" dirty="0" smtClean="0">
                <a:solidFill>
                  <a:schemeClr val="accent1"/>
                </a:solidFill>
                <a:latin typeface="+mj-lt"/>
                <a:ea typeface="Microsoft YaHei UI" panose="020B0503020204020204" pitchFamily="34" charset="-122"/>
                <a:cs typeface="+mj-cs"/>
              </a:rPr>
              <a:t>第二节	开放经济条件下的财政、货币政策</a:t>
            </a:r>
            <a:r>
              <a:rPr lang="zh-CN" altLang="en-US" dirty="0" smtClean="0"/>
              <a:t/>
            </a:r>
            <a:br>
              <a:rPr lang="zh-CN" altLang="en-US" dirty="0" smtClean="0"/>
            </a:br>
            <a:r>
              <a:rPr lang="zh-CN" altLang="en-US" dirty="0" smtClean="0">
                <a:solidFill>
                  <a:srgbClr val="00B0F0"/>
                </a:solidFill>
                <a:latin typeface="黑体" pitchFamily="49" charset="-122"/>
                <a:ea typeface="黑体" pitchFamily="49" charset="-122"/>
              </a:rPr>
              <a:t>                             </a:t>
            </a:r>
            <a:r>
              <a:rPr lang="en-US" altLang="zh-CN" sz="2000" dirty="0" smtClean="0">
                <a:solidFill>
                  <a:srgbClr val="00B0F0"/>
                </a:solidFill>
                <a:latin typeface="黑体" pitchFamily="49" charset="-122"/>
                <a:ea typeface="黑体" pitchFamily="49" charset="-122"/>
              </a:rPr>
              <a:t>——</a:t>
            </a:r>
            <a:r>
              <a:rPr lang="zh-CN" altLang="en-US" sz="2000" dirty="0" smtClean="0">
                <a:solidFill>
                  <a:srgbClr val="00B0F0"/>
                </a:solidFill>
                <a:latin typeface="黑体" pitchFamily="49" charset="-122"/>
                <a:ea typeface="黑体" pitchFamily="49" charset="-122"/>
              </a:rPr>
              <a:t>蒙代尔－弗莱明模型</a:t>
            </a:r>
            <a:endParaRPr lang="zh-CN" alt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69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691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669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691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66915">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691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3" name="Rectangle 3"/>
          <p:cNvSpPr>
            <a:spLocks noGrp="1" noChangeArrowheads="1"/>
          </p:cNvSpPr>
          <p:nvPr>
            <p:ph type="body" idx="4294967295"/>
          </p:nvPr>
        </p:nvSpPr>
        <p:spPr>
          <a:xfrm>
            <a:off x="697831" y="1720516"/>
            <a:ext cx="8012781" cy="4445334"/>
          </a:xfrm>
          <a:ln/>
        </p:spPr>
        <p:txBody>
          <a:bodyPr/>
          <a:lstStyle/>
          <a:p>
            <a:pPr lvl="2" algn="just">
              <a:lnSpc>
                <a:spcPct val="90000"/>
              </a:lnSpc>
              <a:buFontTx/>
              <a:buNone/>
            </a:pPr>
            <a:r>
              <a:rPr lang="en-US" altLang="zh-CN" sz="2000" dirty="0">
                <a:solidFill>
                  <a:srgbClr val="002060"/>
                </a:solidFill>
                <a:latin typeface="黑体" pitchFamily="49" charset="-122"/>
                <a:ea typeface="黑体" pitchFamily="49" charset="-122"/>
              </a:rPr>
              <a:t>BP</a:t>
            </a:r>
            <a:r>
              <a:rPr lang="zh-CN" altLang="en-US" sz="2000" dirty="0">
                <a:solidFill>
                  <a:srgbClr val="002060"/>
                </a:solidFill>
                <a:latin typeface="黑体" pitchFamily="49" charset="-122"/>
                <a:ea typeface="黑体" pitchFamily="49" charset="-122"/>
              </a:rPr>
              <a:t>曲线斜率的形状取决于：</a:t>
            </a:r>
          </a:p>
          <a:p>
            <a:pPr lvl="2" algn="just">
              <a:lnSpc>
                <a:spcPct val="90000"/>
              </a:lnSpc>
              <a:buFontTx/>
              <a:buNone/>
            </a:pPr>
            <a:r>
              <a:rPr lang="zh-CN" altLang="en-US" sz="2000" dirty="0">
                <a:solidFill>
                  <a:srgbClr val="0070C0"/>
                </a:solidFill>
                <a:latin typeface="黑体" pitchFamily="49" charset="-122"/>
                <a:ea typeface="黑体" pitchFamily="49" charset="-122"/>
              </a:rPr>
              <a:t>	</a:t>
            </a:r>
            <a:r>
              <a:rPr lang="en-US" altLang="zh-CN" sz="2000" dirty="0">
                <a:solidFill>
                  <a:srgbClr val="0070C0"/>
                </a:solidFill>
                <a:latin typeface="黑体" pitchFamily="49" charset="-122"/>
                <a:ea typeface="黑体" pitchFamily="49" charset="-122"/>
              </a:rPr>
              <a:t>1</a:t>
            </a:r>
            <a:r>
              <a:rPr lang="zh-CN" altLang="en-US" sz="2000" dirty="0">
                <a:solidFill>
                  <a:srgbClr val="0070C0"/>
                </a:solidFill>
                <a:latin typeface="黑体" pitchFamily="49" charset="-122"/>
                <a:ea typeface="黑体" pitchFamily="49" charset="-122"/>
              </a:rPr>
              <a:t>、边际进口倾向（</a:t>
            </a:r>
            <a:r>
              <a:rPr lang="en-US" altLang="zh-CN" sz="2000" dirty="0">
                <a:solidFill>
                  <a:srgbClr val="0070C0"/>
                </a:solidFill>
                <a:latin typeface="黑体" pitchFamily="49" charset="-122"/>
                <a:ea typeface="黑体" pitchFamily="49" charset="-122"/>
              </a:rPr>
              <a:t>m</a:t>
            </a:r>
            <a:r>
              <a:rPr lang="zh-CN" altLang="en-US" sz="2000" dirty="0">
                <a:solidFill>
                  <a:srgbClr val="0070C0"/>
                </a:solidFill>
                <a:latin typeface="黑体" pitchFamily="49" charset="-122"/>
                <a:ea typeface="黑体" pitchFamily="49" charset="-122"/>
              </a:rPr>
              <a:t>越大，</a:t>
            </a:r>
            <a:r>
              <a:rPr lang="en-US" altLang="zh-CN" sz="2000" dirty="0">
                <a:solidFill>
                  <a:srgbClr val="0070C0"/>
                </a:solidFill>
                <a:latin typeface="黑体" pitchFamily="49" charset="-122"/>
                <a:ea typeface="黑体" pitchFamily="49" charset="-122"/>
              </a:rPr>
              <a:t>BP</a:t>
            </a:r>
            <a:r>
              <a:rPr lang="zh-CN" altLang="en-US" sz="2000" dirty="0">
                <a:solidFill>
                  <a:srgbClr val="0070C0"/>
                </a:solidFill>
                <a:latin typeface="黑体" pitchFamily="49" charset="-122"/>
                <a:ea typeface="黑体" pitchFamily="49" charset="-122"/>
              </a:rPr>
              <a:t>越陡）；</a:t>
            </a:r>
          </a:p>
          <a:p>
            <a:pPr lvl="2" algn="just">
              <a:lnSpc>
                <a:spcPct val="90000"/>
              </a:lnSpc>
              <a:buFontTx/>
              <a:buNone/>
            </a:pPr>
            <a:r>
              <a:rPr lang="zh-CN" altLang="en-US" sz="2000" dirty="0">
                <a:solidFill>
                  <a:srgbClr val="0070C0"/>
                </a:solidFill>
                <a:latin typeface="黑体" pitchFamily="49" charset="-122"/>
                <a:ea typeface="黑体" pitchFamily="49" charset="-122"/>
              </a:rPr>
              <a:t>	</a:t>
            </a:r>
            <a:r>
              <a:rPr lang="en-US" altLang="zh-CN" sz="2000" dirty="0">
                <a:solidFill>
                  <a:srgbClr val="0070C0"/>
                </a:solidFill>
                <a:latin typeface="黑体" pitchFamily="49" charset="-122"/>
                <a:ea typeface="黑体" pitchFamily="49" charset="-122"/>
              </a:rPr>
              <a:t>2</a:t>
            </a:r>
            <a:r>
              <a:rPr lang="zh-CN" altLang="en-US" sz="2000" dirty="0">
                <a:solidFill>
                  <a:srgbClr val="0070C0"/>
                </a:solidFill>
                <a:latin typeface="黑体" pitchFamily="49" charset="-122"/>
                <a:ea typeface="黑体" pitchFamily="49" charset="-122"/>
              </a:rPr>
              <a:t>、国际资本流动的利率弹性（资本流动程度越高，</a:t>
            </a:r>
            <a:r>
              <a:rPr lang="en-US" altLang="zh-CN" sz="2000" dirty="0">
                <a:solidFill>
                  <a:srgbClr val="0070C0"/>
                </a:solidFill>
                <a:latin typeface="黑体" pitchFamily="49" charset="-122"/>
                <a:ea typeface="黑体" pitchFamily="49" charset="-122"/>
              </a:rPr>
              <a:t>BP</a:t>
            </a:r>
            <a:r>
              <a:rPr lang="zh-CN" altLang="en-US" sz="2000" dirty="0">
                <a:solidFill>
                  <a:srgbClr val="0070C0"/>
                </a:solidFill>
                <a:latin typeface="黑体" pitchFamily="49" charset="-122"/>
                <a:ea typeface="黑体" pitchFamily="49" charset="-122"/>
              </a:rPr>
              <a:t>曲          线越平缓）。</a:t>
            </a:r>
          </a:p>
          <a:p>
            <a:pPr lvl="2" algn="just">
              <a:lnSpc>
                <a:spcPct val="90000"/>
              </a:lnSpc>
              <a:buFontTx/>
              <a:buNone/>
            </a:pPr>
            <a:r>
              <a:rPr lang="zh-CN" altLang="en-US" sz="2000" dirty="0">
                <a:solidFill>
                  <a:srgbClr val="0070C0"/>
                </a:solidFill>
                <a:latin typeface="黑体" pitchFamily="49" charset="-122"/>
                <a:ea typeface="黑体" pitchFamily="49" charset="-122"/>
              </a:rPr>
              <a:t>  </a:t>
            </a:r>
            <a:r>
              <a:rPr altLang="en-US" sz="2000" dirty="0" smtClean="0">
                <a:solidFill>
                  <a:srgbClr val="0070C0"/>
                </a:solidFill>
                <a:latin typeface="黑体" pitchFamily="49" charset="-122"/>
                <a:ea typeface="黑体" pitchFamily="49" charset="-122"/>
              </a:rPr>
              <a:t>（</a:t>
            </a:r>
            <a:r>
              <a:rPr lang="zh-CN" altLang="en-US" sz="2000" dirty="0" smtClean="0">
                <a:solidFill>
                  <a:srgbClr val="0070C0"/>
                </a:solidFill>
                <a:latin typeface="黑体" pitchFamily="49" charset="-122"/>
                <a:ea typeface="黑体" pitchFamily="49" charset="-122"/>
              </a:rPr>
              <a:t> </a:t>
            </a:r>
            <a:r>
              <a:rPr lang="en-US" altLang="zh-CN" sz="2000" dirty="0" smtClean="0">
                <a:solidFill>
                  <a:srgbClr val="0070C0"/>
                </a:solidFill>
                <a:latin typeface="黑体" pitchFamily="49" charset="-122"/>
                <a:ea typeface="黑体" pitchFamily="49" charset="-122"/>
              </a:rPr>
              <a:t>BP</a:t>
            </a:r>
            <a:r>
              <a:rPr altLang="en-US" sz="2000" dirty="0" smtClean="0">
                <a:solidFill>
                  <a:srgbClr val="0070C0"/>
                </a:solidFill>
                <a:latin typeface="黑体" pitchFamily="49" charset="-122"/>
                <a:ea typeface="黑体" pitchFamily="49" charset="-122"/>
              </a:rPr>
              <a:t>和</a:t>
            </a:r>
            <a:r>
              <a:rPr lang="en-US" altLang="zh-CN" sz="2000" dirty="0" smtClean="0">
                <a:solidFill>
                  <a:srgbClr val="0070C0"/>
                </a:solidFill>
                <a:latin typeface="黑体" pitchFamily="49" charset="-122"/>
                <a:ea typeface="黑体" pitchFamily="49" charset="-122"/>
              </a:rPr>
              <a:t>LM</a:t>
            </a:r>
            <a:r>
              <a:rPr altLang="en-US" sz="2000" dirty="0" smtClean="0">
                <a:solidFill>
                  <a:srgbClr val="0070C0"/>
                </a:solidFill>
                <a:latin typeface="黑体" pitchFamily="49" charset="-122"/>
                <a:ea typeface="黑体" pitchFamily="49" charset="-122"/>
              </a:rPr>
              <a:t>的斜率比较，取决于国内外资本的利率弹性）</a:t>
            </a:r>
            <a:endParaRPr lang="en-US" altLang="zh-CN" sz="2000" dirty="0">
              <a:solidFill>
                <a:srgbClr val="0070C0"/>
              </a:solidFill>
              <a:latin typeface="黑体" pitchFamily="49" charset="-122"/>
              <a:ea typeface="黑体" pitchFamily="49" charset="-122"/>
            </a:endParaRPr>
          </a:p>
          <a:p>
            <a:pPr lvl="2" algn="just">
              <a:lnSpc>
                <a:spcPct val="90000"/>
              </a:lnSpc>
              <a:buFontTx/>
              <a:buNone/>
            </a:pPr>
            <a:endParaRPr lang="en-US" altLang="zh-CN" sz="2000" dirty="0">
              <a:solidFill>
                <a:srgbClr val="0070C0"/>
              </a:solidFill>
              <a:latin typeface="黑体" pitchFamily="49" charset="-122"/>
              <a:ea typeface="黑体" pitchFamily="49" charset="-122"/>
            </a:endParaRPr>
          </a:p>
          <a:p>
            <a:pPr lvl="2" algn="just">
              <a:lnSpc>
                <a:spcPct val="90000"/>
              </a:lnSpc>
              <a:buFontTx/>
              <a:buNone/>
            </a:pPr>
            <a:r>
              <a:rPr lang="zh-CN" altLang="en-US" sz="2000" dirty="0">
                <a:solidFill>
                  <a:srgbClr val="0070C0"/>
                </a:solidFill>
                <a:latin typeface="黑体" pitchFamily="49" charset="-122"/>
                <a:ea typeface="黑体" pitchFamily="49" charset="-122"/>
              </a:rPr>
              <a:t>简单模型中，假定</a:t>
            </a:r>
            <a:r>
              <a:rPr lang="en-US" altLang="zh-CN" sz="2000" b="1" dirty="0">
                <a:solidFill>
                  <a:srgbClr val="0070C0"/>
                </a:solidFill>
                <a:latin typeface="黑体" pitchFamily="49" charset="-122"/>
                <a:ea typeface="黑体" pitchFamily="49" charset="-122"/>
              </a:rPr>
              <a:t>m</a:t>
            </a:r>
            <a:r>
              <a:rPr lang="zh-CN" altLang="en-US" sz="2000" dirty="0">
                <a:solidFill>
                  <a:srgbClr val="0070C0"/>
                </a:solidFill>
                <a:latin typeface="黑体" pitchFamily="49" charset="-122"/>
                <a:ea typeface="黑体" pitchFamily="49" charset="-122"/>
              </a:rPr>
              <a:t>为常数；</a:t>
            </a:r>
          </a:p>
          <a:p>
            <a:pPr lvl="2" algn="just">
              <a:lnSpc>
                <a:spcPct val="90000"/>
              </a:lnSpc>
              <a:buFontTx/>
              <a:buNone/>
            </a:pPr>
            <a:r>
              <a:rPr lang="zh-CN" altLang="en-US" sz="2000" dirty="0">
                <a:solidFill>
                  <a:srgbClr val="0070C0"/>
                </a:solidFill>
                <a:latin typeface="黑体" pitchFamily="49" charset="-122"/>
                <a:ea typeface="黑体" pitchFamily="49" charset="-122"/>
              </a:rPr>
              <a:t>本币贬值，</a:t>
            </a:r>
            <a:r>
              <a:rPr lang="en-US" altLang="zh-CN" sz="2000" dirty="0">
                <a:solidFill>
                  <a:srgbClr val="0070C0"/>
                </a:solidFill>
                <a:latin typeface="黑体" pitchFamily="49" charset="-122"/>
                <a:ea typeface="黑体" pitchFamily="49" charset="-122"/>
              </a:rPr>
              <a:t>BP</a:t>
            </a:r>
            <a:r>
              <a:rPr lang="zh-CN" altLang="en-US" sz="2000" dirty="0">
                <a:solidFill>
                  <a:srgbClr val="0070C0"/>
                </a:solidFill>
                <a:latin typeface="黑体" pitchFamily="49" charset="-122"/>
                <a:ea typeface="黑体" pitchFamily="49" charset="-122"/>
              </a:rPr>
              <a:t>右移。</a:t>
            </a:r>
          </a:p>
          <a:p>
            <a:pPr lvl="2" algn="just">
              <a:lnSpc>
                <a:spcPct val="90000"/>
              </a:lnSpc>
              <a:buFontTx/>
              <a:buNone/>
            </a:pPr>
            <a:r>
              <a:rPr lang="en-US" altLang="zh-CN" sz="2000" dirty="0">
                <a:solidFill>
                  <a:srgbClr val="0070C0"/>
                </a:solidFill>
                <a:latin typeface="黑体" pitchFamily="49" charset="-122"/>
                <a:ea typeface="黑体" pitchFamily="49" charset="-122"/>
              </a:rPr>
              <a:t>BP</a:t>
            </a:r>
            <a:r>
              <a:rPr lang="zh-CN" altLang="en-US" sz="2000" dirty="0">
                <a:solidFill>
                  <a:srgbClr val="0070C0"/>
                </a:solidFill>
                <a:latin typeface="黑体" pitchFamily="49" charset="-122"/>
                <a:ea typeface="黑体" pitchFamily="49" charset="-122"/>
              </a:rPr>
              <a:t>曲线左上方的点为国际收支顺差，右下方的点为国际收支逆差。</a:t>
            </a:r>
          </a:p>
          <a:p>
            <a:pPr lvl="2" algn="just">
              <a:lnSpc>
                <a:spcPct val="90000"/>
              </a:lnSpc>
              <a:buFontTx/>
              <a:buNone/>
            </a:pPr>
            <a:endParaRPr lang="en-US" altLang="zh-CN" sz="2200" dirty="0">
              <a:latin typeface="隶书" pitchFamily="49" charset="-122"/>
              <a:ea typeface="隶书" pitchFamily="49" charset="-122"/>
            </a:endParaRPr>
          </a:p>
        </p:txBody>
      </p:sp>
      <p:sp>
        <p:nvSpPr>
          <p:cNvPr id="4" name="矩形 3"/>
          <p:cNvSpPr/>
          <p:nvPr/>
        </p:nvSpPr>
        <p:spPr>
          <a:xfrm>
            <a:off x="481263" y="409075"/>
            <a:ext cx="7676147" cy="830997"/>
          </a:xfrm>
          <a:prstGeom prst="rect">
            <a:avLst/>
          </a:prstGeom>
        </p:spPr>
        <p:txBody>
          <a:bodyPr wrap="square">
            <a:spAutoFit/>
          </a:bodyPr>
          <a:lstStyle/>
          <a:p>
            <a:pPr algn="r"/>
            <a:r>
              <a:rPr lang="zh-CN" altLang="en-US" sz="2800" b="1" dirty="0" smtClean="0">
                <a:solidFill>
                  <a:schemeClr val="accent1"/>
                </a:solidFill>
                <a:latin typeface="+mj-lt"/>
                <a:ea typeface="Microsoft YaHei UI" panose="020B0503020204020204" pitchFamily="34" charset="-122"/>
                <a:cs typeface="+mj-cs"/>
              </a:rPr>
              <a:t>第二节	开放经济条件下的财政、货币政策</a:t>
            </a:r>
            <a:r>
              <a:rPr lang="zh-CN" altLang="en-US" dirty="0" smtClean="0"/>
              <a:t/>
            </a:r>
            <a:br>
              <a:rPr lang="zh-CN" altLang="en-US" dirty="0" smtClean="0"/>
            </a:br>
            <a:r>
              <a:rPr lang="zh-CN" altLang="en-US" dirty="0" smtClean="0">
                <a:solidFill>
                  <a:srgbClr val="00B0F0"/>
                </a:solidFill>
                <a:latin typeface="黑体" pitchFamily="49" charset="-122"/>
                <a:ea typeface="黑体" pitchFamily="49" charset="-122"/>
              </a:rPr>
              <a:t>                             </a:t>
            </a:r>
            <a:r>
              <a:rPr lang="en-US" altLang="zh-CN" sz="2000" dirty="0" smtClean="0">
                <a:solidFill>
                  <a:srgbClr val="00B0F0"/>
                </a:solidFill>
                <a:latin typeface="黑体" pitchFamily="49" charset="-122"/>
                <a:ea typeface="黑体" pitchFamily="49" charset="-122"/>
              </a:rPr>
              <a:t>——</a:t>
            </a:r>
            <a:r>
              <a:rPr lang="zh-CN" altLang="en-US" sz="2000" dirty="0" smtClean="0">
                <a:solidFill>
                  <a:srgbClr val="00B0F0"/>
                </a:solidFill>
                <a:latin typeface="黑体" pitchFamily="49" charset="-122"/>
                <a:ea typeface="黑体" pitchFamily="49" charset="-122"/>
              </a:rPr>
              <a:t>蒙代尔－弗莱明模型</a:t>
            </a:r>
            <a:endParaRPr lang="zh-CN" alt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89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896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896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896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896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896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896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一</a:t>
            </a:r>
            <a:r>
              <a:rPr lang="zh-CN" altLang="en-US" sz="2800" dirty="0">
                <a:solidFill>
                  <a:schemeClr val="accent1"/>
                </a:solidFill>
                <a:latin typeface="微软雅黑" panose="020B0503020204020204" pitchFamily="34" charset="-122"/>
                <a:ea typeface="微软雅黑" panose="020B0503020204020204" pitchFamily="34" charset="-122"/>
              </a:rPr>
              <a:t>、</a:t>
            </a:r>
            <a:r>
              <a:rPr lang="en-US" altLang="zh-CN" sz="2800" dirty="0">
                <a:solidFill>
                  <a:schemeClr val="accent1"/>
                </a:solidFill>
                <a:latin typeface="微软雅黑" panose="020B0503020204020204" pitchFamily="34" charset="-122"/>
                <a:ea typeface="微软雅黑" panose="020B0503020204020204" pitchFamily="34" charset="-122"/>
              </a:rPr>
              <a:t>IS</a:t>
            </a:r>
            <a:r>
              <a:rPr lang="zh-CN" altLang="en-US" sz="2800" dirty="0">
                <a:solidFill>
                  <a:schemeClr val="accent1"/>
                </a:solidFill>
                <a:latin typeface="微软雅黑" panose="020B0503020204020204" pitchFamily="34" charset="-122"/>
                <a:ea typeface="微软雅黑" panose="020B0503020204020204" pitchFamily="34" charset="-122"/>
              </a:rPr>
              <a:t>－</a:t>
            </a:r>
            <a:r>
              <a:rPr lang="en-US" altLang="zh-CN" sz="2800" dirty="0">
                <a:solidFill>
                  <a:schemeClr val="accent1"/>
                </a:solidFill>
                <a:latin typeface="微软雅黑" panose="020B0503020204020204" pitchFamily="34" charset="-122"/>
                <a:ea typeface="微软雅黑" panose="020B0503020204020204" pitchFamily="34" charset="-122"/>
              </a:rPr>
              <a:t>LM</a:t>
            </a:r>
            <a:r>
              <a:rPr lang="zh-CN" altLang="en-US" sz="2800" dirty="0">
                <a:solidFill>
                  <a:schemeClr val="accent1"/>
                </a:solidFill>
                <a:latin typeface="微软雅黑" panose="020B0503020204020204" pitchFamily="34" charset="-122"/>
                <a:ea typeface="微软雅黑" panose="020B0503020204020204" pitchFamily="34" charset="-122"/>
              </a:rPr>
              <a:t>－</a:t>
            </a:r>
            <a:r>
              <a:rPr lang="en-US" altLang="zh-CN" sz="2800" dirty="0">
                <a:solidFill>
                  <a:schemeClr val="accent1"/>
                </a:solidFill>
                <a:latin typeface="微软雅黑" panose="020B0503020204020204" pitchFamily="34" charset="-122"/>
                <a:ea typeface="微软雅黑" panose="020B0503020204020204" pitchFamily="34" charset="-122"/>
              </a:rPr>
              <a:t>BP</a:t>
            </a:r>
            <a:r>
              <a:rPr lang="zh-CN" altLang="en-US" sz="2800" dirty="0">
                <a:solidFill>
                  <a:schemeClr val="accent1"/>
                </a:solidFill>
                <a:latin typeface="微软雅黑" panose="020B0503020204020204" pitchFamily="34" charset="-122"/>
                <a:ea typeface="微软雅黑" panose="020B0503020204020204" pitchFamily="34" charset="-122"/>
              </a:rPr>
              <a:t>模型的</a:t>
            </a:r>
            <a:r>
              <a:rPr lang="zh-CN" altLang="en-US" sz="2800" dirty="0" smtClean="0">
                <a:solidFill>
                  <a:schemeClr val="accent1"/>
                </a:solidFill>
                <a:latin typeface="微软雅黑" panose="020B0503020204020204" pitchFamily="34" charset="-122"/>
                <a:ea typeface="微软雅黑" panose="020B0503020204020204" pitchFamily="34" charset="-122"/>
              </a:rPr>
              <a:t>建立</a:t>
            </a:r>
            <a:endParaRPr lang="zh-CN" altLang="en-US" sz="2800" dirty="0">
              <a:solidFill>
                <a:schemeClr val="accent1"/>
              </a:solidFill>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6" name="Line 4"/>
          <p:cNvSpPr>
            <a:spLocks noChangeShapeType="1"/>
          </p:cNvSpPr>
          <p:nvPr/>
        </p:nvSpPr>
        <p:spPr bwMode="auto">
          <a:xfrm flipV="1">
            <a:off x="2411413" y="2353997"/>
            <a:ext cx="0" cy="3529013"/>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7" name="Line 5"/>
          <p:cNvSpPr>
            <a:spLocks noChangeShapeType="1"/>
          </p:cNvSpPr>
          <p:nvPr/>
        </p:nvSpPr>
        <p:spPr bwMode="auto">
          <a:xfrm>
            <a:off x="2411413" y="5883010"/>
            <a:ext cx="4465637" cy="0"/>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8" name="Line 6"/>
          <p:cNvSpPr>
            <a:spLocks noChangeShapeType="1"/>
          </p:cNvSpPr>
          <p:nvPr/>
        </p:nvSpPr>
        <p:spPr bwMode="auto">
          <a:xfrm>
            <a:off x="3203575" y="3217597"/>
            <a:ext cx="2663825" cy="2087563"/>
          </a:xfrm>
          <a:prstGeom prst="line">
            <a:avLst/>
          </a:prstGeom>
          <a:noFill/>
          <a:ln w="3175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9" name="Line 7"/>
          <p:cNvSpPr>
            <a:spLocks noChangeShapeType="1"/>
          </p:cNvSpPr>
          <p:nvPr/>
        </p:nvSpPr>
        <p:spPr bwMode="auto">
          <a:xfrm flipV="1">
            <a:off x="3203575" y="3217597"/>
            <a:ext cx="2952750" cy="2016125"/>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10" name="Line 8"/>
          <p:cNvSpPr>
            <a:spLocks noChangeShapeType="1"/>
          </p:cNvSpPr>
          <p:nvPr/>
        </p:nvSpPr>
        <p:spPr bwMode="auto">
          <a:xfrm flipH="1">
            <a:off x="4140200" y="2641335"/>
            <a:ext cx="1079500" cy="2808287"/>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11" name="Text Box 9"/>
          <p:cNvSpPr txBox="1">
            <a:spLocks noChangeArrowheads="1"/>
          </p:cNvSpPr>
          <p:nvPr/>
        </p:nvSpPr>
        <p:spPr bwMode="auto">
          <a:xfrm>
            <a:off x="1763713" y="2209535"/>
            <a:ext cx="5048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i</a:t>
            </a:r>
          </a:p>
        </p:txBody>
      </p:sp>
      <p:sp>
        <p:nvSpPr>
          <p:cNvPr id="12" name="Text Box 10"/>
          <p:cNvSpPr txBox="1">
            <a:spLocks noChangeArrowheads="1"/>
          </p:cNvSpPr>
          <p:nvPr/>
        </p:nvSpPr>
        <p:spPr bwMode="auto">
          <a:xfrm>
            <a:off x="6875463" y="5651235"/>
            <a:ext cx="5048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Y</a:t>
            </a:r>
          </a:p>
        </p:txBody>
      </p:sp>
      <p:sp>
        <p:nvSpPr>
          <p:cNvPr id="13" name="Text Box 11"/>
          <p:cNvSpPr txBox="1">
            <a:spLocks noChangeArrowheads="1"/>
          </p:cNvSpPr>
          <p:nvPr/>
        </p:nvSpPr>
        <p:spPr bwMode="auto">
          <a:xfrm>
            <a:off x="6227763" y="2858822"/>
            <a:ext cx="720725" cy="5191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dirty="0">
                <a:solidFill>
                  <a:schemeClr val="accent1"/>
                </a:solidFill>
              </a:rPr>
              <a:t>LM</a:t>
            </a:r>
          </a:p>
        </p:txBody>
      </p:sp>
      <p:sp>
        <p:nvSpPr>
          <p:cNvPr id="14" name="Text Box 12"/>
          <p:cNvSpPr txBox="1">
            <a:spLocks noChangeArrowheads="1"/>
          </p:cNvSpPr>
          <p:nvPr/>
        </p:nvSpPr>
        <p:spPr bwMode="auto">
          <a:xfrm>
            <a:off x="5148263" y="2066660"/>
            <a:ext cx="7207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dirty="0">
                <a:solidFill>
                  <a:schemeClr val="accent1"/>
                </a:solidFill>
              </a:rPr>
              <a:t>BP</a:t>
            </a:r>
          </a:p>
        </p:txBody>
      </p:sp>
      <p:sp>
        <p:nvSpPr>
          <p:cNvPr id="15" name="Text Box 13"/>
          <p:cNvSpPr txBox="1">
            <a:spLocks noChangeArrowheads="1"/>
          </p:cNvSpPr>
          <p:nvPr/>
        </p:nvSpPr>
        <p:spPr bwMode="auto">
          <a:xfrm>
            <a:off x="5940425" y="5233722"/>
            <a:ext cx="647700" cy="5191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IS</a:t>
            </a:r>
          </a:p>
        </p:txBody>
      </p:sp>
      <p:sp>
        <p:nvSpPr>
          <p:cNvPr id="16" name="Text Box 15"/>
          <p:cNvSpPr txBox="1">
            <a:spLocks noChangeArrowheads="1"/>
          </p:cNvSpPr>
          <p:nvPr/>
        </p:nvSpPr>
        <p:spPr bwMode="auto">
          <a:xfrm>
            <a:off x="1979613" y="5667110"/>
            <a:ext cx="5048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O</a:t>
            </a:r>
          </a:p>
        </p:txBody>
      </p:sp>
      <p:sp>
        <p:nvSpPr>
          <p:cNvPr id="18" name="标题 1"/>
          <p:cNvSpPr>
            <a:spLocks noGrp="1"/>
          </p:cNvSpPr>
          <p:nvPr>
            <p:ph type="title"/>
          </p:nvPr>
        </p:nvSpPr>
        <p:spPr>
          <a:xfrm>
            <a:off x="192505" y="18386"/>
            <a:ext cx="8951495" cy="1142385"/>
          </a:xfrm>
        </p:spPr>
        <p:txBody>
          <a:bodyPr>
            <a:normAutofit/>
          </a:bodyPr>
          <a:lstStyle/>
          <a:p>
            <a:r>
              <a:rPr altLang="en-US" sz="2800" dirty="0" smtClean="0"/>
              <a:t>第二节	开放经济条件下的财政、货币政策</a:t>
            </a:r>
            <a:br>
              <a:rPr altLang="en-US" sz="2800" dirty="0" smtClean="0"/>
            </a:br>
            <a:r>
              <a:rPr altLang="en-US" sz="2800" dirty="0" smtClean="0">
                <a:solidFill>
                  <a:srgbClr val="00B0F0"/>
                </a:solidFill>
                <a:latin typeface="黑体" pitchFamily="49" charset="-122"/>
                <a:ea typeface="黑体" pitchFamily="49" charset="-122"/>
              </a:rPr>
              <a:t>                             </a:t>
            </a:r>
            <a:r>
              <a:rPr lang="en-US" altLang="zh-CN" sz="2000" dirty="0" smtClean="0">
                <a:solidFill>
                  <a:srgbClr val="00B0F0"/>
                </a:solidFill>
                <a:latin typeface="黑体" pitchFamily="49" charset="-122"/>
                <a:ea typeface="黑体" pitchFamily="49" charset="-122"/>
              </a:rPr>
              <a:t>——</a:t>
            </a:r>
            <a:r>
              <a:rPr altLang="en-US" sz="2000" dirty="0" smtClean="0">
                <a:solidFill>
                  <a:srgbClr val="00B0F0"/>
                </a:solidFill>
                <a:latin typeface="黑体" pitchFamily="49" charset="-122"/>
                <a:ea typeface="黑体" pitchFamily="49" charset="-122"/>
              </a:rPr>
              <a:t>蒙代尔－弗莱明模型</a:t>
            </a:r>
            <a:endParaRPr lang="zh-CN" sz="2800" dirty="0"/>
          </a:p>
        </p:txBody>
      </p:sp>
    </p:spTree>
    <p:extLst>
      <p:ext uri="{BB962C8B-B14F-4D97-AF65-F5344CB8AC3E}">
        <p14:creationId xmlns:p14="http://schemas.microsoft.com/office/powerpoint/2010/main" val="2130821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7" name="标题 1"/>
          <p:cNvSpPr>
            <a:spLocks noGrp="1"/>
          </p:cNvSpPr>
          <p:nvPr>
            <p:ph type="title"/>
          </p:nvPr>
        </p:nvSpPr>
        <p:spPr>
          <a:xfrm>
            <a:off x="192505" y="18386"/>
            <a:ext cx="8951495" cy="1142385"/>
          </a:xfrm>
        </p:spPr>
        <p:txBody>
          <a:bodyPr>
            <a:normAutofit/>
          </a:bodyPr>
          <a:lstStyle/>
          <a:p>
            <a:r>
              <a:rPr altLang="en-US" sz="2800" dirty="0" smtClean="0"/>
              <a:t>第二节	开放经济条件下的财政、货币政策</a:t>
            </a:r>
            <a:br>
              <a:rPr altLang="en-US" sz="2800" dirty="0" smtClean="0"/>
            </a:br>
            <a:r>
              <a:rPr altLang="en-US" sz="2800" dirty="0" smtClean="0">
                <a:solidFill>
                  <a:srgbClr val="00B0F0"/>
                </a:solidFill>
                <a:latin typeface="黑体" pitchFamily="49" charset="-122"/>
                <a:ea typeface="黑体" pitchFamily="49" charset="-122"/>
              </a:rPr>
              <a:t>                             </a:t>
            </a:r>
            <a:r>
              <a:rPr lang="en-US" altLang="zh-CN" sz="2000" dirty="0" smtClean="0">
                <a:solidFill>
                  <a:srgbClr val="00B0F0"/>
                </a:solidFill>
                <a:latin typeface="黑体" pitchFamily="49" charset="-122"/>
                <a:ea typeface="黑体" pitchFamily="49" charset="-122"/>
              </a:rPr>
              <a:t>——</a:t>
            </a:r>
            <a:r>
              <a:rPr altLang="en-US" sz="2000" dirty="0" smtClean="0">
                <a:solidFill>
                  <a:srgbClr val="00B0F0"/>
                </a:solidFill>
                <a:latin typeface="黑体" pitchFamily="49" charset="-122"/>
                <a:ea typeface="黑体" pitchFamily="49" charset="-122"/>
              </a:rPr>
              <a:t>蒙代尔－弗莱明模型</a:t>
            </a:r>
            <a:endParaRPr lang="zh-CN" sz="2800" dirty="0"/>
          </a:p>
        </p:txBody>
      </p:sp>
      <p:sp>
        <p:nvSpPr>
          <p:cNvPr id="8" name="矩形 7"/>
          <p:cNvSpPr/>
          <p:nvPr/>
        </p:nvSpPr>
        <p:spPr>
          <a:xfrm>
            <a:off x="330348" y="1078650"/>
            <a:ext cx="8344420" cy="3120854"/>
          </a:xfrm>
          <a:prstGeom prst="rect">
            <a:avLst/>
          </a:prstGeom>
        </p:spPr>
        <p:txBody>
          <a:bodyPr wrap="square">
            <a:spAutoFit/>
          </a:bodyPr>
          <a:lstStyle/>
          <a:p>
            <a:pPr>
              <a:spcBef>
                <a:spcPct val="20000"/>
              </a:spcBef>
            </a:pPr>
            <a:endParaRPr lang="en-US" altLang="zh-CN" sz="2400" b="1" dirty="0" smtClean="0">
              <a:solidFill>
                <a:srgbClr val="0070C0"/>
              </a:solidFill>
              <a:ea typeface="黑体" pitchFamily="49" charset="-122"/>
            </a:endParaRPr>
          </a:p>
          <a:p>
            <a:pPr>
              <a:spcBef>
                <a:spcPct val="20000"/>
              </a:spcBef>
            </a:pPr>
            <a:r>
              <a:rPr lang="zh-CN" altLang="en-US" sz="2400" b="1" dirty="0" smtClean="0">
                <a:solidFill>
                  <a:srgbClr val="0070C0"/>
                </a:solidFill>
                <a:ea typeface="黑体" pitchFamily="49" charset="-122"/>
              </a:rPr>
              <a:t>二、固定汇率制下的宏观经济政策</a:t>
            </a:r>
            <a:endParaRPr lang="en-US" altLang="zh-CN" sz="2400" b="1" dirty="0" smtClean="0">
              <a:solidFill>
                <a:srgbClr val="0070C0"/>
              </a:solidFill>
              <a:ea typeface="黑体" pitchFamily="49" charset="-122"/>
            </a:endParaRPr>
          </a:p>
          <a:p>
            <a:pPr>
              <a:spcBef>
                <a:spcPct val="20000"/>
              </a:spcBef>
            </a:pPr>
            <a:endParaRPr lang="en-US" altLang="zh-CN" sz="2400" b="1" dirty="0" smtClean="0">
              <a:solidFill>
                <a:srgbClr val="0070C0"/>
              </a:solidFill>
              <a:ea typeface="黑体" pitchFamily="49" charset="-122"/>
            </a:endParaRPr>
          </a:p>
          <a:p>
            <a:pPr lvl="2">
              <a:spcBef>
                <a:spcPct val="20000"/>
              </a:spcBef>
            </a:pPr>
            <a:r>
              <a:rPr lang="en-US" altLang="zh-CN" sz="2400" b="1" dirty="0" smtClean="0">
                <a:solidFill>
                  <a:srgbClr val="0070C0"/>
                </a:solidFill>
                <a:ea typeface="黑体" pitchFamily="49" charset="-122"/>
              </a:rPr>
              <a:t>1</a:t>
            </a:r>
            <a:r>
              <a:rPr lang="zh-CN" altLang="en-US" sz="2400" b="1" dirty="0" smtClean="0">
                <a:solidFill>
                  <a:srgbClr val="0070C0"/>
                </a:solidFill>
                <a:ea typeface="黑体" pitchFamily="49" charset="-122"/>
              </a:rPr>
              <a:t>、货币政策的实施效果（以</a:t>
            </a:r>
            <a:r>
              <a:rPr lang="en-US" altLang="zh-CN" sz="2400" b="1" dirty="0" smtClean="0">
                <a:solidFill>
                  <a:srgbClr val="0070C0"/>
                </a:solidFill>
                <a:ea typeface="黑体" pitchFamily="49" charset="-122"/>
              </a:rPr>
              <a:t>Ms</a:t>
            </a:r>
            <a:r>
              <a:rPr lang="zh-CN" altLang="en-US" sz="2400" b="1" dirty="0" smtClean="0">
                <a:solidFill>
                  <a:srgbClr val="0070C0"/>
                </a:solidFill>
                <a:ea typeface="黑体" pitchFamily="49" charset="-122"/>
              </a:rPr>
              <a:t>增加为例）</a:t>
            </a:r>
            <a:endParaRPr lang="en-US" altLang="zh-CN" sz="2400" b="1" dirty="0" smtClean="0">
              <a:solidFill>
                <a:srgbClr val="0070C0"/>
              </a:solidFill>
              <a:ea typeface="黑体" pitchFamily="49" charset="-122"/>
            </a:endParaRPr>
          </a:p>
          <a:p>
            <a:pPr lvl="2">
              <a:spcBef>
                <a:spcPct val="20000"/>
              </a:spcBef>
            </a:pPr>
            <a:r>
              <a:rPr lang="en-US" altLang="zh-CN" sz="2400" b="1" dirty="0" smtClean="0">
                <a:solidFill>
                  <a:srgbClr val="0070C0"/>
                </a:solidFill>
                <a:ea typeface="黑体" pitchFamily="49" charset="-122"/>
              </a:rPr>
              <a:t>	</a:t>
            </a:r>
            <a:r>
              <a:rPr lang="zh-CN" altLang="en-US" sz="2400" b="1" dirty="0" smtClean="0">
                <a:solidFill>
                  <a:srgbClr val="0070C0"/>
                </a:solidFill>
                <a:ea typeface="黑体" pitchFamily="49" charset="-122"/>
              </a:rPr>
              <a:t>货币政策无效</a:t>
            </a:r>
            <a:endParaRPr lang="en-US" altLang="zh-CN" sz="2400" b="1" dirty="0" smtClean="0">
              <a:solidFill>
                <a:srgbClr val="0070C0"/>
              </a:solidFill>
              <a:ea typeface="黑体" pitchFamily="49" charset="-122"/>
            </a:endParaRPr>
          </a:p>
          <a:p>
            <a:pPr lvl="2">
              <a:spcBef>
                <a:spcPct val="20000"/>
              </a:spcBef>
            </a:pPr>
            <a:r>
              <a:rPr lang="en-US" altLang="zh-CN" sz="2400" b="1" dirty="0" smtClean="0">
                <a:solidFill>
                  <a:srgbClr val="0070C0"/>
                </a:solidFill>
                <a:ea typeface="黑体" pitchFamily="49" charset="-122"/>
              </a:rPr>
              <a:t>2</a:t>
            </a:r>
            <a:r>
              <a:rPr lang="zh-CN" altLang="en-US" sz="2400" b="1" dirty="0" smtClean="0">
                <a:solidFill>
                  <a:srgbClr val="0070C0"/>
                </a:solidFill>
                <a:ea typeface="黑体" pitchFamily="49" charset="-122"/>
              </a:rPr>
              <a:t>、财政政策的实施效果（以增加财政支出为例）</a:t>
            </a:r>
            <a:endParaRPr lang="en-US" altLang="zh-CN" sz="2400" b="1" dirty="0" smtClean="0">
              <a:solidFill>
                <a:srgbClr val="0070C0"/>
              </a:solidFill>
              <a:ea typeface="黑体" pitchFamily="49" charset="-122"/>
            </a:endParaRPr>
          </a:p>
          <a:p>
            <a:pPr lvl="2">
              <a:spcBef>
                <a:spcPct val="20000"/>
              </a:spcBef>
            </a:pPr>
            <a:r>
              <a:rPr lang="en-US" altLang="zh-CN" sz="2400" b="1" dirty="0" smtClean="0">
                <a:solidFill>
                  <a:srgbClr val="0070C0"/>
                </a:solidFill>
                <a:ea typeface="黑体" pitchFamily="49" charset="-122"/>
              </a:rPr>
              <a:t>	</a:t>
            </a:r>
            <a:r>
              <a:rPr lang="zh-CN" altLang="en-US" sz="2400" b="1" dirty="0" smtClean="0">
                <a:solidFill>
                  <a:srgbClr val="0070C0"/>
                </a:solidFill>
                <a:ea typeface="黑体" pitchFamily="49" charset="-122"/>
              </a:rPr>
              <a:t>财政政策有效，资本流动程度越高，效果越好</a:t>
            </a:r>
            <a:endParaRPr lang="zh-CN" altLang="en-US" sz="2400" b="1" dirty="0">
              <a:solidFill>
                <a:srgbClr val="0070C0"/>
              </a:solidFill>
              <a:ea typeface="黑体" pitchFamily="49" charset="-122"/>
            </a:endParaRPr>
          </a:p>
        </p:txBody>
      </p:sp>
    </p:spTree>
    <p:extLst>
      <p:ext uri="{BB962C8B-B14F-4D97-AF65-F5344CB8AC3E}">
        <p14:creationId xmlns:p14="http://schemas.microsoft.com/office/powerpoint/2010/main" val="3172529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ctr"/>
            <a:r>
              <a:rPr lang="zh-CN" altLang="en-US" sz="2400" dirty="0"/>
              <a:t>固定汇率制下，扩张的货币政策</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17" name="Line 2"/>
          <p:cNvSpPr>
            <a:spLocks noChangeShapeType="1"/>
          </p:cNvSpPr>
          <p:nvPr/>
        </p:nvSpPr>
        <p:spPr bwMode="auto">
          <a:xfrm flipV="1">
            <a:off x="2411413" y="1628775"/>
            <a:ext cx="0" cy="3529013"/>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18" name="Line 3"/>
          <p:cNvSpPr>
            <a:spLocks noChangeShapeType="1"/>
          </p:cNvSpPr>
          <p:nvPr/>
        </p:nvSpPr>
        <p:spPr bwMode="auto">
          <a:xfrm>
            <a:off x="2411413" y="5157788"/>
            <a:ext cx="4465637" cy="0"/>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19" name="Line 4"/>
          <p:cNvSpPr>
            <a:spLocks noChangeShapeType="1"/>
          </p:cNvSpPr>
          <p:nvPr/>
        </p:nvSpPr>
        <p:spPr bwMode="auto">
          <a:xfrm>
            <a:off x="3203575" y="2492375"/>
            <a:ext cx="2663825" cy="2087563"/>
          </a:xfrm>
          <a:prstGeom prst="line">
            <a:avLst/>
          </a:prstGeom>
          <a:noFill/>
          <a:ln w="3175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20" name="Line 5"/>
          <p:cNvSpPr>
            <a:spLocks noChangeShapeType="1"/>
          </p:cNvSpPr>
          <p:nvPr/>
        </p:nvSpPr>
        <p:spPr bwMode="auto">
          <a:xfrm flipV="1">
            <a:off x="3203575" y="2492375"/>
            <a:ext cx="2952750" cy="2016125"/>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21" name="Line 6"/>
          <p:cNvSpPr>
            <a:spLocks noChangeShapeType="1"/>
          </p:cNvSpPr>
          <p:nvPr/>
        </p:nvSpPr>
        <p:spPr bwMode="auto">
          <a:xfrm flipH="1">
            <a:off x="4140200" y="1916113"/>
            <a:ext cx="1079500" cy="2808287"/>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22" name="Text Box 7"/>
          <p:cNvSpPr txBox="1">
            <a:spLocks noChangeArrowheads="1"/>
          </p:cNvSpPr>
          <p:nvPr/>
        </p:nvSpPr>
        <p:spPr bwMode="auto">
          <a:xfrm>
            <a:off x="1763713" y="1484313"/>
            <a:ext cx="5048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i</a:t>
            </a:r>
          </a:p>
        </p:txBody>
      </p:sp>
      <p:sp>
        <p:nvSpPr>
          <p:cNvPr id="23" name="Text Box 8"/>
          <p:cNvSpPr txBox="1">
            <a:spLocks noChangeArrowheads="1"/>
          </p:cNvSpPr>
          <p:nvPr/>
        </p:nvSpPr>
        <p:spPr bwMode="auto">
          <a:xfrm>
            <a:off x="6875463" y="4926013"/>
            <a:ext cx="5048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Y</a:t>
            </a:r>
          </a:p>
        </p:txBody>
      </p:sp>
      <p:sp>
        <p:nvSpPr>
          <p:cNvPr id="24" name="Text Box 9"/>
          <p:cNvSpPr txBox="1">
            <a:spLocks noChangeArrowheads="1"/>
          </p:cNvSpPr>
          <p:nvPr/>
        </p:nvSpPr>
        <p:spPr bwMode="auto">
          <a:xfrm>
            <a:off x="6227763" y="2133600"/>
            <a:ext cx="720725" cy="5191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LM</a:t>
            </a:r>
          </a:p>
        </p:txBody>
      </p:sp>
      <p:sp>
        <p:nvSpPr>
          <p:cNvPr id="25" name="Text Box 10"/>
          <p:cNvSpPr txBox="1">
            <a:spLocks noChangeArrowheads="1"/>
          </p:cNvSpPr>
          <p:nvPr/>
        </p:nvSpPr>
        <p:spPr bwMode="auto">
          <a:xfrm>
            <a:off x="5148263" y="1341438"/>
            <a:ext cx="7207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BP</a:t>
            </a:r>
          </a:p>
        </p:txBody>
      </p:sp>
      <p:sp>
        <p:nvSpPr>
          <p:cNvPr id="26" name="Text Box 11"/>
          <p:cNvSpPr txBox="1">
            <a:spLocks noChangeArrowheads="1"/>
          </p:cNvSpPr>
          <p:nvPr/>
        </p:nvSpPr>
        <p:spPr bwMode="auto">
          <a:xfrm>
            <a:off x="5940425" y="4508500"/>
            <a:ext cx="647700" cy="5191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IS</a:t>
            </a:r>
          </a:p>
        </p:txBody>
      </p:sp>
      <p:sp>
        <p:nvSpPr>
          <p:cNvPr id="27" name="Text Box 12"/>
          <p:cNvSpPr txBox="1">
            <a:spLocks noChangeArrowheads="1"/>
          </p:cNvSpPr>
          <p:nvPr/>
        </p:nvSpPr>
        <p:spPr bwMode="auto">
          <a:xfrm>
            <a:off x="1979613" y="4941888"/>
            <a:ext cx="5048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O</a:t>
            </a:r>
          </a:p>
        </p:txBody>
      </p:sp>
      <p:grpSp>
        <p:nvGrpSpPr>
          <p:cNvPr id="28" name="Group 15"/>
          <p:cNvGrpSpPr>
            <a:grpSpLocks/>
          </p:cNvGrpSpPr>
          <p:nvPr/>
        </p:nvGrpSpPr>
        <p:grpSpPr bwMode="auto">
          <a:xfrm>
            <a:off x="3924300" y="2708275"/>
            <a:ext cx="2952750" cy="2016125"/>
            <a:chOff x="2472" y="1706"/>
            <a:chExt cx="1860" cy="1270"/>
          </a:xfrm>
        </p:grpSpPr>
        <p:sp>
          <p:nvSpPr>
            <p:cNvPr id="29" name="Line 13"/>
            <p:cNvSpPr>
              <a:spLocks noChangeShapeType="1"/>
            </p:cNvSpPr>
            <p:nvPr/>
          </p:nvSpPr>
          <p:spPr bwMode="auto">
            <a:xfrm flipV="1">
              <a:off x="2472" y="1706"/>
              <a:ext cx="1860" cy="1270"/>
            </a:xfrm>
            <a:prstGeom prst="line">
              <a:avLst/>
            </a:prstGeom>
            <a:noFill/>
            <a:ln w="28575">
              <a:solidFill>
                <a:srgbClr val="00B05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30" name="Line 14"/>
            <p:cNvSpPr>
              <a:spLocks noChangeShapeType="1"/>
            </p:cNvSpPr>
            <p:nvPr/>
          </p:nvSpPr>
          <p:spPr bwMode="auto">
            <a:xfrm>
              <a:off x="3334" y="2024"/>
              <a:ext cx="362"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grpSp>
      <p:sp>
        <p:nvSpPr>
          <p:cNvPr id="31" name="Line 16"/>
          <p:cNvSpPr>
            <a:spLocks noChangeShapeType="1"/>
          </p:cNvSpPr>
          <p:nvPr/>
        </p:nvSpPr>
        <p:spPr bwMode="auto">
          <a:xfrm flipH="1">
            <a:off x="5795963" y="2852738"/>
            <a:ext cx="647700"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grpSp>
        <p:nvGrpSpPr>
          <p:cNvPr id="32" name="Group 22"/>
          <p:cNvGrpSpPr>
            <a:grpSpLocks/>
          </p:cNvGrpSpPr>
          <p:nvPr/>
        </p:nvGrpSpPr>
        <p:grpSpPr bwMode="auto">
          <a:xfrm>
            <a:off x="4140200" y="3573463"/>
            <a:ext cx="1582738" cy="2357437"/>
            <a:chOff x="2608" y="2251"/>
            <a:chExt cx="997" cy="1485"/>
          </a:xfrm>
        </p:grpSpPr>
        <p:sp>
          <p:nvSpPr>
            <p:cNvPr id="33" name="Line 18"/>
            <p:cNvSpPr>
              <a:spLocks noChangeShapeType="1"/>
            </p:cNvSpPr>
            <p:nvPr/>
          </p:nvSpPr>
          <p:spPr bwMode="auto">
            <a:xfrm>
              <a:off x="2880" y="2251"/>
              <a:ext cx="0" cy="952"/>
            </a:xfrm>
            <a:prstGeom prst="line">
              <a:avLst/>
            </a:prstGeom>
            <a:noFill/>
            <a:ln w="9525">
              <a:solidFill>
                <a:schemeClr val="accent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34" name="Text Box 19"/>
            <p:cNvSpPr txBox="1">
              <a:spLocks noChangeArrowheads="1"/>
            </p:cNvSpPr>
            <p:nvPr/>
          </p:nvSpPr>
          <p:spPr bwMode="auto">
            <a:xfrm>
              <a:off x="2608" y="3294"/>
              <a:ext cx="680" cy="44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solidFill>
                    <a:schemeClr val="accent1"/>
                  </a:solidFill>
                </a:rPr>
                <a:t>    Y</a:t>
              </a:r>
              <a:r>
                <a:rPr lang="en-US" altLang="zh-CN" sz="2000" baseline="-25000" dirty="0">
                  <a:solidFill>
                    <a:schemeClr val="accent1"/>
                  </a:solidFill>
                </a:rPr>
                <a:t>0</a:t>
              </a:r>
              <a:r>
                <a:rPr lang="zh-CN" altLang="en-US" sz="2000" dirty="0">
                  <a:solidFill>
                    <a:schemeClr val="accent1"/>
                  </a:solidFill>
                </a:rPr>
                <a:t>（</a:t>
              </a:r>
              <a:r>
                <a:rPr lang="en-US" altLang="zh-CN" sz="2000" dirty="0">
                  <a:solidFill>
                    <a:schemeClr val="accent1"/>
                  </a:solidFill>
                </a:rPr>
                <a:t>Y*</a:t>
              </a:r>
              <a:r>
                <a:rPr lang="zh-CN" altLang="en-US" sz="2000" dirty="0">
                  <a:solidFill>
                    <a:schemeClr val="accent1"/>
                  </a:solidFill>
                </a:rPr>
                <a:t>）</a:t>
              </a:r>
            </a:p>
          </p:txBody>
        </p:sp>
        <p:sp>
          <p:nvSpPr>
            <p:cNvPr id="35" name="Line 20"/>
            <p:cNvSpPr>
              <a:spLocks noChangeShapeType="1"/>
            </p:cNvSpPr>
            <p:nvPr/>
          </p:nvSpPr>
          <p:spPr bwMode="auto">
            <a:xfrm>
              <a:off x="3198" y="2478"/>
              <a:ext cx="0" cy="771"/>
            </a:xfrm>
            <a:prstGeom prst="line">
              <a:avLst/>
            </a:prstGeom>
            <a:noFill/>
            <a:ln w="9525">
              <a:solidFill>
                <a:schemeClr val="accent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36" name="Text Box 21"/>
            <p:cNvSpPr txBox="1">
              <a:spLocks noChangeArrowheads="1"/>
            </p:cNvSpPr>
            <p:nvPr/>
          </p:nvSpPr>
          <p:spPr bwMode="auto">
            <a:xfrm>
              <a:off x="2925" y="3294"/>
              <a:ext cx="680" cy="2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solidFill>
                    <a:schemeClr val="accent1"/>
                  </a:solidFill>
                </a:rPr>
                <a:t>    Y’</a:t>
              </a:r>
            </a:p>
          </p:txBody>
        </p:sp>
      </p:grpSp>
    </p:spTree>
    <p:extLst>
      <p:ext uri="{BB962C8B-B14F-4D97-AF65-F5344CB8AC3E}">
        <p14:creationId xmlns:p14="http://schemas.microsoft.com/office/powerpoint/2010/main" val="2292099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2" fill="hold" grpId="0" nodeType="clickEffect">
                                  <p:stCondLst>
                                    <p:cond delay="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500" fill="hold"/>
                                        <p:tgtEl>
                                          <p:spTgt spid="31"/>
                                        </p:tgtEl>
                                        <p:attrNameLst>
                                          <p:attrName>ppt_x</p:attrName>
                                        </p:attrNameLst>
                                      </p:cBhvr>
                                      <p:tavLst>
                                        <p:tav tm="0">
                                          <p:val>
                                            <p:strVal val="1+#ppt_w/2"/>
                                          </p:val>
                                        </p:tav>
                                        <p:tav tm="100000">
                                          <p:val>
                                            <p:strVal val="#ppt_x"/>
                                          </p:val>
                                        </p:tav>
                                      </p:tavLst>
                                    </p:anim>
                                    <p:anim calcmode="lin" valueType="num">
                                      <p:cBhvr additive="base">
                                        <p:cTn id="12" dur="500" fill="hold"/>
                                        <p:tgtEl>
                                          <p:spTgt spid="31"/>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400" dirty="0"/>
              <a:t>固定汇率制下，扩张的财政</a:t>
            </a:r>
            <a:r>
              <a:rPr lang="zh-CN" altLang="en-US" sz="2400" dirty="0" smtClean="0"/>
              <a:t>政策（</a:t>
            </a:r>
            <a:r>
              <a:rPr lang="zh-CN" altLang="en-US" sz="2400" dirty="0"/>
              <a:t>资本不流动）</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58" name="Line 2"/>
          <p:cNvSpPr>
            <a:spLocks noChangeShapeType="1"/>
          </p:cNvSpPr>
          <p:nvPr/>
        </p:nvSpPr>
        <p:spPr bwMode="auto">
          <a:xfrm flipV="1">
            <a:off x="2411413" y="1628775"/>
            <a:ext cx="0" cy="3529013"/>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59" name="Line 3"/>
          <p:cNvSpPr>
            <a:spLocks noChangeShapeType="1"/>
          </p:cNvSpPr>
          <p:nvPr/>
        </p:nvSpPr>
        <p:spPr bwMode="auto">
          <a:xfrm>
            <a:off x="2411413" y="5157788"/>
            <a:ext cx="4465637" cy="0"/>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60" name="Line 4"/>
          <p:cNvSpPr>
            <a:spLocks noChangeShapeType="1"/>
          </p:cNvSpPr>
          <p:nvPr/>
        </p:nvSpPr>
        <p:spPr bwMode="auto">
          <a:xfrm>
            <a:off x="3203575" y="2492375"/>
            <a:ext cx="2663825" cy="2087563"/>
          </a:xfrm>
          <a:prstGeom prst="line">
            <a:avLst/>
          </a:prstGeom>
          <a:noFill/>
          <a:ln w="3175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61" name="Line 5"/>
          <p:cNvSpPr>
            <a:spLocks noChangeShapeType="1"/>
          </p:cNvSpPr>
          <p:nvPr/>
        </p:nvSpPr>
        <p:spPr bwMode="auto">
          <a:xfrm flipV="1">
            <a:off x="3203575" y="2492375"/>
            <a:ext cx="2952750" cy="2016125"/>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62" name="Line 6"/>
          <p:cNvSpPr>
            <a:spLocks noChangeShapeType="1"/>
          </p:cNvSpPr>
          <p:nvPr/>
        </p:nvSpPr>
        <p:spPr bwMode="auto">
          <a:xfrm>
            <a:off x="4572000" y="2062163"/>
            <a:ext cx="0" cy="2879725"/>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63" name="Text Box 7"/>
          <p:cNvSpPr txBox="1">
            <a:spLocks noChangeArrowheads="1"/>
          </p:cNvSpPr>
          <p:nvPr/>
        </p:nvSpPr>
        <p:spPr bwMode="auto">
          <a:xfrm>
            <a:off x="1763713" y="1484313"/>
            <a:ext cx="5048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i</a:t>
            </a:r>
          </a:p>
        </p:txBody>
      </p:sp>
      <p:sp>
        <p:nvSpPr>
          <p:cNvPr id="64" name="Text Box 8"/>
          <p:cNvSpPr txBox="1">
            <a:spLocks noChangeArrowheads="1"/>
          </p:cNvSpPr>
          <p:nvPr/>
        </p:nvSpPr>
        <p:spPr bwMode="auto">
          <a:xfrm>
            <a:off x="6875463" y="4926013"/>
            <a:ext cx="5048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Y</a:t>
            </a:r>
          </a:p>
        </p:txBody>
      </p:sp>
      <p:sp>
        <p:nvSpPr>
          <p:cNvPr id="65" name="Text Box 9"/>
          <p:cNvSpPr txBox="1">
            <a:spLocks noChangeArrowheads="1"/>
          </p:cNvSpPr>
          <p:nvPr/>
        </p:nvSpPr>
        <p:spPr bwMode="auto">
          <a:xfrm>
            <a:off x="6227763" y="2133600"/>
            <a:ext cx="720725" cy="5191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LM</a:t>
            </a:r>
          </a:p>
        </p:txBody>
      </p:sp>
      <p:sp>
        <p:nvSpPr>
          <p:cNvPr id="66" name="Text Box 10"/>
          <p:cNvSpPr txBox="1">
            <a:spLocks noChangeArrowheads="1"/>
          </p:cNvSpPr>
          <p:nvPr/>
        </p:nvSpPr>
        <p:spPr bwMode="auto">
          <a:xfrm>
            <a:off x="4427538" y="1341438"/>
            <a:ext cx="7207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BP</a:t>
            </a:r>
          </a:p>
        </p:txBody>
      </p:sp>
      <p:sp>
        <p:nvSpPr>
          <p:cNvPr id="67" name="Text Box 11"/>
          <p:cNvSpPr txBox="1">
            <a:spLocks noChangeArrowheads="1"/>
          </p:cNvSpPr>
          <p:nvPr/>
        </p:nvSpPr>
        <p:spPr bwMode="auto">
          <a:xfrm>
            <a:off x="5940425" y="4508500"/>
            <a:ext cx="647700" cy="5191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IS</a:t>
            </a:r>
          </a:p>
        </p:txBody>
      </p:sp>
      <p:sp>
        <p:nvSpPr>
          <p:cNvPr id="68" name="Text Box 12"/>
          <p:cNvSpPr txBox="1">
            <a:spLocks noChangeArrowheads="1"/>
          </p:cNvSpPr>
          <p:nvPr/>
        </p:nvSpPr>
        <p:spPr bwMode="auto">
          <a:xfrm>
            <a:off x="1979613" y="4941888"/>
            <a:ext cx="5048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O</a:t>
            </a:r>
          </a:p>
        </p:txBody>
      </p:sp>
      <p:grpSp>
        <p:nvGrpSpPr>
          <p:cNvPr id="69" name="Group 16"/>
          <p:cNvGrpSpPr>
            <a:grpSpLocks/>
          </p:cNvGrpSpPr>
          <p:nvPr/>
        </p:nvGrpSpPr>
        <p:grpSpPr bwMode="auto">
          <a:xfrm>
            <a:off x="3708400" y="2060575"/>
            <a:ext cx="2879725" cy="2232025"/>
            <a:chOff x="2336" y="1298"/>
            <a:chExt cx="1678" cy="1315"/>
          </a:xfrm>
        </p:grpSpPr>
        <p:sp>
          <p:nvSpPr>
            <p:cNvPr id="70" name="Line 14"/>
            <p:cNvSpPr>
              <a:spLocks noChangeShapeType="1"/>
            </p:cNvSpPr>
            <p:nvPr/>
          </p:nvSpPr>
          <p:spPr bwMode="auto">
            <a:xfrm>
              <a:off x="2336" y="1298"/>
              <a:ext cx="1678" cy="1315"/>
            </a:xfrm>
            <a:prstGeom prst="line">
              <a:avLst/>
            </a:prstGeom>
            <a:noFill/>
            <a:ln w="31750">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71" name="Line 15"/>
            <p:cNvSpPr>
              <a:spLocks noChangeShapeType="1"/>
            </p:cNvSpPr>
            <p:nvPr/>
          </p:nvSpPr>
          <p:spPr bwMode="auto">
            <a:xfrm flipV="1">
              <a:off x="3379" y="2523"/>
              <a:ext cx="408" cy="45"/>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grpSp>
      <p:grpSp>
        <p:nvGrpSpPr>
          <p:cNvPr id="72" name="Group 19"/>
          <p:cNvGrpSpPr>
            <a:grpSpLocks/>
          </p:cNvGrpSpPr>
          <p:nvPr/>
        </p:nvGrpSpPr>
        <p:grpSpPr bwMode="auto">
          <a:xfrm>
            <a:off x="2627313" y="2060575"/>
            <a:ext cx="3024187" cy="2016125"/>
            <a:chOff x="1655" y="1298"/>
            <a:chExt cx="1905" cy="1270"/>
          </a:xfrm>
        </p:grpSpPr>
        <p:sp>
          <p:nvSpPr>
            <p:cNvPr id="73" name="Line 17"/>
            <p:cNvSpPr>
              <a:spLocks noChangeShapeType="1"/>
            </p:cNvSpPr>
            <p:nvPr/>
          </p:nvSpPr>
          <p:spPr bwMode="auto">
            <a:xfrm flipV="1">
              <a:off x="1655" y="1298"/>
              <a:ext cx="1860" cy="1270"/>
            </a:xfrm>
            <a:prstGeom prst="line">
              <a:avLst/>
            </a:prstGeom>
            <a:noFill/>
            <a:ln w="28575">
              <a:solidFill>
                <a:srgbClr val="00B05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74" name="Line 18"/>
            <p:cNvSpPr>
              <a:spLocks noChangeShapeType="1"/>
            </p:cNvSpPr>
            <p:nvPr/>
          </p:nvSpPr>
          <p:spPr bwMode="auto">
            <a:xfrm flipH="1">
              <a:off x="3107" y="1616"/>
              <a:ext cx="453"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grpSp>
      <p:grpSp>
        <p:nvGrpSpPr>
          <p:cNvPr id="75" name="Group 25"/>
          <p:cNvGrpSpPr>
            <a:grpSpLocks/>
          </p:cNvGrpSpPr>
          <p:nvPr/>
        </p:nvGrpSpPr>
        <p:grpSpPr bwMode="auto">
          <a:xfrm>
            <a:off x="4140200" y="3213100"/>
            <a:ext cx="1679575" cy="2717800"/>
            <a:chOff x="2608" y="2024"/>
            <a:chExt cx="1058" cy="1712"/>
          </a:xfrm>
        </p:grpSpPr>
        <p:sp>
          <p:nvSpPr>
            <p:cNvPr id="76" name="Text Box 22"/>
            <p:cNvSpPr txBox="1">
              <a:spLocks noChangeArrowheads="1"/>
            </p:cNvSpPr>
            <p:nvPr/>
          </p:nvSpPr>
          <p:spPr bwMode="auto">
            <a:xfrm>
              <a:off x="2608" y="3294"/>
              <a:ext cx="680" cy="44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solidFill>
                    <a:schemeClr val="accent1"/>
                  </a:solidFill>
                </a:rPr>
                <a:t>    Y</a:t>
              </a:r>
              <a:r>
                <a:rPr lang="en-US" altLang="zh-CN" sz="2000" baseline="-25000" dirty="0">
                  <a:solidFill>
                    <a:schemeClr val="accent1"/>
                  </a:solidFill>
                </a:rPr>
                <a:t>0</a:t>
              </a:r>
              <a:r>
                <a:rPr lang="zh-CN" altLang="en-US" sz="2000" dirty="0">
                  <a:solidFill>
                    <a:schemeClr val="accent1"/>
                  </a:solidFill>
                </a:rPr>
                <a:t>（</a:t>
              </a:r>
              <a:r>
                <a:rPr lang="en-US" altLang="zh-CN" sz="2000" dirty="0">
                  <a:solidFill>
                    <a:schemeClr val="accent1"/>
                  </a:solidFill>
                </a:rPr>
                <a:t>Y*</a:t>
              </a:r>
              <a:r>
                <a:rPr lang="zh-CN" altLang="en-US" sz="2000" dirty="0">
                  <a:solidFill>
                    <a:schemeClr val="accent1"/>
                  </a:solidFill>
                </a:rPr>
                <a:t>）</a:t>
              </a:r>
            </a:p>
          </p:txBody>
        </p:sp>
        <p:sp>
          <p:nvSpPr>
            <p:cNvPr id="77" name="Line 23"/>
            <p:cNvSpPr>
              <a:spLocks noChangeShapeType="1"/>
            </p:cNvSpPr>
            <p:nvPr/>
          </p:nvSpPr>
          <p:spPr bwMode="auto">
            <a:xfrm>
              <a:off x="3242" y="2024"/>
              <a:ext cx="1" cy="1225"/>
            </a:xfrm>
            <a:prstGeom prst="line">
              <a:avLst/>
            </a:prstGeom>
            <a:noFill/>
            <a:ln w="9525">
              <a:solidFill>
                <a:schemeClr val="accent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78" name="Text Box 24"/>
            <p:cNvSpPr txBox="1">
              <a:spLocks noChangeArrowheads="1"/>
            </p:cNvSpPr>
            <p:nvPr/>
          </p:nvSpPr>
          <p:spPr bwMode="auto">
            <a:xfrm>
              <a:off x="2986" y="3294"/>
              <a:ext cx="680" cy="2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solidFill>
                    <a:schemeClr val="accent1"/>
                  </a:solidFill>
                </a:rPr>
                <a:t>    Y’</a:t>
              </a:r>
            </a:p>
          </p:txBody>
        </p:sp>
      </p:grpSp>
    </p:spTree>
    <p:extLst>
      <p:ext uri="{BB962C8B-B14F-4D97-AF65-F5344CB8AC3E}">
        <p14:creationId xmlns:p14="http://schemas.microsoft.com/office/powerpoint/2010/main" val="2767180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9"/>
                                        </p:tgtEl>
                                        <p:attrNameLst>
                                          <p:attrName>style.visibility</p:attrName>
                                        </p:attrNameLst>
                                      </p:cBhvr>
                                      <p:to>
                                        <p:strVal val="visible"/>
                                      </p:to>
                                    </p:set>
                                    <p:anim calcmode="lin" valueType="num">
                                      <p:cBhvr additive="base">
                                        <p:cTn id="7" dur="500" fill="hold"/>
                                        <p:tgtEl>
                                          <p:spTgt spid="69"/>
                                        </p:tgtEl>
                                        <p:attrNameLst>
                                          <p:attrName>ppt_x</p:attrName>
                                        </p:attrNameLst>
                                      </p:cBhvr>
                                      <p:tavLst>
                                        <p:tav tm="0">
                                          <p:val>
                                            <p:strVal val="0-#ppt_w/2"/>
                                          </p:val>
                                        </p:tav>
                                        <p:tav tm="100000">
                                          <p:val>
                                            <p:strVal val="#ppt_x"/>
                                          </p:val>
                                        </p:tav>
                                      </p:tavLst>
                                    </p:anim>
                                    <p:anim calcmode="lin" valueType="num">
                                      <p:cBhvr additive="base">
                                        <p:cTn id="8" dur="500" fill="hold"/>
                                        <p:tgtEl>
                                          <p:spTgt spid="6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72"/>
                                        </p:tgtEl>
                                        <p:attrNameLst>
                                          <p:attrName>style.visibility</p:attrName>
                                        </p:attrNameLst>
                                      </p:cBhvr>
                                      <p:to>
                                        <p:strVal val="visible"/>
                                      </p:to>
                                    </p:set>
                                    <p:anim calcmode="lin" valueType="num">
                                      <p:cBhvr additive="base">
                                        <p:cTn id="13" dur="500" fill="hold"/>
                                        <p:tgtEl>
                                          <p:spTgt spid="72"/>
                                        </p:tgtEl>
                                        <p:attrNameLst>
                                          <p:attrName>ppt_x</p:attrName>
                                        </p:attrNameLst>
                                      </p:cBhvr>
                                      <p:tavLst>
                                        <p:tav tm="0">
                                          <p:val>
                                            <p:strVal val="1+#ppt_w/2"/>
                                          </p:val>
                                        </p:tav>
                                        <p:tav tm="100000">
                                          <p:val>
                                            <p:strVal val="#ppt_x"/>
                                          </p:val>
                                        </p:tav>
                                      </p:tavLst>
                                    </p:anim>
                                    <p:anim calcmode="lin" valueType="num">
                                      <p:cBhvr additive="base">
                                        <p:cTn id="14" dur="500" fill="hold"/>
                                        <p:tgtEl>
                                          <p:spTgt spid="7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400" dirty="0"/>
              <a:t>固定汇率制下，扩张的财政</a:t>
            </a:r>
            <a:r>
              <a:rPr lang="zh-CN" altLang="en-US" sz="2400" dirty="0" smtClean="0"/>
              <a:t>政策（</a:t>
            </a:r>
            <a:r>
              <a:rPr lang="zh-CN" altLang="en-US" sz="2400" dirty="0"/>
              <a:t>资本流动程度低）</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25" name="Line 2"/>
          <p:cNvSpPr>
            <a:spLocks noChangeShapeType="1"/>
          </p:cNvSpPr>
          <p:nvPr/>
        </p:nvSpPr>
        <p:spPr bwMode="auto">
          <a:xfrm flipV="1">
            <a:off x="2411413" y="1628775"/>
            <a:ext cx="0" cy="3529013"/>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26" name="Line 3"/>
          <p:cNvSpPr>
            <a:spLocks noChangeShapeType="1"/>
          </p:cNvSpPr>
          <p:nvPr/>
        </p:nvSpPr>
        <p:spPr bwMode="auto">
          <a:xfrm>
            <a:off x="2411413" y="5157788"/>
            <a:ext cx="4465637" cy="0"/>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27" name="Line 4"/>
          <p:cNvSpPr>
            <a:spLocks noChangeShapeType="1"/>
          </p:cNvSpPr>
          <p:nvPr/>
        </p:nvSpPr>
        <p:spPr bwMode="auto">
          <a:xfrm>
            <a:off x="3203575" y="2492375"/>
            <a:ext cx="2663825" cy="2087563"/>
          </a:xfrm>
          <a:prstGeom prst="line">
            <a:avLst/>
          </a:prstGeom>
          <a:noFill/>
          <a:ln w="3175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28" name="Line 5"/>
          <p:cNvSpPr>
            <a:spLocks noChangeShapeType="1"/>
          </p:cNvSpPr>
          <p:nvPr/>
        </p:nvSpPr>
        <p:spPr bwMode="auto">
          <a:xfrm flipV="1">
            <a:off x="3203575" y="2492375"/>
            <a:ext cx="2952750" cy="2016125"/>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29" name="Line 6"/>
          <p:cNvSpPr>
            <a:spLocks noChangeShapeType="1"/>
          </p:cNvSpPr>
          <p:nvPr/>
        </p:nvSpPr>
        <p:spPr bwMode="auto">
          <a:xfrm flipH="1">
            <a:off x="4140200" y="1916113"/>
            <a:ext cx="1079500" cy="2808287"/>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30" name="Text Box 7"/>
          <p:cNvSpPr txBox="1">
            <a:spLocks noChangeArrowheads="1"/>
          </p:cNvSpPr>
          <p:nvPr/>
        </p:nvSpPr>
        <p:spPr bwMode="auto">
          <a:xfrm>
            <a:off x="1763713" y="1484313"/>
            <a:ext cx="5048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i</a:t>
            </a:r>
          </a:p>
        </p:txBody>
      </p:sp>
      <p:sp>
        <p:nvSpPr>
          <p:cNvPr id="31" name="Text Box 8"/>
          <p:cNvSpPr txBox="1">
            <a:spLocks noChangeArrowheads="1"/>
          </p:cNvSpPr>
          <p:nvPr/>
        </p:nvSpPr>
        <p:spPr bwMode="auto">
          <a:xfrm>
            <a:off x="6875463" y="4926013"/>
            <a:ext cx="5048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Y</a:t>
            </a:r>
          </a:p>
        </p:txBody>
      </p:sp>
      <p:sp>
        <p:nvSpPr>
          <p:cNvPr id="32" name="Text Box 9"/>
          <p:cNvSpPr txBox="1">
            <a:spLocks noChangeArrowheads="1"/>
          </p:cNvSpPr>
          <p:nvPr/>
        </p:nvSpPr>
        <p:spPr bwMode="auto">
          <a:xfrm>
            <a:off x="6227763" y="2133600"/>
            <a:ext cx="720725" cy="5191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LM</a:t>
            </a:r>
          </a:p>
        </p:txBody>
      </p:sp>
      <p:sp>
        <p:nvSpPr>
          <p:cNvPr id="33" name="Text Box 10"/>
          <p:cNvSpPr txBox="1">
            <a:spLocks noChangeArrowheads="1"/>
          </p:cNvSpPr>
          <p:nvPr/>
        </p:nvSpPr>
        <p:spPr bwMode="auto">
          <a:xfrm>
            <a:off x="5148263" y="1341438"/>
            <a:ext cx="7207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BP</a:t>
            </a:r>
          </a:p>
        </p:txBody>
      </p:sp>
      <p:sp>
        <p:nvSpPr>
          <p:cNvPr id="34" name="Text Box 11"/>
          <p:cNvSpPr txBox="1">
            <a:spLocks noChangeArrowheads="1"/>
          </p:cNvSpPr>
          <p:nvPr/>
        </p:nvSpPr>
        <p:spPr bwMode="auto">
          <a:xfrm>
            <a:off x="5940425" y="4508500"/>
            <a:ext cx="647700" cy="5191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IS</a:t>
            </a:r>
          </a:p>
        </p:txBody>
      </p:sp>
      <p:sp>
        <p:nvSpPr>
          <p:cNvPr id="35" name="Text Box 12"/>
          <p:cNvSpPr txBox="1">
            <a:spLocks noChangeArrowheads="1"/>
          </p:cNvSpPr>
          <p:nvPr/>
        </p:nvSpPr>
        <p:spPr bwMode="auto">
          <a:xfrm>
            <a:off x="1979613" y="4941888"/>
            <a:ext cx="5048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O</a:t>
            </a:r>
          </a:p>
        </p:txBody>
      </p:sp>
      <p:grpSp>
        <p:nvGrpSpPr>
          <p:cNvPr id="36" name="Group 20"/>
          <p:cNvGrpSpPr>
            <a:grpSpLocks/>
          </p:cNvGrpSpPr>
          <p:nvPr/>
        </p:nvGrpSpPr>
        <p:grpSpPr bwMode="auto">
          <a:xfrm>
            <a:off x="3563938" y="1989138"/>
            <a:ext cx="2808287" cy="2087562"/>
            <a:chOff x="2245" y="1253"/>
            <a:chExt cx="1769" cy="1315"/>
          </a:xfrm>
        </p:grpSpPr>
        <p:sp>
          <p:nvSpPr>
            <p:cNvPr id="37" name="Line 18"/>
            <p:cNvSpPr>
              <a:spLocks noChangeShapeType="1"/>
            </p:cNvSpPr>
            <p:nvPr/>
          </p:nvSpPr>
          <p:spPr bwMode="auto">
            <a:xfrm>
              <a:off x="2336" y="1253"/>
              <a:ext cx="1678" cy="1315"/>
            </a:xfrm>
            <a:prstGeom prst="line">
              <a:avLst/>
            </a:prstGeom>
            <a:noFill/>
            <a:ln w="31750">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38" name="Line 19"/>
            <p:cNvSpPr>
              <a:spLocks noChangeShapeType="1"/>
            </p:cNvSpPr>
            <p:nvPr/>
          </p:nvSpPr>
          <p:spPr bwMode="auto">
            <a:xfrm>
              <a:off x="2245" y="1616"/>
              <a:ext cx="499"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grpSp>
      <p:grpSp>
        <p:nvGrpSpPr>
          <p:cNvPr id="39" name="Group 23"/>
          <p:cNvGrpSpPr>
            <a:grpSpLocks/>
          </p:cNvGrpSpPr>
          <p:nvPr/>
        </p:nvGrpSpPr>
        <p:grpSpPr bwMode="auto">
          <a:xfrm>
            <a:off x="2987675" y="2133600"/>
            <a:ext cx="2952750" cy="2016125"/>
            <a:chOff x="1882" y="1344"/>
            <a:chExt cx="1860" cy="1270"/>
          </a:xfrm>
        </p:grpSpPr>
        <p:sp>
          <p:nvSpPr>
            <p:cNvPr id="40" name="Line 21"/>
            <p:cNvSpPr>
              <a:spLocks noChangeShapeType="1"/>
            </p:cNvSpPr>
            <p:nvPr/>
          </p:nvSpPr>
          <p:spPr bwMode="auto">
            <a:xfrm flipV="1">
              <a:off x="1882" y="1344"/>
              <a:ext cx="1860" cy="1270"/>
            </a:xfrm>
            <a:prstGeom prst="line">
              <a:avLst/>
            </a:prstGeom>
            <a:noFill/>
            <a:ln w="28575">
              <a:solidFill>
                <a:srgbClr val="00B05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41" name="Line 22"/>
            <p:cNvSpPr>
              <a:spLocks noChangeShapeType="1"/>
            </p:cNvSpPr>
            <p:nvPr/>
          </p:nvSpPr>
          <p:spPr bwMode="auto">
            <a:xfrm flipH="1">
              <a:off x="3243" y="1706"/>
              <a:ext cx="363"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grpSp>
      <p:grpSp>
        <p:nvGrpSpPr>
          <p:cNvPr id="42" name="Group 31"/>
          <p:cNvGrpSpPr>
            <a:grpSpLocks/>
          </p:cNvGrpSpPr>
          <p:nvPr/>
        </p:nvGrpSpPr>
        <p:grpSpPr bwMode="auto">
          <a:xfrm>
            <a:off x="3779838" y="2924175"/>
            <a:ext cx="1871662" cy="2701925"/>
            <a:chOff x="2381" y="1842"/>
            <a:chExt cx="1179" cy="1702"/>
          </a:xfrm>
        </p:grpSpPr>
        <p:sp>
          <p:nvSpPr>
            <p:cNvPr id="43" name="Line 25"/>
            <p:cNvSpPr>
              <a:spLocks noChangeShapeType="1"/>
            </p:cNvSpPr>
            <p:nvPr/>
          </p:nvSpPr>
          <p:spPr bwMode="auto">
            <a:xfrm>
              <a:off x="2880" y="2251"/>
              <a:ext cx="0" cy="952"/>
            </a:xfrm>
            <a:prstGeom prst="line">
              <a:avLst/>
            </a:prstGeom>
            <a:noFill/>
            <a:ln w="9525">
              <a:solidFill>
                <a:schemeClr val="accent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44" name="Text Box 26"/>
            <p:cNvSpPr txBox="1">
              <a:spLocks noChangeArrowheads="1"/>
            </p:cNvSpPr>
            <p:nvPr/>
          </p:nvSpPr>
          <p:spPr bwMode="auto">
            <a:xfrm>
              <a:off x="2381" y="3294"/>
              <a:ext cx="726" cy="2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solidFill>
                    <a:schemeClr val="accent1"/>
                  </a:solidFill>
                </a:rPr>
                <a:t>        Y</a:t>
              </a:r>
              <a:r>
                <a:rPr lang="en-US" altLang="zh-CN" sz="2000" baseline="-25000" dirty="0">
                  <a:solidFill>
                    <a:schemeClr val="accent1"/>
                  </a:solidFill>
                </a:rPr>
                <a:t>0</a:t>
              </a:r>
              <a:endParaRPr lang="en-US" altLang="zh-CN" sz="2000" dirty="0">
                <a:solidFill>
                  <a:schemeClr val="accent1"/>
                </a:solidFill>
              </a:endParaRPr>
            </a:p>
          </p:txBody>
        </p:sp>
        <p:sp>
          <p:nvSpPr>
            <p:cNvPr id="45" name="Line 27"/>
            <p:cNvSpPr>
              <a:spLocks noChangeShapeType="1"/>
            </p:cNvSpPr>
            <p:nvPr/>
          </p:nvSpPr>
          <p:spPr bwMode="auto">
            <a:xfrm>
              <a:off x="3288" y="2024"/>
              <a:ext cx="0" cy="1225"/>
            </a:xfrm>
            <a:prstGeom prst="line">
              <a:avLst/>
            </a:prstGeom>
            <a:noFill/>
            <a:ln w="9525">
              <a:solidFill>
                <a:schemeClr val="accent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46" name="Text Box 28"/>
            <p:cNvSpPr txBox="1">
              <a:spLocks noChangeArrowheads="1"/>
            </p:cNvSpPr>
            <p:nvPr/>
          </p:nvSpPr>
          <p:spPr bwMode="auto">
            <a:xfrm>
              <a:off x="3016" y="3294"/>
              <a:ext cx="544" cy="2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solidFill>
                    <a:schemeClr val="accent1"/>
                  </a:solidFill>
                </a:rPr>
                <a:t>    Y’</a:t>
              </a:r>
            </a:p>
          </p:txBody>
        </p:sp>
        <p:sp>
          <p:nvSpPr>
            <p:cNvPr id="47" name="Line 29"/>
            <p:cNvSpPr>
              <a:spLocks noChangeShapeType="1"/>
            </p:cNvSpPr>
            <p:nvPr/>
          </p:nvSpPr>
          <p:spPr bwMode="auto">
            <a:xfrm>
              <a:off x="3061" y="1842"/>
              <a:ext cx="0" cy="1361"/>
            </a:xfrm>
            <a:prstGeom prst="line">
              <a:avLst/>
            </a:prstGeom>
            <a:noFill/>
            <a:ln w="9525">
              <a:solidFill>
                <a:schemeClr val="accent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48" name="Text Box 30"/>
            <p:cNvSpPr txBox="1">
              <a:spLocks noChangeArrowheads="1"/>
            </p:cNvSpPr>
            <p:nvPr/>
          </p:nvSpPr>
          <p:spPr bwMode="auto">
            <a:xfrm>
              <a:off x="2744" y="3294"/>
              <a:ext cx="499" cy="2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solidFill>
                    <a:schemeClr val="accent1"/>
                  </a:solidFill>
                </a:rPr>
                <a:t>    Y*</a:t>
              </a:r>
            </a:p>
          </p:txBody>
        </p:sp>
      </p:grpSp>
    </p:spTree>
    <p:extLst>
      <p:ext uri="{BB962C8B-B14F-4D97-AF65-F5344CB8AC3E}">
        <p14:creationId xmlns:p14="http://schemas.microsoft.com/office/powerpoint/2010/main" val="412466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500" fill="hold"/>
                                        <p:tgtEl>
                                          <p:spTgt spid="36"/>
                                        </p:tgtEl>
                                        <p:attrNameLst>
                                          <p:attrName>ppt_x</p:attrName>
                                        </p:attrNameLst>
                                      </p:cBhvr>
                                      <p:tavLst>
                                        <p:tav tm="0">
                                          <p:val>
                                            <p:strVal val="0-#ppt_w/2"/>
                                          </p:val>
                                        </p:tav>
                                        <p:tav tm="100000">
                                          <p:val>
                                            <p:strVal val="#ppt_x"/>
                                          </p:val>
                                        </p:tav>
                                      </p:tavLst>
                                    </p:anim>
                                    <p:anim calcmode="lin" valueType="num">
                                      <p:cBhvr additive="base">
                                        <p:cTn id="8" dur="500" fill="hold"/>
                                        <p:tgtEl>
                                          <p:spTgt spid="3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39"/>
                                        </p:tgtEl>
                                        <p:attrNameLst>
                                          <p:attrName>style.visibility</p:attrName>
                                        </p:attrNameLst>
                                      </p:cBhvr>
                                      <p:to>
                                        <p:strVal val="visible"/>
                                      </p:to>
                                    </p:set>
                                    <p:anim calcmode="lin" valueType="num">
                                      <p:cBhvr additive="base">
                                        <p:cTn id="13" dur="500" fill="hold"/>
                                        <p:tgtEl>
                                          <p:spTgt spid="39"/>
                                        </p:tgtEl>
                                        <p:attrNameLst>
                                          <p:attrName>ppt_x</p:attrName>
                                        </p:attrNameLst>
                                      </p:cBhvr>
                                      <p:tavLst>
                                        <p:tav tm="0">
                                          <p:val>
                                            <p:strVal val="1+#ppt_w/2"/>
                                          </p:val>
                                        </p:tav>
                                        <p:tav tm="100000">
                                          <p:val>
                                            <p:strVal val="#ppt_x"/>
                                          </p:val>
                                        </p:tav>
                                      </p:tavLst>
                                    </p:anim>
                                    <p:anim calcmode="lin" valueType="num">
                                      <p:cBhvr additive="base">
                                        <p:cTn id="14" dur="500" fill="hold"/>
                                        <p:tgtEl>
                                          <p:spTgt spid="3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ctr"/>
            <a:r>
              <a:rPr lang="zh-CN" altLang="en-US" sz="2400" dirty="0"/>
              <a:t>固定汇率制下，扩张的财政政策</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49" name="Line 2"/>
          <p:cNvSpPr>
            <a:spLocks noChangeShapeType="1"/>
          </p:cNvSpPr>
          <p:nvPr/>
        </p:nvSpPr>
        <p:spPr bwMode="auto">
          <a:xfrm flipV="1">
            <a:off x="2411413" y="1628775"/>
            <a:ext cx="0" cy="3529013"/>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50" name="Line 3"/>
          <p:cNvSpPr>
            <a:spLocks noChangeShapeType="1"/>
          </p:cNvSpPr>
          <p:nvPr/>
        </p:nvSpPr>
        <p:spPr bwMode="auto">
          <a:xfrm>
            <a:off x="2411413" y="5157788"/>
            <a:ext cx="4465637" cy="0"/>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51" name="Line 4"/>
          <p:cNvSpPr>
            <a:spLocks noChangeShapeType="1"/>
          </p:cNvSpPr>
          <p:nvPr/>
        </p:nvSpPr>
        <p:spPr bwMode="auto">
          <a:xfrm>
            <a:off x="3203575" y="2492375"/>
            <a:ext cx="2663825" cy="2087563"/>
          </a:xfrm>
          <a:prstGeom prst="line">
            <a:avLst/>
          </a:prstGeom>
          <a:noFill/>
          <a:ln w="3175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52" name="Line 5"/>
          <p:cNvSpPr>
            <a:spLocks noChangeShapeType="1"/>
          </p:cNvSpPr>
          <p:nvPr/>
        </p:nvSpPr>
        <p:spPr bwMode="auto">
          <a:xfrm flipV="1">
            <a:off x="3203575" y="2492375"/>
            <a:ext cx="2952750" cy="2016125"/>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53" name="Text Box 7"/>
          <p:cNvSpPr txBox="1">
            <a:spLocks noChangeArrowheads="1"/>
          </p:cNvSpPr>
          <p:nvPr/>
        </p:nvSpPr>
        <p:spPr bwMode="auto">
          <a:xfrm>
            <a:off x="1763713" y="1484313"/>
            <a:ext cx="5048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dirty="0" err="1" smtClean="0">
                <a:solidFill>
                  <a:schemeClr val="accent1"/>
                </a:solidFill>
              </a:rPr>
              <a:t>i</a:t>
            </a:r>
            <a:endParaRPr lang="en-US" altLang="zh-CN" sz="2800" dirty="0">
              <a:solidFill>
                <a:schemeClr val="accent1"/>
              </a:solidFill>
            </a:endParaRPr>
          </a:p>
        </p:txBody>
      </p:sp>
      <p:sp>
        <p:nvSpPr>
          <p:cNvPr id="54" name="Text Box 8"/>
          <p:cNvSpPr txBox="1">
            <a:spLocks noChangeArrowheads="1"/>
          </p:cNvSpPr>
          <p:nvPr/>
        </p:nvSpPr>
        <p:spPr bwMode="auto">
          <a:xfrm>
            <a:off x="6875463" y="4926013"/>
            <a:ext cx="5048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dirty="0">
                <a:solidFill>
                  <a:schemeClr val="accent1"/>
                </a:solidFill>
              </a:rPr>
              <a:t>Y</a:t>
            </a:r>
          </a:p>
        </p:txBody>
      </p:sp>
      <p:sp>
        <p:nvSpPr>
          <p:cNvPr id="55" name="Text Box 9"/>
          <p:cNvSpPr txBox="1">
            <a:spLocks noChangeArrowheads="1"/>
          </p:cNvSpPr>
          <p:nvPr/>
        </p:nvSpPr>
        <p:spPr bwMode="auto">
          <a:xfrm>
            <a:off x="6227763" y="2133600"/>
            <a:ext cx="1584325" cy="5191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dirty="0">
                <a:solidFill>
                  <a:schemeClr val="accent1"/>
                </a:solidFill>
              </a:rPr>
              <a:t>LM(BP)</a:t>
            </a:r>
          </a:p>
        </p:txBody>
      </p:sp>
      <p:sp>
        <p:nvSpPr>
          <p:cNvPr id="56" name="Text Box 11"/>
          <p:cNvSpPr txBox="1">
            <a:spLocks noChangeArrowheads="1"/>
          </p:cNvSpPr>
          <p:nvPr/>
        </p:nvSpPr>
        <p:spPr bwMode="auto">
          <a:xfrm>
            <a:off x="5940425" y="4508500"/>
            <a:ext cx="647700" cy="5191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dirty="0">
                <a:solidFill>
                  <a:schemeClr val="accent1"/>
                </a:solidFill>
              </a:rPr>
              <a:t>IS</a:t>
            </a:r>
          </a:p>
        </p:txBody>
      </p:sp>
      <p:sp>
        <p:nvSpPr>
          <p:cNvPr id="57" name="Text Box 12"/>
          <p:cNvSpPr txBox="1">
            <a:spLocks noChangeArrowheads="1"/>
          </p:cNvSpPr>
          <p:nvPr/>
        </p:nvSpPr>
        <p:spPr bwMode="auto">
          <a:xfrm>
            <a:off x="1979613" y="4941888"/>
            <a:ext cx="5048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dirty="0">
                <a:solidFill>
                  <a:schemeClr val="accent1"/>
                </a:solidFill>
              </a:rPr>
              <a:t>O</a:t>
            </a:r>
          </a:p>
        </p:txBody>
      </p:sp>
      <p:grpSp>
        <p:nvGrpSpPr>
          <p:cNvPr id="58" name="Group 14"/>
          <p:cNvGrpSpPr>
            <a:grpSpLocks/>
          </p:cNvGrpSpPr>
          <p:nvPr/>
        </p:nvGrpSpPr>
        <p:grpSpPr bwMode="auto">
          <a:xfrm>
            <a:off x="3563938" y="1989138"/>
            <a:ext cx="2808287" cy="2087562"/>
            <a:chOff x="2245" y="1253"/>
            <a:chExt cx="1769" cy="1315"/>
          </a:xfrm>
        </p:grpSpPr>
        <p:sp>
          <p:nvSpPr>
            <p:cNvPr id="59" name="Line 15"/>
            <p:cNvSpPr>
              <a:spLocks noChangeShapeType="1"/>
            </p:cNvSpPr>
            <p:nvPr/>
          </p:nvSpPr>
          <p:spPr bwMode="auto">
            <a:xfrm>
              <a:off x="2336" y="1253"/>
              <a:ext cx="1678" cy="1315"/>
            </a:xfrm>
            <a:prstGeom prst="line">
              <a:avLst/>
            </a:prstGeom>
            <a:noFill/>
            <a:ln w="31750">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60" name="Line 16"/>
            <p:cNvSpPr>
              <a:spLocks noChangeShapeType="1"/>
            </p:cNvSpPr>
            <p:nvPr/>
          </p:nvSpPr>
          <p:spPr bwMode="auto">
            <a:xfrm>
              <a:off x="2245" y="1616"/>
              <a:ext cx="499"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grpSp>
      <p:sp>
        <p:nvSpPr>
          <p:cNvPr id="61" name="Line 20"/>
          <p:cNvSpPr>
            <a:spLocks noChangeShapeType="1"/>
          </p:cNvSpPr>
          <p:nvPr/>
        </p:nvSpPr>
        <p:spPr bwMode="auto">
          <a:xfrm flipV="1">
            <a:off x="3348038" y="2420938"/>
            <a:ext cx="2952750" cy="2016125"/>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grpSp>
        <p:nvGrpSpPr>
          <p:cNvPr id="62" name="Group 35"/>
          <p:cNvGrpSpPr>
            <a:grpSpLocks/>
          </p:cNvGrpSpPr>
          <p:nvPr/>
        </p:nvGrpSpPr>
        <p:grpSpPr bwMode="auto">
          <a:xfrm>
            <a:off x="3779838" y="3213100"/>
            <a:ext cx="2160587" cy="2717800"/>
            <a:chOff x="2381" y="2024"/>
            <a:chExt cx="1361" cy="1712"/>
          </a:xfrm>
        </p:grpSpPr>
        <p:sp>
          <p:nvSpPr>
            <p:cNvPr id="63" name="Line 29"/>
            <p:cNvSpPr>
              <a:spLocks noChangeShapeType="1"/>
            </p:cNvSpPr>
            <p:nvPr/>
          </p:nvSpPr>
          <p:spPr bwMode="auto">
            <a:xfrm>
              <a:off x="2880" y="2251"/>
              <a:ext cx="0" cy="952"/>
            </a:xfrm>
            <a:prstGeom prst="line">
              <a:avLst/>
            </a:prstGeom>
            <a:noFill/>
            <a:ln w="9525">
              <a:solidFill>
                <a:schemeClr val="accent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64" name="Text Box 30"/>
            <p:cNvSpPr txBox="1">
              <a:spLocks noChangeArrowheads="1"/>
            </p:cNvSpPr>
            <p:nvPr/>
          </p:nvSpPr>
          <p:spPr bwMode="auto">
            <a:xfrm>
              <a:off x="2381" y="3294"/>
              <a:ext cx="726" cy="2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solidFill>
                    <a:schemeClr val="accent1"/>
                  </a:solidFill>
                </a:rPr>
                <a:t>        Y</a:t>
              </a:r>
              <a:r>
                <a:rPr lang="en-US" altLang="zh-CN" sz="2000" baseline="-25000" dirty="0">
                  <a:solidFill>
                    <a:schemeClr val="accent1"/>
                  </a:solidFill>
                </a:rPr>
                <a:t>0</a:t>
              </a:r>
              <a:endParaRPr lang="en-US" altLang="zh-CN" sz="2000" dirty="0">
                <a:solidFill>
                  <a:schemeClr val="accent1"/>
                </a:solidFill>
              </a:endParaRPr>
            </a:p>
          </p:txBody>
        </p:sp>
        <p:sp>
          <p:nvSpPr>
            <p:cNvPr id="65" name="Line 31"/>
            <p:cNvSpPr>
              <a:spLocks noChangeShapeType="1"/>
            </p:cNvSpPr>
            <p:nvPr/>
          </p:nvSpPr>
          <p:spPr bwMode="auto">
            <a:xfrm>
              <a:off x="3288" y="2024"/>
              <a:ext cx="0" cy="1225"/>
            </a:xfrm>
            <a:prstGeom prst="line">
              <a:avLst/>
            </a:prstGeom>
            <a:noFill/>
            <a:ln w="9525">
              <a:solidFill>
                <a:schemeClr val="accent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66" name="Text Box 32"/>
            <p:cNvSpPr txBox="1">
              <a:spLocks noChangeArrowheads="1"/>
            </p:cNvSpPr>
            <p:nvPr/>
          </p:nvSpPr>
          <p:spPr bwMode="auto">
            <a:xfrm>
              <a:off x="3198" y="3294"/>
              <a:ext cx="544" cy="44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solidFill>
                    <a:schemeClr val="accent1"/>
                  </a:solidFill>
                </a:rPr>
                <a:t> Y’   (</a:t>
              </a:r>
              <a:r>
                <a:rPr lang="en-US" altLang="zh-CN" dirty="0">
                  <a:solidFill>
                    <a:schemeClr val="accent1"/>
                  </a:solidFill>
                </a:rPr>
                <a:t>Y*)</a:t>
              </a:r>
            </a:p>
          </p:txBody>
        </p:sp>
      </p:grpSp>
    </p:spTree>
    <p:extLst>
      <p:ext uri="{BB962C8B-B14F-4D97-AF65-F5344CB8AC3E}">
        <p14:creationId xmlns:p14="http://schemas.microsoft.com/office/powerpoint/2010/main" val="1427990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 calcmode="lin" valueType="num">
                                      <p:cBhvr additive="base">
                                        <p:cTn id="7" dur="500" fill="hold"/>
                                        <p:tgtEl>
                                          <p:spTgt spid="58"/>
                                        </p:tgtEl>
                                        <p:attrNameLst>
                                          <p:attrName>ppt_x</p:attrName>
                                        </p:attrNameLst>
                                      </p:cBhvr>
                                      <p:tavLst>
                                        <p:tav tm="0">
                                          <p:val>
                                            <p:strVal val="0-#ppt_w/2"/>
                                          </p:val>
                                        </p:tav>
                                        <p:tav tm="100000">
                                          <p:val>
                                            <p:strVal val="#ppt_x"/>
                                          </p:val>
                                        </p:tav>
                                      </p:tavLst>
                                    </p:anim>
                                    <p:anim calcmode="lin" valueType="num">
                                      <p:cBhvr additive="base">
                                        <p:cTn id="8" dur="500" fill="hold"/>
                                        <p:tgtEl>
                                          <p:spTgt spid="5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ctr"/>
            <a:r>
              <a:rPr lang="zh-CN" altLang="en-US" sz="2400" dirty="0"/>
              <a:t>固定汇率制下，扩张的财政</a:t>
            </a:r>
            <a:r>
              <a:rPr lang="zh-CN" altLang="en-US" sz="2400" dirty="0" smtClean="0"/>
              <a:t>政策（</a:t>
            </a:r>
            <a:r>
              <a:rPr lang="zh-CN" altLang="en-US" sz="2400" dirty="0"/>
              <a:t>资本流动程度高）</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22" name="Line 2"/>
          <p:cNvSpPr>
            <a:spLocks noChangeShapeType="1"/>
          </p:cNvSpPr>
          <p:nvPr/>
        </p:nvSpPr>
        <p:spPr bwMode="auto">
          <a:xfrm flipV="1">
            <a:off x="2411413" y="1628775"/>
            <a:ext cx="0" cy="3529013"/>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23" name="Line 3"/>
          <p:cNvSpPr>
            <a:spLocks noChangeShapeType="1"/>
          </p:cNvSpPr>
          <p:nvPr/>
        </p:nvSpPr>
        <p:spPr bwMode="auto">
          <a:xfrm>
            <a:off x="2411413" y="5157788"/>
            <a:ext cx="4465637" cy="0"/>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24" name="Line 4"/>
          <p:cNvSpPr>
            <a:spLocks noChangeShapeType="1"/>
          </p:cNvSpPr>
          <p:nvPr/>
        </p:nvSpPr>
        <p:spPr bwMode="auto">
          <a:xfrm>
            <a:off x="3203575" y="2492375"/>
            <a:ext cx="2663825" cy="2087563"/>
          </a:xfrm>
          <a:prstGeom prst="line">
            <a:avLst/>
          </a:prstGeom>
          <a:noFill/>
          <a:ln w="3175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25" name="Line 5"/>
          <p:cNvSpPr>
            <a:spLocks noChangeShapeType="1"/>
          </p:cNvSpPr>
          <p:nvPr/>
        </p:nvSpPr>
        <p:spPr bwMode="auto">
          <a:xfrm flipV="1">
            <a:off x="3203575" y="2492375"/>
            <a:ext cx="2952750" cy="2016125"/>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26" name="Line 6"/>
          <p:cNvSpPr>
            <a:spLocks noChangeShapeType="1"/>
          </p:cNvSpPr>
          <p:nvPr/>
        </p:nvSpPr>
        <p:spPr bwMode="auto">
          <a:xfrm flipH="1">
            <a:off x="4140200" y="1916113"/>
            <a:ext cx="1079500" cy="2808287"/>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27" name="Text Box 7"/>
          <p:cNvSpPr txBox="1">
            <a:spLocks noChangeArrowheads="1"/>
          </p:cNvSpPr>
          <p:nvPr/>
        </p:nvSpPr>
        <p:spPr bwMode="auto">
          <a:xfrm>
            <a:off x="1763713" y="1484313"/>
            <a:ext cx="5048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dirty="0" err="1" smtClean="0">
                <a:solidFill>
                  <a:schemeClr val="accent1"/>
                </a:solidFill>
              </a:rPr>
              <a:t>i</a:t>
            </a:r>
            <a:endParaRPr lang="en-US" altLang="zh-CN" sz="2800" dirty="0">
              <a:solidFill>
                <a:schemeClr val="accent1"/>
              </a:solidFill>
            </a:endParaRPr>
          </a:p>
        </p:txBody>
      </p:sp>
      <p:sp>
        <p:nvSpPr>
          <p:cNvPr id="28" name="Text Box 8"/>
          <p:cNvSpPr txBox="1">
            <a:spLocks noChangeArrowheads="1"/>
          </p:cNvSpPr>
          <p:nvPr/>
        </p:nvSpPr>
        <p:spPr bwMode="auto">
          <a:xfrm>
            <a:off x="6875463" y="4926013"/>
            <a:ext cx="5048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dirty="0">
                <a:solidFill>
                  <a:schemeClr val="accent1"/>
                </a:solidFill>
              </a:rPr>
              <a:t>Y</a:t>
            </a:r>
          </a:p>
        </p:txBody>
      </p:sp>
      <p:sp>
        <p:nvSpPr>
          <p:cNvPr id="29" name="Text Box 9"/>
          <p:cNvSpPr txBox="1">
            <a:spLocks noChangeArrowheads="1"/>
          </p:cNvSpPr>
          <p:nvPr/>
        </p:nvSpPr>
        <p:spPr bwMode="auto">
          <a:xfrm>
            <a:off x="6227763" y="2133600"/>
            <a:ext cx="720725" cy="5191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dirty="0">
                <a:solidFill>
                  <a:schemeClr val="accent1"/>
                </a:solidFill>
              </a:rPr>
              <a:t>BP</a:t>
            </a:r>
          </a:p>
        </p:txBody>
      </p:sp>
      <p:sp>
        <p:nvSpPr>
          <p:cNvPr id="30" name="Text Box 10"/>
          <p:cNvSpPr txBox="1">
            <a:spLocks noChangeArrowheads="1"/>
          </p:cNvSpPr>
          <p:nvPr/>
        </p:nvSpPr>
        <p:spPr bwMode="auto">
          <a:xfrm>
            <a:off x="5148263" y="1341438"/>
            <a:ext cx="7207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dirty="0">
                <a:solidFill>
                  <a:schemeClr val="accent1"/>
                </a:solidFill>
              </a:rPr>
              <a:t>LM</a:t>
            </a:r>
          </a:p>
        </p:txBody>
      </p:sp>
      <p:sp>
        <p:nvSpPr>
          <p:cNvPr id="31" name="Text Box 11"/>
          <p:cNvSpPr txBox="1">
            <a:spLocks noChangeArrowheads="1"/>
          </p:cNvSpPr>
          <p:nvPr/>
        </p:nvSpPr>
        <p:spPr bwMode="auto">
          <a:xfrm>
            <a:off x="5940425" y="4508500"/>
            <a:ext cx="647700" cy="5191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dirty="0">
                <a:solidFill>
                  <a:schemeClr val="accent1"/>
                </a:solidFill>
              </a:rPr>
              <a:t>IS</a:t>
            </a:r>
          </a:p>
        </p:txBody>
      </p:sp>
      <p:sp>
        <p:nvSpPr>
          <p:cNvPr id="32" name="Text Box 12"/>
          <p:cNvSpPr txBox="1">
            <a:spLocks noChangeArrowheads="1"/>
          </p:cNvSpPr>
          <p:nvPr/>
        </p:nvSpPr>
        <p:spPr bwMode="auto">
          <a:xfrm>
            <a:off x="1979613" y="4941888"/>
            <a:ext cx="5048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dirty="0">
                <a:solidFill>
                  <a:schemeClr val="accent1"/>
                </a:solidFill>
              </a:rPr>
              <a:t>O</a:t>
            </a:r>
          </a:p>
        </p:txBody>
      </p:sp>
      <p:grpSp>
        <p:nvGrpSpPr>
          <p:cNvPr id="33" name="Group 14"/>
          <p:cNvGrpSpPr>
            <a:grpSpLocks/>
          </p:cNvGrpSpPr>
          <p:nvPr/>
        </p:nvGrpSpPr>
        <p:grpSpPr bwMode="auto">
          <a:xfrm>
            <a:off x="3563938" y="1989138"/>
            <a:ext cx="2808287" cy="2087562"/>
            <a:chOff x="2245" y="1253"/>
            <a:chExt cx="1769" cy="1315"/>
          </a:xfrm>
        </p:grpSpPr>
        <p:sp>
          <p:nvSpPr>
            <p:cNvPr id="34" name="Line 15"/>
            <p:cNvSpPr>
              <a:spLocks noChangeShapeType="1"/>
            </p:cNvSpPr>
            <p:nvPr/>
          </p:nvSpPr>
          <p:spPr bwMode="auto">
            <a:xfrm>
              <a:off x="2336" y="1253"/>
              <a:ext cx="1678" cy="1315"/>
            </a:xfrm>
            <a:prstGeom prst="line">
              <a:avLst/>
            </a:prstGeom>
            <a:noFill/>
            <a:ln w="31750">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35" name="Line 16"/>
            <p:cNvSpPr>
              <a:spLocks noChangeShapeType="1"/>
            </p:cNvSpPr>
            <p:nvPr/>
          </p:nvSpPr>
          <p:spPr bwMode="auto">
            <a:xfrm>
              <a:off x="2245" y="1616"/>
              <a:ext cx="499"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grpSp>
      <p:grpSp>
        <p:nvGrpSpPr>
          <p:cNvPr id="36" name="Group 22"/>
          <p:cNvGrpSpPr>
            <a:grpSpLocks/>
          </p:cNvGrpSpPr>
          <p:nvPr/>
        </p:nvGrpSpPr>
        <p:grpSpPr bwMode="auto">
          <a:xfrm>
            <a:off x="4572000" y="1989138"/>
            <a:ext cx="1079500" cy="2808287"/>
            <a:chOff x="2880" y="1253"/>
            <a:chExt cx="680" cy="1769"/>
          </a:xfrm>
        </p:grpSpPr>
        <p:sp>
          <p:nvSpPr>
            <p:cNvPr id="37" name="Line 20"/>
            <p:cNvSpPr>
              <a:spLocks noChangeShapeType="1"/>
            </p:cNvSpPr>
            <p:nvPr/>
          </p:nvSpPr>
          <p:spPr bwMode="auto">
            <a:xfrm flipH="1">
              <a:off x="2880" y="1253"/>
              <a:ext cx="680" cy="1769"/>
            </a:xfrm>
            <a:prstGeom prst="line">
              <a:avLst/>
            </a:prstGeom>
            <a:noFill/>
            <a:ln w="28575">
              <a:solidFill>
                <a:srgbClr val="00B05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38" name="Line 21"/>
            <p:cNvSpPr>
              <a:spLocks noChangeShapeType="1"/>
            </p:cNvSpPr>
            <p:nvPr/>
          </p:nvSpPr>
          <p:spPr bwMode="auto">
            <a:xfrm flipV="1">
              <a:off x="3198" y="1434"/>
              <a:ext cx="272"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grpSp>
      <p:grpSp>
        <p:nvGrpSpPr>
          <p:cNvPr id="39" name="Group 31"/>
          <p:cNvGrpSpPr>
            <a:grpSpLocks/>
          </p:cNvGrpSpPr>
          <p:nvPr/>
        </p:nvGrpSpPr>
        <p:grpSpPr bwMode="auto">
          <a:xfrm>
            <a:off x="3779838" y="2924175"/>
            <a:ext cx="1800225" cy="2701925"/>
            <a:chOff x="2381" y="1842"/>
            <a:chExt cx="1134" cy="1702"/>
          </a:xfrm>
        </p:grpSpPr>
        <p:sp>
          <p:nvSpPr>
            <p:cNvPr id="40" name="Text Box 25"/>
            <p:cNvSpPr txBox="1">
              <a:spLocks noChangeArrowheads="1"/>
            </p:cNvSpPr>
            <p:nvPr/>
          </p:nvSpPr>
          <p:spPr bwMode="auto">
            <a:xfrm>
              <a:off x="2381" y="3294"/>
              <a:ext cx="726" cy="2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solidFill>
                    <a:schemeClr val="accent1"/>
                  </a:solidFill>
                </a:rPr>
                <a:t>        Y</a:t>
              </a:r>
              <a:r>
                <a:rPr lang="en-US" altLang="zh-CN" sz="2000" baseline="-25000" dirty="0">
                  <a:solidFill>
                    <a:schemeClr val="accent1"/>
                  </a:solidFill>
                </a:rPr>
                <a:t>0</a:t>
              </a:r>
              <a:endParaRPr lang="en-US" altLang="zh-CN" sz="2000" dirty="0">
                <a:solidFill>
                  <a:schemeClr val="accent1"/>
                </a:solidFill>
              </a:endParaRPr>
            </a:p>
          </p:txBody>
        </p:sp>
        <p:grpSp>
          <p:nvGrpSpPr>
            <p:cNvPr id="41" name="Group 30"/>
            <p:cNvGrpSpPr>
              <a:grpSpLocks/>
            </p:cNvGrpSpPr>
            <p:nvPr/>
          </p:nvGrpSpPr>
          <p:grpSpPr bwMode="auto">
            <a:xfrm>
              <a:off x="2835" y="1842"/>
              <a:ext cx="680" cy="1702"/>
              <a:chOff x="2835" y="1842"/>
              <a:chExt cx="680" cy="1702"/>
            </a:xfrm>
          </p:grpSpPr>
          <p:sp>
            <p:nvSpPr>
              <p:cNvPr id="42" name="Line 24"/>
              <p:cNvSpPr>
                <a:spLocks noChangeShapeType="1"/>
              </p:cNvSpPr>
              <p:nvPr/>
            </p:nvSpPr>
            <p:spPr bwMode="auto">
              <a:xfrm flipH="1">
                <a:off x="2879" y="2251"/>
                <a:ext cx="1" cy="951"/>
              </a:xfrm>
              <a:prstGeom prst="line">
                <a:avLst/>
              </a:prstGeom>
              <a:noFill/>
              <a:ln w="9525">
                <a:solidFill>
                  <a:schemeClr val="accent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43" name="Line 26"/>
              <p:cNvSpPr>
                <a:spLocks noChangeShapeType="1"/>
              </p:cNvSpPr>
              <p:nvPr/>
            </p:nvSpPr>
            <p:spPr bwMode="auto">
              <a:xfrm>
                <a:off x="3288" y="2024"/>
                <a:ext cx="0" cy="1225"/>
              </a:xfrm>
              <a:prstGeom prst="line">
                <a:avLst/>
              </a:prstGeom>
              <a:noFill/>
              <a:ln w="9525">
                <a:solidFill>
                  <a:schemeClr val="accent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44" name="Text Box 27"/>
              <p:cNvSpPr txBox="1">
                <a:spLocks noChangeArrowheads="1"/>
              </p:cNvSpPr>
              <p:nvPr/>
            </p:nvSpPr>
            <p:spPr bwMode="auto">
              <a:xfrm>
                <a:off x="2835" y="3294"/>
                <a:ext cx="453" cy="2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solidFill>
                      <a:schemeClr val="accent1"/>
                    </a:solidFill>
                  </a:rPr>
                  <a:t>    Y’</a:t>
                </a:r>
              </a:p>
            </p:txBody>
          </p:sp>
          <p:sp>
            <p:nvSpPr>
              <p:cNvPr id="45" name="Line 28"/>
              <p:cNvSpPr>
                <a:spLocks noChangeShapeType="1"/>
              </p:cNvSpPr>
              <p:nvPr/>
            </p:nvSpPr>
            <p:spPr bwMode="auto">
              <a:xfrm>
                <a:off x="3061" y="1842"/>
                <a:ext cx="0" cy="1361"/>
              </a:xfrm>
              <a:prstGeom prst="line">
                <a:avLst/>
              </a:prstGeom>
              <a:noFill/>
              <a:ln w="9525">
                <a:solidFill>
                  <a:schemeClr val="accent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46" name="Text Box 29"/>
              <p:cNvSpPr txBox="1">
                <a:spLocks noChangeArrowheads="1"/>
              </p:cNvSpPr>
              <p:nvPr/>
            </p:nvSpPr>
            <p:spPr bwMode="auto">
              <a:xfrm>
                <a:off x="3016" y="3294"/>
                <a:ext cx="499" cy="2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solidFill>
                      <a:schemeClr val="accent1"/>
                    </a:solidFill>
                  </a:rPr>
                  <a:t>    Y*</a:t>
                </a:r>
              </a:p>
            </p:txBody>
          </p:sp>
        </p:grpSp>
      </p:grpSp>
    </p:spTree>
    <p:extLst>
      <p:ext uri="{BB962C8B-B14F-4D97-AF65-F5344CB8AC3E}">
        <p14:creationId xmlns:p14="http://schemas.microsoft.com/office/powerpoint/2010/main" val="4255514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0-#ppt_w/2"/>
                                          </p:val>
                                        </p:tav>
                                        <p:tav tm="100000">
                                          <p:val>
                                            <p:strVal val="#ppt_x"/>
                                          </p:val>
                                        </p:tav>
                                      </p:tavLst>
                                    </p:anim>
                                    <p:anim calcmode="lin" valueType="num">
                                      <p:cBhvr additive="base">
                                        <p:cTn id="8" dur="500" fill="hold"/>
                                        <p:tgtEl>
                                          <p:spTgt spid="3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6"/>
                                        </p:tgtEl>
                                        <p:attrNameLst>
                                          <p:attrName>style.visibility</p:attrName>
                                        </p:attrNameLst>
                                      </p:cBhvr>
                                      <p:to>
                                        <p:strVal val="visible"/>
                                      </p:to>
                                    </p:set>
                                    <p:anim calcmode="lin" valueType="num">
                                      <p:cBhvr additive="base">
                                        <p:cTn id="13" dur="500" fill="hold"/>
                                        <p:tgtEl>
                                          <p:spTgt spid="36"/>
                                        </p:tgtEl>
                                        <p:attrNameLst>
                                          <p:attrName>ppt_x</p:attrName>
                                        </p:attrNameLst>
                                      </p:cBhvr>
                                      <p:tavLst>
                                        <p:tav tm="0">
                                          <p:val>
                                            <p:strVal val="0-#ppt_w/2"/>
                                          </p:val>
                                        </p:tav>
                                        <p:tav tm="100000">
                                          <p:val>
                                            <p:strVal val="#ppt_x"/>
                                          </p:val>
                                        </p:tav>
                                      </p:tavLst>
                                    </p:anim>
                                    <p:anim calcmode="lin" valueType="num">
                                      <p:cBhvr additive="base">
                                        <p:cTn id="14" dur="500" fill="hold"/>
                                        <p:tgtEl>
                                          <p:spTgt spid="3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ctr"/>
            <a:r>
              <a:rPr lang="zh-CN" altLang="en-US" sz="2400" dirty="0"/>
              <a:t>固定汇率制下，扩张的财政政策</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47" name="Line 2"/>
          <p:cNvSpPr>
            <a:spLocks noChangeShapeType="1"/>
          </p:cNvSpPr>
          <p:nvPr/>
        </p:nvSpPr>
        <p:spPr bwMode="auto">
          <a:xfrm flipV="1">
            <a:off x="2411413" y="1628775"/>
            <a:ext cx="0" cy="3529013"/>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48" name="Line 3"/>
          <p:cNvSpPr>
            <a:spLocks noChangeShapeType="1"/>
          </p:cNvSpPr>
          <p:nvPr/>
        </p:nvSpPr>
        <p:spPr bwMode="auto">
          <a:xfrm>
            <a:off x="2411413" y="5157788"/>
            <a:ext cx="4465637" cy="0"/>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49" name="Line 4"/>
          <p:cNvSpPr>
            <a:spLocks noChangeShapeType="1"/>
          </p:cNvSpPr>
          <p:nvPr/>
        </p:nvSpPr>
        <p:spPr bwMode="auto">
          <a:xfrm>
            <a:off x="3203575" y="2492375"/>
            <a:ext cx="2663825" cy="2087563"/>
          </a:xfrm>
          <a:prstGeom prst="line">
            <a:avLst/>
          </a:prstGeom>
          <a:noFill/>
          <a:ln w="3175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50" name="Line 5"/>
          <p:cNvSpPr>
            <a:spLocks noChangeShapeType="1"/>
          </p:cNvSpPr>
          <p:nvPr/>
        </p:nvSpPr>
        <p:spPr bwMode="auto">
          <a:xfrm flipV="1">
            <a:off x="3419475" y="2349500"/>
            <a:ext cx="2447925" cy="2303463"/>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51" name="Line 6"/>
          <p:cNvSpPr>
            <a:spLocks noChangeShapeType="1"/>
          </p:cNvSpPr>
          <p:nvPr/>
        </p:nvSpPr>
        <p:spPr bwMode="auto">
          <a:xfrm flipV="1">
            <a:off x="3059113" y="3573463"/>
            <a:ext cx="3313112"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52" name="Text Box 7"/>
          <p:cNvSpPr txBox="1">
            <a:spLocks noChangeArrowheads="1"/>
          </p:cNvSpPr>
          <p:nvPr/>
        </p:nvSpPr>
        <p:spPr bwMode="auto">
          <a:xfrm>
            <a:off x="1763713" y="1484313"/>
            <a:ext cx="5048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dirty="0" err="1" smtClean="0">
                <a:solidFill>
                  <a:schemeClr val="accent1"/>
                </a:solidFill>
              </a:rPr>
              <a:t>i</a:t>
            </a:r>
            <a:endParaRPr lang="en-US" altLang="zh-CN" sz="2800" dirty="0">
              <a:solidFill>
                <a:schemeClr val="accent1"/>
              </a:solidFill>
            </a:endParaRPr>
          </a:p>
        </p:txBody>
      </p:sp>
      <p:sp>
        <p:nvSpPr>
          <p:cNvPr id="53" name="Text Box 8"/>
          <p:cNvSpPr txBox="1">
            <a:spLocks noChangeArrowheads="1"/>
          </p:cNvSpPr>
          <p:nvPr/>
        </p:nvSpPr>
        <p:spPr bwMode="auto">
          <a:xfrm>
            <a:off x="6875463" y="4926013"/>
            <a:ext cx="5048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Y</a:t>
            </a:r>
          </a:p>
        </p:txBody>
      </p:sp>
      <p:sp>
        <p:nvSpPr>
          <p:cNvPr id="54" name="Text Box 9"/>
          <p:cNvSpPr txBox="1">
            <a:spLocks noChangeArrowheads="1"/>
          </p:cNvSpPr>
          <p:nvPr/>
        </p:nvSpPr>
        <p:spPr bwMode="auto">
          <a:xfrm>
            <a:off x="6227763" y="2133600"/>
            <a:ext cx="720725" cy="5191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LM</a:t>
            </a:r>
          </a:p>
        </p:txBody>
      </p:sp>
      <p:sp>
        <p:nvSpPr>
          <p:cNvPr id="55" name="Text Box 10"/>
          <p:cNvSpPr txBox="1">
            <a:spLocks noChangeArrowheads="1"/>
          </p:cNvSpPr>
          <p:nvPr/>
        </p:nvSpPr>
        <p:spPr bwMode="auto">
          <a:xfrm>
            <a:off x="6588125" y="3284538"/>
            <a:ext cx="7207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BP</a:t>
            </a:r>
          </a:p>
        </p:txBody>
      </p:sp>
      <p:sp>
        <p:nvSpPr>
          <p:cNvPr id="56" name="Text Box 11"/>
          <p:cNvSpPr txBox="1">
            <a:spLocks noChangeArrowheads="1"/>
          </p:cNvSpPr>
          <p:nvPr/>
        </p:nvSpPr>
        <p:spPr bwMode="auto">
          <a:xfrm>
            <a:off x="5940425" y="4508500"/>
            <a:ext cx="647700" cy="5191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IS</a:t>
            </a:r>
          </a:p>
        </p:txBody>
      </p:sp>
      <p:sp>
        <p:nvSpPr>
          <p:cNvPr id="57" name="Text Box 12"/>
          <p:cNvSpPr txBox="1">
            <a:spLocks noChangeArrowheads="1"/>
          </p:cNvSpPr>
          <p:nvPr/>
        </p:nvSpPr>
        <p:spPr bwMode="auto">
          <a:xfrm>
            <a:off x="1979613" y="4941888"/>
            <a:ext cx="5048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dirty="0">
                <a:solidFill>
                  <a:schemeClr val="accent1"/>
                </a:solidFill>
              </a:rPr>
              <a:t>O</a:t>
            </a:r>
          </a:p>
        </p:txBody>
      </p:sp>
      <p:grpSp>
        <p:nvGrpSpPr>
          <p:cNvPr id="58" name="Group 14"/>
          <p:cNvGrpSpPr>
            <a:grpSpLocks/>
          </p:cNvGrpSpPr>
          <p:nvPr/>
        </p:nvGrpSpPr>
        <p:grpSpPr bwMode="auto">
          <a:xfrm>
            <a:off x="3851275" y="2278063"/>
            <a:ext cx="2665413" cy="2087562"/>
            <a:chOff x="2426" y="1435"/>
            <a:chExt cx="1679" cy="1315"/>
          </a:xfrm>
        </p:grpSpPr>
        <p:sp>
          <p:nvSpPr>
            <p:cNvPr id="59" name="Line 15"/>
            <p:cNvSpPr>
              <a:spLocks noChangeShapeType="1"/>
            </p:cNvSpPr>
            <p:nvPr/>
          </p:nvSpPr>
          <p:spPr bwMode="auto">
            <a:xfrm>
              <a:off x="2427" y="1435"/>
              <a:ext cx="1678" cy="1315"/>
            </a:xfrm>
            <a:prstGeom prst="line">
              <a:avLst/>
            </a:prstGeom>
            <a:noFill/>
            <a:ln w="31750">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60" name="Line 16"/>
            <p:cNvSpPr>
              <a:spLocks noChangeShapeType="1"/>
            </p:cNvSpPr>
            <p:nvPr/>
          </p:nvSpPr>
          <p:spPr bwMode="auto">
            <a:xfrm>
              <a:off x="2426" y="1797"/>
              <a:ext cx="409"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grpSp>
      <p:grpSp>
        <p:nvGrpSpPr>
          <p:cNvPr id="61" name="Group 27"/>
          <p:cNvGrpSpPr>
            <a:grpSpLocks/>
          </p:cNvGrpSpPr>
          <p:nvPr/>
        </p:nvGrpSpPr>
        <p:grpSpPr bwMode="auto">
          <a:xfrm>
            <a:off x="3995738" y="2636838"/>
            <a:ext cx="2447925" cy="2303462"/>
            <a:chOff x="2517" y="1661"/>
            <a:chExt cx="1542" cy="1451"/>
          </a:xfrm>
        </p:grpSpPr>
        <p:sp>
          <p:nvSpPr>
            <p:cNvPr id="62" name="Line 23"/>
            <p:cNvSpPr>
              <a:spLocks noChangeShapeType="1"/>
            </p:cNvSpPr>
            <p:nvPr/>
          </p:nvSpPr>
          <p:spPr bwMode="auto">
            <a:xfrm flipV="1">
              <a:off x="2517" y="1661"/>
              <a:ext cx="1542" cy="1451"/>
            </a:xfrm>
            <a:prstGeom prst="line">
              <a:avLst/>
            </a:prstGeom>
            <a:noFill/>
            <a:ln w="28575">
              <a:solidFill>
                <a:srgbClr val="00B05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63" name="Line 26"/>
            <p:cNvSpPr>
              <a:spLocks noChangeShapeType="1"/>
            </p:cNvSpPr>
            <p:nvPr/>
          </p:nvSpPr>
          <p:spPr bwMode="auto">
            <a:xfrm>
              <a:off x="3424" y="1797"/>
              <a:ext cx="363"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grpSp>
      <p:grpSp>
        <p:nvGrpSpPr>
          <p:cNvPr id="64" name="Group 36"/>
          <p:cNvGrpSpPr>
            <a:grpSpLocks/>
          </p:cNvGrpSpPr>
          <p:nvPr/>
        </p:nvGrpSpPr>
        <p:grpSpPr bwMode="auto">
          <a:xfrm>
            <a:off x="3779838" y="3213100"/>
            <a:ext cx="2016125" cy="2413000"/>
            <a:chOff x="2381" y="2024"/>
            <a:chExt cx="1270" cy="1520"/>
          </a:xfrm>
        </p:grpSpPr>
        <p:sp>
          <p:nvSpPr>
            <p:cNvPr id="65" name="Text Box 29"/>
            <p:cNvSpPr txBox="1">
              <a:spLocks noChangeArrowheads="1"/>
            </p:cNvSpPr>
            <p:nvPr/>
          </p:nvSpPr>
          <p:spPr bwMode="auto">
            <a:xfrm>
              <a:off x="2381" y="3294"/>
              <a:ext cx="726" cy="2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solidFill>
                    <a:schemeClr val="accent1"/>
                  </a:solidFill>
                </a:rPr>
                <a:t>        Y</a:t>
              </a:r>
              <a:r>
                <a:rPr lang="en-US" altLang="zh-CN" sz="2000" baseline="-25000" dirty="0">
                  <a:solidFill>
                    <a:schemeClr val="accent1"/>
                  </a:solidFill>
                </a:rPr>
                <a:t>0</a:t>
              </a:r>
              <a:endParaRPr lang="en-US" altLang="zh-CN" sz="2000" dirty="0">
                <a:solidFill>
                  <a:schemeClr val="accent1"/>
                </a:solidFill>
              </a:endParaRPr>
            </a:p>
          </p:txBody>
        </p:sp>
        <p:sp>
          <p:nvSpPr>
            <p:cNvPr id="66" name="Line 31"/>
            <p:cNvSpPr>
              <a:spLocks noChangeShapeType="1"/>
            </p:cNvSpPr>
            <p:nvPr/>
          </p:nvSpPr>
          <p:spPr bwMode="auto">
            <a:xfrm>
              <a:off x="2880" y="2251"/>
              <a:ext cx="0" cy="952"/>
            </a:xfrm>
            <a:prstGeom prst="line">
              <a:avLst/>
            </a:prstGeom>
            <a:noFill/>
            <a:ln w="9525">
              <a:solidFill>
                <a:schemeClr val="accent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67" name="Line 32"/>
            <p:cNvSpPr>
              <a:spLocks noChangeShapeType="1"/>
            </p:cNvSpPr>
            <p:nvPr/>
          </p:nvSpPr>
          <p:spPr bwMode="auto">
            <a:xfrm>
              <a:off x="3424" y="2251"/>
              <a:ext cx="0" cy="998"/>
            </a:xfrm>
            <a:prstGeom prst="line">
              <a:avLst/>
            </a:prstGeom>
            <a:noFill/>
            <a:ln w="9525">
              <a:solidFill>
                <a:schemeClr val="accent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68" name="Text Box 33"/>
            <p:cNvSpPr txBox="1">
              <a:spLocks noChangeArrowheads="1"/>
            </p:cNvSpPr>
            <p:nvPr/>
          </p:nvSpPr>
          <p:spPr bwMode="auto">
            <a:xfrm>
              <a:off x="2835" y="3294"/>
              <a:ext cx="453" cy="2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solidFill>
                    <a:schemeClr val="accent1"/>
                  </a:solidFill>
                </a:rPr>
                <a:t>    Y’</a:t>
              </a:r>
            </a:p>
          </p:txBody>
        </p:sp>
        <p:sp>
          <p:nvSpPr>
            <p:cNvPr id="69" name="Line 34"/>
            <p:cNvSpPr>
              <a:spLocks noChangeShapeType="1"/>
            </p:cNvSpPr>
            <p:nvPr/>
          </p:nvSpPr>
          <p:spPr bwMode="auto">
            <a:xfrm>
              <a:off x="3152" y="2024"/>
              <a:ext cx="0" cy="1179"/>
            </a:xfrm>
            <a:prstGeom prst="line">
              <a:avLst/>
            </a:prstGeom>
            <a:noFill/>
            <a:ln w="9525">
              <a:solidFill>
                <a:schemeClr val="accent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70" name="Text Box 35"/>
            <p:cNvSpPr txBox="1">
              <a:spLocks noChangeArrowheads="1"/>
            </p:cNvSpPr>
            <p:nvPr/>
          </p:nvSpPr>
          <p:spPr bwMode="auto">
            <a:xfrm>
              <a:off x="3152" y="3294"/>
              <a:ext cx="499" cy="2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solidFill>
                    <a:schemeClr val="accent1"/>
                  </a:solidFill>
                </a:rPr>
                <a:t>    Y*</a:t>
              </a:r>
            </a:p>
          </p:txBody>
        </p:sp>
      </p:grpSp>
    </p:spTree>
    <p:extLst>
      <p:ext uri="{BB962C8B-B14F-4D97-AF65-F5344CB8AC3E}">
        <p14:creationId xmlns:p14="http://schemas.microsoft.com/office/powerpoint/2010/main" val="3132185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 calcmode="lin" valueType="num">
                                      <p:cBhvr additive="base">
                                        <p:cTn id="7" dur="500" fill="hold"/>
                                        <p:tgtEl>
                                          <p:spTgt spid="58"/>
                                        </p:tgtEl>
                                        <p:attrNameLst>
                                          <p:attrName>ppt_x</p:attrName>
                                        </p:attrNameLst>
                                      </p:cBhvr>
                                      <p:tavLst>
                                        <p:tav tm="0">
                                          <p:val>
                                            <p:strVal val="0-#ppt_w/2"/>
                                          </p:val>
                                        </p:tav>
                                        <p:tav tm="100000">
                                          <p:val>
                                            <p:strVal val="#ppt_x"/>
                                          </p:val>
                                        </p:tav>
                                      </p:tavLst>
                                    </p:anim>
                                    <p:anim calcmode="lin" valueType="num">
                                      <p:cBhvr additive="base">
                                        <p:cTn id="8" dur="500" fill="hold"/>
                                        <p:tgtEl>
                                          <p:spTgt spid="5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1"/>
                                        </p:tgtEl>
                                        <p:attrNameLst>
                                          <p:attrName>style.visibility</p:attrName>
                                        </p:attrNameLst>
                                      </p:cBhvr>
                                      <p:to>
                                        <p:strVal val="visible"/>
                                      </p:to>
                                    </p:set>
                                    <p:anim calcmode="lin" valueType="num">
                                      <p:cBhvr additive="base">
                                        <p:cTn id="13" dur="500" fill="hold"/>
                                        <p:tgtEl>
                                          <p:spTgt spid="61"/>
                                        </p:tgtEl>
                                        <p:attrNameLst>
                                          <p:attrName>ppt_x</p:attrName>
                                        </p:attrNameLst>
                                      </p:cBhvr>
                                      <p:tavLst>
                                        <p:tav tm="0">
                                          <p:val>
                                            <p:strVal val="0-#ppt_w/2"/>
                                          </p:val>
                                        </p:tav>
                                        <p:tav tm="100000">
                                          <p:val>
                                            <p:strVal val="#ppt_x"/>
                                          </p:val>
                                        </p:tav>
                                      </p:tavLst>
                                    </p:anim>
                                    <p:anim calcmode="lin" valueType="num">
                                      <p:cBhvr additive="base">
                                        <p:cTn id="14" dur="500" fill="hold"/>
                                        <p:tgtEl>
                                          <p:spTgt spid="6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三、浮动汇率制下的宏观经济政策</a:t>
                </a:r>
              </a:p>
              <a:p>
                <a:pPr marL="971550" lvl="2" indent="-514350">
                  <a:lnSpc>
                    <a:spcPct val="100000"/>
                  </a:lnSpc>
                  <a:buFont typeface="+mj-lt"/>
                  <a:buAutoNum type="arabicPeriod"/>
                </a:pPr>
                <a:r>
                  <a:rPr lang="zh-CN" altLang="en-US" sz="2400" dirty="0" smtClean="0">
                    <a:latin typeface="微软雅黑" panose="020B0503020204020204" pitchFamily="34" charset="-122"/>
                    <a:ea typeface="微软雅黑" panose="020B0503020204020204" pitchFamily="34" charset="-122"/>
                  </a:rPr>
                  <a:t>货币</a:t>
                </a:r>
                <a:r>
                  <a:rPr lang="zh-CN" altLang="en-US" sz="2400" dirty="0">
                    <a:latin typeface="微软雅黑" panose="020B0503020204020204" pitchFamily="34" charset="-122"/>
                    <a:ea typeface="微软雅黑" panose="020B0503020204020204" pitchFamily="34" charset="-122"/>
                  </a:rPr>
                  <a:t>政策的实施效果（以</a:t>
                </a:r>
                <a14:m>
                  <m:oMath xmlns:m="http://schemas.openxmlformats.org/officeDocument/2006/math">
                    <m:r>
                      <a:rPr lang="en-US" altLang="zh-CN" sz="2400" i="1" dirty="0" smtClean="0">
                        <a:latin typeface="Cambria Math" panose="02040503050406030204" pitchFamily="18" charset="0"/>
                        <a:ea typeface="微软雅黑" panose="020B0503020204020204" pitchFamily="34" charset="-122"/>
                      </a:rPr>
                      <m:t>𝑀𝑠</m:t>
                    </m:r>
                  </m:oMath>
                </a14:m>
                <a:r>
                  <a:rPr lang="zh-CN" altLang="en-US" sz="2400" dirty="0">
                    <a:latin typeface="微软雅黑" panose="020B0503020204020204" pitchFamily="34" charset="-122"/>
                    <a:ea typeface="微软雅黑" panose="020B0503020204020204" pitchFamily="34" charset="-122"/>
                  </a:rPr>
                  <a:t>增加</a:t>
                </a:r>
                <a:r>
                  <a:rPr lang="zh-CN" altLang="en-US" sz="2400" dirty="0" smtClean="0">
                    <a:latin typeface="微软雅黑" panose="020B0503020204020204" pitchFamily="34" charset="-122"/>
                    <a:ea typeface="微软雅黑" panose="020B0503020204020204" pitchFamily="34" charset="-122"/>
                  </a:rPr>
                  <a:t>为例</a:t>
                </a:r>
                <a:r>
                  <a:rPr lang="zh-CN" altLang="en-US" sz="2400" dirty="0">
                    <a:latin typeface="微软雅黑" panose="020B0503020204020204" pitchFamily="34" charset="-122"/>
                    <a:ea typeface="微软雅黑" panose="020B0503020204020204" pitchFamily="34" charset="-122"/>
                  </a:rPr>
                  <a:t>）</a:t>
                </a:r>
              </a:p>
              <a:p>
                <a:pPr marL="457200" lvl="2" indent="0">
                  <a:lnSpc>
                    <a:spcPct val="100000"/>
                  </a:lnSpc>
                  <a:buNone/>
                </a:pPr>
                <a:r>
                  <a:rPr lang="zh-CN" altLang="en-US" sz="2400" dirty="0" smtClean="0">
                    <a:latin typeface="微软雅黑" panose="020B0503020204020204" pitchFamily="34" charset="-122"/>
                    <a:ea typeface="微软雅黑" panose="020B0503020204020204" pitchFamily="34" charset="-122"/>
                  </a:rPr>
                  <a:t>货币</a:t>
                </a:r>
                <a:r>
                  <a:rPr lang="zh-CN" altLang="en-US" sz="2400" dirty="0">
                    <a:latin typeface="微软雅黑" panose="020B0503020204020204" pitchFamily="34" charset="-122"/>
                    <a:ea typeface="微软雅黑" panose="020B0503020204020204" pitchFamily="34" charset="-122"/>
                  </a:rPr>
                  <a:t>政策有效。</a:t>
                </a:r>
              </a:p>
              <a:p>
                <a:pPr marL="971550" lvl="2" indent="-514350">
                  <a:lnSpc>
                    <a:spcPct val="100000"/>
                  </a:lnSpc>
                  <a:buFont typeface="+mj-lt"/>
                  <a:buAutoNum type="arabicPeriod" startAt="2"/>
                </a:pPr>
                <a:r>
                  <a:rPr lang="zh-CN" altLang="en-US" sz="2400" dirty="0" smtClean="0">
                    <a:latin typeface="微软雅黑" panose="020B0503020204020204" pitchFamily="34" charset="-122"/>
                    <a:ea typeface="微软雅黑" panose="020B0503020204020204" pitchFamily="34" charset="-122"/>
                  </a:rPr>
                  <a:t>财政</a:t>
                </a:r>
                <a:r>
                  <a:rPr lang="zh-CN" altLang="en-US" sz="2400" dirty="0">
                    <a:latin typeface="微软雅黑" panose="020B0503020204020204" pitchFamily="34" charset="-122"/>
                    <a:ea typeface="微软雅黑" panose="020B0503020204020204" pitchFamily="34" charset="-122"/>
                  </a:rPr>
                  <a:t>政策的实施效果（以增加财政</a:t>
                </a:r>
                <a:r>
                  <a:rPr lang="zh-CN" altLang="en-US" sz="2400" dirty="0" smtClean="0">
                    <a:latin typeface="微软雅黑" panose="020B0503020204020204" pitchFamily="34" charset="-122"/>
                    <a:ea typeface="微软雅黑" panose="020B0503020204020204" pitchFamily="34" charset="-122"/>
                  </a:rPr>
                  <a:t>支出</a:t>
                </a:r>
                <a:r>
                  <a:rPr lang="zh-CN" altLang="en-US" sz="2400" dirty="0">
                    <a:latin typeface="微软雅黑" panose="020B0503020204020204" pitchFamily="34" charset="-122"/>
                    <a:ea typeface="微软雅黑" panose="020B0503020204020204" pitchFamily="34" charset="-122"/>
                  </a:rPr>
                  <a:t>为例）</a:t>
                </a:r>
              </a:p>
              <a:p>
                <a:pPr marL="457200" lvl="2" indent="0">
                  <a:lnSpc>
                    <a:spcPct val="100000"/>
                  </a:lnSpc>
                  <a:buNone/>
                </a:pPr>
                <a:r>
                  <a:rPr lang="zh-CN" altLang="en-US" sz="2400" dirty="0" smtClean="0">
                    <a:latin typeface="微软雅黑" panose="020B0503020204020204" pitchFamily="34" charset="-122"/>
                    <a:ea typeface="微软雅黑" panose="020B0503020204020204" pitchFamily="34" charset="-122"/>
                  </a:rPr>
                  <a:t>财政</a:t>
                </a:r>
                <a:r>
                  <a:rPr lang="zh-CN" altLang="en-US" sz="2400" dirty="0">
                    <a:latin typeface="微软雅黑" panose="020B0503020204020204" pitchFamily="34" charset="-122"/>
                    <a:ea typeface="微软雅黑" panose="020B0503020204020204" pitchFamily="34" charset="-122"/>
                  </a:rPr>
                  <a:t>政策基本有效，资本流动程度</a:t>
                </a:r>
                <a:r>
                  <a:rPr lang="zh-CN" altLang="en-US" sz="2400" dirty="0" smtClean="0">
                    <a:latin typeface="微软雅黑" panose="020B0503020204020204" pitchFamily="34" charset="-122"/>
                    <a:ea typeface="微软雅黑" panose="020B0503020204020204" pitchFamily="34" charset="-122"/>
                  </a:rPr>
                  <a:t>越低</a:t>
                </a:r>
                <a:r>
                  <a:rPr lang="zh-CN" altLang="en-US" sz="2400" dirty="0">
                    <a:latin typeface="微软雅黑" panose="020B0503020204020204" pitchFamily="34" charset="-122"/>
                    <a:ea typeface="微软雅黑" panose="020B0503020204020204" pitchFamily="34" charset="-122"/>
                  </a:rPr>
                  <a:t>，效果越好。</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71550" y="1447799"/>
                <a:ext cx="7200900" cy="4841879"/>
              </a:xfrm>
              <a:blipFill rotWithShape="0">
                <a:blip r:embed="rId3"/>
                <a:stretch>
                  <a:fillRect l="-1692" t="-1006" r="-1946"/>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7" name="标题 1"/>
          <p:cNvSpPr>
            <a:spLocks noGrp="1"/>
          </p:cNvSpPr>
          <p:nvPr>
            <p:ph type="title"/>
          </p:nvPr>
        </p:nvSpPr>
        <p:spPr>
          <a:xfrm>
            <a:off x="192505" y="18386"/>
            <a:ext cx="8951495" cy="1142385"/>
          </a:xfrm>
        </p:spPr>
        <p:txBody>
          <a:bodyPr>
            <a:normAutofit/>
          </a:bodyPr>
          <a:lstStyle/>
          <a:p>
            <a:r>
              <a:rPr altLang="en-US" sz="2800" dirty="0" smtClean="0"/>
              <a:t>第二节	开放经济条件下的财政、货币政策</a:t>
            </a:r>
            <a:br>
              <a:rPr altLang="en-US" sz="2800" dirty="0" smtClean="0"/>
            </a:br>
            <a:r>
              <a:rPr altLang="en-US" sz="2800" dirty="0" smtClean="0">
                <a:solidFill>
                  <a:srgbClr val="00B0F0"/>
                </a:solidFill>
                <a:latin typeface="黑体" pitchFamily="49" charset="-122"/>
                <a:ea typeface="黑体" pitchFamily="49" charset="-122"/>
              </a:rPr>
              <a:t>                             </a:t>
            </a:r>
            <a:r>
              <a:rPr lang="en-US" altLang="zh-CN" sz="2000" dirty="0" smtClean="0">
                <a:solidFill>
                  <a:srgbClr val="00B0F0"/>
                </a:solidFill>
                <a:latin typeface="黑体" pitchFamily="49" charset="-122"/>
                <a:ea typeface="黑体" pitchFamily="49" charset="-122"/>
              </a:rPr>
              <a:t>——</a:t>
            </a:r>
            <a:r>
              <a:rPr altLang="en-US" sz="2000" dirty="0" smtClean="0">
                <a:solidFill>
                  <a:srgbClr val="00B0F0"/>
                </a:solidFill>
                <a:latin typeface="黑体" pitchFamily="49" charset="-122"/>
                <a:ea typeface="黑体" pitchFamily="49" charset="-122"/>
              </a:rPr>
              <a:t>蒙代尔－弗莱明模型</a:t>
            </a:r>
            <a:endParaRPr lang="zh-CN" sz="2800" dirty="0"/>
          </a:p>
        </p:txBody>
      </p:sp>
    </p:spTree>
    <p:extLst>
      <p:ext uri="{BB962C8B-B14F-4D97-AF65-F5344CB8AC3E}">
        <p14:creationId xmlns:p14="http://schemas.microsoft.com/office/powerpoint/2010/main" val="3890948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noFill/>
          </a:ln>
        </p:spPr>
        <p:txBody>
          <a:bodyPr>
            <a:normAutofit/>
          </a:bodyPr>
          <a:lstStyle/>
          <a:p>
            <a:pPr algn="ctr"/>
            <a:r>
              <a:rPr lang="zh-CN" altLang="en-US" sz="2400" dirty="0"/>
              <a:t>浮动汇率制下，扩张的货币政策</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71" name="Line 2"/>
          <p:cNvSpPr>
            <a:spLocks noChangeShapeType="1"/>
          </p:cNvSpPr>
          <p:nvPr/>
        </p:nvSpPr>
        <p:spPr bwMode="auto">
          <a:xfrm flipV="1">
            <a:off x="2411413" y="1628775"/>
            <a:ext cx="0" cy="3529013"/>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72" name="Line 3"/>
          <p:cNvSpPr>
            <a:spLocks noChangeShapeType="1"/>
          </p:cNvSpPr>
          <p:nvPr/>
        </p:nvSpPr>
        <p:spPr bwMode="auto">
          <a:xfrm>
            <a:off x="2411413" y="5157788"/>
            <a:ext cx="4465637" cy="0"/>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73" name="Line 4"/>
          <p:cNvSpPr>
            <a:spLocks noChangeShapeType="1"/>
          </p:cNvSpPr>
          <p:nvPr/>
        </p:nvSpPr>
        <p:spPr bwMode="auto">
          <a:xfrm>
            <a:off x="3203575" y="2492375"/>
            <a:ext cx="2663825" cy="2087563"/>
          </a:xfrm>
          <a:prstGeom prst="line">
            <a:avLst/>
          </a:prstGeom>
          <a:noFill/>
          <a:ln w="3175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74" name="Line 5"/>
          <p:cNvSpPr>
            <a:spLocks noChangeShapeType="1"/>
          </p:cNvSpPr>
          <p:nvPr/>
        </p:nvSpPr>
        <p:spPr bwMode="auto">
          <a:xfrm flipV="1">
            <a:off x="3203575" y="2492375"/>
            <a:ext cx="2952750" cy="2016125"/>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75" name="Line 6"/>
          <p:cNvSpPr>
            <a:spLocks noChangeShapeType="1"/>
          </p:cNvSpPr>
          <p:nvPr/>
        </p:nvSpPr>
        <p:spPr bwMode="auto">
          <a:xfrm flipH="1">
            <a:off x="4140200" y="1916113"/>
            <a:ext cx="1079500" cy="2808287"/>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76" name="Text Box 7"/>
          <p:cNvSpPr txBox="1">
            <a:spLocks noChangeArrowheads="1"/>
          </p:cNvSpPr>
          <p:nvPr/>
        </p:nvSpPr>
        <p:spPr bwMode="auto">
          <a:xfrm>
            <a:off x="1763713" y="1484313"/>
            <a:ext cx="5048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i</a:t>
            </a:r>
          </a:p>
        </p:txBody>
      </p:sp>
      <p:sp>
        <p:nvSpPr>
          <p:cNvPr id="77" name="Text Box 8"/>
          <p:cNvSpPr txBox="1">
            <a:spLocks noChangeArrowheads="1"/>
          </p:cNvSpPr>
          <p:nvPr/>
        </p:nvSpPr>
        <p:spPr bwMode="auto">
          <a:xfrm>
            <a:off x="6875463" y="4926013"/>
            <a:ext cx="5048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Y</a:t>
            </a:r>
          </a:p>
        </p:txBody>
      </p:sp>
      <p:sp>
        <p:nvSpPr>
          <p:cNvPr id="78" name="Text Box 9"/>
          <p:cNvSpPr txBox="1">
            <a:spLocks noChangeArrowheads="1"/>
          </p:cNvSpPr>
          <p:nvPr/>
        </p:nvSpPr>
        <p:spPr bwMode="auto">
          <a:xfrm>
            <a:off x="6227763" y="2133600"/>
            <a:ext cx="720725" cy="5191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LM</a:t>
            </a:r>
          </a:p>
        </p:txBody>
      </p:sp>
      <p:sp>
        <p:nvSpPr>
          <p:cNvPr id="79" name="Text Box 10"/>
          <p:cNvSpPr txBox="1">
            <a:spLocks noChangeArrowheads="1"/>
          </p:cNvSpPr>
          <p:nvPr/>
        </p:nvSpPr>
        <p:spPr bwMode="auto">
          <a:xfrm>
            <a:off x="5148263" y="1341438"/>
            <a:ext cx="7207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BP</a:t>
            </a:r>
          </a:p>
        </p:txBody>
      </p:sp>
      <p:sp>
        <p:nvSpPr>
          <p:cNvPr id="80" name="Text Box 11"/>
          <p:cNvSpPr txBox="1">
            <a:spLocks noChangeArrowheads="1"/>
          </p:cNvSpPr>
          <p:nvPr/>
        </p:nvSpPr>
        <p:spPr bwMode="auto">
          <a:xfrm>
            <a:off x="5940425" y="4508500"/>
            <a:ext cx="647700" cy="5191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IS</a:t>
            </a:r>
          </a:p>
        </p:txBody>
      </p:sp>
      <p:sp>
        <p:nvSpPr>
          <p:cNvPr id="81" name="Text Box 12"/>
          <p:cNvSpPr txBox="1">
            <a:spLocks noChangeArrowheads="1"/>
          </p:cNvSpPr>
          <p:nvPr/>
        </p:nvSpPr>
        <p:spPr bwMode="auto">
          <a:xfrm>
            <a:off x="1979613" y="4941888"/>
            <a:ext cx="5048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O</a:t>
            </a:r>
          </a:p>
        </p:txBody>
      </p:sp>
      <p:grpSp>
        <p:nvGrpSpPr>
          <p:cNvPr id="82" name="Group 13"/>
          <p:cNvGrpSpPr>
            <a:grpSpLocks/>
          </p:cNvGrpSpPr>
          <p:nvPr/>
        </p:nvGrpSpPr>
        <p:grpSpPr bwMode="auto">
          <a:xfrm>
            <a:off x="3924300" y="2708275"/>
            <a:ext cx="2952750" cy="2016125"/>
            <a:chOff x="2472" y="1706"/>
            <a:chExt cx="1860" cy="1270"/>
          </a:xfrm>
        </p:grpSpPr>
        <p:sp>
          <p:nvSpPr>
            <p:cNvPr id="83" name="Line 14"/>
            <p:cNvSpPr>
              <a:spLocks noChangeShapeType="1"/>
            </p:cNvSpPr>
            <p:nvPr/>
          </p:nvSpPr>
          <p:spPr bwMode="auto">
            <a:xfrm flipV="1">
              <a:off x="2472" y="1706"/>
              <a:ext cx="1860" cy="1270"/>
            </a:xfrm>
            <a:prstGeom prst="line">
              <a:avLst/>
            </a:prstGeom>
            <a:noFill/>
            <a:ln w="28575">
              <a:solidFill>
                <a:srgbClr val="00B05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84" name="Line 15"/>
            <p:cNvSpPr>
              <a:spLocks noChangeShapeType="1"/>
            </p:cNvSpPr>
            <p:nvPr/>
          </p:nvSpPr>
          <p:spPr bwMode="auto">
            <a:xfrm>
              <a:off x="3334" y="2024"/>
              <a:ext cx="362"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grpSp>
      <p:grpSp>
        <p:nvGrpSpPr>
          <p:cNvPr id="85" name="Group 20"/>
          <p:cNvGrpSpPr>
            <a:grpSpLocks/>
          </p:cNvGrpSpPr>
          <p:nvPr/>
        </p:nvGrpSpPr>
        <p:grpSpPr bwMode="auto">
          <a:xfrm>
            <a:off x="3492500" y="2133600"/>
            <a:ext cx="2806700" cy="2087563"/>
            <a:chOff x="2200" y="1344"/>
            <a:chExt cx="1768" cy="1315"/>
          </a:xfrm>
        </p:grpSpPr>
        <p:sp>
          <p:nvSpPr>
            <p:cNvPr id="86" name="Line 18"/>
            <p:cNvSpPr>
              <a:spLocks noChangeShapeType="1"/>
            </p:cNvSpPr>
            <p:nvPr/>
          </p:nvSpPr>
          <p:spPr bwMode="auto">
            <a:xfrm>
              <a:off x="2290" y="1344"/>
              <a:ext cx="1678" cy="1315"/>
            </a:xfrm>
            <a:prstGeom prst="line">
              <a:avLst/>
            </a:prstGeom>
            <a:noFill/>
            <a:ln w="31750">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87" name="Line 19"/>
            <p:cNvSpPr>
              <a:spLocks noChangeShapeType="1"/>
            </p:cNvSpPr>
            <p:nvPr/>
          </p:nvSpPr>
          <p:spPr bwMode="auto">
            <a:xfrm>
              <a:off x="2200" y="1616"/>
              <a:ext cx="362"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grpSp>
      <p:grpSp>
        <p:nvGrpSpPr>
          <p:cNvPr id="88" name="Group 23"/>
          <p:cNvGrpSpPr>
            <a:grpSpLocks/>
          </p:cNvGrpSpPr>
          <p:nvPr/>
        </p:nvGrpSpPr>
        <p:grpSpPr bwMode="auto">
          <a:xfrm>
            <a:off x="5148263" y="1844675"/>
            <a:ext cx="1079500" cy="2808288"/>
            <a:chOff x="3243" y="1162"/>
            <a:chExt cx="680" cy="1769"/>
          </a:xfrm>
        </p:grpSpPr>
        <p:sp>
          <p:nvSpPr>
            <p:cNvPr id="89" name="Line 21"/>
            <p:cNvSpPr>
              <a:spLocks noChangeShapeType="1"/>
            </p:cNvSpPr>
            <p:nvPr/>
          </p:nvSpPr>
          <p:spPr bwMode="auto">
            <a:xfrm flipH="1">
              <a:off x="3243" y="1162"/>
              <a:ext cx="680" cy="1769"/>
            </a:xfrm>
            <a:prstGeom prst="line">
              <a:avLst/>
            </a:prstGeom>
            <a:noFill/>
            <a:ln w="28575">
              <a:solidFill>
                <a:schemeClr val="accent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90" name="Line 22"/>
            <p:cNvSpPr>
              <a:spLocks noChangeShapeType="1"/>
            </p:cNvSpPr>
            <p:nvPr/>
          </p:nvSpPr>
          <p:spPr bwMode="auto">
            <a:xfrm>
              <a:off x="3243" y="1434"/>
              <a:ext cx="499"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grpSp>
      <p:grpSp>
        <p:nvGrpSpPr>
          <p:cNvPr id="91" name="Group 32"/>
          <p:cNvGrpSpPr>
            <a:grpSpLocks/>
          </p:cNvGrpSpPr>
          <p:nvPr/>
        </p:nvGrpSpPr>
        <p:grpSpPr bwMode="auto">
          <a:xfrm>
            <a:off x="3779838" y="3644900"/>
            <a:ext cx="2160587" cy="1981200"/>
            <a:chOff x="2381" y="2296"/>
            <a:chExt cx="1361" cy="1248"/>
          </a:xfrm>
        </p:grpSpPr>
        <p:sp>
          <p:nvSpPr>
            <p:cNvPr id="92" name="Text Box 25"/>
            <p:cNvSpPr txBox="1">
              <a:spLocks noChangeArrowheads="1"/>
            </p:cNvSpPr>
            <p:nvPr/>
          </p:nvSpPr>
          <p:spPr bwMode="auto">
            <a:xfrm>
              <a:off x="2381" y="3294"/>
              <a:ext cx="726" cy="2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solidFill>
                    <a:schemeClr val="accent1"/>
                  </a:solidFill>
                </a:rPr>
                <a:t>        Y</a:t>
              </a:r>
              <a:r>
                <a:rPr lang="en-US" altLang="zh-CN" sz="2000" baseline="-25000" dirty="0">
                  <a:solidFill>
                    <a:schemeClr val="accent1"/>
                  </a:solidFill>
                </a:rPr>
                <a:t>0</a:t>
              </a:r>
              <a:endParaRPr lang="en-US" altLang="zh-CN" sz="2000" dirty="0">
                <a:solidFill>
                  <a:schemeClr val="accent1"/>
                </a:solidFill>
              </a:endParaRPr>
            </a:p>
          </p:txBody>
        </p:sp>
        <p:sp>
          <p:nvSpPr>
            <p:cNvPr id="93" name="Line 27"/>
            <p:cNvSpPr>
              <a:spLocks noChangeShapeType="1"/>
            </p:cNvSpPr>
            <p:nvPr/>
          </p:nvSpPr>
          <p:spPr bwMode="auto">
            <a:xfrm>
              <a:off x="2880" y="2296"/>
              <a:ext cx="0" cy="952"/>
            </a:xfrm>
            <a:prstGeom prst="line">
              <a:avLst/>
            </a:prstGeom>
            <a:noFill/>
            <a:ln w="9525">
              <a:solidFill>
                <a:schemeClr val="accent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94" name="Line 28"/>
            <p:cNvSpPr>
              <a:spLocks noChangeShapeType="1"/>
            </p:cNvSpPr>
            <p:nvPr/>
          </p:nvSpPr>
          <p:spPr bwMode="auto">
            <a:xfrm>
              <a:off x="3515" y="2341"/>
              <a:ext cx="0" cy="908"/>
            </a:xfrm>
            <a:prstGeom prst="line">
              <a:avLst/>
            </a:prstGeom>
            <a:noFill/>
            <a:ln w="9525">
              <a:solidFill>
                <a:schemeClr val="accent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95" name="Text Box 29"/>
            <p:cNvSpPr txBox="1">
              <a:spLocks noChangeArrowheads="1"/>
            </p:cNvSpPr>
            <p:nvPr/>
          </p:nvSpPr>
          <p:spPr bwMode="auto">
            <a:xfrm>
              <a:off x="2925" y="3294"/>
              <a:ext cx="453" cy="2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solidFill>
                    <a:schemeClr val="accent1"/>
                  </a:solidFill>
                </a:rPr>
                <a:t>    Y’</a:t>
              </a:r>
            </a:p>
          </p:txBody>
        </p:sp>
        <p:sp>
          <p:nvSpPr>
            <p:cNvPr id="96" name="Line 30"/>
            <p:cNvSpPr>
              <a:spLocks noChangeShapeType="1"/>
            </p:cNvSpPr>
            <p:nvPr/>
          </p:nvSpPr>
          <p:spPr bwMode="auto">
            <a:xfrm>
              <a:off x="3198" y="2523"/>
              <a:ext cx="0" cy="726"/>
            </a:xfrm>
            <a:prstGeom prst="line">
              <a:avLst/>
            </a:prstGeom>
            <a:noFill/>
            <a:ln w="9525">
              <a:solidFill>
                <a:schemeClr val="accent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97" name="Text Box 31"/>
            <p:cNvSpPr txBox="1">
              <a:spLocks noChangeArrowheads="1"/>
            </p:cNvSpPr>
            <p:nvPr/>
          </p:nvSpPr>
          <p:spPr bwMode="auto">
            <a:xfrm>
              <a:off x="3243" y="3249"/>
              <a:ext cx="499" cy="2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solidFill>
                    <a:schemeClr val="accent1"/>
                  </a:solidFill>
                </a:rPr>
                <a:t>    Y*</a:t>
              </a:r>
            </a:p>
          </p:txBody>
        </p:sp>
      </p:grpSp>
    </p:spTree>
    <p:extLst>
      <p:ext uri="{BB962C8B-B14F-4D97-AF65-F5344CB8AC3E}">
        <p14:creationId xmlns:p14="http://schemas.microsoft.com/office/powerpoint/2010/main" val="3855607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85"/>
                                        </p:tgtEl>
                                        <p:attrNameLst>
                                          <p:attrName>style.visibility</p:attrName>
                                        </p:attrNameLst>
                                      </p:cBhvr>
                                      <p:to>
                                        <p:strVal val="visible"/>
                                      </p:to>
                                    </p:set>
                                    <p:anim calcmode="lin" valueType="num">
                                      <p:cBhvr additive="base">
                                        <p:cTn id="11" dur="500" fill="hold"/>
                                        <p:tgtEl>
                                          <p:spTgt spid="85"/>
                                        </p:tgtEl>
                                        <p:attrNameLst>
                                          <p:attrName>ppt_x</p:attrName>
                                        </p:attrNameLst>
                                      </p:cBhvr>
                                      <p:tavLst>
                                        <p:tav tm="0">
                                          <p:val>
                                            <p:strVal val="0-#ppt_w/2"/>
                                          </p:val>
                                        </p:tav>
                                        <p:tav tm="100000">
                                          <p:val>
                                            <p:strVal val="#ppt_x"/>
                                          </p:val>
                                        </p:tav>
                                      </p:tavLst>
                                    </p:anim>
                                    <p:anim calcmode="lin" valueType="num">
                                      <p:cBhvr additive="base">
                                        <p:cTn id="12" dur="500" fill="hold"/>
                                        <p:tgtEl>
                                          <p:spTgt spid="85"/>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88"/>
                                        </p:tgtEl>
                                        <p:attrNameLst>
                                          <p:attrName>style.visibility</p:attrName>
                                        </p:attrNameLst>
                                      </p:cBhvr>
                                      <p:to>
                                        <p:strVal val="visible"/>
                                      </p:to>
                                    </p:set>
                                    <p:anim calcmode="lin" valueType="num">
                                      <p:cBhvr additive="base">
                                        <p:cTn id="17" dur="500" fill="hold"/>
                                        <p:tgtEl>
                                          <p:spTgt spid="88"/>
                                        </p:tgtEl>
                                        <p:attrNameLst>
                                          <p:attrName>ppt_x</p:attrName>
                                        </p:attrNameLst>
                                      </p:cBhvr>
                                      <p:tavLst>
                                        <p:tav tm="0">
                                          <p:val>
                                            <p:strVal val="0-#ppt_w/2"/>
                                          </p:val>
                                        </p:tav>
                                        <p:tav tm="100000">
                                          <p:val>
                                            <p:strVal val="#ppt_x"/>
                                          </p:val>
                                        </p:tav>
                                      </p:tavLst>
                                    </p:anim>
                                    <p:anim calcmode="lin" valueType="num">
                                      <p:cBhvr additive="base">
                                        <p:cTn id="18" dur="500" fill="hold"/>
                                        <p:tgtEl>
                                          <p:spTgt spid="88"/>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noFill/>
          </a:ln>
        </p:spPr>
        <p:txBody>
          <a:bodyPr>
            <a:normAutofit/>
          </a:bodyPr>
          <a:lstStyle/>
          <a:p>
            <a:pPr algn="ctr"/>
            <a:r>
              <a:rPr lang="zh-CN" altLang="en-US" sz="2400" dirty="0"/>
              <a:t>浮动汇率制下，扩张的财政政策</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31" name="Line 2"/>
          <p:cNvSpPr>
            <a:spLocks noChangeShapeType="1"/>
          </p:cNvSpPr>
          <p:nvPr/>
        </p:nvSpPr>
        <p:spPr bwMode="auto">
          <a:xfrm flipV="1">
            <a:off x="2411413" y="1912563"/>
            <a:ext cx="0" cy="3529013"/>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32" name="Line 3"/>
          <p:cNvSpPr>
            <a:spLocks noChangeShapeType="1"/>
          </p:cNvSpPr>
          <p:nvPr/>
        </p:nvSpPr>
        <p:spPr bwMode="auto">
          <a:xfrm>
            <a:off x="2411413" y="5441576"/>
            <a:ext cx="4465637" cy="0"/>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33" name="Line 4"/>
          <p:cNvSpPr>
            <a:spLocks noChangeShapeType="1"/>
          </p:cNvSpPr>
          <p:nvPr/>
        </p:nvSpPr>
        <p:spPr bwMode="auto">
          <a:xfrm>
            <a:off x="3203575" y="2776163"/>
            <a:ext cx="2663825" cy="2087563"/>
          </a:xfrm>
          <a:prstGeom prst="line">
            <a:avLst/>
          </a:prstGeom>
          <a:noFill/>
          <a:ln w="3175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34" name="Line 5"/>
          <p:cNvSpPr>
            <a:spLocks noChangeShapeType="1"/>
          </p:cNvSpPr>
          <p:nvPr/>
        </p:nvSpPr>
        <p:spPr bwMode="auto">
          <a:xfrm flipV="1">
            <a:off x="3419475" y="2633288"/>
            <a:ext cx="2447925" cy="2303463"/>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35" name="Line 6"/>
          <p:cNvSpPr>
            <a:spLocks noChangeShapeType="1"/>
          </p:cNvSpPr>
          <p:nvPr/>
        </p:nvSpPr>
        <p:spPr bwMode="auto">
          <a:xfrm flipH="1" flipV="1">
            <a:off x="4572000" y="1984001"/>
            <a:ext cx="0" cy="309721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36" name="Text Box 7"/>
          <p:cNvSpPr txBox="1">
            <a:spLocks noChangeArrowheads="1"/>
          </p:cNvSpPr>
          <p:nvPr/>
        </p:nvSpPr>
        <p:spPr bwMode="auto">
          <a:xfrm>
            <a:off x="1763713" y="1768101"/>
            <a:ext cx="5048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dirty="0" err="1">
                <a:solidFill>
                  <a:schemeClr val="accent1"/>
                </a:solidFill>
              </a:rPr>
              <a:t>i</a:t>
            </a:r>
            <a:endParaRPr lang="en-US" altLang="zh-CN" sz="2800" dirty="0">
              <a:solidFill>
                <a:schemeClr val="accent1"/>
              </a:solidFill>
            </a:endParaRPr>
          </a:p>
        </p:txBody>
      </p:sp>
      <p:sp>
        <p:nvSpPr>
          <p:cNvPr id="37" name="Text Box 8"/>
          <p:cNvSpPr txBox="1">
            <a:spLocks noChangeArrowheads="1"/>
          </p:cNvSpPr>
          <p:nvPr/>
        </p:nvSpPr>
        <p:spPr bwMode="auto">
          <a:xfrm>
            <a:off x="6875463" y="5209801"/>
            <a:ext cx="5048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Y</a:t>
            </a:r>
          </a:p>
        </p:txBody>
      </p:sp>
      <p:sp>
        <p:nvSpPr>
          <p:cNvPr id="38" name="Text Box 9"/>
          <p:cNvSpPr txBox="1">
            <a:spLocks noChangeArrowheads="1"/>
          </p:cNvSpPr>
          <p:nvPr/>
        </p:nvSpPr>
        <p:spPr bwMode="auto">
          <a:xfrm>
            <a:off x="6227763" y="2417388"/>
            <a:ext cx="720725" cy="5191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LM</a:t>
            </a:r>
          </a:p>
        </p:txBody>
      </p:sp>
      <p:sp>
        <p:nvSpPr>
          <p:cNvPr id="39" name="Text Box 10"/>
          <p:cNvSpPr txBox="1">
            <a:spLocks noChangeArrowheads="1"/>
          </p:cNvSpPr>
          <p:nvPr/>
        </p:nvSpPr>
        <p:spPr bwMode="auto">
          <a:xfrm>
            <a:off x="4356100" y="1264863"/>
            <a:ext cx="720725" cy="5191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BP</a:t>
            </a:r>
          </a:p>
        </p:txBody>
      </p:sp>
      <p:sp>
        <p:nvSpPr>
          <p:cNvPr id="40" name="Text Box 11"/>
          <p:cNvSpPr txBox="1">
            <a:spLocks noChangeArrowheads="1"/>
          </p:cNvSpPr>
          <p:nvPr/>
        </p:nvSpPr>
        <p:spPr bwMode="auto">
          <a:xfrm>
            <a:off x="5940425" y="4792288"/>
            <a:ext cx="647700" cy="5191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IS</a:t>
            </a:r>
          </a:p>
        </p:txBody>
      </p:sp>
      <p:sp>
        <p:nvSpPr>
          <p:cNvPr id="41" name="Text Box 12"/>
          <p:cNvSpPr txBox="1">
            <a:spLocks noChangeArrowheads="1"/>
          </p:cNvSpPr>
          <p:nvPr/>
        </p:nvSpPr>
        <p:spPr bwMode="auto">
          <a:xfrm>
            <a:off x="1979613" y="5225676"/>
            <a:ext cx="5048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O</a:t>
            </a:r>
          </a:p>
        </p:txBody>
      </p:sp>
      <p:grpSp>
        <p:nvGrpSpPr>
          <p:cNvPr id="42" name="Group 14"/>
          <p:cNvGrpSpPr>
            <a:grpSpLocks/>
          </p:cNvGrpSpPr>
          <p:nvPr/>
        </p:nvGrpSpPr>
        <p:grpSpPr bwMode="auto">
          <a:xfrm>
            <a:off x="3851275" y="2561851"/>
            <a:ext cx="2665413" cy="2087562"/>
            <a:chOff x="2426" y="1435"/>
            <a:chExt cx="1679" cy="1315"/>
          </a:xfrm>
        </p:grpSpPr>
        <p:sp>
          <p:nvSpPr>
            <p:cNvPr id="43" name="Line 15"/>
            <p:cNvSpPr>
              <a:spLocks noChangeShapeType="1"/>
            </p:cNvSpPr>
            <p:nvPr/>
          </p:nvSpPr>
          <p:spPr bwMode="auto">
            <a:xfrm>
              <a:off x="2427" y="1435"/>
              <a:ext cx="1678" cy="1315"/>
            </a:xfrm>
            <a:prstGeom prst="line">
              <a:avLst/>
            </a:prstGeom>
            <a:noFill/>
            <a:ln w="31750">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44" name="Line 16"/>
            <p:cNvSpPr>
              <a:spLocks noChangeShapeType="1"/>
            </p:cNvSpPr>
            <p:nvPr/>
          </p:nvSpPr>
          <p:spPr bwMode="auto">
            <a:xfrm>
              <a:off x="2426" y="1797"/>
              <a:ext cx="409"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grpSp>
      <p:grpSp>
        <p:nvGrpSpPr>
          <p:cNvPr id="45" name="Group 18"/>
          <p:cNvGrpSpPr>
            <a:grpSpLocks/>
          </p:cNvGrpSpPr>
          <p:nvPr/>
        </p:nvGrpSpPr>
        <p:grpSpPr bwMode="auto">
          <a:xfrm>
            <a:off x="4283075" y="2199901"/>
            <a:ext cx="2665413" cy="2087562"/>
            <a:chOff x="2426" y="1435"/>
            <a:chExt cx="1679" cy="1315"/>
          </a:xfrm>
        </p:grpSpPr>
        <p:sp>
          <p:nvSpPr>
            <p:cNvPr id="46" name="Line 19"/>
            <p:cNvSpPr>
              <a:spLocks noChangeShapeType="1"/>
            </p:cNvSpPr>
            <p:nvPr/>
          </p:nvSpPr>
          <p:spPr bwMode="auto">
            <a:xfrm>
              <a:off x="2427" y="1435"/>
              <a:ext cx="1678" cy="1315"/>
            </a:xfrm>
            <a:prstGeom prst="line">
              <a:avLst/>
            </a:prstGeom>
            <a:noFill/>
            <a:ln w="31750">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47" name="Line 20"/>
            <p:cNvSpPr>
              <a:spLocks noChangeShapeType="1"/>
            </p:cNvSpPr>
            <p:nvPr/>
          </p:nvSpPr>
          <p:spPr bwMode="auto">
            <a:xfrm>
              <a:off x="2426" y="1797"/>
              <a:ext cx="409"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grpSp>
      <p:grpSp>
        <p:nvGrpSpPr>
          <p:cNvPr id="48" name="Group 23"/>
          <p:cNvGrpSpPr>
            <a:grpSpLocks/>
          </p:cNvGrpSpPr>
          <p:nvPr/>
        </p:nvGrpSpPr>
        <p:grpSpPr bwMode="auto">
          <a:xfrm>
            <a:off x="4716463" y="1984001"/>
            <a:ext cx="647700" cy="3097212"/>
            <a:chOff x="2971" y="1071"/>
            <a:chExt cx="408" cy="1951"/>
          </a:xfrm>
        </p:grpSpPr>
        <p:sp>
          <p:nvSpPr>
            <p:cNvPr id="49" name="Line 21"/>
            <p:cNvSpPr>
              <a:spLocks noChangeShapeType="1"/>
            </p:cNvSpPr>
            <p:nvPr/>
          </p:nvSpPr>
          <p:spPr bwMode="auto">
            <a:xfrm flipH="1" flipV="1">
              <a:off x="3379" y="1071"/>
              <a:ext cx="0" cy="1951"/>
            </a:xfrm>
            <a:prstGeom prst="line">
              <a:avLst/>
            </a:prstGeom>
            <a:noFill/>
            <a:ln w="2857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50" name="Line 22"/>
            <p:cNvSpPr>
              <a:spLocks noChangeShapeType="1"/>
            </p:cNvSpPr>
            <p:nvPr/>
          </p:nvSpPr>
          <p:spPr bwMode="auto">
            <a:xfrm>
              <a:off x="2971" y="1207"/>
              <a:ext cx="317"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grpSp>
      <p:grpSp>
        <p:nvGrpSpPr>
          <p:cNvPr id="51" name="Group 32"/>
          <p:cNvGrpSpPr>
            <a:grpSpLocks/>
          </p:cNvGrpSpPr>
          <p:nvPr/>
        </p:nvGrpSpPr>
        <p:grpSpPr bwMode="auto">
          <a:xfrm>
            <a:off x="3779838" y="3496888"/>
            <a:ext cx="1944687" cy="2413000"/>
            <a:chOff x="2381" y="2024"/>
            <a:chExt cx="1225" cy="1520"/>
          </a:xfrm>
        </p:grpSpPr>
        <p:sp>
          <p:nvSpPr>
            <p:cNvPr id="52" name="Text Box 25"/>
            <p:cNvSpPr txBox="1">
              <a:spLocks noChangeArrowheads="1"/>
            </p:cNvSpPr>
            <p:nvPr/>
          </p:nvSpPr>
          <p:spPr bwMode="auto">
            <a:xfrm>
              <a:off x="2381" y="3294"/>
              <a:ext cx="726" cy="2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solidFill>
                    <a:schemeClr val="accent1"/>
                  </a:solidFill>
                </a:rPr>
                <a:t>        Y</a:t>
              </a:r>
              <a:r>
                <a:rPr lang="en-US" altLang="zh-CN" sz="2000" baseline="-25000" dirty="0">
                  <a:solidFill>
                    <a:schemeClr val="accent1"/>
                  </a:solidFill>
                </a:rPr>
                <a:t>0</a:t>
              </a:r>
              <a:endParaRPr lang="en-US" altLang="zh-CN" sz="2000" dirty="0">
                <a:solidFill>
                  <a:schemeClr val="accent1"/>
                </a:solidFill>
              </a:endParaRPr>
            </a:p>
          </p:txBody>
        </p:sp>
        <p:sp>
          <p:nvSpPr>
            <p:cNvPr id="53" name="Text Box 29"/>
            <p:cNvSpPr txBox="1">
              <a:spLocks noChangeArrowheads="1"/>
            </p:cNvSpPr>
            <p:nvPr/>
          </p:nvSpPr>
          <p:spPr bwMode="auto">
            <a:xfrm>
              <a:off x="2835" y="3294"/>
              <a:ext cx="453" cy="2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solidFill>
                    <a:schemeClr val="accent1"/>
                  </a:solidFill>
                </a:rPr>
                <a:t>    Y’</a:t>
              </a:r>
            </a:p>
          </p:txBody>
        </p:sp>
        <p:sp>
          <p:nvSpPr>
            <p:cNvPr id="54" name="Line 30"/>
            <p:cNvSpPr>
              <a:spLocks noChangeShapeType="1"/>
            </p:cNvSpPr>
            <p:nvPr/>
          </p:nvSpPr>
          <p:spPr bwMode="auto">
            <a:xfrm>
              <a:off x="3152" y="2024"/>
              <a:ext cx="0" cy="1225"/>
            </a:xfrm>
            <a:prstGeom prst="line">
              <a:avLst/>
            </a:prstGeom>
            <a:noFill/>
            <a:ln w="9525">
              <a:solidFill>
                <a:schemeClr val="accent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55" name="Text Box 31"/>
            <p:cNvSpPr txBox="1">
              <a:spLocks noChangeArrowheads="1"/>
            </p:cNvSpPr>
            <p:nvPr/>
          </p:nvSpPr>
          <p:spPr bwMode="auto">
            <a:xfrm>
              <a:off x="3107" y="3294"/>
              <a:ext cx="499" cy="2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solidFill>
                    <a:schemeClr val="accent1"/>
                  </a:solidFill>
                </a:rPr>
                <a:t>    Y*</a:t>
              </a:r>
            </a:p>
          </p:txBody>
        </p:sp>
      </p:grpSp>
    </p:spTree>
    <p:extLst>
      <p:ext uri="{BB962C8B-B14F-4D97-AF65-F5344CB8AC3E}">
        <p14:creationId xmlns:p14="http://schemas.microsoft.com/office/powerpoint/2010/main" val="2994308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 calcmode="lin" valueType="num">
                                      <p:cBhvr additive="base">
                                        <p:cTn id="7" dur="500" fill="hold"/>
                                        <p:tgtEl>
                                          <p:spTgt spid="42"/>
                                        </p:tgtEl>
                                        <p:attrNameLst>
                                          <p:attrName>ppt_x</p:attrName>
                                        </p:attrNameLst>
                                      </p:cBhvr>
                                      <p:tavLst>
                                        <p:tav tm="0">
                                          <p:val>
                                            <p:strVal val="0-#ppt_w/2"/>
                                          </p:val>
                                        </p:tav>
                                        <p:tav tm="100000">
                                          <p:val>
                                            <p:strVal val="#ppt_x"/>
                                          </p:val>
                                        </p:tav>
                                      </p:tavLst>
                                    </p:anim>
                                    <p:anim calcmode="lin" valueType="num">
                                      <p:cBhvr additive="base">
                                        <p:cTn id="8" dur="500" fill="hold"/>
                                        <p:tgtEl>
                                          <p:spTgt spid="4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5"/>
                                        </p:tgtEl>
                                        <p:attrNameLst>
                                          <p:attrName>style.visibility</p:attrName>
                                        </p:attrNameLst>
                                      </p:cBhvr>
                                      <p:to>
                                        <p:strVal val="visible"/>
                                      </p:to>
                                    </p:set>
                                    <p:anim calcmode="lin" valueType="num">
                                      <p:cBhvr additive="base">
                                        <p:cTn id="13" dur="500" fill="hold"/>
                                        <p:tgtEl>
                                          <p:spTgt spid="45"/>
                                        </p:tgtEl>
                                        <p:attrNameLst>
                                          <p:attrName>ppt_x</p:attrName>
                                        </p:attrNameLst>
                                      </p:cBhvr>
                                      <p:tavLst>
                                        <p:tav tm="0">
                                          <p:val>
                                            <p:strVal val="0-#ppt_w/2"/>
                                          </p:val>
                                        </p:tav>
                                        <p:tav tm="100000">
                                          <p:val>
                                            <p:strVal val="#ppt_x"/>
                                          </p:val>
                                        </p:tav>
                                      </p:tavLst>
                                    </p:anim>
                                    <p:anim calcmode="lin" valueType="num">
                                      <p:cBhvr additive="base">
                                        <p:cTn id="14" dur="500" fill="hold"/>
                                        <p:tgtEl>
                                          <p:spTgt spid="4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8"/>
                                        </p:tgtEl>
                                        <p:attrNameLst>
                                          <p:attrName>style.visibility</p:attrName>
                                        </p:attrNameLst>
                                      </p:cBhvr>
                                      <p:to>
                                        <p:strVal val="visible"/>
                                      </p:to>
                                    </p:set>
                                    <p:anim calcmode="lin" valueType="num">
                                      <p:cBhvr additive="base">
                                        <p:cTn id="19" dur="500" fill="hold"/>
                                        <p:tgtEl>
                                          <p:spTgt spid="48"/>
                                        </p:tgtEl>
                                        <p:attrNameLst>
                                          <p:attrName>ppt_x</p:attrName>
                                        </p:attrNameLst>
                                      </p:cBhvr>
                                      <p:tavLst>
                                        <p:tav tm="0">
                                          <p:val>
                                            <p:strVal val="0-#ppt_w/2"/>
                                          </p:val>
                                        </p:tav>
                                        <p:tav tm="100000">
                                          <p:val>
                                            <p:strVal val="#ppt_x"/>
                                          </p:val>
                                        </p:tav>
                                      </p:tavLst>
                                    </p:anim>
                                    <p:anim calcmode="lin" valueType="num">
                                      <p:cBhvr additive="base">
                                        <p:cTn id="20" dur="500" fill="hold"/>
                                        <p:tgtEl>
                                          <p:spTgt spid="4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noFill/>
          </a:ln>
        </p:spPr>
        <p:txBody>
          <a:bodyPr>
            <a:normAutofit/>
          </a:bodyPr>
          <a:lstStyle/>
          <a:p>
            <a:r>
              <a:rPr lang="zh-CN" altLang="en-US" sz="2400" dirty="0"/>
              <a:t>浮动汇率制下，扩张的财政</a:t>
            </a:r>
            <a:r>
              <a:rPr lang="zh-CN" altLang="en-US" sz="2400" dirty="0" smtClean="0"/>
              <a:t>政策（</a:t>
            </a:r>
            <a:r>
              <a:rPr lang="zh-CN" altLang="en-US" sz="2400" dirty="0"/>
              <a:t>资本流动程度低）</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29" name="Line 2"/>
          <p:cNvSpPr>
            <a:spLocks noChangeShapeType="1"/>
          </p:cNvSpPr>
          <p:nvPr/>
        </p:nvSpPr>
        <p:spPr bwMode="auto">
          <a:xfrm flipV="1">
            <a:off x="2411413" y="1691839"/>
            <a:ext cx="0" cy="3529013"/>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30" name="Line 3"/>
          <p:cNvSpPr>
            <a:spLocks noChangeShapeType="1"/>
          </p:cNvSpPr>
          <p:nvPr/>
        </p:nvSpPr>
        <p:spPr bwMode="auto">
          <a:xfrm>
            <a:off x="2411413" y="5220852"/>
            <a:ext cx="4465637" cy="0"/>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56" name="Line 4"/>
          <p:cNvSpPr>
            <a:spLocks noChangeShapeType="1"/>
          </p:cNvSpPr>
          <p:nvPr/>
        </p:nvSpPr>
        <p:spPr bwMode="auto">
          <a:xfrm>
            <a:off x="3203575" y="2555439"/>
            <a:ext cx="2663825" cy="2087563"/>
          </a:xfrm>
          <a:prstGeom prst="line">
            <a:avLst/>
          </a:prstGeom>
          <a:noFill/>
          <a:ln w="3175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57" name="Line 5"/>
          <p:cNvSpPr>
            <a:spLocks noChangeShapeType="1"/>
          </p:cNvSpPr>
          <p:nvPr/>
        </p:nvSpPr>
        <p:spPr bwMode="auto">
          <a:xfrm flipV="1">
            <a:off x="3203575" y="2555439"/>
            <a:ext cx="2952750" cy="2016125"/>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58" name="Line 6"/>
          <p:cNvSpPr>
            <a:spLocks noChangeShapeType="1"/>
          </p:cNvSpPr>
          <p:nvPr/>
        </p:nvSpPr>
        <p:spPr bwMode="auto">
          <a:xfrm flipH="1">
            <a:off x="4140200" y="1979177"/>
            <a:ext cx="1079500" cy="2808287"/>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59" name="Text Box 7"/>
          <p:cNvSpPr txBox="1">
            <a:spLocks noChangeArrowheads="1"/>
          </p:cNvSpPr>
          <p:nvPr/>
        </p:nvSpPr>
        <p:spPr bwMode="auto">
          <a:xfrm>
            <a:off x="1763713" y="1547377"/>
            <a:ext cx="5048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dirty="0" err="1">
                <a:solidFill>
                  <a:schemeClr val="accent1"/>
                </a:solidFill>
              </a:rPr>
              <a:t>i</a:t>
            </a:r>
            <a:endParaRPr lang="en-US" altLang="zh-CN" sz="2800" dirty="0">
              <a:solidFill>
                <a:schemeClr val="accent1"/>
              </a:solidFill>
            </a:endParaRPr>
          </a:p>
        </p:txBody>
      </p:sp>
      <p:sp>
        <p:nvSpPr>
          <p:cNvPr id="60" name="Text Box 8"/>
          <p:cNvSpPr txBox="1">
            <a:spLocks noChangeArrowheads="1"/>
          </p:cNvSpPr>
          <p:nvPr/>
        </p:nvSpPr>
        <p:spPr bwMode="auto">
          <a:xfrm>
            <a:off x="6875463" y="4989077"/>
            <a:ext cx="5048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Y</a:t>
            </a:r>
          </a:p>
        </p:txBody>
      </p:sp>
      <p:sp>
        <p:nvSpPr>
          <p:cNvPr id="61" name="Text Box 9"/>
          <p:cNvSpPr txBox="1">
            <a:spLocks noChangeArrowheads="1"/>
          </p:cNvSpPr>
          <p:nvPr/>
        </p:nvSpPr>
        <p:spPr bwMode="auto">
          <a:xfrm>
            <a:off x="6227763" y="2196664"/>
            <a:ext cx="720725" cy="5191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LM</a:t>
            </a:r>
          </a:p>
        </p:txBody>
      </p:sp>
      <p:sp>
        <p:nvSpPr>
          <p:cNvPr id="62" name="Text Box 10"/>
          <p:cNvSpPr txBox="1">
            <a:spLocks noChangeArrowheads="1"/>
          </p:cNvSpPr>
          <p:nvPr/>
        </p:nvSpPr>
        <p:spPr bwMode="auto">
          <a:xfrm>
            <a:off x="5148263" y="1404502"/>
            <a:ext cx="7207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BP</a:t>
            </a:r>
          </a:p>
        </p:txBody>
      </p:sp>
      <p:sp>
        <p:nvSpPr>
          <p:cNvPr id="63" name="Text Box 11"/>
          <p:cNvSpPr txBox="1">
            <a:spLocks noChangeArrowheads="1"/>
          </p:cNvSpPr>
          <p:nvPr/>
        </p:nvSpPr>
        <p:spPr bwMode="auto">
          <a:xfrm>
            <a:off x="5940425" y="4571564"/>
            <a:ext cx="647700" cy="5191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IS</a:t>
            </a:r>
          </a:p>
        </p:txBody>
      </p:sp>
      <p:sp>
        <p:nvSpPr>
          <p:cNvPr id="64" name="Text Box 12"/>
          <p:cNvSpPr txBox="1">
            <a:spLocks noChangeArrowheads="1"/>
          </p:cNvSpPr>
          <p:nvPr/>
        </p:nvSpPr>
        <p:spPr bwMode="auto">
          <a:xfrm>
            <a:off x="1979613" y="5004952"/>
            <a:ext cx="5048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O</a:t>
            </a:r>
          </a:p>
        </p:txBody>
      </p:sp>
      <p:grpSp>
        <p:nvGrpSpPr>
          <p:cNvPr id="65" name="Group 17"/>
          <p:cNvGrpSpPr>
            <a:grpSpLocks/>
          </p:cNvGrpSpPr>
          <p:nvPr/>
        </p:nvGrpSpPr>
        <p:grpSpPr bwMode="auto">
          <a:xfrm>
            <a:off x="3492500" y="2196664"/>
            <a:ext cx="2806700" cy="2087563"/>
            <a:chOff x="2200" y="1344"/>
            <a:chExt cx="1768" cy="1315"/>
          </a:xfrm>
        </p:grpSpPr>
        <p:sp>
          <p:nvSpPr>
            <p:cNvPr id="66" name="Line 18"/>
            <p:cNvSpPr>
              <a:spLocks noChangeShapeType="1"/>
            </p:cNvSpPr>
            <p:nvPr/>
          </p:nvSpPr>
          <p:spPr bwMode="auto">
            <a:xfrm>
              <a:off x="2290" y="1344"/>
              <a:ext cx="1678" cy="1315"/>
            </a:xfrm>
            <a:prstGeom prst="line">
              <a:avLst/>
            </a:prstGeom>
            <a:noFill/>
            <a:ln w="31750">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67" name="Line 19"/>
            <p:cNvSpPr>
              <a:spLocks noChangeShapeType="1"/>
            </p:cNvSpPr>
            <p:nvPr/>
          </p:nvSpPr>
          <p:spPr bwMode="auto">
            <a:xfrm>
              <a:off x="2200" y="1616"/>
              <a:ext cx="362"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grpSp>
      <p:grpSp>
        <p:nvGrpSpPr>
          <p:cNvPr id="68" name="Group 23"/>
          <p:cNvGrpSpPr>
            <a:grpSpLocks/>
          </p:cNvGrpSpPr>
          <p:nvPr/>
        </p:nvGrpSpPr>
        <p:grpSpPr bwMode="auto">
          <a:xfrm>
            <a:off x="4859338" y="1907739"/>
            <a:ext cx="1079500" cy="2808288"/>
            <a:chOff x="3061" y="1162"/>
            <a:chExt cx="680" cy="1769"/>
          </a:xfrm>
        </p:grpSpPr>
        <p:sp>
          <p:nvSpPr>
            <p:cNvPr id="69" name="Line 21"/>
            <p:cNvSpPr>
              <a:spLocks noChangeShapeType="1"/>
            </p:cNvSpPr>
            <p:nvPr/>
          </p:nvSpPr>
          <p:spPr bwMode="auto">
            <a:xfrm flipH="1">
              <a:off x="3061" y="1162"/>
              <a:ext cx="680" cy="1769"/>
            </a:xfrm>
            <a:prstGeom prst="line">
              <a:avLst/>
            </a:prstGeom>
            <a:noFill/>
            <a:ln w="2857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70" name="Line 22"/>
            <p:cNvSpPr>
              <a:spLocks noChangeShapeType="1"/>
            </p:cNvSpPr>
            <p:nvPr/>
          </p:nvSpPr>
          <p:spPr bwMode="auto">
            <a:xfrm>
              <a:off x="3288" y="1434"/>
              <a:ext cx="272"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grpSp>
      <p:grpSp>
        <p:nvGrpSpPr>
          <p:cNvPr id="71" name="Group 24"/>
          <p:cNvGrpSpPr>
            <a:grpSpLocks/>
          </p:cNvGrpSpPr>
          <p:nvPr/>
        </p:nvGrpSpPr>
        <p:grpSpPr bwMode="auto">
          <a:xfrm>
            <a:off x="4211638" y="1980764"/>
            <a:ext cx="2806700" cy="2087563"/>
            <a:chOff x="2200" y="1344"/>
            <a:chExt cx="1768" cy="1315"/>
          </a:xfrm>
        </p:grpSpPr>
        <p:sp>
          <p:nvSpPr>
            <p:cNvPr id="72" name="Line 25"/>
            <p:cNvSpPr>
              <a:spLocks noChangeShapeType="1"/>
            </p:cNvSpPr>
            <p:nvPr/>
          </p:nvSpPr>
          <p:spPr bwMode="auto">
            <a:xfrm>
              <a:off x="2290" y="1344"/>
              <a:ext cx="1678" cy="1315"/>
            </a:xfrm>
            <a:prstGeom prst="line">
              <a:avLst/>
            </a:prstGeom>
            <a:noFill/>
            <a:ln w="31750">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73" name="Line 26"/>
            <p:cNvSpPr>
              <a:spLocks noChangeShapeType="1"/>
            </p:cNvSpPr>
            <p:nvPr/>
          </p:nvSpPr>
          <p:spPr bwMode="auto">
            <a:xfrm>
              <a:off x="2200" y="1616"/>
              <a:ext cx="362"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grpSp>
      <p:grpSp>
        <p:nvGrpSpPr>
          <p:cNvPr id="74" name="Group 35"/>
          <p:cNvGrpSpPr>
            <a:grpSpLocks/>
          </p:cNvGrpSpPr>
          <p:nvPr/>
        </p:nvGrpSpPr>
        <p:grpSpPr bwMode="auto">
          <a:xfrm>
            <a:off x="3779838" y="2987239"/>
            <a:ext cx="2160587" cy="2701925"/>
            <a:chOff x="2381" y="1842"/>
            <a:chExt cx="1361" cy="1702"/>
          </a:xfrm>
        </p:grpSpPr>
        <p:sp>
          <p:nvSpPr>
            <p:cNvPr id="75" name="Text Box 28"/>
            <p:cNvSpPr txBox="1">
              <a:spLocks noChangeArrowheads="1"/>
            </p:cNvSpPr>
            <p:nvPr/>
          </p:nvSpPr>
          <p:spPr bwMode="auto">
            <a:xfrm>
              <a:off x="2381" y="3294"/>
              <a:ext cx="726" cy="2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solidFill>
                    <a:schemeClr val="accent1"/>
                  </a:solidFill>
                </a:rPr>
                <a:t>        Y</a:t>
              </a:r>
              <a:r>
                <a:rPr lang="en-US" altLang="zh-CN" sz="2000" baseline="-25000" dirty="0">
                  <a:solidFill>
                    <a:schemeClr val="accent1"/>
                  </a:solidFill>
                </a:rPr>
                <a:t>0</a:t>
              </a:r>
              <a:endParaRPr lang="en-US" altLang="zh-CN" sz="2000" dirty="0">
                <a:solidFill>
                  <a:schemeClr val="accent1"/>
                </a:solidFill>
              </a:endParaRPr>
            </a:p>
          </p:txBody>
        </p:sp>
        <p:sp>
          <p:nvSpPr>
            <p:cNvPr id="76" name="Line 30"/>
            <p:cNvSpPr>
              <a:spLocks noChangeShapeType="1"/>
            </p:cNvSpPr>
            <p:nvPr/>
          </p:nvSpPr>
          <p:spPr bwMode="auto">
            <a:xfrm>
              <a:off x="2880" y="2251"/>
              <a:ext cx="0" cy="952"/>
            </a:xfrm>
            <a:prstGeom prst="line">
              <a:avLst/>
            </a:prstGeom>
            <a:noFill/>
            <a:ln w="9525">
              <a:solidFill>
                <a:schemeClr val="accent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77" name="Line 31"/>
            <p:cNvSpPr>
              <a:spLocks noChangeShapeType="1"/>
            </p:cNvSpPr>
            <p:nvPr/>
          </p:nvSpPr>
          <p:spPr bwMode="auto">
            <a:xfrm>
              <a:off x="3515" y="1842"/>
              <a:ext cx="0" cy="1407"/>
            </a:xfrm>
            <a:prstGeom prst="line">
              <a:avLst/>
            </a:prstGeom>
            <a:noFill/>
            <a:ln w="9525">
              <a:solidFill>
                <a:schemeClr val="accent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78" name="Text Box 32"/>
            <p:cNvSpPr txBox="1">
              <a:spLocks noChangeArrowheads="1"/>
            </p:cNvSpPr>
            <p:nvPr/>
          </p:nvSpPr>
          <p:spPr bwMode="auto">
            <a:xfrm>
              <a:off x="2880" y="3294"/>
              <a:ext cx="453" cy="2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solidFill>
                    <a:schemeClr val="accent1"/>
                  </a:solidFill>
                </a:rPr>
                <a:t>    Y’</a:t>
              </a:r>
            </a:p>
          </p:txBody>
        </p:sp>
        <p:sp>
          <p:nvSpPr>
            <p:cNvPr id="79" name="Line 33"/>
            <p:cNvSpPr>
              <a:spLocks noChangeShapeType="1"/>
            </p:cNvSpPr>
            <p:nvPr/>
          </p:nvSpPr>
          <p:spPr bwMode="auto">
            <a:xfrm>
              <a:off x="3198" y="2069"/>
              <a:ext cx="0" cy="1180"/>
            </a:xfrm>
            <a:prstGeom prst="line">
              <a:avLst/>
            </a:prstGeom>
            <a:noFill/>
            <a:ln w="9525">
              <a:solidFill>
                <a:schemeClr val="accent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80" name="Text Box 34"/>
            <p:cNvSpPr txBox="1">
              <a:spLocks noChangeArrowheads="1"/>
            </p:cNvSpPr>
            <p:nvPr/>
          </p:nvSpPr>
          <p:spPr bwMode="auto">
            <a:xfrm>
              <a:off x="3243" y="3294"/>
              <a:ext cx="499" cy="2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solidFill>
                    <a:schemeClr val="accent1"/>
                  </a:solidFill>
                </a:rPr>
                <a:t>    Y*</a:t>
              </a:r>
            </a:p>
          </p:txBody>
        </p:sp>
      </p:grpSp>
    </p:spTree>
    <p:extLst>
      <p:ext uri="{BB962C8B-B14F-4D97-AF65-F5344CB8AC3E}">
        <p14:creationId xmlns:p14="http://schemas.microsoft.com/office/powerpoint/2010/main" val="3986559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5"/>
                                        </p:tgtEl>
                                        <p:attrNameLst>
                                          <p:attrName>style.visibility</p:attrName>
                                        </p:attrNameLst>
                                      </p:cBhvr>
                                      <p:to>
                                        <p:strVal val="visible"/>
                                      </p:to>
                                    </p:set>
                                    <p:anim calcmode="lin" valueType="num">
                                      <p:cBhvr additive="base">
                                        <p:cTn id="7" dur="500" fill="hold"/>
                                        <p:tgtEl>
                                          <p:spTgt spid="65"/>
                                        </p:tgtEl>
                                        <p:attrNameLst>
                                          <p:attrName>ppt_x</p:attrName>
                                        </p:attrNameLst>
                                      </p:cBhvr>
                                      <p:tavLst>
                                        <p:tav tm="0">
                                          <p:val>
                                            <p:strVal val="0-#ppt_w/2"/>
                                          </p:val>
                                        </p:tav>
                                        <p:tav tm="100000">
                                          <p:val>
                                            <p:strVal val="#ppt_x"/>
                                          </p:val>
                                        </p:tav>
                                      </p:tavLst>
                                    </p:anim>
                                    <p:anim calcmode="lin" valueType="num">
                                      <p:cBhvr additive="base">
                                        <p:cTn id="8" dur="500" fill="hold"/>
                                        <p:tgtEl>
                                          <p:spTgt spid="6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8"/>
                                        </p:tgtEl>
                                        <p:attrNameLst>
                                          <p:attrName>style.visibility</p:attrName>
                                        </p:attrNameLst>
                                      </p:cBhvr>
                                      <p:to>
                                        <p:strVal val="visible"/>
                                      </p:to>
                                    </p:set>
                                    <p:anim calcmode="lin" valueType="num">
                                      <p:cBhvr additive="base">
                                        <p:cTn id="13" dur="500" fill="hold"/>
                                        <p:tgtEl>
                                          <p:spTgt spid="68"/>
                                        </p:tgtEl>
                                        <p:attrNameLst>
                                          <p:attrName>ppt_x</p:attrName>
                                        </p:attrNameLst>
                                      </p:cBhvr>
                                      <p:tavLst>
                                        <p:tav tm="0">
                                          <p:val>
                                            <p:strVal val="0-#ppt_w/2"/>
                                          </p:val>
                                        </p:tav>
                                        <p:tav tm="100000">
                                          <p:val>
                                            <p:strVal val="#ppt_x"/>
                                          </p:val>
                                        </p:tav>
                                      </p:tavLst>
                                    </p:anim>
                                    <p:anim calcmode="lin" valueType="num">
                                      <p:cBhvr additive="base">
                                        <p:cTn id="14" dur="500" fill="hold"/>
                                        <p:tgtEl>
                                          <p:spTgt spid="6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71"/>
                                        </p:tgtEl>
                                        <p:attrNameLst>
                                          <p:attrName>style.visibility</p:attrName>
                                        </p:attrNameLst>
                                      </p:cBhvr>
                                      <p:to>
                                        <p:strVal val="visible"/>
                                      </p:to>
                                    </p:set>
                                    <p:anim calcmode="lin" valueType="num">
                                      <p:cBhvr additive="base">
                                        <p:cTn id="19" dur="500" fill="hold"/>
                                        <p:tgtEl>
                                          <p:spTgt spid="71"/>
                                        </p:tgtEl>
                                        <p:attrNameLst>
                                          <p:attrName>ppt_x</p:attrName>
                                        </p:attrNameLst>
                                      </p:cBhvr>
                                      <p:tavLst>
                                        <p:tav tm="0">
                                          <p:val>
                                            <p:strVal val="0-#ppt_w/2"/>
                                          </p:val>
                                        </p:tav>
                                        <p:tav tm="100000">
                                          <p:val>
                                            <p:strVal val="#ppt_x"/>
                                          </p:val>
                                        </p:tav>
                                      </p:tavLst>
                                    </p:anim>
                                    <p:anim calcmode="lin" valueType="num">
                                      <p:cBhvr additive="base">
                                        <p:cTn id="20" dur="500" fill="hold"/>
                                        <p:tgtEl>
                                          <p:spTgt spid="7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noFill/>
          </a:ln>
        </p:spPr>
        <p:txBody>
          <a:bodyPr>
            <a:normAutofit/>
          </a:bodyPr>
          <a:lstStyle/>
          <a:p>
            <a:r>
              <a:rPr lang="zh-CN" altLang="en-US" sz="2400" dirty="0"/>
              <a:t>浮动汇率制下，扩张的财政</a:t>
            </a:r>
            <a:r>
              <a:rPr lang="zh-CN" altLang="en-US" sz="2400" dirty="0" smtClean="0"/>
              <a:t>政策（</a:t>
            </a:r>
            <a:r>
              <a:rPr lang="zh-CN" altLang="en-US" sz="2400" dirty="0"/>
              <a:t>资本流动程度高）</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31" name="Line 2"/>
          <p:cNvSpPr>
            <a:spLocks noChangeShapeType="1"/>
          </p:cNvSpPr>
          <p:nvPr/>
        </p:nvSpPr>
        <p:spPr bwMode="auto">
          <a:xfrm flipV="1">
            <a:off x="2411413" y="1628775"/>
            <a:ext cx="0" cy="3529013"/>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32" name="Line 3"/>
          <p:cNvSpPr>
            <a:spLocks noChangeShapeType="1"/>
          </p:cNvSpPr>
          <p:nvPr/>
        </p:nvSpPr>
        <p:spPr bwMode="auto">
          <a:xfrm>
            <a:off x="2411413" y="5157788"/>
            <a:ext cx="4465637" cy="0"/>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33" name="Line 4"/>
          <p:cNvSpPr>
            <a:spLocks noChangeShapeType="1"/>
          </p:cNvSpPr>
          <p:nvPr/>
        </p:nvSpPr>
        <p:spPr bwMode="auto">
          <a:xfrm>
            <a:off x="3203575" y="2492375"/>
            <a:ext cx="2663825" cy="2087563"/>
          </a:xfrm>
          <a:prstGeom prst="line">
            <a:avLst/>
          </a:prstGeom>
          <a:noFill/>
          <a:ln w="3175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34" name="Line 5"/>
          <p:cNvSpPr>
            <a:spLocks noChangeShapeType="1"/>
          </p:cNvSpPr>
          <p:nvPr/>
        </p:nvSpPr>
        <p:spPr bwMode="auto">
          <a:xfrm flipV="1">
            <a:off x="3203575" y="2492375"/>
            <a:ext cx="2952750" cy="2016125"/>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35" name="Line 6"/>
          <p:cNvSpPr>
            <a:spLocks noChangeShapeType="1"/>
          </p:cNvSpPr>
          <p:nvPr/>
        </p:nvSpPr>
        <p:spPr bwMode="auto">
          <a:xfrm flipH="1">
            <a:off x="4140200" y="1916113"/>
            <a:ext cx="1079500" cy="2808287"/>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36" name="Text Box 7"/>
          <p:cNvSpPr txBox="1">
            <a:spLocks noChangeArrowheads="1"/>
          </p:cNvSpPr>
          <p:nvPr/>
        </p:nvSpPr>
        <p:spPr bwMode="auto">
          <a:xfrm>
            <a:off x="1763713" y="1484313"/>
            <a:ext cx="5048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dirty="0" err="1">
                <a:solidFill>
                  <a:schemeClr val="accent1"/>
                </a:solidFill>
              </a:rPr>
              <a:t>i</a:t>
            </a:r>
            <a:endParaRPr lang="en-US" altLang="zh-CN" sz="2800" dirty="0">
              <a:solidFill>
                <a:schemeClr val="accent1"/>
              </a:solidFill>
            </a:endParaRPr>
          </a:p>
        </p:txBody>
      </p:sp>
      <p:sp>
        <p:nvSpPr>
          <p:cNvPr id="37" name="Text Box 8"/>
          <p:cNvSpPr txBox="1">
            <a:spLocks noChangeArrowheads="1"/>
          </p:cNvSpPr>
          <p:nvPr/>
        </p:nvSpPr>
        <p:spPr bwMode="auto">
          <a:xfrm>
            <a:off x="6875463" y="4926013"/>
            <a:ext cx="5048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Y</a:t>
            </a:r>
          </a:p>
        </p:txBody>
      </p:sp>
      <p:sp>
        <p:nvSpPr>
          <p:cNvPr id="38" name="Text Box 9"/>
          <p:cNvSpPr txBox="1">
            <a:spLocks noChangeArrowheads="1"/>
          </p:cNvSpPr>
          <p:nvPr/>
        </p:nvSpPr>
        <p:spPr bwMode="auto">
          <a:xfrm>
            <a:off x="6227763" y="2133600"/>
            <a:ext cx="720725" cy="5191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BP</a:t>
            </a:r>
          </a:p>
        </p:txBody>
      </p:sp>
      <p:sp>
        <p:nvSpPr>
          <p:cNvPr id="39" name="Text Box 10"/>
          <p:cNvSpPr txBox="1">
            <a:spLocks noChangeArrowheads="1"/>
          </p:cNvSpPr>
          <p:nvPr/>
        </p:nvSpPr>
        <p:spPr bwMode="auto">
          <a:xfrm>
            <a:off x="5148263" y="1341438"/>
            <a:ext cx="7207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LM</a:t>
            </a:r>
          </a:p>
        </p:txBody>
      </p:sp>
      <p:sp>
        <p:nvSpPr>
          <p:cNvPr id="40" name="Text Box 11"/>
          <p:cNvSpPr txBox="1">
            <a:spLocks noChangeArrowheads="1"/>
          </p:cNvSpPr>
          <p:nvPr/>
        </p:nvSpPr>
        <p:spPr bwMode="auto">
          <a:xfrm>
            <a:off x="5940425" y="4508500"/>
            <a:ext cx="647700" cy="5191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IS</a:t>
            </a:r>
          </a:p>
        </p:txBody>
      </p:sp>
      <p:sp>
        <p:nvSpPr>
          <p:cNvPr id="41" name="Text Box 12"/>
          <p:cNvSpPr txBox="1">
            <a:spLocks noChangeArrowheads="1"/>
          </p:cNvSpPr>
          <p:nvPr/>
        </p:nvSpPr>
        <p:spPr bwMode="auto">
          <a:xfrm>
            <a:off x="1979613" y="4941888"/>
            <a:ext cx="5048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O</a:t>
            </a:r>
          </a:p>
        </p:txBody>
      </p:sp>
      <p:grpSp>
        <p:nvGrpSpPr>
          <p:cNvPr id="42" name="Group 25"/>
          <p:cNvGrpSpPr>
            <a:grpSpLocks/>
          </p:cNvGrpSpPr>
          <p:nvPr/>
        </p:nvGrpSpPr>
        <p:grpSpPr bwMode="auto">
          <a:xfrm>
            <a:off x="3924300" y="1844675"/>
            <a:ext cx="3024188" cy="2087563"/>
            <a:chOff x="2245" y="1162"/>
            <a:chExt cx="1905" cy="1315"/>
          </a:xfrm>
        </p:grpSpPr>
        <p:sp>
          <p:nvSpPr>
            <p:cNvPr id="43" name="Line 23"/>
            <p:cNvSpPr>
              <a:spLocks noChangeShapeType="1"/>
            </p:cNvSpPr>
            <p:nvPr/>
          </p:nvSpPr>
          <p:spPr bwMode="auto">
            <a:xfrm>
              <a:off x="2472" y="1162"/>
              <a:ext cx="1678" cy="1315"/>
            </a:xfrm>
            <a:prstGeom prst="line">
              <a:avLst/>
            </a:prstGeom>
            <a:noFill/>
            <a:ln w="31750">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44" name="Line 24"/>
            <p:cNvSpPr>
              <a:spLocks noChangeShapeType="1"/>
            </p:cNvSpPr>
            <p:nvPr/>
          </p:nvSpPr>
          <p:spPr bwMode="auto">
            <a:xfrm>
              <a:off x="2245" y="1480"/>
              <a:ext cx="544"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grpSp>
      <p:grpSp>
        <p:nvGrpSpPr>
          <p:cNvPr id="45" name="Group 28"/>
          <p:cNvGrpSpPr>
            <a:grpSpLocks/>
          </p:cNvGrpSpPr>
          <p:nvPr/>
        </p:nvGrpSpPr>
        <p:grpSpPr bwMode="auto">
          <a:xfrm>
            <a:off x="2916238" y="2205038"/>
            <a:ext cx="2952750" cy="2016125"/>
            <a:chOff x="1791" y="1344"/>
            <a:chExt cx="1860" cy="1270"/>
          </a:xfrm>
        </p:grpSpPr>
        <p:sp>
          <p:nvSpPr>
            <p:cNvPr id="46" name="Line 26"/>
            <p:cNvSpPr>
              <a:spLocks noChangeShapeType="1"/>
            </p:cNvSpPr>
            <p:nvPr/>
          </p:nvSpPr>
          <p:spPr bwMode="auto">
            <a:xfrm flipV="1">
              <a:off x="1791" y="1344"/>
              <a:ext cx="1860" cy="1270"/>
            </a:xfrm>
            <a:prstGeom prst="line">
              <a:avLst/>
            </a:prstGeom>
            <a:noFill/>
            <a:ln w="2857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47" name="Line 27"/>
            <p:cNvSpPr>
              <a:spLocks noChangeShapeType="1"/>
            </p:cNvSpPr>
            <p:nvPr/>
          </p:nvSpPr>
          <p:spPr bwMode="auto">
            <a:xfrm flipH="1">
              <a:off x="2200" y="2387"/>
              <a:ext cx="362"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grpSp>
      <p:grpSp>
        <p:nvGrpSpPr>
          <p:cNvPr id="48" name="Group 31"/>
          <p:cNvGrpSpPr>
            <a:grpSpLocks/>
          </p:cNvGrpSpPr>
          <p:nvPr/>
        </p:nvGrpSpPr>
        <p:grpSpPr bwMode="auto">
          <a:xfrm>
            <a:off x="3924300" y="2205038"/>
            <a:ext cx="2663825" cy="2087562"/>
            <a:chOff x="2517" y="1298"/>
            <a:chExt cx="1678" cy="1315"/>
          </a:xfrm>
        </p:grpSpPr>
        <p:sp>
          <p:nvSpPr>
            <p:cNvPr id="49" name="Line 29"/>
            <p:cNvSpPr>
              <a:spLocks noChangeShapeType="1"/>
            </p:cNvSpPr>
            <p:nvPr/>
          </p:nvSpPr>
          <p:spPr bwMode="auto">
            <a:xfrm>
              <a:off x="2517" y="1298"/>
              <a:ext cx="1678" cy="1315"/>
            </a:xfrm>
            <a:prstGeom prst="line">
              <a:avLst/>
            </a:prstGeom>
            <a:noFill/>
            <a:ln w="31750">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50" name="Line 30"/>
            <p:cNvSpPr>
              <a:spLocks noChangeShapeType="1"/>
            </p:cNvSpPr>
            <p:nvPr/>
          </p:nvSpPr>
          <p:spPr bwMode="auto">
            <a:xfrm flipH="1">
              <a:off x="2517" y="1298"/>
              <a:ext cx="318"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grpSp>
      <p:grpSp>
        <p:nvGrpSpPr>
          <p:cNvPr id="51" name="Group 39"/>
          <p:cNvGrpSpPr>
            <a:grpSpLocks/>
          </p:cNvGrpSpPr>
          <p:nvPr/>
        </p:nvGrpSpPr>
        <p:grpSpPr bwMode="auto">
          <a:xfrm>
            <a:off x="3779838" y="2349500"/>
            <a:ext cx="1582737" cy="3276600"/>
            <a:chOff x="2381" y="1480"/>
            <a:chExt cx="997" cy="2064"/>
          </a:xfrm>
        </p:grpSpPr>
        <p:sp>
          <p:nvSpPr>
            <p:cNvPr id="52" name="Text Box 33"/>
            <p:cNvSpPr txBox="1">
              <a:spLocks noChangeArrowheads="1"/>
            </p:cNvSpPr>
            <p:nvPr/>
          </p:nvSpPr>
          <p:spPr bwMode="auto">
            <a:xfrm>
              <a:off x="2381" y="3294"/>
              <a:ext cx="726" cy="2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solidFill>
                    <a:schemeClr val="accent1"/>
                  </a:solidFill>
                </a:rPr>
                <a:t>        Y</a:t>
              </a:r>
              <a:r>
                <a:rPr lang="en-US" altLang="zh-CN" sz="2000" baseline="-25000" dirty="0">
                  <a:solidFill>
                    <a:schemeClr val="accent1"/>
                  </a:solidFill>
                </a:rPr>
                <a:t>0</a:t>
              </a:r>
              <a:endParaRPr lang="en-US" altLang="zh-CN" sz="2000" dirty="0">
                <a:solidFill>
                  <a:schemeClr val="accent1"/>
                </a:solidFill>
              </a:endParaRPr>
            </a:p>
          </p:txBody>
        </p:sp>
        <p:sp>
          <p:nvSpPr>
            <p:cNvPr id="53" name="Line 34"/>
            <p:cNvSpPr>
              <a:spLocks noChangeShapeType="1"/>
            </p:cNvSpPr>
            <p:nvPr/>
          </p:nvSpPr>
          <p:spPr bwMode="auto">
            <a:xfrm>
              <a:off x="2880" y="2251"/>
              <a:ext cx="0" cy="952"/>
            </a:xfrm>
            <a:prstGeom prst="line">
              <a:avLst/>
            </a:prstGeom>
            <a:noFill/>
            <a:ln w="9525">
              <a:solidFill>
                <a:schemeClr val="accent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54" name="Line 35"/>
            <p:cNvSpPr>
              <a:spLocks noChangeShapeType="1"/>
            </p:cNvSpPr>
            <p:nvPr/>
          </p:nvSpPr>
          <p:spPr bwMode="auto">
            <a:xfrm>
              <a:off x="3061" y="1797"/>
              <a:ext cx="0" cy="1407"/>
            </a:xfrm>
            <a:prstGeom prst="line">
              <a:avLst/>
            </a:prstGeom>
            <a:noFill/>
            <a:ln w="9525">
              <a:solidFill>
                <a:schemeClr val="accent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55" name="Text Box 36"/>
            <p:cNvSpPr txBox="1">
              <a:spLocks noChangeArrowheads="1"/>
            </p:cNvSpPr>
            <p:nvPr/>
          </p:nvSpPr>
          <p:spPr bwMode="auto">
            <a:xfrm>
              <a:off x="2925" y="3294"/>
              <a:ext cx="453" cy="2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solidFill>
                    <a:schemeClr val="accent1"/>
                  </a:solidFill>
                </a:rPr>
                <a:t>    Y’</a:t>
              </a:r>
            </a:p>
          </p:txBody>
        </p:sp>
        <p:sp>
          <p:nvSpPr>
            <p:cNvPr id="81" name="Line 37"/>
            <p:cNvSpPr>
              <a:spLocks noChangeShapeType="1"/>
            </p:cNvSpPr>
            <p:nvPr/>
          </p:nvSpPr>
          <p:spPr bwMode="auto">
            <a:xfrm>
              <a:off x="3198" y="1480"/>
              <a:ext cx="0" cy="1769"/>
            </a:xfrm>
            <a:prstGeom prst="line">
              <a:avLst/>
            </a:prstGeom>
            <a:noFill/>
            <a:ln w="9525">
              <a:solidFill>
                <a:schemeClr val="accent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82" name="Text Box 38"/>
            <p:cNvSpPr txBox="1">
              <a:spLocks noChangeArrowheads="1"/>
            </p:cNvSpPr>
            <p:nvPr/>
          </p:nvSpPr>
          <p:spPr bwMode="auto">
            <a:xfrm>
              <a:off x="2744" y="3294"/>
              <a:ext cx="499" cy="2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solidFill>
                    <a:schemeClr val="accent1"/>
                  </a:solidFill>
                </a:rPr>
                <a:t>    Y*</a:t>
              </a:r>
            </a:p>
          </p:txBody>
        </p:sp>
      </p:grpSp>
    </p:spTree>
    <p:extLst>
      <p:ext uri="{BB962C8B-B14F-4D97-AF65-F5344CB8AC3E}">
        <p14:creationId xmlns:p14="http://schemas.microsoft.com/office/powerpoint/2010/main" val="14663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 calcmode="lin" valueType="num">
                                      <p:cBhvr additive="base">
                                        <p:cTn id="7" dur="500" fill="hold"/>
                                        <p:tgtEl>
                                          <p:spTgt spid="42"/>
                                        </p:tgtEl>
                                        <p:attrNameLst>
                                          <p:attrName>ppt_x</p:attrName>
                                        </p:attrNameLst>
                                      </p:cBhvr>
                                      <p:tavLst>
                                        <p:tav tm="0">
                                          <p:val>
                                            <p:strVal val="0-#ppt_w/2"/>
                                          </p:val>
                                        </p:tav>
                                        <p:tav tm="100000">
                                          <p:val>
                                            <p:strVal val="#ppt_x"/>
                                          </p:val>
                                        </p:tav>
                                      </p:tavLst>
                                    </p:anim>
                                    <p:anim calcmode="lin" valueType="num">
                                      <p:cBhvr additive="base">
                                        <p:cTn id="8" dur="500" fill="hold"/>
                                        <p:tgtEl>
                                          <p:spTgt spid="4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45"/>
                                        </p:tgtEl>
                                        <p:attrNameLst>
                                          <p:attrName>style.visibility</p:attrName>
                                        </p:attrNameLst>
                                      </p:cBhvr>
                                      <p:to>
                                        <p:strVal val="visible"/>
                                      </p:to>
                                    </p:set>
                                    <p:anim calcmode="lin" valueType="num">
                                      <p:cBhvr additive="base">
                                        <p:cTn id="13" dur="500" fill="hold"/>
                                        <p:tgtEl>
                                          <p:spTgt spid="45"/>
                                        </p:tgtEl>
                                        <p:attrNameLst>
                                          <p:attrName>ppt_x</p:attrName>
                                        </p:attrNameLst>
                                      </p:cBhvr>
                                      <p:tavLst>
                                        <p:tav tm="0">
                                          <p:val>
                                            <p:strVal val="1+#ppt_w/2"/>
                                          </p:val>
                                        </p:tav>
                                        <p:tav tm="100000">
                                          <p:val>
                                            <p:strVal val="#ppt_x"/>
                                          </p:val>
                                        </p:tav>
                                      </p:tavLst>
                                    </p:anim>
                                    <p:anim calcmode="lin" valueType="num">
                                      <p:cBhvr additive="base">
                                        <p:cTn id="14" dur="500" fill="hold"/>
                                        <p:tgtEl>
                                          <p:spTgt spid="4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48"/>
                                        </p:tgtEl>
                                        <p:attrNameLst>
                                          <p:attrName>style.visibility</p:attrName>
                                        </p:attrNameLst>
                                      </p:cBhvr>
                                      <p:to>
                                        <p:strVal val="visible"/>
                                      </p:to>
                                    </p:set>
                                    <p:anim calcmode="lin" valueType="num">
                                      <p:cBhvr additive="base">
                                        <p:cTn id="19" dur="500" fill="hold"/>
                                        <p:tgtEl>
                                          <p:spTgt spid="48"/>
                                        </p:tgtEl>
                                        <p:attrNameLst>
                                          <p:attrName>ppt_x</p:attrName>
                                        </p:attrNameLst>
                                      </p:cBhvr>
                                      <p:tavLst>
                                        <p:tav tm="0">
                                          <p:val>
                                            <p:strVal val="1+#ppt_w/2"/>
                                          </p:val>
                                        </p:tav>
                                        <p:tav tm="100000">
                                          <p:val>
                                            <p:strVal val="#ppt_x"/>
                                          </p:val>
                                        </p:tav>
                                      </p:tavLst>
                                    </p:anim>
                                    <p:anim calcmode="lin" valueType="num">
                                      <p:cBhvr additive="base">
                                        <p:cTn id="20" dur="500" fill="hold"/>
                                        <p:tgtEl>
                                          <p:spTgt spid="4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noFill/>
          </a:ln>
        </p:spPr>
        <p:txBody>
          <a:bodyPr>
            <a:normAutofit/>
          </a:bodyPr>
          <a:lstStyle/>
          <a:p>
            <a:pPr algn="ctr"/>
            <a:r>
              <a:rPr lang="zh-CN" altLang="en-US" sz="2400" dirty="0"/>
              <a:t>浮动汇率制下，扩张的财政政策</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56" name="Line 2"/>
          <p:cNvSpPr>
            <a:spLocks noChangeShapeType="1"/>
          </p:cNvSpPr>
          <p:nvPr/>
        </p:nvSpPr>
        <p:spPr bwMode="auto">
          <a:xfrm flipV="1">
            <a:off x="2411413" y="1628775"/>
            <a:ext cx="0" cy="3529013"/>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57" name="Line 3"/>
          <p:cNvSpPr>
            <a:spLocks noChangeShapeType="1"/>
          </p:cNvSpPr>
          <p:nvPr/>
        </p:nvSpPr>
        <p:spPr bwMode="auto">
          <a:xfrm>
            <a:off x="2411413" y="5157788"/>
            <a:ext cx="4465637" cy="0"/>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58" name="Line 4"/>
          <p:cNvSpPr>
            <a:spLocks noChangeShapeType="1"/>
          </p:cNvSpPr>
          <p:nvPr/>
        </p:nvSpPr>
        <p:spPr bwMode="auto">
          <a:xfrm>
            <a:off x="3203575" y="2492375"/>
            <a:ext cx="2663825" cy="2087563"/>
          </a:xfrm>
          <a:prstGeom prst="line">
            <a:avLst/>
          </a:prstGeom>
          <a:noFill/>
          <a:ln w="3175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59" name="Line 5"/>
          <p:cNvSpPr>
            <a:spLocks noChangeShapeType="1"/>
          </p:cNvSpPr>
          <p:nvPr/>
        </p:nvSpPr>
        <p:spPr bwMode="auto">
          <a:xfrm flipV="1">
            <a:off x="3419475" y="2349500"/>
            <a:ext cx="2447925" cy="2303463"/>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60" name="Line 6"/>
          <p:cNvSpPr>
            <a:spLocks noChangeShapeType="1"/>
          </p:cNvSpPr>
          <p:nvPr/>
        </p:nvSpPr>
        <p:spPr bwMode="auto">
          <a:xfrm flipH="1">
            <a:off x="2843213" y="3573463"/>
            <a:ext cx="360045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61" name="Text Box 7"/>
          <p:cNvSpPr txBox="1">
            <a:spLocks noChangeArrowheads="1"/>
          </p:cNvSpPr>
          <p:nvPr/>
        </p:nvSpPr>
        <p:spPr bwMode="auto">
          <a:xfrm>
            <a:off x="1763713" y="1484313"/>
            <a:ext cx="5048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i</a:t>
            </a:r>
          </a:p>
        </p:txBody>
      </p:sp>
      <p:sp>
        <p:nvSpPr>
          <p:cNvPr id="62" name="Text Box 8"/>
          <p:cNvSpPr txBox="1">
            <a:spLocks noChangeArrowheads="1"/>
          </p:cNvSpPr>
          <p:nvPr/>
        </p:nvSpPr>
        <p:spPr bwMode="auto">
          <a:xfrm>
            <a:off x="6875463" y="4926013"/>
            <a:ext cx="5048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Y</a:t>
            </a:r>
          </a:p>
        </p:txBody>
      </p:sp>
      <p:sp>
        <p:nvSpPr>
          <p:cNvPr id="63" name="Text Box 9"/>
          <p:cNvSpPr txBox="1">
            <a:spLocks noChangeArrowheads="1"/>
          </p:cNvSpPr>
          <p:nvPr/>
        </p:nvSpPr>
        <p:spPr bwMode="auto">
          <a:xfrm>
            <a:off x="6227763" y="2133600"/>
            <a:ext cx="720725" cy="5191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LM</a:t>
            </a:r>
          </a:p>
        </p:txBody>
      </p:sp>
      <p:sp>
        <p:nvSpPr>
          <p:cNvPr id="64" name="Text Box 10"/>
          <p:cNvSpPr txBox="1">
            <a:spLocks noChangeArrowheads="1"/>
          </p:cNvSpPr>
          <p:nvPr/>
        </p:nvSpPr>
        <p:spPr bwMode="auto">
          <a:xfrm>
            <a:off x="6588125" y="3357563"/>
            <a:ext cx="7207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BP</a:t>
            </a:r>
          </a:p>
        </p:txBody>
      </p:sp>
      <p:sp>
        <p:nvSpPr>
          <p:cNvPr id="65" name="Text Box 11"/>
          <p:cNvSpPr txBox="1">
            <a:spLocks noChangeArrowheads="1"/>
          </p:cNvSpPr>
          <p:nvPr/>
        </p:nvSpPr>
        <p:spPr bwMode="auto">
          <a:xfrm>
            <a:off x="5940425" y="4508500"/>
            <a:ext cx="647700" cy="5191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IS</a:t>
            </a:r>
          </a:p>
        </p:txBody>
      </p:sp>
      <p:sp>
        <p:nvSpPr>
          <p:cNvPr id="66" name="Text Box 12"/>
          <p:cNvSpPr txBox="1">
            <a:spLocks noChangeArrowheads="1"/>
          </p:cNvSpPr>
          <p:nvPr/>
        </p:nvSpPr>
        <p:spPr bwMode="auto">
          <a:xfrm>
            <a:off x="1979613" y="4941888"/>
            <a:ext cx="504825"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O</a:t>
            </a:r>
          </a:p>
        </p:txBody>
      </p:sp>
      <p:grpSp>
        <p:nvGrpSpPr>
          <p:cNvPr id="67" name="Group 16"/>
          <p:cNvGrpSpPr>
            <a:grpSpLocks/>
          </p:cNvGrpSpPr>
          <p:nvPr/>
        </p:nvGrpSpPr>
        <p:grpSpPr bwMode="auto">
          <a:xfrm>
            <a:off x="3851275" y="2278063"/>
            <a:ext cx="2665413" cy="2087562"/>
            <a:chOff x="2426" y="1435"/>
            <a:chExt cx="1679" cy="1315"/>
          </a:xfrm>
        </p:grpSpPr>
        <p:sp>
          <p:nvSpPr>
            <p:cNvPr id="68" name="Line 14"/>
            <p:cNvSpPr>
              <a:spLocks noChangeShapeType="1"/>
            </p:cNvSpPr>
            <p:nvPr/>
          </p:nvSpPr>
          <p:spPr bwMode="auto">
            <a:xfrm>
              <a:off x="2427" y="1435"/>
              <a:ext cx="1678" cy="1315"/>
            </a:xfrm>
            <a:prstGeom prst="line">
              <a:avLst/>
            </a:prstGeom>
            <a:noFill/>
            <a:ln w="31750">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69" name="Line 15"/>
            <p:cNvSpPr>
              <a:spLocks noChangeShapeType="1"/>
            </p:cNvSpPr>
            <p:nvPr/>
          </p:nvSpPr>
          <p:spPr bwMode="auto">
            <a:xfrm>
              <a:off x="2426" y="1797"/>
              <a:ext cx="409"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grpSp>
      <p:sp>
        <p:nvSpPr>
          <p:cNvPr id="70" name="Line 17"/>
          <p:cNvSpPr>
            <a:spLocks noChangeShapeType="1"/>
          </p:cNvSpPr>
          <p:nvPr/>
        </p:nvSpPr>
        <p:spPr bwMode="auto">
          <a:xfrm flipH="1">
            <a:off x="3563938" y="2636838"/>
            <a:ext cx="576262"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grpSp>
        <p:nvGrpSpPr>
          <p:cNvPr id="71" name="Group 23"/>
          <p:cNvGrpSpPr>
            <a:grpSpLocks/>
          </p:cNvGrpSpPr>
          <p:nvPr/>
        </p:nvGrpSpPr>
        <p:grpSpPr bwMode="auto">
          <a:xfrm>
            <a:off x="4140200" y="3213100"/>
            <a:ext cx="1223963" cy="2717800"/>
            <a:chOff x="2608" y="2024"/>
            <a:chExt cx="771" cy="1712"/>
          </a:xfrm>
        </p:grpSpPr>
        <p:sp>
          <p:nvSpPr>
            <p:cNvPr id="72" name="Text Box 19"/>
            <p:cNvSpPr txBox="1">
              <a:spLocks noChangeArrowheads="1"/>
            </p:cNvSpPr>
            <p:nvPr/>
          </p:nvSpPr>
          <p:spPr bwMode="auto">
            <a:xfrm>
              <a:off x="2608" y="3294"/>
              <a:ext cx="680" cy="44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solidFill>
                    <a:schemeClr val="accent1"/>
                  </a:solidFill>
                </a:rPr>
                <a:t>    Y</a:t>
              </a:r>
              <a:r>
                <a:rPr lang="en-US" altLang="zh-CN" sz="2000" baseline="-25000" dirty="0">
                  <a:solidFill>
                    <a:schemeClr val="accent1"/>
                  </a:solidFill>
                </a:rPr>
                <a:t>0</a:t>
              </a:r>
              <a:r>
                <a:rPr lang="zh-CN" altLang="en-US" sz="2000" dirty="0">
                  <a:solidFill>
                    <a:schemeClr val="accent1"/>
                  </a:solidFill>
                </a:rPr>
                <a:t>（</a:t>
              </a:r>
              <a:r>
                <a:rPr lang="en-US" altLang="zh-CN" sz="2000" dirty="0">
                  <a:solidFill>
                    <a:schemeClr val="accent1"/>
                  </a:solidFill>
                </a:rPr>
                <a:t>Y*</a:t>
              </a:r>
              <a:r>
                <a:rPr lang="zh-CN" altLang="en-US" sz="2000" dirty="0">
                  <a:solidFill>
                    <a:schemeClr val="accent1"/>
                  </a:solidFill>
                </a:rPr>
                <a:t>）</a:t>
              </a:r>
            </a:p>
          </p:txBody>
        </p:sp>
        <p:sp>
          <p:nvSpPr>
            <p:cNvPr id="73" name="Line 20"/>
            <p:cNvSpPr>
              <a:spLocks noChangeShapeType="1"/>
            </p:cNvSpPr>
            <p:nvPr/>
          </p:nvSpPr>
          <p:spPr bwMode="auto">
            <a:xfrm>
              <a:off x="3152" y="2024"/>
              <a:ext cx="0" cy="1225"/>
            </a:xfrm>
            <a:prstGeom prst="line">
              <a:avLst/>
            </a:prstGeom>
            <a:noFill/>
            <a:ln w="9525">
              <a:solidFill>
                <a:schemeClr val="accent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74" name="Text Box 21"/>
            <p:cNvSpPr txBox="1">
              <a:spLocks noChangeArrowheads="1"/>
            </p:cNvSpPr>
            <p:nvPr/>
          </p:nvSpPr>
          <p:spPr bwMode="auto">
            <a:xfrm>
              <a:off x="2925" y="3294"/>
              <a:ext cx="454" cy="2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solidFill>
                    <a:schemeClr val="accent1"/>
                  </a:solidFill>
                </a:rPr>
                <a:t>    Y’</a:t>
              </a:r>
            </a:p>
          </p:txBody>
        </p:sp>
        <p:sp>
          <p:nvSpPr>
            <p:cNvPr id="75" name="Line 22"/>
            <p:cNvSpPr>
              <a:spLocks noChangeShapeType="1"/>
            </p:cNvSpPr>
            <p:nvPr/>
          </p:nvSpPr>
          <p:spPr bwMode="auto">
            <a:xfrm>
              <a:off x="2880" y="2296"/>
              <a:ext cx="0" cy="953"/>
            </a:xfrm>
            <a:prstGeom prst="line">
              <a:avLst/>
            </a:prstGeom>
            <a:noFill/>
            <a:ln w="9525">
              <a:solidFill>
                <a:schemeClr val="accent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grpSp>
    </p:spTree>
    <p:extLst>
      <p:ext uri="{BB962C8B-B14F-4D97-AF65-F5344CB8AC3E}">
        <p14:creationId xmlns:p14="http://schemas.microsoft.com/office/powerpoint/2010/main" val="3582643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anim calcmode="lin" valueType="num">
                                      <p:cBhvr additive="base">
                                        <p:cTn id="7" dur="500" fill="hold"/>
                                        <p:tgtEl>
                                          <p:spTgt spid="67"/>
                                        </p:tgtEl>
                                        <p:attrNameLst>
                                          <p:attrName>ppt_x</p:attrName>
                                        </p:attrNameLst>
                                      </p:cBhvr>
                                      <p:tavLst>
                                        <p:tav tm="0">
                                          <p:val>
                                            <p:strVal val="0-#ppt_w/2"/>
                                          </p:val>
                                        </p:tav>
                                        <p:tav tm="100000">
                                          <p:val>
                                            <p:strVal val="#ppt_x"/>
                                          </p:val>
                                        </p:tav>
                                      </p:tavLst>
                                    </p:anim>
                                    <p:anim calcmode="lin" valueType="num">
                                      <p:cBhvr additive="base">
                                        <p:cTn id="8" dur="500" fill="hold"/>
                                        <p:tgtEl>
                                          <p:spTgt spid="6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70"/>
                                        </p:tgtEl>
                                        <p:attrNameLst>
                                          <p:attrName>style.visibility</p:attrName>
                                        </p:attrNameLst>
                                      </p:cBhvr>
                                      <p:to>
                                        <p:strVal val="visible"/>
                                      </p:to>
                                    </p:set>
                                    <p:anim calcmode="lin" valueType="num">
                                      <p:cBhvr additive="base">
                                        <p:cTn id="13" dur="500" fill="hold"/>
                                        <p:tgtEl>
                                          <p:spTgt spid="70"/>
                                        </p:tgtEl>
                                        <p:attrNameLst>
                                          <p:attrName>ppt_x</p:attrName>
                                        </p:attrNameLst>
                                      </p:cBhvr>
                                      <p:tavLst>
                                        <p:tav tm="0">
                                          <p:val>
                                            <p:strVal val="1+#ppt_w/2"/>
                                          </p:val>
                                        </p:tav>
                                        <p:tav tm="100000">
                                          <p:val>
                                            <p:strVal val="#ppt_x"/>
                                          </p:val>
                                        </p:tav>
                                      </p:tavLst>
                                    </p:anim>
                                    <p:anim calcmode="lin" valueType="num">
                                      <p:cBhvr additive="base">
                                        <p:cTn id="14" dur="500" fill="hold"/>
                                        <p:tgtEl>
                                          <p:spTgt spid="7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graphicFrame>
        <p:nvGraphicFramePr>
          <p:cNvPr id="6" name="Group 80"/>
          <p:cNvGraphicFramePr>
            <a:graphicFrameLocks noGrp="1"/>
          </p:cNvGraphicFramePr>
          <p:nvPr>
            <p:ph idx="1"/>
            <p:extLst>
              <p:ext uri="{D42A27DB-BD31-4B8C-83A1-F6EECF244321}">
                <p14:modId xmlns:p14="http://schemas.microsoft.com/office/powerpoint/2010/main" val="3163118368"/>
              </p:ext>
            </p:extLst>
          </p:nvPr>
        </p:nvGraphicFramePr>
        <p:xfrm>
          <a:off x="468313" y="2205038"/>
          <a:ext cx="8229600" cy="3311526"/>
        </p:xfrm>
        <a:graphic>
          <a:graphicData uri="http://schemas.openxmlformats.org/drawingml/2006/table">
            <a:tbl>
              <a:tblPr>
                <a:tableStyleId>{BC89EF96-8CEA-46FF-86C4-4CE0E7609802}</a:tableStyleId>
              </a:tblPr>
              <a:tblGrid>
                <a:gridCol w="2332037"/>
                <a:gridCol w="958850"/>
                <a:gridCol w="887413"/>
                <a:gridCol w="974725"/>
                <a:gridCol w="1036637"/>
                <a:gridCol w="971550"/>
                <a:gridCol w="1068388"/>
              </a:tblGrid>
              <a:tr h="8286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4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anchor="ctr" horzOverflow="overflow">
                    <a:solidFill>
                      <a:schemeClr val="accent1">
                        <a:lumMod val="60000"/>
                        <a:lumOff val="40000"/>
                      </a:schemeClr>
                    </a:solidFill>
                  </a:tcPr>
                </a:tc>
                <a:tc gridSpan="3">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rPr>
                        <a:t>        </a:t>
                      </a:r>
                      <a:r>
                        <a:rPr kumimoji="0" lang="zh-CN" altLang="en-US" sz="240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rPr>
                        <a:t>固定汇率制</a:t>
                      </a:r>
                      <a:endParaRPr kumimoji="0" lang="zh-CN" altLang="en-US" sz="24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anchor="ctr" horzOverflow="overflow">
                    <a:solidFill>
                      <a:schemeClr val="accent1">
                        <a:lumMod val="60000"/>
                        <a:lumOff val="40000"/>
                      </a:schemeClr>
                    </a:solidFill>
                  </a:tcPr>
                </a:tc>
                <a:tc hMerge="1">
                  <a:txBody>
                    <a:bodyPr/>
                    <a:lstStyle/>
                    <a:p>
                      <a:endParaRPr lang="zh-CN" altLang="en-US"/>
                    </a:p>
                  </a:txBody>
                  <a:tcPr/>
                </a:tc>
                <a:tc hMerge="1">
                  <a:txBody>
                    <a:bodyPr/>
                    <a:lstStyle/>
                    <a:p>
                      <a:endParaRPr lang="zh-CN" altLang="en-US"/>
                    </a:p>
                  </a:txBody>
                  <a:tcPr/>
                </a:tc>
                <a:tc gridSpan="3">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rPr>
                        <a:t>        </a:t>
                      </a:r>
                      <a:r>
                        <a:rPr kumimoji="0" lang="zh-CN" altLang="en-US" sz="240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rPr>
                        <a:t>浮动汇率制</a:t>
                      </a:r>
                      <a:endParaRPr kumimoji="0" lang="zh-CN" altLang="en-US" sz="24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anchor="ctr" horzOverflow="overflow">
                    <a:solidFill>
                      <a:schemeClr val="accent1">
                        <a:lumMod val="60000"/>
                        <a:lumOff val="40000"/>
                      </a:schemeClr>
                    </a:solidFill>
                  </a:tcPr>
                </a:tc>
                <a:tc hMerge="1">
                  <a:txBody>
                    <a:bodyPr/>
                    <a:lstStyle/>
                    <a:p>
                      <a:endParaRPr lang="zh-CN" altLang="en-US"/>
                    </a:p>
                  </a:txBody>
                  <a:tcPr/>
                </a:tc>
                <a:tc hMerge="1">
                  <a:txBody>
                    <a:bodyPr/>
                    <a:lstStyle/>
                    <a:p>
                      <a:endParaRPr lang="zh-CN" altLang="en-US"/>
                    </a:p>
                  </a:txBody>
                  <a:tcPr/>
                </a:tc>
              </a:tr>
              <a:tr h="8270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dirty="0" smtClean="0">
                          <a:ln>
                            <a:noFill/>
                          </a:ln>
                          <a:effectLst/>
                          <a:latin typeface="微软雅黑" panose="020B0503020204020204" pitchFamily="34" charset="-122"/>
                          <a:ea typeface="微软雅黑" panose="020B0503020204020204" pitchFamily="34" charset="-122"/>
                        </a:rPr>
                        <a:t>   </a:t>
                      </a:r>
                      <a:r>
                        <a:rPr kumimoji="0" lang="zh-CN" altLang="en-US" sz="2400" u="none" strike="noStrike" cap="none" normalizeH="0" baseline="0" dirty="0" smtClean="0">
                          <a:ln>
                            <a:noFill/>
                          </a:ln>
                          <a:effectLst/>
                          <a:latin typeface="微软雅黑" panose="020B0503020204020204" pitchFamily="34" charset="-122"/>
                          <a:ea typeface="微软雅黑" panose="020B0503020204020204" pitchFamily="34" charset="-122"/>
                        </a:rPr>
                        <a:t>资本流动性</a:t>
                      </a:r>
                      <a:endParaRPr kumimoji="0" lang="zh-CN" altLang="en-US" sz="24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   0</a:t>
                      </a:r>
                      <a:endParaRPr kumimoji="0" lang="en-US" altLang="zh-CN" sz="24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  </a:t>
                      </a:r>
                      <a:r>
                        <a:rPr kumimoji="0" lang="zh-CN" altLang="en-US" sz="2400" u="none" strike="noStrike" cap="none" normalizeH="0" baseline="0" smtClean="0">
                          <a:ln>
                            <a:noFill/>
                          </a:ln>
                          <a:effectLst/>
                          <a:latin typeface="微软雅黑" panose="020B0503020204020204" pitchFamily="34" charset="-122"/>
                          <a:ea typeface="微软雅黑" panose="020B0503020204020204" pitchFamily="34" charset="-122"/>
                        </a:rPr>
                        <a:t>＋</a:t>
                      </a:r>
                      <a:endParaRPr kumimoji="0" lang="zh-CN" altLang="en-US" sz="24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rPr>
                        <a:t>   ∞</a:t>
                      </a:r>
                      <a:endParaRPr kumimoji="0" lang="en-US" altLang="zh-CN" sz="24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charset="0"/>
                      </a:endParaRPr>
                    </a:p>
                  </a:txBody>
                  <a:tcPr anchor="ctr" horzOverflow="overflow">
                    <a:solidFill>
                      <a:schemeClr val="accent1">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   0</a:t>
                      </a:r>
                      <a:endParaRPr kumimoji="0" lang="en-US" altLang="zh-CN" sz="24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  </a:t>
                      </a:r>
                      <a:r>
                        <a:rPr kumimoji="0" lang="zh-CN" altLang="en-US" sz="2400" u="none" strike="noStrike" cap="none" normalizeH="0" baseline="0" smtClean="0">
                          <a:ln>
                            <a:noFill/>
                          </a:ln>
                          <a:effectLst/>
                          <a:latin typeface="微软雅黑" panose="020B0503020204020204" pitchFamily="34" charset="-122"/>
                          <a:ea typeface="微软雅黑" panose="020B0503020204020204" pitchFamily="34" charset="-122"/>
                        </a:rPr>
                        <a:t>＋</a:t>
                      </a:r>
                      <a:endParaRPr kumimoji="0" lang="zh-CN" altLang="en-US" sz="24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  ∞</a:t>
                      </a:r>
                      <a:endParaRPr kumimoji="0" lang="en-US" altLang="zh-CN" sz="24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charset="0"/>
                      </a:endParaRPr>
                    </a:p>
                  </a:txBody>
                  <a:tcPr anchor="ctr" horzOverflow="overflow"/>
                </a:tc>
              </a:tr>
              <a:tr h="8270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u="none" strike="noStrike" cap="none" normalizeH="0" baseline="0" dirty="0" smtClean="0">
                          <a:ln>
                            <a:noFill/>
                          </a:ln>
                          <a:effectLst/>
                          <a:latin typeface="微软雅黑" panose="020B0503020204020204" pitchFamily="34" charset="-122"/>
                          <a:ea typeface="微软雅黑" panose="020B0503020204020204" pitchFamily="34" charset="-122"/>
                        </a:rPr>
                        <a:t>扩张性货币政策</a:t>
                      </a:r>
                      <a:endParaRPr kumimoji="0" lang="zh-CN" altLang="en-US" sz="24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dirty="0" smtClean="0">
                          <a:ln>
                            <a:noFill/>
                          </a:ln>
                          <a:effectLst/>
                          <a:latin typeface="微软雅黑" panose="020B0503020204020204" pitchFamily="34" charset="-122"/>
                          <a:ea typeface="微软雅黑" panose="020B0503020204020204" pitchFamily="34" charset="-122"/>
                        </a:rPr>
                        <a:t>   0</a:t>
                      </a:r>
                      <a:endParaRPr kumimoji="0" lang="en-US" altLang="zh-CN" sz="24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dirty="0" smtClean="0">
                          <a:ln>
                            <a:noFill/>
                          </a:ln>
                          <a:effectLst/>
                          <a:latin typeface="微软雅黑" panose="020B0503020204020204" pitchFamily="34" charset="-122"/>
                          <a:ea typeface="微软雅黑" panose="020B0503020204020204" pitchFamily="34" charset="-122"/>
                        </a:rPr>
                        <a:t>   0</a:t>
                      </a:r>
                      <a:endParaRPr kumimoji="0" lang="en-US" altLang="zh-CN" sz="24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rPr>
                        <a:t>   0</a:t>
                      </a:r>
                      <a:endParaRPr kumimoji="0" lang="en-US" altLang="zh-CN" sz="24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anchor="ctr" horzOverflow="overflow">
                    <a:solidFill>
                      <a:schemeClr val="accent1">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dirty="0" smtClean="0">
                          <a:ln>
                            <a:noFill/>
                          </a:ln>
                          <a:effectLst/>
                          <a:latin typeface="微软雅黑" panose="020B0503020204020204" pitchFamily="34" charset="-122"/>
                          <a:ea typeface="微软雅黑" panose="020B0503020204020204" pitchFamily="34" charset="-122"/>
                        </a:rPr>
                        <a:t> &gt;Y’</a:t>
                      </a:r>
                      <a:endParaRPr kumimoji="0" lang="en-US" altLang="zh-CN" sz="24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dirty="0" smtClean="0">
                          <a:ln>
                            <a:noFill/>
                          </a:ln>
                          <a:effectLst/>
                          <a:latin typeface="微软雅黑" panose="020B0503020204020204" pitchFamily="34" charset="-122"/>
                          <a:ea typeface="微软雅黑" panose="020B0503020204020204" pitchFamily="34" charset="-122"/>
                        </a:rPr>
                        <a:t> &gt;Y’</a:t>
                      </a:r>
                      <a:endParaRPr kumimoji="0" lang="en-US" altLang="zh-CN" sz="24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 &gt;Y’</a:t>
                      </a:r>
                      <a:endParaRPr kumimoji="0" lang="en-US" altLang="zh-CN" sz="24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endParaRPr>
                    </a:p>
                  </a:txBody>
                  <a:tcPr anchor="ctr" horzOverflow="overflow"/>
                </a:tc>
              </a:tr>
              <a:tr h="8286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u="none" strike="noStrike" cap="none" normalizeH="0" baseline="0" dirty="0" smtClean="0">
                          <a:ln>
                            <a:noFill/>
                          </a:ln>
                          <a:effectLst/>
                          <a:latin typeface="微软雅黑" panose="020B0503020204020204" pitchFamily="34" charset="-122"/>
                          <a:ea typeface="微软雅黑" panose="020B0503020204020204" pitchFamily="34" charset="-122"/>
                        </a:rPr>
                        <a:t>扩张性财政政策</a:t>
                      </a:r>
                      <a:endParaRPr kumimoji="0" lang="zh-CN" altLang="en-US" sz="24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   0</a:t>
                      </a:r>
                      <a:endParaRPr kumimoji="0" lang="en-US" altLang="zh-CN" sz="24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 &gt;Y</a:t>
                      </a:r>
                      <a:r>
                        <a:rPr kumimoji="0" lang="en-US" altLang="zh-CN" sz="2400" u="none" strike="noStrike" cap="none" normalizeH="0" baseline="-25000" smtClean="0">
                          <a:ln>
                            <a:noFill/>
                          </a:ln>
                          <a:effectLst/>
                          <a:latin typeface="微软雅黑" panose="020B0503020204020204" pitchFamily="34" charset="-122"/>
                          <a:ea typeface="微软雅黑" panose="020B0503020204020204" pitchFamily="34" charset="-122"/>
                        </a:rPr>
                        <a:t>0</a:t>
                      </a:r>
                      <a:endParaRPr kumimoji="0" lang="en-US" altLang="zh-CN" sz="2400" b="0" i="0" u="none" strike="noStrike" cap="none" normalizeH="0" baseline="-25000" smtClean="0">
                        <a:ln>
                          <a:noFill/>
                        </a:ln>
                        <a:solidFill>
                          <a:schemeClr val="bg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rPr>
                        <a:t> &gt;Y’</a:t>
                      </a:r>
                      <a:endParaRPr kumimoji="0" lang="en-US" altLang="zh-CN" sz="24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anchor="ctr" horzOverflow="overflow">
                    <a:solidFill>
                      <a:schemeClr val="accent1">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 &gt;Y’</a:t>
                      </a:r>
                      <a:endParaRPr kumimoji="0" lang="en-US" altLang="zh-CN" sz="24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dirty="0" smtClean="0">
                          <a:ln>
                            <a:noFill/>
                          </a:ln>
                          <a:effectLst/>
                          <a:latin typeface="微软雅黑" panose="020B0503020204020204" pitchFamily="34" charset="-122"/>
                          <a:ea typeface="微软雅黑" panose="020B0503020204020204" pitchFamily="34" charset="-122"/>
                        </a:rPr>
                        <a:t> &gt;Y</a:t>
                      </a:r>
                      <a:r>
                        <a:rPr kumimoji="0" lang="en-US" altLang="zh-CN" sz="2400" u="none" strike="noStrike" cap="none" normalizeH="0" baseline="-25000" dirty="0" smtClean="0">
                          <a:ln>
                            <a:noFill/>
                          </a:ln>
                          <a:effectLst/>
                          <a:latin typeface="微软雅黑" panose="020B0503020204020204" pitchFamily="34" charset="-122"/>
                          <a:ea typeface="微软雅黑" panose="020B0503020204020204" pitchFamily="34" charset="-122"/>
                        </a:rPr>
                        <a:t>0</a:t>
                      </a:r>
                      <a:endParaRPr kumimoji="0" lang="en-US" altLang="zh-CN" sz="2400" b="0" i="0" u="none" strike="noStrike" cap="none" normalizeH="0" baseline="-25000" dirty="0" smtClean="0">
                        <a:ln>
                          <a:noFill/>
                        </a:ln>
                        <a:solidFill>
                          <a:schemeClr val="bg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dirty="0" smtClean="0">
                          <a:ln>
                            <a:noFill/>
                          </a:ln>
                          <a:effectLst/>
                          <a:latin typeface="微软雅黑" panose="020B0503020204020204" pitchFamily="34" charset="-122"/>
                          <a:ea typeface="微软雅黑" panose="020B0503020204020204" pitchFamily="34" charset="-122"/>
                        </a:rPr>
                        <a:t>   0</a:t>
                      </a:r>
                      <a:endParaRPr kumimoji="0" lang="en-US" altLang="zh-CN" sz="24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anchor="ctr" horzOverflow="overflow"/>
                </a:tc>
              </a:tr>
            </a:tbl>
          </a:graphicData>
        </a:graphic>
      </p:graphicFrame>
      <p:sp>
        <p:nvSpPr>
          <p:cNvPr id="8" name="标题 1"/>
          <p:cNvSpPr>
            <a:spLocks noGrp="1"/>
          </p:cNvSpPr>
          <p:nvPr>
            <p:ph type="title"/>
          </p:nvPr>
        </p:nvSpPr>
        <p:spPr>
          <a:xfrm>
            <a:off x="192505" y="18386"/>
            <a:ext cx="8951495" cy="1142385"/>
          </a:xfrm>
        </p:spPr>
        <p:txBody>
          <a:bodyPr>
            <a:normAutofit/>
          </a:bodyPr>
          <a:lstStyle/>
          <a:p>
            <a:r>
              <a:rPr altLang="en-US" sz="2800" dirty="0" smtClean="0"/>
              <a:t>第二节	开放经济条件下的财政、货币政策</a:t>
            </a:r>
            <a:br>
              <a:rPr altLang="en-US" sz="2800" dirty="0" smtClean="0"/>
            </a:br>
            <a:r>
              <a:rPr altLang="en-US" sz="2800" dirty="0" smtClean="0">
                <a:solidFill>
                  <a:srgbClr val="00B0F0"/>
                </a:solidFill>
                <a:latin typeface="黑体" pitchFamily="49" charset="-122"/>
                <a:ea typeface="黑体" pitchFamily="49" charset="-122"/>
              </a:rPr>
              <a:t>                             </a:t>
            </a:r>
            <a:r>
              <a:rPr lang="en-US" altLang="zh-CN" sz="2000" dirty="0" smtClean="0">
                <a:solidFill>
                  <a:srgbClr val="00B0F0"/>
                </a:solidFill>
                <a:latin typeface="黑体" pitchFamily="49" charset="-122"/>
                <a:ea typeface="黑体" pitchFamily="49" charset="-122"/>
              </a:rPr>
              <a:t>——</a:t>
            </a:r>
            <a:r>
              <a:rPr altLang="en-US" sz="2000" dirty="0" smtClean="0">
                <a:solidFill>
                  <a:srgbClr val="00B0F0"/>
                </a:solidFill>
                <a:latin typeface="黑体" pitchFamily="49" charset="-122"/>
                <a:ea typeface="黑体" pitchFamily="49" charset="-122"/>
              </a:rPr>
              <a:t>蒙代尔－弗莱明模型</a:t>
            </a:r>
            <a:endParaRPr lang="zh-CN" sz="2800" dirty="0"/>
          </a:p>
        </p:txBody>
      </p:sp>
    </p:spTree>
    <p:extLst>
      <p:ext uri="{BB962C8B-B14F-4D97-AF65-F5344CB8AC3E}">
        <p14:creationId xmlns:p14="http://schemas.microsoft.com/office/powerpoint/2010/main" val="1361994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四、三</a:t>
            </a:r>
            <a:r>
              <a:rPr lang="zh-CN" altLang="en-US" sz="2800" dirty="0">
                <a:solidFill>
                  <a:schemeClr val="accent1"/>
                </a:solidFill>
                <a:latin typeface="微软雅黑" panose="020B0503020204020204" pitchFamily="34" charset="-122"/>
                <a:ea typeface="微软雅黑" panose="020B0503020204020204" pitchFamily="34" charset="-122"/>
              </a:rPr>
              <a:t>元悖论（不可能三角</a:t>
            </a:r>
            <a:r>
              <a:rPr lang="zh-CN" altLang="en-US" sz="2800" dirty="0" smtClean="0">
                <a:solidFill>
                  <a:schemeClr val="accent1"/>
                </a:solidFill>
                <a:latin typeface="微软雅黑" panose="020B0503020204020204" pitchFamily="34" charset="-122"/>
                <a:ea typeface="微软雅黑" panose="020B0503020204020204" pitchFamily="34" charset="-122"/>
              </a:rPr>
              <a:t>）</a:t>
            </a:r>
            <a:endParaRPr lang="zh-CN" altLang="en-US" sz="2800" dirty="0">
              <a:solidFill>
                <a:schemeClr val="accent1"/>
              </a:solidFill>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grpSp>
        <p:nvGrpSpPr>
          <p:cNvPr id="6" name="Group 4"/>
          <p:cNvGrpSpPr>
            <a:grpSpLocks/>
          </p:cNvGrpSpPr>
          <p:nvPr/>
        </p:nvGrpSpPr>
        <p:grpSpPr bwMode="auto">
          <a:xfrm>
            <a:off x="971550" y="2708275"/>
            <a:ext cx="6553200" cy="2762250"/>
            <a:chOff x="340" y="1797"/>
            <a:chExt cx="4128" cy="1740"/>
          </a:xfrm>
        </p:grpSpPr>
        <p:sp>
          <p:nvSpPr>
            <p:cNvPr id="7" name="Line 5"/>
            <p:cNvSpPr>
              <a:spLocks noChangeShapeType="1"/>
            </p:cNvSpPr>
            <p:nvPr/>
          </p:nvSpPr>
          <p:spPr bwMode="auto">
            <a:xfrm>
              <a:off x="2472" y="2205"/>
              <a:ext cx="544" cy="1134"/>
            </a:xfrm>
            <a:prstGeom prst="line">
              <a:avLst/>
            </a:prstGeom>
            <a:noFill/>
            <a:ln w="31750" cap="sq">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solidFill>
                  <a:srgbClr val="00B0F0"/>
                </a:solidFill>
              </a:endParaRPr>
            </a:p>
          </p:txBody>
        </p:sp>
        <p:grpSp>
          <p:nvGrpSpPr>
            <p:cNvPr id="8" name="Group 6"/>
            <p:cNvGrpSpPr>
              <a:grpSpLocks/>
            </p:cNvGrpSpPr>
            <p:nvPr/>
          </p:nvGrpSpPr>
          <p:grpSpPr bwMode="auto">
            <a:xfrm>
              <a:off x="340" y="1797"/>
              <a:ext cx="4128" cy="1740"/>
              <a:chOff x="340" y="1797"/>
              <a:chExt cx="4128" cy="1740"/>
            </a:xfrm>
          </p:grpSpPr>
          <p:sp>
            <p:nvSpPr>
              <p:cNvPr id="9" name="Line 7"/>
              <p:cNvSpPr>
                <a:spLocks noChangeShapeType="1"/>
              </p:cNvSpPr>
              <p:nvPr/>
            </p:nvSpPr>
            <p:spPr bwMode="auto">
              <a:xfrm flipH="1">
                <a:off x="1844" y="2205"/>
                <a:ext cx="635" cy="1134"/>
              </a:xfrm>
              <a:prstGeom prst="line">
                <a:avLst/>
              </a:prstGeom>
              <a:noFill/>
              <a:ln w="31750" cap="sq">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solidFill>
                    <a:srgbClr val="00B0F0"/>
                  </a:solidFill>
                </a:endParaRPr>
              </a:p>
            </p:txBody>
          </p:sp>
          <p:sp>
            <p:nvSpPr>
              <p:cNvPr id="10" name="Line 8"/>
              <p:cNvSpPr>
                <a:spLocks noChangeShapeType="1"/>
              </p:cNvSpPr>
              <p:nvPr/>
            </p:nvSpPr>
            <p:spPr bwMode="auto">
              <a:xfrm flipH="1">
                <a:off x="1844" y="3339"/>
                <a:ext cx="1179" cy="0"/>
              </a:xfrm>
              <a:prstGeom prst="line">
                <a:avLst/>
              </a:prstGeom>
              <a:noFill/>
              <a:ln w="31750" cap="sq">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solidFill>
                    <a:srgbClr val="00B0F0"/>
                  </a:solidFill>
                </a:endParaRPr>
              </a:p>
            </p:txBody>
          </p:sp>
          <p:sp>
            <p:nvSpPr>
              <p:cNvPr id="11" name="Text Box 9"/>
              <p:cNvSpPr txBox="1">
                <a:spLocks noChangeArrowheads="1"/>
              </p:cNvSpPr>
              <p:nvPr/>
            </p:nvSpPr>
            <p:spPr bwMode="auto">
              <a:xfrm>
                <a:off x="1837" y="1797"/>
                <a:ext cx="1361" cy="288"/>
              </a:xfrm>
              <a:prstGeom prst="rect">
                <a:avLst/>
              </a:prstGeom>
              <a:noFill/>
              <a:ln w="12700" cap="sq">
                <a:no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spcBef>
                    <a:spcPct val="50000"/>
                  </a:spcBef>
                </a:pPr>
                <a:r>
                  <a:rPr lang="zh-CN" altLang="en-US" sz="2400" dirty="0">
                    <a:solidFill>
                      <a:srgbClr val="00B0F0"/>
                    </a:solidFill>
                    <a:latin typeface="Times New Roman" panose="02020603050405020304" pitchFamily="18" charset="0"/>
                    <a:ea typeface="黑体" panose="02010609060101010101" pitchFamily="49" charset="-122"/>
                  </a:rPr>
                  <a:t>汇率稳定</a:t>
                </a:r>
              </a:p>
            </p:txBody>
          </p:sp>
          <p:sp>
            <p:nvSpPr>
              <p:cNvPr id="12" name="Text Box 10"/>
              <p:cNvSpPr txBox="1">
                <a:spLocks noChangeArrowheads="1"/>
              </p:cNvSpPr>
              <p:nvPr/>
            </p:nvSpPr>
            <p:spPr bwMode="auto">
              <a:xfrm>
                <a:off x="340" y="3249"/>
                <a:ext cx="1497" cy="288"/>
              </a:xfrm>
              <a:prstGeom prst="rect">
                <a:avLst/>
              </a:prstGeom>
              <a:noFill/>
              <a:ln w="12700" cap="sq">
                <a:no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a:solidFill>
                      <a:srgbClr val="00B0F0"/>
                    </a:solidFill>
                    <a:latin typeface="Times New Roman" panose="02020603050405020304" pitchFamily="18" charset="0"/>
                    <a:ea typeface="黑体" panose="02010609060101010101" pitchFamily="49" charset="-122"/>
                  </a:rPr>
                  <a:t>货币政策自主性</a:t>
                </a:r>
              </a:p>
            </p:txBody>
          </p:sp>
          <p:sp>
            <p:nvSpPr>
              <p:cNvPr id="13" name="Text Box 11"/>
              <p:cNvSpPr txBox="1">
                <a:spLocks noChangeArrowheads="1"/>
              </p:cNvSpPr>
              <p:nvPr/>
            </p:nvSpPr>
            <p:spPr bwMode="auto">
              <a:xfrm>
                <a:off x="3107" y="3203"/>
                <a:ext cx="1361" cy="288"/>
              </a:xfrm>
              <a:prstGeom prst="rect">
                <a:avLst/>
              </a:prstGeom>
              <a:noFill/>
              <a:ln w="12700" cap="sq">
                <a:no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a:solidFill>
                      <a:srgbClr val="00B0F0"/>
                    </a:solidFill>
                    <a:latin typeface="Times New Roman" panose="02020603050405020304" pitchFamily="18" charset="0"/>
                    <a:ea typeface="黑体" panose="02010609060101010101" pitchFamily="49" charset="-122"/>
                  </a:rPr>
                  <a:t>资本自由流动</a:t>
                </a:r>
              </a:p>
            </p:txBody>
          </p:sp>
        </p:grpSp>
      </p:grpSp>
      <p:sp>
        <p:nvSpPr>
          <p:cNvPr id="15" name="标题 1"/>
          <p:cNvSpPr>
            <a:spLocks noGrp="1"/>
          </p:cNvSpPr>
          <p:nvPr>
            <p:ph type="title"/>
          </p:nvPr>
        </p:nvSpPr>
        <p:spPr>
          <a:xfrm>
            <a:off x="192505" y="18386"/>
            <a:ext cx="8951495" cy="1142385"/>
          </a:xfrm>
        </p:spPr>
        <p:txBody>
          <a:bodyPr>
            <a:normAutofit/>
          </a:bodyPr>
          <a:lstStyle/>
          <a:p>
            <a:r>
              <a:rPr altLang="en-US" sz="2800" dirty="0" smtClean="0"/>
              <a:t>第二节	开放经济条件下的财政、货币政策</a:t>
            </a:r>
            <a:br>
              <a:rPr altLang="en-US" sz="2800" dirty="0" smtClean="0"/>
            </a:br>
            <a:r>
              <a:rPr altLang="en-US" sz="2800" dirty="0" smtClean="0">
                <a:solidFill>
                  <a:srgbClr val="00B0F0"/>
                </a:solidFill>
                <a:latin typeface="黑体" pitchFamily="49" charset="-122"/>
                <a:ea typeface="黑体" pitchFamily="49" charset="-122"/>
              </a:rPr>
              <a:t>                             </a:t>
            </a:r>
            <a:r>
              <a:rPr lang="en-US" altLang="zh-CN" sz="2000" dirty="0" smtClean="0">
                <a:solidFill>
                  <a:srgbClr val="00B0F0"/>
                </a:solidFill>
                <a:latin typeface="黑体" pitchFamily="49" charset="-122"/>
                <a:ea typeface="黑体" pitchFamily="49" charset="-122"/>
              </a:rPr>
              <a:t>——</a:t>
            </a:r>
            <a:r>
              <a:rPr altLang="en-US" sz="2000" dirty="0" smtClean="0">
                <a:solidFill>
                  <a:srgbClr val="00B0F0"/>
                </a:solidFill>
                <a:latin typeface="黑体" pitchFamily="49" charset="-122"/>
                <a:ea typeface="黑体" pitchFamily="49" charset="-122"/>
              </a:rPr>
              <a:t>蒙代尔－弗莱明模型</a:t>
            </a:r>
            <a:endParaRPr lang="zh-CN" sz="2800" dirty="0"/>
          </a:p>
        </p:txBody>
      </p:sp>
    </p:spTree>
    <p:extLst>
      <p:ext uri="{BB962C8B-B14F-4D97-AF65-F5344CB8AC3E}">
        <p14:creationId xmlns:p14="http://schemas.microsoft.com/office/powerpoint/2010/main" val="4061797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五、人民币汇率政策与其他宏观经济政策的冲突（</a:t>
            </a:r>
            <a:r>
              <a:rPr lang="en-US" altLang="zh-CN" sz="2800" dirty="0">
                <a:solidFill>
                  <a:schemeClr val="accent1"/>
                </a:solidFill>
                <a:latin typeface="微软雅黑" panose="020B0503020204020204" pitchFamily="34" charset="-122"/>
                <a:ea typeface="微软雅黑" panose="020B0503020204020204" pitchFamily="34" charset="-122"/>
              </a:rPr>
              <a:t>1994-1999</a:t>
            </a:r>
            <a:r>
              <a:rPr lang="zh-CN" altLang="en-US" sz="2800" dirty="0">
                <a:solidFill>
                  <a:schemeClr val="accent1"/>
                </a:solidFill>
                <a:latin typeface="微软雅黑" panose="020B0503020204020204" pitchFamily="34" charset="-122"/>
                <a:ea typeface="微软雅黑" panose="020B0503020204020204" pitchFamily="34" charset="-122"/>
              </a:rPr>
              <a:t>的经验</a:t>
            </a:r>
            <a:r>
              <a:rPr lang="zh-CN" altLang="en-US" sz="2800" dirty="0" smtClean="0">
                <a:solidFill>
                  <a:schemeClr val="accent1"/>
                </a:solidFill>
                <a:latin typeface="微软雅黑" panose="020B0503020204020204" pitchFamily="34" charset="-122"/>
                <a:ea typeface="微软雅黑" panose="020B0503020204020204" pitchFamily="34" charset="-122"/>
              </a:rPr>
              <a:t>）</a:t>
            </a:r>
            <a:endParaRPr lang="en-US" altLang="zh-CN" sz="2800" dirty="0" smtClean="0">
              <a:solidFill>
                <a:schemeClr val="accent1"/>
              </a:solidFill>
              <a:latin typeface="微软雅黑" panose="020B0503020204020204" pitchFamily="34" charset="-122"/>
              <a:ea typeface="微软雅黑" panose="020B0503020204020204" pitchFamily="34" charset="-122"/>
            </a:endParaRPr>
          </a:p>
          <a:p>
            <a:pPr marL="457200" lvl="2" indent="-457200">
              <a:lnSpc>
                <a:spcPct val="100000"/>
              </a:lnSpc>
              <a:buFont typeface="+mj-lt"/>
              <a:buAutoNum type="arabicPeriod"/>
            </a:pPr>
            <a:r>
              <a:rPr lang="zh-CN" altLang="en-US" sz="2400" dirty="0">
                <a:latin typeface="微软雅黑" panose="020B0503020204020204" pitchFamily="34" charset="-122"/>
                <a:ea typeface="微软雅黑" panose="020B0503020204020204" pitchFamily="34" charset="-122"/>
              </a:rPr>
              <a:t>第一阶段（</a:t>
            </a:r>
            <a:r>
              <a:rPr lang="en-US" altLang="zh-CN" sz="2400" dirty="0">
                <a:latin typeface="微软雅黑" panose="020B0503020204020204" pitchFamily="34" charset="-122"/>
                <a:ea typeface="微软雅黑" panose="020B0503020204020204" pitchFamily="34" charset="-122"/>
              </a:rPr>
              <a:t>1994-1996</a:t>
            </a:r>
            <a:r>
              <a:rPr lang="zh-CN" altLang="en-US" sz="2400" dirty="0">
                <a:latin typeface="微软雅黑" panose="020B0503020204020204" pitchFamily="34" charset="-122"/>
                <a:ea typeface="微软雅黑" panose="020B0503020204020204" pitchFamily="34" charset="-122"/>
              </a:rPr>
              <a:t>）</a:t>
            </a:r>
            <a:r>
              <a:rPr lang="zh-CN" altLang="en-US" sz="2400" dirty="0" smtClean="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marL="0" lvl="2" indent="0">
              <a:lnSpc>
                <a:spcPct val="100000"/>
              </a:lnSpc>
              <a:buNone/>
            </a:pP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升值</a:t>
            </a:r>
            <a:r>
              <a:rPr lang="zh-CN" altLang="en-US" sz="2400" dirty="0">
                <a:latin typeface="微软雅黑" panose="020B0503020204020204" pitchFamily="34" charset="-122"/>
                <a:ea typeface="微软雅黑" panose="020B0503020204020204" pitchFamily="34" charset="-122"/>
              </a:rPr>
              <a:t>压力和通胀</a:t>
            </a:r>
            <a:r>
              <a:rPr lang="zh-CN" altLang="en-US" sz="2400" dirty="0" smtClean="0">
                <a:latin typeface="微软雅黑" panose="020B0503020204020204" pitchFamily="34" charset="-122"/>
                <a:ea typeface="微软雅黑" panose="020B0503020204020204" pitchFamily="34" charset="-122"/>
              </a:rPr>
              <a:t>、过热</a:t>
            </a:r>
            <a:r>
              <a:rPr lang="zh-CN" altLang="en-US" sz="2400" dirty="0">
                <a:latin typeface="微软雅黑" panose="020B0503020204020204" pitchFamily="34" charset="-122"/>
                <a:ea typeface="微软雅黑" panose="020B0503020204020204" pitchFamily="34" charset="-122"/>
              </a:rPr>
              <a:t>的冲突</a:t>
            </a:r>
          </a:p>
          <a:p>
            <a:pPr marL="457200" lvl="2" indent="-457200">
              <a:lnSpc>
                <a:spcPct val="100000"/>
              </a:lnSpc>
              <a:buFont typeface="+mj-lt"/>
              <a:buAutoNum type="arabicPeriod"/>
            </a:pPr>
            <a:r>
              <a:rPr lang="zh-CN" altLang="en-US" sz="2400" dirty="0">
                <a:latin typeface="微软雅黑" panose="020B0503020204020204" pitchFamily="34" charset="-122"/>
                <a:ea typeface="微软雅黑" panose="020B0503020204020204" pitchFamily="34" charset="-122"/>
              </a:rPr>
              <a:t>第二阶段（ </a:t>
            </a:r>
            <a:r>
              <a:rPr lang="en-US" altLang="zh-CN" sz="2400" dirty="0">
                <a:latin typeface="微软雅黑" panose="020B0503020204020204" pitchFamily="34" charset="-122"/>
                <a:ea typeface="微软雅黑" panose="020B0503020204020204" pitchFamily="34" charset="-122"/>
              </a:rPr>
              <a:t>1998-1999</a:t>
            </a:r>
            <a:r>
              <a:rPr lang="zh-CN" altLang="en-US" sz="2400" dirty="0">
                <a:latin typeface="微软雅黑" panose="020B0503020204020204" pitchFamily="34" charset="-122"/>
                <a:ea typeface="微软雅黑" panose="020B0503020204020204" pitchFamily="34" charset="-122"/>
              </a:rPr>
              <a:t>）</a:t>
            </a:r>
            <a:r>
              <a:rPr lang="zh-CN" altLang="en-US" sz="2400" dirty="0" smtClean="0">
                <a:latin typeface="微软雅黑" panose="020B0503020204020204" pitchFamily="34" charset="-122"/>
                <a:ea typeface="微软雅黑" panose="020B0503020204020204" pitchFamily="34" charset="-122"/>
              </a:rPr>
              <a:t>：</a:t>
            </a:r>
            <a:endParaRPr lang="en-US" altLang="zh-CN" sz="2400" dirty="0" smtClean="0">
              <a:latin typeface="微软雅黑" panose="020B0503020204020204" pitchFamily="34" charset="-122"/>
              <a:ea typeface="微软雅黑" panose="020B0503020204020204" pitchFamily="34" charset="-122"/>
            </a:endParaRPr>
          </a:p>
          <a:p>
            <a:pPr marL="0" lvl="2" indent="0">
              <a:lnSpc>
                <a:spcPct val="100000"/>
              </a:lnSpc>
              <a:buNone/>
            </a:pPr>
            <a:r>
              <a:rPr lang="en-US" altLang="zh-CN" sz="2400" dirty="0">
                <a:latin typeface="微软雅黑" panose="020B0503020204020204" pitchFamily="34" charset="-122"/>
                <a:ea typeface="微软雅黑" panose="020B0503020204020204" pitchFamily="34" charset="-122"/>
              </a:rPr>
              <a:t>	</a:t>
            </a: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贬值</a:t>
            </a:r>
            <a:r>
              <a:rPr lang="zh-CN" altLang="en-US" sz="2400" dirty="0">
                <a:latin typeface="微软雅黑" panose="020B0503020204020204" pitchFamily="34" charset="-122"/>
                <a:ea typeface="微软雅黑" panose="020B0503020204020204" pitchFamily="34" charset="-122"/>
              </a:rPr>
              <a:t>压力和</a:t>
            </a:r>
            <a:r>
              <a:rPr lang="zh-CN" altLang="en-US" sz="2400" dirty="0" smtClean="0">
                <a:latin typeface="微软雅黑" panose="020B0503020204020204" pitchFamily="34" charset="-122"/>
                <a:ea typeface="微软雅黑" panose="020B0503020204020204" pitchFamily="34" charset="-122"/>
              </a:rPr>
              <a:t>衰退的冲突</a:t>
            </a:r>
            <a:endParaRPr lang="zh-CN" altLang="en-US" sz="2800" dirty="0">
              <a:solidFill>
                <a:schemeClr val="accent1"/>
              </a:solidFill>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7" name="标题 1"/>
          <p:cNvSpPr>
            <a:spLocks noGrp="1"/>
          </p:cNvSpPr>
          <p:nvPr>
            <p:ph type="title"/>
          </p:nvPr>
        </p:nvSpPr>
        <p:spPr>
          <a:xfrm>
            <a:off x="192505" y="18386"/>
            <a:ext cx="8951495" cy="1142385"/>
          </a:xfrm>
        </p:spPr>
        <p:txBody>
          <a:bodyPr>
            <a:normAutofit/>
          </a:bodyPr>
          <a:lstStyle/>
          <a:p>
            <a:r>
              <a:rPr altLang="en-US" sz="2800" dirty="0" smtClean="0"/>
              <a:t>第二节	开放经济条件下的财政、货币政策</a:t>
            </a:r>
            <a:br>
              <a:rPr altLang="en-US" sz="2800" dirty="0" smtClean="0"/>
            </a:br>
            <a:r>
              <a:rPr altLang="en-US" sz="2800" dirty="0" smtClean="0">
                <a:solidFill>
                  <a:srgbClr val="00B0F0"/>
                </a:solidFill>
                <a:latin typeface="黑体" pitchFamily="49" charset="-122"/>
                <a:ea typeface="黑体" pitchFamily="49" charset="-122"/>
              </a:rPr>
              <a:t>                             </a:t>
            </a:r>
            <a:r>
              <a:rPr lang="en-US" altLang="zh-CN" sz="2000" dirty="0" smtClean="0">
                <a:solidFill>
                  <a:srgbClr val="00B0F0"/>
                </a:solidFill>
                <a:latin typeface="黑体" pitchFamily="49" charset="-122"/>
                <a:ea typeface="黑体" pitchFamily="49" charset="-122"/>
              </a:rPr>
              <a:t>——</a:t>
            </a:r>
            <a:r>
              <a:rPr altLang="en-US" sz="2000" dirty="0" smtClean="0">
                <a:solidFill>
                  <a:srgbClr val="00B0F0"/>
                </a:solidFill>
                <a:latin typeface="黑体" pitchFamily="49" charset="-122"/>
                <a:ea typeface="黑体" pitchFamily="49" charset="-122"/>
              </a:rPr>
              <a:t>蒙代尔－弗莱明模型</a:t>
            </a:r>
            <a:endParaRPr lang="zh-CN" sz="2800" dirty="0"/>
          </a:p>
        </p:txBody>
      </p:sp>
    </p:spTree>
    <p:extLst>
      <p:ext uri="{BB962C8B-B14F-4D97-AF65-F5344CB8AC3E}">
        <p14:creationId xmlns:p14="http://schemas.microsoft.com/office/powerpoint/2010/main" val="2558880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55784" y="204951"/>
            <a:ext cx="7200900" cy="750868"/>
          </a:xfrm>
        </p:spPr>
        <p:txBody>
          <a:bodyPr>
            <a:normAutofit/>
          </a:bodyPr>
          <a:lstStyle/>
          <a:p>
            <a:r>
              <a:rPr lang="en-US" altLang="zh-CN" dirty="0"/>
              <a:t>1994-2000</a:t>
            </a:r>
            <a:r>
              <a:rPr lang="zh-CN" altLang="en-US" dirty="0"/>
              <a:t>主要指标运行情况</a:t>
            </a:r>
            <a:endParaRPr lang="zh-CN" dirty="0"/>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graphicFrame>
        <p:nvGraphicFramePr>
          <p:cNvPr id="6" name="Group 3"/>
          <p:cNvGraphicFramePr>
            <a:graphicFrameLocks noGrp="1"/>
          </p:cNvGraphicFramePr>
          <p:nvPr>
            <p:ph idx="1"/>
            <p:extLst>
              <p:ext uri="{D42A27DB-BD31-4B8C-83A1-F6EECF244321}">
                <p14:modId xmlns:p14="http://schemas.microsoft.com/office/powerpoint/2010/main" val="1125370447"/>
              </p:ext>
            </p:extLst>
          </p:nvPr>
        </p:nvGraphicFramePr>
        <p:xfrm>
          <a:off x="457201" y="1066175"/>
          <a:ext cx="8287846" cy="4992810"/>
        </p:xfrm>
        <a:graphic>
          <a:graphicData uri="http://schemas.openxmlformats.org/drawingml/2006/table">
            <a:tbl>
              <a:tblPr>
                <a:tableStyleId>{BC89EF96-8CEA-46FF-86C4-4CE0E7609802}</a:tableStyleId>
              </a:tblPr>
              <a:tblGrid>
                <a:gridCol w="1051639"/>
                <a:gridCol w="1122780"/>
                <a:gridCol w="1122780"/>
                <a:gridCol w="1122780"/>
                <a:gridCol w="1121233"/>
                <a:gridCol w="1263514"/>
                <a:gridCol w="1483120"/>
              </a:tblGrid>
              <a:tr h="133867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u="none" strike="noStrike" cap="none" normalizeH="0" baseline="0" dirty="0" smtClean="0">
                          <a:ln>
                            <a:noFill/>
                          </a:ln>
                          <a:effectLst/>
                          <a:latin typeface="微软雅黑" panose="020B0503020204020204" pitchFamily="34" charset="-122"/>
                          <a:ea typeface="微软雅黑" panose="020B0503020204020204" pitchFamily="34" charset="-122"/>
                        </a:rPr>
                        <a:t>年份</a:t>
                      </a:r>
                      <a:endParaRPr kumimoji="0" lang="zh-CN" altLang="en-US" sz="2400" b="1" i="0" u="none" strike="noStrike" cap="none" normalizeH="0" baseline="0" dirty="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90000" marT="46806" marB="46806"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GDP</a:t>
                      </a:r>
                      <a:r>
                        <a:rPr kumimoji="0" lang="zh-CN" altLang="en-US" sz="2400" u="none" strike="noStrike" cap="none" normalizeH="0" baseline="0" smtClean="0">
                          <a:ln>
                            <a:noFill/>
                          </a:ln>
                          <a:effectLst/>
                          <a:latin typeface="微软雅黑" panose="020B0503020204020204" pitchFamily="34" charset="-122"/>
                          <a:ea typeface="微软雅黑" panose="020B0503020204020204" pitchFamily="34" charset="-122"/>
                        </a:rPr>
                        <a:t>增长率（％）</a:t>
                      </a:r>
                      <a:endParaRPr kumimoji="0" lang="zh-CN" altLang="en-US"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T="45726" marB="45726"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u="none" strike="noStrike" cap="none" normalizeH="0" baseline="0" smtClean="0">
                          <a:ln>
                            <a:noFill/>
                          </a:ln>
                          <a:effectLst/>
                          <a:latin typeface="微软雅黑" panose="020B0503020204020204" pitchFamily="34" charset="-122"/>
                          <a:ea typeface="微软雅黑" panose="020B0503020204020204" pitchFamily="34" charset="-122"/>
                        </a:rPr>
                        <a:t>消费价格指数变动（％）</a:t>
                      </a:r>
                      <a:endParaRPr kumimoji="0" lang="zh-CN" altLang="en-US"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T="45726" marB="45726"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dirty="0" smtClean="0">
                          <a:ln>
                            <a:noFill/>
                          </a:ln>
                          <a:effectLst/>
                          <a:latin typeface="微软雅黑" panose="020B0503020204020204" pitchFamily="34" charset="-122"/>
                          <a:ea typeface="微软雅黑" panose="020B0503020204020204" pitchFamily="34" charset="-122"/>
                        </a:rPr>
                        <a:t>M2</a:t>
                      </a:r>
                      <a:r>
                        <a:rPr kumimoji="0" lang="zh-CN" altLang="en-US" sz="2400" u="none" strike="noStrike" cap="none" normalizeH="0" baseline="0" dirty="0" smtClean="0">
                          <a:ln>
                            <a:noFill/>
                          </a:ln>
                          <a:effectLst/>
                          <a:latin typeface="微软雅黑" panose="020B0503020204020204" pitchFamily="34" charset="-122"/>
                          <a:ea typeface="微软雅黑" panose="020B0503020204020204" pitchFamily="34" charset="-122"/>
                        </a:rPr>
                        <a:t>增长率（％）</a:t>
                      </a:r>
                      <a:endParaRPr kumimoji="0" lang="zh-CN" altLang="en-US" sz="2400" b="1" i="0" u="none" strike="noStrike" cap="none" normalizeH="0" baseline="0" dirty="0" smtClean="0">
                        <a:ln>
                          <a:noFill/>
                        </a:ln>
                        <a:solidFill>
                          <a:schemeClr val="accent1"/>
                        </a:solidFill>
                        <a:effectLst/>
                        <a:latin typeface="微软雅黑" panose="020B0503020204020204" pitchFamily="34" charset="-122"/>
                        <a:ea typeface="微软雅黑" panose="020B0503020204020204" pitchFamily="34" charset="-122"/>
                      </a:endParaRPr>
                    </a:p>
                  </a:txBody>
                  <a:tcPr marT="45726" marB="45726"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u="none" strike="noStrike" cap="none" normalizeH="0" baseline="0" dirty="0" smtClean="0">
                          <a:ln>
                            <a:noFill/>
                          </a:ln>
                          <a:effectLst/>
                          <a:latin typeface="微软雅黑" panose="020B0503020204020204" pitchFamily="34" charset="-122"/>
                          <a:ea typeface="微软雅黑" panose="020B0503020204020204" pitchFamily="34" charset="-122"/>
                        </a:rPr>
                        <a:t>经常项目差额（亿美元）</a:t>
                      </a:r>
                      <a:endParaRPr kumimoji="0" lang="zh-CN" altLang="en-US" sz="2400" b="1" i="0" u="none" strike="noStrike" cap="none" normalizeH="0" baseline="0" dirty="0" smtClean="0">
                        <a:ln>
                          <a:noFill/>
                        </a:ln>
                        <a:solidFill>
                          <a:schemeClr val="accent1"/>
                        </a:solidFill>
                        <a:effectLst/>
                        <a:latin typeface="微软雅黑" panose="020B0503020204020204" pitchFamily="34" charset="-122"/>
                        <a:ea typeface="微软雅黑" panose="020B0503020204020204" pitchFamily="34" charset="-122"/>
                      </a:endParaRPr>
                    </a:p>
                  </a:txBody>
                  <a:tcPr marT="45726" marB="45726"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u="none" strike="noStrike" cap="none" normalizeH="0" baseline="0" dirty="0" smtClean="0">
                          <a:ln>
                            <a:noFill/>
                          </a:ln>
                          <a:effectLst/>
                          <a:latin typeface="微软雅黑" panose="020B0503020204020204" pitchFamily="34" charset="-122"/>
                          <a:ea typeface="微软雅黑" panose="020B0503020204020204" pitchFamily="34" charset="-122"/>
                        </a:rPr>
                        <a:t>外汇储备增加额（亿美元）</a:t>
                      </a:r>
                      <a:endParaRPr kumimoji="0" lang="zh-CN" altLang="en-US" sz="2400" b="1" i="0" u="none" strike="noStrike" cap="none" normalizeH="0" baseline="0" dirty="0" smtClean="0">
                        <a:ln>
                          <a:noFill/>
                        </a:ln>
                        <a:solidFill>
                          <a:schemeClr val="accent1"/>
                        </a:solidFill>
                        <a:effectLst/>
                        <a:latin typeface="微软雅黑" panose="020B0503020204020204" pitchFamily="34" charset="-122"/>
                        <a:ea typeface="微软雅黑" panose="020B0503020204020204" pitchFamily="34" charset="-122"/>
                      </a:endParaRPr>
                    </a:p>
                  </a:txBody>
                  <a:tcPr marT="45726" marB="45726"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u="none" strike="noStrike" cap="none" normalizeH="0" baseline="0" dirty="0" smtClean="0">
                          <a:ln>
                            <a:noFill/>
                          </a:ln>
                          <a:effectLst/>
                          <a:latin typeface="微软雅黑" panose="020B0503020204020204" pitchFamily="34" charset="-122"/>
                          <a:ea typeface="微软雅黑" panose="020B0503020204020204" pitchFamily="34" charset="-122"/>
                        </a:rPr>
                        <a:t>资本与金融账户差额（亿美元）</a:t>
                      </a:r>
                      <a:endParaRPr kumimoji="0" lang="zh-CN" altLang="en-US" sz="2400" b="1" i="0" u="none" strike="noStrike" cap="none" normalizeH="0" baseline="0" dirty="0" smtClean="0">
                        <a:ln>
                          <a:noFill/>
                        </a:ln>
                        <a:solidFill>
                          <a:schemeClr val="accent1"/>
                        </a:solidFill>
                        <a:effectLst/>
                        <a:latin typeface="微软雅黑" panose="020B0503020204020204" pitchFamily="34" charset="-122"/>
                        <a:ea typeface="微软雅黑" panose="020B0503020204020204" pitchFamily="34" charset="-122"/>
                      </a:endParaRPr>
                    </a:p>
                  </a:txBody>
                  <a:tcPr marT="45726" marB="45726" horzOverflow="overflow"/>
                </a:tc>
              </a:tr>
              <a:tr h="50446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1994</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T="45726" marB="4572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12.6</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24.1</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34.5</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75.6</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304.2</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326.5</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r>
              <a:tr h="50309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1995</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T="45726" marB="4572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10.5</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17.1</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29.5</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16.2</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219.6</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386.7</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r>
              <a:tr h="50446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1996</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T="45726" marB="4572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9.6</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8.3</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25.3</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72.4</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314.5</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399.7</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r>
              <a:tr h="45934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1997</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T="45726" marB="4572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8.8</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2.8</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17.3</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369.6</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348.6</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229.6</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r>
              <a:tr h="50446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1998</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T="45726" marB="4572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7.8</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-0.8</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15.3</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314.7</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50.7</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-63.2</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r>
              <a:tr h="50309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1999</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T="45726" marB="4572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7.1</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-1.4</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14.7</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156.7</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97.2</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76.4</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r>
              <a:tr h="39558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2000</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T="45726" marB="4572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8.0</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0.4</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12.3</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205.2</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105.5</a:t>
                      </a:r>
                      <a:endParaRPr kumimoji="0" lang="en-US" altLang="zh-CN" sz="2400" b="1" i="0" u="none" strike="noStrike" cap="none" normalizeH="0" baseline="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400" u="none" strike="noStrike" cap="none" normalizeH="0" baseline="0" dirty="0" smtClean="0">
                          <a:ln>
                            <a:noFill/>
                          </a:ln>
                          <a:effectLst/>
                          <a:latin typeface="微软雅黑" panose="020B0503020204020204" pitchFamily="34" charset="-122"/>
                          <a:ea typeface="微软雅黑" panose="020B0503020204020204" pitchFamily="34" charset="-122"/>
                        </a:rPr>
                        <a:t>19.2</a:t>
                      </a:r>
                      <a:endParaRPr kumimoji="0" lang="en-US" altLang="zh-CN" sz="2400" b="1" i="0" u="none" strike="noStrike" cap="none" normalizeH="0" baseline="0" dirty="0" smtClean="0">
                        <a:ln>
                          <a:noFill/>
                        </a:ln>
                        <a:solidFill>
                          <a:schemeClr val="accent1"/>
                        </a:solidFill>
                        <a:effectLst/>
                        <a:latin typeface="微软雅黑" panose="020B0503020204020204" pitchFamily="34" charset="-122"/>
                        <a:ea typeface="微软雅黑" panose="020B0503020204020204" pitchFamily="34" charset="-122"/>
                      </a:endParaRPr>
                    </a:p>
                  </a:txBody>
                  <a:tcPr marL="90000" marR="198000" marT="46806" marB="46806" horzOverflow="overflow"/>
                </a:tc>
              </a:tr>
            </a:tbl>
          </a:graphicData>
        </a:graphic>
      </p:graphicFrame>
    </p:spTree>
    <p:extLst>
      <p:ext uri="{BB962C8B-B14F-4D97-AF65-F5344CB8AC3E}">
        <p14:creationId xmlns:p14="http://schemas.microsoft.com/office/powerpoint/2010/main" val="2373925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92722" y="276039"/>
            <a:ext cx="7200900" cy="589821"/>
          </a:xfrm>
        </p:spPr>
        <p:txBody>
          <a:bodyPr>
            <a:normAutofit/>
          </a:bodyPr>
          <a:lstStyle/>
          <a:p>
            <a:r>
              <a:rPr lang="en-US" altLang="zh-CN" sz="2800" dirty="0"/>
              <a:t>RMB nominal exchange rate (1980</a:t>
            </a:r>
            <a:r>
              <a:rPr lang="zh-CN" altLang="en-US" sz="2800" dirty="0"/>
              <a:t>－</a:t>
            </a:r>
            <a:r>
              <a:rPr lang="en-US" altLang="zh-CN" sz="2800" dirty="0"/>
              <a:t>1998)</a:t>
            </a:r>
            <a:endParaRPr lang="zh-CN" sz="2800" dirty="0"/>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graphicFrame>
        <p:nvGraphicFramePr>
          <p:cNvPr id="7" name="Object 3"/>
          <p:cNvGraphicFramePr>
            <a:graphicFrameLocks noChangeAspect="1"/>
          </p:cNvGraphicFramePr>
          <p:nvPr>
            <p:extLst>
              <p:ext uri="{D42A27DB-BD31-4B8C-83A1-F6EECF244321}">
                <p14:modId xmlns:p14="http://schemas.microsoft.com/office/powerpoint/2010/main" val="1497889405"/>
              </p:ext>
            </p:extLst>
          </p:nvPr>
        </p:nvGraphicFramePr>
        <p:xfrm>
          <a:off x="457201" y="1008994"/>
          <a:ext cx="8329942" cy="4842641"/>
        </p:xfrm>
        <a:graphic>
          <a:graphicData uri="http://schemas.openxmlformats.org/presentationml/2006/ole">
            <mc:AlternateContent xmlns:mc="http://schemas.openxmlformats.org/markup-compatibility/2006">
              <mc:Choice xmlns:v="urn:schemas-microsoft-com:vml" Requires="v">
                <p:oleObj spid="_x0000_s1085" name="工作表" r:id="rId5" imgW="3543447" imgH="2447889" progId="Excel.Sheet.8">
                  <p:embed/>
                </p:oleObj>
              </mc:Choice>
              <mc:Fallback>
                <p:oleObj name="工作表" r:id="rId5" imgW="3543447" imgH="2447889" progId="Excel.Sheet.8">
                  <p:embed/>
                  <p:pic>
                    <p:nvPicPr>
                      <p:cNvPr id="0" name="Picture 4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1" y="1008994"/>
                        <a:ext cx="8329942" cy="48426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 Box 4"/>
          <p:cNvSpPr txBox="1">
            <a:spLocks noChangeArrowheads="1"/>
          </p:cNvSpPr>
          <p:nvPr/>
        </p:nvSpPr>
        <p:spPr bwMode="auto">
          <a:xfrm>
            <a:off x="664779" y="5851635"/>
            <a:ext cx="30718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dirty="0">
                <a:latin typeface="Times New Roman" panose="02020603050405020304" pitchFamily="18" charset="0"/>
              </a:rPr>
              <a:t>资料来源：</a:t>
            </a:r>
            <a:r>
              <a:rPr kumimoji="1" lang="en-US" altLang="zh-CN" dirty="0">
                <a:latin typeface="Times New Roman" panose="02020603050405020304" pitchFamily="18" charset="0"/>
              </a:rPr>
              <a:t>IFS yearbook 1999</a:t>
            </a:r>
            <a:endParaRPr kumimoji="1" lang="en-US" altLang="zh-CN" sz="2400" dirty="0">
              <a:latin typeface="Times New Roman" panose="02020603050405020304" pitchFamily="18" charset="0"/>
            </a:endParaRPr>
          </a:p>
        </p:txBody>
      </p:sp>
    </p:spTree>
    <p:extLst>
      <p:ext uri="{BB962C8B-B14F-4D97-AF65-F5344CB8AC3E}">
        <p14:creationId xmlns:p14="http://schemas.microsoft.com/office/powerpoint/2010/main" val="3308567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fontScale="92500" lnSpcReduction="10000"/>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一、汇率制度的类型</a:t>
            </a:r>
          </a:p>
          <a:p>
            <a:pPr marL="0" indent="457200">
              <a:lnSpc>
                <a:spcPct val="100000"/>
              </a:lnSpc>
              <a:buNone/>
            </a:pPr>
            <a:r>
              <a:rPr lang="zh-CN" altLang="en-US" sz="2600" dirty="0">
                <a:latin typeface="微软雅黑" panose="020B0503020204020204" pitchFamily="34" charset="-122"/>
                <a:ea typeface="微软雅黑" panose="020B0503020204020204" pitchFamily="34" charset="-122"/>
              </a:rPr>
              <a:t>汇率制度（</a:t>
            </a:r>
            <a:r>
              <a:rPr lang="en-US" altLang="zh-CN" sz="2600" dirty="0">
                <a:latin typeface="微软雅黑" panose="020B0503020204020204" pitchFamily="34" charset="-122"/>
                <a:ea typeface="微软雅黑" panose="020B0503020204020204" pitchFamily="34" charset="-122"/>
              </a:rPr>
              <a:t>exchange rate regime</a:t>
            </a:r>
            <a:r>
              <a:rPr lang="zh-CN" altLang="en-US" sz="2600" dirty="0">
                <a:latin typeface="微软雅黑" panose="020B0503020204020204" pitchFamily="34" charset="-122"/>
                <a:ea typeface="微软雅黑" panose="020B0503020204020204" pitchFamily="34" charset="-122"/>
              </a:rPr>
              <a:t>）是指一国货币当局对本国汇率水平的确定、汇率变动方式等问题所作的一系列安排或规定</a:t>
            </a:r>
            <a:r>
              <a:rPr lang="zh-CN" altLang="en-US" sz="2600" dirty="0" smtClean="0">
                <a:latin typeface="微软雅黑" panose="020B0503020204020204" pitchFamily="34" charset="-122"/>
                <a:ea typeface="微软雅黑" panose="020B0503020204020204" pitchFamily="34" charset="-122"/>
              </a:rPr>
              <a:t>。</a:t>
            </a:r>
            <a:endParaRPr lang="en-US" altLang="zh-CN" sz="2600" dirty="0" smtClean="0">
              <a:latin typeface="微软雅黑" panose="020B0503020204020204" pitchFamily="34" charset="-122"/>
              <a:ea typeface="微软雅黑" panose="020B0503020204020204" pitchFamily="34" charset="-122"/>
            </a:endParaRPr>
          </a:p>
          <a:p>
            <a:pPr marL="514350" indent="-514350">
              <a:lnSpc>
                <a:spcPct val="100000"/>
              </a:lnSpc>
              <a:buFont typeface="+mj-lt"/>
              <a:buAutoNum type="arabicPeriod"/>
            </a:pPr>
            <a:r>
              <a:rPr lang="zh-CN" altLang="en-US" sz="2600" dirty="0">
                <a:solidFill>
                  <a:schemeClr val="accent1"/>
                </a:solidFill>
                <a:latin typeface="微软雅黑" panose="020B0503020204020204" pitchFamily="34" charset="-122"/>
                <a:ea typeface="微软雅黑" panose="020B0503020204020204" pitchFamily="34" charset="-122"/>
              </a:rPr>
              <a:t>汇率制度的类型</a:t>
            </a:r>
          </a:p>
          <a:p>
            <a:pPr marL="0" indent="457200">
              <a:lnSpc>
                <a:spcPct val="100000"/>
              </a:lnSpc>
              <a:buNone/>
            </a:pPr>
            <a:r>
              <a:rPr lang="zh-CN" altLang="en-US" sz="2600" dirty="0">
                <a:latin typeface="微软雅黑" panose="020B0503020204020204" pitchFamily="34" charset="-122"/>
                <a:ea typeface="微软雅黑" panose="020B0503020204020204" pitchFamily="34" charset="-122"/>
              </a:rPr>
              <a:t>按照汇率变动方式，汇率制度被分为固定汇率制和浮动汇率制。</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金本位制</a:t>
            </a:r>
            <a:r>
              <a:rPr lang="zh-CN" altLang="en-US" sz="2600" dirty="0">
                <a:latin typeface="微软雅黑" panose="020B0503020204020204" pitchFamily="34" charset="-122"/>
                <a:ea typeface="微软雅黑" panose="020B0503020204020204" pitchFamily="34" charset="-122"/>
              </a:rPr>
              <a:t>度下的固定汇率制是典型的固定汇率制，纸币流通条件下的固定汇率是人为规定的，在经济形势发生较大变化时，这一汇率可以进行调整，实际是可调整的钉住汇率制。</a:t>
            </a:r>
          </a:p>
          <a:p>
            <a:pPr marL="0" indent="457200">
              <a:lnSpc>
                <a:spcPct val="100000"/>
              </a:lnSpc>
              <a:buNone/>
            </a:pPr>
            <a:endParaRPr lang="zh-CN" altLang="en-US" sz="26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998915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fontScale="92500"/>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一、汇率制度的类型</a:t>
            </a:r>
          </a:p>
          <a:p>
            <a:pPr marL="514350" indent="-514350">
              <a:lnSpc>
                <a:spcPct val="100000"/>
              </a:lnSpc>
              <a:buFont typeface="+mj-lt"/>
              <a:buAutoNum type="arabicPeriod"/>
            </a:pPr>
            <a:r>
              <a:rPr lang="zh-CN" altLang="en-US" sz="2600" dirty="0" smtClean="0">
                <a:solidFill>
                  <a:schemeClr val="accent1"/>
                </a:solidFill>
                <a:latin typeface="微软雅黑" panose="020B0503020204020204" pitchFamily="34" charset="-122"/>
                <a:ea typeface="微软雅黑" panose="020B0503020204020204" pitchFamily="34" charset="-122"/>
              </a:rPr>
              <a:t>汇率制度</a:t>
            </a:r>
            <a:r>
              <a:rPr lang="zh-CN" altLang="en-US" sz="2600" dirty="0">
                <a:solidFill>
                  <a:schemeClr val="accent1"/>
                </a:solidFill>
                <a:latin typeface="微软雅黑" panose="020B0503020204020204" pitchFamily="34" charset="-122"/>
                <a:ea typeface="微软雅黑" panose="020B0503020204020204" pitchFamily="34" charset="-122"/>
              </a:rPr>
              <a:t>的类型</a:t>
            </a:r>
          </a:p>
          <a:p>
            <a:pPr marL="0" indent="457200">
              <a:lnSpc>
                <a:spcPct val="100000"/>
              </a:lnSpc>
              <a:buNone/>
            </a:pPr>
            <a:r>
              <a:rPr lang="zh-CN" altLang="en-US" sz="2600" dirty="0">
                <a:latin typeface="微软雅黑" panose="020B0503020204020204" pitchFamily="34" charset="-122"/>
                <a:ea typeface="微软雅黑" panose="020B0503020204020204" pitchFamily="34" charset="-122"/>
              </a:rPr>
              <a:t>按照政府是否干预，浮动汇率制分为自由浮动（或清洁浮动）和管理浮动（肮脏浮动）；按照浮动形式，浮动汇率制分为单独浮动和联合浮动。</a:t>
            </a:r>
          </a:p>
          <a:p>
            <a:pPr marL="514350" indent="-514350">
              <a:lnSpc>
                <a:spcPct val="100000"/>
              </a:lnSpc>
              <a:buFont typeface="+mj-lt"/>
              <a:buAutoNum type="arabicPeriod" startAt="2"/>
            </a:pPr>
            <a:r>
              <a:rPr lang="en-US" altLang="zh-CN" sz="2600" dirty="0" smtClean="0">
                <a:solidFill>
                  <a:schemeClr val="accent1"/>
                </a:solidFill>
                <a:latin typeface="微软雅黑" panose="020B0503020204020204" pitchFamily="34" charset="-122"/>
                <a:ea typeface="微软雅黑" panose="020B0503020204020204" pitchFamily="34" charset="-122"/>
              </a:rPr>
              <a:t>1999</a:t>
            </a:r>
            <a:r>
              <a:rPr altLang="en-US" sz="2600" dirty="0" smtClean="0">
                <a:solidFill>
                  <a:schemeClr val="accent1"/>
                </a:solidFill>
                <a:latin typeface="微软雅黑" panose="020B0503020204020204" pitchFamily="34" charset="-122"/>
                <a:ea typeface="微软雅黑" panose="020B0503020204020204" pitchFamily="34" charset="-122"/>
              </a:rPr>
              <a:t>年</a:t>
            </a:r>
            <a:r>
              <a:rPr lang="en-US" altLang="zh-CN" sz="2600" dirty="0" smtClean="0">
                <a:solidFill>
                  <a:schemeClr val="accent1"/>
                </a:solidFill>
                <a:latin typeface="微软雅黑" panose="020B0503020204020204" pitchFamily="34" charset="-122"/>
                <a:ea typeface="微软雅黑" panose="020B0503020204020204" pitchFamily="34" charset="-122"/>
              </a:rPr>
              <a:t>3</a:t>
            </a:r>
            <a:r>
              <a:rPr altLang="en-US" sz="2600" dirty="0" smtClean="0">
                <a:solidFill>
                  <a:schemeClr val="accent1"/>
                </a:solidFill>
                <a:latin typeface="微软雅黑" panose="020B0503020204020204" pitchFamily="34" charset="-122"/>
                <a:ea typeface="微软雅黑" panose="020B0503020204020204" pitchFamily="34" charset="-122"/>
              </a:rPr>
              <a:t>月以前的汇率制度安排</a:t>
            </a:r>
            <a:endParaRPr altLang="en-US" sz="2600" dirty="0">
              <a:solidFill>
                <a:schemeClr val="accent1"/>
              </a:solidFill>
              <a:latin typeface="微软雅黑" panose="020B0503020204020204" pitchFamily="34" charset="-122"/>
              <a:ea typeface="微软雅黑" panose="020B0503020204020204" pitchFamily="34" charset="-122"/>
            </a:endParaRPr>
          </a:p>
          <a:p>
            <a:pPr marL="0" indent="457200">
              <a:lnSpc>
                <a:spcPct val="100000"/>
              </a:lnSpc>
              <a:buNone/>
            </a:pPr>
            <a:r>
              <a:rPr altLang="en-US" sz="2600" dirty="0" smtClean="0">
                <a:latin typeface="微软雅黑" panose="020B0503020204020204" pitchFamily="34" charset="-122"/>
                <a:ea typeface="微软雅黑" panose="020B0503020204020204" pitchFamily="34" charset="-122"/>
              </a:rPr>
              <a:t>自</a:t>
            </a:r>
            <a:r>
              <a:rPr lang="en-US" altLang="zh-CN" sz="2600" dirty="0" smtClean="0">
                <a:latin typeface="微软雅黑" panose="020B0503020204020204" pitchFamily="34" charset="-122"/>
                <a:ea typeface="微软雅黑" panose="020B0503020204020204" pitchFamily="34" charset="-122"/>
              </a:rPr>
              <a:t>1982</a:t>
            </a:r>
            <a:r>
              <a:rPr altLang="en-US" sz="2600" dirty="0" smtClean="0">
                <a:latin typeface="微软雅黑" panose="020B0503020204020204" pitchFamily="34" charset="-122"/>
                <a:ea typeface="微软雅黑" panose="020B0503020204020204" pitchFamily="34" charset="-122"/>
              </a:rPr>
              <a:t>年起，</a:t>
            </a:r>
            <a:r>
              <a:rPr lang="en-US" altLang="zh-CN" sz="2600" dirty="0" smtClean="0">
                <a:latin typeface="微软雅黑" panose="020B0503020204020204" pitchFamily="34" charset="-122"/>
                <a:ea typeface="微软雅黑" panose="020B0503020204020204" pitchFamily="34" charset="-122"/>
              </a:rPr>
              <a:t>IMF</a:t>
            </a:r>
            <a:r>
              <a:rPr altLang="en-US" sz="2600" dirty="0" smtClean="0">
                <a:latin typeface="微软雅黑" panose="020B0503020204020204" pitchFamily="34" charset="-122"/>
                <a:ea typeface="微软雅黑" panose="020B0503020204020204" pitchFamily="34" charset="-122"/>
              </a:rPr>
              <a:t>根据汇率变动</a:t>
            </a:r>
            <a:r>
              <a:rPr altLang="en-US" sz="2600" dirty="0">
                <a:latin typeface="微软雅黑" panose="020B0503020204020204" pitchFamily="34" charset="-122"/>
                <a:ea typeface="微软雅黑" panose="020B0503020204020204" pitchFamily="34" charset="-122"/>
              </a:rPr>
              <a:t>的灵活程度将成员国的汇率安排分为三</a:t>
            </a:r>
            <a:r>
              <a:rPr lang="zh-CN" altLang="en-US" sz="2600" dirty="0">
                <a:latin typeface="微软雅黑" panose="020B0503020204020204" pitchFamily="34" charset="-122"/>
                <a:ea typeface="微软雅黑" panose="020B0503020204020204" pitchFamily="34" charset="-122"/>
              </a:rPr>
              <a:t>类：钉住制；有限浮动；较自由的浮动。据此标准，世界汇率制度安排在时间上的演进为：</a:t>
            </a:r>
          </a:p>
          <a:p>
            <a:pPr marL="0" indent="457200">
              <a:lnSpc>
                <a:spcPct val="100000"/>
              </a:lnSpc>
              <a:buNone/>
            </a:pPr>
            <a:endParaRPr lang="zh-CN" altLang="en-US" sz="26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9940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a:spLocks/>
          </p:cNvSpPr>
          <p:nvPr/>
        </p:nvSpPr>
        <p:spPr>
          <a:xfrm>
            <a:off x="971550" y="0"/>
            <a:ext cx="7200900" cy="628000"/>
          </a:xfrm>
          <a:prstGeom prst="rect">
            <a:avLst/>
          </a:prstGeom>
        </p:spPr>
        <p:txBody>
          <a:bodyPr>
            <a:normAutofit/>
          </a:bodyPr>
          <a:lstStyle>
            <a:lvl1pPr algn="l" defTabSz="914400" rtl="0" eaLnBrk="1" latinLnBrk="0" hangingPunct="1">
              <a:lnSpc>
                <a:spcPct val="90000"/>
              </a:lnSpc>
              <a:spcBef>
                <a:spcPct val="0"/>
              </a:spcBef>
              <a:buNone/>
              <a:defRPr lang="zh-CN" sz="3200" b="1" kern="1200">
                <a:solidFill>
                  <a:schemeClr val="accent1"/>
                </a:solidFill>
                <a:latin typeface="+mj-lt"/>
                <a:ea typeface="Microsoft YaHei UI" panose="020B0503020204020204" pitchFamily="34" charset="-122"/>
                <a:cs typeface="+mj-cs"/>
              </a:defRPr>
            </a:lvl1pPr>
          </a:lstStyle>
          <a:p>
            <a:r>
              <a:rPr lang="en-US" altLang="zh-CN" smtClean="0"/>
              <a:t>1981-1998</a:t>
            </a:r>
            <a:r>
              <a:rPr lang="zh-CN" altLang="en-US" smtClean="0"/>
              <a:t>年间各国汇率制度的选择</a:t>
            </a:r>
            <a:endParaRPr lang="zh-CN" altLang="en-US" dirty="0"/>
          </a:p>
        </p:txBody>
      </p:sp>
      <p:graphicFrame>
        <p:nvGraphicFramePr>
          <p:cNvPr id="6" name="Group 3"/>
          <p:cNvGraphicFramePr>
            <a:graphicFrameLocks noGrp="1"/>
          </p:cNvGraphicFramePr>
          <p:nvPr>
            <p:extLst>
              <p:ext uri="{D42A27DB-BD31-4B8C-83A1-F6EECF244321}">
                <p14:modId xmlns:p14="http://schemas.microsoft.com/office/powerpoint/2010/main" val="3911499615"/>
              </p:ext>
            </p:extLst>
          </p:nvPr>
        </p:nvGraphicFramePr>
        <p:xfrm>
          <a:off x="0" y="765172"/>
          <a:ext cx="9144000" cy="6092828"/>
        </p:xfrm>
        <a:graphic>
          <a:graphicData uri="http://schemas.openxmlformats.org/drawingml/2006/table">
            <a:tbl>
              <a:tblPr>
                <a:tableStyleId>{BC89EF96-8CEA-46FF-86C4-4CE0E7609802}</a:tableStyleId>
              </a:tblPr>
              <a:tblGrid>
                <a:gridCol w="1780674"/>
                <a:gridCol w="481263"/>
                <a:gridCol w="433137"/>
                <a:gridCol w="433137"/>
                <a:gridCol w="397042"/>
                <a:gridCol w="397042"/>
                <a:gridCol w="385010"/>
                <a:gridCol w="397042"/>
                <a:gridCol w="397042"/>
                <a:gridCol w="421106"/>
                <a:gridCol w="372979"/>
                <a:gridCol w="397042"/>
                <a:gridCol w="409073"/>
                <a:gridCol w="372979"/>
                <a:gridCol w="409074"/>
                <a:gridCol w="385011"/>
                <a:gridCol w="421105"/>
                <a:gridCol w="372979"/>
                <a:gridCol w="481263"/>
              </a:tblGrid>
              <a:tr h="6699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1400" b="1"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400" b="1"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年份</a:t>
                      </a:r>
                      <a:endParaRPr kumimoji="0" lang="zh-CN" altLang="en-US" sz="1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accent1">
                        <a:lumMod val="20000"/>
                        <a:lumOff val="80000"/>
                        <a:alpha val="39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1" u="none" strike="noStrike" cap="none" normalizeH="0" baseline="0" dirty="0" smtClean="0">
                          <a:ln>
                            <a:noFill/>
                          </a:ln>
                          <a:effectLst/>
                          <a:latin typeface="微软雅黑" panose="020B0503020204020204" pitchFamily="34" charset="-122"/>
                          <a:ea typeface="微软雅黑" panose="020B0503020204020204" pitchFamily="34" charset="-122"/>
                        </a:rPr>
                        <a:t>81</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1" u="none" strike="noStrike" cap="none" normalizeH="0" baseline="0" smtClean="0">
                          <a:ln>
                            <a:noFill/>
                          </a:ln>
                          <a:effectLst/>
                          <a:latin typeface="微软雅黑" panose="020B0503020204020204" pitchFamily="34" charset="-122"/>
                          <a:ea typeface="微软雅黑" panose="020B0503020204020204" pitchFamily="34" charset="-122"/>
                        </a:rPr>
                        <a:t>82</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1" u="none" strike="noStrike" cap="none" normalizeH="0" baseline="0" dirty="0" smtClean="0">
                          <a:ln>
                            <a:noFill/>
                          </a:ln>
                          <a:effectLst/>
                          <a:latin typeface="微软雅黑" panose="020B0503020204020204" pitchFamily="34" charset="-122"/>
                          <a:ea typeface="微软雅黑" panose="020B0503020204020204" pitchFamily="34" charset="-122"/>
                        </a:rPr>
                        <a:t>83</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1" u="none" strike="noStrike" cap="none" normalizeH="0" baseline="0" dirty="0" smtClean="0">
                          <a:ln>
                            <a:noFill/>
                          </a:ln>
                          <a:effectLst/>
                          <a:latin typeface="微软雅黑" panose="020B0503020204020204" pitchFamily="34" charset="-122"/>
                          <a:ea typeface="微软雅黑" panose="020B0503020204020204" pitchFamily="34" charset="-122"/>
                        </a:rPr>
                        <a:t>84</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1" u="none" strike="noStrike" cap="none" normalizeH="0" baseline="0" dirty="0" smtClean="0">
                          <a:ln>
                            <a:noFill/>
                          </a:ln>
                          <a:effectLst/>
                          <a:latin typeface="微软雅黑" panose="020B0503020204020204" pitchFamily="34" charset="-122"/>
                          <a:ea typeface="微软雅黑" panose="020B0503020204020204" pitchFamily="34" charset="-122"/>
                        </a:rPr>
                        <a:t>85</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1" u="none" strike="noStrike" cap="none" normalizeH="0" baseline="0" dirty="0" smtClean="0">
                          <a:ln>
                            <a:noFill/>
                          </a:ln>
                          <a:effectLst/>
                          <a:latin typeface="微软雅黑" panose="020B0503020204020204" pitchFamily="34" charset="-122"/>
                          <a:ea typeface="微软雅黑" panose="020B0503020204020204" pitchFamily="34" charset="-122"/>
                        </a:rPr>
                        <a:t>86</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1" u="none" strike="noStrike" cap="none" normalizeH="0" baseline="0" dirty="0" smtClean="0">
                          <a:ln>
                            <a:noFill/>
                          </a:ln>
                          <a:effectLst/>
                          <a:latin typeface="微软雅黑" panose="020B0503020204020204" pitchFamily="34" charset="-122"/>
                          <a:ea typeface="微软雅黑" panose="020B0503020204020204" pitchFamily="34" charset="-122"/>
                        </a:rPr>
                        <a:t>87</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1" u="none" strike="noStrike" cap="none" normalizeH="0" baseline="0" dirty="0" smtClean="0">
                          <a:ln>
                            <a:noFill/>
                          </a:ln>
                          <a:effectLst/>
                          <a:latin typeface="微软雅黑" panose="020B0503020204020204" pitchFamily="34" charset="-122"/>
                          <a:ea typeface="微软雅黑" panose="020B0503020204020204" pitchFamily="34" charset="-122"/>
                        </a:rPr>
                        <a:t>88</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1" u="none" strike="noStrike" cap="none" normalizeH="0" baseline="0" dirty="0" smtClean="0">
                          <a:ln>
                            <a:noFill/>
                          </a:ln>
                          <a:effectLst/>
                          <a:latin typeface="微软雅黑" panose="020B0503020204020204" pitchFamily="34" charset="-122"/>
                          <a:ea typeface="微软雅黑" panose="020B0503020204020204" pitchFamily="34" charset="-122"/>
                        </a:rPr>
                        <a:t>89</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1" u="none" strike="noStrike" cap="none" normalizeH="0" baseline="0" dirty="0" smtClean="0">
                          <a:ln>
                            <a:noFill/>
                          </a:ln>
                          <a:effectLst/>
                          <a:latin typeface="微软雅黑" panose="020B0503020204020204" pitchFamily="34" charset="-122"/>
                          <a:ea typeface="微软雅黑" panose="020B0503020204020204" pitchFamily="34" charset="-122"/>
                        </a:rPr>
                        <a:t>90</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1" u="none" strike="noStrike" cap="none" normalizeH="0" baseline="0" dirty="0" smtClean="0">
                          <a:ln>
                            <a:noFill/>
                          </a:ln>
                          <a:effectLst/>
                          <a:latin typeface="微软雅黑" panose="020B0503020204020204" pitchFamily="34" charset="-122"/>
                          <a:ea typeface="微软雅黑" panose="020B0503020204020204" pitchFamily="34" charset="-122"/>
                        </a:rPr>
                        <a:t>91</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1" u="none" strike="noStrike" cap="none" normalizeH="0" baseline="0" dirty="0" smtClean="0">
                          <a:ln>
                            <a:noFill/>
                          </a:ln>
                          <a:effectLst/>
                          <a:latin typeface="微软雅黑" panose="020B0503020204020204" pitchFamily="34" charset="-122"/>
                          <a:ea typeface="微软雅黑" panose="020B0503020204020204" pitchFamily="34" charset="-122"/>
                        </a:rPr>
                        <a:t>92</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1" u="none" strike="noStrike" cap="none" normalizeH="0" baseline="0" dirty="0" smtClean="0">
                          <a:ln>
                            <a:noFill/>
                          </a:ln>
                          <a:effectLst/>
                          <a:latin typeface="微软雅黑" panose="020B0503020204020204" pitchFamily="34" charset="-122"/>
                          <a:ea typeface="微软雅黑" panose="020B0503020204020204" pitchFamily="34" charset="-122"/>
                        </a:rPr>
                        <a:t>93</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1" u="none" strike="noStrike" cap="none" normalizeH="0" baseline="0" smtClean="0">
                          <a:ln>
                            <a:noFill/>
                          </a:ln>
                          <a:effectLst/>
                          <a:latin typeface="微软雅黑" panose="020B0503020204020204" pitchFamily="34" charset="-122"/>
                          <a:ea typeface="微软雅黑" panose="020B0503020204020204" pitchFamily="34" charset="-122"/>
                        </a:rPr>
                        <a:t>94</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1" u="none" strike="noStrike" cap="none" normalizeH="0" baseline="0" smtClean="0">
                          <a:ln>
                            <a:noFill/>
                          </a:ln>
                          <a:effectLst/>
                          <a:latin typeface="微软雅黑" panose="020B0503020204020204" pitchFamily="34" charset="-122"/>
                          <a:ea typeface="微软雅黑" panose="020B0503020204020204" pitchFamily="34" charset="-122"/>
                        </a:rPr>
                        <a:t>95</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1" u="none" strike="noStrike" cap="none" normalizeH="0" baseline="0" smtClean="0">
                          <a:ln>
                            <a:noFill/>
                          </a:ln>
                          <a:effectLst/>
                          <a:latin typeface="微软雅黑" panose="020B0503020204020204" pitchFamily="34" charset="-122"/>
                          <a:ea typeface="微软雅黑" panose="020B0503020204020204" pitchFamily="34" charset="-122"/>
                        </a:rPr>
                        <a:t>96</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1" u="none" strike="noStrike" cap="none" normalizeH="0" baseline="0" smtClean="0">
                          <a:ln>
                            <a:noFill/>
                          </a:ln>
                          <a:effectLst/>
                          <a:latin typeface="微软雅黑" panose="020B0503020204020204" pitchFamily="34" charset="-122"/>
                          <a:ea typeface="微软雅黑" panose="020B0503020204020204" pitchFamily="34" charset="-122"/>
                        </a:rPr>
                        <a:t>97</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1" u="none" strike="noStrike" cap="none" normalizeH="0" baseline="0" dirty="0" smtClean="0">
                          <a:ln>
                            <a:noFill/>
                          </a:ln>
                          <a:effectLst/>
                          <a:latin typeface="微软雅黑" panose="020B0503020204020204" pitchFamily="34" charset="-122"/>
                          <a:ea typeface="微软雅黑" panose="020B0503020204020204" pitchFamily="34" charset="-122"/>
                        </a:rPr>
                        <a:t>98</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r>
              <a:tr h="4937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国家总数</a:t>
                      </a:r>
                      <a:endParaRPr kumimoji="0" lang="zh-CN" altLang="en-US" sz="1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accent1">
                        <a:lumMod val="20000"/>
                        <a:lumOff val="80000"/>
                        <a:alpha val="39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144</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145</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146</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147</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149</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150</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151</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151</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152</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154</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156</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167</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175</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178</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180</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181</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181</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182</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r>
              <a:tr h="4921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1</a:t>
                      </a:r>
                      <a:r>
                        <a:rPr kumimoji="0" lang="zh-CN" altLang="en-US" sz="1400" b="1"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．钉住汇率</a:t>
                      </a:r>
                      <a:endParaRPr kumimoji="0" lang="zh-CN" altLang="en-US" sz="1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accent1">
                        <a:lumMod val="20000"/>
                        <a:lumOff val="80000"/>
                        <a:alpha val="39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94</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93</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90</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93</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95</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89</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92</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94</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93</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85</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81</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84</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73</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70</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66</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66</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66</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64</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r>
              <a:tr h="4937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  A.</a:t>
                      </a:r>
                      <a:r>
                        <a:rPr kumimoji="0" lang="zh-CN" altLang="en-US" sz="1400" b="1"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钉住单一货币</a:t>
                      </a:r>
                      <a:endParaRPr kumimoji="0" lang="zh-CN" altLang="en-US" sz="1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accent1">
                        <a:lumMod val="20000"/>
                        <a:lumOff val="80000"/>
                        <a:alpha val="39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58</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55</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51</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50</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51</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52</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57</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55</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51</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44</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42</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50</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43</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45</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44</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44</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46</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47</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r>
              <a:tr h="4921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  B.</a:t>
                      </a:r>
                      <a:r>
                        <a:rPr kumimoji="0" lang="zh-CN" altLang="en-US" sz="1400" b="1"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钉住合成货币</a:t>
                      </a:r>
                      <a:endParaRPr kumimoji="0" lang="zh-CN" altLang="en-US" sz="1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accent1">
                        <a:lumMod val="20000"/>
                        <a:lumOff val="80000"/>
                        <a:alpha val="39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36</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38</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39</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43</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44</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37</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35</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39</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42</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41</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39</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34</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30</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25</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22</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22   </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20</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17</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r>
              <a:tr h="4937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2</a:t>
                      </a:r>
                      <a:r>
                        <a:rPr kumimoji="0" lang="zh-CN" altLang="en-US" sz="1400" b="1"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．有限浮动汇率</a:t>
                      </a:r>
                      <a:endParaRPr kumimoji="0" lang="zh-CN" altLang="en-US" sz="1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accent1">
                        <a:lumMod val="20000"/>
                        <a:lumOff val="80000"/>
                        <a:alpha val="39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17</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17</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17</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15</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12</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13</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12</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12</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13</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13</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14</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13</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13</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14</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14</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16</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16</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17</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r>
              <a:tr h="4921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  A.</a:t>
                      </a:r>
                      <a:r>
                        <a:rPr kumimoji="0" lang="zh-CN" altLang="en-US" sz="1400" b="1"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单一货币</a:t>
                      </a:r>
                      <a:endParaRPr kumimoji="0" lang="zh-CN" altLang="en-US" sz="1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accent1">
                        <a:lumMod val="20000"/>
                        <a:lumOff val="80000"/>
                        <a:alpha val="39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9</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9</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9</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7</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5</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5</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4</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4</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4</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4</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4</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4</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4</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4</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4</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4</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4</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4</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r>
              <a:tr h="4937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  B.</a:t>
                      </a:r>
                      <a:r>
                        <a:rPr kumimoji="0" lang="zh-CN" altLang="en-US" sz="1400" b="1"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合成货币</a:t>
                      </a:r>
                      <a:endParaRPr kumimoji="0" lang="zh-CN" altLang="en-US" sz="1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accent1">
                        <a:lumMod val="20000"/>
                        <a:lumOff val="80000"/>
                        <a:alpha val="39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8</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8</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8</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8</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7</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8</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8</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8</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9</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9</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10</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9</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9</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10</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10</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12</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12</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13</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r>
              <a:tr h="4921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3.</a:t>
                      </a:r>
                      <a:r>
                        <a:rPr kumimoji="0" lang="zh-CN" altLang="en-US" sz="1400" b="1"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更加浮动汇率</a:t>
                      </a:r>
                      <a:endParaRPr kumimoji="0" lang="zh-CN" altLang="en-US" sz="1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accent1">
                        <a:lumMod val="20000"/>
                        <a:lumOff val="80000"/>
                        <a:alpha val="39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33</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35</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38</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39</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42</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48</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46</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44</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46</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51</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61</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70</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89</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94</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100</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99</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99</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101</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bg1">
                        <a:lumMod val="95000"/>
                      </a:schemeClr>
                    </a:solidFill>
                  </a:tcPr>
                </a:tc>
              </a:tr>
              <a:tr h="4937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 A.</a:t>
                      </a:r>
                      <a:r>
                        <a:rPr kumimoji="0" lang="zh-CN" altLang="en-US" sz="1400" b="1"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按一套指标调整</a:t>
                      </a:r>
                      <a:endParaRPr kumimoji="0" lang="zh-CN" altLang="en-US" sz="1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accent1">
                        <a:lumMod val="20000"/>
                        <a:lumOff val="80000"/>
                        <a:alpha val="39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4</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5</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6</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6</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5</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6</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5</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5</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5</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3</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5</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3</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4</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3</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2</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2</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r>
              <a:tr h="4921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  B.</a:t>
                      </a:r>
                      <a:r>
                        <a:rPr kumimoji="0" lang="zh-CN" altLang="en-US" sz="1400" b="1"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管理浮动</a:t>
                      </a:r>
                      <a:endParaRPr kumimoji="0" lang="zh-CN" altLang="en-US" sz="1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accent1">
                        <a:lumMod val="20000"/>
                        <a:lumOff val="80000"/>
                        <a:alpha val="39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19</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22</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24</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19</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22</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22</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23</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22</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21</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23</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27</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23</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29</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33</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44</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45</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46</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56</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r>
              <a:tr h="4937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  C.</a:t>
                      </a:r>
                      <a:r>
                        <a:rPr kumimoji="0" lang="zh-CN" altLang="en-US" sz="1400" b="1"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独立浮动</a:t>
                      </a:r>
                      <a:endParaRPr kumimoji="0" lang="zh-CN" altLang="en-US" sz="1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solidFill>
                      <a:schemeClr val="accent1">
                        <a:lumMod val="20000"/>
                        <a:lumOff val="80000"/>
                        <a:alpha val="39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10</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8</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8</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14</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15</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20</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18</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17</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20</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25</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29</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44</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56</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58</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smtClean="0">
                          <a:ln>
                            <a:noFill/>
                          </a:ln>
                          <a:effectLst/>
                          <a:latin typeface="微软雅黑" panose="020B0503020204020204" pitchFamily="34" charset="-122"/>
                          <a:ea typeface="微软雅黑" panose="020B0503020204020204" pitchFamily="34" charset="-122"/>
                        </a:rPr>
                        <a:t>54</a:t>
                      </a:r>
                      <a:endParaRPr kumimoji="0" lang="en-US" altLang="zh-CN" sz="12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52</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53</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u="none" strike="noStrike" cap="none" normalizeH="0" baseline="0" dirty="0" smtClean="0">
                          <a:ln>
                            <a:noFill/>
                          </a:ln>
                          <a:effectLst/>
                          <a:latin typeface="微软雅黑" panose="020B0503020204020204" pitchFamily="34" charset="-122"/>
                          <a:ea typeface="微软雅黑" panose="020B0503020204020204" pitchFamily="34" charset="-122"/>
                        </a:rPr>
                        <a:t>45</a:t>
                      </a:r>
                      <a:endParaRPr kumimoji="0" lang="en-US" altLang="zh-CN" sz="1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tc>
              </a:tr>
            </a:tbl>
          </a:graphicData>
        </a:graphic>
      </p:graphicFrame>
    </p:spTree>
    <p:extLst>
      <p:ext uri="{BB962C8B-B14F-4D97-AF65-F5344CB8AC3E}">
        <p14:creationId xmlns:p14="http://schemas.microsoft.com/office/powerpoint/2010/main" val="186601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2"/>
          <p:cNvGraphicFramePr>
            <a:graphicFrameLocks noChangeAspect="1"/>
          </p:cNvGraphicFramePr>
          <p:nvPr>
            <p:extLst>
              <p:ext uri="{D42A27DB-BD31-4B8C-83A1-F6EECF244321}">
                <p14:modId xmlns:p14="http://schemas.microsoft.com/office/powerpoint/2010/main" val="3090476019"/>
              </p:ext>
            </p:extLst>
          </p:nvPr>
        </p:nvGraphicFramePr>
        <p:xfrm>
          <a:off x="0" y="0"/>
          <a:ext cx="9144000" cy="6858000"/>
        </p:xfrm>
        <a:graphic>
          <a:graphicData uri="http://schemas.openxmlformats.org/presentationml/2006/ole">
            <mc:AlternateContent xmlns:mc="http://schemas.openxmlformats.org/markup-compatibility/2006">
              <mc:Choice xmlns:v="urn:schemas-microsoft-com:vml" Requires="v">
                <p:oleObj spid="_x0000_s2107" name="工作表" r:id="rId5" imgW="4048033" imgH="2733617" progId="Excel.Sheet.8">
                  <p:embed/>
                </p:oleObj>
              </mc:Choice>
              <mc:Fallback>
                <p:oleObj name="工作表" r:id="rId5" imgW="4048033" imgH="2733617" progId="Excel.Sheet.8">
                  <p:embed/>
                  <p:pic>
                    <p:nvPicPr>
                      <p:cNvPr id="0" name="Picture 4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solidFill>
                        <a:schemeClr val="bg1"/>
                      </a:solidFill>
                    </p:spPr>
                  </p:pic>
                </p:oleObj>
              </mc:Fallback>
            </mc:AlternateContent>
          </a:graphicData>
        </a:graphic>
      </p:graphicFrame>
      <p:sp>
        <p:nvSpPr>
          <p:cNvPr id="3" name="TextBox 2"/>
          <p:cNvSpPr txBox="1"/>
          <p:nvPr/>
        </p:nvSpPr>
        <p:spPr>
          <a:xfrm>
            <a:off x="2129589" y="324849"/>
            <a:ext cx="5317958" cy="461665"/>
          </a:xfrm>
          <a:prstGeom prst="rect">
            <a:avLst/>
          </a:prstGeom>
          <a:solidFill>
            <a:schemeClr val="bg1"/>
          </a:solidFill>
        </p:spPr>
        <p:txBody>
          <a:bodyPr wrap="square" rtlCol="0">
            <a:spAutoFit/>
          </a:bodyPr>
          <a:lstStyle/>
          <a:p>
            <a:pPr algn="ctr"/>
            <a:r>
              <a:rPr lang="zh-CN" altLang="en-US" sz="2400" dirty="0" smtClean="0"/>
              <a:t>汇率制度的演变趋势</a:t>
            </a:r>
            <a:endParaRPr lang="zh-CN" altLang="en-US" sz="2400" dirty="0"/>
          </a:p>
        </p:txBody>
      </p:sp>
    </p:spTree>
    <p:extLst>
      <p:ext uri="{BB962C8B-B14F-4D97-AF65-F5344CB8AC3E}">
        <p14:creationId xmlns:p14="http://schemas.microsoft.com/office/powerpoint/2010/main" val="2724334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一、汇率制度的类型</a:t>
            </a:r>
          </a:p>
          <a:p>
            <a:pPr marL="514350" indent="-514350">
              <a:lnSpc>
                <a:spcPct val="100000"/>
              </a:lnSpc>
              <a:buFont typeface="+mj-lt"/>
              <a:buAutoNum type="arabicPeriod" startAt="3"/>
            </a:pPr>
            <a:r>
              <a:rPr lang="en-US" altLang="zh-CN" sz="2600" dirty="0">
                <a:solidFill>
                  <a:schemeClr val="accent1"/>
                </a:solidFill>
                <a:latin typeface="微软雅黑" panose="020B0503020204020204" pitchFamily="34" charset="-122"/>
                <a:ea typeface="微软雅黑" panose="020B0503020204020204" pitchFamily="34" charset="-122"/>
              </a:rPr>
              <a:t>1999</a:t>
            </a:r>
            <a:r>
              <a:rPr lang="zh-CN" altLang="en-US" sz="2600" dirty="0">
                <a:solidFill>
                  <a:schemeClr val="accent1"/>
                </a:solidFill>
                <a:latin typeface="微软雅黑" panose="020B0503020204020204" pitchFamily="34" charset="-122"/>
                <a:ea typeface="微软雅黑" panose="020B0503020204020204" pitchFamily="34" charset="-122"/>
              </a:rPr>
              <a:t>年</a:t>
            </a:r>
            <a:r>
              <a:rPr lang="en-US" altLang="zh-CN" sz="2600" dirty="0">
                <a:solidFill>
                  <a:schemeClr val="accent1"/>
                </a:solidFill>
                <a:latin typeface="微软雅黑" panose="020B0503020204020204" pitchFamily="34" charset="-122"/>
                <a:ea typeface="微软雅黑" panose="020B0503020204020204" pitchFamily="34" charset="-122"/>
              </a:rPr>
              <a:t>3</a:t>
            </a:r>
            <a:r>
              <a:rPr lang="zh-CN" altLang="en-US" sz="2600" dirty="0">
                <a:solidFill>
                  <a:schemeClr val="accent1"/>
                </a:solidFill>
                <a:latin typeface="微软雅黑" panose="020B0503020204020204" pitchFamily="34" charset="-122"/>
                <a:ea typeface="微软雅黑" panose="020B0503020204020204" pitchFamily="34" charset="-122"/>
              </a:rPr>
              <a:t>月以后的汇率制度安排</a:t>
            </a:r>
          </a:p>
          <a:p>
            <a:pPr marL="0" indent="457200">
              <a:lnSpc>
                <a:spcPct val="100000"/>
              </a:lnSpc>
              <a:buNone/>
            </a:pPr>
            <a:r>
              <a:rPr lang="zh-CN" altLang="en-US" sz="2600" dirty="0">
                <a:latin typeface="微软雅黑" panose="020B0503020204020204" pitchFamily="34" charset="-122"/>
                <a:ea typeface="微软雅黑" panose="020B0503020204020204" pitchFamily="34" charset="-122"/>
              </a:rPr>
              <a:t>根据汇率的形成机制和政策目标的差异， </a:t>
            </a:r>
            <a:r>
              <a:rPr lang="en-US" altLang="zh-CN" sz="2600" dirty="0">
                <a:latin typeface="微软雅黑" panose="020B0503020204020204" pitchFamily="34" charset="-122"/>
                <a:ea typeface="微软雅黑" panose="020B0503020204020204" pitchFamily="34" charset="-122"/>
              </a:rPr>
              <a:t>IMF</a:t>
            </a:r>
            <a:r>
              <a:rPr lang="zh-CN" altLang="en-US" sz="2600" dirty="0">
                <a:latin typeface="微软雅黑" panose="020B0503020204020204" pitchFamily="34" charset="-122"/>
                <a:ea typeface="微软雅黑" panose="020B0503020204020204" pitchFamily="34" charset="-122"/>
              </a:rPr>
              <a:t>在</a:t>
            </a:r>
            <a:r>
              <a:rPr lang="en-US" altLang="zh-CN" sz="2600" dirty="0">
                <a:latin typeface="微软雅黑" panose="020B0503020204020204" pitchFamily="34" charset="-122"/>
                <a:ea typeface="微软雅黑" panose="020B0503020204020204" pitchFamily="34" charset="-122"/>
              </a:rPr>
              <a:t>1999</a:t>
            </a:r>
            <a:r>
              <a:rPr lang="zh-CN" altLang="en-US" sz="2600" dirty="0">
                <a:latin typeface="微软雅黑" panose="020B0503020204020204" pitchFamily="34" charset="-122"/>
                <a:ea typeface="微软雅黑" panose="020B0503020204020204" pitchFamily="34" charset="-122"/>
              </a:rPr>
              <a:t>年对汇率制度进行了重新分类，分为八大类：</a:t>
            </a:r>
          </a:p>
          <a:p>
            <a:pPr marL="0" indent="457200">
              <a:lnSpc>
                <a:spcPct val="100000"/>
              </a:lnSpc>
              <a:buNone/>
            </a:pPr>
            <a:endParaRPr lang="zh-CN" altLang="en-US" sz="26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465554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a:spLocks/>
          </p:cNvSpPr>
          <p:nvPr/>
        </p:nvSpPr>
        <p:spPr>
          <a:xfrm>
            <a:off x="1507578" y="126124"/>
            <a:ext cx="7200900" cy="628000"/>
          </a:xfrm>
          <a:prstGeom prst="rect">
            <a:avLst/>
          </a:prstGeom>
        </p:spPr>
        <p:txBody>
          <a:bodyPr>
            <a:normAutofit/>
          </a:bodyPr>
          <a:lstStyle>
            <a:lvl1pPr algn="l" defTabSz="914400" rtl="0" eaLnBrk="1" latinLnBrk="0" hangingPunct="1">
              <a:lnSpc>
                <a:spcPct val="90000"/>
              </a:lnSpc>
              <a:spcBef>
                <a:spcPct val="0"/>
              </a:spcBef>
              <a:buNone/>
              <a:defRPr lang="zh-CN" sz="3200" b="1" kern="1200">
                <a:solidFill>
                  <a:schemeClr val="accent1"/>
                </a:solidFill>
                <a:latin typeface="+mj-lt"/>
                <a:ea typeface="Microsoft YaHei UI" panose="020B0503020204020204" pitchFamily="34" charset="-122"/>
                <a:cs typeface="+mj-cs"/>
              </a:defRPr>
            </a:lvl1pPr>
          </a:lstStyle>
          <a:p>
            <a:r>
              <a:rPr lang="en-US" altLang="zh-CN" dirty="0"/>
              <a:t>1999</a:t>
            </a:r>
            <a:r>
              <a:rPr lang="zh-CN" altLang="en-US" dirty="0"/>
              <a:t>年</a:t>
            </a:r>
            <a:r>
              <a:rPr lang="en-US" altLang="zh-CN" dirty="0"/>
              <a:t>IMF</a:t>
            </a:r>
            <a:r>
              <a:rPr lang="zh-CN" altLang="en-US" dirty="0"/>
              <a:t>新的汇率制度分类</a:t>
            </a:r>
          </a:p>
        </p:txBody>
      </p:sp>
      <p:graphicFrame>
        <p:nvGraphicFramePr>
          <p:cNvPr id="4" name="Group 3"/>
          <p:cNvGraphicFramePr>
            <a:graphicFrameLocks noGrp="1"/>
          </p:cNvGraphicFramePr>
          <p:nvPr>
            <p:extLst>
              <p:ext uri="{D42A27DB-BD31-4B8C-83A1-F6EECF244321}">
                <p14:modId xmlns:p14="http://schemas.microsoft.com/office/powerpoint/2010/main" val="789639262"/>
              </p:ext>
            </p:extLst>
          </p:nvPr>
        </p:nvGraphicFramePr>
        <p:xfrm>
          <a:off x="313887" y="781926"/>
          <a:ext cx="8625161" cy="5736272"/>
        </p:xfrm>
        <a:graphic>
          <a:graphicData uri="http://schemas.openxmlformats.org/drawingml/2006/table">
            <a:tbl>
              <a:tblPr>
                <a:tableStyleId>{BC89EF96-8CEA-46FF-86C4-4CE0E7609802}</a:tableStyleId>
              </a:tblPr>
              <a:tblGrid>
                <a:gridCol w="5267106"/>
                <a:gridCol w="1592317"/>
                <a:gridCol w="1765738"/>
              </a:tblGrid>
              <a:tr h="478577">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2400" u="none" strike="noStrike" cap="none" normalizeH="0" baseline="0" dirty="0" smtClean="0">
                        <a:ln>
                          <a:noFill/>
                        </a:ln>
                        <a:effectLst/>
                        <a:latin typeface="微软雅黑" panose="020B0503020204020204" pitchFamily="34" charset="-122"/>
                        <a:ea typeface="微软雅黑" panose="020B0503020204020204" pitchFamily="34"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400" u="none" strike="noStrike" cap="none" normalizeH="0" baseline="0" dirty="0" smtClean="0">
                          <a:ln>
                            <a:noFill/>
                          </a:ln>
                          <a:effectLst/>
                          <a:latin typeface="微软雅黑" panose="020B0503020204020204" pitchFamily="34" charset="-122"/>
                          <a:ea typeface="微软雅黑" panose="020B0503020204020204" pitchFamily="34" charset="-122"/>
                        </a:rPr>
                        <a:t>汇率制度</a:t>
                      </a:r>
                      <a:endParaRPr kumimoji="0" lang="zh-CN" altLang="en-US" sz="2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23" marB="45723" horzOverflow="overflow"/>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u="none" strike="noStrike" cap="none" normalizeH="0" baseline="0" smtClean="0">
                          <a:ln>
                            <a:noFill/>
                          </a:ln>
                          <a:effectLst/>
                          <a:latin typeface="微软雅黑" panose="020B0503020204020204" pitchFamily="34" charset="-122"/>
                          <a:ea typeface="微软雅黑" panose="020B0503020204020204" pitchFamily="34" charset="-122"/>
                        </a:rPr>
                        <a:t>国家数目</a:t>
                      </a:r>
                      <a:endParaRPr kumimoji="0" lang="zh-CN" altLang="en-US" sz="24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3" marB="45723" horzOverflow="overflow"/>
                </a:tc>
                <a:tc hMerge="1">
                  <a:txBody>
                    <a:bodyPr/>
                    <a:lstStyle/>
                    <a:p>
                      <a:endParaRPr lang="zh-CN" altLang="en-US"/>
                    </a:p>
                  </a:txBody>
                  <a:tcPr/>
                </a:tc>
              </a:tr>
              <a:tr h="756350">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1999.1.1</a:t>
                      </a:r>
                      <a:endParaRPr kumimoji="0" lang="en-US" altLang="zh-CN" sz="24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3" marB="45723"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u="none" strike="noStrike" cap="none" normalizeH="0" baseline="0" dirty="0" smtClean="0">
                          <a:ln>
                            <a:noFill/>
                          </a:ln>
                          <a:effectLst/>
                          <a:latin typeface="微软雅黑" panose="020B0503020204020204" pitchFamily="34" charset="-122"/>
                          <a:ea typeface="微软雅黑" panose="020B0503020204020204" pitchFamily="34" charset="-122"/>
                        </a:rPr>
                        <a:t>1999.9.30</a:t>
                      </a:r>
                      <a:endParaRPr kumimoji="0" lang="en-US" altLang="zh-CN" sz="2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23" marB="45723" horzOverflow="overflow"/>
                </a:tc>
              </a:tr>
              <a:tr h="75638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u="none" strike="noStrike" cap="none" normalizeH="0" baseline="0" dirty="0" smtClean="0">
                          <a:ln>
                            <a:noFill/>
                          </a:ln>
                          <a:effectLst/>
                          <a:latin typeface="微软雅黑" panose="020B0503020204020204" pitchFamily="34" charset="-122"/>
                          <a:ea typeface="微软雅黑" panose="020B0503020204020204" pitchFamily="34" charset="-122"/>
                        </a:rPr>
                        <a:t>1.</a:t>
                      </a:r>
                      <a:r>
                        <a:rPr kumimoji="0" lang="zh-CN" altLang="en-US" sz="2400" u="none" strike="noStrike" cap="none" normalizeH="0" baseline="0" dirty="0" smtClean="0">
                          <a:ln>
                            <a:noFill/>
                          </a:ln>
                          <a:effectLst/>
                          <a:latin typeface="微软雅黑" panose="020B0503020204020204" pitchFamily="34" charset="-122"/>
                          <a:ea typeface="微软雅黑" panose="020B0503020204020204" pitchFamily="34" charset="-122"/>
                        </a:rPr>
                        <a:t>无独立法定货币的汇率安排（包括货币联盟、货币局和美元化）</a:t>
                      </a:r>
                      <a:endParaRPr kumimoji="0" lang="zh-CN" altLang="en-US" sz="2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23" marB="45723" anchor="ct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u="none" strike="noStrike" cap="none" normalizeH="0" baseline="0" dirty="0" smtClean="0">
                          <a:ln>
                            <a:noFill/>
                          </a:ln>
                          <a:effectLst/>
                          <a:latin typeface="微软雅黑" panose="020B0503020204020204" pitchFamily="34" charset="-122"/>
                          <a:ea typeface="微软雅黑" panose="020B0503020204020204" pitchFamily="34" charset="-122"/>
                        </a:rPr>
                        <a:t>37</a:t>
                      </a:r>
                      <a:endParaRPr kumimoji="0" lang="en-US" altLang="zh-CN" sz="2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23" marB="45723" anchor="ct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37</a:t>
                      </a:r>
                      <a:endParaRPr kumimoji="0" lang="en-US" altLang="zh-CN" sz="24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3" marB="45723" anchor="ctr" horzOverflow="overflow">
                    <a:solidFill>
                      <a:schemeClr val="bg1">
                        <a:lumMod val="95000"/>
                      </a:schemeClr>
                    </a:solidFill>
                  </a:tcPr>
                </a:tc>
              </a:tr>
              <a:tr h="47565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u="none" strike="noStrike" cap="none" normalizeH="0" baseline="0" dirty="0" smtClean="0">
                          <a:ln>
                            <a:noFill/>
                          </a:ln>
                          <a:effectLst/>
                          <a:latin typeface="微软雅黑" panose="020B0503020204020204" pitchFamily="34" charset="-122"/>
                          <a:ea typeface="微软雅黑" panose="020B0503020204020204" pitchFamily="34" charset="-122"/>
                        </a:rPr>
                        <a:t>2.</a:t>
                      </a:r>
                      <a:r>
                        <a:rPr kumimoji="0" lang="zh-CN" altLang="en-US" sz="2400" u="none" strike="noStrike" cap="none" normalizeH="0" baseline="0" dirty="0" smtClean="0">
                          <a:ln>
                            <a:noFill/>
                          </a:ln>
                          <a:effectLst/>
                          <a:latin typeface="微软雅黑" panose="020B0503020204020204" pitchFamily="34" charset="-122"/>
                          <a:ea typeface="微软雅黑" panose="020B0503020204020204" pitchFamily="34" charset="-122"/>
                        </a:rPr>
                        <a:t>货币局制度</a:t>
                      </a:r>
                      <a:endParaRPr kumimoji="0" lang="zh-CN" altLang="en-US" sz="2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23" marB="45723" anchor="ct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u="none" strike="noStrike" cap="none" normalizeH="0" baseline="0" dirty="0" smtClean="0">
                          <a:ln>
                            <a:noFill/>
                          </a:ln>
                          <a:effectLst/>
                          <a:latin typeface="微软雅黑" panose="020B0503020204020204" pitchFamily="34" charset="-122"/>
                          <a:ea typeface="微软雅黑" panose="020B0503020204020204" pitchFamily="34" charset="-122"/>
                        </a:rPr>
                        <a:t>8</a:t>
                      </a:r>
                      <a:endParaRPr kumimoji="0" lang="en-US" altLang="zh-CN" sz="2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23" marB="45723" anchor="ct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u="none" strike="noStrike" cap="none" normalizeH="0" baseline="0" dirty="0" smtClean="0">
                          <a:ln>
                            <a:noFill/>
                          </a:ln>
                          <a:effectLst/>
                          <a:latin typeface="微软雅黑" panose="020B0503020204020204" pitchFamily="34" charset="-122"/>
                          <a:ea typeface="微软雅黑" panose="020B0503020204020204" pitchFamily="34" charset="-122"/>
                        </a:rPr>
                        <a:t>8</a:t>
                      </a:r>
                      <a:endParaRPr kumimoji="0" lang="en-US" altLang="zh-CN" sz="2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23" marB="45723" anchor="ctr" horzOverflow="overflow">
                    <a:solidFill>
                      <a:schemeClr val="bg1">
                        <a:lumMod val="95000"/>
                      </a:schemeClr>
                    </a:solidFill>
                  </a:tcPr>
                </a:tc>
              </a:tr>
              <a:tr h="75638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u="none" strike="noStrike" cap="none" normalizeH="0" baseline="0" dirty="0" smtClean="0">
                          <a:ln>
                            <a:noFill/>
                          </a:ln>
                          <a:effectLst/>
                          <a:latin typeface="微软雅黑" panose="020B0503020204020204" pitchFamily="34" charset="-122"/>
                          <a:ea typeface="微软雅黑" panose="020B0503020204020204" pitchFamily="34" charset="-122"/>
                        </a:rPr>
                        <a:t>3.</a:t>
                      </a:r>
                      <a:r>
                        <a:rPr kumimoji="0" lang="zh-CN" altLang="en-US" sz="2400" u="none" strike="noStrike" cap="none" normalizeH="0" baseline="0" dirty="0" smtClean="0">
                          <a:ln>
                            <a:noFill/>
                          </a:ln>
                          <a:effectLst/>
                          <a:latin typeface="微软雅黑" panose="020B0503020204020204" pitchFamily="34" charset="-122"/>
                          <a:ea typeface="微软雅黑" panose="020B0503020204020204" pitchFamily="34" charset="-122"/>
                        </a:rPr>
                        <a:t>其它传统的固定钉住制（包括管理浮动制下的实际钉住制）</a:t>
                      </a:r>
                      <a:endParaRPr kumimoji="0" lang="zh-CN" altLang="en-US" sz="2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23" marB="45723"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39</a:t>
                      </a:r>
                      <a:endParaRPr kumimoji="0" lang="en-US" altLang="zh-CN" sz="24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3" marB="45723"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44</a:t>
                      </a:r>
                      <a:endParaRPr kumimoji="0" lang="en-US" altLang="zh-CN" sz="24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3" marB="45723" anchor="ctr" horzOverflow="overflow"/>
                </a:tc>
              </a:tr>
              <a:tr h="47565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u="none" strike="noStrike" cap="none" normalizeH="0" baseline="0" dirty="0" smtClean="0">
                          <a:ln>
                            <a:noFill/>
                          </a:ln>
                          <a:effectLst/>
                          <a:latin typeface="微软雅黑" panose="020B0503020204020204" pitchFamily="34" charset="-122"/>
                          <a:ea typeface="微软雅黑" panose="020B0503020204020204" pitchFamily="34" charset="-122"/>
                        </a:rPr>
                        <a:t>4.</a:t>
                      </a:r>
                      <a:r>
                        <a:rPr kumimoji="0" lang="zh-CN" altLang="en-US" sz="2400" u="none" strike="noStrike" cap="none" normalizeH="0" baseline="0" dirty="0" smtClean="0">
                          <a:ln>
                            <a:noFill/>
                          </a:ln>
                          <a:effectLst/>
                          <a:latin typeface="微软雅黑" panose="020B0503020204020204" pitchFamily="34" charset="-122"/>
                          <a:ea typeface="微软雅黑" panose="020B0503020204020204" pitchFamily="34" charset="-122"/>
                        </a:rPr>
                        <a:t>水平带内的钉住</a:t>
                      </a:r>
                      <a:endParaRPr kumimoji="0" lang="zh-CN" altLang="en-US" sz="2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23" marB="45723"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12</a:t>
                      </a:r>
                      <a:endParaRPr kumimoji="0" lang="en-US" altLang="zh-CN" sz="24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3" marB="45723"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7</a:t>
                      </a:r>
                      <a:endParaRPr kumimoji="0" lang="en-US" altLang="zh-CN" sz="24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3" marB="45723" anchor="ctr" horzOverflow="overflow"/>
                </a:tc>
              </a:tr>
              <a:tr h="47565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u="none" strike="noStrike" cap="none" normalizeH="0" baseline="0" dirty="0" smtClean="0">
                          <a:ln>
                            <a:noFill/>
                          </a:ln>
                          <a:effectLst/>
                          <a:latin typeface="微软雅黑" panose="020B0503020204020204" pitchFamily="34" charset="-122"/>
                          <a:ea typeface="微软雅黑" panose="020B0503020204020204" pitchFamily="34" charset="-122"/>
                        </a:rPr>
                        <a:t>5.</a:t>
                      </a:r>
                      <a:r>
                        <a:rPr kumimoji="0" lang="zh-CN" altLang="en-US" sz="2400" u="none" strike="noStrike" cap="none" normalizeH="0" baseline="0" dirty="0" smtClean="0">
                          <a:ln>
                            <a:noFill/>
                          </a:ln>
                          <a:effectLst/>
                          <a:latin typeface="微软雅黑" panose="020B0503020204020204" pitchFamily="34" charset="-122"/>
                          <a:ea typeface="微软雅黑" panose="020B0503020204020204" pitchFamily="34" charset="-122"/>
                        </a:rPr>
                        <a:t>爬行钉住</a:t>
                      </a:r>
                      <a:endParaRPr kumimoji="0" lang="zh-CN" altLang="en-US" sz="2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23" marB="45723"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6</a:t>
                      </a:r>
                      <a:endParaRPr kumimoji="0" lang="en-US" altLang="zh-CN" sz="24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3" marB="45723"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5</a:t>
                      </a:r>
                      <a:endParaRPr kumimoji="0" lang="en-US" altLang="zh-CN" sz="24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3" marB="45723" anchor="ctr" horzOverflow="overflow"/>
                </a:tc>
              </a:tr>
              <a:tr h="47711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u="none" strike="noStrike" cap="none" normalizeH="0" baseline="0" dirty="0" smtClean="0">
                          <a:ln>
                            <a:noFill/>
                          </a:ln>
                          <a:effectLst/>
                          <a:latin typeface="微软雅黑" panose="020B0503020204020204" pitchFamily="34" charset="-122"/>
                          <a:ea typeface="微软雅黑" panose="020B0503020204020204" pitchFamily="34" charset="-122"/>
                        </a:rPr>
                        <a:t>6.</a:t>
                      </a:r>
                      <a:r>
                        <a:rPr kumimoji="0" lang="zh-CN" altLang="en-US" sz="2400" u="none" strike="noStrike" cap="none" normalizeH="0" baseline="0" dirty="0" smtClean="0">
                          <a:ln>
                            <a:noFill/>
                          </a:ln>
                          <a:effectLst/>
                          <a:latin typeface="微软雅黑" panose="020B0503020204020204" pitchFamily="34" charset="-122"/>
                          <a:ea typeface="微软雅黑" panose="020B0503020204020204" pitchFamily="34" charset="-122"/>
                        </a:rPr>
                        <a:t>爬行带内的汇率安排</a:t>
                      </a:r>
                      <a:endParaRPr kumimoji="0" lang="zh-CN" altLang="en-US" sz="2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23" marB="45723"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10</a:t>
                      </a:r>
                      <a:endParaRPr kumimoji="0" lang="en-US" altLang="zh-CN" sz="24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3" marB="45723"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7</a:t>
                      </a:r>
                      <a:endParaRPr kumimoji="0" lang="en-US" altLang="zh-CN" sz="24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3" marB="45723" anchor="ctr" horzOverflow="overflow"/>
                </a:tc>
              </a:tr>
              <a:tr h="47565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u="none" strike="noStrike" cap="none" normalizeH="0" baseline="0" dirty="0" smtClean="0">
                          <a:ln>
                            <a:noFill/>
                          </a:ln>
                          <a:effectLst/>
                          <a:latin typeface="微软雅黑" panose="020B0503020204020204" pitchFamily="34" charset="-122"/>
                          <a:ea typeface="微软雅黑" panose="020B0503020204020204" pitchFamily="34" charset="-122"/>
                        </a:rPr>
                        <a:t>7.</a:t>
                      </a:r>
                      <a:r>
                        <a:rPr kumimoji="0" lang="zh-CN" altLang="en-US" sz="2400" u="none" strike="noStrike" cap="none" normalizeH="0" baseline="0" dirty="0" smtClean="0">
                          <a:ln>
                            <a:noFill/>
                          </a:ln>
                          <a:effectLst/>
                          <a:latin typeface="微软雅黑" panose="020B0503020204020204" pitchFamily="34" charset="-122"/>
                          <a:ea typeface="微软雅黑" panose="020B0503020204020204" pitchFamily="34" charset="-122"/>
                        </a:rPr>
                        <a:t>不事先公布干预方式的管理浮动</a:t>
                      </a:r>
                      <a:endParaRPr kumimoji="0" lang="zh-CN" altLang="en-US" sz="2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23" marB="45723"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26</a:t>
                      </a:r>
                      <a:endParaRPr kumimoji="0" lang="en-US" altLang="zh-CN" sz="24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3" marB="45723"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26</a:t>
                      </a:r>
                      <a:endParaRPr kumimoji="0" lang="en-US" altLang="zh-CN" sz="24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3" marB="45723" anchor="ctr" horzOverflow="overflow"/>
                </a:tc>
              </a:tr>
              <a:tr h="47565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u="none" strike="noStrike" cap="none" normalizeH="0" baseline="0" dirty="0" smtClean="0">
                          <a:ln>
                            <a:noFill/>
                          </a:ln>
                          <a:effectLst/>
                          <a:latin typeface="微软雅黑" panose="020B0503020204020204" pitchFamily="34" charset="-122"/>
                          <a:ea typeface="微软雅黑" panose="020B0503020204020204" pitchFamily="34" charset="-122"/>
                        </a:rPr>
                        <a:t>8.</a:t>
                      </a:r>
                      <a:r>
                        <a:rPr kumimoji="0" lang="zh-CN" altLang="en-US" sz="2400" u="none" strike="noStrike" cap="none" normalizeH="0" baseline="0" dirty="0" smtClean="0">
                          <a:ln>
                            <a:noFill/>
                          </a:ln>
                          <a:effectLst/>
                          <a:latin typeface="微软雅黑" panose="020B0503020204020204" pitchFamily="34" charset="-122"/>
                          <a:ea typeface="微软雅黑" panose="020B0503020204020204" pitchFamily="34" charset="-122"/>
                        </a:rPr>
                        <a:t>单独浮动</a:t>
                      </a:r>
                      <a:endParaRPr kumimoji="0" lang="zh-CN" altLang="en-US" sz="2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23" marB="45723" anchor="ct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u="none" strike="noStrike" cap="none" normalizeH="0" baseline="0" dirty="0" smtClean="0">
                          <a:ln>
                            <a:noFill/>
                          </a:ln>
                          <a:effectLst/>
                          <a:latin typeface="微软雅黑" panose="020B0503020204020204" pitchFamily="34" charset="-122"/>
                          <a:ea typeface="微软雅黑" panose="020B0503020204020204" pitchFamily="34" charset="-122"/>
                        </a:rPr>
                        <a:t>47</a:t>
                      </a:r>
                      <a:endParaRPr kumimoji="0" lang="en-US" altLang="zh-CN" sz="2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23" marB="45723" anchor="ct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u="none" strike="noStrike" cap="none" normalizeH="0" baseline="0" dirty="0" smtClean="0">
                          <a:ln>
                            <a:noFill/>
                          </a:ln>
                          <a:effectLst/>
                          <a:latin typeface="微软雅黑" panose="020B0503020204020204" pitchFamily="34" charset="-122"/>
                          <a:ea typeface="微软雅黑" panose="020B0503020204020204" pitchFamily="34" charset="-122"/>
                        </a:rPr>
                        <a:t>51</a:t>
                      </a:r>
                      <a:endParaRPr kumimoji="0" lang="en-US" altLang="zh-CN" sz="2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23" marB="45723" anchor="ctr" horzOverflow="overflow">
                    <a:solidFill>
                      <a:schemeClr val="bg1">
                        <a:lumMod val="95000"/>
                      </a:schemeClr>
                    </a:solidFill>
                  </a:tcPr>
                </a:tc>
              </a:tr>
            </a:tbl>
          </a:graphicData>
        </a:graphic>
      </p:graphicFrame>
    </p:spTree>
    <p:extLst>
      <p:ext uri="{BB962C8B-B14F-4D97-AF65-F5344CB8AC3E}">
        <p14:creationId xmlns:p14="http://schemas.microsoft.com/office/powerpoint/2010/main" val="101987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一、汇率制度的类型</a:t>
            </a:r>
          </a:p>
          <a:p>
            <a:pPr marL="0" indent="0">
              <a:lnSpc>
                <a:spcPct val="100000"/>
              </a:lnSpc>
              <a:buNone/>
            </a:pPr>
            <a:r>
              <a:rPr lang="zh-CN" altLang="en-US" sz="2600" dirty="0" smtClean="0">
                <a:solidFill>
                  <a:schemeClr val="accent1"/>
                </a:solidFill>
                <a:latin typeface="微软雅黑" panose="020B0503020204020204" pitchFamily="34" charset="-122"/>
                <a:ea typeface="微软雅黑" panose="020B0503020204020204" pitchFamily="34" charset="-122"/>
              </a:rPr>
              <a:t>货币</a:t>
            </a:r>
            <a:r>
              <a:rPr lang="zh-CN" altLang="en-US" sz="2600" dirty="0">
                <a:solidFill>
                  <a:schemeClr val="accent1"/>
                </a:solidFill>
                <a:latin typeface="微软雅黑" panose="020B0503020204020204" pitchFamily="34" charset="-122"/>
                <a:ea typeface="微软雅黑" panose="020B0503020204020204" pitchFamily="34" charset="-122"/>
              </a:rPr>
              <a:t>局制度</a:t>
            </a:r>
          </a:p>
          <a:p>
            <a:pPr marL="0" indent="457200">
              <a:lnSpc>
                <a:spcPct val="100000"/>
              </a:lnSpc>
              <a:buNone/>
            </a:pPr>
            <a:r>
              <a:rPr lang="zh-CN" altLang="en-US" sz="2600" dirty="0">
                <a:latin typeface="微软雅黑" panose="020B0503020204020204" pitchFamily="34" charset="-122"/>
                <a:ea typeface="微软雅黑" panose="020B0503020204020204" pitchFamily="34" charset="-122"/>
              </a:rPr>
              <a:t>在法律中明确规定本国货币与某一外国可兑换货币保持固定的交换率，并且对本国货币的发行作特殊限制以保证履行这一法定义务。货币局制通常要求货币发行必须以一定（通常是百分之百）的该外国货币作为准备金，并且要求在货币流通中始终满足这一准备金要求</a:t>
            </a:r>
            <a:r>
              <a:rPr lang="zh-CN" altLang="en-US" sz="2600" dirty="0" smtClean="0">
                <a:latin typeface="微软雅黑" panose="020B0503020204020204" pitchFamily="34" charset="-122"/>
                <a:ea typeface="微软雅黑" panose="020B0503020204020204" pitchFamily="34" charset="-122"/>
              </a:rPr>
              <a:t>。</a:t>
            </a:r>
            <a:endParaRPr lang="zh-CN" altLang="en-US" sz="26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901795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一、汇率制度的类型</a:t>
            </a:r>
          </a:p>
          <a:p>
            <a:pPr marL="0" indent="0">
              <a:lnSpc>
                <a:spcPct val="100000"/>
              </a:lnSpc>
              <a:buNone/>
            </a:pPr>
            <a:r>
              <a:rPr lang="zh-CN" altLang="en-US" sz="2600" dirty="0" smtClean="0">
                <a:solidFill>
                  <a:schemeClr val="accent1"/>
                </a:solidFill>
                <a:latin typeface="微软雅黑" panose="020B0503020204020204" pitchFamily="34" charset="-122"/>
                <a:ea typeface="微软雅黑" panose="020B0503020204020204" pitchFamily="34" charset="-122"/>
              </a:rPr>
              <a:t>货币</a:t>
            </a:r>
            <a:r>
              <a:rPr lang="zh-CN" altLang="en-US" sz="2600" dirty="0">
                <a:solidFill>
                  <a:schemeClr val="accent1"/>
                </a:solidFill>
                <a:latin typeface="微软雅黑" panose="020B0503020204020204" pitchFamily="34" charset="-122"/>
                <a:ea typeface="微软雅黑" panose="020B0503020204020204" pitchFamily="34" charset="-122"/>
              </a:rPr>
              <a:t>局制度</a:t>
            </a:r>
          </a:p>
          <a:p>
            <a:pPr marL="0" indent="457200">
              <a:lnSpc>
                <a:spcPct val="100000"/>
              </a:lnSpc>
              <a:buNone/>
            </a:pPr>
            <a:r>
              <a:rPr lang="zh-CN" altLang="en-US" sz="2600" dirty="0">
                <a:latin typeface="微软雅黑" panose="020B0503020204020204" pitchFamily="34" charset="-122"/>
                <a:ea typeface="微软雅黑" panose="020B0503020204020204" pitchFamily="34" charset="-122"/>
              </a:rPr>
              <a:t>这一制度中的货币当局被称为货币局，而不是中央银行。因为在这种制度下，货币发行量的多少不再完全听任货币当局的主管愿望或经济运行的实际情况，而是取决于可用作准备的外币数量的多少。货币当局失去了发行货币的主动权。</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688978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一、汇率制度的类型</a:t>
            </a:r>
          </a:p>
          <a:p>
            <a:pPr marL="0" indent="0">
              <a:lnSpc>
                <a:spcPct val="100000"/>
              </a:lnSpc>
              <a:buNone/>
            </a:pPr>
            <a:r>
              <a:rPr lang="zh-CN" altLang="en-US" sz="2600" dirty="0" smtClean="0">
                <a:solidFill>
                  <a:schemeClr val="accent1"/>
                </a:solidFill>
                <a:latin typeface="微软雅黑" panose="020B0503020204020204" pitchFamily="34" charset="-122"/>
                <a:ea typeface="微软雅黑" panose="020B0503020204020204" pitchFamily="34" charset="-122"/>
              </a:rPr>
              <a:t>货币</a:t>
            </a:r>
            <a:r>
              <a:rPr lang="zh-CN" altLang="en-US" sz="2600" dirty="0">
                <a:solidFill>
                  <a:schemeClr val="accent1"/>
                </a:solidFill>
                <a:latin typeface="微软雅黑" panose="020B0503020204020204" pitchFamily="34" charset="-122"/>
                <a:ea typeface="微软雅黑" panose="020B0503020204020204" pitchFamily="34" charset="-122"/>
              </a:rPr>
              <a:t>局制度</a:t>
            </a:r>
          </a:p>
          <a:p>
            <a:pPr marL="0" indent="457200">
              <a:lnSpc>
                <a:spcPct val="100000"/>
              </a:lnSpc>
              <a:buNone/>
            </a:pPr>
            <a:r>
              <a:rPr lang="zh-CN" altLang="en-US" sz="2600" dirty="0">
                <a:latin typeface="微软雅黑" panose="020B0503020204020204" pitchFamily="34" charset="-122"/>
                <a:ea typeface="微软雅黑" panose="020B0503020204020204" pitchFamily="34" charset="-122"/>
              </a:rPr>
              <a:t>优势：</a:t>
            </a:r>
          </a:p>
          <a:p>
            <a:pPr marL="971550" lvl="2" indent="-514350">
              <a:lnSpc>
                <a:spcPct val="100000"/>
              </a:lnSpc>
              <a:buFont typeface="+mj-ea"/>
              <a:buAutoNum type="circleNumDbPlain"/>
            </a:pPr>
            <a:r>
              <a:rPr lang="zh-CN" altLang="en-US" sz="2400" dirty="0" smtClean="0">
                <a:latin typeface="微软雅黑" panose="020B0503020204020204" pitchFamily="34" charset="-122"/>
                <a:ea typeface="微软雅黑" panose="020B0503020204020204" pitchFamily="34" charset="-122"/>
              </a:rPr>
              <a:t>增强</a:t>
            </a:r>
            <a:r>
              <a:rPr lang="zh-CN" altLang="en-US" sz="2400" dirty="0">
                <a:latin typeface="微软雅黑" panose="020B0503020204020204" pitchFamily="34" charset="-122"/>
                <a:ea typeface="微软雅黑" panose="020B0503020204020204" pitchFamily="34" charset="-122"/>
              </a:rPr>
              <a:t>货币当局固定汇率制度的可信性，降低投机攻击程度；</a:t>
            </a:r>
          </a:p>
          <a:p>
            <a:pPr marL="971550" lvl="2" indent="-514350">
              <a:lnSpc>
                <a:spcPct val="100000"/>
              </a:lnSpc>
              <a:buFont typeface="+mj-ea"/>
              <a:buAutoNum type="circleNumDbPlain"/>
            </a:pPr>
            <a:r>
              <a:rPr lang="zh-CN" altLang="en-US" sz="2400" dirty="0" smtClean="0">
                <a:latin typeface="微软雅黑" panose="020B0503020204020204" pitchFamily="34" charset="-122"/>
                <a:ea typeface="微软雅黑" panose="020B0503020204020204" pitchFamily="34" charset="-122"/>
              </a:rPr>
              <a:t>保证</a:t>
            </a:r>
            <a:r>
              <a:rPr lang="zh-CN" altLang="en-US" sz="2400" dirty="0">
                <a:latin typeface="微软雅黑" panose="020B0503020204020204" pitchFamily="34" charset="-122"/>
                <a:ea typeface="微软雅黑" panose="020B0503020204020204" pitchFamily="34" charset="-122"/>
              </a:rPr>
              <a:t>法定汇率稳定、抑制通货膨胀，实现经济、金融稳定发展。</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261591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一、汇率制度的类型</a:t>
            </a:r>
          </a:p>
          <a:p>
            <a:pPr marL="0" indent="0">
              <a:lnSpc>
                <a:spcPct val="100000"/>
              </a:lnSpc>
              <a:buNone/>
            </a:pPr>
            <a:r>
              <a:rPr lang="zh-CN" altLang="en-US" sz="2600" dirty="0" smtClean="0">
                <a:solidFill>
                  <a:schemeClr val="accent1"/>
                </a:solidFill>
                <a:latin typeface="微软雅黑" panose="020B0503020204020204" pitchFamily="34" charset="-122"/>
                <a:ea typeface="微软雅黑" panose="020B0503020204020204" pitchFamily="34" charset="-122"/>
              </a:rPr>
              <a:t>货币</a:t>
            </a:r>
            <a:r>
              <a:rPr lang="zh-CN" altLang="en-US" sz="2600" dirty="0">
                <a:solidFill>
                  <a:schemeClr val="accent1"/>
                </a:solidFill>
                <a:latin typeface="微软雅黑" panose="020B0503020204020204" pitchFamily="34" charset="-122"/>
                <a:ea typeface="微软雅黑" panose="020B0503020204020204" pitchFamily="34" charset="-122"/>
              </a:rPr>
              <a:t>局制度</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缺陷：</a:t>
            </a:r>
          </a:p>
          <a:p>
            <a:pPr marL="971550" lvl="2" indent="-514350">
              <a:lnSpc>
                <a:spcPct val="100000"/>
              </a:lnSpc>
              <a:buFont typeface="+mj-ea"/>
              <a:buAutoNum type="circleNumDbPlain"/>
            </a:pPr>
            <a:r>
              <a:rPr lang="zh-CN" altLang="en-US" sz="2400" dirty="0" smtClean="0">
                <a:latin typeface="微软雅黑" panose="020B0503020204020204" pitchFamily="34" charset="-122"/>
                <a:ea typeface="微软雅黑" panose="020B0503020204020204" pitchFamily="34" charset="-122"/>
              </a:rPr>
              <a:t>丧失</a:t>
            </a:r>
            <a:r>
              <a:rPr lang="zh-CN" altLang="en-US" sz="2400" dirty="0">
                <a:latin typeface="微软雅黑" panose="020B0503020204020204" pitchFamily="34" charset="-122"/>
                <a:ea typeface="微软雅黑" panose="020B0503020204020204" pitchFamily="34" charset="-122"/>
              </a:rPr>
              <a:t>货币政策独立性，货币当局失去货币调控职能；</a:t>
            </a:r>
          </a:p>
          <a:p>
            <a:pPr marL="971550" lvl="2" indent="-514350">
              <a:lnSpc>
                <a:spcPct val="100000"/>
              </a:lnSpc>
              <a:buFont typeface="+mj-ea"/>
              <a:buAutoNum type="circleNumDbPlain"/>
            </a:pPr>
            <a:r>
              <a:rPr lang="zh-CN" altLang="en-US" sz="2400" dirty="0" smtClean="0">
                <a:latin typeface="微软雅黑" panose="020B0503020204020204" pitchFamily="34" charset="-122"/>
                <a:ea typeface="微软雅黑" panose="020B0503020204020204" pitchFamily="34" charset="-122"/>
              </a:rPr>
              <a:t>货币</a:t>
            </a:r>
            <a:r>
              <a:rPr lang="zh-CN" altLang="en-US" sz="2400" dirty="0">
                <a:latin typeface="微软雅黑" panose="020B0503020204020204" pitchFamily="34" charset="-122"/>
                <a:ea typeface="微软雅黑" panose="020B0503020204020204" pitchFamily="34" charset="-122"/>
              </a:rPr>
              <a:t>当局丧失最后贷款人角色；</a:t>
            </a:r>
          </a:p>
          <a:p>
            <a:pPr marL="971550" lvl="2" indent="-514350">
              <a:lnSpc>
                <a:spcPct val="100000"/>
              </a:lnSpc>
              <a:buFont typeface="+mj-ea"/>
              <a:buAutoNum type="circleNumDbPlain"/>
            </a:pPr>
            <a:r>
              <a:rPr lang="zh-CN" altLang="en-US" sz="2400" dirty="0" smtClean="0">
                <a:latin typeface="微软雅黑" panose="020B0503020204020204" pitchFamily="34" charset="-122"/>
                <a:ea typeface="微软雅黑" panose="020B0503020204020204" pitchFamily="34" charset="-122"/>
              </a:rPr>
              <a:t>货币</a:t>
            </a:r>
            <a:r>
              <a:rPr lang="zh-CN" altLang="en-US" sz="2400" dirty="0">
                <a:latin typeface="微软雅黑" panose="020B0503020204020204" pitchFamily="34" charset="-122"/>
                <a:ea typeface="微软雅黑" panose="020B0503020204020204" pitchFamily="34" charset="-122"/>
              </a:rPr>
              <a:t>当局丧失国内信用扩张政策，无法救助陷入困境的银行，也暗含着铸币税收入</a:t>
            </a:r>
            <a:r>
              <a:rPr lang="zh-CN" altLang="en-US" sz="2400" dirty="0" smtClean="0">
                <a:latin typeface="微软雅黑" panose="020B0503020204020204" pitchFamily="34" charset="-122"/>
                <a:ea typeface="微软雅黑" panose="020B0503020204020204" pitchFamily="34" charset="-122"/>
              </a:rPr>
              <a:t>较低；</a:t>
            </a:r>
            <a:endParaRPr lang="en-US" altLang="zh-CN" sz="2400" dirty="0" smtClean="0">
              <a:latin typeface="微软雅黑" panose="020B0503020204020204" pitchFamily="34" charset="-122"/>
              <a:ea typeface="微软雅黑" panose="020B0503020204020204" pitchFamily="34" charset="-122"/>
            </a:endParaRPr>
          </a:p>
          <a:p>
            <a:pPr marL="971550" lvl="2" indent="-514350">
              <a:lnSpc>
                <a:spcPct val="100000"/>
              </a:lnSpc>
              <a:buFont typeface="+mj-ea"/>
              <a:buAutoNum type="circleNumDbPlain"/>
            </a:pPr>
            <a:r>
              <a:rPr lang="zh-CN" altLang="en-US" sz="2400" dirty="0" smtClean="0">
                <a:latin typeface="微软雅黑" panose="020B0503020204020204" pitchFamily="34" charset="-122"/>
                <a:ea typeface="微软雅黑" panose="020B0503020204020204" pitchFamily="34" charset="-122"/>
              </a:rPr>
              <a:t>无法</a:t>
            </a:r>
            <a:r>
              <a:rPr lang="zh-CN" altLang="en-US" sz="2400" dirty="0">
                <a:latin typeface="微软雅黑" panose="020B0503020204020204" pitchFamily="34" charset="-122"/>
                <a:ea typeface="微软雅黑" panose="020B0503020204020204" pitchFamily="34" charset="-122"/>
              </a:rPr>
              <a:t>抵御恶性货币投机攻击。</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03884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一、汇率制度的类型</a:t>
            </a:r>
          </a:p>
          <a:p>
            <a:pPr marL="0" indent="457200">
              <a:lnSpc>
                <a:spcPct val="100000"/>
              </a:lnSpc>
              <a:buNone/>
            </a:pPr>
            <a:r>
              <a:rPr lang="zh-CN" altLang="en-US" sz="2600" b="1" dirty="0">
                <a:latin typeface="微软雅黑" panose="020B0503020204020204" pitchFamily="34" charset="-122"/>
                <a:ea typeface="微软雅黑" panose="020B0503020204020204" pitchFamily="34" charset="-122"/>
              </a:rPr>
              <a:t>结论</a:t>
            </a:r>
            <a:r>
              <a:rPr lang="zh-CN" altLang="en-US" sz="2600" dirty="0">
                <a:latin typeface="微软雅黑" panose="020B0503020204020204" pitchFamily="34" charset="-122"/>
                <a:ea typeface="微软雅黑" panose="020B0503020204020204" pitchFamily="34" charset="-122"/>
              </a:rPr>
              <a:t>：汇率制度演化有两个趋势：从相对固定向更加灵活的安排转化；从中间制度向两极制度转化。 </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775782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71550" y="1447799"/>
                <a:ext cx="7200900" cy="4841879"/>
              </a:xfrm>
            </p:spPr>
            <p:txBody>
              <a:bodyPr>
                <a:normAutofit fontScale="85000" lnSpcReduction="10000"/>
              </a:bodyPr>
              <a:lstStyle/>
              <a:p>
                <a:pPr marL="0" indent="0">
                  <a:lnSpc>
                    <a:spcPct val="11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二、固定汇率制与浮动汇率制的比较</a:t>
                </a:r>
              </a:p>
              <a:p>
                <a:pPr marL="514350" indent="-514350">
                  <a:lnSpc>
                    <a:spcPct val="100000"/>
                  </a:lnSpc>
                  <a:buFont typeface="+mj-lt"/>
                  <a:buAutoNum type="arabicPeriod"/>
                </a:pPr>
                <a:r>
                  <a:rPr lang="zh-CN" altLang="en-US" sz="2600" dirty="0">
                    <a:solidFill>
                      <a:schemeClr val="accent1"/>
                    </a:solidFill>
                    <a:latin typeface="微软雅黑" panose="020B0503020204020204" pitchFamily="34" charset="-122"/>
                    <a:ea typeface="微软雅黑" panose="020B0503020204020204" pitchFamily="34" charset="-122"/>
                  </a:rPr>
                  <a:t>实现内外均衡的自动调节效率</a:t>
                </a:r>
                <a:r>
                  <a:rPr lang="zh-CN" altLang="en-US" sz="2600" dirty="0" smtClean="0">
                    <a:solidFill>
                      <a:schemeClr val="accent1"/>
                    </a:solidFill>
                    <a:latin typeface="微软雅黑" panose="020B0503020204020204" pitchFamily="34" charset="-122"/>
                    <a:ea typeface="微软雅黑" panose="020B0503020204020204" pitchFamily="34" charset="-122"/>
                  </a:rPr>
                  <a:t>比较</a:t>
                </a:r>
                <a:endParaRPr lang="en-US" altLang="zh-CN" sz="2600" dirty="0" smtClean="0">
                  <a:solidFill>
                    <a:schemeClr val="accent1"/>
                  </a:solidFill>
                  <a:latin typeface="微软雅黑" panose="020B0503020204020204" pitchFamily="34" charset="-122"/>
                  <a:ea typeface="微软雅黑" panose="020B0503020204020204" pitchFamily="34" charset="-122"/>
                </a:endParaRPr>
              </a:p>
              <a:p>
                <a:pPr marL="514350" indent="-514350">
                  <a:lnSpc>
                    <a:spcPct val="100000"/>
                  </a:lnSpc>
                  <a:buFont typeface="+mj-ea"/>
                  <a:buAutoNum type="circleNumDbPlain"/>
                </a:pPr>
                <a:r>
                  <a:rPr lang="zh-CN" altLang="en-US" sz="2600" dirty="0">
                    <a:solidFill>
                      <a:schemeClr val="accent1"/>
                    </a:solidFill>
                    <a:latin typeface="微软雅黑" panose="020B0503020204020204" pitchFamily="34" charset="-122"/>
                    <a:ea typeface="微软雅黑" panose="020B0503020204020204" pitchFamily="34" charset="-122"/>
                  </a:rPr>
                  <a:t>单一性</a:t>
                </a:r>
                <a:endParaRPr lang="en-US" altLang="zh-CN" sz="2600" dirty="0" smtClean="0">
                  <a:solidFill>
                    <a:schemeClr val="accent1"/>
                  </a:solidFill>
                  <a:latin typeface="微软雅黑" panose="020B0503020204020204" pitchFamily="34" charset="-122"/>
                  <a:ea typeface="微软雅黑" panose="020B0503020204020204" pitchFamily="34" charset="-122"/>
                </a:endParaRPr>
              </a:p>
              <a:p>
                <a:pPr marL="0" indent="457200">
                  <a:lnSpc>
                    <a:spcPct val="100000"/>
                  </a:lnSpc>
                  <a:buNone/>
                </a:pPr>
                <a:r>
                  <a:rPr lang="zh-CN" altLang="en-US" sz="2600" dirty="0">
                    <a:latin typeface="微软雅黑" panose="020B0503020204020204" pitchFamily="34" charset="-122"/>
                    <a:ea typeface="微软雅黑" panose="020B0503020204020204" pitchFamily="34" charset="-122"/>
                  </a:rPr>
                  <a:t>以本国产品价格国际竞争力下降为例（</a:t>
                </a:r>
                <a14:m>
                  <m:oMath xmlns:m="http://schemas.openxmlformats.org/officeDocument/2006/math">
                    <m:r>
                      <a:rPr lang="en-US" altLang="zh-CN" sz="2600" i="1" dirty="0" smtClean="0">
                        <a:solidFill>
                          <a:schemeClr val="accent1"/>
                        </a:solidFill>
                        <a:latin typeface="Cambria Math" panose="02040503050406030204" pitchFamily="18" charset="0"/>
                        <a:ea typeface="微软雅黑" panose="020B0503020204020204" pitchFamily="34" charset="-122"/>
                      </a:rPr>
                      <m:t>𝑃</m:t>
                    </m:r>
                    <m:r>
                      <a:rPr lang="en-US" altLang="zh-CN" sz="2600" i="1" dirty="0" smtClean="0">
                        <a:solidFill>
                          <a:schemeClr val="accent1"/>
                        </a:solidFill>
                        <a:latin typeface="Cambria Math" panose="02040503050406030204" pitchFamily="18" charset="0"/>
                        <a:ea typeface="微软雅黑" panose="020B0503020204020204" pitchFamily="34" charset="-122"/>
                      </a:rPr>
                      <m:t>&gt;</m:t>
                    </m:r>
                    <m:r>
                      <a:rPr lang="en-US" altLang="zh-CN" sz="2600" b="0" i="1" dirty="0" smtClean="0">
                        <a:solidFill>
                          <a:schemeClr val="accent1"/>
                        </a:solidFill>
                        <a:latin typeface="Cambria Math" panose="02040503050406030204" pitchFamily="18" charset="0"/>
                        <a:ea typeface="微软雅黑" panose="020B0503020204020204" pitchFamily="34" charset="-122"/>
                      </a:rPr>
                      <m:t>𝑒</m:t>
                    </m:r>
                    <m:sSup>
                      <m:sSupPr>
                        <m:ctrlPr>
                          <a:rPr lang="en-US" altLang="zh-CN" sz="2600" i="1" dirty="0" smtClean="0">
                            <a:solidFill>
                              <a:schemeClr val="accent1"/>
                            </a:solidFill>
                            <a:latin typeface="Cambria Math"/>
                            <a:ea typeface="微软雅黑" panose="020B0503020204020204" pitchFamily="34" charset="-122"/>
                          </a:rPr>
                        </m:ctrlPr>
                      </m:sSupPr>
                      <m:e>
                        <m:r>
                          <a:rPr lang="en-US" altLang="zh-CN" sz="2600" b="0" i="1" dirty="0" smtClean="0">
                            <a:solidFill>
                              <a:schemeClr val="accent1"/>
                            </a:solidFill>
                            <a:latin typeface="Cambria Math" panose="02040503050406030204" pitchFamily="18" charset="0"/>
                            <a:ea typeface="微软雅黑" panose="020B0503020204020204" pitchFamily="34" charset="-122"/>
                          </a:rPr>
                          <m:t>𝑃</m:t>
                        </m:r>
                      </m:e>
                      <m:sup>
                        <m:r>
                          <a:rPr lang="en-US" altLang="zh-CN" sz="2600" b="0" i="1" dirty="0" smtClean="0">
                            <a:solidFill>
                              <a:schemeClr val="accent1"/>
                            </a:solidFill>
                            <a:latin typeface="Cambria Math" panose="02040503050406030204" pitchFamily="18" charset="0"/>
                            <a:ea typeface="微软雅黑" panose="020B0503020204020204" pitchFamily="34" charset="-122"/>
                          </a:rPr>
                          <m:t>∗</m:t>
                        </m:r>
                      </m:sup>
                    </m:sSup>
                  </m:oMath>
                </a14:m>
                <a:r>
                  <a:rPr lang="zh-CN" altLang="en-US" sz="2600" dirty="0">
                    <a:latin typeface="微软雅黑" panose="020B0503020204020204" pitchFamily="34" charset="-122"/>
                    <a:ea typeface="微软雅黑" panose="020B0503020204020204" pitchFamily="34" charset="-122"/>
                  </a:rPr>
                  <a:t>），</a:t>
                </a:r>
              </a:p>
              <a:p>
                <a:pPr marL="0" indent="457200">
                  <a:lnSpc>
                    <a:spcPct val="100000"/>
                  </a:lnSpc>
                  <a:buNone/>
                </a:pPr>
                <a:r>
                  <a:rPr lang="zh-CN" altLang="en-US" sz="2600" dirty="0">
                    <a:latin typeface="微软雅黑" panose="020B0503020204020204" pitchFamily="34" charset="-122"/>
                    <a:ea typeface="微软雅黑" panose="020B0503020204020204" pitchFamily="34" charset="-122"/>
                  </a:rPr>
                  <a:t>浮动汇率制的支持者认为：在浮动汇率制下，只需听任汇率</a:t>
                </a:r>
                <a:r>
                  <a:rPr lang="en-US" altLang="zh-CN" sz="2600" i="1" dirty="0" smtClean="0">
                    <a:solidFill>
                      <a:schemeClr val="accent1"/>
                    </a:solidFill>
                    <a:latin typeface="Cambria Math" panose="02040503050406030204" pitchFamily="18" charset="0"/>
                    <a:ea typeface="微软雅黑" panose="020B0503020204020204" pitchFamily="34" charset="-122"/>
                  </a:rPr>
                  <a:t>e </a:t>
                </a:r>
                <a:r>
                  <a:rPr lang="zh-CN" altLang="en-US" sz="2600" dirty="0" smtClean="0">
                    <a:latin typeface="微软雅黑" panose="020B0503020204020204" pitchFamily="34" charset="-122"/>
                    <a:ea typeface="微软雅黑" panose="020B0503020204020204" pitchFamily="34" charset="-122"/>
                  </a:rPr>
                  <a:t>调整</a:t>
                </a:r>
                <a:r>
                  <a:rPr lang="zh-CN" altLang="en-US" sz="2600" dirty="0">
                    <a:latin typeface="微软雅黑" panose="020B0503020204020204" pitchFamily="34" charset="-122"/>
                    <a:ea typeface="微软雅黑" panose="020B0503020204020204" pitchFamily="34" charset="-122"/>
                  </a:rPr>
                  <a:t>，调整的时间快、成本低；而在固定汇率制下，必需通过货币供应量的变化调整本国价格体系，牵涉到许多变量，尤其是价格调整存在粘性时，浮动汇率的优势更为明显。 </a:t>
                </a:r>
              </a:p>
              <a:p>
                <a:pPr marL="514350" indent="-514350">
                  <a:lnSpc>
                    <a:spcPct val="100000"/>
                  </a:lnSpc>
                  <a:buFont typeface="+mj-lt"/>
                  <a:buAutoNum type="arabicPeriod"/>
                </a:pPr>
                <a:endParaRPr lang="zh-CN" altLang="en-US" sz="2600" dirty="0">
                  <a:solidFill>
                    <a:schemeClr val="accent1"/>
                  </a:solidFill>
                  <a:latin typeface="微软雅黑" panose="020B0503020204020204" pitchFamily="34" charset="-122"/>
                  <a:ea typeface="微软雅黑" panose="020B0503020204020204" pitchFamily="34"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71550" y="1447799"/>
                <a:ext cx="7200900" cy="4841879"/>
              </a:xfrm>
              <a:blipFill rotWithShape="0">
                <a:blip r:embed="rId3"/>
                <a:stretch>
                  <a:fillRect l="-1777" t="-1258" r="-2030"/>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12100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71550" y="1447799"/>
                <a:ext cx="7200900" cy="4841879"/>
              </a:xfrm>
            </p:spPr>
            <p:txBody>
              <a:bodyPr>
                <a:normAutofit fontScale="85000" lnSpcReduction="10000"/>
              </a:bodyPr>
              <a:lstStyle/>
              <a:p>
                <a:pPr marL="0" indent="0">
                  <a:lnSpc>
                    <a:spcPct val="11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二、固定汇率制与浮动汇率制的比较</a:t>
                </a:r>
              </a:p>
              <a:p>
                <a:pPr marL="514350" indent="-514350">
                  <a:lnSpc>
                    <a:spcPct val="100000"/>
                  </a:lnSpc>
                  <a:buFont typeface="+mj-lt"/>
                  <a:buAutoNum type="arabicPeriod"/>
                </a:pPr>
                <a:r>
                  <a:rPr lang="zh-CN" altLang="en-US" sz="2600" dirty="0">
                    <a:solidFill>
                      <a:schemeClr val="accent1"/>
                    </a:solidFill>
                    <a:latin typeface="微软雅黑" panose="020B0503020204020204" pitchFamily="34" charset="-122"/>
                    <a:ea typeface="微软雅黑" panose="020B0503020204020204" pitchFamily="34" charset="-122"/>
                  </a:rPr>
                  <a:t>实现内外均衡的自动调节效率</a:t>
                </a:r>
                <a:r>
                  <a:rPr lang="zh-CN" altLang="en-US" sz="2600" dirty="0" smtClean="0">
                    <a:solidFill>
                      <a:schemeClr val="accent1"/>
                    </a:solidFill>
                    <a:latin typeface="微软雅黑" panose="020B0503020204020204" pitchFamily="34" charset="-122"/>
                    <a:ea typeface="微软雅黑" panose="020B0503020204020204" pitchFamily="34" charset="-122"/>
                  </a:rPr>
                  <a:t>比较</a:t>
                </a:r>
                <a:endParaRPr lang="en-US" altLang="zh-CN" sz="2600" dirty="0" smtClean="0">
                  <a:solidFill>
                    <a:schemeClr val="accent1"/>
                  </a:solidFill>
                  <a:latin typeface="微软雅黑" panose="020B0503020204020204" pitchFamily="34" charset="-122"/>
                  <a:ea typeface="微软雅黑" panose="020B0503020204020204" pitchFamily="34" charset="-122"/>
                </a:endParaRPr>
              </a:p>
              <a:p>
                <a:pPr marL="0" indent="457200">
                  <a:lnSpc>
                    <a:spcPct val="100000"/>
                  </a:lnSpc>
                  <a:buNone/>
                </a:pPr>
                <a:r>
                  <a:rPr lang="zh-CN" altLang="en-US" sz="2600" dirty="0">
                    <a:latin typeface="微软雅黑" panose="020B0503020204020204" pitchFamily="34" charset="-122"/>
                    <a:ea typeface="微软雅黑" panose="020B0503020204020204" pitchFamily="34" charset="-122"/>
                  </a:rPr>
                  <a:t>以本国产品价格国际竞争力下降为例（</a:t>
                </a:r>
                <a14:m>
                  <m:oMath xmlns:m="http://schemas.openxmlformats.org/officeDocument/2006/math">
                    <m:r>
                      <a:rPr lang="en-US" altLang="zh-CN" sz="2600" i="1" dirty="0" smtClean="0">
                        <a:solidFill>
                          <a:schemeClr val="accent1"/>
                        </a:solidFill>
                        <a:latin typeface="Cambria Math" panose="02040503050406030204" pitchFamily="18" charset="0"/>
                        <a:ea typeface="微软雅黑" panose="020B0503020204020204" pitchFamily="34" charset="-122"/>
                      </a:rPr>
                      <m:t>𝑃</m:t>
                    </m:r>
                    <m:r>
                      <a:rPr lang="en-US" altLang="zh-CN" sz="2600" i="1" dirty="0" smtClean="0">
                        <a:solidFill>
                          <a:schemeClr val="accent1"/>
                        </a:solidFill>
                        <a:latin typeface="Cambria Math" panose="02040503050406030204" pitchFamily="18" charset="0"/>
                        <a:ea typeface="Cambria Math" panose="02040503050406030204" pitchFamily="18" charset="0"/>
                      </a:rPr>
                      <m:t>&gt;</m:t>
                    </m:r>
                    <m:r>
                      <a:rPr lang="en-US" altLang="zh-CN" sz="2600" b="0" i="1" dirty="0" smtClean="0">
                        <a:solidFill>
                          <a:schemeClr val="accent1"/>
                        </a:solidFill>
                        <a:latin typeface="Cambria Math" panose="02040503050406030204" pitchFamily="18" charset="0"/>
                        <a:ea typeface="微软雅黑" panose="020B0503020204020204" pitchFamily="34" charset="-122"/>
                      </a:rPr>
                      <m:t>𝑒</m:t>
                    </m:r>
                    <m:sSup>
                      <m:sSupPr>
                        <m:ctrlPr>
                          <a:rPr lang="en-US" altLang="zh-CN" sz="2600" i="1" dirty="0" smtClean="0">
                            <a:solidFill>
                              <a:schemeClr val="accent1"/>
                            </a:solidFill>
                            <a:latin typeface="Cambria Math"/>
                            <a:ea typeface="微软雅黑" panose="020B0503020204020204" pitchFamily="34" charset="-122"/>
                          </a:rPr>
                        </m:ctrlPr>
                      </m:sSupPr>
                      <m:e>
                        <m:r>
                          <a:rPr lang="en-US" altLang="zh-CN" sz="2600" b="0" i="1" dirty="0" smtClean="0">
                            <a:solidFill>
                              <a:schemeClr val="accent1"/>
                            </a:solidFill>
                            <a:latin typeface="Cambria Math" panose="02040503050406030204" pitchFamily="18" charset="0"/>
                            <a:ea typeface="微软雅黑" panose="020B0503020204020204" pitchFamily="34" charset="-122"/>
                          </a:rPr>
                          <m:t>𝑃</m:t>
                        </m:r>
                      </m:e>
                      <m:sup>
                        <m:r>
                          <a:rPr lang="en-US" altLang="zh-CN" sz="2600" b="0" i="1" dirty="0" smtClean="0">
                            <a:solidFill>
                              <a:schemeClr val="accent1"/>
                            </a:solidFill>
                            <a:latin typeface="Cambria Math" panose="02040503050406030204" pitchFamily="18" charset="0"/>
                            <a:ea typeface="微软雅黑" panose="020B0503020204020204" pitchFamily="34" charset="-122"/>
                          </a:rPr>
                          <m:t>∗</m:t>
                        </m:r>
                      </m:sup>
                    </m:sSup>
                  </m:oMath>
                </a14:m>
                <a:r>
                  <a:rPr lang="zh-CN" altLang="en-US" sz="2600" dirty="0">
                    <a:latin typeface="微软雅黑" panose="020B0503020204020204" pitchFamily="34" charset="-122"/>
                    <a:ea typeface="微软雅黑" panose="020B0503020204020204" pitchFamily="34" charset="-122"/>
                  </a:rPr>
                  <a:t>），</a:t>
                </a:r>
              </a:p>
              <a:p>
                <a:pPr marL="0" indent="457200">
                  <a:lnSpc>
                    <a:spcPct val="100000"/>
                  </a:lnSpc>
                  <a:buNone/>
                </a:pPr>
                <a:r>
                  <a:rPr lang="zh-CN" altLang="en-US" sz="2600" dirty="0">
                    <a:latin typeface="微软雅黑" panose="020B0503020204020204" pitchFamily="34" charset="-122"/>
                    <a:ea typeface="微软雅黑" panose="020B0503020204020204" pitchFamily="34" charset="-122"/>
                  </a:rPr>
                  <a:t>固定汇率制的支持者认为：在很多情况下，对本国价格体系的调整是非常必要的，完全通过汇率变动调整是不合理的。例如，本国产品国际价格竞争力下降是由于出口部门劳动生产率提高缓慢导致成本过高造成时，货币贬值只能在短期内增加出口，而在固定汇率制下，相关产业被迫主动采取措施降低成本，提高技术水平，这一价格调整往往是不可回避的。</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71550" y="1447799"/>
                <a:ext cx="7200900" cy="4841879"/>
              </a:xfrm>
              <a:blipFill rotWithShape="0">
                <a:blip r:embed="rId3"/>
                <a:stretch>
                  <a:fillRect l="-1354" t="-881" r="-846"/>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252098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二、固定汇率制与浮动汇率制的比较</a:t>
            </a:r>
          </a:p>
          <a:p>
            <a:pPr marL="514350" lvl="0" indent="-514350">
              <a:lnSpc>
                <a:spcPct val="100000"/>
              </a:lnSpc>
              <a:buClr>
                <a:srgbClr val="1CADE4"/>
              </a:buClr>
              <a:buFont typeface="+mj-lt"/>
              <a:buAutoNum type="arabicPeriod"/>
            </a:pPr>
            <a:r>
              <a:rPr lang="zh-CN" altLang="en-US" sz="2600" dirty="0">
                <a:solidFill>
                  <a:srgbClr val="1CADE4"/>
                </a:solidFill>
                <a:latin typeface="微软雅黑" panose="020B0503020204020204" pitchFamily="34" charset="-122"/>
                <a:ea typeface="微软雅黑" panose="020B0503020204020204" pitchFamily="34" charset="-122"/>
              </a:rPr>
              <a:t>实现内外均衡的自动调节效率</a:t>
            </a:r>
            <a:r>
              <a:rPr lang="zh-CN" altLang="en-US" sz="2600" dirty="0" smtClean="0">
                <a:solidFill>
                  <a:srgbClr val="1CADE4"/>
                </a:solidFill>
                <a:latin typeface="微软雅黑" panose="020B0503020204020204" pitchFamily="34" charset="-122"/>
                <a:ea typeface="微软雅黑" panose="020B0503020204020204" pitchFamily="34" charset="-122"/>
              </a:rPr>
              <a:t>比较</a:t>
            </a:r>
            <a:endParaRPr lang="en-US" altLang="zh-CN" sz="2600" dirty="0" smtClean="0">
              <a:solidFill>
                <a:schemeClr val="accent1"/>
              </a:solidFill>
              <a:latin typeface="微软雅黑" panose="020B0503020204020204" pitchFamily="34" charset="-122"/>
              <a:ea typeface="微软雅黑" panose="020B0503020204020204" pitchFamily="34" charset="-122"/>
            </a:endParaRPr>
          </a:p>
          <a:p>
            <a:pPr marL="514350" indent="-514350">
              <a:lnSpc>
                <a:spcPct val="100000"/>
              </a:lnSpc>
              <a:buFont typeface="+mj-ea"/>
              <a:buAutoNum type="circleNumDbPlain" startAt="2"/>
            </a:pPr>
            <a:r>
              <a:rPr lang="zh-CN" altLang="en-US" sz="2600" dirty="0" smtClean="0">
                <a:solidFill>
                  <a:schemeClr val="accent1"/>
                </a:solidFill>
                <a:latin typeface="微软雅黑" panose="020B0503020204020204" pitchFamily="34" charset="-122"/>
                <a:ea typeface="微软雅黑" panose="020B0503020204020204" pitchFamily="34" charset="-122"/>
              </a:rPr>
              <a:t>自发性</a:t>
            </a:r>
            <a:endParaRPr lang="zh-CN" altLang="en-US" sz="2600" dirty="0">
              <a:solidFill>
                <a:schemeClr val="accent1"/>
              </a:solidFill>
              <a:latin typeface="微软雅黑" panose="020B0503020204020204" pitchFamily="34" charset="-122"/>
              <a:ea typeface="微软雅黑" panose="020B0503020204020204" pitchFamily="34" charset="-122"/>
            </a:endParaRPr>
          </a:p>
          <a:p>
            <a:pPr marL="0" indent="457200">
              <a:lnSpc>
                <a:spcPct val="100000"/>
              </a:lnSpc>
              <a:buNone/>
            </a:pPr>
            <a:r>
              <a:rPr lang="zh-CN" altLang="en-US" sz="2600" dirty="0">
                <a:latin typeface="微软雅黑" panose="020B0503020204020204" pitchFamily="34" charset="-122"/>
                <a:ea typeface="微软雅黑" panose="020B0503020204020204" pitchFamily="34" charset="-122"/>
              </a:rPr>
              <a:t>浮动汇率制的支持者认为：在浮动汇率制下，只要一国国际收支出现失衡，货币就会自动贬值或升值，从而对国际收支自发调节；而在固定汇率制下，国际收支失衡一般都需要政府制定出特定的政策组合来加以解决，这一过程中存在的时滞等问题使其效率较低。</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345806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fontScale="92500" lnSpcReduction="20000"/>
          </a:bodyPr>
          <a:lstStyle/>
          <a:p>
            <a:pPr marL="0" indent="0">
              <a:lnSpc>
                <a:spcPct val="11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二、固定汇率制与浮动汇率制的比较</a:t>
            </a:r>
          </a:p>
          <a:p>
            <a:pPr marL="514350" lvl="0" indent="-514350">
              <a:lnSpc>
                <a:spcPct val="100000"/>
              </a:lnSpc>
              <a:buClr>
                <a:srgbClr val="1CADE4"/>
              </a:buClr>
              <a:buFont typeface="+mj-lt"/>
              <a:buAutoNum type="arabicPeriod"/>
            </a:pPr>
            <a:r>
              <a:rPr lang="zh-CN" altLang="en-US" sz="2600" dirty="0">
                <a:solidFill>
                  <a:srgbClr val="1CADE4"/>
                </a:solidFill>
                <a:latin typeface="微软雅黑" panose="020B0503020204020204" pitchFamily="34" charset="-122"/>
                <a:ea typeface="微软雅黑" panose="020B0503020204020204" pitchFamily="34" charset="-122"/>
              </a:rPr>
              <a:t>实现内外均衡的自动调节效率</a:t>
            </a:r>
            <a:r>
              <a:rPr lang="zh-CN" altLang="en-US" sz="2600" dirty="0" smtClean="0">
                <a:solidFill>
                  <a:srgbClr val="1CADE4"/>
                </a:solidFill>
                <a:latin typeface="微软雅黑" panose="020B0503020204020204" pitchFamily="34" charset="-122"/>
                <a:ea typeface="微软雅黑" panose="020B0503020204020204" pitchFamily="34" charset="-122"/>
              </a:rPr>
              <a:t>比较</a:t>
            </a:r>
            <a:endParaRPr lang="en-US" altLang="zh-CN" sz="2600" dirty="0" smtClean="0">
              <a:solidFill>
                <a:schemeClr val="accent1"/>
              </a:solidFill>
              <a:latin typeface="微软雅黑" panose="020B0503020204020204" pitchFamily="34" charset="-122"/>
              <a:ea typeface="微软雅黑" panose="020B0503020204020204" pitchFamily="34" charset="-122"/>
            </a:endParaRPr>
          </a:p>
          <a:p>
            <a:pPr marL="514350" indent="-514350">
              <a:lnSpc>
                <a:spcPct val="100000"/>
              </a:lnSpc>
              <a:buFont typeface="+mj-ea"/>
              <a:buAutoNum type="circleNumDbPlain" startAt="2"/>
            </a:pPr>
            <a:r>
              <a:rPr lang="zh-CN" altLang="en-US" sz="2600" dirty="0" smtClean="0">
                <a:solidFill>
                  <a:schemeClr val="accent1"/>
                </a:solidFill>
                <a:latin typeface="微软雅黑" panose="020B0503020204020204" pitchFamily="34" charset="-122"/>
                <a:ea typeface="微软雅黑" panose="020B0503020204020204" pitchFamily="34" charset="-122"/>
              </a:rPr>
              <a:t>自发性</a:t>
            </a:r>
            <a:endParaRPr lang="zh-CN" altLang="en-US" sz="2600" dirty="0">
              <a:solidFill>
                <a:schemeClr val="accent1"/>
              </a:solidFill>
              <a:latin typeface="微软雅黑" panose="020B0503020204020204" pitchFamily="34" charset="-122"/>
              <a:ea typeface="微软雅黑" panose="020B0503020204020204" pitchFamily="34" charset="-122"/>
            </a:endParaRPr>
          </a:p>
          <a:p>
            <a:pPr marL="0" indent="457200">
              <a:lnSpc>
                <a:spcPct val="100000"/>
              </a:lnSpc>
              <a:buNone/>
            </a:pPr>
            <a:r>
              <a:rPr lang="zh-CN" altLang="en-US" sz="2600" dirty="0">
                <a:latin typeface="微软雅黑" panose="020B0503020204020204" pitchFamily="34" charset="-122"/>
                <a:ea typeface="微软雅黑" panose="020B0503020204020204" pitchFamily="34" charset="-122"/>
              </a:rPr>
              <a:t>固定汇率制的支持者认为：</a:t>
            </a:r>
            <a:r>
              <a:rPr lang="zh-CN" altLang="en-US" sz="2600" dirty="0">
                <a:solidFill>
                  <a:schemeClr val="accent1"/>
                </a:solidFill>
                <a:latin typeface="微软雅黑" panose="020B0503020204020204" pitchFamily="34" charset="-122"/>
                <a:ea typeface="微软雅黑" panose="020B0503020204020204" pitchFamily="34" charset="-122"/>
              </a:rPr>
              <a:t>（</a:t>
            </a:r>
            <a:r>
              <a:rPr lang="en-US" altLang="zh-CN" sz="2600" dirty="0">
                <a:solidFill>
                  <a:schemeClr val="accent1"/>
                </a:solidFill>
                <a:latin typeface="微软雅黑" panose="020B0503020204020204" pitchFamily="34" charset="-122"/>
                <a:ea typeface="微软雅黑" panose="020B0503020204020204" pitchFamily="34" charset="-122"/>
              </a:rPr>
              <a:t>1</a:t>
            </a:r>
            <a:r>
              <a:rPr lang="zh-CN" altLang="en-US" sz="2600" dirty="0">
                <a:solidFill>
                  <a:schemeClr val="accent1"/>
                </a:solidFill>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导致汇率变动的因素很多，汇率未必能按照平衡国际收支所需要的方向进行调整。例如，一国经常账户出现较大赤字时，如果存在大规模资本流入，本币升值；</a:t>
            </a:r>
            <a:r>
              <a:rPr lang="zh-CN" altLang="en-US" sz="2600" dirty="0">
                <a:solidFill>
                  <a:schemeClr val="accent1"/>
                </a:solidFill>
                <a:latin typeface="微软雅黑" panose="020B0503020204020204" pitchFamily="34" charset="-122"/>
                <a:ea typeface="微软雅黑" panose="020B0503020204020204" pitchFamily="34" charset="-122"/>
              </a:rPr>
              <a:t>（</a:t>
            </a:r>
            <a:r>
              <a:rPr lang="en-US" altLang="zh-CN" sz="2600" dirty="0">
                <a:solidFill>
                  <a:schemeClr val="accent1"/>
                </a:solidFill>
                <a:latin typeface="微软雅黑" panose="020B0503020204020204" pitchFamily="34" charset="-122"/>
                <a:ea typeface="微软雅黑" panose="020B0503020204020204" pitchFamily="34" charset="-122"/>
              </a:rPr>
              <a:t>2</a:t>
            </a:r>
            <a:r>
              <a:rPr lang="zh-CN" altLang="en-US" sz="2600" dirty="0">
                <a:solidFill>
                  <a:schemeClr val="accent1"/>
                </a:solidFill>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汇率只能通过价格因素影响到国际收支，而国际收支是受多种因素共同决定的，如在一国产品由于其高质量而很少有其他国家产品能替代时，汇率变动并不能改变对其的需求；</a:t>
            </a:r>
            <a:r>
              <a:rPr lang="zh-CN" altLang="en-US" sz="2600" dirty="0">
                <a:solidFill>
                  <a:schemeClr val="accent1"/>
                </a:solidFill>
                <a:latin typeface="微软雅黑" panose="020B0503020204020204" pitchFamily="34" charset="-122"/>
                <a:ea typeface="微软雅黑" panose="020B0503020204020204" pitchFamily="34" charset="-122"/>
              </a:rPr>
              <a:t>（</a:t>
            </a:r>
            <a:r>
              <a:rPr lang="en-US" altLang="zh-CN" sz="2600" dirty="0">
                <a:solidFill>
                  <a:schemeClr val="accent1"/>
                </a:solidFill>
                <a:latin typeface="微软雅黑" panose="020B0503020204020204" pitchFamily="34" charset="-122"/>
                <a:ea typeface="微软雅黑" panose="020B0503020204020204" pitchFamily="34" charset="-122"/>
              </a:rPr>
              <a:t>3</a:t>
            </a:r>
            <a:r>
              <a:rPr lang="zh-CN" altLang="en-US" sz="2600" dirty="0">
                <a:solidFill>
                  <a:schemeClr val="accent1"/>
                </a:solidFill>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汇率对国际收支的调整往往需要国内政策的支持，如贬值刺激出口时，必须有国内相应的紧缩政策才能避免通胀抵消贬值作用。</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43443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二、固定汇率制与浮动汇率制的比较</a:t>
            </a:r>
          </a:p>
          <a:p>
            <a:pPr marL="514350" lvl="0" indent="-514350">
              <a:lnSpc>
                <a:spcPct val="100000"/>
              </a:lnSpc>
              <a:buClr>
                <a:srgbClr val="1CADE4"/>
              </a:buClr>
              <a:buFont typeface="+mj-lt"/>
              <a:buAutoNum type="arabicPeriod"/>
            </a:pPr>
            <a:r>
              <a:rPr lang="zh-CN" altLang="en-US" sz="2600" dirty="0">
                <a:solidFill>
                  <a:srgbClr val="1CADE4"/>
                </a:solidFill>
                <a:latin typeface="微软雅黑" panose="020B0503020204020204" pitchFamily="34" charset="-122"/>
                <a:ea typeface="微软雅黑" panose="020B0503020204020204" pitchFamily="34" charset="-122"/>
              </a:rPr>
              <a:t>实现内外均衡的自动调节效率</a:t>
            </a:r>
            <a:r>
              <a:rPr lang="zh-CN" altLang="en-US" sz="2600" dirty="0" smtClean="0">
                <a:solidFill>
                  <a:srgbClr val="1CADE4"/>
                </a:solidFill>
                <a:latin typeface="微软雅黑" panose="020B0503020204020204" pitchFamily="34" charset="-122"/>
                <a:ea typeface="微软雅黑" panose="020B0503020204020204" pitchFamily="34" charset="-122"/>
              </a:rPr>
              <a:t>比较</a:t>
            </a:r>
            <a:endParaRPr lang="en-US" altLang="zh-CN" sz="2600" dirty="0" smtClean="0">
              <a:solidFill>
                <a:schemeClr val="accent1"/>
              </a:solidFill>
              <a:latin typeface="微软雅黑" panose="020B0503020204020204" pitchFamily="34" charset="-122"/>
              <a:ea typeface="微软雅黑" panose="020B0503020204020204" pitchFamily="34" charset="-122"/>
            </a:endParaRPr>
          </a:p>
          <a:p>
            <a:pPr marL="514350" indent="-514350">
              <a:lnSpc>
                <a:spcPct val="100000"/>
              </a:lnSpc>
              <a:buFont typeface="+mj-ea"/>
              <a:buAutoNum type="circleNumDbPlain" startAt="3"/>
            </a:pPr>
            <a:r>
              <a:rPr lang="zh-CN" altLang="en-US" sz="2600" dirty="0">
                <a:solidFill>
                  <a:schemeClr val="accent1"/>
                </a:solidFill>
                <a:latin typeface="微软雅黑" panose="020B0503020204020204" pitchFamily="34" charset="-122"/>
                <a:ea typeface="微软雅黑" panose="020B0503020204020204" pitchFamily="34" charset="-122"/>
              </a:rPr>
              <a:t>微调性</a:t>
            </a:r>
          </a:p>
          <a:p>
            <a:pPr marL="0" indent="457200">
              <a:lnSpc>
                <a:spcPct val="100000"/>
              </a:lnSpc>
              <a:buNone/>
            </a:pPr>
            <a:r>
              <a:rPr lang="zh-CN" altLang="en-US" sz="2600" dirty="0">
                <a:latin typeface="微软雅黑" panose="020B0503020204020204" pitchFamily="34" charset="-122"/>
                <a:ea typeface="微软雅黑" panose="020B0503020204020204" pitchFamily="34" charset="-122"/>
              </a:rPr>
              <a:t>浮动汇率制的支持者认为：在浮动汇率制下，汇率可以根据一国国际收支的变动情况进行连续的微调而避免经济的急剧波动。而在固定汇率制下，一国对国际收支的调整往往是问题积累到相当程度时才进行的，这一调整一般幅度较大，对经济的震荡比较剧烈。</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796043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二、固定汇率制与浮动汇率制的比较</a:t>
            </a:r>
          </a:p>
          <a:p>
            <a:pPr marL="514350" lvl="0" indent="-514350">
              <a:lnSpc>
                <a:spcPct val="100000"/>
              </a:lnSpc>
              <a:buClr>
                <a:srgbClr val="1CADE4"/>
              </a:buClr>
              <a:buFont typeface="+mj-lt"/>
              <a:buAutoNum type="arabicPeriod"/>
            </a:pPr>
            <a:r>
              <a:rPr lang="zh-CN" altLang="en-US" sz="2600" dirty="0">
                <a:solidFill>
                  <a:srgbClr val="1CADE4"/>
                </a:solidFill>
                <a:latin typeface="微软雅黑" panose="020B0503020204020204" pitchFamily="34" charset="-122"/>
                <a:ea typeface="微软雅黑" panose="020B0503020204020204" pitchFamily="34" charset="-122"/>
              </a:rPr>
              <a:t>实现内外均衡的自动调节效率</a:t>
            </a:r>
            <a:r>
              <a:rPr lang="zh-CN" altLang="en-US" sz="2600" dirty="0" smtClean="0">
                <a:solidFill>
                  <a:srgbClr val="1CADE4"/>
                </a:solidFill>
                <a:latin typeface="微软雅黑" panose="020B0503020204020204" pitchFamily="34" charset="-122"/>
                <a:ea typeface="微软雅黑" panose="020B0503020204020204" pitchFamily="34" charset="-122"/>
              </a:rPr>
              <a:t>比较</a:t>
            </a:r>
            <a:endParaRPr lang="en-US" altLang="zh-CN" sz="2600" dirty="0" smtClean="0">
              <a:solidFill>
                <a:schemeClr val="accent1"/>
              </a:solidFill>
              <a:latin typeface="微软雅黑" panose="020B0503020204020204" pitchFamily="34" charset="-122"/>
              <a:ea typeface="微软雅黑" panose="020B0503020204020204" pitchFamily="34" charset="-122"/>
            </a:endParaRPr>
          </a:p>
          <a:p>
            <a:pPr marL="514350" indent="-514350">
              <a:lnSpc>
                <a:spcPct val="100000"/>
              </a:lnSpc>
              <a:buFont typeface="+mj-ea"/>
              <a:buAutoNum type="circleNumDbPlain" startAt="3"/>
            </a:pPr>
            <a:r>
              <a:rPr lang="zh-CN" altLang="en-US" sz="2600" dirty="0">
                <a:solidFill>
                  <a:schemeClr val="accent1"/>
                </a:solidFill>
                <a:latin typeface="微软雅黑" panose="020B0503020204020204" pitchFamily="34" charset="-122"/>
                <a:ea typeface="微软雅黑" panose="020B0503020204020204" pitchFamily="34" charset="-122"/>
              </a:rPr>
              <a:t>微调性</a:t>
            </a:r>
          </a:p>
          <a:p>
            <a:pPr marL="0" indent="457200">
              <a:lnSpc>
                <a:spcPct val="100000"/>
              </a:lnSpc>
              <a:buNone/>
            </a:pPr>
            <a:r>
              <a:rPr lang="zh-CN" altLang="en-US" sz="2600" dirty="0">
                <a:latin typeface="微软雅黑" panose="020B0503020204020204" pitchFamily="34" charset="-122"/>
                <a:ea typeface="微软雅黑" panose="020B0503020204020204" pitchFamily="34" charset="-122"/>
              </a:rPr>
              <a:t>固定汇率制的支持者并不否认固定汇率制下的调整较为僵硬，但是可以避免许多无谓的汇率调整，尤其是当这些调整是货币性干扰所造成的时候。在资本流动对汇率形成产生决定性影响时，浮动汇率的无谓调整是很剧烈的，对经济的冲击也是非常大的。</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657511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fontScale="92500" lnSpcReduction="10000"/>
          </a:bodyPr>
          <a:lstStyle/>
          <a:p>
            <a:pPr marL="0" indent="0">
              <a:lnSpc>
                <a:spcPct val="11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二、固定汇率制与浮动汇率制的比较</a:t>
            </a:r>
          </a:p>
          <a:p>
            <a:pPr marL="514350" lvl="0" indent="-514350">
              <a:lnSpc>
                <a:spcPct val="100000"/>
              </a:lnSpc>
              <a:buClr>
                <a:srgbClr val="1CADE4"/>
              </a:buClr>
              <a:buFont typeface="+mj-lt"/>
              <a:buAutoNum type="arabicPeriod"/>
            </a:pPr>
            <a:r>
              <a:rPr lang="zh-CN" altLang="en-US" sz="2600" dirty="0">
                <a:solidFill>
                  <a:srgbClr val="1CADE4"/>
                </a:solidFill>
                <a:latin typeface="微软雅黑" panose="020B0503020204020204" pitchFamily="34" charset="-122"/>
                <a:ea typeface="微软雅黑" panose="020B0503020204020204" pitchFamily="34" charset="-122"/>
              </a:rPr>
              <a:t>实现内外均衡的自动调节效率</a:t>
            </a:r>
            <a:r>
              <a:rPr lang="zh-CN" altLang="en-US" sz="2600" dirty="0" smtClean="0">
                <a:solidFill>
                  <a:srgbClr val="1CADE4"/>
                </a:solidFill>
                <a:latin typeface="微软雅黑" panose="020B0503020204020204" pitchFamily="34" charset="-122"/>
                <a:ea typeface="微软雅黑" panose="020B0503020204020204" pitchFamily="34" charset="-122"/>
              </a:rPr>
              <a:t>比较</a:t>
            </a:r>
            <a:endParaRPr lang="en-US" altLang="zh-CN" sz="2600" dirty="0" smtClean="0">
              <a:solidFill>
                <a:schemeClr val="accent1"/>
              </a:solidFill>
              <a:latin typeface="微软雅黑" panose="020B0503020204020204" pitchFamily="34" charset="-122"/>
              <a:ea typeface="微软雅黑" panose="020B0503020204020204" pitchFamily="34" charset="-122"/>
            </a:endParaRPr>
          </a:p>
          <a:p>
            <a:pPr marL="514350" indent="-514350">
              <a:lnSpc>
                <a:spcPct val="100000"/>
              </a:lnSpc>
              <a:buFont typeface="+mj-ea"/>
              <a:buAutoNum type="circleNumDbPlain" startAt="4"/>
            </a:pPr>
            <a:r>
              <a:rPr lang="zh-CN" altLang="en-US" sz="2600" dirty="0">
                <a:solidFill>
                  <a:schemeClr val="accent1"/>
                </a:solidFill>
                <a:latin typeface="微软雅黑" panose="020B0503020204020204" pitchFamily="34" charset="-122"/>
                <a:ea typeface="微软雅黑" panose="020B0503020204020204" pitchFamily="34" charset="-122"/>
              </a:rPr>
              <a:t>稳定性</a:t>
            </a:r>
          </a:p>
          <a:p>
            <a:pPr marL="0" indent="457200">
              <a:lnSpc>
                <a:spcPct val="100000"/>
              </a:lnSpc>
              <a:buNone/>
            </a:pPr>
            <a:r>
              <a:rPr lang="zh-CN" altLang="en-US" sz="2600" dirty="0">
                <a:latin typeface="微软雅黑" panose="020B0503020204020204" pitchFamily="34" charset="-122"/>
                <a:ea typeface="微软雅黑" panose="020B0503020204020204" pitchFamily="34" charset="-122"/>
              </a:rPr>
              <a:t>浮动汇率制的支持者认为：首先，浮动汇率制下的投机主要是一种稳定性投机，对市场价格的影响是稳定性的，倾向于降低市场价格波幅。其次，投机性资金不易找到汇率明显高估</a:t>
            </a:r>
            <a:r>
              <a:rPr lang="en-US" altLang="zh-CN" sz="2600" dirty="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低估的机会，而固定汇率制下，政府较少调整汇率，所以给投机性资金找到汇率错误定值的时机；在政府承诺对汇率水平进行支持时，投机性资金可以在不承担风险的情况下进行投机，从而不稳定。</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794508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fontScale="92500" lnSpcReduction="10000"/>
          </a:bodyPr>
          <a:lstStyle/>
          <a:p>
            <a:pPr marL="0" indent="0">
              <a:lnSpc>
                <a:spcPct val="11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二、固定汇率制与浮动汇率制的比较</a:t>
            </a:r>
          </a:p>
          <a:p>
            <a:pPr marL="514350" lvl="0" indent="-514350">
              <a:lnSpc>
                <a:spcPct val="100000"/>
              </a:lnSpc>
              <a:buClr>
                <a:srgbClr val="1CADE4"/>
              </a:buClr>
              <a:buFont typeface="+mj-lt"/>
              <a:buAutoNum type="arabicPeriod"/>
            </a:pPr>
            <a:r>
              <a:rPr lang="zh-CN" altLang="en-US" sz="2600" dirty="0">
                <a:solidFill>
                  <a:srgbClr val="1CADE4"/>
                </a:solidFill>
                <a:latin typeface="微软雅黑" panose="020B0503020204020204" pitchFamily="34" charset="-122"/>
                <a:ea typeface="微软雅黑" panose="020B0503020204020204" pitchFamily="34" charset="-122"/>
              </a:rPr>
              <a:t>实现内外均衡的自动调节效率</a:t>
            </a:r>
            <a:r>
              <a:rPr lang="zh-CN" altLang="en-US" sz="2600" dirty="0" smtClean="0">
                <a:solidFill>
                  <a:srgbClr val="1CADE4"/>
                </a:solidFill>
                <a:latin typeface="微软雅黑" panose="020B0503020204020204" pitchFamily="34" charset="-122"/>
                <a:ea typeface="微软雅黑" panose="020B0503020204020204" pitchFamily="34" charset="-122"/>
              </a:rPr>
              <a:t>比较</a:t>
            </a:r>
            <a:endParaRPr lang="en-US" altLang="zh-CN" sz="2600" dirty="0" smtClean="0">
              <a:solidFill>
                <a:schemeClr val="accent1"/>
              </a:solidFill>
              <a:latin typeface="微软雅黑" panose="020B0503020204020204" pitchFamily="34" charset="-122"/>
              <a:ea typeface="微软雅黑" panose="020B0503020204020204" pitchFamily="34" charset="-122"/>
            </a:endParaRPr>
          </a:p>
          <a:p>
            <a:pPr marL="514350" indent="-514350">
              <a:lnSpc>
                <a:spcPct val="100000"/>
              </a:lnSpc>
              <a:buFont typeface="+mj-ea"/>
              <a:buAutoNum type="circleNumDbPlain" startAt="4"/>
            </a:pPr>
            <a:r>
              <a:rPr lang="zh-CN" altLang="en-US" sz="2600" dirty="0">
                <a:solidFill>
                  <a:schemeClr val="accent1"/>
                </a:solidFill>
                <a:latin typeface="微软雅黑" panose="020B0503020204020204" pitchFamily="34" charset="-122"/>
                <a:ea typeface="微软雅黑" panose="020B0503020204020204" pitchFamily="34" charset="-122"/>
              </a:rPr>
              <a:t>稳定性</a:t>
            </a:r>
          </a:p>
          <a:p>
            <a:pPr marL="0" indent="457200">
              <a:lnSpc>
                <a:spcPct val="100000"/>
              </a:lnSpc>
              <a:buNone/>
            </a:pPr>
            <a:r>
              <a:rPr lang="zh-CN" altLang="en-US" sz="2600" dirty="0">
                <a:latin typeface="微软雅黑" panose="020B0503020204020204" pitchFamily="34" charset="-122"/>
                <a:ea typeface="微软雅黑" panose="020B0503020204020204" pitchFamily="34" charset="-122"/>
              </a:rPr>
              <a:t>固定汇率制的支持者认为：首先，由于投机者心理往往非理性，浮动汇率制下盛行的是非稳定性投机，扩大了市场价格波幅，而固定汇率制下，由于投机者预期汇率将向固定水平调整，在现实汇率水平与平价存在差异时通过缩小差异获利。其次，固定汇率制下政府的介入至少使市场交易者心理上存在名义锚，可以通过改变投机者预期对汇率稳定施加影响，消除不确定性。而浮动汇率制下对未来汇率预期的不确定性使外汇市场完全成为投机者的乐园。</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894653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二、固定汇率制与浮动汇率制的比较</a:t>
                </a:r>
              </a:p>
              <a:p>
                <a:pPr marL="514350" lvl="0" indent="-514350">
                  <a:lnSpc>
                    <a:spcPct val="100000"/>
                  </a:lnSpc>
                  <a:buClr>
                    <a:srgbClr val="1CADE4"/>
                  </a:buClr>
                  <a:buFont typeface="+mj-lt"/>
                  <a:buAutoNum type="arabicPeriod" startAt="2"/>
                </a:pPr>
                <a:r>
                  <a:rPr lang="zh-CN" altLang="en-US" sz="2600" dirty="0">
                    <a:solidFill>
                      <a:srgbClr val="1CADE4"/>
                    </a:solidFill>
                    <a:latin typeface="微软雅黑" panose="020B0503020204020204" pitchFamily="34" charset="-122"/>
                    <a:ea typeface="微软雅黑" panose="020B0503020204020204" pitchFamily="34" charset="-122"/>
                  </a:rPr>
                  <a:t>实现内外均衡的政策</a:t>
                </a:r>
                <a:r>
                  <a:rPr lang="zh-CN" altLang="en-US" sz="2600" dirty="0" smtClean="0">
                    <a:solidFill>
                      <a:srgbClr val="1CADE4"/>
                    </a:solidFill>
                    <a:latin typeface="微软雅黑" panose="020B0503020204020204" pitchFamily="34" charset="-122"/>
                    <a:ea typeface="微软雅黑" panose="020B0503020204020204" pitchFamily="34" charset="-122"/>
                  </a:rPr>
                  <a:t>利益比较</a:t>
                </a:r>
                <a:endParaRPr lang="en-US" altLang="zh-CN" sz="2600" dirty="0" smtClean="0">
                  <a:solidFill>
                    <a:schemeClr val="accent1"/>
                  </a:solidFill>
                  <a:latin typeface="微软雅黑" panose="020B0503020204020204" pitchFamily="34" charset="-122"/>
                  <a:ea typeface="微软雅黑" panose="020B0503020204020204" pitchFamily="34" charset="-122"/>
                </a:endParaRPr>
              </a:p>
              <a:p>
                <a:pPr marL="514350" indent="-514350">
                  <a:lnSpc>
                    <a:spcPct val="100000"/>
                  </a:lnSpc>
                  <a:buFont typeface="+mj-ea"/>
                  <a:buAutoNum type="circleNumDbPlain"/>
                </a:pPr>
                <a:r>
                  <a:rPr lang="zh-CN" altLang="en-US" sz="2600" dirty="0">
                    <a:solidFill>
                      <a:schemeClr val="accent1"/>
                    </a:solidFill>
                    <a:latin typeface="微软雅黑" panose="020B0503020204020204" pitchFamily="34" charset="-122"/>
                    <a:ea typeface="微软雅黑" panose="020B0503020204020204" pitchFamily="34" charset="-122"/>
                  </a:rPr>
                  <a:t>政策</a:t>
                </a:r>
                <a:r>
                  <a:rPr lang="zh-CN" altLang="en-US" sz="2600" dirty="0" smtClean="0">
                    <a:solidFill>
                      <a:schemeClr val="accent1"/>
                    </a:solidFill>
                    <a:latin typeface="微软雅黑" panose="020B0503020204020204" pitchFamily="34" charset="-122"/>
                    <a:ea typeface="微软雅黑" panose="020B0503020204020204" pitchFamily="34" charset="-122"/>
                  </a:rPr>
                  <a:t>自主性</a:t>
                </a:r>
              </a:p>
              <a:p>
                <a:pPr marL="0" indent="457200">
                  <a:lnSpc>
                    <a:spcPct val="100000"/>
                  </a:lnSpc>
                  <a:buNone/>
                </a:pPr>
                <a:r>
                  <a:rPr lang="zh-CN" altLang="en-US" sz="2600" dirty="0">
                    <a:latin typeface="微软雅黑" panose="020B0503020204020204" pitchFamily="34" charset="-122"/>
                    <a:ea typeface="微软雅黑" panose="020B0503020204020204" pitchFamily="34" charset="-122"/>
                  </a:rPr>
                  <a:t>要求实行浮动汇率制的重要理由之一就是货币政策可以从对汇率政策的依附中解脱出来，让汇率自发调节实现外部均衡。并且，浮动汇率制下一国可以将外国通货膨胀隔绝在外，独立制定本国经济稳定与发展的政策。因为如果</a:t>
                </a:r>
                <a:r>
                  <a:rPr lang="en-US" altLang="zh-CN" sz="2600" dirty="0">
                    <a:latin typeface="微软雅黑" panose="020B0503020204020204" pitchFamily="34" charset="-122"/>
                    <a:ea typeface="微软雅黑" panose="020B0503020204020204" pitchFamily="34" charset="-122"/>
                  </a:rPr>
                  <a:t>PPP</a:t>
                </a:r>
                <a:r>
                  <a:rPr lang="zh-CN" altLang="en-US" sz="2600" dirty="0">
                    <a:latin typeface="微软雅黑" panose="020B0503020204020204" pitchFamily="34" charset="-122"/>
                    <a:ea typeface="微软雅黑" panose="020B0503020204020204" pitchFamily="34" charset="-122"/>
                  </a:rPr>
                  <a:t>成立（</a:t>
                </a:r>
                <a14:m>
                  <m:oMath xmlns:m="http://schemas.openxmlformats.org/officeDocument/2006/math">
                    <m:r>
                      <a:rPr lang="en-US" altLang="zh-CN" sz="2600" i="1" dirty="0" smtClean="0">
                        <a:solidFill>
                          <a:schemeClr val="accent1"/>
                        </a:solidFill>
                        <a:latin typeface="Cambria Math" panose="02040503050406030204" pitchFamily="18" charset="0"/>
                        <a:ea typeface="微软雅黑" panose="020B0503020204020204" pitchFamily="34" charset="-122"/>
                      </a:rPr>
                      <m:t>𝑃</m:t>
                    </m:r>
                    <m:r>
                      <a:rPr lang="en-US" altLang="zh-CN" sz="2600" i="1" dirty="0" smtClean="0">
                        <a:solidFill>
                          <a:schemeClr val="accent1"/>
                        </a:solidFill>
                        <a:latin typeface="Cambria Math" panose="02040503050406030204" pitchFamily="18" charset="0"/>
                        <a:ea typeface="Cambria Math" panose="02040503050406030204" pitchFamily="18" charset="0"/>
                      </a:rPr>
                      <m:t>=</m:t>
                    </m:r>
                    <m:r>
                      <m:rPr>
                        <m:sty m:val="p"/>
                      </m:rPr>
                      <a:rPr lang="en-US" altLang="zh-CN" sz="2600" i="1" dirty="0" smtClean="0">
                        <a:solidFill>
                          <a:schemeClr val="accent1"/>
                        </a:solidFill>
                        <a:latin typeface="Cambria Math" panose="02040503050406030204" pitchFamily="18" charset="0"/>
                        <a:ea typeface="微软雅黑" panose="020B0503020204020204" pitchFamily="34" charset="-122"/>
                      </a:rPr>
                      <m:t>e</m:t>
                    </m:r>
                    <m:sSup>
                      <m:sSupPr>
                        <m:ctrlPr>
                          <a:rPr lang="en-US" altLang="zh-CN" sz="2600" i="1" dirty="0" smtClean="0">
                            <a:solidFill>
                              <a:schemeClr val="accent1"/>
                            </a:solidFill>
                            <a:latin typeface="Cambria Math"/>
                            <a:ea typeface="微软雅黑" panose="020B0503020204020204" pitchFamily="34" charset="-122"/>
                          </a:rPr>
                        </m:ctrlPr>
                      </m:sSupPr>
                      <m:e>
                        <m:r>
                          <a:rPr lang="en-US" altLang="zh-CN" sz="2600" b="0" i="1" dirty="0" smtClean="0">
                            <a:solidFill>
                              <a:schemeClr val="accent1"/>
                            </a:solidFill>
                            <a:latin typeface="Cambria Math" panose="02040503050406030204" pitchFamily="18" charset="0"/>
                            <a:ea typeface="微软雅黑" panose="020B0503020204020204" pitchFamily="34" charset="-122"/>
                          </a:rPr>
                          <m:t>𝑃</m:t>
                        </m:r>
                      </m:e>
                      <m:sup>
                        <m:r>
                          <a:rPr lang="en-US" altLang="zh-CN" sz="2600" b="0" i="1" dirty="0" smtClean="0">
                            <a:solidFill>
                              <a:schemeClr val="accent1"/>
                            </a:solidFill>
                            <a:latin typeface="Cambria Math" panose="02040503050406030204" pitchFamily="18" charset="0"/>
                            <a:ea typeface="微软雅黑" panose="020B0503020204020204" pitchFamily="34" charset="-122"/>
                          </a:rPr>
                          <m:t>∗</m:t>
                        </m:r>
                      </m:sup>
                    </m:sSup>
                  </m:oMath>
                </a14:m>
                <a:r>
                  <a:rPr lang="zh-CN" altLang="en-US" sz="2600" dirty="0">
                    <a:latin typeface="微软雅黑" panose="020B0503020204020204" pitchFamily="34" charset="-122"/>
                    <a:ea typeface="微软雅黑" panose="020B0503020204020204" pitchFamily="34" charset="-122"/>
                  </a:rPr>
                  <a:t>），汇率不变时，</a:t>
                </a:r>
                <a14:m>
                  <m:oMath xmlns:m="http://schemas.openxmlformats.org/officeDocument/2006/math">
                    <m:sSup>
                      <m:sSupPr>
                        <m:ctrlPr>
                          <a:rPr lang="en-US" altLang="zh-CN" sz="2600" i="1" dirty="0">
                            <a:solidFill>
                              <a:schemeClr val="accent1"/>
                            </a:solidFill>
                            <a:latin typeface="Cambria Math"/>
                            <a:ea typeface="微软雅黑" panose="020B0503020204020204" pitchFamily="34" charset="-122"/>
                          </a:rPr>
                        </m:ctrlPr>
                      </m:sSupPr>
                      <m:e>
                        <m:r>
                          <a:rPr lang="en-US" altLang="zh-CN" sz="2600" i="1" dirty="0">
                            <a:solidFill>
                              <a:schemeClr val="accent1"/>
                            </a:solidFill>
                            <a:latin typeface="Cambria Math" panose="02040503050406030204" pitchFamily="18" charset="0"/>
                            <a:ea typeface="微软雅黑" panose="020B0503020204020204" pitchFamily="34" charset="-122"/>
                          </a:rPr>
                          <m:t>𝑃</m:t>
                        </m:r>
                      </m:e>
                      <m:sup>
                        <m:r>
                          <a:rPr lang="en-US" altLang="zh-CN" sz="2600" i="1" dirty="0">
                            <a:solidFill>
                              <a:schemeClr val="accent1"/>
                            </a:solidFill>
                            <a:latin typeface="Cambria Math" panose="02040503050406030204" pitchFamily="18" charset="0"/>
                            <a:ea typeface="微软雅黑" panose="020B0503020204020204" pitchFamily="34" charset="-122"/>
                          </a:rPr>
                          <m:t>∗</m:t>
                        </m:r>
                      </m:sup>
                    </m:sSup>
                  </m:oMath>
                </a14:m>
                <a:r>
                  <a:rPr lang="zh-CN" altLang="en-US" sz="2600" dirty="0">
                    <a:latin typeface="微软雅黑" panose="020B0503020204020204" pitchFamily="34" charset="-122"/>
                    <a:ea typeface="微软雅黑" panose="020B0503020204020204" pitchFamily="34" charset="-122"/>
                  </a:rPr>
                  <a:t>上升必然</a:t>
                </a:r>
                <a:r>
                  <a:rPr lang="zh-CN" altLang="en-US" sz="2600" dirty="0" smtClean="0">
                    <a:latin typeface="微软雅黑" panose="020B0503020204020204" pitchFamily="34" charset="-122"/>
                    <a:ea typeface="微软雅黑" panose="020B0503020204020204" pitchFamily="34" charset="-122"/>
                  </a:rPr>
                  <a:t>带来</a:t>
                </a:r>
                <a14:m>
                  <m:oMath xmlns:m="http://schemas.openxmlformats.org/officeDocument/2006/math">
                    <m:r>
                      <a:rPr lang="en-US" altLang="zh-CN" sz="2600" i="1" dirty="0">
                        <a:solidFill>
                          <a:schemeClr val="accent1"/>
                        </a:solidFill>
                        <a:latin typeface="Cambria Math" panose="02040503050406030204" pitchFamily="18" charset="0"/>
                        <a:ea typeface="微软雅黑" panose="020B0503020204020204" pitchFamily="34" charset="-122"/>
                      </a:rPr>
                      <m:t>𝑃</m:t>
                    </m:r>
                  </m:oMath>
                </a14:m>
                <a:r>
                  <a:rPr lang="zh-CN" altLang="en-US" sz="2600" dirty="0" smtClean="0">
                    <a:latin typeface="微软雅黑" panose="020B0503020204020204" pitchFamily="34" charset="-122"/>
                    <a:ea typeface="微软雅黑" panose="020B0503020204020204" pitchFamily="34" charset="-122"/>
                  </a:rPr>
                  <a:t>上升</a:t>
                </a:r>
                <a:r>
                  <a:rPr lang="zh-CN" altLang="en-US" sz="2600" dirty="0">
                    <a:latin typeface="微软雅黑" panose="020B0503020204020204" pitchFamily="34" charset="-122"/>
                    <a:ea typeface="微软雅黑" panose="020B0503020204020204" pitchFamily="34" charset="-122"/>
                  </a:rPr>
                  <a:t>，一国无法控制本国的通货膨胀。</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71550" y="1447799"/>
                <a:ext cx="7200900" cy="4841879"/>
              </a:xfrm>
              <a:blipFill rotWithShape="0">
                <a:blip r:embed="rId3"/>
                <a:stretch>
                  <a:fillRect l="-1777" t="-1006" r="-761" b="-2642"/>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608600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二、固定汇率制与浮动汇率制的比较</a:t>
            </a:r>
          </a:p>
          <a:p>
            <a:pPr marL="514350" lvl="0" indent="-514350">
              <a:lnSpc>
                <a:spcPct val="100000"/>
              </a:lnSpc>
              <a:buClr>
                <a:srgbClr val="1CADE4"/>
              </a:buClr>
              <a:buFont typeface="+mj-lt"/>
              <a:buAutoNum type="arabicPeriod" startAt="2"/>
            </a:pPr>
            <a:r>
              <a:rPr lang="zh-CN" altLang="en-US" sz="2600" dirty="0">
                <a:solidFill>
                  <a:srgbClr val="1CADE4"/>
                </a:solidFill>
                <a:latin typeface="微软雅黑" panose="020B0503020204020204" pitchFamily="34" charset="-122"/>
                <a:ea typeface="微软雅黑" panose="020B0503020204020204" pitchFamily="34" charset="-122"/>
              </a:rPr>
              <a:t>实现内外均衡的政策</a:t>
            </a:r>
            <a:r>
              <a:rPr lang="zh-CN" altLang="en-US" sz="2600" dirty="0" smtClean="0">
                <a:solidFill>
                  <a:srgbClr val="1CADE4"/>
                </a:solidFill>
                <a:latin typeface="微软雅黑" panose="020B0503020204020204" pitchFamily="34" charset="-122"/>
                <a:ea typeface="微软雅黑" panose="020B0503020204020204" pitchFamily="34" charset="-122"/>
              </a:rPr>
              <a:t>利益比较</a:t>
            </a:r>
            <a:endParaRPr lang="en-US" altLang="zh-CN" sz="2600" dirty="0" smtClean="0">
              <a:solidFill>
                <a:schemeClr val="accent1"/>
              </a:solidFill>
              <a:latin typeface="微软雅黑" panose="020B0503020204020204" pitchFamily="34" charset="-122"/>
              <a:ea typeface="微软雅黑" panose="020B0503020204020204" pitchFamily="34" charset="-122"/>
            </a:endParaRPr>
          </a:p>
          <a:p>
            <a:pPr marL="514350" indent="-514350">
              <a:lnSpc>
                <a:spcPct val="100000"/>
              </a:lnSpc>
              <a:buFont typeface="+mj-ea"/>
              <a:buAutoNum type="circleNumDbPlain"/>
            </a:pPr>
            <a:r>
              <a:rPr lang="zh-CN" altLang="en-US" sz="2600" dirty="0">
                <a:solidFill>
                  <a:schemeClr val="accent1"/>
                </a:solidFill>
                <a:latin typeface="微软雅黑" panose="020B0503020204020204" pitchFamily="34" charset="-122"/>
                <a:ea typeface="微软雅黑" panose="020B0503020204020204" pitchFamily="34" charset="-122"/>
              </a:rPr>
              <a:t>政策</a:t>
            </a:r>
            <a:r>
              <a:rPr lang="zh-CN" altLang="en-US" sz="2600" dirty="0" smtClean="0">
                <a:solidFill>
                  <a:schemeClr val="accent1"/>
                </a:solidFill>
                <a:latin typeface="微软雅黑" panose="020B0503020204020204" pitchFamily="34" charset="-122"/>
                <a:ea typeface="微软雅黑" panose="020B0503020204020204" pitchFamily="34" charset="-122"/>
              </a:rPr>
              <a:t>自主性</a:t>
            </a:r>
          </a:p>
          <a:p>
            <a:pPr marL="0" indent="457200">
              <a:lnSpc>
                <a:spcPct val="100000"/>
              </a:lnSpc>
              <a:buNone/>
            </a:pPr>
            <a:r>
              <a:rPr lang="zh-CN" altLang="en-US" sz="2600" dirty="0">
                <a:latin typeface="微软雅黑" panose="020B0503020204020204" pitchFamily="34" charset="-122"/>
                <a:ea typeface="微软雅黑" panose="020B0503020204020204" pitchFamily="34" charset="-122"/>
              </a:rPr>
              <a:t>固定汇率的支持者指出，首先，完全利用汇率政策解决外部均衡，就意味着政府准备接受任何的汇率水平，显然不可能；其次，汇率调整必须有相应的国内其他政策的配合才能发挥效力；再次，浮动汇率制不可能真正隔绝外国通胀对本国的影响，本国货币的贬值会通过各种途径对国内物价水平产生影响。</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4028666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二、固定汇率制与浮动汇率制的比较</a:t>
            </a:r>
          </a:p>
          <a:p>
            <a:pPr marL="514350" lvl="0" indent="-514350">
              <a:lnSpc>
                <a:spcPct val="100000"/>
              </a:lnSpc>
              <a:buClr>
                <a:srgbClr val="1CADE4"/>
              </a:buClr>
              <a:buFont typeface="+mj-lt"/>
              <a:buAutoNum type="arabicPeriod" startAt="2"/>
            </a:pPr>
            <a:r>
              <a:rPr lang="zh-CN" altLang="en-US" sz="2600" dirty="0">
                <a:solidFill>
                  <a:srgbClr val="1CADE4"/>
                </a:solidFill>
                <a:latin typeface="微软雅黑" panose="020B0503020204020204" pitchFamily="34" charset="-122"/>
                <a:ea typeface="微软雅黑" panose="020B0503020204020204" pitchFamily="34" charset="-122"/>
              </a:rPr>
              <a:t>实现内外均衡的政策</a:t>
            </a:r>
            <a:r>
              <a:rPr lang="zh-CN" altLang="en-US" sz="2600" dirty="0" smtClean="0">
                <a:solidFill>
                  <a:srgbClr val="1CADE4"/>
                </a:solidFill>
                <a:latin typeface="微软雅黑" panose="020B0503020204020204" pitchFamily="34" charset="-122"/>
                <a:ea typeface="微软雅黑" panose="020B0503020204020204" pitchFamily="34" charset="-122"/>
              </a:rPr>
              <a:t>利益比较</a:t>
            </a:r>
            <a:endParaRPr lang="en-US" altLang="zh-CN" sz="2600" dirty="0" smtClean="0">
              <a:solidFill>
                <a:schemeClr val="accent1"/>
              </a:solidFill>
              <a:latin typeface="微软雅黑" panose="020B0503020204020204" pitchFamily="34" charset="-122"/>
              <a:ea typeface="微软雅黑" panose="020B0503020204020204" pitchFamily="34" charset="-122"/>
            </a:endParaRPr>
          </a:p>
          <a:p>
            <a:pPr marL="514350" indent="-514350">
              <a:lnSpc>
                <a:spcPct val="100000"/>
              </a:lnSpc>
              <a:buFont typeface="+mj-ea"/>
              <a:buAutoNum type="circleNumDbPlain" startAt="2"/>
            </a:pPr>
            <a:r>
              <a:rPr lang="zh-CN" altLang="en-US" sz="2600" dirty="0">
                <a:solidFill>
                  <a:schemeClr val="accent1"/>
                </a:solidFill>
                <a:latin typeface="微软雅黑" panose="020B0503020204020204" pitchFamily="34" charset="-122"/>
                <a:ea typeface="微软雅黑" panose="020B0503020204020204" pitchFamily="34" charset="-122"/>
              </a:rPr>
              <a:t>政策</a:t>
            </a:r>
            <a:r>
              <a:rPr lang="zh-CN" altLang="en-US" sz="2600" dirty="0" smtClean="0">
                <a:solidFill>
                  <a:schemeClr val="accent1"/>
                </a:solidFill>
                <a:latin typeface="微软雅黑" panose="020B0503020204020204" pitchFamily="34" charset="-122"/>
                <a:ea typeface="微软雅黑" panose="020B0503020204020204" pitchFamily="34" charset="-122"/>
              </a:rPr>
              <a:t>纪律性</a:t>
            </a:r>
          </a:p>
          <a:p>
            <a:pPr marL="0" indent="457200">
              <a:lnSpc>
                <a:spcPct val="100000"/>
              </a:lnSpc>
              <a:buNone/>
            </a:pPr>
            <a:r>
              <a:rPr lang="zh-CN" altLang="en-US" sz="2600" dirty="0">
                <a:latin typeface="微软雅黑" panose="020B0503020204020204" pitchFamily="34" charset="-122"/>
                <a:ea typeface="微软雅黑" panose="020B0503020204020204" pitchFamily="34" charset="-122"/>
              </a:rPr>
              <a:t>浮动汇率制的拥护者指出，浮动汇率可以防止货币当局对汇率政策的滥用（如故意高估或低估）。</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固定汇率</a:t>
            </a:r>
            <a:r>
              <a:rPr lang="zh-CN" altLang="en-US" sz="2600" dirty="0">
                <a:latin typeface="微软雅黑" panose="020B0503020204020204" pitchFamily="34" charset="-122"/>
                <a:ea typeface="微软雅黑" panose="020B0503020204020204" pitchFamily="34" charset="-122"/>
              </a:rPr>
              <a:t>制的支持者认为，固定汇率制可以防止对货币政策的滥用（如扩张的货币政策会对固定汇率制构成威胁）。</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020348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lnSpcReduction="10000"/>
          </a:bodyPr>
          <a:lstStyle/>
          <a:p>
            <a:pPr marL="0" indent="0">
              <a:lnSpc>
                <a:spcPct val="11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二、固定汇率制与浮动汇率制的比较</a:t>
            </a:r>
          </a:p>
          <a:p>
            <a:pPr marL="514350" lvl="0" indent="-514350">
              <a:lnSpc>
                <a:spcPct val="100000"/>
              </a:lnSpc>
              <a:buClr>
                <a:srgbClr val="1CADE4"/>
              </a:buClr>
              <a:buFont typeface="+mj-lt"/>
              <a:buAutoNum type="arabicPeriod" startAt="2"/>
            </a:pPr>
            <a:r>
              <a:rPr lang="zh-CN" altLang="en-US" sz="2600" dirty="0">
                <a:solidFill>
                  <a:srgbClr val="1CADE4"/>
                </a:solidFill>
                <a:latin typeface="微软雅黑" panose="020B0503020204020204" pitchFamily="34" charset="-122"/>
                <a:ea typeface="微软雅黑" panose="020B0503020204020204" pitchFamily="34" charset="-122"/>
              </a:rPr>
              <a:t>实现内外均衡的政策</a:t>
            </a:r>
            <a:r>
              <a:rPr lang="zh-CN" altLang="en-US" sz="2600" dirty="0" smtClean="0">
                <a:solidFill>
                  <a:srgbClr val="1CADE4"/>
                </a:solidFill>
                <a:latin typeface="微软雅黑" panose="020B0503020204020204" pitchFamily="34" charset="-122"/>
                <a:ea typeface="微软雅黑" panose="020B0503020204020204" pitchFamily="34" charset="-122"/>
              </a:rPr>
              <a:t>利益比较</a:t>
            </a:r>
            <a:endParaRPr lang="en-US" altLang="zh-CN" sz="2600" dirty="0" smtClean="0">
              <a:solidFill>
                <a:schemeClr val="accent1"/>
              </a:solidFill>
              <a:latin typeface="微软雅黑" panose="020B0503020204020204" pitchFamily="34" charset="-122"/>
              <a:ea typeface="微软雅黑" panose="020B0503020204020204" pitchFamily="34" charset="-122"/>
            </a:endParaRPr>
          </a:p>
          <a:p>
            <a:pPr marL="514350" indent="-514350">
              <a:lnSpc>
                <a:spcPct val="100000"/>
              </a:lnSpc>
              <a:buFont typeface="+mj-ea"/>
              <a:buAutoNum type="circleNumDbPlain" startAt="2"/>
            </a:pPr>
            <a:r>
              <a:rPr lang="zh-CN" altLang="en-US" sz="2600" dirty="0">
                <a:solidFill>
                  <a:schemeClr val="accent1"/>
                </a:solidFill>
                <a:latin typeface="微软雅黑" panose="020B0503020204020204" pitchFamily="34" charset="-122"/>
                <a:ea typeface="微软雅黑" panose="020B0503020204020204" pitchFamily="34" charset="-122"/>
              </a:rPr>
              <a:t>政策</a:t>
            </a:r>
            <a:r>
              <a:rPr lang="zh-CN" altLang="en-US" sz="2600" dirty="0" smtClean="0">
                <a:solidFill>
                  <a:schemeClr val="accent1"/>
                </a:solidFill>
                <a:latin typeface="微软雅黑" panose="020B0503020204020204" pitchFamily="34" charset="-122"/>
                <a:ea typeface="微软雅黑" panose="020B0503020204020204" pitchFamily="34" charset="-122"/>
              </a:rPr>
              <a:t>放大性</a:t>
            </a:r>
          </a:p>
          <a:p>
            <a:pPr marL="0" indent="457200">
              <a:lnSpc>
                <a:spcPct val="100000"/>
              </a:lnSpc>
              <a:buNone/>
            </a:pPr>
            <a:r>
              <a:rPr lang="zh-CN" altLang="en-US" sz="2600" dirty="0">
                <a:latin typeface="微软雅黑" panose="020B0503020204020204" pitchFamily="34" charset="-122"/>
                <a:ea typeface="微软雅黑" panose="020B0503020204020204" pitchFamily="34" charset="-122"/>
              </a:rPr>
              <a:t>浮动汇率制下货币财政政策对收入等实际变量的影响比固定汇率制下的效应一般要大，因为汇率的调整增强了原有政策的效果。</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固定汇率</a:t>
            </a:r>
            <a:r>
              <a:rPr lang="zh-CN" altLang="en-US" sz="2600" dirty="0">
                <a:latin typeface="微软雅黑" panose="020B0503020204020204" pitchFamily="34" charset="-122"/>
                <a:ea typeface="微软雅黑" panose="020B0503020204020204" pitchFamily="34" charset="-122"/>
              </a:rPr>
              <a:t>制的支持者认为，政府在对固定汇率制的维系中，会获得执行政策始终一致的声誉，这样在政府的政策实施过程中，会通过影响人们的心理预期而受到额外的效果。</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501256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fontScale="77500" lnSpcReduction="20000"/>
          </a:bodyPr>
          <a:lstStyle/>
          <a:p>
            <a:pPr marL="0" indent="0">
              <a:lnSpc>
                <a:spcPct val="130000"/>
              </a:lnSpc>
              <a:buNone/>
            </a:pPr>
            <a:r>
              <a:rPr lang="zh-CN" altLang="en-US" sz="3300" dirty="0">
                <a:solidFill>
                  <a:schemeClr val="accent1"/>
                </a:solidFill>
                <a:latin typeface="微软雅黑" panose="020B0503020204020204" pitchFamily="34" charset="-122"/>
                <a:ea typeface="微软雅黑" panose="020B0503020204020204" pitchFamily="34" charset="-122"/>
              </a:rPr>
              <a:t>二、固定汇率制与浮动汇率制的比较</a:t>
            </a:r>
          </a:p>
          <a:p>
            <a:pPr marL="514350" lvl="0" indent="-514350">
              <a:lnSpc>
                <a:spcPct val="100000"/>
              </a:lnSpc>
              <a:buClr>
                <a:srgbClr val="1CADE4"/>
              </a:buClr>
              <a:buFont typeface="+mj-lt"/>
              <a:buAutoNum type="arabicPeriod" startAt="3"/>
            </a:pPr>
            <a:r>
              <a:rPr lang="zh-CN" altLang="en-US" sz="2600" dirty="0">
                <a:solidFill>
                  <a:srgbClr val="1CADE4"/>
                </a:solidFill>
                <a:latin typeface="微软雅黑" panose="020B0503020204020204" pitchFamily="34" charset="-122"/>
                <a:ea typeface="微软雅黑" panose="020B0503020204020204" pitchFamily="34" charset="-122"/>
              </a:rPr>
              <a:t>对国际经济关系的</a:t>
            </a:r>
            <a:r>
              <a:rPr lang="zh-CN" altLang="en-US" sz="2600" dirty="0" smtClean="0">
                <a:solidFill>
                  <a:srgbClr val="1CADE4"/>
                </a:solidFill>
                <a:latin typeface="微软雅黑" panose="020B0503020204020204" pitchFamily="34" charset="-122"/>
                <a:ea typeface="微软雅黑" panose="020B0503020204020204" pitchFamily="34" charset="-122"/>
              </a:rPr>
              <a:t>影响</a:t>
            </a:r>
            <a:endParaRPr lang="en-US" altLang="zh-CN" sz="2600" dirty="0" smtClean="0">
              <a:solidFill>
                <a:schemeClr val="accent1"/>
              </a:solidFill>
              <a:latin typeface="微软雅黑" panose="020B0503020204020204" pitchFamily="34" charset="-122"/>
              <a:ea typeface="微软雅黑" panose="020B0503020204020204" pitchFamily="34" charset="-122"/>
            </a:endParaRPr>
          </a:p>
          <a:p>
            <a:pPr marL="514350" indent="-514350">
              <a:lnSpc>
                <a:spcPct val="100000"/>
              </a:lnSpc>
              <a:buFont typeface="+mj-ea"/>
              <a:buAutoNum type="circleNumDbPlain"/>
            </a:pPr>
            <a:r>
              <a:rPr lang="zh-CN" altLang="en-US" sz="2600" dirty="0">
                <a:solidFill>
                  <a:schemeClr val="accent1"/>
                </a:solidFill>
                <a:latin typeface="微软雅黑" panose="020B0503020204020204" pitchFamily="34" charset="-122"/>
                <a:ea typeface="微软雅黑" panose="020B0503020204020204" pitchFamily="34" charset="-122"/>
              </a:rPr>
              <a:t>对国际贸易、投资等活动</a:t>
            </a:r>
            <a:r>
              <a:rPr lang="zh-CN" altLang="en-US" sz="2600" dirty="0" smtClean="0">
                <a:solidFill>
                  <a:schemeClr val="accent1"/>
                </a:solidFill>
                <a:latin typeface="微软雅黑" panose="020B0503020204020204" pitchFamily="34" charset="-122"/>
                <a:ea typeface="微软雅黑" panose="020B0503020204020204" pitchFamily="34" charset="-122"/>
              </a:rPr>
              <a:t>的影响</a:t>
            </a:r>
          </a:p>
          <a:p>
            <a:pPr marL="0" indent="457200">
              <a:lnSpc>
                <a:spcPct val="100000"/>
              </a:lnSpc>
              <a:buNone/>
            </a:pPr>
            <a:r>
              <a:rPr lang="zh-CN" altLang="en-US" sz="2600" dirty="0">
                <a:latin typeface="微软雅黑" panose="020B0503020204020204" pitchFamily="34" charset="-122"/>
                <a:ea typeface="微软雅黑" panose="020B0503020204020204" pitchFamily="34" charset="-122"/>
              </a:rPr>
              <a:t>浮动汇率制的拥护者认为浮动汇率有利于国际间经济交往。首先，汇率可以自由浮动，使得固定汇率制下政府为维持固定汇率而采取的种种直接管制措施失去必要；其次，浮动汇率的不确定因素可以通过远期交易等方式规避风险，国际金融创新的飞速发展使这一问题的重要性大大降低了。</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赞成</a:t>
            </a:r>
            <a:r>
              <a:rPr lang="zh-CN" altLang="en-US" sz="2600" dirty="0">
                <a:latin typeface="微软雅黑" panose="020B0503020204020204" pitchFamily="34" charset="-122"/>
                <a:ea typeface="微软雅黑" panose="020B0503020204020204" pitchFamily="34" charset="-122"/>
              </a:rPr>
              <a:t>固定汇率制的人认为进行各项规避风险的交易本身有成本；而且，很多经济活动是无法规避汇率风险的，例如跨国的实物投资、人力资源投资等。另外，许多发展中国家由于金融市场不发达，缺乏远期交易等规避风险的工具，浮动汇率制是特别不利的。</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964282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fontScale="85000" lnSpcReduction="20000"/>
          </a:bodyPr>
          <a:lstStyle/>
          <a:p>
            <a:pPr marL="0" indent="0">
              <a:lnSpc>
                <a:spcPct val="130000"/>
              </a:lnSpc>
              <a:buNone/>
            </a:pPr>
            <a:r>
              <a:rPr lang="zh-CN" altLang="en-US" sz="3100" dirty="0">
                <a:solidFill>
                  <a:schemeClr val="accent1"/>
                </a:solidFill>
                <a:latin typeface="微软雅黑" panose="020B0503020204020204" pitchFamily="34" charset="-122"/>
                <a:ea typeface="微软雅黑" panose="020B0503020204020204" pitchFamily="34" charset="-122"/>
              </a:rPr>
              <a:t>二、固定汇率制与浮动汇率制的比较</a:t>
            </a:r>
          </a:p>
          <a:p>
            <a:pPr marL="514350" lvl="0" indent="-514350">
              <a:lnSpc>
                <a:spcPct val="100000"/>
              </a:lnSpc>
              <a:buClr>
                <a:srgbClr val="1CADE4"/>
              </a:buClr>
              <a:buFont typeface="+mj-lt"/>
              <a:buAutoNum type="arabicPeriod" startAt="3"/>
            </a:pPr>
            <a:r>
              <a:rPr lang="zh-CN" altLang="en-US" sz="2600" dirty="0">
                <a:solidFill>
                  <a:srgbClr val="1CADE4"/>
                </a:solidFill>
                <a:latin typeface="微软雅黑" panose="020B0503020204020204" pitchFamily="34" charset="-122"/>
                <a:ea typeface="微软雅黑" panose="020B0503020204020204" pitchFamily="34" charset="-122"/>
              </a:rPr>
              <a:t>对国际经济关系的</a:t>
            </a:r>
            <a:r>
              <a:rPr lang="zh-CN" altLang="en-US" sz="2600" dirty="0" smtClean="0">
                <a:solidFill>
                  <a:srgbClr val="1CADE4"/>
                </a:solidFill>
                <a:latin typeface="微软雅黑" panose="020B0503020204020204" pitchFamily="34" charset="-122"/>
                <a:ea typeface="微软雅黑" panose="020B0503020204020204" pitchFamily="34" charset="-122"/>
              </a:rPr>
              <a:t>影响</a:t>
            </a:r>
            <a:endParaRPr lang="en-US" altLang="zh-CN" sz="2600" dirty="0" smtClean="0">
              <a:solidFill>
                <a:schemeClr val="accent1"/>
              </a:solidFill>
              <a:latin typeface="微软雅黑" panose="020B0503020204020204" pitchFamily="34" charset="-122"/>
              <a:ea typeface="微软雅黑" panose="020B0503020204020204" pitchFamily="34" charset="-122"/>
            </a:endParaRPr>
          </a:p>
          <a:p>
            <a:pPr marL="514350" indent="-514350">
              <a:lnSpc>
                <a:spcPct val="100000"/>
              </a:lnSpc>
              <a:buFont typeface="+mj-ea"/>
              <a:buAutoNum type="circleNumDbPlain" startAt="2"/>
            </a:pPr>
            <a:r>
              <a:rPr lang="zh-CN" altLang="en-US" sz="2600" dirty="0">
                <a:solidFill>
                  <a:schemeClr val="accent1"/>
                </a:solidFill>
                <a:latin typeface="微软雅黑" panose="020B0503020204020204" pitchFamily="34" charset="-122"/>
                <a:ea typeface="微软雅黑" panose="020B0503020204020204" pitchFamily="34" charset="-122"/>
              </a:rPr>
              <a:t>对通货膨胀的国际传播的影响</a:t>
            </a:r>
            <a:endParaRPr lang="zh-CN" altLang="en-US" sz="2600" dirty="0" smtClean="0">
              <a:solidFill>
                <a:schemeClr val="accent1"/>
              </a:solidFill>
              <a:latin typeface="微软雅黑" panose="020B0503020204020204" pitchFamily="34" charset="-122"/>
              <a:ea typeface="微软雅黑" panose="020B0503020204020204" pitchFamily="34" charset="-122"/>
            </a:endParaRPr>
          </a:p>
          <a:p>
            <a:pPr marL="0" indent="457200">
              <a:lnSpc>
                <a:spcPct val="100000"/>
              </a:lnSpc>
              <a:buNone/>
            </a:pPr>
            <a:r>
              <a:rPr lang="zh-CN" altLang="en-US" sz="2600" dirty="0">
                <a:latin typeface="微软雅黑" panose="020B0503020204020204" pitchFamily="34" charset="-122"/>
                <a:ea typeface="微软雅黑" panose="020B0503020204020204" pitchFamily="34" charset="-122"/>
              </a:rPr>
              <a:t>浮动汇率制的拥护者认为，浮动汇率有利于隔绝通货膨胀的国际传递。</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主张</a:t>
            </a:r>
            <a:r>
              <a:rPr lang="zh-CN" altLang="en-US" sz="2600" dirty="0">
                <a:latin typeface="微软雅黑" panose="020B0503020204020204" pitchFamily="34" charset="-122"/>
                <a:ea typeface="微软雅黑" panose="020B0503020204020204" pitchFamily="34" charset="-122"/>
              </a:rPr>
              <a:t>实行固定汇率制的人认为，浮动汇率下同样存在通货膨胀的传递问题，并且这一传递具有不对称性。当本币贬值时，进口成本上升，物价上升，而当本币升值时，进口成本则因价格刚性而不容易下降或下降不足，其净效应是物价的上升。扩大到两个国家的相互关系看，一国货币的升值便是另一国货币的贬值，贬值国的物价上升幅度要超过升值国家的物价下降的幅度。其净效应便是世界物价水平的上升。这称为不对称效应或棘轮效应。</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4238703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fontScale="85000" lnSpcReduction="10000"/>
          </a:bodyPr>
          <a:lstStyle/>
          <a:p>
            <a:pPr marL="0" indent="0">
              <a:lnSpc>
                <a:spcPct val="120000"/>
              </a:lnSpc>
              <a:buNone/>
            </a:pPr>
            <a:r>
              <a:rPr lang="zh-CN" altLang="en-US" sz="3100" dirty="0">
                <a:solidFill>
                  <a:schemeClr val="accent1"/>
                </a:solidFill>
                <a:latin typeface="微软雅黑" panose="020B0503020204020204" pitchFamily="34" charset="-122"/>
                <a:ea typeface="微软雅黑" panose="020B0503020204020204" pitchFamily="34" charset="-122"/>
              </a:rPr>
              <a:t>二、固定汇率制与浮动汇率制的比较</a:t>
            </a:r>
          </a:p>
          <a:p>
            <a:pPr marL="514350" lvl="0" indent="-514350">
              <a:lnSpc>
                <a:spcPct val="100000"/>
              </a:lnSpc>
              <a:buClr>
                <a:srgbClr val="1CADE4"/>
              </a:buClr>
              <a:buFont typeface="+mj-lt"/>
              <a:buAutoNum type="arabicPeriod" startAt="3"/>
            </a:pPr>
            <a:r>
              <a:rPr lang="zh-CN" altLang="en-US" sz="2600" dirty="0">
                <a:solidFill>
                  <a:srgbClr val="1CADE4"/>
                </a:solidFill>
                <a:latin typeface="微软雅黑" panose="020B0503020204020204" pitchFamily="34" charset="-122"/>
                <a:ea typeface="微软雅黑" panose="020B0503020204020204" pitchFamily="34" charset="-122"/>
              </a:rPr>
              <a:t>对国际经济关系的</a:t>
            </a:r>
            <a:r>
              <a:rPr lang="zh-CN" altLang="en-US" sz="2600" dirty="0" smtClean="0">
                <a:solidFill>
                  <a:srgbClr val="1CADE4"/>
                </a:solidFill>
                <a:latin typeface="微软雅黑" panose="020B0503020204020204" pitchFamily="34" charset="-122"/>
                <a:ea typeface="微软雅黑" panose="020B0503020204020204" pitchFamily="34" charset="-122"/>
              </a:rPr>
              <a:t>影响</a:t>
            </a:r>
            <a:endParaRPr lang="en-US" altLang="zh-CN" sz="2600" dirty="0" smtClean="0">
              <a:solidFill>
                <a:schemeClr val="accent1"/>
              </a:solidFill>
              <a:latin typeface="微软雅黑" panose="020B0503020204020204" pitchFamily="34" charset="-122"/>
              <a:ea typeface="微软雅黑" panose="020B0503020204020204" pitchFamily="34" charset="-122"/>
            </a:endParaRPr>
          </a:p>
          <a:p>
            <a:pPr marL="514350" indent="-514350">
              <a:lnSpc>
                <a:spcPct val="100000"/>
              </a:lnSpc>
              <a:buFont typeface="+mj-ea"/>
              <a:buAutoNum type="circleNumDbPlain" startAt="3"/>
            </a:pPr>
            <a:r>
              <a:rPr lang="zh-CN" altLang="en-US" sz="2600" dirty="0">
                <a:solidFill>
                  <a:schemeClr val="accent1"/>
                </a:solidFill>
                <a:latin typeface="微软雅黑" panose="020B0503020204020204" pitchFamily="34" charset="-122"/>
                <a:ea typeface="微软雅黑" panose="020B0503020204020204" pitchFamily="34" charset="-122"/>
              </a:rPr>
              <a:t>对国际间政策协调的影响</a:t>
            </a:r>
            <a:endParaRPr lang="zh-CN" altLang="en-US" sz="2600" dirty="0" smtClean="0">
              <a:solidFill>
                <a:schemeClr val="accent1"/>
              </a:solidFill>
              <a:latin typeface="微软雅黑" panose="020B0503020204020204" pitchFamily="34" charset="-122"/>
              <a:ea typeface="微软雅黑" panose="020B0503020204020204" pitchFamily="34" charset="-122"/>
            </a:endParaRPr>
          </a:p>
          <a:p>
            <a:pPr marL="0" indent="457200">
              <a:lnSpc>
                <a:spcPct val="100000"/>
              </a:lnSpc>
              <a:buNone/>
            </a:pPr>
            <a:r>
              <a:rPr lang="zh-CN" altLang="en-US" sz="2600" dirty="0">
                <a:latin typeface="微软雅黑" panose="020B0503020204020204" pitchFamily="34" charset="-122"/>
                <a:ea typeface="微软雅黑" panose="020B0503020204020204" pitchFamily="34" charset="-122"/>
              </a:rPr>
              <a:t>一般认为，在浮动汇率制下，由于缺乏关于汇率的有约束力的协议，各国将国内经济目标摆在首位，易于利用汇率的自由波动而推行竞争性贬值这一以邻为壑的政策，会造成国际经济秩序的混乱。</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浮动汇率</a:t>
            </a:r>
            <a:r>
              <a:rPr lang="zh-CN" altLang="en-US" sz="2600" dirty="0">
                <a:latin typeface="微软雅黑" panose="020B0503020204020204" pitchFamily="34" charset="-122"/>
                <a:ea typeface="微软雅黑" panose="020B0503020204020204" pitchFamily="34" charset="-122"/>
              </a:rPr>
              <a:t>制的拥护者认为，首先，汇率本质上是个具有“竞争性”的变量，任何一种汇率制度都不可能完全解决这一问题；其次，在浮动汇率制下，汇率的大幅度波动往往会引起各国关注，进而形成国际间的磋商协调，这在某种程度上反而会加强各国的政策协调。</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951375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lnSpcReduction="10000"/>
          </a:bodyPr>
          <a:lstStyle/>
          <a:p>
            <a:pPr marL="0" lvl="0" indent="0">
              <a:lnSpc>
                <a:spcPct val="120000"/>
              </a:lnSpc>
              <a:buNone/>
            </a:pPr>
            <a:r>
              <a:rPr lang="zh-CN" altLang="en-US" sz="2600" dirty="0">
                <a:solidFill>
                  <a:schemeClr val="accent1"/>
                </a:solidFill>
                <a:latin typeface="微软雅黑" panose="020B0503020204020204" pitchFamily="34" charset="-122"/>
                <a:ea typeface="微软雅黑" panose="020B0503020204020204" pitchFamily="34" charset="-122"/>
              </a:rPr>
              <a:t>二、固定汇率制与浮动汇率制的比较</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就</a:t>
            </a:r>
            <a:r>
              <a:rPr lang="zh-CN" altLang="en-US" sz="2600" dirty="0">
                <a:latin typeface="微软雅黑" panose="020B0503020204020204" pitchFamily="34" charset="-122"/>
                <a:ea typeface="微软雅黑" panose="020B0503020204020204" pitchFamily="34" charset="-122"/>
              </a:rPr>
              <a:t>本质来说，两种汇率制度的比较实际上意味着在内外均衡目标的实现中，对“可信性”（</a:t>
            </a:r>
            <a:r>
              <a:rPr lang="en-US" altLang="zh-CN" sz="2600" dirty="0">
                <a:latin typeface="微软雅黑" panose="020B0503020204020204" pitchFamily="34" charset="-122"/>
                <a:ea typeface="微软雅黑" panose="020B0503020204020204" pitchFamily="34" charset="-122"/>
              </a:rPr>
              <a:t>credibility</a:t>
            </a:r>
            <a:r>
              <a:rPr lang="zh-CN" altLang="en-US" sz="2600" dirty="0">
                <a:latin typeface="微软雅黑" panose="020B0503020204020204" pitchFamily="34" charset="-122"/>
                <a:ea typeface="微软雅黑" panose="020B0503020204020204" pitchFamily="34" charset="-122"/>
              </a:rPr>
              <a:t>）与“灵活性”（</a:t>
            </a:r>
            <a:r>
              <a:rPr lang="en-US" altLang="zh-CN" sz="2600" dirty="0">
                <a:latin typeface="微软雅黑" panose="020B0503020204020204" pitchFamily="34" charset="-122"/>
                <a:ea typeface="微软雅黑" panose="020B0503020204020204" pitchFamily="34" charset="-122"/>
              </a:rPr>
              <a:t>flexibility</a:t>
            </a:r>
            <a:r>
              <a:rPr lang="zh-CN" altLang="en-US" sz="2600" dirty="0">
                <a:latin typeface="微软雅黑" panose="020B0503020204020204" pitchFamily="34" charset="-122"/>
                <a:ea typeface="微软雅黑" panose="020B0503020204020204" pitchFamily="34" charset="-122"/>
              </a:rPr>
              <a:t>）的权衡，这两者常常是不可兼得的。</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这</a:t>
            </a:r>
            <a:r>
              <a:rPr lang="zh-CN" altLang="en-US" sz="2600" dirty="0">
                <a:latin typeface="微软雅黑" panose="020B0503020204020204" pitchFamily="34" charset="-122"/>
                <a:ea typeface="微软雅黑" panose="020B0503020204020204" pitchFamily="34" charset="-122"/>
              </a:rPr>
              <a:t>一争论本身沿着两个方向发展：一个方向是研究什么条件下固定（浮动）汇率制度更合理</a:t>
            </a:r>
            <a:r>
              <a:rPr lang="en-US" altLang="zh-CN" sz="2600" dirty="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最适度货币区理论；一个方向是研究什么样的汇率制度可以较好地结合固定汇率和浮动汇率制度的优点</a:t>
            </a:r>
            <a:r>
              <a:rPr lang="en-US" altLang="zh-CN" sz="2600" dirty="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产生了诸如爬行钉住、汇率目标区等新的汇率制度设计。</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810577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fontScale="92500" lnSpcReduction="20000"/>
          </a:bodyPr>
          <a:lstStyle/>
          <a:p>
            <a:pPr marL="0" lvl="0" indent="0">
              <a:lnSpc>
                <a:spcPct val="130000"/>
              </a:lnSpc>
              <a:buNone/>
            </a:pPr>
            <a:r>
              <a:rPr lang="zh-CN" altLang="en-US" sz="2800" dirty="0">
                <a:solidFill>
                  <a:schemeClr val="accent1"/>
                </a:solidFill>
                <a:latin typeface="微软雅黑" panose="020B0503020204020204" pitchFamily="34" charset="-122"/>
                <a:ea typeface="微软雅黑" panose="020B0503020204020204" pitchFamily="34" charset="-122"/>
              </a:rPr>
              <a:t>二、固定汇率制与浮动汇率制的比较</a:t>
            </a:r>
            <a:endParaRPr lang="en-US" altLang="zh-CN" sz="2800" dirty="0">
              <a:solidFill>
                <a:schemeClr val="accent1"/>
              </a:solidFill>
              <a:latin typeface="微软雅黑" panose="020B0503020204020204" pitchFamily="34" charset="-122"/>
              <a:ea typeface="微软雅黑" panose="020B0503020204020204" pitchFamily="34" charset="-122"/>
            </a:endParaRPr>
          </a:p>
          <a:p>
            <a:pPr marL="0" indent="457200">
              <a:lnSpc>
                <a:spcPct val="100000"/>
              </a:lnSpc>
              <a:buNone/>
            </a:pPr>
            <a:r>
              <a:rPr lang="zh-CN" altLang="en-US" sz="2600" dirty="0" smtClean="0">
                <a:solidFill>
                  <a:schemeClr val="accent1"/>
                </a:solidFill>
                <a:latin typeface="微软雅黑" panose="020B0503020204020204" pitchFamily="34" charset="-122"/>
                <a:ea typeface="微软雅黑" panose="020B0503020204020204" pitchFamily="34" charset="-122"/>
              </a:rPr>
              <a:t>爬行</a:t>
            </a:r>
            <a:r>
              <a:rPr lang="zh-CN" altLang="en-US" sz="2600" dirty="0">
                <a:solidFill>
                  <a:schemeClr val="accent1"/>
                </a:solidFill>
                <a:latin typeface="微软雅黑" panose="020B0503020204020204" pitchFamily="34" charset="-122"/>
                <a:ea typeface="微软雅黑" panose="020B0503020204020204" pitchFamily="34" charset="-122"/>
              </a:rPr>
              <a:t>钉住制</a:t>
            </a:r>
          </a:p>
          <a:p>
            <a:pPr marL="0" indent="457200">
              <a:lnSpc>
                <a:spcPct val="100000"/>
              </a:lnSpc>
              <a:buNone/>
            </a:pPr>
            <a:r>
              <a:rPr lang="en-US" altLang="zh-CN" sz="2600" dirty="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是指该国货币按照某一固定的、事先宣布的幅度或者根据某些量化指标的变化，定期、经常性地、小幅调整的汇率制度</a:t>
            </a:r>
            <a:r>
              <a:rPr lang="zh-CN" altLang="en-US" sz="2600" dirty="0" smtClean="0">
                <a:latin typeface="微软雅黑" panose="020B0503020204020204" pitchFamily="34" charset="-122"/>
                <a:ea typeface="微软雅黑" panose="020B0503020204020204" pitchFamily="34" charset="-122"/>
              </a:rPr>
              <a:t>。</a:t>
            </a:r>
            <a:endParaRPr lang="en-US" altLang="zh-CN" sz="2600" dirty="0" smtClean="0">
              <a:latin typeface="微软雅黑" panose="020B0503020204020204" pitchFamily="34" charset="-122"/>
              <a:ea typeface="微软雅黑" panose="020B0503020204020204" pitchFamily="34" charset="-122"/>
            </a:endParaRPr>
          </a:p>
          <a:p>
            <a:pPr marL="0" indent="457200">
              <a:lnSpc>
                <a:spcPct val="100000"/>
              </a:lnSpc>
              <a:buNone/>
            </a:pPr>
            <a:r>
              <a:rPr lang="en-US" altLang="zh-CN" sz="2600" dirty="0" smtClean="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由于实施国负有维持某种平价的义务，属于固定汇率制这一大类。由于这一平价可以经常、小幅度地调整（例如调整</a:t>
            </a:r>
            <a:r>
              <a:rPr lang="en-US" altLang="zh-CN" sz="2600" dirty="0">
                <a:latin typeface="微软雅黑" panose="020B0503020204020204" pitchFamily="34" charset="-122"/>
                <a:ea typeface="微软雅黑" panose="020B0503020204020204" pitchFamily="34" charset="-122"/>
              </a:rPr>
              <a:t>2</a:t>
            </a:r>
            <a:r>
              <a:rPr lang="zh-CN" altLang="en-US" sz="2600" dirty="0">
                <a:latin typeface="微软雅黑" panose="020B0503020204020204" pitchFamily="34" charset="-122"/>
                <a:ea typeface="微软雅黑" panose="020B0503020204020204" pitchFamily="34" charset="-122"/>
              </a:rPr>
              <a:t>％－</a:t>
            </a:r>
            <a:r>
              <a:rPr lang="en-US" altLang="zh-CN" sz="2600" dirty="0">
                <a:latin typeface="微软雅黑" panose="020B0503020204020204" pitchFamily="34" charset="-122"/>
                <a:ea typeface="微软雅黑" panose="020B0503020204020204" pitchFamily="34" charset="-122"/>
              </a:rPr>
              <a:t>3</a:t>
            </a:r>
            <a:r>
              <a:rPr lang="zh-CN" altLang="en-US" sz="2600" dirty="0">
                <a:latin typeface="微软雅黑" panose="020B0503020204020204" pitchFamily="34" charset="-122"/>
                <a:ea typeface="微软雅黑" panose="020B0503020204020204" pitchFamily="34" charset="-122"/>
              </a:rPr>
              <a:t>％），使它与一般的可调整的钉住制相区别，因为后者的平价调整是偶然的，而且一般幅度很大。</a:t>
            </a:r>
          </a:p>
          <a:p>
            <a:pPr marL="0" indent="457200">
              <a:lnSpc>
                <a:spcPct val="100000"/>
              </a:lnSpc>
              <a:buNone/>
            </a:pPr>
            <a:r>
              <a:rPr lang="en-US" altLang="zh-CN" sz="2600" dirty="0">
                <a:latin typeface="微软雅黑" panose="020B0503020204020204" pitchFamily="34" charset="-122"/>
                <a:ea typeface="微软雅黑" panose="020B0503020204020204" pitchFamily="34" charset="-122"/>
              </a:rPr>
              <a:t>——20</a:t>
            </a:r>
            <a:r>
              <a:rPr lang="zh-CN" altLang="en-US" sz="2600" dirty="0">
                <a:latin typeface="微软雅黑" panose="020B0503020204020204" pitchFamily="34" charset="-122"/>
                <a:ea typeface="微软雅黑" panose="020B0503020204020204" pitchFamily="34" charset="-122"/>
              </a:rPr>
              <a:t>世纪</a:t>
            </a:r>
            <a:r>
              <a:rPr lang="en-US" altLang="zh-CN" sz="2600" dirty="0">
                <a:latin typeface="微软雅黑" panose="020B0503020204020204" pitchFamily="34" charset="-122"/>
                <a:ea typeface="微软雅黑" panose="020B0503020204020204" pitchFamily="34" charset="-122"/>
              </a:rPr>
              <a:t>60</a:t>
            </a:r>
            <a:r>
              <a:rPr lang="zh-CN" altLang="en-US" sz="2600" dirty="0">
                <a:latin typeface="微软雅黑" panose="020B0503020204020204" pitchFamily="34" charset="-122"/>
                <a:ea typeface="微软雅黑" panose="020B0503020204020204" pitchFamily="34" charset="-122"/>
              </a:rPr>
              <a:t>年代盛行于拉美（智利，秘鲁）、韩国等</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4274224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lvl="0" indent="0">
              <a:lnSpc>
                <a:spcPct val="110000"/>
              </a:lnSpc>
              <a:buNone/>
            </a:pPr>
            <a:r>
              <a:rPr lang="zh-CN" altLang="en-US" sz="2600" dirty="0">
                <a:solidFill>
                  <a:schemeClr val="accent1"/>
                </a:solidFill>
                <a:latin typeface="微软雅黑" panose="020B0503020204020204" pitchFamily="34" charset="-122"/>
                <a:ea typeface="微软雅黑" panose="020B0503020204020204" pitchFamily="34" charset="-122"/>
              </a:rPr>
              <a:t>二、固定汇率制与浮动汇率制的比较</a:t>
            </a:r>
          </a:p>
          <a:p>
            <a:pPr marL="0" indent="457200">
              <a:lnSpc>
                <a:spcPct val="100000"/>
              </a:lnSpc>
              <a:buNone/>
            </a:pPr>
            <a:r>
              <a:rPr lang="zh-CN" altLang="en-US" sz="2600" dirty="0" smtClean="0">
                <a:solidFill>
                  <a:schemeClr val="accent1"/>
                </a:solidFill>
                <a:latin typeface="微软雅黑" panose="020B0503020204020204" pitchFamily="34" charset="-122"/>
                <a:ea typeface="微软雅黑" panose="020B0503020204020204" pitchFamily="34" charset="-122"/>
              </a:rPr>
              <a:t>汇率目标区</a:t>
            </a:r>
            <a:endParaRPr lang="zh-CN" altLang="en-US" sz="2600" dirty="0">
              <a:solidFill>
                <a:schemeClr val="accent1"/>
              </a:solidFill>
              <a:latin typeface="微软雅黑" panose="020B0503020204020204" pitchFamily="34" charset="-122"/>
              <a:ea typeface="微软雅黑" panose="020B0503020204020204" pitchFamily="34" charset="-122"/>
            </a:endParaRPr>
          </a:p>
          <a:p>
            <a:pPr marL="0" indent="457200">
              <a:lnSpc>
                <a:spcPct val="100000"/>
              </a:lnSpc>
              <a:buNone/>
            </a:pPr>
            <a:r>
              <a:rPr lang="en-US" altLang="zh-CN" sz="2600" dirty="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泛指将汇率浮动限制在一定区域内（例如中心汇率的上下各</a:t>
            </a:r>
            <a:r>
              <a:rPr lang="en-US" altLang="zh-CN" sz="2600" dirty="0">
                <a:latin typeface="微软雅黑" panose="020B0503020204020204" pitchFamily="34" charset="-122"/>
                <a:ea typeface="微软雅黑" panose="020B0503020204020204" pitchFamily="34" charset="-122"/>
              </a:rPr>
              <a:t>10</a:t>
            </a:r>
            <a:r>
              <a:rPr lang="zh-CN" altLang="en-US" sz="2600" dirty="0">
                <a:latin typeface="微软雅黑" panose="020B0503020204020204" pitchFamily="34" charset="-122"/>
                <a:ea typeface="微软雅黑" panose="020B0503020204020204" pitchFamily="34" charset="-122"/>
              </a:rPr>
              <a:t>％）的汇率制度</a:t>
            </a:r>
            <a:r>
              <a:rPr lang="zh-CN" altLang="en-US" sz="2600" dirty="0" smtClean="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	</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不同</a:t>
            </a:r>
            <a:r>
              <a:rPr lang="zh-CN" altLang="en-US" sz="2600" dirty="0">
                <a:latin typeface="微软雅黑" panose="020B0503020204020204" pitchFamily="34" charset="-122"/>
                <a:ea typeface="微软雅黑" panose="020B0503020204020204" pitchFamily="34" charset="-122"/>
              </a:rPr>
              <a:t>于完全浮动汇率制</a:t>
            </a:r>
            <a:r>
              <a:rPr lang="en-US" altLang="zh-CN" sz="2600" dirty="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中央银行要对外汇市场进行干预使汇率达到期望的水平</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不同</a:t>
            </a:r>
            <a:r>
              <a:rPr lang="zh-CN" altLang="en-US" sz="2600" dirty="0">
                <a:latin typeface="微软雅黑" panose="020B0503020204020204" pitchFamily="34" charset="-122"/>
                <a:ea typeface="微软雅黑" panose="020B0503020204020204" pitchFamily="34" charset="-122"/>
              </a:rPr>
              <a:t>于管理浮动汇率制</a:t>
            </a:r>
            <a:r>
              <a:rPr lang="en-US" altLang="zh-CN" sz="2600" dirty="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中央银行建立了汇率波动的一个目标范围，通过货币政策干预外汇市场使汇率波动落在目标区内</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245182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lvl="0" indent="0">
              <a:lnSpc>
                <a:spcPct val="110000"/>
              </a:lnSpc>
              <a:buNone/>
            </a:pPr>
            <a:r>
              <a:rPr lang="zh-CN" altLang="en-US" sz="2600" dirty="0">
                <a:solidFill>
                  <a:schemeClr val="accent1"/>
                </a:solidFill>
                <a:latin typeface="微软雅黑" panose="020B0503020204020204" pitchFamily="34" charset="-122"/>
                <a:ea typeface="微软雅黑" panose="020B0503020204020204" pitchFamily="34" charset="-122"/>
              </a:rPr>
              <a:t>二、固定汇率制与浮动汇率制的比较</a:t>
            </a:r>
          </a:p>
          <a:p>
            <a:pPr marL="0" indent="457200">
              <a:lnSpc>
                <a:spcPct val="100000"/>
              </a:lnSpc>
              <a:buNone/>
            </a:pPr>
            <a:r>
              <a:rPr lang="zh-CN" altLang="en-US" sz="2600" dirty="0" smtClean="0">
                <a:solidFill>
                  <a:schemeClr val="accent1"/>
                </a:solidFill>
                <a:latin typeface="微软雅黑" panose="020B0503020204020204" pitchFamily="34" charset="-122"/>
                <a:ea typeface="微软雅黑" panose="020B0503020204020204" pitchFamily="34" charset="-122"/>
              </a:rPr>
              <a:t>汇率目标区</a:t>
            </a:r>
            <a:endParaRPr lang="zh-CN" altLang="en-US" sz="2600" dirty="0">
              <a:solidFill>
                <a:schemeClr val="accent1"/>
              </a:solidFill>
              <a:latin typeface="微软雅黑" panose="020B0503020204020204" pitchFamily="34" charset="-122"/>
              <a:ea typeface="微软雅黑" panose="020B0503020204020204" pitchFamily="34" charset="-122"/>
            </a:endParaRPr>
          </a:p>
          <a:p>
            <a:pPr marL="0" indent="457200">
              <a:lnSpc>
                <a:spcPct val="100000"/>
              </a:lnSpc>
              <a:buNone/>
            </a:pPr>
            <a:r>
              <a:rPr lang="zh-CN" altLang="en-US" sz="2600" dirty="0">
                <a:latin typeface="微软雅黑" panose="020B0503020204020204" pitchFamily="34" charset="-122"/>
                <a:ea typeface="微软雅黑" panose="020B0503020204020204" pitchFamily="34" charset="-122"/>
              </a:rPr>
              <a:t>不同于可调整盯住汇率制</a:t>
            </a:r>
            <a:r>
              <a:rPr lang="en-US" altLang="zh-CN" sz="2600" dirty="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中央银行不必有一个在任何情况下干预外汇市场以使汇率在目标区内波动的正式承诺</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不同</a:t>
            </a:r>
            <a:r>
              <a:rPr lang="zh-CN" altLang="en-US" sz="2600" dirty="0">
                <a:latin typeface="微软雅黑" panose="020B0503020204020204" pitchFamily="34" charset="-122"/>
                <a:ea typeface="微软雅黑" panose="020B0503020204020204" pitchFamily="34" charset="-122"/>
              </a:rPr>
              <a:t>于完全盯住汇率制</a:t>
            </a:r>
            <a:r>
              <a:rPr lang="en-US" altLang="zh-CN" sz="2600" dirty="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在必要的时候，目标区也可调整</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428860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fontScale="92500" lnSpcReduction="20000"/>
          </a:bodyPr>
          <a:lstStyle/>
          <a:p>
            <a:pPr marL="0" lv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三、最适货币区理论</a:t>
            </a:r>
          </a:p>
          <a:p>
            <a:pPr marL="0" indent="457200">
              <a:lnSpc>
                <a:spcPct val="110000"/>
              </a:lnSpc>
              <a:buNone/>
            </a:pPr>
            <a:r>
              <a:rPr lang="zh-CN" altLang="en-US" sz="2800" dirty="0">
                <a:latin typeface="微软雅黑" panose="020B0503020204020204" pitchFamily="34" charset="-122"/>
                <a:ea typeface="微软雅黑" panose="020B0503020204020204" pitchFamily="34" charset="-122"/>
              </a:rPr>
              <a:t>所谓货币区指的是：区域内各成员国货币相互保持钉住汇率制，对区外各种货币实行联合浮动。究竟依据什么标准来确定货币区呢？</a:t>
            </a:r>
          </a:p>
          <a:p>
            <a:pPr marL="514350" indent="-514350">
              <a:lnSpc>
                <a:spcPct val="110000"/>
              </a:lnSpc>
              <a:buFont typeface="+mj-lt"/>
              <a:buAutoNum type="arabicPeriod"/>
            </a:pPr>
            <a:r>
              <a:rPr lang="zh-CN" altLang="en-US" sz="2800" dirty="0" smtClean="0">
                <a:solidFill>
                  <a:schemeClr val="accent1"/>
                </a:solidFill>
                <a:latin typeface="微软雅黑" panose="020B0503020204020204" pitchFamily="34" charset="-122"/>
                <a:ea typeface="微软雅黑" panose="020B0503020204020204" pitchFamily="34" charset="-122"/>
              </a:rPr>
              <a:t>要素</a:t>
            </a:r>
            <a:r>
              <a:rPr lang="zh-CN" altLang="en-US" sz="2800" dirty="0">
                <a:solidFill>
                  <a:schemeClr val="accent1"/>
                </a:solidFill>
                <a:latin typeface="微软雅黑" panose="020B0503020204020204" pitchFamily="34" charset="-122"/>
                <a:ea typeface="微软雅黑" panose="020B0503020204020204" pitchFamily="34" charset="-122"/>
              </a:rPr>
              <a:t>流动性分析</a:t>
            </a:r>
            <a:r>
              <a:rPr lang="en-US" altLang="zh-CN" sz="2800" dirty="0">
                <a:solidFill>
                  <a:schemeClr val="accent1"/>
                </a:solidFill>
                <a:latin typeface="微软雅黑" panose="020B0503020204020204" pitchFamily="34" charset="-122"/>
                <a:ea typeface="微软雅黑" panose="020B0503020204020204" pitchFamily="34" charset="-122"/>
              </a:rPr>
              <a:t>——</a:t>
            </a:r>
            <a:r>
              <a:rPr lang="zh-CN" altLang="en-US" sz="2800" dirty="0">
                <a:solidFill>
                  <a:schemeClr val="accent1"/>
                </a:solidFill>
                <a:latin typeface="微软雅黑" panose="020B0503020204020204" pitchFamily="34" charset="-122"/>
                <a:ea typeface="微软雅黑" panose="020B0503020204020204" pitchFamily="34" charset="-122"/>
              </a:rPr>
              <a:t>蒙代尔（</a:t>
            </a:r>
            <a:r>
              <a:rPr lang="en-US" altLang="zh-CN" sz="2800" dirty="0">
                <a:solidFill>
                  <a:schemeClr val="accent1"/>
                </a:solidFill>
                <a:latin typeface="微软雅黑" panose="020B0503020204020204" pitchFamily="34" charset="-122"/>
                <a:ea typeface="微软雅黑" panose="020B0503020204020204" pitchFamily="34" charset="-122"/>
              </a:rPr>
              <a:t>1961</a:t>
            </a:r>
            <a:r>
              <a:rPr lang="zh-CN" altLang="en-US" sz="2800" dirty="0">
                <a:solidFill>
                  <a:schemeClr val="accent1"/>
                </a:solidFill>
                <a:latin typeface="微软雅黑" panose="020B0503020204020204" pitchFamily="34" charset="-122"/>
                <a:ea typeface="微软雅黑" panose="020B0503020204020204" pitchFamily="34" charset="-122"/>
              </a:rPr>
              <a:t>）</a:t>
            </a:r>
          </a:p>
          <a:p>
            <a:pPr marL="0" indent="457200">
              <a:lnSpc>
                <a:spcPct val="110000"/>
              </a:lnSpc>
              <a:buNone/>
            </a:pPr>
            <a:r>
              <a:rPr lang="zh-CN" altLang="en-US" sz="2800" dirty="0" smtClean="0">
                <a:latin typeface="微软雅黑" panose="020B0503020204020204" pitchFamily="34" charset="-122"/>
                <a:ea typeface="微软雅黑" panose="020B0503020204020204" pitchFamily="34" charset="-122"/>
              </a:rPr>
              <a:t>需求</a:t>
            </a:r>
            <a:r>
              <a:rPr lang="zh-CN" altLang="en-US" sz="2800" dirty="0">
                <a:latin typeface="微软雅黑" panose="020B0503020204020204" pitchFamily="34" charset="-122"/>
                <a:ea typeface="微软雅黑" panose="020B0503020204020204" pitchFamily="34" charset="-122"/>
              </a:rPr>
              <a:t>转移是一国出现外部失衡的主要原因。调节需求转移的机制是汇率或生产要素流动。生产要素流动性与汇率的弹性具有相互替代的作用。生产要素流动性越高的国家，越适宜组成货币区；而与国外生产要素隔绝越大的国家，则越适宜组成单独的货币区，实行浮动汇率制。</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921913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lv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三、最适货币区理论</a:t>
            </a:r>
          </a:p>
          <a:p>
            <a:pPr marL="514350" indent="-514350">
              <a:lnSpc>
                <a:spcPct val="110000"/>
              </a:lnSpc>
              <a:buFont typeface="+mj-lt"/>
              <a:buAutoNum type="arabicPeriod" startAt="2"/>
            </a:pPr>
            <a:r>
              <a:rPr lang="zh-CN" altLang="en-US" sz="2800" dirty="0">
                <a:solidFill>
                  <a:schemeClr val="accent1"/>
                </a:solidFill>
                <a:latin typeface="微软雅黑" panose="020B0503020204020204" pitchFamily="34" charset="-122"/>
                <a:ea typeface="微软雅黑" panose="020B0503020204020204" pitchFamily="34" charset="-122"/>
              </a:rPr>
              <a:t>经济开放性分析</a:t>
            </a:r>
            <a:r>
              <a:rPr lang="en-US" altLang="zh-CN" sz="2800" dirty="0">
                <a:solidFill>
                  <a:schemeClr val="accent1"/>
                </a:solidFill>
                <a:latin typeface="微软雅黑" panose="020B0503020204020204" pitchFamily="34" charset="-122"/>
                <a:ea typeface="微软雅黑" panose="020B0503020204020204" pitchFamily="34" charset="-122"/>
              </a:rPr>
              <a:t>——</a:t>
            </a:r>
            <a:r>
              <a:rPr lang="zh-CN" altLang="en-US" sz="2800" dirty="0">
                <a:solidFill>
                  <a:schemeClr val="accent1"/>
                </a:solidFill>
                <a:latin typeface="微软雅黑" panose="020B0503020204020204" pitchFamily="34" charset="-122"/>
                <a:ea typeface="微软雅黑" panose="020B0503020204020204" pitchFamily="34" charset="-122"/>
              </a:rPr>
              <a:t>麦金农（</a:t>
            </a:r>
            <a:r>
              <a:rPr lang="en-US" altLang="zh-CN" sz="2800" dirty="0">
                <a:solidFill>
                  <a:schemeClr val="accent1"/>
                </a:solidFill>
                <a:latin typeface="微软雅黑" panose="020B0503020204020204" pitchFamily="34" charset="-122"/>
                <a:ea typeface="微软雅黑" panose="020B0503020204020204" pitchFamily="34" charset="-122"/>
              </a:rPr>
              <a:t>1963</a:t>
            </a:r>
            <a:r>
              <a:rPr lang="zh-CN" altLang="en-US" sz="2800" dirty="0" smtClean="0">
                <a:solidFill>
                  <a:schemeClr val="accent1"/>
                </a:solidFill>
                <a:latin typeface="微软雅黑" panose="020B0503020204020204" pitchFamily="34" charset="-122"/>
                <a:ea typeface="微软雅黑" panose="020B0503020204020204" pitchFamily="34" charset="-122"/>
              </a:rPr>
              <a:t>）</a:t>
            </a:r>
            <a:endParaRPr lang="zh-CN" altLang="en-US" sz="2800" dirty="0">
              <a:solidFill>
                <a:schemeClr val="accent1"/>
              </a:solidFill>
              <a:latin typeface="微软雅黑" panose="020B0503020204020204" pitchFamily="34" charset="-122"/>
              <a:ea typeface="微软雅黑" panose="020B0503020204020204" pitchFamily="34" charset="-122"/>
            </a:endParaRPr>
          </a:p>
          <a:p>
            <a:pPr marL="0" indent="457200">
              <a:lnSpc>
                <a:spcPct val="110000"/>
              </a:lnSpc>
              <a:buNone/>
            </a:pPr>
            <a:r>
              <a:rPr lang="zh-CN" altLang="en-US" sz="2400" dirty="0">
                <a:latin typeface="微软雅黑" panose="020B0503020204020204" pitchFamily="34" charset="-122"/>
                <a:ea typeface="微软雅黑" panose="020B0503020204020204" pitchFamily="34" charset="-122"/>
              </a:rPr>
              <a:t>他将社会总产品区分为可贸易商品和不可贸易商品，经济开放性与可贸易商品的比重成正相关关系，该比重越高，经济越开放；经济开放程度越高，越应实行固定汇率制。他认为，一个经济高度开放的小国难以采用浮动汇率的理由是：由于经济高度开放，市场汇率稍有波动，就会引起国内物价的剧烈波动，物价变化会抵消汇率变化对贸易收支的影响。</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543670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lv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三、最适货币区理论</a:t>
            </a:r>
          </a:p>
          <a:p>
            <a:pPr marL="514350" indent="-514350">
              <a:lnSpc>
                <a:spcPct val="110000"/>
              </a:lnSpc>
              <a:buFont typeface="+mj-lt"/>
              <a:buAutoNum type="arabicPeriod" startAt="3"/>
            </a:pPr>
            <a:r>
              <a:rPr lang="zh-CN" altLang="en-US" sz="2800" dirty="0">
                <a:solidFill>
                  <a:schemeClr val="accent1"/>
                </a:solidFill>
                <a:latin typeface="微软雅黑" panose="020B0503020204020204" pitchFamily="34" charset="-122"/>
                <a:ea typeface="微软雅黑" panose="020B0503020204020204" pitchFamily="34" charset="-122"/>
              </a:rPr>
              <a:t>赫勒对影响汇率制度选择因素的</a:t>
            </a:r>
            <a:r>
              <a:rPr lang="zh-CN" altLang="en-US" sz="2800" dirty="0" smtClean="0">
                <a:solidFill>
                  <a:schemeClr val="accent1"/>
                </a:solidFill>
                <a:latin typeface="微软雅黑" panose="020B0503020204020204" pitchFamily="34" charset="-122"/>
                <a:ea typeface="微软雅黑" panose="020B0503020204020204" pitchFamily="34" charset="-122"/>
              </a:rPr>
              <a:t>总结</a:t>
            </a:r>
            <a:endParaRPr lang="zh-CN" altLang="en-US" sz="2800" dirty="0">
              <a:solidFill>
                <a:schemeClr val="accent1"/>
              </a:solidFill>
              <a:latin typeface="微软雅黑" panose="020B0503020204020204" pitchFamily="34" charset="-122"/>
              <a:ea typeface="微软雅黑" panose="020B0503020204020204" pitchFamily="34" charset="-122"/>
            </a:endParaRPr>
          </a:p>
          <a:p>
            <a:pPr marL="0" indent="457200">
              <a:lnSpc>
                <a:spcPct val="110000"/>
              </a:lnSpc>
              <a:buNone/>
            </a:pPr>
            <a:r>
              <a:rPr lang="zh-CN" altLang="en-US" sz="2400" dirty="0">
                <a:latin typeface="微软雅黑" panose="020B0503020204020204" pitchFamily="34" charset="-122"/>
                <a:ea typeface="微软雅黑" panose="020B0503020204020204" pitchFamily="34" charset="-122"/>
              </a:rPr>
              <a:t>经济开放程度</a:t>
            </a:r>
          </a:p>
          <a:p>
            <a:pPr marL="0" indent="457200">
              <a:lnSpc>
                <a:spcPct val="110000"/>
              </a:lnSpc>
              <a:buNone/>
            </a:pPr>
            <a:r>
              <a:rPr lang="zh-CN" altLang="en-US" sz="2400" dirty="0" smtClean="0">
                <a:latin typeface="微软雅黑" panose="020B0503020204020204" pitchFamily="34" charset="-122"/>
                <a:ea typeface="微软雅黑" panose="020B0503020204020204" pitchFamily="34" charset="-122"/>
              </a:rPr>
              <a:t>经济</a:t>
            </a:r>
            <a:r>
              <a:rPr lang="zh-CN" altLang="en-US" sz="2400" dirty="0">
                <a:latin typeface="微软雅黑" panose="020B0503020204020204" pitchFamily="34" charset="-122"/>
                <a:ea typeface="微软雅黑" panose="020B0503020204020204" pitchFamily="34" charset="-122"/>
              </a:rPr>
              <a:t>规模</a:t>
            </a:r>
          </a:p>
          <a:p>
            <a:pPr marL="0" indent="457200">
              <a:lnSpc>
                <a:spcPct val="110000"/>
              </a:lnSpc>
              <a:buNone/>
            </a:pPr>
            <a:r>
              <a:rPr lang="zh-CN" altLang="en-US" sz="2400" dirty="0" smtClean="0">
                <a:latin typeface="微软雅黑" panose="020B0503020204020204" pitchFamily="34" charset="-122"/>
                <a:ea typeface="微软雅黑" panose="020B0503020204020204" pitchFamily="34" charset="-122"/>
              </a:rPr>
              <a:t>进出口</a:t>
            </a:r>
            <a:r>
              <a:rPr lang="zh-CN" altLang="en-US" sz="2400" dirty="0">
                <a:latin typeface="微软雅黑" panose="020B0503020204020204" pitchFamily="34" charset="-122"/>
                <a:ea typeface="微软雅黑" panose="020B0503020204020204" pitchFamily="34" charset="-122"/>
              </a:rPr>
              <a:t>贸易的商品结构和地域分布</a:t>
            </a:r>
          </a:p>
          <a:p>
            <a:pPr marL="0" indent="457200">
              <a:lnSpc>
                <a:spcPct val="110000"/>
              </a:lnSpc>
              <a:buNone/>
            </a:pPr>
            <a:r>
              <a:rPr lang="zh-CN" altLang="en-US" sz="2400" dirty="0" smtClean="0">
                <a:latin typeface="微软雅黑" panose="020B0503020204020204" pitchFamily="34" charset="-122"/>
                <a:ea typeface="微软雅黑" panose="020B0503020204020204" pitchFamily="34" charset="-122"/>
              </a:rPr>
              <a:t>国内</a:t>
            </a:r>
            <a:r>
              <a:rPr lang="zh-CN" altLang="en-US" sz="2400" dirty="0">
                <a:latin typeface="微软雅黑" panose="020B0503020204020204" pitchFamily="34" charset="-122"/>
                <a:ea typeface="微软雅黑" panose="020B0503020204020204" pitchFamily="34" charset="-122"/>
              </a:rPr>
              <a:t>金融市场的发达程度及其与国际金融市场的一体程度</a:t>
            </a:r>
          </a:p>
          <a:p>
            <a:pPr marL="0" indent="457200">
              <a:lnSpc>
                <a:spcPct val="110000"/>
              </a:lnSpc>
              <a:buNone/>
            </a:pPr>
            <a:r>
              <a:rPr lang="zh-CN" altLang="en-US" sz="2400" dirty="0" smtClean="0">
                <a:latin typeface="微软雅黑" panose="020B0503020204020204" pitchFamily="34" charset="-122"/>
                <a:ea typeface="微软雅黑" panose="020B0503020204020204" pitchFamily="34" charset="-122"/>
              </a:rPr>
              <a:t>相对</a:t>
            </a:r>
            <a:r>
              <a:rPr lang="zh-CN" altLang="en-US" sz="2400" dirty="0">
                <a:latin typeface="微软雅黑" panose="020B0503020204020204" pitchFamily="34" charset="-122"/>
                <a:ea typeface="微软雅黑" panose="020B0503020204020204" pitchFamily="34" charset="-122"/>
              </a:rPr>
              <a:t>的通货膨胀率</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899019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fontScale="92500" lnSpcReduction="10000"/>
          </a:bodyPr>
          <a:lstStyle/>
          <a:p>
            <a:pPr marL="0" lv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四、汇率选择理论的新发展</a:t>
            </a:r>
          </a:p>
          <a:p>
            <a:pPr marL="514350" indent="-514350">
              <a:lnSpc>
                <a:spcPct val="110000"/>
              </a:lnSpc>
              <a:buFont typeface="+mj-lt"/>
              <a:buAutoNum type="arabicPeriod"/>
            </a:pPr>
            <a:r>
              <a:rPr lang="zh-CN" altLang="en-US" sz="2800" dirty="0">
                <a:solidFill>
                  <a:schemeClr val="accent1"/>
                </a:solidFill>
                <a:latin typeface="微软雅黑" panose="020B0503020204020204" pitchFamily="34" charset="-122"/>
                <a:ea typeface="微软雅黑" panose="020B0503020204020204" pitchFamily="34" charset="-122"/>
              </a:rPr>
              <a:t>原罪论（</a:t>
            </a:r>
            <a:r>
              <a:rPr lang="en-US" altLang="zh-CN" sz="2800" dirty="0">
                <a:solidFill>
                  <a:schemeClr val="accent1"/>
                </a:solidFill>
                <a:latin typeface="微软雅黑" panose="020B0503020204020204" pitchFamily="34" charset="-122"/>
                <a:ea typeface="微软雅黑" panose="020B0503020204020204" pitchFamily="34" charset="-122"/>
              </a:rPr>
              <a:t>doctrine of the original sin</a:t>
            </a:r>
            <a:r>
              <a:rPr lang="zh-CN" altLang="en-US" sz="2800" dirty="0">
                <a:solidFill>
                  <a:schemeClr val="accent1"/>
                </a:solidFill>
                <a:latin typeface="微软雅黑" panose="020B0503020204020204" pitchFamily="34" charset="-122"/>
                <a:ea typeface="微软雅黑" panose="020B0503020204020204" pitchFamily="34" charset="-122"/>
              </a:rPr>
              <a:t>）</a:t>
            </a:r>
          </a:p>
          <a:p>
            <a:pPr marL="0" indent="457200">
              <a:lnSpc>
                <a:spcPct val="110000"/>
              </a:lnSpc>
              <a:buNone/>
            </a:pPr>
            <a:r>
              <a:rPr lang="zh-CN" altLang="en-US" sz="2600" dirty="0">
                <a:latin typeface="微软雅黑" panose="020B0503020204020204" pitchFamily="34" charset="-122"/>
                <a:ea typeface="微软雅黑" panose="020B0503020204020204" pitchFamily="34" charset="-122"/>
              </a:rPr>
              <a:t>原罪是指这样一种状况：一国的货币不能用于国际借贷，甚至在本国市场上，也不能用本币进行长期借贷。因此，一国的国内投资不是出现货币错配，便是出现期限错配。这不仅仅是由于该国货币不可兑换，而且更是由于该国金融市场发展不完全。</a:t>
            </a:r>
          </a:p>
          <a:p>
            <a:pPr marL="0" indent="457200">
              <a:lnSpc>
                <a:spcPct val="110000"/>
              </a:lnSpc>
              <a:buNone/>
            </a:pPr>
            <a:r>
              <a:rPr lang="zh-CN" altLang="en-US" sz="2600" dirty="0" smtClean="0">
                <a:latin typeface="微软雅黑" panose="020B0503020204020204" pitchFamily="34" charset="-122"/>
                <a:ea typeface="微软雅黑" panose="020B0503020204020204" pitchFamily="34" charset="-122"/>
              </a:rPr>
              <a:t>这种</a:t>
            </a:r>
            <a:r>
              <a:rPr lang="zh-CN" altLang="en-US" sz="2600" dirty="0">
                <a:latin typeface="微软雅黑" panose="020B0503020204020204" pitchFamily="34" charset="-122"/>
                <a:ea typeface="微软雅黑" panose="020B0503020204020204" pitchFamily="34" charset="-122"/>
              </a:rPr>
              <a:t>“原罪”的直接后果是：汇率或利率稍有波动，便会有一批企业应声倒地，进而银行也被拖入。于是整个金融体系变得十分脆弱。</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1555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fontScale="85000" lnSpcReduction="20000"/>
          </a:bodyPr>
          <a:lstStyle/>
          <a:p>
            <a:pPr marL="0" lv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四、汇率选择理论的新发展</a:t>
            </a:r>
          </a:p>
          <a:p>
            <a:pPr marL="514350" indent="-514350">
              <a:lnSpc>
                <a:spcPct val="110000"/>
              </a:lnSpc>
              <a:buFont typeface="+mj-lt"/>
              <a:buAutoNum type="arabicPeriod"/>
            </a:pPr>
            <a:r>
              <a:rPr lang="zh-CN" altLang="en-US" sz="2800" dirty="0">
                <a:solidFill>
                  <a:schemeClr val="accent1"/>
                </a:solidFill>
                <a:latin typeface="微软雅黑" panose="020B0503020204020204" pitchFamily="34" charset="-122"/>
                <a:ea typeface="微软雅黑" panose="020B0503020204020204" pitchFamily="34" charset="-122"/>
              </a:rPr>
              <a:t>原罪论（</a:t>
            </a:r>
            <a:r>
              <a:rPr lang="en-US" altLang="zh-CN" sz="2800" dirty="0">
                <a:solidFill>
                  <a:schemeClr val="accent1"/>
                </a:solidFill>
                <a:latin typeface="微软雅黑" panose="020B0503020204020204" pitchFamily="34" charset="-122"/>
                <a:ea typeface="微软雅黑" panose="020B0503020204020204" pitchFamily="34" charset="-122"/>
              </a:rPr>
              <a:t>doctrine of the original sin</a:t>
            </a:r>
            <a:r>
              <a:rPr lang="zh-CN" altLang="en-US" sz="2800" dirty="0">
                <a:solidFill>
                  <a:schemeClr val="accent1"/>
                </a:solidFill>
                <a:latin typeface="微软雅黑" panose="020B0503020204020204" pitchFamily="34" charset="-122"/>
                <a:ea typeface="微软雅黑" panose="020B0503020204020204" pitchFamily="34" charset="-122"/>
              </a:rPr>
              <a:t>）</a:t>
            </a:r>
          </a:p>
          <a:p>
            <a:pPr marL="0" indent="457200">
              <a:lnSpc>
                <a:spcPct val="110000"/>
              </a:lnSpc>
              <a:buNone/>
            </a:pPr>
            <a:r>
              <a:rPr lang="zh-CN" altLang="en-US" sz="2800" dirty="0">
                <a:latin typeface="微软雅黑" panose="020B0503020204020204" pitchFamily="34" charset="-122"/>
                <a:ea typeface="微软雅黑" panose="020B0503020204020204" pitchFamily="34" charset="-122"/>
              </a:rPr>
              <a:t>这一理论揭示了，为何与发达国家相比，发展中国家较易发生金融危机。非常关键的是，货币和期限的错配之所以出现，不一定是因为公司和银行不谨慎。</a:t>
            </a:r>
          </a:p>
          <a:p>
            <a:pPr marL="514350" indent="-514350">
              <a:lnSpc>
                <a:spcPct val="110000"/>
              </a:lnSpc>
              <a:buFont typeface="+mj-lt"/>
              <a:buAutoNum type="arabicPeriod" startAt="2"/>
            </a:pPr>
            <a:r>
              <a:rPr lang="zh-CN" altLang="en-US" sz="2800" dirty="0">
                <a:solidFill>
                  <a:schemeClr val="accent1"/>
                </a:solidFill>
                <a:latin typeface="微软雅黑" panose="020B0503020204020204" pitchFamily="34" charset="-122"/>
                <a:ea typeface="微软雅黑" panose="020B0503020204020204" pitchFamily="34" charset="-122"/>
              </a:rPr>
              <a:t>害怕浮动论</a:t>
            </a:r>
            <a:r>
              <a:rPr lang="en-US" altLang="zh-CN" sz="2800" dirty="0">
                <a:solidFill>
                  <a:schemeClr val="accent1"/>
                </a:solidFill>
                <a:latin typeface="微软雅黑" panose="020B0503020204020204" pitchFamily="34" charset="-122"/>
                <a:ea typeface="微软雅黑" panose="020B0503020204020204" pitchFamily="34" charset="-122"/>
              </a:rPr>
              <a:t>(fear of floating) </a:t>
            </a:r>
          </a:p>
          <a:p>
            <a:pPr marL="0" indent="457200">
              <a:lnSpc>
                <a:spcPct val="110000"/>
              </a:lnSpc>
              <a:buNone/>
            </a:pPr>
            <a:r>
              <a:rPr lang="zh-CN" altLang="en-US" sz="2800" dirty="0" smtClean="0">
                <a:latin typeface="微软雅黑" panose="020B0503020204020204" pitchFamily="34" charset="-122"/>
                <a:ea typeface="微软雅黑" panose="020B0503020204020204" pitchFamily="34" charset="-122"/>
              </a:rPr>
              <a:t>由</a:t>
            </a:r>
            <a:r>
              <a:rPr lang="en-US" altLang="zh-CN" sz="2800" dirty="0">
                <a:latin typeface="微软雅黑" panose="020B0503020204020204" pitchFamily="34" charset="-122"/>
                <a:ea typeface="微软雅黑" panose="020B0503020204020204" pitchFamily="34" charset="-122"/>
              </a:rPr>
              <a:t>Calvo</a:t>
            </a:r>
            <a:r>
              <a:rPr lang="zh-CN" altLang="en-US" sz="2800" dirty="0">
                <a:latin typeface="微软雅黑" panose="020B0503020204020204" pitchFamily="34" charset="-122"/>
                <a:ea typeface="微软雅黑" panose="020B0503020204020204" pitchFamily="34" charset="-122"/>
              </a:rPr>
              <a:t>和</a:t>
            </a:r>
            <a:r>
              <a:rPr lang="en-US" altLang="zh-CN" sz="2800" dirty="0">
                <a:latin typeface="微软雅黑" panose="020B0503020204020204" pitchFamily="34" charset="-122"/>
                <a:ea typeface="微软雅黑" panose="020B0503020204020204" pitchFamily="34" charset="-122"/>
              </a:rPr>
              <a:t>Reinhart(2000)</a:t>
            </a:r>
            <a:r>
              <a:rPr lang="zh-CN" altLang="en-US" sz="2800" dirty="0">
                <a:latin typeface="微软雅黑" panose="020B0503020204020204" pitchFamily="34" charset="-122"/>
                <a:ea typeface="微软雅黑" panose="020B0503020204020204" pitchFamily="34" charset="-122"/>
              </a:rPr>
              <a:t>提出。“害怕浮动”指这样一种现象：一些归类为实行弹性汇率制的国家，却将其汇率维持在对某一货币</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通常为美元</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的一个狭小幅度内，这反映了这些国家对大规模的汇率波动存在一种长期的害怕。</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05490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fontScale="85000" lnSpcReduction="10000"/>
          </a:bodyPr>
          <a:lstStyle/>
          <a:p>
            <a:pPr marL="0" lv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四、汇率选择理论的新发展</a:t>
            </a:r>
          </a:p>
          <a:p>
            <a:pPr marL="514350" indent="-514350">
              <a:lnSpc>
                <a:spcPct val="110000"/>
              </a:lnSpc>
              <a:buFont typeface="+mj-lt"/>
              <a:buAutoNum type="arabicPeriod" startAt="2"/>
            </a:pPr>
            <a:r>
              <a:rPr lang="zh-CN" altLang="en-US" sz="2800" dirty="0" smtClean="0">
                <a:solidFill>
                  <a:schemeClr val="accent1"/>
                </a:solidFill>
                <a:latin typeface="微软雅黑" panose="020B0503020204020204" pitchFamily="34" charset="-122"/>
                <a:ea typeface="微软雅黑" panose="020B0503020204020204" pitchFamily="34" charset="-122"/>
              </a:rPr>
              <a:t>害怕</a:t>
            </a:r>
            <a:r>
              <a:rPr lang="zh-CN" altLang="en-US" sz="2800" dirty="0">
                <a:solidFill>
                  <a:schemeClr val="accent1"/>
                </a:solidFill>
                <a:latin typeface="微软雅黑" panose="020B0503020204020204" pitchFamily="34" charset="-122"/>
                <a:ea typeface="微软雅黑" panose="020B0503020204020204" pitchFamily="34" charset="-122"/>
              </a:rPr>
              <a:t>浮动论</a:t>
            </a:r>
            <a:r>
              <a:rPr lang="en-US" altLang="zh-CN" sz="2800" dirty="0">
                <a:solidFill>
                  <a:schemeClr val="accent1"/>
                </a:solidFill>
                <a:latin typeface="微软雅黑" panose="020B0503020204020204" pitchFamily="34" charset="-122"/>
                <a:ea typeface="微软雅黑" panose="020B0503020204020204" pitchFamily="34" charset="-122"/>
              </a:rPr>
              <a:t>(fear of floating) </a:t>
            </a:r>
          </a:p>
          <a:p>
            <a:pPr marL="0" indent="457200">
              <a:lnSpc>
                <a:spcPct val="110000"/>
              </a:lnSpc>
              <a:buNone/>
            </a:pPr>
            <a:r>
              <a:rPr lang="zh-CN" altLang="en-US" sz="2800" dirty="0">
                <a:latin typeface="微软雅黑" panose="020B0503020204020204" pitchFamily="34" charset="-122"/>
                <a:ea typeface="微软雅黑" panose="020B0503020204020204" pitchFamily="34" charset="-122"/>
              </a:rPr>
              <a:t>“害怕论”的主要发现是：那些声称允许其货币自由浮动的国家，实际上其货币大部分并未能真正浮动。这些国家实际观察到的汇率变动率相当低，并不是因为这些经济体未受到实际或名义的冲击。这种很低的汇率可变动性，是由政策行动有意识地造成的，因它们的国际储备的变动性相当高，</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名义和实际</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利率的变动性异乎寻常地高。害怕浮动的现象非常普遍深入，甚至在一部分发达国家中也存在。</a:t>
            </a:r>
          </a:p>
          <a:p>
            <a:pPr marL="0" indent="457200">
              <a:lnSpc>
                <a:spcPct val="110000"/>
              </a:lnSpc>
              <a:buNone/>
            </a:pPr>
            <a:r>
              <a:rPr lang="zh-CN" altLang="en-US" sz="2800" dirty="0" smtClean="0">
                <a:latin typeface="微软雅黑" panose="020B0503020204020204" pitchFamily="34" charset="-122"/>
                <a:ea typeface="微软雅黑" panose="020B0503020204020204" pitchFamily="34" charset="-122"/>
              </a:rPr>
              <a:t>“害怕浮动”</a:t>
            </a:r>
            <a:r>
              <a:rPr lang="zh-CN" altLang="en-US" sz="2800" dirty="0">
                <a:latin typeface="微软雅黑" panose="020B0503020204020204" pitchFamily="34" charset="-122"/>
                <a:ea typeface="微软雅黑" panose="020B0503020204020204" pitchFamily="34" charset="-122"/>
              </a:rPr>
              <a:t>的原因有多种。</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696303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lv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四、汇率选择理论的新发展</a:t>
            </a:r>
          </a:p>
          <a:p>
            <a:pPr marL="514350" indent="-514350">
              <a:lnSpc>
                <a:spcPct val="110000"/>
              </a:lnSpc>
              <a:buFont typeface="+mj-lt"/>
              <a:buAutoNum type="arabicPeriod" startAt="2"/>
            </a:pPr>
            <a:r>
              <a:rPr lang="zh-CN" altLang="en-US" sz="2800" dirty="0" smtClean="0">
                <a:solidFill>
                  <a:schemeClr val="accent1"/>
                </a:solidFill>
                <a:latin typeface="微软雅黑" panose="020B0503020204020204" pitchFamily="34" charset="-122"/>
                <a:ea typeface="微软雅黑" panose="020B0503020204020204" pitchFamily="34" charset="-122"/>
              </a:rPr>
              <a:t>害怕</a:t>
            </a:r>
            <a:r>
              <a:rPr lang="zh-CN" altLang="en-US" sz="2800" dirty="0">
                <a:solidFill>
                  <a:schemeClr val="accent1"/>
                </a:solidFill>
                <a:latin typeface="微软雅黑" panose="020B0503020204020204" pitchFamily="34" charset="-122"/>
                <a:ea typeface="微软雅黑" panose="020B0503020204020204" pitchFamily="34" charset="-122"/>
              </a:rPr>
              <a:t>浮动论</a:t>
            </a:r>
            <a:r>
              <a:rPr lang="en-US" altLang="zh-CN" sz="2800" dirty="0">
                <a:solidFill>
                  <a:schemeClr val="accent1"/>
                </a:solidFill>
                <a:latin typeface="微软雅黑" panose="020B0503020204020204" pitchFamily="34" charset="-122"/>
                <a:ea typeface="微软雅黑" panose="020B0503020204020204" pitchFamily="34" charset="-122"/>
              </a:rPr>
              <a:t>(fear of floating) </a:t>
            </a:r>
          </a:p>
          <a:p>
            <a:pPr marL="0" indent="457200">
              <a:lnSpc>
                <a:spcPct val="110000"/>
              </a:lnSpc>
              <a:buNone/>
            </a:pPr>
            <a:r>
              <a:rPr lang="en-US" altLang="zh-CN" sz="2400" dirty="0">
                <a:latin typeface="微软雅黑" panose="020B0503020204020204" pitchFamily="34" charset="-122"/>
                <a:ea typeface="微软雅黑" panose="020B0503020204020204" pitchFamily="34" charset="-122"/>
              </a:rPr>
              <a:t>Calvo</a:t>
            </a:r>
            <a:r>
              <a:rPr lang="zh-CN" altLang="en-US" sz="2400" dirty="0">
                <a:latin typeface="微软雅黑" panose="020B0503020204020204" pitchFamily="34" charset="-122"/>
                <a:ea typeface="微软雅黑" panose="020B0503020204020204" pitchFamily="34" charset="-122"/>
              </a:rPr>
              <a:t>和</a:t>
            </a:r>
            <a:r>
              <a:rPr lang="en-US" altLang="zh-CN" sz="2400" dirty="0">
                <a:latin typeface="微软雅黑" panose="020B0503020204020204" pitchFamily="34" charset="-122"/>
                <a:ea typeface="微软雅黑" panose="020B0503020204020204" pitchFamily="34" charset="-122"/>
              </a:rPr>
              <a:t>Reinhart(2000)</a:t>
            </a:r>
            <a:r>
              <a:rPr lang="zh-CN" altLang="en-US" sz="2400" dirty="0">
                <a:latin typeface="微软雅黑" panose="020B0503020204020204" pitchFamily="34" charset="-122"/>
                <a:ea typeface="微软雅黑" panose="020B0503020204020204" pitchFamily="34" charset="-122"/>
              </a:rPr>
              <a:t>还证明，在新兴市场国家中，汇率变动对贸易的影响，比在发达国家中要大得多。贬值通过国内物价而传递到国内通货膨胀的程度也高出许多。这些也是新兴经济体不愿汇率波动，特别是贬值的重要原因。</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045372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lv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四、汇率选择理论的新发展</a:t>
            </a:r>
          </a:p>
          <a:p>
            <a:pPr marL="514350" indent="-514350">
              <a:lnSpc>
                <a:spcPct val="110000"/>
              </a:lnSpc>
              <a:buFont typeface="+mj-lt"/>
              <a:buAutoNum type="arabicPeriod" startAt="3"/>
            </a:pPr>
            <a:r>
              <a:rPr lang="zh-CN" altLang="en-US" sz="2800" dirty="0">
                <a:solidFill>
                  <a:schemeClr val="accent1"/>
                </a:solidFill>
                <a:latin typeface="微软雅黑" panose="020B0503020204020204" pitchFamily="34" charset="-122"/>
                <a:ea typeface="微软雅黑" panose="020B0503020204020204" pitchFamily="34" charset="-122"/>
              </a:rPr>
              <a:t>两级论（中间制度消失论）</a:t>
            </a:r>
            <a:r>
              <a:rPr lang="en-US" altLang="zh-CN" sz="2800" dirty="0">
                <a:solidFill>
                  <a:schemeClr val="accent1"/>
                </a:solidFill>
                <a:latin typeface="微软雅黑" panose="020B0503020204020204" pitchFamily="34" charset="-122"/>
                <a:ea typeface="微软雅黑" panose="020B0503020204020204" pitchFamily="34" charset="-122"/>
              </a:rPr>
              <a:t>(the two poles</a:t>
            </a:r>
            <a:r>
              <a:rPr lang="zh-CN" altLang="en-US" sz="2800" dirty="0">
                <a:solidFill>
                  <a:schemeClr val="accent1"/>
                </a:solidFill>
                <a:latin typeface="微软雅黑" panose="020B0503020204020204" pitchFamily="34" charset="-122"/>
                <a:ea typeface="微软雅黑" panose="020B0503020204020204" pitchFamily="34" charset="-122"/>
              </a:rPr>
              <a:t>，或</a:t>
            </a:r>
            <a:r>
              <a:rPr lang="en-US" altLang="zh-CN" sz="2800" dirty="0">
                <a:solidFill>
                  <a:schemeClr val="accent1"/>
                </a:solidFill>
                <a:latin typeface="微软雅黑" panose="020B0503020204020204" pitchFamily="34" charset="-122"/>
                <a:ea typeface="微软雅黑" panose="020B0503020204020204" pitchFamily="34" charset="-122"/>
              </a:rPr>
              <a:t>hypothesis of the vanishing intermediate regime ) </a:t>
            </a:r>
          </a:p>
          <a:p>
            <a:pPr marL="0" indent="457200">
              <a:lnSpc>
                <a:spcPct val="110000"/>
              </a:lnSpc>
              <a:buNone/>
            </a:pPr>
            <a:r>
              <a:rPr lang="zh-CN" altLang="en-US" sz="2400" dirty="0">
                <a:latin typeface="微软雅黑" panose="020B0503020204020204" pitchFamily="34" charset="-122"/>
                <a:ea typeface="微软雅黑" panose="020B0503020204020204" pitchFamily="34" charset="-122"/>
              </a:rPr>
              <a:t>“两极论”或“中间制度消失论”的要点是，在金融开放环境中，适合于发展中国家的汇率制度只有自由浮动汇率制和具有非常强硬承诺机制的固定汇率制度；介于两者之间的中间性汇率制度正在消失或应当消失，形成所谓“空缺的中部”。</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851918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lv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四、汇率选择理论的新发展</a:t>
            </a:r>
          </a:p>
          <a:p>
            <a:pPr marL="514350" indent="-514350">
              <a:lnSpc>
                <a:spcPct val="110000"/>
              </a:lnSpc>
              <a:buFont typeface="+mj-lt"/>
              <a:buAutoNum type="arabicPeriod" startAt="3"/>
            </a:pPr>
            <a:r>
              <a:rPr lang="zh-CN" altLang="en-US" sz="2800" dirty="0">
                <a:solidFill>
                  <a:schemeClr val="accent1"/>
                </a:solidFill>
                <a:latin typeface="微软雅黑" panose="020B0503020204020204" pitchFamily="34" charset="-122"/>
                <a:ea typeface="微软雅黑" panose="020B0503020204020204" pitchFamily="34" charset="-122"/>
              </a:rPr>
              <a:t>两级论（中间制度消失论）</a:t>
            </a:r>
            <a:r>
              <a:rPr lang="en-US" altLang="zh-CN" sz="2800" dirty="0">
                <a:solidFill>
                  <a:schemeClr val="accent1"/>
                </a:solidFill>
                <a:latin typeface="微软雅黑" panose="020B0503020204020204" pitchFamily="34" charset="-122"/>
                <a:ea typeface="微软雅黑" panose="020B0503020204020204" pitchFamily="34" charset="-122"/>
              </a:rPr>
              <a:t>(the two poles</a:t>
            </a:r>
            <a:r>
              <a:rPr lang="zh-CN" altLang="en-US" sz="2800" dirty="0">
                <a:solidFill>
                  <a:schemeClr val="accent1"/>
                </a:solidFill>
                <a:latin typeface="微软雅黑" panose="020B0503020204020204" pitchFamily="34" charset="-122"/>
                <a:ea typeface="微软雅黑" panose="020B0503020204020204" pitchFamily="34" charset="-122"/>
              </a:rPr>
              <a:t>，或</a:t>
            </a:r>
            <a:r>
              <a:rPr lang="en-US" altLang="zh-CN" sz="2800" dirty="0">
                <a:solidFill>
                  <a:schemeClr val="accent1"/>
                </a:solidFill>
                <a:latin typeface="微软雅黑" panose="020B0503020204020204" pitchFamily="34" charset="-122"/>
                <a:ea typeface="微软雅黑" panose="020B0503020204020204" pitchFamily="34" charset="-122"/>
              </a:rPr>
              <a:t>hypothesis of the vanishing intermediate regime ) </a:t>
            </a:r>
          </a:p>
          <a:p>
            <a:pPr marL="0" indent="457200">
              <a:lnSpc>
                <a:spcPct val="110000"/>
              </a:lnSpc>
              <a:buNone/>
            </a:pPr>
            <a:r>
              <a:rPr lang="zh-CN" altLang="en-US" sz="2400" dirty="0" smtClean="0">
                <a:latin typeface="微软雅黑" panose="020B0503020204020204" pitchFamily="34" charset="-122"/>
                <a:ea typeface="微软雅黑" panose="020B0503020204020204" pitchFamily="34" charset="-122"/>
              </a:rPr>
              <a:t>“两极论”</a:t>
            </a:r>
            <a:r>
              <a:rPr lang="zh-CN" altLang="en-US" sz="2400" dirty="0">
                <a:latin typeface="微软雅黑" panose="020B0503020204020204" pitchFamily="34" charset="-122"/>
                <a:ea typeface="微软雅黑" panose="020B0503020204020204" pitchFamily="34" charset="-122"/>
              </a:rPr>
              <a:t>或“中间制度消失论”认为，日益增长的资本流动性，使政府对汇率的承诺变得十分脆弱。在资本自由流动的情况下，政府不可能同时实现汇率稳定、货币政策独立性和金融市场国际一体化这三个目标，必须放弃其中的一个。</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014544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lv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四、汇率选择理论的新发展</a:t>
            </a:r>
          </a:p>
          <a:p>
            <a:pPr marL="514350" indent="-514350">
              <a:lnSpc>
                <a:spcPct val="110000"/>
              </a:lnSpc>
              <a:buFont typeface="+mj-lt"/>
              <a:buAutoNum type="arabicPeriod" startAt="4"/>
            </a:pPr>
            <a:r>
              <a:rPr lang="zh-CN" altLang="en-US" sz="2800" dirty="0">
                <a:solidFill>
                  <a:schemeClr val="accent1"/>
                </a:solidFill>
                <a:latin typeface="微软雅黑" panose="020B0503020204020204" pitchFamily="34" charset="-122"/>
                <a:ea typeface="微软雅黑" panose="020B0503020204020204" pitchFamily="34" charset="-122"/>
              </a:rPr>
              <a:t>退出战略</a:t>
            </a:r>
            <a:r>
              <a:rPr lang="en-US" altLang="zh-CN" sz="2800" dirty="0">
                <a:solidFill>
                  <a:schemeClr val="accent1"/>
                </a:solidFill>
                <a:latin typeface="微软雅黑" panose="020B0503020204020204" pitchFamily="34" charset="-122"/>
                <a:ea typeface="微软雅黑" panose="020B0503020204020204" pitchFamily="34" charset="-122"/>
              </a:rPr>
              <a:t>(exit strategy) </a:t>
            </a:r>
          </a:p>
          <a:p>
            <a:pPr marL="0" indent="457200">
              <a:lnSpc>
                <a:spcPct val="110000"/>
              </a:lnSpc>
              <a:buNone/>
            </a:pPr>
            <a:r>
              <a:rPr lang="zh-CN" altLang="en-US" sz="2400" dirty="0">
                <a:latin typeface="微软雅黑" panose="020B0503020204020204" pitchFamily="34" charset="-122"/>
                <a:ea typeface="微软雅黑" panose="020B0503020204020204" pitchFamily="34" charset="-122"/>
              </a:rPr>
              <a:t>据</a:t>
            </a:r>
            <a:r>
              <a:rPr lang="en-US" altLang="zh-CN" sz="2400" dirty="0">
                <a:latin typeface="微软雅黑" panose="020B0503020204020204" pitchFamily="34" charset="-122"/>
                <a:ea typeface="微软雅黑" panose="020B0503020204020204" pitchFamily="34" charset="-122"/>
              </a:rPr>
              <a:t>Klein</a:t>
            </a:r>
            <a:r>
              <a:rPr lang="zh-CN" altLang="en-US" sz="2400" dirty="0">
                <a:latin typeface="微软雅黑" panose="020B0503020204020204" pitchFamily="34" charset="-122"/>
                <a:ea typeface="微软雅黑" panose="020B0503020204020204" pitchFamily="34" charset="-122"/>
              </a:rPr>
              <a:t>和</a:t>
            </a:r>
            <a:r>
              <a:rPr lang="en-US" altLang="zh-CN" sz="2400" dirty="0">
                <a:latin typeface="微软雅黑" panose="020B0503020204020204" pitchFamily="34" charset="-122"/>
                <a:ea typeface="微软雅黑" panose="020B0503020204020204" pitchFamily="34" charset="-122"/>
              </a:rPr>
              <a:t>Marion(1994)</a:t>
            </a:r>
            <a:r>
              <a:rPr lang="zh-CN" altLang="en-US" sz="2400" dirty="0">
                <a:latin typeface="微软雅黑" panose="020B0503020204020204" pitchFamily="34" charset="-122"/>
                <a:ea typeface="微软雅黑" panose="020B0503020204020204" pitchFamily="34" charset="-122"/>
              </a:rPr>
              <a:t>的研究，除了非洲一些法郎区的国家，大部分国家钉住某一货币的时间都很短。从</a:t>
            </a:r>
            <a:r>
              <a:rPr lang="en-US" altLang="zh-CN" sz="2400" dirty="0">
                <a:latin typeface="微软雅黑" panose="020B0503020204020204" pitchFamily="34" charset="-122"/>
                <a:ea typeface="微软雅黑" panose="020B0503020204020204" pitchFamily="34" charset="-122"/>
              </a:rPr>
              <a:t>1957</a:t>
            </a:r>
            <a:r>
              <a:rPr lang="zh-CN" altLang="en-US" sz="2400" dirty="0">
                <a:latin typeface="微软雅黑" panose="020B0503020204020204" pitchFamily="34" charset="-122"/>
                <a:ea typeface="微软雅黑" panose="020B0503020204020204" pitchFamily="34" charset="-122"/>
              </a:rPr>
              <a:t>年到</a:t>
            </a:r>
            <a:r>
              <a:rPr lang="en-US" altLang="zh-CN" sz="2400" dirty="0">
                <a:latin typeface="微软雅黑" panose="020B0503020204020204" pitchFamily="34" charset="-122"/>
                <a:ea typeface="微软雅黑" panose="020B0503020204020204" pitchFamily="34" charset="-122"/>
              </a:rPr>
              <a:t>1990</a:t>
            </a:r>
            <a:r>
              <a:rPr lang="zh-CN" altLang="en-US" sz="2400" dirty="0">
                <a:latin typeface="微软雅黑" panose="020B0503020204020204" pitchFamily="34" charset="-122"/>
                <a:ea typeface="微软雅黑" panose="020B0503020204020204" pitchFamily="34" charset="-122"/>
              </a:rPr>
              <a:t>年，在拉美和加勒比国家的</a:t>
            </a:r>
            <a:r>
              <a:rPr lang="en-US" altLang="zh-CN" sz="2400" dirty="0">
                <a:latin typeface="微软雅黑" panose="020B0503020204020204" pitchFamily="34" charset="-122"/>
                <a:ea typeface="微软雅黑" panose="020B0503020204020204" pitchFamily="34" charset="-122"/>
              </a:rPr>
              <a:t>87</a:t>
            </a:r>
            <a:r>
              <a:rPr lang="zh-CN" altLang="en-US" sz="2400" dirty="0">
                <a:latin typeface="微软雅黑" panose="020B0503020204020204" pitchFamily="34" charset="-122"/>
                <a:ea typeface="微软雅黑" panose="020B0503020204020204" pitchFamily="34" charset="-122"/>
              </a:rPr>
              <a:t>项钉住事例中，钉住的平均时间只有</a:t>
            </a:r>
            <a:r>
              <a:rPr lang="en-US" altLang="zh-CN" sz="2400" dirty="0">
                <a:latin typeface="微软雅黑" panose="020B0503020204020204" pitchFamily="34" charset="-122"/>
                <a:ea typeface="微软雅黑" panose="020B0503020204020204" pitchFamily="34" charset="-122"/>
              </a:rPr>
              <a:t>10</a:t>
            </a:r>
            <a:r>
              <a:rPr lang="zh-CN" altLang="en-US" sz="2400" dirty="0">
                <a:latin typeface="微软雅黑" panose="020B0503020204020204" pitchFamily="34" charset="-122"/>
                <a:ea typeface="微软雅黑" panose="020B0503020204020204" pitchFamily="34" charset="-122"/>
              </a:rPr>
              <a:t>个月。其中，</a:t>
            </a:r>
            <a:r>
              <a:rPr lang="en-US" altLang="zh-CN" sz="2400" dirty="0">
                <a:latin typeface="微软雅黑" panose="020B0503020204020204" pitchFamily="34" charset="-122"/>
                <a:ea typeface="微软雅黑" panose="020B0503020204020204" pitchFamily="34" charset="-122"/>
              </a:rPr>
              <a:t>1/3</a:t>
            </a:r>
            <a:r>
              <a:rPr lang="zh-CN" altLang="en-US" sz="2400" dirty="0">
                <a:latin typeface="微软雅黑" panose="020B0503020204020204" pitchFamily="34" charset="-122"/>
                <a:ea typeface="微软雅黑" panose="020B0503020204020204" pitchFamily="34" charset="-122"/>
              </a:rPr>
              <a:t>的钉住在第七个月就被放弃，有一半以上的钉住在第一年年底放弃。因此，从钉住的固定汇率制中退出，实际是相当频繁的事件。 </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281247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lv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四、汇率选择理论的新发展</a:t>
            </a:r>
          </a:p>
          <a:p>
            <a:pPr marL="514350" indent="-514350">
              <a:lnSpc>
                <a:spcPct val="110000"/>
              </a:lnSpc>
              <a:buFont typeface="+mj-lt"/>
              <a:buAutoNum type="arabicPeriod" startAt="4"/>
            </a:pPr>
            <a:r>
              <a:rPr lang="zh-CN" altLang="en-US" sz="2800" dirty="0">
                <a:solidFill>
                  <a:schemeClr val="accent1"/>
                </a:solidFill>
                <a:latin typeface="微软雅黑" panose="020B0503020204020204" pitchFamily="34" charset="-122"/>
                <a:ea typeface="微软雅黑" panose="020B0503020204020204" pitchFamily="34" charset="-122"/>
              </a:rPr>
              <a:t>退出战略</a:t>
            </a:r>
            <a:r>
              <a:rPr lang="en-US" altLang="zh-CN" sz="2800" dirty="0">
                <a:solidFill>
                  <a:schemeClr val="accent1"/>
                </a:solidFill>
                <a:latin typeface="微软雅黑" panose="020B0503020204020204" pitchFamily="34" charset="-122"/>
                <a:ea typeface="微软雅黑" panose="020B0503020204020204" pitchFamily="34" charset="-122"/>
              </a:rPr>
              <a:t>(exit strategy) </a:t>
            </a:r>
          </a:p>
          <a:p>
            <a:pPr marL="0" indent="457200">
              <a:lnSpc>
                <a:spcPct val="110000"/>
              </a:lnSpc>
              <a:buNone/>
            </a:pPr>
            <a:r>
              <a:rPr lang="zh-CN" altLang="en-US" sz="2400" dirty="0">
                <a:latin typeface="微软雅黑" panose="020B0503020204020204" pitchFamily="34" charset="-122"/>
                <a:ea typeface="微软雅黑" panose="020B0503020204020204" pitchFamily="34" charset="-122"/>
              </a:rPr>
              <a:t>关于“退出战略”的研究，首先要考察的是退出的动机。从根本上说，一国之所以要退出钉住汇率制，是基于成本和收益方面的考虑。 </a:t>
            </a:r>
          </a:p>
          <a:p>
            <a:pPr marL="0" indent="457200">
              <a:lnSpc>
                <a:spcPct val="110000"/>
              </a:lnSpc>
              <a:buNone/>
            </a:pPr>
            <a:r>
              <a:rPr lang="zh-CN" altLang="en-US" sz="2400" dirty="0" smtClean="0">
                <a:latin typeface="微软雅黑" panose="020B0503020204020204" pitchFamily="34" charset="-122"/>
                <a:ea typeface="微软雅黑" panose="020B0503020204020204" pitchFamily="34" charset="-122"/>
              </a:rPr>
              <a:t>关于</a:t>
            </a:r>
            <a:r>
              <a:rPr lang="zh-CN" altLang="en-US" sz="2400" dirty="0">
                <a:latin typeface="微软雅黑" panose="020B0503020204020204" pitchFamily="34" charset="-122"/>
                <a:ea typeface="微软雅黑" panose="020B0503020204020204" pitchFamily="34" charset="-122"/>
              </a:rPr>
              <a:t>退出战略的研究还涉及在什么条件下退出较好，以及怎样退出和退往何处的问题。国际货币基金组织在</a:t>
            </a:r>
            <a:r>
              <a:rPr lang="en-US" altLang="zh-CN" sz="2400" dirty="0">
                <a:latin typeface="微软雅黑" panose="020B0503020204020204" pitchFamily="34" charset="-122"/>
                <a:ea typeface="微软雅黑" panose="020B0503020204020204" pitchFamily="34" charset="-122"/>
              </a:rPr>
              <a:t>1998</a:t>
            </a:r>
            <a:r>
              <a:rPr lang="zh-CN" altLang="en-US" sz="2400" dirty="0">
                <a:latin typeface="微软雅黑" panose="020B0503020204020204" pitchFamily="34" charset="-122"/>
                <a:ea typeface="微软雅黑" panose="020B0503020204020204" pitchFamily="34" charset="-122"/>
              </a:rPr>
              <a:t>年发表了关于退出战略的研究报告</a:t>
            </a:r>
            <a:r>
              <a:rPr lang="en-US" altLang="zh-CN" sz="2400" dirty="0">
                <a:latin typeface="微软雅黑" panose="020B0503020204020204" pitchFamily="34" charset="-122"/>
                <a:ea typeface="微软雅黑" panose="020B0503020204020204" pitchFamily="34" charset="-122"/>
              </a:rPr>
              <a:t>(</a:t>
            </a:r>
            <a:r>
              <a:rPr lang="en-US" altLang="zh-CN" sz="2400" dirty="0" err="1">
                <a:latin typeface="微软雅黑" panose="020B0503020204020204" pitchFamily="34" charset="-122"/>
                <a:ea typeface="微软雅黑" panose="020B0503020204020204" pitchFamily="34" charset="-122"/>
              </a:rPr>
              <a:t>Eichengreen</a:t>
            </a:r>
            <a:r>
              <a:rPr lang="en-US" altLang="zh-CN" sz="2400" dirty="0">
                <a:latin typeface="微软雅黑" panose="020B0503020204020204" pitchFamily="34" charset="-122"/>
                <a:ea typeface="微软雅黑" panose="020B0503020204020204" pitchFamily="34" charset="-122"/>
              </a:rPr>
              <a:t> and Masson</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1998)</a:t>
            </a:r>
            <a:r>
              <a:rPr lang="zh-CN" altLang="en-US" sz="2400" dirty="0">
                <a:latin typeface="微软雅黑" panose="020B0503020204020204" pitchFamily="34" charset="-122"/>
                <a:ea typeface="微软雅黑" panose="020B0503020204020204" pitchFamily="34" charset="-122"/>
              </a:rPr>
              <a:t>，其主要结论是：</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724885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lv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四、汇率选择理论的新发展</a:t>
            </a:r>
          </a:p>
          <a:p>
            <a:pPr marL="514350" indent="-514350">
              <a:lnSpc>
                <a:spcPct val="110000"/>
              </a:lnSpc>
              <a:buFont typeface="+mj-lt"/>
              <a:buAutoNum type="arabicPeriod" startAt="4"/>
            </a:pPr>
            <a:r>
              <a:rPr lang="zh-CN" altLang="en-US" sz="2800" dirty="0">
                <a:solidFill>
                  <a:schemeClr val="accent1"/>
                </a:solidFill>
                <a:latin typeface="微软雅黑" panose="020B0503020204020204" pitchFamily="34" charset="-122"/>
                <a:ea typeface="微软雅黑" panose="020B0503020204020204" pitchFamily="34" charset="-122"/>
              </a:rPr>
              <a:t>退出战略</a:t>
            </a:r>
            <a:r>
              <a:rPr lang="en-US" altLang="zh-CN" sz="2800" dirty="0">
                <a:solidFill>
                  <a:schemeClr val="accent1"/>
                </a:solidFill>
                <a:latin typeface="微软雅黑" panose="020B0503020204020204" pitchFamily="34" charset="-122"/>
                <a:ea typeface="微软雅黑" panose="020B0503020204020204" pitchFamily="34" charset="-122"/>
              </a:rPr>
              <a:t>(exit strategy) </a:t>
            </a:r>
          </a:p>
          <a:p>
            <a:pPr marL="685800" lvl="1" indent="-457200">
              <a:lnSpc>
                <a:spcPct val="110000"/>
              </a:lnSpc>
              <a:buFont typeface="+mj-ea"/>
              <a:buAutoNum type="circleNumDbPlain"/>
            </a:pPr>
            <a:r>
              <a:rPr lang="zh-CN" altLang="en-US" sz="2400" dirty="0" smtClean="0">
                <a:latin typeface="微软雅黑" panose="020B0503020204020204" pitchFamily="34" charset="-122"/>
                <a:ea typeface="微软雅黑" panose="020B0503020204020204" pitchFamily="34" charset="-122"/>
              </a:rPr>
              <a:t>对</a:t>
            </a:r>
            <a:r>
              <a:rPr lang="zh-CN" altLang="en-US" sz="2400" dirty="0">
                <a:latin typeface="微软雅黑" panose="020B0503020204020204" pitchFamily="34" charset="-122"/>
                <a:ea typeface="微软雅黑" panose="020B0503020204020204" pitchFamily="34" charset="-122"/>
              </a:rPr>
              <a:t>大部分新兴经济体来说，较高的汇率弹性是有利的；</a:t>
            </a:r>
          </a:p>
          <a:p>
            <a:pPr marL="685800" lvl="1" indent="-457200">
              <a:lnSpc>
                <a:spcPct val="110000"/>
              </a:lnSpc>
              <a:buFont typeface="+mj-ea"/>
              <a:buAutoNum type="circleNumDbPlain"/>
            </a:pPr>
            <a:r>
              <a:rPr lang="zh-CN" altLang="en-US" sz="2400" dirty="0" smtClean="0">
                <a:latin typeface="微软雅黑" panose="020B0503020204020204" pitchFamily="34" charset="-122"/>
                <a:ea typeface="微软雅黑" panose="020B0503020204020204" pitchFamily="34" charset="-122"/>
              </a:rPr>
              <a:t>当</a:t>
            </a:r>
            <a:r>
              <a:rPr lang="zh-CN" altLang="en-US" sz="2400" dirty="0">
                <a:latin typeface="微软雅黑" panose="020B0503020204020204" pitchFamily="34" charset="-122"/>
                <a:ea typeface="微软雅黑" panose="020B0503020204020204" pitchFamily="34" charset="-122"/>
              </a:rPr>
              <a:t>有大规模资本内流时放弃钉住汇率，这时的退出战略的成功可能性较大；</a:t>
            </a:r>
          </a:p>
          <a:p>
            <a:pPr marL="685800" lvl="1" indent="-457200">
              <a:lnSpc>
                <a:spcPct val="110000"/>
              </a:lnSpc>
              <a:buFont typeface="+mj-ea"/>
              <a:buAutoNum type="circleNumDbPlain"/>
            </a:pPr>
            <a:r>
              <a:rPr lang="zh-CN" altLang="en-US" sz="2400" dirty="0" smtClean="0">
                <a:latin typeface="微软雅黑" panose="020B0503020204020204" pitchFamily="34" charset="-122"/>
                <a:ea typeface="微软雅黑" panose="020B0503020204020204" pitchFamily="34" charset="-122"/>
              </a:rPr>
              <a:t>在</a:t>
            </a:r>
            <a:r>
              <a:rPr lang="zh-CN" altLang="en-US" sz="2400" dirty="0">
                <a:latin typeface="微软雅黑" panose="020B0503020204020204" pitchFamily="34" charset="-122"/>
                <a:ea typeface="微软雅黑" panose="020B0503020204020204" pitchFamily="34" charset="-122"/>
              </a:rPr>
              <a:t>试图退出钉住汇率前，有关国家需改善和加强其财政和货币政策</a:t>
            </a:r>
            <a:r>
              <a:rPr lang="zh-CN" altLang="en-US" sz="2200" dirty="0">
                <a:latin typeface="微软雅黑" panose="020B0503020204020204" pitchFamily="34" charset="-122"/>
                <a:ea typeface="微软雅黑" panose="020B0503020204020204" pitchFamily="34" charset="-122"/>
              </a:rPr>
              <a:t>。 </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863846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lv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四、汇率选择理论的新发展</a:t>
            </a:r>
          </a:p>
          <a:p>
            <a:pPr marL="514350" indent="-514350">
              <a:lnSpc>
                <a:spcPct val="110000"/>
              </a:lnSpc>
              <a:buFont typeface="+mj-lt"/>
              <a:buAutoNum type="arabicPeriod" startAt="4"/>
            </a:pPr>
            <a:r>
              <a:rPr lang="zh-CN" altLang="en-US" sz="2800" dirty="0">
                <a:solidFill>
                  <a:schemeClr val="accent1"/>
                </a:solidFill>
                <a:latin typeface="微软雅黑" panose="020B0503020204020204" pitchFamily="34" charset="-122"/>
                <a:ea typeface="微软雅黑" panose="020B0503020204020204" pitchFamily="34" charset="-122"/>
              </a:rPr>
              <a:t>退出战略</a:t>
            </a:r>
            <a:r>
              <a:rPr lang="en-US" altLang="zh-CN" sz="2800" dirty="0">
                <a:solidFill>
                  <a:schemeClr val="accent1"/>
                </a:solidFill>
                <a:latin typeface="微软雅黑" panose="020B0503020204020204" pitchFamily="34" charset="-122"/>
                <a:ea typeface="微软雅黑" panose="020B0503020204020204" pitchFamily="34" charset="-122"/>
              </a:rPr>
              <a:t>(exit strategy) </a:t>
            </a:r>
          </a:p>
          <a:p>
            <a:pPr marL="0" indent="457200">
              <a:lnSpc>
                <a:spcPct val="110000"/>
              </a:lnSpc>
              <a:buNone/>
            </a:pPr>
            <a:r>
              <a:rPr lang="zh-CN" altLang="en-US" sz="2400" dirty="0">
                <a:latin typeface="微软雅黑" panose="020B0503020204020204" pitchFamily="34" charset="-122"/>
                <a:ea typeface="微软雅黑" panose="020B0503020204020204" pitchFamily="34" charset="-122"/>
              </a:rPr>
              <a:t>当决定退出时，如这种退出发生在外汇市场平静和汇率升值时，可采取缓慢的步骤，逐渐推进到新的较有弹性的汇率制度。如是在压力或危机下被迫退出，则一般无法缓慢退出，因而须迅速行动。政府应当迅速采取一些政策以防止“过度贬值”和防止贬值一轮轮地出现。至于一国从钉住汇率制退出来以后应采用何种制度，应根据本国情况而定。</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081144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fontScale="92500"/>
          </a:bodyPr>
          <a:lstStyle/>
          <a:p>
            <a:pPr marL="0" lvl="0" indent="0">
              <a:lnSpc>
                <a:spcPct val="11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五</a:t>
            </a:r>
            <a:r>
              <a:rPr lang="zh-CN" altLang="en-US" sz="2800" dirty="0">
                <a:solidFill>
                  <a:schemeClr val="accent1"/>
                </a:solidFill>
                <a:latin typeface="微软雅黑" panose="020B0503020204020204" pitchFamily="34" charset="-122"/>
                <a:ea typeface="微软雅黑" panose="020B0503020204020204" pitchFamily="34" charset="-122"/>
              </a:rPr>
              <a:t>、政府对外汇市场的干预</a:t>
            </a:r>
          </a:p>
          <a:p>
            <a:pPr marL="514350" indent="-514350">
              <a:lnSpc>
                <a:spcPct val="110000"/>
              </a:lnSpc>
              <a:buFont typeface="+mj-lt"/>
              <a:buAutoNum type="arabicPeriod"/>
            </a:pPr>
            <a:r>
              <a:rPr lang="zh-CN" altLang="en-US" sz="2800" dirty="0">
                <a:solidFill>
                  <a:schemeClr val="accent1"/>
                </a:solidFill>
                <a:latin typeface="微软雅黑" panose="020B0503020204020204" pitchFamily="34" charset="-122"/>
                <a:ea typeface="微软雅黑" panose="020B0503020204020204" pitchFamily="34" charset="-122"/>
              </a:rPr>
              <a:t>干预外汇市场的目的</a:t>
            </a:r>
          </a:p>
          <a:p>
            <a:pPr marL="0" indent="457200">
              <a:lnSpc>
                <a:spcPct val="110000"/>
              </a:lnSpc>
              <a:buNone/>
            </a:pPr>
            <a:r>
              <a:rPr lang="zh-CN" altLang="en-US" sz="2600" dirty="0">
                <a:latin typeface="微软雅黑" panose="020B0503020204020204" pitchFamily="34" charset="-122"/>
                <a:ea typeface="微软雅黑" panose="020B0503020204020204" pitchFamily="34" charset="-122"/>
              </a:rPr>
              <a:t>总的来说，干预是因为外汇市场在自发运行中出现的市场失灵问题，即市场自发确定的汇率往往不能正确反映内外均衡目标同时实现的要求，不能引导资源的合理配置。</a:t>
            </a:r>
          </a:p>
          <a:p>
            <a:pPr marL="0" indent="457200">
              <a:lnSpc>
                <a:spcPct val="110000"/>
              </a:lnSpc>
              <a:buNone/>
            </a:pPr>
            <a:r>
              <a:rPr lang="zh-CN" altLang="en-US" sz="2600" dirty="0" smtClean="0">
                <a:latin typeface="微软雅黑" panose="020B0503020204020204" pitchFamily="34" charset="-122"/>
                <a:ea typeface="微软雅黑" panose="020B0503020204020204" pitchFamily="34" charset="-122"/>
              </a:rPr>
              <a:t>具体</a:t>
            </a:r>
            <a:r>
              <a:rPr lang="zh-CN" altLang="en-US" sz="2600" dirty="0">
                <a:latin typeface="微软雅黑" panose="020B0503020204020204" pitchFamily="34" charset="-122"/>
                <a:ea typeface="微软雅黑" panose="020B0503020204020204" pitchFamily="34" charset="-122"/>
              </a:rPr>
              <a:t>来说，干预目的包括</a:t>
            </a:r>
            <a:r>
              <a:rPr lang="zh-CN" altLang="en-US" sz="2600" dirty="0" smtClean="0">
                <a:latin typeface="微软雅黑" panose="020B0503020204020204" pitchFamily="34" charset="-122"/>
                <a:ea typeface="微软雅黑" panose="020B0503020204020204" pitchFamily="34" charset="-122"/>
              </a:rPr>
              <a:t>：</a:t>
            </a:r>
            <a:endParaRPr lang="en-US" altLang="zh-CN" sz="2600" dirty="0" smtClean="0">
              <a:latin typeface="微软雅黑" panose="020B0503020204020204" pitchFamily="34" charset="-122"/>
              <a:ea typeface="微软雅黑" panose="020B0503020204020204" pitchFamily="34" charset="-122"/>
            </a:endParaRPr>
          </a:p>
          <a:p>
            <a:pPr marL="685800" lvl="1" indent="-457200">
              <a:lnSpc>
                <a:spcPct val="110000"/>
              </a:lnSpc>
              <a:buFont typeface="+mj-ea"/>
              <a:buAutoNum type="circleNumDbPlain"/>
            </a:pPr>
            <a:r>
              <a:rPr lang="zh-CN" altLang="en-US" sz="2200" dirty="0" smtClean="0">
                <a:solidFill>
                  <a:schemeClr val="accent1"/>
                </a:solidFill>
                <a:latin typeface="微软雅黑" panose="020B0503020204020204" pitchFamily="34" charset="-122"/>
                <a:ea typeface="微软雅黑" panose="020B0503020204020204" pitchFamily="34" charset="-122"/>
              </a:rPr>
              <a:t>防止汇率</a:t>
            </a:r>
            <a:r>
              <a:rPr lang="zh-CN" altLang="en-US" sz="2200" dirty="0">
                <a:solidFill>
                  <a:schemeClr val="accent1"/>
                </a:solidFill>
                <a:latin typeface="微软雅黑" panose="020B0503020204020204" pitchFamily="34" charset="-122"/>
                <a:ea typeface="微软雅黑" panose="020B0503020204020204" pitchFamily="34" charset="-122"/>
              </a:rPr>
              <a:t>在短期内过度波动</a:t>
            </a:r>
          </a:p>
          <a:p>
            <a:pPr marL="0" indent="457200">
              <a:lnSpc>
                <a:spcPct val="110000"/>
              </a:lnSpc>
              <a:buNone/>
            </a:pPr>
            <a:r>
              <a:rPr lang="zh-CN" altLang="en-US" sz="2200" dirty="0">
                <a:latin typeface="微软雅黑" panose="020B0503020204020204" pitchFamily="34" charset="-122"/>
                <a:ea typeface="微软雅黑" panose="020B0503020204020204" pitchFamily="34" charset="-122"/>
              </a:rPr>
              <a:t>（短期，市场真假难辨的新闻、超调、投机者的兴风作浪</a:t>
            </a:r>
            <a:r>
              <a:rPr lang="zh-CN" altLang="en-US" sz="2200" dirty="0" smtClean="0">
                <a:latin typeface="微软雅黑" panose="020B0503020204020204" pitchFamily="34" charset="-122"/>
                <a:ea typeface="微软雅黑" panose="020B0503020204020204" pitchFamily="34" charset="-122"/>
              </a:rPr>
              <a:t>）</a:t>
            </a:r>
            <a:endParaRPr lang="zh-CN" altLang="en-US" sz="22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859760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lvl="0" indent="0">
              <a:lnSpc>
                <a:spcPct val="11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五</a:t>
            </a:r>
            <a:r>
              <a:rPr lang="zh-CN" altLang="en-US" sz="2800" dirty="0">
                <a:solidFill>
                  <a:schemeClr val="accent1"/>
                </a:solidFill>
                <a:latin typeface="微软雅黑" panose="020B0503020204020204" pitchFamily="34" charset="-122"/>
                <a:ea typeface="微软雅黑" panose="020B0503020204020204" pitchFamily="34" charset="-122"/>
              </a:rPr>
              <a:t>、政府对外汇市场的干预</a:t>
            </a:r>
          </a:p>
          <a:p>
            <a:pPr marL="685800" lvl="1" indent="-457200">
              <a:lnSpc>
                <a:spcPct val="110000"/>
              </a:lnSpc>
              <a:buFont typeface="+mj-ea"/>
              <a:buAutoNum type="circleNumDbPlain" startAt="2"/>
            </a:pPr>
            <a:r>
              <a:rPr lang="zh-CN" altLang="en-US" sz="2200" dirty="0">
                <a:solidFill>
                  <a:schemeClr val="accent1"/>
                </a:solidFill>
                <a:latin typeface="微软雅黑" panose="020B0503020204020204" pitchFamily="34" charset="-122"/>
                <a:ea typeface="微软雅黑" panose="020B0503020204020204" pitchFamily="34" charset="-122"/>
              </a:rPr>
              <a:t>避免汇率水平在中长期内失调</a:t>
            </a:r>
          </a:p>
          <a:p>
            <a:pPr marL="0" indent="457200">
              <a:lnSpc>
                <a:spcPct val="110000"/>
              </a:lnSpc>
              <a:buNone/>
            </a:pPr>
            <a:r>
              <a:rPr lang="zh-CN" altLang="en-US" sz="2400" dirty="0">
                <a:latin typeface="微软雅黑" panose="020B0503020204020204" pitchFamily="34" charset="-122"/>
                <a:ea typeface="微软雅黑" panose="020B0503020204020204" pitchFamily="34" charset="-122"/>
              </a:rPr>
              <a:t>（中长期，明显定值不合理状态是</a:t>
            </a:r>
            <a:r>
              <a:rPr lang="en-US" altLang="zh-CN" sz="2400" dirty="0">
                <a:latin typeface="微软雅黑" panose="020B0503020204020204" pitchFamily="34" charset="-122"/>
                <a:ea typeface="微软雅黑" panose="020B0503020204020204" pitchFamily="34" charset="-122"/>
              </a:rPr>
              <a:t>misalignment</a:t>
            </a:r>
            <a:r>
              <a:rPr lang="zh-CN" altLang="en-US" sz="2400" dirty="0">
                <a:latin typeface="微软雅黑" panose="020B0503020204020204" pitchFamily="34" charset="-122"/>
                <a:ea typeface="微软雅黑" panose="020B0503020204020204" pitchFamily="34" charset="-122"/>
              </a:rPr>
              <a:t>，判断标准是均衡汇率，如偏离购买力平价</a:t>
            </a:r>
            <a:r>
              <a:rPr lang="en-US" altLang="zh-CN" sz="2400" dirty="0">
                <a:latin typeface="微软雅黑" panose="020B0503020204020204" pitchFamily="34" charset="-122"/>
                <a:ea typeface="微软雅黑" panose="020B0503020204020204" pitchFamily="34" charset="-122"/>
              </a:rPr>
              <a:t>20</a:t>
            </a:r>
            <a:r>
              <a:rPr lang="zh-CN" altLang="en-US" sz="2400" dirty="0">
                <a:latin typeface="微软雅黑" panose="020B0503020204020204" pitchFamily="34" charset="-122"/>
                <a:ea typeface="微软雅黑" panose="020B0503020204020204" pitchFamily="34" charset="-122"/>
              </a:rPr>
              <a:t>％以上需干预）</a:t>
            </a:r>
          </a:p>
          <a:p>
            <a:pPr marL="685800" lvl="1" indent="-457200">
              <a:lnSpc>
                <a:spcPct val="110000"/>
              </a:lnSpc>
              <a:buFont typeface="+mj-ea"/>
              <a:buAutoNum type="circleNumDbPlain" startAt="3"/>
            </a:pPr>
            <a:r>
              <a:rPr lang="zh-CN" altLang="en-US" sz="2200" dirty="0">
                <a:solidFill>
                  <a:schemeClr val="accent1"/>
                </a:solidFill>
                <a:latin typeface="微软雅黑" panose="020B0503020204020204" pitchFamily="34" charset="-122"/>
                <a:ea typeface="微软雅黑" panose="020B0503020204020204" pitchFamily="34" charset="-122"/>
              </a:rPr>
              <a:t>进行政策搭配的</a:t>
            </a:r>
            <a:r>
              <a:rPr lang="zh-CN" altLang="en-US" sz="2200" dirty="0" smtClean="0">
                <a:solidFill>
                  <a:schemeClr val="accent1"/>
                </a:solidFill>
                <a:latin typeface="微软雅黑" panose="020B0503020204020204" pitchFamily="34" charset="-122"/>
                <a:ea typeface="微软雅黑" panose="020B0503020204020204" pitchFamily="34" charset="-122"/>
              </a:rPr>
              <a:t>需要</a:t>
            </a:r>
            <a:endParaRPr lang="en-US" altLang="zh-CN" sz="2200" dirty="0" smtClean="0">
              <a:solidFill>
                <a:schemeClr val="accent1"/>
              </a:solidFill>
              <a:latin typeface="微软雅黑" panose="020B0503020204020204" pitchFamily="34" charset="-122"/>
              <a:ea typeface="微软雅黑" panose="020B0503020204020204" pitchFamily="34" charset="-122"/>
            </a:endParaRPr>
          </a:p>
          <a:p>
            <a:pPr marL="228600" lvl="1" indent="0">
              <a:lnSpc>
                <a:spcPct val="110000"/>
              </a:lnSpc>
              <a:buNone/>
            </a:pPr>
            <a:r>
              <a:rPr lang="zh-CN" altLang="en-US" sz="2400" dirty="0">
                <a:latin typeface="微软雅黑" panose="020B0503020204020204" pitchFamily="34" charset="-122"/>
                <a:ea typeface="微软雅黑" panose="020B0503020204020204" pitchFamily="34" charset="-122"/>
              </a:rPr>
              <a:t>（干预影响基础货币，需与其他宏观经济政策搭配</a:t>
            </a:r>
            <a:r>
              <a:rPr lang="zh-CN" altLang="en-US" sz="2400" dirty="0" smtClean="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marL="685800" lvl="1" indent="-457200">
              <a:lnSpc>
                <a:spcPct val="110000"/>
              </a:lnSpc>
              <a:buFont typeface="+mj-ea"/>
              <a:buAutoNum type="circleNumDbPlain" startAt="4"/>
            </a:pPr>
            <a:r>
              <a:rPr lang="zh-CN" altLang="en-US" sz="2200" dirty="0">
                <a:solidFill>
                  <a:schemeClr val="accent1"/>
                </a:solidFill>
                <a:latin typeface="微软雅黑" panose="020B0503020204020204" pitchFamily="34" charset="-122"/>
                <a:ea typeface="微软雅黑" panose="020B0503020204020204" pitchFamily="34" charset="-122"/>
              </a:rPr>
              <a:t>其他目的 </a:t>
            </a:r>
            <a:endParaRPr lang="en-US" altLang="zh-CN" sz="2200" dirty="0">
              <a:solidFill>
                <a:schemeClr val="accent1"/>
              </a:solidFill>
              <a:latin typeface="微软雅黑" panose="020B0503020204020204" pitchFamily="34" charset="-122"/>
              <a:ea typeface="微软雅黑" panose="020B0503020204020204" pitchFamily="34" charset="-122"/>
            </a:endParaRPr>
          </a:p>
          <a:p>
            <a:pPr marL="228600" lvl="1" indent="0">
              <a:lnSpc>
                <a:spcPct val="110000"/>
              </a:lnSpc>
              <a:buNone/>
            </a:pPr>
            <a:r>
              <a:rPr lang="zh-CN" altLang="en-US" sz="2400" dirty="0">
                <a:latin typeface="微软雅黑" panose="020B0503020204020204" pitchFamily="34" charset="-122"/>
                <a:ea typeface="微软雅黑" panose="020B0503020204020204" pitchFamily="34" charset="-122"/>
              </a:rPr>
              <a:t>（为维持低汇率刺激出口）</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73681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fontScale="77500" lnSpcReduction="20000"/>
          </a:bodyPr>
          <a:lstStyle/>
          <a:p>
            <a:pPr marL="514350" indent="-514350">
              <a:lnSpc>
                <a:spcPct val="110000"/>
              </a:lnSpc>
              <a:buFont typeface="+mj-lt"/>
              <a:buAutoNum type="arabicPeriod" startAt="2"/>
            </a:pPr>
            <a:r>
              <a:rPr lang="zh-CN" altLang="en-US" sz="2800" dirty="0" smtClean="0">
                <a:solidFill>
                  <a:schemeClr val="accent1"/>
                </a:solidFill>
                <a:latin typeface="微软雅黑" panose="020B0503020204020204" pitchFamily="34" charset="-122"/>
                <a:ea typeface="微软雅黑" panose="020B0503020204020204" pitchFamily="34" charset="-122"/>
              </a:rPr>
              <a:t>干预</a:t>
            </a:r>
            <a:r>
              <a:rPr lang="zh-CN" altLang="en-US" sz="2800" dirty="0">
                <a:solidFill>
                  <a:schemeClr val="accent1"/>
                </a:solidFill>
                <a:latin typeface="微软雅黑" panose="020B0503020204020204" pitchFamily="34" charset="-122"/>
                <a:ea typeface="微软雅黑" panose="020B0503020204020204" pitchFamily="34" charset="-122"/>
              </a:rPr>
              <a:t>外汇市场的</a:t>
            </a:r>
            <a:r>
              <a:rPr lang="zh-CN" altLang="en-US" sz="2800" dirty="0" smtClean="0">
                <a:solidFill>
                  <a:schemeClr val="accent1"/>
                </a:solidFill>
                <a:latin typeface="微软雅黑" panose="020B0503020204020204" pitchFamily="34" charset="-122"/>
                <a:ea typeface="微软雅黑" panose="020B0503020204020204" pitchFamily="34" charset="-122"/>
              </a:rPr>
              <a:t>类型</a:t>
            </a:r>
            <a:endParaRPr lang="zh-CN" altLang="en-US" sz="2800" dirty="0">
              <a:solidFill>
                <a:schemeClr val="accent1"/>
              </a:solidFill>
              <a:latin typeface="微软雅黑" panose="020B0503020204020204" pitchFamily="34" charset="-122"/>
              <a:ea typeface="微软雅黑" panose="020B0503020204020204" pitchFamily="34" charset="-122"/>
            </a:endParaRPr>
          </a:p>
          <a:p>
            <a:pPr marL="685800" lvl="1" indent="-457200">
              <a:lnSpc>
                <a:spcPct val="110000"/>
              </a:lnSpc>
              <a:buFont typeface="+mj-ea"/>
              <a:buAutoNum type="circleNumDbPlain"/>
            </a:pPr>
            <a:r>
              <a:rPr lang="zh-CN" altLang="en-US" sz="2900" dirty="0" smtClean="0">
                <a:latin typeface="微软雅黑" panose="020B0503020204020204" pitchFamily="34" charset="-122"/>
                <a:ea typeface="微软雅黑" panose="020B0503020204020204" pitchFamily="34" charset="-122"/>
              </a:rPr>
              <a:t>直接</a:t>
            </a:r>
            <a:r>
              <a:rPr lang="zh-CN" altLang="en-US" sz="2900" dirty="0">
                <a:latin typeface="微软雅黑" panose="020B0503020204020204" pitchFamily="34" charset="-122"/>
                <a:ea typeface="微软雅黑" panose="020B0503020204020204" pitchFamily="34" charset="-122"/>
              </a:rPr>
              <a:t>干预与间接干预		</a:t>
            </a:r>
          </a:p>
          <a:p>
            <a:pPr marL="685800" lvl="1" indent="-457200">
              <a:lnSpc>
                <a:spcPct val="110000"/>
              </a:lnSpc>
              <a:buFont typeface="+mj-ea"/>
              <a:buAutoNum type="circleNumDbPlain"/>
            </a:pPr>
            <a:r>
              <a:rPr lang="zh-CN" altLang="en-US" sz="2900" dirty="0" smtClean="0">
                <a:latin typeface="微软雅黑" panose="020B0503020204020204" pitchFamily="34" charset="-122"/>
                <a:ea typeface="微软雅黑" panose="020B0503020204020204" pitchFamily="34" charset="-122"/>
              </a:rPr>
              <a:t>冲销</a:t>
            </a:r>
            <a:r>
              <a:rPr lang="zh-CN" altLang="en-US" sz="2900" dirty="0">
                <a:latin typeface="微软雅黑" panose="020B0503020204020204" pitchFamily="34" charset="-122"/>
                <a:ea typeface="微软雅黑" panose="020B0503020204020204" pitchFamily="34" charset="-122"/>
              </a:rPr>
              <a:t>式干预和非冲销式干预</a:t>
            </a:r>
          </a:p>
          <a:p>
            <a:pPr marL="685800" lvl="1" indent="-457200">
              <a:lnSpc>
                <a:spcPct val="110000"/>
              </a:lnSpc>
              <a:buFont typeface="+mj-ea"/>
              <a:buAutoNum type="circleNumDbPlain"/>
            </a:pPr>
            <a:r>
              <a:rPr lang="zh-CN" altLang="en-US" sz="2900" dirty="0" smtClean="0">
                <a:latin typeface="微软雅黑" panose="020B0503020204020204" pitchFamily="34" charset="-122"/>
                <a:ea typeface="微软雅黑" panose="020B0503020204020204" pitchFamily="34" charset="-122"/>
              </a:rPr>
              <a:t>单边</a:t>
            </a:r>
            <a:r>
              <a:rPr lang="zh-CN" altLang="en-US" sz="2900" dirty="0">
                <a:latin typeface="微软雅黑" panose="020B0503020204020204" pitchFamily="34" charset="-122"/>
                <a:ea typeface="微软雅黑" panose="020B0503020204020204" pitchFamily="34" charset="-122"/>
              </a:rPr>
              <a:t>干预和联合干预</a:t>
            </a:r>
          </a:p>
          <a:p>
            <a:pPr marL="685800" lvl="1" indent="-457200">
              <a:lnSpc>
                <a:spcPct val="110000"/>
              </a:lnSpc>
              <a:buFont typeface="+mj-ea"/>
              <a:buAutoNum type="circleNumDbPlain"/>
            </a:pPr>
            <a:r>
              <a:rPr lang="zh-CN" altLang="en-US" sz="2900" dirty="0" smtClean="0">
                <a:latin typeface="微软雅黑" panose="020B0503020204020204" pitchFamily="34" charset="-122"/>
                <a:ea typeface="微软雅黑" panose="020B0503020204020204" pitchFamily="34" charset="-122"/>
              </a:rPr>
              <a:t>其他</a:t>
            </a:r>
            <a:r>
              <a:rPr lang="zh-CN" altLang="en-US" sz="2900" dirty="0">
                <a:latin typeface="微软雅黑" panose="020B0503020204020204" pitchFamily="34" charset="-122"/>
                <a:ea typeface="微软雅黑" panose="020B0503020204020204" pitchFamily="34" charset="-122"/>
              </a:rPr>
              <a:t>类型</a:t>
            </a:r>
          </a:p>
          <a:p>
            <a:pPr marL="514350" indent="-514350">
              <a:lnSpc>
                <a:spcPct val="110000"/>
              </a:lnSpc>
              <a:buFont typeface="+mj-lt"/>
              <a:buAutoNum type="arabicPeriod" startAt="2"/>
            </a:pPr>
            <a:r>
              <a:rPr lang="zh-CN" altLang="en-US" sz="2800" dirty="0">
                <a:solidFill>
                  <a:schemeClr val="accent1"/>
                </a:solidFill>
                <a:latin typeface="微软雅黑" panose="020B0503020204020204" pitchFamily="34" charset="-122"/>
                <a:ea typeface="微软雅黑" panose="020B0503020204020204" pitchFamily="34" charset="-122"/>
              </a:rPr>
              <a:t>外汇市场干预的效力</a:t>
            </a:r>
            <a:r>
              <a:rPr lang="zh-CN" altLang="en-US" sz="2800" dirty="0" smtClean="0">
                <a:solidFill>
                  <a:schemeClr val="accent1"/>
                </a:solidFill>
                <a:latin typeface="微软雅黑" panose="020B0503020204020204" pitchFamily="34" charset="-122"/>
                <a:ea typeface="微软雅黑" panose="020B0503020204020204" pitchFamily="34" charset="-122"/>
              </a:rPr>
              <a:t>分析</a:t>
            </a:r>
            <a:endParaRPr lang="en-US" altLang="zh-CN" sz="2800" dirty="0" smtClean="0">
              <a:solidFill>
                <a:schemeClr val="accent1"/>
              </a:solidFill>
              <a:latin typeface="微软雅黑" panose="020B0503020204020204" pitchFamily="34" charset="-122"/>
              <a:ea typeface="微软雅黑" panose="020B0503020204020204" pitchFamily="34" charset="-122"/>
            </a:endParaRPr>
          </a:p>
          <a:p>
            <a:pPr marL="0" indent="457200">
              <a:lnSpc>
                <a:spcPct val="130000"/>
              </a:lnSpc>
              <a:buNone/>
            </a:pPr>
            <a:r>
              <a:rPr lang="zh-CN" altLang="en-US" sz="2600" dirty="0">
                <a:latin typeface="微软雅黑" panose="020B0503020204020204" pitchFamily="34" charset="-122"/>
                <a:ea typeface="微软雅黑" panose="020B0503020204020204" pitchFamily="34" charset="-122"/>
              </a:rPr>
              <a:t>政府在外汇市场的干预是通过两个途径发挥效力的：一是通过交易改变各种资产的数量和组成比例，从而对资产市场上确定的汇率产生影响；一是通过干预行为本身向市场上发出信号，表明政府的态度及可能采取的措施，通过影响预期来影响汇率。</a:t>
            </a:r>
          </a:p>
          <a:p>
            <a:pPr marL="514350" indent="-514350">
              <a:lnSpc>
                <a:spcPct val="110000"/>
              </a:lnSpc>
              <a:buFont typeface="+mj-lt"/>
              <a:buAutoNum type="arabicPeriod" startAt="2"/>
            </a:pPr>
            <a:endParaRPr lang="zh-CN" altLang="en-US" sz="2800" dirty="0">
              <a:solidFill>
                <a:schemeClr val="accent1"/>
              </a:solidFill>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34221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71550" y="1447799"/>
                <a:ext cx="7200900" cy="4841879"/>
              </a:xfrm>
            </p:spPr>
            <p:txBody>
              <a:bodyPr>
                <a:normAutofit/>
              </a:bodyPr>
              <a:lstStyle/>
              <a:p>
                <a:pPr marL="514350" indent="-514350">
                  <a:lnSpc>
                    <a:spcPct val="110000"/>
                  </a:lnSpc>
                  <a:buFont typeface="+mj-lt"/>
                  <a:buAutoNum type="arabicPeriod" startAt="3"/>
                </a:pPr>
                <a:r>
                  <a:rPr lang="zh-CN" altLang="en-US" sz="2800" dirty="0" smtClean="0">
                    <a:solidFill>
                      <a:schemeClr val="accent1"/>
                    </a:solidFill>
                    <a:latin typeface="微软雅黑" panose="020B0503020204020204" pitchFamily="34" charset="-122"/>
                    <a:ea typeface="微软雅黑" panose="020B0503020204020204" pitchFamily="34" charset="-122"/>
                  </a:rPr>
                  <a:t>外汇市场</a:t>
                </a:r>
                <a:r>
                  <a:rPr lang="zh-CN" altLang="en-US" sz="2800" dirty="0">
                    <a:solidFill>
                      <a:schemeClr val="accent1"/>
                    </a:solidFill>
                    <a:latin typeface="微软雅黑" panose="020B0503020204020204" pitchFamily="34" charset="-122"/>
                    <a:ea typeface="微软雅黑" panose="020B0503020204020204" pitchFamily="34" charset="-122"/>
                  </a:rPr>
                  <a:t>干预的效力</a:t>
                </a:r>
                <a:r>
                  <a:rPr lang="zh-CN" altLang="en-US" sz="2800" dirty="0" smtClean="0">
                    <a:solidFill>
                      <a:schemeClr val="accent1"/>
                    </a:solidFill>
                    <a:latin typeface="微软雅黑" panose="020B0503020204020204" pitchFamily="34" charset="-122"/>
                    <a:ea typeface="微软雅黑" panose="020B0503020204020204" pitchFamily="34" charset="-122"/>
                  </a:rPr>
                  <a:t>分析</a:t>
                </a:r>
                <a:endParaRPr lang="en-US" altLang="zh-CN" sz="2800" dirty="0" smtClean="0">
                  <a:solidFill>
                    <a:schemeClr val="accent1"/>
                  </a:solidFill>
                  <a:latin typeface="微软雅黑" panose="020B0503020204020204" pitchFamily="34" charset="-122"/>
                  <a:ea typeface="微软雅黑" panose="020B0503020204020204" pitchFamily="34" charset="-122"/>
                </a:endParaRPr>
              </a:p>
              <a:p>
                <a:pPr marL="742950" lvl="1" indent="-514350">
                  <a:lnSpc>
                    <a:spcPct val="130000"/>
                  </a:lnSpc>
                  <a:buFont typeface="+mj-ea"/>
                  <a:buAutoNum type="circleNumDbPlain"/>
                </a:pPr>
                <a:r>
                  <a:rPr lang="zh-CN" altLang="en-US" sz="2200" dirty="0">
                    <a:latin typeface="微软雅黑" panose="020B0503020204020204" pitchFamily="34" charset="-122"/>
                    <a:ea typeface="微软雅黑" panose="020B0503020204020204" pitchFamily="34" charset="-122"/>
                  </a:rPr>
                  <a:t>干预的资产调整</a:t>
                </a:r>
                <a:r>
                  <a:rPr lang="zh-CN" altLang="en-US" sz="2200" dirty="0" smtClean="0">
                    <a:latin typeface="微软雅黑" panose="020B0503020204020204" pitchFamily="34" charset="-122"/>
                    <a:ea typeface="微软雅黑" panose="020B0503020204020204" pitchFamily="34" charset="-122"/>
                  </a:rPr>
                  <a:t>效应</a:t>
                </a:r>
                <a:endParaRPr lang="en-US" altLang="zh-CN" sz="2200" dirty="0" smtClean="0">
                  <a:latin typeface="微软雅黑" panose="020B0503020204020204" pitchFamily="34" charset="-122"/>
                  <a:ea typeface="微软雅黑" panose="020B0503020204020204" pitchFamily="34" charset="-122"/>
                </a:endParaRPr>
              </a:p>
              <a:p>
                <a:pPr marL="742950" lvl="1" indent="-514350">
                  <a:lnSpc>
                    <a:spcPct val="130000"/>
                  </a:lnSpc>
                  <a:buFont typeface="+mj-lt"/>
                  <a:buAutoNum type="alphaLcParenR"/>
                </a:pPr>
                <a:r>
                  <a:rPr lang="zh-CN" altLang="en-US" sz="2200" dirty="0" smtClean="0">
                    <a:latin typeface="微软雅黑" panose="020B0503020204020204" pitchFamily="34" charset="-122"/>
                    <a:ea typeface="微软雅黑" panose="020B0503020204020204" pitchFamily="34" charset="-122"/>
                  </a:rPr>
                  <a:t>运用</a:t>
                </a:r>
                <a:r>
                  <a:rPr lang="zh-CN" altLang="en-US" sz="2200" dirty="0">
                    <a:latin typeface="微软雅黑" panose="020B0503020204020204" pitchFamily="34" charset="-122"/>
                    <a:ea typeface="微软雅黑" panose="020B0503020204020204" pitchFamily="34" charset="-122"/>
                  </a:rPr>
                  <a:t>货币模型的分析</a:t>
                </a:r>
              </a:p>
              <a:p>
                <a:pPr marL="228600" lvl="1" indent="0">
                  <a:lnSpc>
                    <a:spcPct val="130000"/>
                  </a:lnSpc>
                  <a:buNone/>
                </a:pPr>
                <a14:m>
                  <m:oMathPara xmlns:m="http://schemas.openxmlformats.org/officeDocument/2006/math">
                    <m:oMathParaPr>
                      <m:jc m:val="centerGroup"/>
                    </m:oMathParaPr>
                    <m:oMath xmlns:m="http://schemas.openxmlformats.org/officeDocument/2006/math">
                      <m:r>
                        <a:rPr lang="en-US" altLang="zh-CN" sz="2600" b="0" i="1" smtClean="0">
                          <a:solidFill>
                            <a:schemeClr val="accent1"/>
                          </a:solidFill>
                          <a:latin typeface="Cambria Math" panose="02040503050406030204" pitchFamily="18" charset="0"/>
                          <a:ea typeface="微软雅黑" panose="020B0503020204020204" pitchFamily="34" charset="-122"/>
                        </a:rPr>
                        <m:t>𝑒</m:t>
                      </m:r>
                      <m:r>
                        <a:rPr lang="en-US" altLang="zh-CN" sz="2600" b="0" i="1" smtClean="0">
                          <a:solidFill>
                            <a:schemeClr val="accent1"/>
                          </a:solidFill>
                          <a:latin typeface="Cambria Math" panose="02040503050406030204" pitchFamily="18" charset="0"/>
                          <a:ea typeface="微软雅黑" panose="020B0503020204020204" pitchFamily="34" charset="-122"/>
                        </a:rPr>
                        <m:t>=</m:t>
                      </m:r>
                      <m:f>
                        <m:fPr>
                          <m:ctrlPr>
                            <a:rPr lang="en-US" altLang="zh-CN" sz="2600" b="0" i="1" smtClean="0">
                              <a:solidFill>
                                <a:schemeClr val="accent1"/>
                              </a:solidFill>
                              <a:latin typeface="Cambria Math"/>
                              <a:ea typeface="微软雅黑" panose="020B0503020204020204" pitchFamily="34" charset="-122"/>
                            </a:rPr>
                          </m:ctrlPr>
                        </m:fPr>
                        <m:num>
                          <m:r>
                            <a:rPr lang="en-US" altLang="zh-CN" sz="2600" b="0" i="1" smtClean="0">
                              <a:solidFill>
                                <a:schemeClr val="accent1"/>
                              </a:solidFill>
                              <a:latin typeface="Cambria Math" panose="02040503050406030204" pitchFamily="18" charset="0"/>
                              <a:ea typeface="微软雅黑" panose="020B0503020204020204" pitchFamily="34" charset="-122"/>
                            </a:rPr>
                            <m:t>𝑃</m:t>
                          </m:r>
                        </m:num>
                        <m:den>
                          <m:sSup>
                            <m:sSupPr>
                              <m:ctrlPr>
                                <a:rPr lang="en-US" altLang="zh-CN" sz="2600" b="0" i="1" smtClean="0">
                                  <a:solidFill>
                                    <a:schemeClr val="accent1"/>
                                  </a:solidFill>
                                  <a:latin typeface="Cambria Math"/>
                                  <a:ea typeface="微软雅黑" panose="020B0503020204020204" pitchFamily="34" charset="-122"/>
                                </a:rPr>
                              </m:ctrlPr>
                            </m:sSupPr>
                            <m:e>
                              <m:r>
                                <a:rPr lang="en-US" altLang="zh-CN" sz="2600" b="0" i="1" smtClean="0">
                                  <a:solidFill>
                                    <a:schemeClr val="accent1"/>
                                  </a:solidFill>
                                  <a:latin typeface="Cambria Math" panose="02040503050406030204" pitchFamily="18" charset="0"/>
                                  <a:ea typeface="微软雅黑" panose="020B0503020204020204" pitchFamily="34" charset="-122"/>
                                </a:rPr>
                                <m:t>𝑃</m:t>
                              </m:r>
                            </m:e>
                            <m:sup>
                              <m:r>
                                <a:rPr lang="en-US" altLang="zh-CN" sz="2600" b="0" i="1" smtClean="0">
                                  <a:solidFill>
                                    <a:schemeClr val="accent1"/>
                                  </a:solidFill>
                                  <a:latin typeface="Cambria Math" panose="02040503050406030204" pitchFamily="18" charset="0"/>
                                  <a:ea typeface="微软雅黑" panose="020B0503020204020204" pitchFamily="34" charset="-122"/>
                                </a:rPr>
                                <m:t>∗</m:t>
                              </m:r>
                            </m:sup>
                          </m:sSup>
                        </m:den>
                      </m:f>
                      <m:r>
                        <a:rPr lang="en-US" altLang="zh-CN" sz="2600" b="0" i="1" smtClean="0">
                          <a:solidFill>
                            <a:schemeClr val="accent1"/>
                          </a:solidFill>
                          <a:latin typeface="Cambria Math" panose="02040503050406030204" pitchFamily="18" charset="0"/>
                          <a:ea typeface="微软雅黑" panose="020B0503020204020204" pitchFamily="34" charset="-122"/>
                        </a:rPr>
                        <m:t>=</m:t>
                      </m:r>
                      <m:f>
                        <m:fPr>
                          <m:ctrlPr>
                            <a:rPr lang="en-US" altLang="zh-CN" sz="2600" b="0" i="1" smtClean="0">
                              <a:solidFill>
                                <a:schemeClr val="accent1"/>
                              </a:solidFill>
                              <a:latin typeface="Cambria Math"/>
                              <a:ea typeface="微软雅黑" panose="020B0503020204020204" pitchFamily="34" charset="-122"/>
                            </a:rPr>
                          </m:ctrlPr>
                        </m:fPr>
                        <m:num>
                          <m:sSub>
                            <m:sSubPr>
                              <m:ctrlPr>
                                <a:rPr lang="en-US" altLang="zh-CN" sz="2600" b="0" i="1" smtClean="0">
                                  <a:solidFill>
                                    <a:schemeClr val="accent1"/>
                                  </a:solidFill>
                                  <a:latin typeface="Cambria Math"/>
                                  <a:ea typeface="微软雅黑" panose="020B0503020204020204" pitchFamily="34" charset="-122"/>
                                </a:rPr>
                              </m:ctrlPr>
                            </m:sSubPr>
                            <m:e>
                              <m:r>
                                <a:rPr lang="en-US" altLang="zh-CN" sz="2600" b="0" i="1" smtClean="0">
                                  <a:solidFill>
                                    <a:schemeClr val="accent1"/>
                                  </a:solidFill>
                                  <a:latin typeface="Cambria Math" panose="02040503050406030204" pitchFamily="18" charset="0"/>
                                  <a:ea typeface="微软雅黑" panose="020B0503020204020204" pitchFamily="34" charset="-122"/>
                                </a:rPr>
                                <m:t>𝑀</m:t>
                              </m:r>
                            </m:e>
                            <m:sub>
                              <m:r>
                                <a:rPr lang="en-US" altLang="zh-CN" sz="2600" b="0" i="1" smtClean="0">
                                  <a:solidFill>
                                    <a:schemeClr val="accent1"/>
                                  </a:solidFill>
                                  <a:latin typeface="Cambria Math" panose="02040503050406030204" pitchFamily="18" charset="0"/>
                                  <a:ea typeface="微软雅黑" panose="020B0503020204020204" pitchFamily="34" charset="-122"/>
                                </a:rPr>
                                <m:t>𝑠</m:t>
                              </m:r>
                            </m:sub>
                          </m:sSub>
                        </m:num>
                        <m:den>
                          <m:sSubSup>
                            <m:sSubSupPr>
                              <m:ctrlPr>
                                <a:rPr lang="en-US" altLang="zh-CN" sz="2600" b="0" i="1" smtClean="0">
                                  <a:solidFill>
                                    <a:schemeClr val="accent1"/>
                                  </a:solidFill>
                                  <a:latin typeface="Cambria Math"/>
                                  <a:ea typeface="微软雅黑" panose="020B0503020204020204" pitchFamily="34" charset="-122"/>
                                </a:rPr>
                              </m:ctrlPr>
                            </m:sSubSupPr>
                            <m:e>
                              <m:r>
                                <a:rPr lang="en-US" altLang="zh-CN" sz="2600" b="0" i="1" smtClean="0">
                                  <a:solidFill>
                                    <a:schemeClr val="accent1"/>
                                  </a:solidFill>
                                  <a:latin typeface="Cambria Math" panose="02040503050406030204" pitchFamily="18" charset="0"/>
                                  <a:ea typeface="微软雅黑" panose="020B0503020204020204" pitchFamily="34" charset="-122"/>
                                </a:rPr>
                                <m:t>𝑀</m:t>
                              </m:r>
                            </m:e>
                            <m:sub>
                              <m:r>
                                <a:rPr lang="en-US" altLang="zh-CN" sz="2600" b="0" i="1" smtClean="0">
                                  <a:solidFill>
                                    <a:schemeClr val="accent1"/>
                                  </a:solidFill>
                                  <a:latin typeface="Cambria Math" panose="02040503050406030204" pitchFamily="18" charset="0"/>
                                  <a:ea typeface="微软雅黑" panose="020B0503020204020204" pitchFamily="34" charset="-122"/>
                                </a:rPr>
                                <m:t>𝑠</m:t>
                              </m:r>
                            </m:sub>
                            <m:sup>
                              <m:r>
                                <a:rPr lang="en-US" altLang="zh-CN" sz="2600" b="0" i="1" smtClean="0">
                                  <a:solidFill>
                                    <a:schemeClr val="accent1"/>
                                  </a:solidFill>
                                  <a:latin typeface="Cambria Math" panose="02040503050406030204" pitchFamily="18" charset="0"/>
                                  <a:ea typeface="微软雅黑" panose="020B0503020204020204" pitchFamily="34" charset="-122"/>
                                </a:rPr>
                                <m:t>∗</m:t>
                              </m:r>
                            </m:sup>
                          </m:sSubSup>
                        </m:den>
                      </m:f>
                      <m:r>
                        <a:rPr lang="en-US" altLang="zh-CN" sz="2600" b="0" i="1" smtClean="0">
                          <a:solidFill>
                            <a:schemeClr val="accent1"/>
                          </a:solidFill>
                          <a:latin typeface="Cambria Math" panose="02040503050406030204" pitchFamily="18" charset="0"/>
                          <a:ea typeface="Cambria Math" panose="02040503050406030204" pitchFamily="18" charset="0"/>
                        </a:rPr>
                        <m:t>⋅</m:t>
                      </m:r>
                      <m:sSup>
                        <m:sSupPr>
                          <m:ctrlPr>
                            <a:rPr lang="en-US" altLang="zh-CN" sz="2600" b="0" i="1" smtClean="0">
                              <a:solidFill>
                                <a:schemeClr val="accent1"/>
                              </a:solidFill>
                              <a:latin typeface="Cambria Math"/>
                              <a:ea typeface="Cambria Math" panose="02040503050406030204" pitchFamily="18" charset="0"/>
                            </a:rPr>
                          </m:ctrlPr>
                        </m:sSupPr>
                        <m:e>
                          <m:d>
                            <m:dPr>
                              <m:ctrlPr>
                                <a:rPr lang="en-US" altLang="zh-CN" sz="2600" i="1">
                                  <a:solidFill>
                                    <a:schemeClr val="accent1"/>
                                  </a:solidFill>
                                  <a:latin typeface="Cambria Math"/>
                                  <a:ea typeface="Cambria Math" panose="02040503050406030204" pitchFamily="18" charset="0"/>
                                </a:rPr>
                              </m:ctrlPr>
                            </m:dPr>
                            <m:e>
                              <m:f>
                                <m:fPr>
                                  <m:ctrlPr>
                                    <a:rPr lang="en-US" altLang="zh-CN" sz="2600" i="1">
                                      <a:solidFill>
                                        <a:schemeClr val="accent1"/>
                                      </a:solidFill>
                                      <a:latin typeface="Cambria Math"/>
                                      <a:ea typeface="Cambria Math" panose="02040503050406030204" pitchFamily="18" charset="0"/>
                                    </a:rPr>
                                  </m:ctrlPr>
                                </m:fPr>
                                <m:num>
                                  <m:sSup>
                                    <m:sSupPr>
                                      <m:ctrlPr>
                                        <a:rPr lang="en-US" altLang="zh-CN" sz="2600" i="1">
                                          <a:solidFill>
                                            <a:schemeClr val="accent1"/>
                                          </a:solidFill>
                                          <a:latin typeface="Cambria Math"/>
                                          <a:ea typeface="Cambria Math" panose="02040503050406030204" pitchFamily="18" charset="0"/>
                                        </a:rPr>
                                      </m:ctrlPr>
                                    </m:sSupPr>
                                    <m:e>
                                      <m:r>
                                        <a:rPr lang="en-US" altLang="zh-CN" sz="2600" i="1">
                                          <a:solidFill>
                                            <a:schemeClr val="accent1"/>
                                          </a:solidFill>
                                          <a:latin typeface="Cambria Math" panose="02040503050406030204" pitchFamily="18" charset="0"/>
                                          <a:ea typeface="Cambria Math" panose="02040503050406030204" pitchFamily="18" charset="0"/>
                                        </a:rPr>
                                        <m:t>𝑌</m:t>
                                      </m:r>
                                    </m:e>
                                    <m:sup>
                                      <m:r>
                                        <a:rPr lang="en-US" altLang="zh-CN" sz="2600" i="1">
                                          <a:solidFill>
                                            <a:schemeClr val="accent1"/>
                                          </a:solidFill>
                                          <a:latin typeface="Cambria Math" panose="02040503050406030204" pitchFamily="18" charset="0"/>
                                          <a:ea typeface="Cambria Math" panose="02040503050406030204" pitchFamily="18" charset="0"/>
                                        </a:rPr>
                                        <m:t>∗</m:t>
                                      </m:r>
                                    </m:sup>
                                  </m:sSup>
                                </m:num>
                                <m:den>
                                  <m:r>
                                    <a:rPr lang="en-US" altLang="zh-CN" sz="2600" i="1">
                                      <a:solidFill>
                                        <a:schemeClr val="accent1"/>
                                      </a:solidFill>
                                      <a:latin typeface="Cambria Math" panose="02040503050406030204" pitchFamily="18" charset="0"/>
                                      <a:ea typeface="Cambria Math" panose="02040503050406030204" pitchFamily="18" charset="0"/>
                                    </a:rPr>
                                    <m:t>𝑌</m:t>
                                  </m:r>
                                </m:den>
                              </m:f>
                            </m:e>
                          </m:d>
                        </m:e>
                        <m:sup>
                          <m:r>
                            <a:rPr lang="zh-CN" altLang="en-US" sz="2600" b="0" i="1" smtClean="0">
                              <a:solidFill>
                                <a:schemeClr val="accent1"/>
                              </a:solidFill>
                              <a:latin typeface="Cambria Math" panose="02040503050406030204" pitchFamily="18" charset="0"/>
                              <a:ea typeface="Cambria Math" panose="02040503050406030204" pitchFamily="18" charset="0"/>
                            </a:rPr>
                            <m:t>𝛼</m:t>
                          </m:r>
                        </m:sup>
                      </m:sSup>
                      <m:sSup>
                        <m:sSupPr>
                          <m:ctrlPr>
                            <a:rPr lang="en-US" altLang="zh-CN" sz="2600" i="1">
                              <a:solidFill>
                                <a:schemeClr val="accent1"/>
                              </a:solidFill>
                              <a:latin typeface="Cambria Math"/>
                              <a:ea typeface="Cambria Math" panose="02040503050406030204" pitchFamily="18" charset="0"/>
                            </a:rPr>
                          </m:ctrlPr>
                        </m:sSupPr>
                        <m:e>
                          <m:d>
                            <m:dPr>
                              <m:ctrlPr>
                                <a:rPr lang="en-US" altLang="zh-CN" sz="2600" i="1">
                                  <a:solidFill>
                                    <a:schemeClr val="accent1"/>
                                  </a:solidFill>
                                  <a:latin typeface="Cambria Math"/>
                                  <a:ea typeface="Cambria Math" panose="02040503050406030204" pitchFamily="18" charset="0"/>
                                </a:rPr>
                              </m:ctrlPr>
                            </m:dPr>
                            <m:e>
                              <m:f>
                                <m:fPr>
                                  <m:ctrlPr>
                                    <a:rPr lang="en-US" altLang="zh-CN" sz="2600" i="1">
                                      <a:solidFill>
                                        <a:schemeClr val="accent1"/>
                                      </a:solidFill>
                                      <a:latin typeface="Cambria Math"/>
                                      <a:ea typeface="Cambria Math" panose="02040503050406030204" pitchFamily="18" charset="0"/>
                                    </a:rPr>
                                  </m:ctrlPr>
                                </m:fPr>
                                <m:num>
                                  <m:r>
                                    <a:rPr lang="en-US" altLang="zh-CN" sz="2600" b="0" i="1" smtClean="0">
                                      <a:solidFill>
                                        <a:schemeClr val="accent1"/>
                                      </a:solidFill>
                                      <a:latin typeface="Cambria Math" panose="02040503050406030204" pitchFamily="18" charset="0"/>
                                      <a:ea typeface="Cambria Math" panose="02040503050406030204" pitchFamily="18" charset="0"/>
                                    </a:rPr>
                                    <m:t>𝐼</m:t>
                                  </m:r>
                                </m:num>
                                <m:den>
                                  <m:sSup>
                                    <m:sSupPr>
                                      <m:ctrlPr>
                                        <a:rPr lang="en-US" altLang="zh-CN" sz="2600" i="1">
                                          <a:solidFill>
                                            <a:schemeClr val="accent1"/>
                                          </a:solidFill>
                                          <a:latin typeface="Cambria Math"/>
                                          <a:ea typeface="Cambria Math" panose="02040503050406030204" pitchFamily="18" charset="0"/>
                                        </a:rPr>
                                      </m:ctrlPr>
                                    </m:sSupPr>
                                    <m:e>
                                      <m:r>
                                        <a:rPr lang="en-US" altLang="zh-CN" sz="2600" b="0" i="1" smtClean="0">
                                          <a:solidFill>
                                            <a:schemeClr val="accent1"/>
                                          </a:solidFill>
                                          <a:latin typeface="Cambria Math" panose="02040503050406030204" pitchFamily="18" charset="0"/>
                                          <a:ea typeface="Cambria Math" panose="02040503050406030204" pitchFamily="18" charset="0"/>
                                        </a:rPr>
                                        <m:t>𝐼</m:t>
                                      </m:r>
                                    </m:e>
                                    <m:sup>
                                      <m:r>
                                        <a:rPr lang="en-US" altLang="zh-CN" sz="2600" i="1">
                                          <a:solidFill>
                                            <a:schemeClr val="accent1"/>
                                          </a:solidFill>
                                          <a:latin typeface="Cambria Math" panose="02040503050406030204" pitchFamily="18" charset="0"/>
                                          <a:ea typeface="Cambria Math" panose="02040503050406030204" pitchFamily="18" charset="0"/>
                                        </a:rPr>
                                        <m:t>∗</m:t>
                                      </m:r>
                                    </m:sup>
                                  </m:sSup>
                                </m:den>
                              </m:f>
                            </m:e>
                          </m:d>
                        </m:e>
                        <m:sup>
                          <m:r>
                            <a:rPr lang="zh-CN" altLang="en-US" sz="2600" i="1" smtClean="0">
                              <a:solidFill>
                                <a:schemeClr val="accent1"/>
                              </a:solidFill>
                              <a:latin typeface="Cambria Math" panose="02040503050406030204" pitchFamily="18" charset="0"/>
                              <a:ea typeface="Cambria Math" panose="02040503050406030204" pitchFamily="18" charset="0"/>
                            </a:rPr>
                            <m:t>𝛽</m:t>
                          </m:r>
                        </m:sup>
                      </m:sSup>
                    </m:oMath>
                  </m:oMathPara>
                </a14:m>
                <a:endParaRPr lang="en-US" altLang="zh-CN" sz="2600" dirty="0" smtClean="0">
                  <a:solidFill>
                    <a:schemeClr val="accent1"/>
                  </a:solidFill>
                  <a:latin typeface="微软雅黑" panose="020B0503020204020204" pitchFamily="34" charset="-122"/>
                  <a:ea typeface="微软雅黑" panose="020B0503020204020204" pitchFamily="34" charset="-122"/>
                </a:endParaRPr>
              </a:p>
              <a:p>
                <a:pPr marL="0" indent="457200">
                  <a:lnSpc>
                    <a:spcPct val="130000"/>
                  </a:lnSpc>
                  <a:buNone/>
                </a:pPr>
                <a:r>
                  <a:rPr lang="zh-CN" altLang="en-US" dirty="0">
                    <a:latin typeface="微软雅黑" panose="020B0503020204020204" pitchFamily="34" charset="-122"/>
                    <a:ea typeface="微软雅黑" panose="020B0503020204020204" pitchFamily="34" charset="-122"/>
                  </a:rPr>
                  <a:t>假定外汇市场上本币贬值超过一定幅度，非冲销式干预通过在外汇市场上出售外币资产实现，造成本国货币供应量减少，带来本国价格水平的下降和本币的升值；冲销式干预维持货币供应量的稳定，如果不考虑预期等其他因素时，不能影响汇率。</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71550" y="1447799"/>
                <a:ext cx="7200900" cy="4841879"/>
              </a:xfrm>
              <a:blipFill rotWithShape="1">
                <a:blip r:embed="rId3"/>
                <a:stretch>
                  <a:fillRect l="-1946" t="-1761" r="-2200" b="-1258"/>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619425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71550" y="1447799"/>
                <a:ext cx="7200900" cy="4841879"/>
              </a:xfrm>
            </p:spPr>
            <p:txBody>
              <a:bodyPr>
                <a:normAutofit/>
              </a:bodyPr>
              <a:lstStyle/>
              <a:p>
                <a:pPr marL="514350" indent="-514350">
                  <a:lnSpc>
                    <a:spcPct val="110000"/>
                  </a:lnSpc>
                  <a:buFont typeface="+mj-lt"/>
                  <a:buAutoNum type="arabicPeriod" startAt="3"/>
                </a:pPr>
                <a:r>
                  <a:rPr lang="zh-CN" altLang="en-US" sz="2800" dirty="0" smtClean="0">
                    <a:solidFill>
                      <a:schemeClr val="accent1"/>
                    </a:solidFill>
                    <a:latin typeface="微软雅黑" panose="020B0503020204020204" pitchFamily="34" charset="-122"/>
                    <a:ea typeface="微软雅黑" panose="020B0503020204020204" pitchFamily="34" charset="-122"/>
                  </a:rPr>
                  <a:t>外汇市场</a:t>
                </a:r>
                <a:r>
                  <a:rPr lang="zh-CN" altLang="en-US" sz="2800" dirty="0">
                    <a:solidFill>
                      <a:schemeClr val="accent1"/>
                    </a:solidFill>
                    <a:latin typeface="微软雅黑" panose="020B0503020204020204" pitchFamily="34" charset="-122"/>
                    <a:ea typeface="微软雅黑" panose="020B0503020204020204" pitchFamily="34" charset="-122"/>
                  </a:rPr>
                  <a:t>干预的效力</a:t>
                </a:r>
                <a:r>
                  <a:rPr lang="zh-CN" altLang="en-US" sz="2800" dirty="0" smtClean="0">
                    <a:solidFill>
                      <a:schemeClr val="accent1"/>
                    </a:solidFill>
                    <a:latin typeface="微软雅黑" panose="020B0503020204020204" pitchFamily="34" charset="-122"/>
                    <a:ea typeface="微软雅黑" panose="020B0503020204020204" pitchFamily="34" charset="-122"/>
                  </a:rPr>
                  <a:t>分析</a:t>
                </a:r>
                <a:endParaRPr lang="en-US" altLang="zh-CN" sz="2800" dirty="0" smtClean="0">
                  <a:solidFill>
                    <a:schemeClr val="accent1"/>
                  </a:solidFill>
                  <a:latin typeface="微软雅黑" panose="020B0503020204020204" pitchFamily="34" charset="-122"/>
                  <a:ea typeface="微软雅黑" panose="020B0503020204020204" pitchFamily="34" charset="-122"/>
                </a:endParaRPr>
              </a:p>
              <a:p>
                <a:pPr marL="742950" lvl="1" indent="-514350">
                  <a:lnSpc>
                    <a:spcPct val="130000"/>
                  </a:lnSpc>
                  <a:buFont typeface="+mj-ea"/>
                  <a:buAutoNum type="circleNumDbPlain"/>
                </a:pPr>
                <a:r>
                  <a:rPr lang="zh-CN" altLang="en-US" sz="2000" dirty="0">
                    <a:latin typeface="微软雅黑" panose="020B0503020204020204" pitchFamily="34" charset="-122"/>
                    <a:ea typeface="微软雅黑" panose="020B0503020204020204" pitchFamily="34" charset="-122"/>
                  </a:rPr>
                  <a:t>干预的资产调整</a:t>
                </a:r>
                <a:r>
                  <a:rPr lang="zh-CN" altLang="en-US" sz="2000" dirty="0" smtClean="0">
                    <a:latin typeface="微软雅黑" panose="020B0503020204020204" pitchFamily="34" charset="-122"/>
                    <a:ea typeface="微软雅黑" panose="020B0503020204020204" pitchFamily="34" charset="-122"/>
                  </a:rPr>
                  <a:t>效应</a:t>
                </a:r>
                <a:endParaRPr lang="en-US" altLang="zh-CN" sz="2000" dirty="0" smtClean="0">
                  <a:latin typeface="微软雅黑" panose="020B0503020204020204" pitchFamily="34" charset="-122"/>
                  <a:ea typeface="微软雅黑" panose="020B0503020204020204" pitchFamily="34" charset="-122"/>
                </a:endParaRPr>
              </a:p>
              <a:p>
                <a:pPr marL="742950" lvl="1" indent="-514350">
                  <a:lnSpc>
                    <a:spcPct val="130000"/>
                  </a:lnSpc>
                  <a:buFont typeface="+mj-lt"/>
                  <a:buAutoNum type="alphaLcParenR" startAt="2"/>
                </a:pPr>
                <a:r>
                  <a:rPr lang="zh-CN" altLang="en-US" sz="2000" dirty="0">
                    <a:latin typeface="微软雅黑" panose="020B0503020204020204" pitchFamily="34" charset="-122"/>
                    <a:ea typeface="微软雅黑" panose="020B0503020204020204" pitchFamily="34" charset="-122"/>
                  </a:rPr>
                  <a:t>运用资产组合模型的</a:t>
                </a:r>
                <a:r>
                  <a:rPr lang="zh-CN" altLang="en-US" sz="2000" dirty="0" smtClean="0">
                    <a:latin typeface="微软雅黑" panose="020B0503020204020204" pitchFamily="34" charset="-122"/>
                    <a:ea typeface="微软雅黑" panose="020B0503020204020204" pitchFamily="34" charset="-122"/>
                  </a:rPr>
                  <a:t>分析</a:t>
                </a:r>
                <a:endParaRPr lang="en-US" altLang="zh-CN" sz="2000" dirty="0" smtClean="0">
                  <a:latin typeface="微软雅黑" panose="020B0503020204020204" pitchFamily="34" charset="-122"/>
                  <a:ea typeface="微软雅黑" panose="020B0503020204020204" pitchFamily="34" charset="-122"/>
                </a:endParaRPr>
              </a:p>
              <a:p>
                <a:pPr marL="228600" lvl="1" indent="0">
                  <a:lnSpc>
                    <a:spcPct val="130000"/>
                  </a:lnSpc>
                  <a:buNone/>
                </a:pPr>
                <a:endParaRPr lang="en-US" altLang="zh-CN" sz="2000" dirty="0" smtClean="0">
                  <a:latin typeface="微软雅黑" panose="020B0503020204020204" pitchFamily="34" charset="-122"/>
                  <a:ea typeface="微软雅黑" panose="020B0503020204020204" pitchFamily="34" charset="-122"/>
                </a:endParaRPr>
              </a:p>
              <a:p>
                <a:pPr marL="228600" lvl="1" indent="0">
                  <a:lnSpc>
                    <a:spcPct val="130000"/>
                  </a:lnSpc>
                  <a:buNone/>
                </a:pPr>
                <a14:m>
                  <m:oMathPara xmlns:m="http://schemas.openxmlformats.org/officeDocument/2006/math">
                    <m:oMathParaPr>
                      <m:jc m:val="centerGroup"/>
                    </m:oMathParaPr>
                    <m:oMath xmlns:m="http://schemas.openxmlformats.org/officeDocument/2006/math">
                      <m:r>
                        <a:rPr lang="en-US" altLang="zh-CN" sz="2400" b="0" i="1" smtClean="0">
                          <a:solidFill>
                            <a:schemeClr val="accent1"/>
                          </a:solidFill>
                          <a:latin typeface="Cambria Math" panose="02040503050406030204" pitchFamily="18" charset="0"/>
                          <a:ea typeface="微软雅黑" panose="020B0503020204020204" pitchFamily="34" charset="-122"/>
                        </a:rPr>
                        <m:t>𝑊</m:t>
                      </m:r>
                      <m:r>
                        <a:rPr lang="en-US" altLang="zh-CN" sz="2400" b="0" i="1" smtClean="0">
                          <a:solidFill>
                            <a:schemeClr val="accent1"/>
                          </a:solidFill>
                          <a:latin typeface="Cambria Math" panose="02040503050406030204" pitchFamily="18" charset="0"/>
                          <a:ea typeface="微软雅黑" panose="020B0503020204020204" pitchFamily="34" charset="-122"/>
                        </a:rPr>
                        <m:t>=</m:t>
                      </m:r>
                      <m:r>
                        <a:rPr lang="en-US" altLang="zh-CN" sz="2400" b="0" i="1" smtClean="0">
                          <a:solidFill>
                            <a:schemeClr val="accent1"/>
                          </a:solidFill>
                          <a:latin typeface="Cambria Math" panose="02040503050406030204" pitchFamily="18" charset="0"/>
                          <a:ea typeface="微软雅黑" panose="020B0503020204020204" pitchFamily="34" charset="-122"/>
                        </a:rPr>
                        <m:t>𝑀</m:t>
                      </m:r>
                      <m:d>
                        <m:dPr>
                          <m:ctrlPr>
                            <a:rPr lang="en-US" altLang="zh-CN" sz="2400" b="0" i="1" smtClean="0">
                              <a:solidFill>
                                <a:schemeClr val="accent1"/>
                              </a:solidFill>
                              <a:latin typeface="Cambria Math"/>
                              <a:ea typeface="微软雅黑" panose="020B0503020204020204" pitchFamily="34" charset="-122"/>
                            </a:rPr>
                          </m:ctrlPr>
                        </m:dPr>
                        <m:e>
                          <m:r>
                            <a:rPr lang="en-US" altLang="zh-CN" sz="2400" b="0" i="1" smtClean="0">
                              <a:solidFill>
                                <a:schemeClr val="accent1"/>
                              </a:solidFill>
                              <a:latin typeface="Cambria Math" panose="02040503050406030204" pitchFamily="18" charset="0"/>
                              <a:ea typeface="微软雅黑" panose="020B0503020204020204" pitchFamily="34" charset="-122"/>
                            </a:rPr>
                            <m:t>𝑖</m:t>
                          </m:r>
                          <m:r>
                            <a:rPr lang="en-US" altLang="zh-CN" sz="2400" b="0" i="1" smtClean="0">
                              <a:solidFill>
                                <a:schemeClr val="accent1"/>
                              </a:solidFill>
                              <a:latin typeface="Cambria Math" panose="02040503050406030204" pitchFamily="18" charset="0"/>
                              <a:ea typeface="微软雅黑" panose="020B0503020204020204" pitchFamily="34" charset="-122"/>
                            </a:rPr>
                            <m:t>,</m:t>
                          </m:r>
                          <m:sSup>
                            <m:sSupPr>
                              <m:ctrlPr>
                                <a:rPr lang="en-US" altLang="zh-CN" sz="2400" b="0" i="1" smtClean="0">
                                  <a:solidFill>
                                    <a:schemeClr val="accent1"/>
                                  </a:solidFill>
                                  <a:latin typeface="Cambria Math"/>
                                  <a:ea typeface="微软雅黑" panose="020B0503020204020204" pitchFamily="34" charset="-122"/>
                                </a:rPr>
                              </m:ctrlPr>
                            </m:sSupPr>
                            <m:e>
                              <m:r>
                                <a:rPr lang="en-US" altLang="zh-CN" sz="2400" b="0" i="1" smtClean="0">
                                  <a:solidFill>
                                    <a:schemeClr val="accent1"/>
                                  </a:solidFill>
                                  <a:latin typeface="Cambria Math" panose="02040503050406030204" pitchFamily="18" charset="0"/>
                                  <a:ea typeface="微软雅黑" panose="020B0503020204020204" pitchFamily="34" charset="-122"/>
                                </a:rPr>
                                <m:t>𝑖</m:t>
                              </m:r>
                            </m:e>
                            <m:sup>
                              <m:r>
                                <a:rPr lang="en-US" altLang="zh-CN" sz="2400" b="0" i="1" smtClean="0">
                                  <a:solidFill>
                                    <a:schemeClr val="accent1"/>
                                  </a:solidFill>
                                  <a:latin typeface="Cambria Math" panose="02040503050406030204" pitchFamily="18" charset="0"/>
                                  <a:ea typeface="微软雅黑" panose="020B0503020204020204" pitchFamily="34" charset="-122"/>
                                </a:rPr>
                                <m:t>∗</m:t>
                              </m:r>
                            </m:sup>
                          </m:sSup>
                        </m:e>
                      </m:d>
                      <m:r>
                        <a:rPr lang="en-US" altLang="zh-CN" sz="2400" b="0" i="1" smtClean="0">
                          <a:solidFill>
                            <a:schemeClr val="accent1"/>
                          </a:solidFill>
                          <a:latin typeface="Cambria Math" panose="02040503050406030204" pitchFamily="18" charset="0"/>
                          <a:ea typeface="微软雅黑" panose="020B0503020204020204" pitchFamily="34" charset="-122"/>
                        </a:rPr>
                        <m:t>+</m:t>
                      </m:r>
                      <m:r>
                        <a:rPr lang="en-US" altLang="zh-CN" sz="2400" b="0" i="1" smtClean="0">
                          <a:solidFill>
                            <a:schemeClr val="accent1"/>
                          </a:solidFill>
                          <a:latin typeface="Cambria Math" panose="02040503050406030204" pitchFamily="18" charset="0"/>
                          <a:ea typeface="微软雅黑" panose="020B0503020204020204" pitchFamily="34" charset="-122"/>
                        </a:rPr>
                        <m:t>𝑁</m:t>
                      </m:r>
                      <m:d>
                        <m:dPr>
                          <m:ctrlPr>
                            <a:rPr lang="en-US" altLang="zh-CN" sz="2400" b="0" i="1" smtClean="0">
                              <a:solidFill>
                                <a:schemeClr val="accent1"/>
                              </a:solidFill>
                              <a:latin typeface="Cambria Math"/>
                              <a:ea typeface="微软雅黑" panose="020B0503020204020204" pitchFamily="34" charset="-122"/>
                            </a:rPr>
                          </m:ctrlPr>
                        </m:dPr>
                        <m:e>
                          <m:r>
                            <a:rPr lang="en-US" altLang="zh-CN" sz="2400" b="0" i="1" smtClean="0">
                              <a:solidFill>
                                <a:schemeClr val="accent1"/>
                              </a:solidFill>
                              <a:latin typeface="Cambria Math" panose="02040503050406030204" pitchFamily="18" charset="0"/>
                              <a:ea typeface="微软雅黑" panose="020B0503020204020204" pitchFamily="34" charset="-122"/>
                            </a:rPr>
                            <m:t>𝑖</m:t>
                          </m:r>
                          <m:r>
                            <a:rPr lang="en-US" altLang="zh-CN" sz="2400" b="0" i="1" smtClean="0">
                              <a:solidFill>
                                <a:schemeClr val="accent1"/>
                              </a:solidFill>
                              <a:latin typeface="Cambria Math" panose="02040503050406030204" pitchFamily="18" charset="0"/>
                              <a:ea typeface="微软雅黑" panose="020B0503020204020204" pitchFamily="34" charset="-122"/>
                            </a:rPr>
                            <m:t>,</m:t>
                          </m:r>
                          <m:sSup>
                            <m:sSupPr>
                              <m:ctrlPr>
                                <a:rPr lang="en-US" altLang="zh-CN" sz="2400" b="0" i="1" smtClean="0">
                                  <a:solidFill>
                                    <a:schemeClr val="accent1"/>
                                  </a:solidFill>
                                  <a:latin typeface="Cambria Math"/>
                                  <a:ea typeface="微软雅黑" panose="020B0503020204020204" pitchFamily="34" charset="-122"/>
                                </a:rPr>
                              </m:ctrlPr>
                            </m:sSupPr>
                            <m:e>
                              <m:r>
                                <a:rPr lang="en-US" altLang="zh-CN" sz="2400" b="0" i="1" smtClean="0">
                                  <a:solidFill>
                                    <a:schemeClr val="accent1"/>
                                  </a:solidFill>
                                  <a:latin typeface="Cambria Math" panose="02040503050406030204" pitchFamily="18" charset="0"/>
                                  <a:ea typeface="微软雅黑" panose="020B0503020204020204" pitchFamily="34" charset="-122"/>
                                </a:rPr>
                                <m:t>𝑖</m:t>
                              </m:r>
                            </m:e>
                            <m:sup>
                              <m:r>
                                <a:rPr lang="en-US" altLang="zh-CN" sz="2400" b="0" i="1" smtClean="0">
                                  <a:solidFill>
                                    <a:schemeClr val="accent1"/>
                                  </a:solidFill>
                                  <a:latin typeface="Cambria Math" panose="02040503050406030204" pitchFamily="18" charset="0"/>
                                  <a:ea typeface="微软雅黑" panose="020B0503020204020204" pitchFamily="34" charset="-122"/>
                                </a:rPr>
                                <m:t>∗</m:t>
                              </m:r>
                            </m:sup>
                          </m:sSup>
                        </m:e>
                      </m:d>
                      <m:r>
                        <a:rPr lang="en-US" altLang="zh-CN" sz="2400" b="0" i="1" smtClean="0">
                          <a:solidFill>
                            <a:schemeClr val="accent1"/>
                          </a:solidFill>
                          <a:latin typeface="Cambria Math" panose="02040503050406030204" pitchFamily="18" charset="0"/>
                          <a:ea typeface="微软雅黑" panose="020B0503020204020204" pitchFamily="34" charset="-122"/>
                        </a:rPr>
                        <m:t>+</m:t>
                      </m:r>
                      <m:r>
                        <a:rPr lang="en-US" altLang="zh-CN" sz="2400" b="0" i="1" smtClean="0">
                          <a:solidFill>
                            <a:schemeClr val="accent1"/>
                          </a:solidFill>
                          <a:latin typeface="Cambria Math" panose="02040503050406030204" pitchFamily="18" charset="0"/>
                          <a:ea typeface="微软雅黑" panose="020B0503020204020204" pitchFamily="34" charset="-122"/>
                        </a:rPr>
                        <m:t>𝑒𝐹</m:t>
                      </m:r>
                      <m:d>
                        <m:dPr>
                          <m:ctrlPr>
                            <a:rPr lang="en-US" altLang="zh-CN" sz="2400" b="0" i="1" smtClean="0">
                              <a:solidFill>
                                <a:schemeClr val="accent1"/>
                              </a:solidFill>
                              <a:latin typeface="Cambria Math"/>
                              <a:ea typeface="微软雅黑" panose="020B0503020204020204" pitchFamily="34" charset="-122"/>
                            </a:rPr>
                          </m:ctrlPr>
                        </m:dPr>
                        <m:e>
                          <m:r>
                            <a:rPr lang="en-US" altLang="zh-CN" sz="2400" b="0" i="1" smtClean="0">
                              <a:solidFill>
                                <a:schemeClr val="accent1"/>
                              </a:solidFill>
                              <a:latin typeface="Cambria Math" panose="02040503050406030204" pitchFamily="18" charset="0"/>
                              <a:ea typeface="微软雅黑" panose="020B0503020204020204" pitchFamily="34" charset="-122"/>
                            </a:rPr>
                            <m:t>𝑖</m:t>
                          </m:r>
                          <m:r>
                            <a:rPr lang="en-US" altLang="zh-CN" sz="2400" b="0" i="1" smtClean="0">
                              <a:solidFill>
                                <a:schemeClr val="accent1"/>
                              </a:solidFill>
                              <a:latin typeface="Cambria Math" panose="02040503050406030204" pitchFamily="18" charset="0"/>
                              <a:ea typeface="微软雅黑" panose="020B0503020204020204" pitchFamily="34" charset="-122"/>
                            </a:rPr>
                            <m:t>,</m:t>
                          </m:r>
                          <m:sSup>
                            <m:sSupPr>
                              <m:ctrlPr>
                                <a:rPr lang="en-US" altLang="zh-CN" sz="2400" i="1">
                                  <a:solidFill>
                                    <a:schemeClr val="accent1"/>
                                  </a:solidFill>
                                  <a:latin typeface="Cambria Math"/>
                                  <a:ea typeface="微软雅黑" panose="020B0503020204020204" pitchFamily="34" charset="-122"/>
                                </a:rPr>
                              </m:ctrlPr>
                            </m:sSupPr>
                            <m:e>
                              <m:r>
                                <a:rPr lang="en-US" altLang="zh-CN" sz="2400" i="1">
                                  <a:solidFill>
                                    <a:schemeClr val="accent1"/>
                                  </a:solidFill>
                                  <a:latin typeface="Cambria Math" panose="02040503050406030204" pitchFamily="18" charset="0"/>
                                  <a:ea typeface="微软雅黑" panose="020B0503020204020204" pitchFamily="34" charset="-122"/>
                                </a:rPr>
                                <m:t>𝑖</m:t>
                              </m:r>
                            </m:e>
                            <m:sup>
                              <m:r>
                                <a:rPr lang="en-US" altLang="zh-CN" sz="2400" i="1">
                                  <a:solidFill>
                                    <a:schemeClr val="accent1"/>
                                  </a:solidFill>
                                  <a:latin typeface="Cambria Math" panose="02040503050406030204" pitchFamily="18" charset="0"/>
                                  <a:ea typeface="微软雅黑" panose="020B0503020204020204" pitchFamily="34" charset="-122"/>
                                </a:rPr>
                                <m:t>∗</m:t>
                              </m:r>
                            </m:sup>
                          </m:sSup>
                        </m:e>
                      </m:d>
                    </m:oMath>
                  </m:oMathPara>
                </a14:m>
                <a:endParaRPr lang="zh-CN" altLang="en-US" sz="2400" dirty="0">
                  <a:latin typeface="微软雅黑" panose="020B0503020204020204" pitchFamily="34" charset="-122"/>
                  <a:ea typeface="微软雅黑" panose="020B0503020204020204" pitchFamily="34"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71550" y="1447799"/>
                <a:ext cx="7200900" cy="4841879"/>
              </a:xfrm>
              <a:blipFill rotWithShape="1">
                <a:blip r:embed="rId3"/>
                <a:stretch>
                  <a:fillRect l="-1946" t="-1761"/>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327765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6" name="Line 2"/>
          <p:cNvSpPr>
            <a:spLocks noChangeShapeType="1"/>
          </p:cNvSpPr>
          <p:nvPr/>
        </p:nvSpPr>
        <p:spPr bwMode="auto">
          <a:xfrm flipV="1">
            <a:off x="2159165" y="2277425"/>
            <a:ext cx="0" cy="3529013"/>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7" name="Line 3"/>
          <p:cNvSpPr>
            <a:spLocks noChangeShapeType="1"/>
          </p:cNvSpPr>
          <p:nvPr/>
        </p:nvSpPr>
        <p:spPr bwMode="auto">
          <a:xfrm>
            <a:off x="2159165" y="5806438"/>
            <a:ext cx="4465637"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8" name="Line 4"/>
          <p:cNvSpPr>
            <a:spLocks noChangeShapeType="1"/>
          </p:cNvSpPr>
          <p:nvPr/>
        </p:nvSpPr>
        <p:spPr bwMode="auto">
          <a:xfrm flipV="1">
            <a:off x="2879890" y="3356925"/>
            <a:ext cx="3168650" cy="1441450"/>
          </a:xfrm>
          <a:prstGeom prst="line">
            <a:avLst/>
          </a:prstGeom>
          <a:noFill/>
          <a:ln w="28575">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9" name="Text Box 5"/>
          <p:cNvSpPr txBox="1">
            <a:spLocks noChangeArrowheads="1"/>
          </p:cNvSpPr>
          <p:nvPr/>
        </p:nvSpPr>
        <p:spPr bwMode="auto">
          <a:xfrm>
            <a:off x="1511465" y="2132963"/>
            <a:ext cx="5048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latin typeface="微软雅黑" panose="020B0503020204020204" pitchFamily="34" charset="-122"/>
                <a:ea typeface="微软雅黑" panose="020B0503020204020204" pitchFamily="34" charset="-122"/>
              </a:rPr>
              <a:t>e</a:t>
            </a:r>
          </a:p>
        </p:txBody>
      </p:sp>
      <p:sp>
        <p:nvSpPr>
          <p:cNvPr id="10" name="Text Box 6"/>
          <p:cNvSpPr txBox="1">
            <a:spLocks noChangeArrowheads="1"/>
          </p:cNvSpPr>
          <p:nvPr/>
        </p:nvSpPr>
        <p:spPr bwMode="auto">
          <a:xfrm>
            <a:off x="6623215" y="5574663"/>
            <a:ext cx="5048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latin typeface="微软雅黑" panose="020B0503020204020204" pitchFamily="34" charset="-122"/>
                <a:ea typeface="微软雅黑" panose="020B0503020204020204" pitchFamily="34" charset="-122"/>
              </a:rPr>
              <a:t>i</a:t>
            </a:r>
          </a:p>
        </p:txBody>
      </p:sp>
      <p:sp>
        <p:nvSpPr>
          <p:cNvPr id="11" name="Text Box 7"/>
          <p:cNvSpPr txBox="1">
            <a:spLocks noChangeArrowheads="1"/>
          </p:cNvSpPr>
          <p:nvPr/>
        </p:nvSpPr>
        <p:spPr bwMode="auto">
          <a:xfrm>
            <a:off x="5975515" y="2782250"/>
            <a:ext cx="9366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latin typeface="微软雅黑" panose="020B0503020204020204" pitchFamily="34" charset="-122"/>
                <a:ea typeface="微软雅黑" panose="020B0503020204020204" pitchFamily="34" charset="-122"/>
              </a:rPr>
              <a:t>MM</a:t>
            </a:r>
          </a:p>
        </p:txBody>
      </p:sp>
      <p:sp>
        <p:nvSpPr>
          <p:cNvPr id="12" name="Text Box 8"/>
          <p:cNvSpPr txBox="1">
            <a:spLocks noChangeArrowheads="1"/>
          </p:cNvSpPr>
          <p:nvPr/>
        </p:nvSpPr>
        <p:spPr bwMode="auto">
          <a:xfrm>
            <a:off x="3240252" y="1340800"/>
            <a:ext cx="32400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dirty="0">
                <a:latin typeface="微软雅黑" panose="020B0503020204020204" pitchFamily="34" charset="-122"/>
                <a:ea typeface="微软雅黑" panose="020B0503020204020204" pitchFamily="34" charset="-122"/>
              </a:rPr>
              <a:t>货币市场均衡</a:t>
            </a:r>
          </a:p>
        </p:txBody>
      </p:sp>
      <p:sp>
        <p:nvSpPr>
          <p:cNvPr id="13" name="Text Box 9"/>
          <p:cNvSpPr txBox="1">
            <a:spLocks noChangeArrowheads="1"/>
          </p:cNvSpPr>
          <p:nvPr/>
        </p:nvSpPr>
        <p:spPr bwMode="auto">
          <a:xfrm>
            <a:off x="1727365" y="5590538"/>
            <a:ext cx="5048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latin typeface="微软雅黑" panose="020B0503020204020204" pitchFamily="34" charset="-122"/>
                <a:ea typeface="微软雅黑" panose="020B0503020204020204" pitchFamily="34" charset="-122"/>
              </a:rPr>
              <a:t>O</a:t>
            </a:r>
          </a:p>
        </p:txBody>
      </p:sp>
      <p:grpSp>
        <p:nvGrpSpPr>
          <p:cNvPr id="14" name="Group 10"/>
          <p:cNvGrpSpPr>
            <a:grpSpLocks/>
          </p:cNvGrpSpPr>
          <p:nvPr/>
        </p:nvGrpSpPr>
        <p:grpSpPr bwMode="auto">
          <a:xfrm>
            <a:off x="2448090" y="3069588"/>
            <a:ext cx="2736850" cy="1081087"/>
            <a:chOff x="1701" y="1525"/>
            <a:chExt cx="1724" cy="681"/>
          </a:xfrm>
        </p:grpSpPr>
        <p:sp>
          <p:nvSpPr>
            <p:cNvPr id="15" name="Line 11"/>
            <p:cNvSpPr>
              <a:spLocks noChangeShapeType="1"/>
            </p:cNvSpPr>
            <p:nvPr/>
          </p:nvSpPr>
          <p:spPr bwMode="auto">
            <a:xfrm flipH="1" flipV="1">
              <a:off x="2426" y="1979"/>
              <a:ext cx="227" cy="22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6" name="Text Box 12"/>
            <p:cNvSpPr txBox="1">
              <a:spLocks noChangeArrowheads="1"/>
            </p:cNvSpPr>
            <p:nvPr/>
          </p:nvSpPr>
          <p:spPr bwMode="auto">
            <a:xfrm>
              <a:off x="1701" y="1525"/>
              <a:ext cx="17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dirty="0">
                  <a:solidFill>
                    <a:schemeClr val="accent1"/>
                  </a:solidFill>
                  <a:latin typeface="微软雅黑" panose="020B0503020204020204" pitchFamily="34" charset="-122"/>
                  <a:ea typeface="微软雅黑" panose="020B0503020204020204" pitchFamily="34" charset="-122"/>
                </a:rPr>
                <a:t>货币供给增加</a:t>
              </a:r>
            </a:p>
          </p:txBody>
        </p:sp>
      </p:grpSp>
      <p:grpSp>
        <p:nvGrpSpPr>
          <p:cNvPr id="17" name="Group 13"/>
          <p:cNvGrpSpPr>
            <a:grpSpLocks/>
          </p:cNvGrpSpPr>
          <p:nvPr/>
        </p:nvGrpSpPr>
        <p:grpSpPr bwMode="auto">
          <a:xfrm>
            <a:off x="4751552" y="4149090"/>
            <a:ext cx="2376488" cy="833438"/>
            <a:chOff x="3152" y="2205"/>
            <a:chExt cx="1497" cy="525"/>
          </a:xfrm>
        </p:grpSpPr>
        <p:sp>
          <p:nvSpPr>
            <p:cNvPr id="18" name="Text Box 14"/>
            <p:cNvSpPr txBox="1">
              <a:spLocks noChangeArrowheads="1"/>
            </p:cNvSpPr>
            <p:nvPr/>
          </p:nvSpPr>
          <p:spPr bwMode="auto">
            <a:xfrm>
              <a:off x="3152" y="2478"/>
              <a:ext cx="14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dirty="0">
                  <a:solidFill>
                    <a:schemeClr val="accent1"/>
                  </a:solidFill>
                  <a:latin typeface="微软雅黑" panose="020B0503020204020204" pitchFamily="34" charset="-122"/>
                  <a:ea typeface="微软雅黑" panose="020B0503020204020204" pitchFamily="34" charset="-122"/>
                </a:rPr>
                <a:t>货币供给减少</a:t>
              </a:r>
            </a:p>
          </p:txBody>
        </p:sp>
        <p:sp>
          <p:nvSpPr>
            <p:cNvPr id="19" name="Line 15"/>
            <p:cNvSpPr>
              <a:spLocks noChangeShapeType="1"/>
            </p:cNvSpPr>
            <p:nvPr/>
          </p:nvSpPr>
          <p:spPr bwMode="auto">
            <a:xfrm>
              <a:off x="3334" y="2205"/>
              <a:ext cx="182" cy="18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078307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1+#ppt_w/2"/>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9"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0-#ppt_w/2"/>
                                          </p:val>
                                        </p:tav>
                                        <p:tav tm="100000">
                                          <p:val>
                                            <p:strVal val="#ppt_x"/>
                                          </p:val>
                                        </p:tav>
                                      </p:tavLst>
                                    </p:anim>
                                    <p:anim calcmode="lin" valueType="num">
                                      <p:cBhvr additive="base">
                                        <p:cTn id="14" dur="500" fill="hold"/>
                                        <p:tgtEl>
                                          <p:spTgt spid="1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20" name="Line 2"/>
          <p:cNvSpPr>
            <a:spLocks noChangeShapeType="1"/>
          </p:cNvSpPr>
          <p:nvPr/>
        </p:nvSpPr>
        <p:spPr bwMode="auto">
          <a:xfrm flipV="1">
            <a:off x="2174930" y="2277425"/>
            <a:ext cx="0" cy="3529013"/>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Line 3"/>
          <p:cNvSpPr>
            <a:spLocks noChangeShapeType="1"/>
          </p:cNvSpPr>
          <p:nvPr/>
        </p:nvSpPr>
        <p:spPr bwMode="auto">
          <a:xfrm>
            <a:off x="2174930" y="5806438"/>
            <a:ext cx="4465637"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Line 4"/>
          <p:cNvSpPr>
            <a:spLocks noChangeShapeType="1"/>
          </p:cNvSpPr>
          <p:nvPr/>
        </p:nvSpPr>
        <p:spPr bwMode="auto">
          <a:xfrm flipH="1" flipV="1">
            <a:off x="3256017" y="2564763"/>
            <a:ext cx="2087563" cy="2592387"/>
          </a:xfrm>
          <a:prstGeom prst="line">
            <a:avLst/>
          </a:prstGeom>
          <a:noFill/>
          <a:ln w="28575">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Text Box 5"/>
          <p:cNvSpPr txBox="1">
            <a:spLocks noChangeArrowheads="1"/>
          </p:cNvSpPr>
          <p:nvPr/>
        </p:nvSpPr>
        <p:spPr bwMode="auto">
          <a:xfrm>
            <a:off x="1527230" y="2132963"/>
            <a:ext cx="5048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e</a:t>
            </a:r>
          </a:p>
        </p:txBody>
      </p:sp>
      <p:sp>
        <p:nvSpPr>
          <p:cNvPr id="24" name="Text Box 6"/>
          <p:cNvSpPr txBox="1">
            <a:spLocks noChangeArrowheads="1"/>
          </p:cNvSpPr>
          <p:nvPr/>
        </p:nvSpPr>
        <p:spPr bwMode="auto">
          <a:xfrm>
            <a:off x="6638980" y="5574663"/>
            <a:ext cx="5048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i</a:t>
            </a:r>
          </a:p>
        </p:txBody>
      </p:sp>
      <p:sp>
        <p:nvSpPr>
          <p:cNvPr id="25" name="Text Box 7"/>
          <p:cNvSpPr txBox="1">
            <a:spLocks noChangeArrowheads="1"/>
          </p:cNvSpPr>
          <p:nvPr/>
        </p:nvSpPr>
        <p:spPr bwMode="auto">
          <a:xfrm>
            <a:off x="5559480" y="5157150"/>
            <a:ext cx="9366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BB</a:t>
            </a:r>
          </a:p>
        </p:txBody>
      </p:sp>
      <p:sp>
        <p:nvSpPr>
          <p:cNvPr id="26" name="Text Box 8"/>
          <p:cNvSpPr txBox="1">
            <a:spLocks noChangeArrowheads="1"/>
          </p:cNvSpPr>
          <p:nvPr/>
        </p:nvSpPr>
        <p:spPr bwMode="auto">
          <a:xfrm>
            <a:off x="2679755" y="1311431"/>
            <a:ext cx="36004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dirty="0">
                <a:ea typeface="黑体" panose="02010609060101010101" pitchFamily="49" charset="-122"/>
              </a:rPr>
              <a:t>本国债券市场均衡</a:t>
            </a:r>
          </a:p>
        </p:txBody>
      </p:sp>
      <p:sp>
        <p:nvSpPr>
          <p:cNvPr id="27" name="Text Box 9"/>
          <p:cNvSpPr txBox="1">
            <a:spLocks noChangeArrowheads="1"/>
          </p:cNvSpPr>
          <p:nvPr/>
        </p:nvSpPr>
        <p:spPr bwMode="auto">
          <a:xfrm>
            <a:off x="1743130" y="5590538"/>
            <a:ext cx="5048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O</a:t>
            </a:r>
          </a:p>
        </p:txBody>
      </p:sp>
      <p:grpSp>
        <p:nvGrpSpPr>
          <p:cNvPr id="28" name="Group 10"/>
          <p:cNvGrpSpPr>
            <a:grpSpLocks/>
          </p:cNvGrpSpPr>
          <p:nvPr/>
        </p:nvGrpSpPr>
        <p:grpSpPr bwMode="auto">
          <a:xfrm>
            <a:off x="4667720" y="2493325"/>
            <a:ext cx="1828385" cy="884238"/>
            <a:chOff x="2411" y="1162"/>
            <a:chExt cx="2737" cy="557"/>
          </a:xfrm>
        </p:grpSpPr>
        <p:sp>
          <p:nvSpPr>
            <p:cNvPr id="29" name="Text Box 11"/>
            <p:cNvSpPr txBox="1">
              <a:spLocks noChangeArrowheads="1"/>
            </p:cNvSpPr>
            <p:nvPr/>
          </p:nvSpPr>
          <p:spPr bwMode="auto">
            <a:xfrm>
              <a:off x="3016" y="1162"/>
              <a:ext cx="213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dirty="0">
                  <a:solidFill>
                    <a:schemeClr val="accent1"/>
                  </a:solidFill>
                  <a:ea typeface="黑体" panose="02010609060101010101" pitchFamily="49" charset="-122"/>
                </a:rPr>
                <a:t>本国债券供给增加</a:t>
              </a:r>
            </a:p>
          </p:txBody>
        </p:sp>
        <p:sp>
          <p:nvSpPr>
            <p:cNvPr id="30" name="Line 12"/>
            <p:cNvSpPr>
              <a:spLocks noChangeShapeType="1"/>
            </p:cNvSpPr>
            <p:nvPr/>
          </p:nvSpPr>
          <p:spPr bwMode="auto">
            <a:xfrm flipV="1">
              <a:off x="2411" y="1538"/>
              <a:ext cx="374" cy="18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1" name="Group 13"/>
          <p:cNvGrpSpPr>
            <a:grpSpLocks/>
          </p:cNvGrpSpPr>
          <p:nvPr/>
        </p:nvGrpSpPr>
        <p:grpSpPr bwMode="auto">
          <a:xfrm>
            <a:off x="2940148" y="4364988"/>
            <a:ext cx="1539832" cy="925512"/>
            <a:chOff x="1701" y="2341"/>
            <a:chExt cx="1270" cy="583"/>
          </a:xfrm>
        </p:grpSpPr>
        <p:sp>
          <p:nvSpPr>
            <p:cNvPr id="32" name="Text Box 14"/>
            <p:cNvSpPr txBox="1">
              <a:spLocks noChangeArrowheads="1"/>
            </p:cNvSpPr>
            <p:nvPr/>
          </p:nvSpPr>
          <p:spPr bwMode="auto">
            <a:xfrm>
              <a:off x="1701" y="2478"/>
              <a:ext cx="1179"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dirty="0">
                  <a:solidFill>
                    <a:schemeClr val="accent1"/>
                  </a:solidFill>
                  <a:ea typeface="黑体" panose="02010609060101010101" pitchFamily="49" charset="-122"/>
                </a:rPr>
                <a:t>本国</a:t>
              </a:r>
              <a:r>
                <a:rPr lang="zh-CN" altLang="en-US" sz="2000" dirty="0" smtClean="0">
                  <a:solidFill>
                    <a:schemeClr val="accent1"/>
                  </a:solidFill>
                  <a:ea typeface="黑体" panose="02010609060101010101" pitchFamily="49" charset="-122"/>
                </a:rPr>
                <a:t>债券供给</a:t>
              </a:r>
              <a:r>
                <a:rPr lang="zh-CN" altLang="en-US" sz="2000" dirty="0">
                  <a:solidFill>
                    <a:schemeClr val="accent1"/>
                  </a:solidFill>
                  <a:ea typeface="黑体" panose="02010609060101010101" pitchFamily="49" charset="-122"/>
                </a:rPr>
                <a:t>减少</a:t>
              </a:r>
            </a:p>
          </p:txBody>
        </p:sp>
        <p:sp>
          <p:nvSpPr>
            <p:cNvPr id="33" name="Line 15"/>
            <p:cNvSpPr>
              <a:spLocks noChangeShapeType="1"/>
            </p:cNvSpPr>
            <p:nvPr/>
          </p:nvSpPr>
          <p:spPr bwMode="auto">
            <a:xfrm flipH="1">
              <a:off x="2789" y="2341"/>
              <a:ext cx="182" cy="18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696586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0-#ppt_w/2"/>
                                          </p:val>
                                        </p:tav>
                                        <p:tav tm="100000">
                                          <p:val>
                                            <p:strVal val="#ppt_x"/>
                                          </p:val>
                                        </p:tav>
                                      </p:tavLst>
                                    </p:anim>
                                    <p:anim calcmode="lin" valueType="num">
                                      <p:cBhvr additive="base">
                                        <p:cTn id="8"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3" fill="hold" nodeType="clickEffect">
                                  <p:stCondLst>
                                    <p:cond delay="0"/>
                                  </p:stCondLst>
                                  <p:childTnLst>
                                    <p:set>
                                      <p:cBhvr>
                                        <p:cTn id="12" dur="1" fill="hold">
                                          <p:stCondLst>
                                            <p:cond delay="0"/>
                                          </p:stCondLst>
                                        </p:cTn>
                                        <p:tgtEl>
                                          <p:spTgt spid="31"/>
                                        </p:tgtEl>
                                        <p:attrNameLst>
                                          <p:attrName>style.visibility</p:attrName>
                                        </p:attrNameLst>
                                      </p:cBhvr>
                                      <p:to>
                                        <p:strVal val="visible"/>
                                      </p:to>
                                    </p:set>
                                    <p:anim calcmode="lin" valueType="num">
                                      <p:cBhvr additive="base">
                                        <p:cTn id="13" dur="500" fill="hold"/>
                                        <p:tgtEl>
                                          <p:spTgt spid="31"/>
                                        </p:tgtEl>
                                        <p:attrNameLst>
                                          <p:attrName>ppt_x</p:attrName>
                                        </p:attrNameLst>
                                      </p:cBhvr>
                                      <p:tavLst>
                                        <p:tav tm="0">
                                          <p:val>
                                            <p:strVal val="1+#ppt_w/2"/>
                                          </p:val>
                                        </p:tav>
                                        <p:tav tm="100000">
                                          <p:val>
                                            <p:strVal val="#ppt_x"/>
                                          </p:val>
                                        </p:tav>
                                      </p:tavLst>
                                    </p:anim>
                                    <p:anim calcmode="lin" valueType="num">
                                      <p:cBhvr additive="base">
                                        <p:cTn id="14" dur="500" fill="hold"/>
                                        <p:tgtEl>
                                          <p:spTgt spid="3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18" name="Line 2"/>
          <p:cNvSpPr>
            <a:spLocks noChangeShapeType="1"/>
          </p:cNvSpPr>
          <p:nvPr/>
        </p:nvSpPr>
        <p:spPr bwMode="auto">
          <a:xfrm flipV="1">
            <a:off x="2190697" y="2278143"/>
            <a:ext cx="0" cy="3529013"/>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 name="Line 3"/>
          <p:cNvSpPr>
            <a:spLocks noChangeShapeType="1"/>
          </p:cNvSpPr>
          <p:nvPr/>
        </p:nvSpPr>
        <p:spPr bwMode="auto">
          <a:xfrm>
            <a:off x="2190697" y="5807156"/>
            <a:ext cx="4465637"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 name="Line 4"/>
          <p:cNvSpPr>
            <a:spLocks noChangeShapeType="1"/>
          </p:cNvSpPr>
          <p:nvPr/>
        </p:nvSpPr>
        <p:spPr bwMode="auto">
          <a:xfrm flipH="1" flipV="1">
            <a:off x="2695522" y="2925843"/>
            <a:ext cx="3384550" cy="1728788"/>
          </a:xfrm>
          <a:prstGeom prst="line">
            <a:avLst/>
          </a:prstGeom>
          <a:noFill/>
          <a:ln w="28575">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Text Box 5"/>
          <p:cNvSpPr txBox="1">
            <a:spLocks noChangeArrowheads="1"/>
          </p:cNvSpPr>
          <p:nvPr/>
        </p:nvSpPr>
        <p:spPr bwMode="auto">
          <a:xfrm>
            <a:off x="1542997" y="2133681"/>
            <a:ext cx="5048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e</a:t>
            </a:r>
          </a:p>
        </p:txBody>
      </p:sp>
      <p:sp>
        <p:nvSpPr>
          <p:cNvPr id="36" name="Text Box 6"/>
          <p:cNvSpPr txBox="1">
            <a:spLocks noChangeArrowheads="1"/>
          </p:cNvSpPr>
          <p:nvPr/>
        </p:nvSpPr>
        <p:spPr bwMode="auto">
          <a:xfrm>
            <a:off x="6654747" y="5575381"/>
            <a:ext cx="5048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i</a:t>
            </a:r>
          </a:p>
        </p:txBody>
      </p:sp>
      <p:sp>
        <p:nvSpPr>
          <p:cNvPr id="37" name="Text Box 7"/>
          <p:cNvSpPr txBox="1">
            <a:spLocks noChangeArrowheads="1"/>
          </p:cNvSpPr>
          <p:nvPr/>
        </p:nvSpPr>
        <p:spPr bwMode="auto">
          <a:xfrm>
            <a:off x="6222947" y="4726068"/>
            <a:ext cx="9366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FF</a:t>
            </a:r>
          </a:p>
        </p:txBody>
      </p:sp>
      <p:sp>
        <p:nvSpPr>
          <p:cNvPr id="38" name="Text Box 8"/>
          <p:cNvSpPr txBox="1">
            <a:spLocks noChangeArrowheads="1"/>
          </p:cNvSpPr>
          <p:nvPr/>
        </p:nvSpPr>
        <p:spPr bwMode="auto">
          <a:xfrm>
            <a:off x="2766959" y="1340082"/>
            <a:ext cx="36004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dirty="0">
                <a:ea typeface="黑体" panose="02010609060101010101" pitchFamily="49" charset="-122"/>
              </a:rPr>
              <a:t>外国债券市场均衡</a:t>
            </a:r>
          </a:p>
        </p:txBody>
      </p:sp>
      <p:sp>
        <p:nvSpPr>
          <p:cNvPr id="39" name="Text Box 9"/>
          <p:cNvSpPr txBox="1">
            <a:spLocks noChangeArrowheads="1"/>
          </p:cNvSpPr>
          <p:nvPr/>
        </p:nvSpPr>
        <p:spPr bwMode="auto">
          <a:xfrm>
            <a:off x="1758897" y="5591256"/>
            <a:ext cx="5048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O</a:t>
            </a:r>
          </a:p>
        </p:txBody>
      </p:sp>
      <p:grpSp>
        <p:nvGrpSpPr>
          <p:cNvPr id="40" name="Group 10"/>
          <p:cNvGrpSpPr>
            <a:grpSpLocks/>
          </p:cNvGrpSpPr>
          <p:nvPr/>
        </p:nvGrpSpPr>
        <p:grpSpPr bwMode="auto">
          <a:xfrm>
            <a:off x="4318673" y="2657403"/>
            <a:ext cx="1501829" cy="852488"/>
            <a:chOff x="2805" y="1162"/>
            <a:chExt cx="2343" cy="537"/>
          </a:xfrm>
        </p:grpSpPr>
        <p:sp>
          <p:nvSpPr>
            <p:cNvPr id="41" name="Text Box 11"/>
            <p:cNvSpPr txBox="1">
              <a:spLocks noChangeArrowheads="1"/>
            </p:cNvSpPr>
            <p:nvPr/>
          </p:nvSpPr>
          <p:spPr bwMode="auto">
            <a:xfrm>
              <a:off x="3016" y="1162"/>
              <a:ext cx="213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dirty="0">
                  <a:solidFill>
                    <a:schemeClr val="accent1"/>
                  </a:solidFill>
                  <a:ea typeface="黑体" panose="02010609060101010101" pitchFamily="49" charset="-122"/>
                </a:rPr>
                <a:t>外国债券供给减少</a:t>
              </a:r>
            </a:p>
          </p:txBody>
        </p:sp>
        <p:sp>
          <p:nvSpPr>
            <p:cNvPr id="42" name="Line 12"/>
            <p:cNvSpPr>
              <a:spLocks noChangeShapeType="1"/>
            </p:cNvSpPr>
            <p:nvPr/>
          </p:nvSpPr>
          <p:spPr bwMode="auto">
            <a:xfrm flipV="1">
              <a:off x="2805" y="1526"/>
              <a:ext cx="275" cy="17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3" name="Group 13"/>
          <p:cNvGrpSpPr>
            <a:grpSpLocks/>
          </p:cNvGrpSpPr>
          <p:nvPr/>
        </p:nvGrpSpPr>
        <p:grpSpPr bwMode="auto">
          <a:xfrm>
            <a:off x="2897944" y="4294267"/>
            <a:ext cx="1282630" cy="996949"/>
            <a:chOff x="1701" y="2296"/>
            <a:chExt cx="1179" cy="628"/>
          </a:xfrm>
        </p:grpSpPr>
        <p:sp>
          <p:nvSpPr>
            <p:cNvPr id="44" name="Text Box 14"/>
            <p:cNvSpPr txBox="1">
              <a:spLocks noChangeArrowheads="1"/>
            </p:cNvSpPr>
            <p:nvPr/>
          </p:nvSpPr>
          <p:spPr bwMode="auto">
            <a:xfrm>
              <a:off x="1701" y="2478"/>
              <a:ext cx="1179"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dirty="0">
                  <a:solidFill>
                    <a:schemeClr val="accent1"/>
                  </a:solidFill>
                  <a:ea typeface="黑体" panose="02010609060101010101" pitchFamily="49" charset="-122"/>
                </a:rPr>
                <a:t>外国债券供给增加</a:t>
              </a:r>
            </a:p>
          </p:txBody>
        </p:sp>
        <p:sp>
          <p:nvSpPr>
            <p:cNvPr id="45" name="Line 15"/>
            <p:cNvSpPr>
              <a:spLocks noChangeShapeType="1"/>
            </p:cNvSpPr>
            <p:nvPr/>
          </p:nvSpPr>
          <p:spPr bwMode="auto">
            <a:xfrm flipH="1">
              <a:off x="2698" y="2296"/>
              <a:ext cx="182" cy="18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819902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additive="base">
                                        <p:cTn id="7" dur="500" fill="hold"/>
                                        <p:tgtEl>
                                          <p:spTgt spid="43"/>
                                        </p:tgtEl>
                                        <p:attrNameLst>
                                          <p:attrName>ppt_x</p:attrName>
                                        </p:attrNameLst>
                                      </p:cBhvr>
                                      <p:tavLst>
                                        <p:tav tm="0">
                                          <p:val>
                                            <p:strVal val="1+#ppt_w/2"/>
                                          </p:val>
                                        </p:tav>
                                        <p:tav tm="100000">
                                          <p:val>
                                            <p:strVal val="#ppt_x"/>
                                          </p:val>
                                        </p:tav>
                                      </p:tavLst>
                                    </p:anim>
                                    <p:anim calcmode="lin" valueType="num">
                                      <p:cBhvr additive="base">
                                        <p:cTn id="8" dur="500" fill="hold"/>
                                        <p:tgtEl>
                                          <p:spTgt spid="43"/>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2" fill="hold" nodeType="clickEffect">
                                  <p:stCondLst>
                                    <p:cond delay="0"/>
                                  </p:stCondLst>
                                  <p:childTnLst>
                                    <p:set>
                                      <p:cBhvr>
                                        <p:cTn id="12" dur="1" fill="hold">
                                          <p:stCondLst>
                                            <p:cond delay="0"/>
                                          </p:stCondLst>
                                        </p:cTn>
                                        <p:tgtEl>
                                          <p:spTgt spid="40"/>
                                        </p:tgtEl>
                                        <p:attrNameLst>
                                          <p:attrName>style.visibility</p:attrName>
                                        </p:attrNameLst>
                                      </p:cBhvr>
                                      <p:to>
                                        <p:strVal val="visible"/>
                                      </p:to>
                                    </p:set>
                                    <p:anim calcmode="lin" valueType="num">
                                      <p:cBhvr additive="base">
                                        <p:cTn id="13" dur="500" fill="hold"/>
                                        <p:tgtEl>
                                          <p:spTgt spid="40"/>
                                        </p:tgtEl>
                                        <p:attrNameLst>
                                          <p:attrName>ppt_x</p:attrName>
                                        </p:attrNameLst>
                                      </p:cBhvr>
                                      <p:tavLst>
                                        <p:tav tm="0">
                                          <p:val>
                                            <p:strVal val="0-#ppt_w/2"/>
                                          </p:val>
                                        </p:tav>
                                        <p:tav tm="100000">
                                          <p:val>
                                            <p:strVal val="#ppt_x"/>
                                          </p:val>
                                        </p:tav>
                                      </p:tavLst>
                                    </p:anim>
                                    <p:anim calcmode="lin" valueType="num">
                                      <p:cBhvr additive="base">
                                        <p:cTn id="14"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20" name="Line 2"/>
          <p:cNvSpPr>
            <a:spLocks noChangeShapeType="1"/>
          </p:cNvSpPr>
          <p:nvPr/>
        </p:nvSpPr>
        <p:spPr bwMode="auto">
          <a:xfrm flipV="1">
            <a:off x="2237992" y="2132962"/>
            <a:ext cx="0" cy="3529013"/>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Line 3"/>
          <p:cNvSpPr>
            <a:spLocks noChangeShapeType="1"/>
          </p:cNvSpPr>
          <p:nvPr/>
        </p:nvSpPr>
        <p:spPr bwMode="auto">
          <a:xfrm>
            <a:off x="2237992" y="5661975"/>
            <a:ext cx="4465637"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Line 4"/>
          <p:cNvSpPr>
            <a:spLocks noChangeShapeType="1"/>
          </p:cNvSpPr>
          <p:nvPr/>
        </p:nvSpPr>
        <p:spPr bwMode="auto">
          <a:xfrm>
            <a:off x="2885692" y="3141025"/>
            <a:ext cx="2952750" cy="1584325"/>
          </a:xfrm>
          <a:prstGeom prst="line">
            <a:avLst/>
          </a:prstGeom>
          <a:noFill/>
          <a:ln w="3175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5"/>
          <p:cNvSpPr>
            <a:spLocks noChangeShapeType="1"/>
          </p:cNvSpPr>
          <p:nvPr/>
        </p:nvSpPr>
        <p:spPr bwMode="auto">
          <a:xfrm flipV="1">
            <a:off x="2958717" y="3212462"/>
            <a:ext cx="3168650" cy="1441450"/>
          </a:xfrm>
          <a:prstGeom prst="line">
            <a:avLst/>
          </a:prstGeom>
          <a:noFill/>
          <a:ln w="28575">
            <a:solidFill>
              <a:srgbClr val="8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6"/>
          <p:cNvSpPr>
            <a:spLocks noChangeShapeType="1"/>
          </p:cNvSpPr>
          <p:nvPr/>
        </p:nvSpPr>
        <p:spPr bwMode="auto">
          <a:xfrm>
            <a:off x="3534979" y="2132962"/>
            <a:ext cx="1511300" cy="3095625"/>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Text Box 7"/>
          <p:cNvSpPr txBox="1">
            <a:spLocks noChangeArrowheads="1"/>
          </p:cNvSpPr>
          <p:nvPr/>
        </p:nvSpPr>
        <p:spPr bwMode="auto">
          <a:xfrm>
            <a:off x="1590292" y="1988500"/>
            <a:ext cx="5048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e</a:t>
            </a:r>
          </a:p>
        </p:txBody>
      </p:sp>
      <p:sp>
        <p:nvSpPr>
          <p:cNvPr id="26" name="Text Box 8"/>
          <p:cNvSpPr txBox="1">
            <a:spLocks noChangeArrowheads="1"/>
          </p:cNvSpPr>
          <p:nvPr/>
        </p:nvSpPr>
        <p:spPr bwMode="auto">
          <a:xfrm>
            <a:off x="6702042" y="5430200"/>
            <a:ext cx="5048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i</a:t>
            </a:r>
          </a:p>
        </p:txBody>
      </p:sp>
      <p:sp>
        <p:nvSpPr>
          <p:cNvPr id="27" name="Text Box 9"/>
          <p:cNvSpPr txBox="1">
            <a:spLocks noChangeArrowheads="1"/>
          </p:cNvSpPr>
          <p:nvPr/>
        </p:nvSpPr>
        <p:spPr bwMode="auto">
          <a:xfrm>
            <a:off x="6054342" y="2637787"/>
            <a:ext cx="9366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MM</a:t>
            </a:r>
          </a:p>
        </p:txBody>
      </p:sp>
      <p:sp>
        <p:nvSpPr>
          <p:cNvPr id="28" name="Text Box 10"/>
          <p:cNvSpPr txBox="1">
            <a:spLocks noChangeArrowheads="1"/>
          </p:cNvSpPr>
          <p:nvPr/>
        </p:nvSpPr>
        <p:spPr bwMode="auto">
          <a:xfrm>
            <a:off x="3246054" y="1485262"/>
            <a:ext cx="7207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BB</a:t>
            </a:r>
          </a:p>
        </p:txBody>
      </p:sp>
      <p:sp>
        <p:nvSpPr>
          <p:cNvPr id="29" name="Text Box 11"/>
          <p:cNvSpPr txBox="1">
            <a:spLocks noChangeArrowheads="1"/>
          </p:cNvSpPr>
          <p:nvPr/>
        </p:nvSpPr>
        <p:spPr bwMode="auto">
          <a:xfrm>
            <a:off x="5911467" y="4725350"/>
            <a:ext cx="6477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FF</a:t>
            </a:r>
          </a:p>
        </p:txBody>
      </p:sp>
      <p:sp>
        <p:nvSpPr>
          <p:cNvPr id="30" name="Text Box 12"/>
          <p:cNvSpPr txBox="1">
            <a:spLocks noChangeArrowheads="1"/>
          </p:cNvSpPr>
          <p:nvPr/>
        </p:nvSpPr>
        <p:spPr bwMode="auto">
          <a:xfrm>
            <a:off x="1806192" y="5446075"/>
            <a:ext cx="5048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O</a:t>
            </a:r>
          </a:p>
        </p:txBody>
      </p:sp>
    </p:spTree>
    <p:extLst>
      <p:ext uri="{BB962C8B-B14F-4D97-AF65-F5344CB8AC3E}">
        <p14:creationId xmlns:p14="http://schemas.microsoft.com/office/powerpoint/2010/main" val="2374543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15" name="Line 2"/>
          <p:cNvSpPr>
            <a:spLocks noChangeShapeType="1"/>
          </p:cNvSpPr>
          <p:nvPr/>
        </p:nvSpPr>
        <p:spPr bwMode="auto">
          <a:xfrm flipV="1">
            <a:off x="2257426" y="2180568"/>
            <a:ext cx="0" cy="3529013"/>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Line 3"/>
          <p:cNvSpPr>
            <a:spLocks noChangeShapeType="1"/>
          </p:cNvSpPr>
          <p:nvPr/>
        </p:nvSpPr>
        <p:spPr bwMode="auto">
          <a:xfrm>
            <a:off x="2257426" y="5709581"/>
            <a:ext cx="4465637"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 name="Line 4"/>
          <p:cNvSpPr>
            <a:spLocks noChangeShapeType="1"/>
          </p:cNvSpPr>
          <p:nvPr/>
        </p:nvSpPr>
        <p:spPr bwMode="auto">
          <a:xfrm>
            <a:off x="2905126" y="3188631"/>
            <a:ext cx="2952750" cy="1584325"/>
          </a:xfrm>
          <a:prstGeom prst="line">
            <a:avLst/>
          </a:prstGeom>
          <a:noFill/>
          <a:ln w="3175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5"/>
          <p:cNvSpPr>
            <a:spLocks noChangeShapeType="1"/>
          </p:cNvSpPr>
          <p:nvPr/>
        </p:nvSpPr>
        <p:spPr bwMode="auto">
          <a:xfrm flipV="1">
            <a:off x="2978151" y="3260068"/>
            <a:ext cx="3168650" cy="1441450"/>
          </a:xfrm>
          <a:prstGeom prst="line">
            <a:avLst/>
          </a:prstGeom>
          <a:noFill/>
          <a:ln w="28575">
            <a:solidFill>
              <a:srgbClr val="8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6"/>
          <p:cNvSpPr>
            <a:spLocks noChangeShapeType="1"/>
          </p:cNvSpPr>
          <p:nvPr/>
        </p:nvSpPr>
        <p:spPr bwMode="auto">
          <a:xfrm>
            <a:off x="3554413" y="2180568"/>
            <a:ext cx="1511300" cy="3095625"/>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Text Box 7"/>
          <p:cNvSpPr txBox="1">
            <a:spLocks noChangeArrowheads="1"/>
          </p:cNvSpPr>
          <p:nvPr/>
        </p:nvSpPr>
        <p:spPr bwMode="auto">
          <a:xfrm>
            <a:off x="1609726" y="2036106"/>
            <a:ext cx="5048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e</a:t>
            </a:r>
          </a:p>
        </p:txBody>
      </p:sp>
      <p:sp>
        <p:nvSpPr>
          <p:cNvPr id="32" name="Text Box 8"/>
          <p:cNvSpPr txBox="1">
            <a:spLocks noChangeArrowheads="1"/>
          </p:cNvSpPr>
          <p:nvPr/>
        </p:nvSpPr>
        <p:spPr bwMode="auto">
          <a:xfrm>
            <a:off x="6721476" y="5477806"/>
            <a:ext cx="5048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i</a:t>
            </a:r>
          </a:p>
        </p:txBody>
      </p:sp>
      <p:sp>
        <p:nvSpPr>
          <p:cNvPr id="33" name="Text Box 9"/>
          <p:cNvSpPr txBox="1">
            <a:spLocks noChangeArrowheads="1"/>
          </p:cNvSpPr>
          <p:nvPr/>
        </p:nvSpPr>
        <p:spPr bwMode="auto">
          <a:xfrm>
            <a:off x="6073776" y="2685393"/>
            <a:ext cx="9366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MM</a:t>
            </a:r>
          </a:p>
        </p:txBody>
      </p:sp>
      <p:sp>
        <p:nvSpPr>
          <p:cNvPr id="34" name="Text Box 10"/>
          <p:cNvSpPr txBox="1">
            <a:spLocks noChangeArrowheads="1"/>
          </p:cNvSpPr>
          <p:nvPr/>
        </p:nvSpPr>
        <p:spPr bwMode="auto">
          <a:xfrm>
            <a:off x="3265488" y="1532868"/>
            <a:ext cx="7207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BB</a:t>
            </a:r>
          </a:p>
        </p:txBody>
      </p:sp>
      <p:sp>
        <p:nvSpPr>
          <p:cNvPr id="35" name="Text Box 11"/>
          <p:cNvSpPr txBox="1">
            <a:spLocks noChangeArrowheads="1"/>
          </p:cNvSpPr>
          <p:nvPr/>
        </p:nvSpPr>
        <p:spPr bwMode="auto">
          <a:xfrm>
            <a:off x="5930901" y="4772956"/>
            <a:ext cx="6477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FF</a:t>
            </a:r>
          </a:p>
        </p:txBody>
      </p:sp>
      <p:sp>
        <p:nvSpPr>
          <p:cNvPr id="36" name="Text Box 12"/>
          <p:cNvSpPr txBox="1">
            <a:spLocks noChangeArrowheads="1"/>
          </p:cNvSpPr>
          <p:nvPr/>
        </p:nvSpPr>
        <p:spPr bwMode="auto">
          <a:xfrm>
            <a:off x="1825626" y="5493681"/>
            <a:ext cx="5048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O</a:t>
            </a:r>
          </a:p>
        </p:txBody>
      </p:sp>
      <p:sp>
        <p:nvSpPr>
          <p:cNvPr id="37" name="Text Box 13"/>
          <p:cNvSpPr txBox="1">
            <a:spLocks noChangeArrowheads="1"/>
          </p:cNvSpPr>
          <p:nvPr/>
        </p:nvSpPr>
        <p:spPr bwMode="auto">
          <a:xfrm>
            <a:off x="5426076" y="1546361"/>
            <a:ext cx="39608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dirty="0">
                <a:ea typeface="黑体" panose="02010609060101010101" pitchFamily="49" charset="-122"/>
              </a:rPr>
              <a:t>非冲销式干预效果</a:t>
            </a:r>
          </a:p>
        </p:txBody>
      </p:sp>
      <p:grpSp>
        <p:nvGrpSpPr>
          <p:cNvPr id="38" name="Group 14"/>
          <p:cNvGrpSpPr>
            <a:grpSpLocks/>
          </p:cNvGrpSpPr>
          <p:nvPr/>
        </p:nvGrpSpPr>
        <p:grpSpPr bwMode="auto">
          <a:xfrm>
            <a:off x="2617788" y="3693456"/>
            <a:ext cx="3095625" cy="1584325"/>
            <a:chOff x="1746" y="1979"/>
            <a:chExt cx="1950" cy="998"/>
          </a:xfrm>
        </p:grpSpPr>
        <p:sp>
          <p:nvSpPr>
            <p:cNvPr id="39" name="Line 15"/>
            <p:cNvSpPr>
              <a:spLocks noChangeShapeType="1"/>
            </p:cNvSpPr>
            <p:nvPr/>
          </p:nvSpPr>
          <p:spPr bwMode="auto">
            <a:xfrm>
              <a:off x="1746" y="1979"/>
              <a:ext cx="1860" cy="998"/>
            </a:xfrm>
            <a:prstGeom prst="line">
              <a:avLst/>
            </a:prstGeom>
            <a:noFill/>
            <a:ln w="3175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Line 16"/>
            <p:cNvSpPr>
              <a:spLocks noChangeShapeType="1"/>
            </p:cNvSpPr>
            <p:nvPr/>
          </p:nvSpPr>
          <p:spPr bwMode="auto">
            <a:xfrm flipH="1">
              <a:off x="3515" y="2659"/>
              <a:ext cx="181" cy="18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1" name="Group 17"/>
          <p:cNvGrpSpPr>
            <a:grpSpLocks/>
          </p:cNvGrpSpPr>
          <p:nvPr/>
        </p:nvGrpSpPr>
        <p:grpSpPr bwMode="auto">
          <a:xfrm>
            <a:off x="3625851" y="3693456"/>
            <a:ext cx="3168650" cy="1800225"/>
            <a:chOff x="2381" y="1979"/>
            <a:chExt cx="1996" cy="1134"/>
          </a:xfrm>
        </p:grpSpPr>
        <p:sp>
          <p:nvSpPr>
            <p:cNvPr id="42" name="Line 18"/>
            <p:cNvSpPr>
              <a:spLocks noChangeShapeType="1"/>
            </p:cNvSpPr>
            <p:nvPr/>
          </p:nvSpPr>
          <p:spPr bwMode="auto">
            <a:xfrm flipV="1">
              <a:off x="2381" y="2205"/>
              <a:ext cx="1996" cy="908"/>
            </a:xfrm>
            <a:prstGeom prst="line">
              <a:avLst/>
            </a:prstGeom>
            <a:noFill/>
            <a:ln w="28575">
              <a:solidFill>
                <a:srgbClr val="8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 name="Line 19"/>
            <p:cNvSpPr>
              <a:spLocks noChangeShapeType="1"/>
            </p:cNvSpPr>
            <p:nvPr/>
          </p:nvSpPr>
          <p:spPr bwMode="auto">
            <a:xfrm>
              <a:off x="3787" y="1979"/>
              <a:ext cx="318" cy="18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4" name="Group 20"/>
          <p:cNvGrpSpPr>
            <a:grpSpLocks/>
          </p:cNvGrpSpPr>
          <p:nvPr/>
        </p:nvGrpSpPr>
        <p:grpSpPr bwMode="auto">
          <a:xfrm>
            <a:off x="2257426" y="4052231"/>
            <a:ext cx="2592387" cy="1657350"/>
            <a:chOff x="1519" y="2205"/>
            <a:chExt cx="1633" cy="1044"/>
          </a:xfrm>
        </p:grpSpPr>
        <p:sp>
          <p:nvSpPr>
            <p:cNvPr id="45" name="Line 21"/>
            <p:cNvSpPr>
              <a:spLocks noChangeShapeType="1"/>
            </p:cNvSpPr>
            <p:nvPr/>
          </p:nvSpPr>
          <p:spPr bwMode="auto">
            <a:xfrm>
              <a:off x="2880" y="2205"/>
              <a:ext cx="0" cy="10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Line 22"/>
            <p:cNvSpPr>
              <a:spLocks noChangeShapeType="1"/>
            </p:cNvSpPr>
            <p:nvPr/>
          </p:nvSpPr>
          <p:spPr bwMode="auto">
            <a:xfrm>
              <a:off x="3152" y="2795"/>
              <a:ext cx="0" cy="4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 name="Line 23"/>
            <p:cNvSpPr>
              <a:spLocks noChangeShapeType="1"/>
            </p:cNvSpPr>
            <p:nvPr/>
          </p:nvSpPr>
          <p:spPr bwMode="auto">
            <a:xfrm flipH="1">
              <a:off x="1519" y="2205"/>
              <a:ext cx="136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 name="Line 24"/>
            <p:cNvSpPr>
              <a:spLocks noChangeShapeType="1"/>
            </p:cNvSpPr>
            <p:nvPr/>
          </p:nvSpPr>
          <p:spPr bwMode="auto">
            <a:xfrm flipH="1">
              <a:off x="1519" y="2750"/>
              <a:ext cx="1633" cy="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9" name="Group 25"/>
          <p:cNvGrpSpPr>
            <a:grpSpLocks/>
          </p:cNvGrpSpPr>
          <p:nvPr/>
        </p:nvGrpSpPr>
        <p:grpSpPr bwMode="auto">
          <a:xfrm>
            <a:off x="1681163" y="4052231"/>
            <a:ext cx="3168650" cy="1944687"/>
            <a:chOff x="1156" y="2205"/>
            <a:chExt cx="1996" cy="1225"/>
          </a:xfrm>
        </p:grpSpPr>
        <p:sp>
          <p:nvSpPr>
            <p:cNvPr id="50" name="Line 26"/>
            <p:cNvSpPr>
              <a:spLocks noChangeShapeType="1"/>
            </p:cNvSpPr>
            <p:nvPr/>
          </p:nvSpPr>
          <p:spPr bwMode="auto">
            <a:xfrm>
              <a:off x="2880" y="3430"/>
              <a:ext cx="27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 name="Line 27"/>
            <p:cNvSpPr>
              <a:spLocks noChangeShapeType="1"/>
            </p:cNvSpPr>
            <p:nvPr/>
          </p:nvSpPr>
          <p:spPr bwMode="auto">
            <a:xfrm>
              <a:off x="1156" y="2205"/>
              <a:ext cx="0" cy="5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2963172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additive="base">
                                        <p:cTn id="7" dur="500" fill="hold"/>
                                        <p:tgtEl>
                                          <p:spTgt spid="38"/>
                                        </p:tgtEl>
                                        <p:attrNameLst>
                                          <p:attrName>ppt_x</p:attrName>
                                        </p:attrNameLst>
                                      </p:cBhvr>
                                      <p:tavLst>
                                        <p:tav tm="0">
                                          <p:val>
                                            <p:strVal val="1+#ppt_w/2"/>
                                          </p:val>
                                        </p:tav>
                                        <p:tav tm="100000">
                                          <p:val>
                                            <p:strVal val="#ppt_x"/>
                                          </p:val>
                                        </p:tav>
                                      </p:tavLst>
                                    </p:anim>
                                    <p:anim calcmode="lin" valueType="num">
                                      <p:cBhvr additive="base">
                                        <p:cTn id="8" dur="500" fill="hold"/>
                                        <p:tgtEl>
                                          <p:spTgt spid="3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1"/>
                                        </p:tgtEl>
                                        <p:attrNameLst>
                                          <p:attrName>style.visibility</p:attrName>
                                        </p:attrNameLst>
                                      </p:cBhvr>
                                      <p:to>
                                        <p:strVal val="visible"/>
                                      </p:to>
                                    </p:set>
                                    <p:anim calcmode="lin" valueType="num">
                                      <p:cBhvr additive="base">
                                        <p:cTn id="13" dur="500" fill="hold"/>
                                        <p:tgtEl>
                                          <p:spTgt spid="41"/>
                                        </p:tgtEl>
                                        <p:attrNameLst>
                                          <p:attrName>ppt_x</p:attrName>
                                        </p:attrNameLst>
                                      </p:cBhvr>
                                      <p:tavLst>
                                        <p:tav tm="0">
                                          <p:val>
                                            <p:strVal val="0-#ppt_w/2"/>
                                          </p:val>
                                        </p:tav>
                                        <p:tav tm="100000">
                                          <p:val>
                                            <p:strVal val="#ppt_x"/>
                                          </p:val>
                                        </p:tav>
                                      </p:tavLst>
                                    </p:anim>
                                    <p:anim calcmode="lin" valueType="num">
                                      <p:cBhvr additive="base">
                                        <p:cTn id="14" dur="500" fill="hold"/>
                                        <p:tgtEl>
                                          <p:spTgt spid="4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37" name="Text Box 13"/>
          <p:cNvSpPr txBox="1">
            <a:spLocks noChangeArrowheads="1"/>
          </p:cNvSpPr>
          <p:nvPr/>
        </p:nvSpPr>
        <p:spPr bwMode="auto">
          <a:xfrm>
            <a:off x="5426076" y="1546361"/>
            <a:ext cx="233929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dirty="0" smtClean="0">
                <a:ea typeface="黑体" panose="02010609060101010101" pitchFamily="49" charset="-122"/>
              </a:rPr>
              <a:t>冲销</a:t>
            </a:r>
            <a:r>
              <a:rPr lang="zh-CN" altLang="en-US" sz="2000" dirty="0">
                <a:ea typeface="黑体" panose="02010609060101010101" pitchFamily="49" charset="-122"/>
              </a:rPr>
              <a:t>式干预效果</a:t>
            </a:r>
          </a:p>
        </p:txBody>
      </p:sp>
      <p:sp>
        <p:nvSpPr>
          <p:cNvPr id="30" name="Line 2"/>
          <p:cNvSpPr>
            <a:spLocks noChangeShapeType="1"/>
          </p:cNvSpPr>
          <p:nvPr/>
        </p:nvSpPr>
        <p:spPr bwMode="auto">
          <a:xfrm flipV="1">
            <a:off x="2218340" y="2132962"/>
            <a:ext cx="0" cy="3529013"/>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 name="Line 3"/>
          <p:cNvSpPr>
            <a:spLocks noChangeShapeType="1"/>
          </p:cNvSpPr>
          <p:nvPr/>
        </p:nvSpPr>
        <p:spPr bwMode="auto">
          <a:xfrm>
            <a:off x="2218340" y="5661975"/>
            <a:ext cx="4465637"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 name="Line 4"/>
          <p:cNvSpPr>
            <a:spLocks noChangeShapeType="1"/>
          </p:cNvSpPr>
          <p:nvPr/>
        </p:nvSpPr>
        <p:spPr bwMode="auto">
          <a:xfrm>
            <a:off x="2866040" y="3141025"/>
            <a:ext cx="2952750" cy="1584325"/>
          </a:xfrm>
          <a:prstGeom prst="line">
            <a:avLst/>
          </a:prstGeom>
          <a:noFill/>
          <a:ln w="3175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 name="Line 5"/>
          <p:cNvSpPr>
            <a:spLocks noChangeShapeType="1"/>
          </p:cNvSpPr>
          <p:nvPr/>
        </p:nvSpPr>
        <p:spPr bwMode="auto">
          <a:xfrm flipV="1">
            <a:off x="2939065" y="3212462"/>
            <a:ext cx="3168650" cy="1441450"/>
          </a:xfrm>
          <a:prstGeom prst="line">
            <a:avLst/>
          </a:prstGeom>
          <a:noFill/>
          <a:ln w="28575">
            <a:solidFill>
              <a:srgbClr val="8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 name="Line 6"/>
          <p:cNvSpPr>
            <a:spLocks noChangeShapeType="1"/>
          </p:cNvSpPr>
          <p:nvPr/>
        </p:nvSpPr>
        <p:spPr bwMode="auto">
          <a:xfrm>
            <a:off x="3515327" y="2132962"/>
            <a:ext cx="1511300" cy="3095625"/>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Text Box 7"/>
          <p:cNvSpPr txBox="1">
            <a:spLocks noChangeArrowheads="1"/>
          </p:cNvSpPr>
          <p:nvPr/>
        </p:nvSpPr>
        <p:spPr bwMode="auto">
          <a:xfrm>
            <a:off x="1570640" y="1988500"/>
            <a:ext cx="5048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e</a:t>
            </a:r>
          </a:p>
        </p:txBody>
      </p:sp>
      <p:sp>
        <p:nvSpPr>
          <p:cNvPr id="57" name="Text Box 8"/>
          <p:cNvSpPr txBox="1">
            <a:spLocks noChangeArrowheads="1"/>
          </p:cNvSpPr>
          <p:nvPr/>
        </p:nvSpPr>
        <p:spPr bwMode="auto">
          <a:xfrm>
            <a:off x="6682390" y="5430200"/>
            <a:ext cx="5048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i</a:t>
            </a:r>
          </a:p>
        </p:txBody>
      </p:sp>
      <p:sp>
        <p:nvSpPr>
          <p:cNvPr id="58" name="Text Box 9"/>
          <p:cNvSpPr txBox="1">
            <a:spLocks noChangeArrowheads="1"/>
          </p:cNvSpPr>
          <p:nvPr/>
        </p:nvSpPr>
        <p:spPr bwMode="auto">
          <a:xfrm>
            <a:off x="6034690" y="2637787"/>
            <a:ext cx="9366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MM</a:t>
            </a:r>
          </a:p>
        </p:txBody>
      </p:sp>
      <p:sp>
        <p:nvSpPr>
          <p:cNvPr id="59" name="Text Box 10"/>
          <p:cNvSpPr txBox="1">
            <a:spLocks noChangeArrowheads="1"/>
          </p:cNvSpPr>
          <p:nvPr/>
        </p:nvSpPr>
        <p:spPr bwMode="auto">
          <a:xfrm>
            <a:off x="3226402" y="1485262"/>
            <a:ext cx="7207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BB</a:t>
            </a:r>
          </a:p>
        </p:txBody>
      </p:sp>
      <p:sp>
        <p:nvSpPr>
          <p:cNvPr id="60" name="Text Box 11"/>
          <p:cNvSpPr txBox="1">
            <a:spLocks noChangeArrowheads="1"/>
          </p:cNvSpPr>
          <p:nvPr/>
        </p:nvSpPr>
        <p:spPr bwMode="auto">
          <a:xfrm>
            <a:off x="5891815" y="4725350"/>
            <a:ext cx="6477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FF</a:t>
            </a:r>
          </a:p>
        </p:txBody>
      </p:sp>
      <p:sp>
        <p:nvSpPr>
          <p:cNvPr id="61" name="Text Box 12"/>
          <p:cNvSpPr txBox="1">
            <a:spLocks noChangeArrowheads="1"/>
          </p:cNvSpPr>
          <p:nvPr/>
        </p:nvSpPr>
        <p:spPr bwMode="auto">
          <a:xfrm>
            <a:off x="1786540" y="5446075"/>
            <a:ext cx="5048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t>O</a:t>
            </a:r>
          </a:p>
        </p:txBody>
      </p:sp>
      <p:grpSp>
        <p:nvGrpSpPr>
          <p:cNvPr id="62" name="Group 14"/>
          <p:cNvGrpSpPr>
            <a:grpSpLocks/>
          </p:cNvGrpSpPr>
          <p:nvPr/>
        </p:nvGrpSpPr>
        <p:grpSpPr bwMode="auto">
          <a:xfrm>
            <a:off x="2578702" y="3645850"/>
            <a:ext cx="3095625" cy="1584325"/>
            <a:chOff x="1746" y="1979"/>
            <a:chExt cx="1950" cy="998"/>
          </a:xfrm>
        </p:grpSpPr>
        <p:sp>
          <p:nvSpPr>
            <p:cNvPr id="63" name="Line 15"/>
            <p:cNvSpPr>
              <a:spLocks noChangeShapeType="1"/>
            </p:cNvSpPr>
            <p:nvPr/>
          </p:nvSpPr>
          <p:spPr bwMode="auto">
            <a:xfrm>
              <a:off x="1746" y="1979"/>
              <a:ext cx="1860" cy="998"/>
            </a:xfrm>
            <a:prstGeom prst="line">
              <a:avLst/>
            </a:prstGeom>
            <a:noFill/>
            <a:ln w="3175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 name="Line 16"/>
            <p:cNvSpPr>
              <a:spLocks noChangeShapeType="1"/>
            </p:cNvSpPr>
            <p:nvPr/>
          </p:nvSpPr>
          <p:spPr bwMode="auto">
            <a:xfrm flipH="1">
              <a:off x="3515" y="2659"/>
              <a:ext cx="181" cy="18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5" name="Group 17"/>
          <p:cNvGrpSpPr>
            <a:grpSpLocks/>
          </p:cNvGrpSpPr>
          <p:nvPr/>
        </p:nvGrpSpPr>
        <p:grpSpPr bwMode="auto">
          <a:xfrm>
            <a:off x="2866040" y="2420300"/>
            <a:ext cx="1511300" cy="3095625"/>
            <a:chOff x="1927" y="1207"/>
            <a:chExt cx="952" cy="1950"/>
          </a:xfrm>
        </p:grpSpPr>
        <p:sp>
          <p:nvSpPr>
            <p:cNvPr id="66" name="Line 18"/>
            <p:cNvSpPr>
              <a:spLocks noChangeShapeType="1"/>
            </p:cNvSpPr>
            <p:nvPr/>
          </p:nvSpPr>
          <p:spPr bwMode="auto">
            <a:xfrm>
              <a:off x="1927" y="1207"/>
              <a:ext cx="952" cy="195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 name="Line 19"/>
            <p:cNvSpPr>
              <a:spLocks noChangeShapeType="1"/>
            </p:cNvSpPr>
            <p:nvPr/>
          </p:nvSpPr>
          <p:spPr bwMode="auto">
            <a:xfrm flipH="1">
              <a:off x="2109" y="1344"/>
              <a:ext cx="36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8" name="Group 20"/>
          <p:cNvGrpSpPr>
            <a:grpSpLocks/>
          </p:cNvGrpSpPr>
          <p:nvPr/>
        </p:nvGrpSpPr>
        <p:grpSpPr bwMode="auto">
          <a:xfrm>
            <a:off x="2146902" y="4004625"/>
            <a:ext cx="2232025" cy="1657350"/>
            <a:chOff x="1474" y="2205"/>
            <a:chExt cx="1406" cy="1044"/>
          </a:xfrm>
        </p:grpSpPr>
        <p:sp>
          <p:nvSpPr>
            <p:cNvPr id="69" name="Line 21"/>
            <p:cNvSpPr>
              <a:spLocks noChangeShapeType="1"/>
            </p:cNvSpPr>
            <p:nvPr/>
          </p:nvSpPr>
          <p:spPr bwMode="auto">
            <a:xfrm flipH="1">
              <a:off x="1474" y="2205"/>
              <a:ext cx="140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 name="Line 22"/>
            <p:cNvSpPr>
              <a:spLocks noChangeShapeType="1"/>
            </p:cNvSpPr>
            <p:nvPr/>
          </p:nvSpPr>
          <p:spPr bwMode="auto">
            <a:xfrm flipH="1">
              <a:off x="1474" y="2387"/>
              <a:ext cx="99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 name="Line 23"/>
            <p:cNvSpPr>
              <a:spLocks noChangeShapeType="1"/>
            </p:cNvSpPr>
            <p:nvPr/>
          </p:nvSpPr>
          <p:spPr bwMode="auto">
            <a:xfrm>
              <a:off x="2472" y="2387"/>
              <a:ext cx="0" cy="8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 name="Line 24"/>
            <p:cNvSpPr>
              <a:spLocks noChangeShapeType="1"/>
            </p:cNvSpPr>
            <p:nvPr/>
          </p:nvSpPr>
          <p:spPr bwMode="auto">
            <a:xfrm>
              <a:off x="2880" y="2205"/>
              <a:ext cx="0" cy="9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3" name="Group 25"/>
          <p:cNvGrpSpPr>
            <a:grpSpLocks/>
          </p:cNvGrpSpPr>
          <p:nvPr/>
        </p:nvGrpSpPr>
        <p:grpSpPr bwMode="auto">
          <a:xfrm>
            <a:off x="1570640" y="4004625"/>
            <a:ext cx="2808287" cy="1873250"/>
            <a:chOff x="1111" y="2205"/>
            <a:chExt cx="1769" cy="1180"/>
          </a:xfrm>
        </p:grpSpPr>
        <p:sp>
          <p:nvSpPr>
            <p:cNvPr id="74" name="Line 26"/>
            <p:cNvSpPr>
              <a:spLocks noChangeShapeType="1"/>
            </p:cNvSpPr>
            <p:nvPr/>
          </p:nvSpPr>
          <p:spPr bwMode="auto">
            <a:xfrm>
              <a:off x="1111" y="2205"/>
              <a:ext cx="0" cy="18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 name="Line 27"/>
            <p:cNvSpPr>
              <a:spLocks noChangeShapeType="1"/>
            </p:cNvSpPr>
            <p:nvPr/>
          </p:nvSpPr>
          <p:spPr bwMode="auto">
            <a:xfrm flipH="1">
              <a:off x="2426" y="3385"/>
              <a:ext cx="45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1770791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anim calcmode="lin" valueType="num">
                                      <p:cBhvr additive="base">
                                        <p:cTn id="7" dur="500" fill="hold"/>
                                        <p:tgtEl>
                                          <p:spTgt spid="62"/>
                                        </p:tgtEl>
                                        <p:attrNameLst>
                                          <p:attrName>ppt_x</p:attrName>
                                        </p:attrNameLst>
                                      </p:cBhvr>
                                      <p:tavLst>
                                        <p:tav tm="0">
                                          <p:val>
                                            <p:strVal val="1+#ppt_w/2"/>
                                          </p:val>
                                        </p:tav>
                                        <p:tav tm="100000">
                                          <p:val>
                                            <p:strVal val="#ppt_x"/>
                                          </p:val>
                                        </p:tav>
                                      </p:tavLst>
                                    </p:anim>
                                    <p:anim calcmode="lin" valueType="num">
                                      <p:cBhvr additive="base">
                                        <p:cTn id="8" dur="500" fill="hold"/>
                                        <p:tgtEl>
                                          <p:spTgt spid="6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65"/>
                                        </p:tgtEl>
                                        <p:attrNameLst>
                                          <p:attrName>style.visibility</p:attrName>
                                        </p:attrNameLst>
                                      </p:cBhvr>
                                      <p:to>
                                        <p:strVal val="visible"/>
                                      </p:to>
                                    </p:set>
                                    <p:anim calcmode="lin" valueType="num">
                                      <p:cBhvr additive="base">
                                        <p:cTn id="13" dur="500" fill="hold"/>
                                        <p:tgtEl>
                                          <p:spTgt spid="65"/>
                                        </p:tgtEl>
                                        <p:attrNameLst>
                                          <p:attrName>ppt_x</p:attrName>
                                        </p:attrNameLst>
                                      </p:cBhvr>
                                      <p:tavLst>
                                        <p:tav tm="0">
                                          <p:val>
                                            <p:strVal val="1+#ppt_w/2"/>
                                          </p:val>
                                        </p:tav>
                                        <p:tav tm="100000">
                                          <p:val>
                                            <p:strVal val="#ppt_x"/>
                                          </p:val>
                                        </p:tav>
                                      </p:tavLst>
                                    </p:anim>
                                    <p:anim calcmode="lin" valueType="num">
                                      <p:cBhvr additive="base">
                                        <p:cTn id="14" dur="500" fill="hold"/>
                                        <p:tgtEl>
                                          <p:spTgt spid="6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514350" indent="-514350">
              <a:lnSpc>
                <a:spcPct val="110000"/>
              </a:lnSpc>
              <a:buFont typeface="+mj-lt"/>
              <a:buAutoNum type="arabicPeriod" startAt="3"/>
            </a:pPr>
            <a:r>
              <a:rPr lang="zh-CN" altLang="en-US" sz="2400" dirty="0" smtClean="0">
                <a:solidFill>
                  <a:schemeClr val="accent1"/>
                </a:solidFill>
                <a:latin typeface="微软雅黑" panose="020B0503020204020204" pitchFamily="34" charset="-122"/>
                <a:ea typeface="微软雅黑" panose="020B0503020204020204" pitchFamily="34" charset="-122"/>
              </a:rPr>
              <a:t>外汇市场</a:t>
            </a:r>
            <a:r>
              <a:rPr lang="zh-CN" altLang="en-US" sz="2400" dirty="0">
                <a:solidFill>
                  <a:schemeClr val="accent1"/>
                </a:solidFill>
                <a:latin typeface="微软雅黑" panose="020B0503020204020204" pitchFamily="34" charset="-122"/>
                <a:ea typeface="微软雅黑" panose="020B0503020204020204" pitchFamily="34" charset="-122"/>
              </a:rPr>
              <a:t>干预的效力</a:t>
            </a:r>
            <a:r>
              <a:rPr lang="zh-CN" altLang="en-US" sz="2400" dirty="0" smtClean="0">
                <a:solidFill>
                  <a:schemeClr val="accent1"/>
                </a:solidFill>
                <a:latin typeface="微软雅黑" panose="020B0503020204020204" pitchFamily="34" charset="-122"/>
                <a:ea typeface="微软雅黑" panose="020B0503020204020204" pitchFamily="34" charset="-122"/>
              </a:rPr>
              <a:t>分析</a:t>
            </a:r>
            <a:endParaRPr lang="en-US" altLang="zh-CN" sz="2400" dirty="0" smtClean="0">
              <a:solidFill>
                <a:schemeClr val="accent1"/>
              </a:solidFill>
              <a:latin typeface="微软雅黑" panose="020B0503020204020204" pitchFamily="34" charset="-122"/>
              <a:ea typeface="微软雅黑" panose="020B0503020204020204" pitchFamily="34" charset="-122"/>
            </a:endParaRPr>
          </a:p>
          <a:p>
            <a:pPr marL="742950" lvl="1" indent="-514350">
              <a:lnSpc>
                <a:spcPct val="130000"/>
              </a:lnSpc>
              <a:buFont typeface="+mj-ea"/>
              <a:buAutoNum type="circleNumDbPlain"/>
            </a:pPr>
            <a:r>
              <a:rPr lang="zh-CN" altLang="en-US" sz="2400" dirty="0">
                <a:latin typeface="微软雅黑" panose="020B0503020204020204" pitchFamily="34" charset="-122"/>
                <a:ea typeface="微软雅黑" panose="020B0503020204020204" pitchFamily="34" charset="-122"/>
              </a:rPr>
              <a:t>干预的资产调整</a:t>
            </a:r>
            <a:r>
              <a:rPr lang="zh-CN" altLang="en-US" sz="2400" dirty="0" smtClean="0">
                <a:latin typeface="微软雅黑" panose="020B0503020204020204" pitchFamily="34" charset="-122"/>
                <a:ea typeface="微软雅黑" panose="020B0503020204020204" pitchFamily="34" charset="-122"/>
              </a:rPr>
              <a:t>效应</a:t>
            </a:r>
            <a:endParaRPr lang="en-US" altLang="zh-CN" sz="2400" dirty="0" smtClean="0">
              <a:latin typeface="微软雅黑" panose="020B0503020204020204" pitchFamily="34" charset="-122"/>
              <a:ea typeface="微软雅黑" panose="020B0503020204020204" pitchFamily="34" charset="-122"/>
            </a:endParaRPr>
          </a:p>
          <a:p>
            <a:pPr marL="228600" lvl="1" indent="0">
              <a:lnSpc>
                <a:spcPct val="130000"/>
              </a:lnSpc>
              <a:buNone/>
            </a:pPr>
            <a:endParaRPr lang="en-US" altLang="zh-CN" sz="2600" dirty="0" smtClean="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graphicFrame>
        <p:nvGraphicFramePr>
          <p:cNvPr id="6" name="Group 4"/>
          <p:cNvGraphicFramePr>
            <a:graphicFrameLocks/>
          </p:cNvGraphicFramePr>
          <p:nvPr>
            <p:extLst>
              <p:ext uri="{D42A27DB-BD31-4B8C-83A1-F6EECF244321}">
                <p14:modId xmlns:p14="http://schemas.microsoft.com/office/powerpoint/2010/main" val="288286154"/>
              </p:ext>
            </p:extLst>
          </p:nvPr>
        </p:nvGraphicFramePr>
        <p:xfrm>
          <a:off x="971550" y="3137339"/>
          <a:ext cx="7283670" cy="2084823"/>
        </p:xfrm>
        <a:graphic>
          <a:graphicData uri="http://schemas.openxmlformats.org/drawingml/2006/table">
            <a:tbl>
              <a:tblPr>
                <a:tableStyleId>{BC89EF96-8CEA-46FF-86C4-4CE0E7609802}</a:tableStyleId>
              </a:tblPr>
              <a:tblGrid>
                <a:gridCol w="2427890"/>
                <a:gridCol w="2427890"/>
                <a:gridCol w="2427890"/>
              </a:tblGrid>
              <a:tr h="694941">
                <a:tc>
                  <a:txBody>
                    <a:bodyPr/>
                    <a:lstStyle/>
                    <a:p>
                      <a:pPr marL="0" marR="0" lvl="0" indent="0" algn="ctr" defTabSz="914400" rtl="0" eaLnBrk="1" fontAlgn="ctr" latinLnBrk="0" hangingPunct="1">
                        <a:lnSpc>
                          <a:spcPct val="100000"/>
                        </a:lnSpc>
                        <a:spcBef>
                          <a:spcPct val="20000"/>
                        </a:spcBef>
                        <a:spcAft>
                          <a:spcPct val="0"/>
                        </a:spcAft>
                        <a:buClrTx/>
                        <a:buSzTx/>
                        <a:buFontTx/>
                        <a:buNone/>
                        <a:tabLst/>
                      </a:pPr>
                      <a:endParaRPr kumimoji="0" lang="zh-CN" altLang="zh-CN" sz="24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L="90000" marR="90000" marT="46800" marB="46800" anchor="ctr" horzOverflow="overflow"/>
                </a:tc>
                <a:tc>
                  <a:txBody>
                    <a:bodyPr/>
                    <a:lstStyle/>
                    <a:p>
                      <a:pPr marL="0" marR="0" lvl="0" indent="0" algn="ctr" defTabSz="914400" rtl="0" eaLnBrk="1" fontAlgn="ctr" latinLnBrk="0" hangingPunct="1">
                        <a:lnSpc>
                          <a:spcPct val="100000"/>
                        </a:lnSpc>
                        <a:spcBef>
                          <a:spcPct val="20000"/>
                        </a:spcBef>
                        <a:spcAft>
                          <a:spcPct val="0"/>
                        </a:spcAft>
                        <a:buClrTx/>
                        <a:buSzTx/>
                        <a:buFontTx/>
                        <a:buNone/>
                        <a:tabLst/>
                      </a:pPr>
                      <a:r>
                        <a:rPr kumimoji="0" lang="zh-CN" altLang="en-US" sz="2400" b="0" u="none" strike="noStrike" cap="none" normalizeH="0" baseline="0" dirty="0" smtClean="0">
                          <a:ln>
                            <a:noFill/>
                          </a:ln>
                          <a:effectLst/>
                          <a:latin typeface="微软雅黑" panose="020B0503020204020204" pitchFamily="34" charset="-122"/>
                          <a:ea typeface="微软雅黑" panose="020B0503020204020204" pitchFamily="34" charset="-122"/>
                        </a:rPr>
                        <a:t>货币模型</a:t>
                      </a:r>
                      <a:endParaRPr kumimoji="0" lang="zh-CN" altLang="en-US" sz="24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L="90000" marR="90000" marT="46800" marB="46800" anchor="ctr" horzOverflow="overflow"/>
                </a:tc>
                <a:tc>
                  <a:txBody>
                    <a:bodyPr/>
                    <a:lstStyle/>
                    <a:p>
                      <a:pPr marL="0" marR="0" lvl="0" indent="0" algn="ctr" defTabSz="914400" rtl="0" eaLnBrk="1" fontAlgn="ctr" latinLnBrk="0" hangingPunct="1">
                        <a:lnSpc>
                          <a:spcPct val="100000"/>
                        </a:lnSpc>
                        <a:spcBef>
                          <a:spcPct val="20000"/>
                        </a:spcBef>
                        <a:spcAft>
                          <a:spcPct val="0"/>
                        </a:spcAft>
                        <a:buClrTx/>
                        <a:buSzTx/>
                        <a:buFontTx/>
                        <a:buNone/>
                        <a:tabLst/>
                      </a:pPr>
                      <a:r>
                        <a:rPr kumimoji="0" lang="zh-CN" altLang="en-US" sz="2400" b="0" u="none" strike="noStrike" cap="none" normalizeH="0" baseline="0" dirty="0" smtClean="0">
                          <a:ln>
                            <a:noFill/>
                          </a:ln>
                          <a:effectLst/>
                          <a:latin typeface="微软雅黑" panose="020B0503020204020204" pitchFamily="34" charset="-122"/>
                          <a:ea typeface="微软雅黑" panose="020B0503020204020204" pitchFamily="34" charset="-122"/>
                        </a:rPr>
                        <a:t>资产组合模型</a:t>
                      </a:r>
                      <a:endParaRPr kumimoji="0" lang="zh-CN" altLang="en-US" sz="24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L="90000" marR="90000" marT="46800" marB="46800" anchor="ctr" horzOverflow="overflow"/>
                </a:tc>
              </a:tr>
              <a:tr h="694941">
                <a:tc>
                  <a:txBody>
                    <a:bodyPr/>
                    <a:lstStyle/>
                    <a:p>
                      <a:pPr marL="0" marR="0" lvl="0" indent="0" algn="ctr" defTabSz="914400" rtl="0" eaLnBrk="1" fontAlgn="ctr" latinLnBrk="0" hangingPunct="1">
                        <a:lnSpc>
                          <a:spcPct val="100000"/>
                        </a:lnSpc>
                        <a:spcBef>
                          <a:spcPct val="20000"/>
                        </a:spcBef>
                        <a:spcAft>
                          <a:spcPct val="0"/>
                        </a:spcAft>
                        <a:buClrTx/>
                        <a:buSzTx/>
                        <a:buFontTx/>
                        <a:buNone/>
                        <a:tabLst/>
                      </a:pPr>
                      <a:r>
                        <a:rPr kumimoji="0" lang="zh-CN" altLang="en-US" sz="2400" b="0" u="none" strike="noStrike" cap="none" normalizeH="0" baseline="0" dirty="0" smtClean="0">
                          <a:ln>
                            <a:noFill/>
                          </a:ln>
                          <a:effectLst/>
                          <a:latin typeface="微软雅黑" panose="020B0503020204020204" pitchFamily="34" charset="-122"/>
                          <a:ea typeface="微软雅黑" panose="020B0503020204020204" pitchFamily="34" charset="-122"/>
                        </a:rPr>
                        <a:t>非冲销式干预</a:t>
                      </a:r>
                      <a:endParaRPr kumimoji="0" lang="zh-CN" altLang="en-US" sz="24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L="90000" marR="90000" marT="46800" marB="46800" anchor="ctr" horzOverflow="overflow"/>
                </a:tc>
                <a:tc>
                  <a:txBody>
                    <a:bodyPr/>
                    <a:lstStyle/>
                    <a:p>
                      <a:pPr marL="0" marR="0" lvl="0" indent="0" algn="ctr" defTabSz="914400" rtl="0" eaLnBrk="1" fontAlgn="ctr" latinLnBrk="0" hangingPunct="1">
                        <a:lnSpc>
                          <a:spcPct val="100000"/>
                        </a:lnSpc>
                        <a:spcBef>
                          <a:spcPct val="20000"/>
                        </a:spcBef>
                        <a:spcAft>
                          <a:spcPct val="0"/>
                        </a:spcAft>
                        <a:buClrTx/>
                        <a:buSzTx/>
                        <a:buFontTx/>
                        <a:buNone/>
                        <a:tabLst/>
                      </a:pPr>
                      <a:r>
                        <a:rPr kumimoji="0" lang="zh-CN" altLang="en-US" sz="2400" b="0" u="none" strike="noStrike" cap="none" normalizeH="0" baseline="0" dirty="0" smtClean="0">
                          <a:ln>
                            <a:noFill/>
                          </a:ln>
                          <a:effectLst/>
                          <a:latin typeface="微软雅黑" panose="020B0503020204020204" pitchFamily="34" charset="-122"/>
                          <a:ea typeface="微软雅黑" panose="020B0503020204020204" pitchFamily="34" charset="-122"/>
                        </a:rPr>
                        <a:t>有效</a:t>
                      </a:r>
                      <a:endParaRPr kumimoji="0" lang="zh-CN" altLang="en-US" sz="24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L="90000" marR="90000" marT="46800" marB="46800" anchor="ctr" horzOverflow="overflow"/>
                </a:tc>
                <a:tc>
                  <a:txBody>
                    <a:bodyPr/>
                    <a:lstStyle/>
                    <a:p>
                      <a:pPr marL="0" marR="0" lvl="0" indent="0" algn="ctr" defTabSz="914400" rtl="0" eaLnBrk="1" fontAlgn="ctr" latinLnBrk="0" hangingPunct="1">
                        <a:lnSpc>
                          <a:spcPct val="100000"/>
                        </a:lnSpc>
                        <a:spcBef>
                          <a:spcPct val="20000"/>
                        </a:spcBef>
                        <a:spcAft>
                          <a:spcPct val="0"/>
                        </a:spcAft>
                        <a:buClrTx/>
                        <a:buSzTx/>
                        <a:buFontTx/>
                        <a:buNone/>
                        <a:tabLst/>
                      </a:pPr>
                      <a:r>
                        <a:rPr kumimoji="0" lang="zh-CN" altLang="en-US" sz="2400" b="0" u="none" strike="noStrike" cap="none" normalizeH="0" baseline="0" dirty="0" smtClean="0">
                          <a:ln>
                            <a:noFill/>
                          </a:ln>
                          <a:effectLst/>
                          <a:latin typeface="微软雅黑" panose="020B0503020204020204" pitchFamily="34" charset="-122"/>
                          <a:ea typeface="微软雅黑" panose="020B0503020204020204" pitchFamily="34" charset="-122"/>
                        </a:rPr>
                        <a:t>有效</a:t>
                      </a:r>
                      <a:endParaRPr kumimoji="0" lang="zh-CN" altLang="en-US" sz="24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L="90000" marR="90000" marT="46800" marB="46800" anchor="ctr" horzOverflow="overflow"/>
                </a:tc>
              </a:tr>
              <a:tr h="694941">
                <a:tc>
                  <a:txBody>
                    <a:bodyPr/>
                    <a:lstStyle/>
                    <a:p>
                      <a:pPr marL="0" marR="0" lvl="0" indent="0" algn="ctr" defTabSz="914400" rtl="0" eaLnBrk="1" fontAlgn="ctr" latinLnBrk="0" hangingPunct="1">
                        <a:lnSpc>
                          <a:spcPct val="100000"/>
                        </a:lnSpc>
                        <a:spcBef>
                          <a:spcPct val="20000"/>
                        </a:spcBef>
                        <a:spcAft>
                          <a:spcPct val="0"/>
                        </a:spcAft>
                        <a:buClrTx/>
                        <a:buSzTx/>
                        <a:buFontTx/>
                        <a:buNone/>
                        <a:tabLst/>
                      </a:pPr>
                      <a:r>
                        <a:rPr kumimoji="0" lang="zh-CN" altLang="en-US" sz="2400" b="0" u="none" strike="noStrike" cap="none" normalizeH="0" baseline="0" dirty="0" smtClean="0">
                          <a:ln>
                            <a:noFill/>
                          </a:ln>
                          <a:effectLst/>
                          <a:latin typeface="微软雅黑" panose="020B0503020204020204" pitchFamily="34" charset="-122"/>
                          <a:ea typeface="微软雅黑" panose="020B0503020204020204" pitchFamily="34" charset="-122"/>
                        </a:rPr>
                        <a:t>冲销式干预</a:t>
                      </a:r>
                      <a:endParaRPr kumimoji="0" lang="zh-CN" altLang="en-US" sz="24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L="90000" marR="90000" marT="46800" marB="46800" anchor="ctr" horzOverflow="overflow"/>
                </a:tc>
                <a:tc>
                  <a:txBody>
                    <a:bodyPr/>
                    <a:lstStyle/>
                    <a:p>
                      <a:pPr marL="0" marR="0" lvl="0" indent="0" algn="ctr" defTabSz="914400" rtl="0" eaLnBrk="1" fontAlgn="ctr" latinLnBrk="0" hangingPunct="1">
                        <a:lnSpc>
                          <a:spcPct val="100000"/>
                        </a:lnSpc>
                        <a:spcBef>
                          <a:spcPct val="20000"/>
                        </a:spcBef>
                        <a:spcAft>
                          <a:spcPct val="0"/>
                        </a:spcAft>
                        <a:buClrTx/>
                        <a:buSzTx/>
                        <a:buFontTx/>
                        <a:buNone/>
                        <a:tabLst/>
                      </a:pPr>
                      <a:r>
                        <a:rPr kumimoji="0" lang="zh-CN" altLang="en-US" sz="2400" b="0" u="none" strike="noStrike" cap="none" normalizeH="0" baseline="0" dirty="0" smtClean="0">
                          <a:ln>
                            <a:noFill/>
                          </a:ln>
                          <a:effectLst/>
                          <a:latin typeface="微软雅黑" panose="020B0503020204020204" pitchFamily="34" charset="-122"/>
                          <a:ea typeface="微软雅黑" panose="020B0503020204020204" pitchFamily="34" charset="-122"/>
                        </a:rPr>
                        <a:t>无效</a:t>
                      </a:r>
                      <a:endParaRPr kumimoji="0" lang="zh-CN" altLang="en-US" sz="24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L="90000" marR="90000" marT="46800" marB="46800" anchor="ctr" horzOverflow="overflow"/>
                </a:tc>
                <a:tc>
                  <a:txBody>
                    <a:bodyPr/>
                    <a:lstStyle/>
                    <a:p>
                      <a:pPr marL="0" marR="0" lvl="0" indent="0" algn="ctr" defTabSz="914400" rtl="0" eaLnBrk="1" fontAlgn="ctr" latinLnBrk="0" hangingPunct="1">
                        <a:lnSpc>
                          <a:spcPct val="100000"/>
                        </a:lnSpc>
                        <a:spcBef>
                          <a:spcPct val="20000"/>
                        </a:spcBef>
                        <a:spcAft>
                          <a:spcPct val="0"/>
                        </a:spcAft>
                        <a:buClrTx/>
                        <a:buSzTx/>
                        <a:buFontTx/>
                        <a:buNone/>
                        <a:tabLst/>
                      </a:pPr>
                      <a:r>
                        <a:rPr kumimoji="0" lang="zh-CN" altLang="en-US" sz="2400" b="0" u="none" strike="noStrike" cap="none" normalizeH="0" baseline="0" dirty="0" smtClean="0">
                          <a:ln>
                            <a:noFill/>
                          </a:ln>
                          <a:effectLst/>
                          <a:latin typeface="微软雅黑" panose="020B0503020204020204" pitchFamily="34" charset="-122"/>
                          <a:ea typeface="微软雅黑" panose="020B0503020204020204" pitchFamily="34" charset="-122"/>
                        </a:rPr>
                        <a:t>有一定效果</a:t>
                      </a:r>
                      <a:endParaRPr kumimoji="0" lang="zh-CN" altLang="en-US" sz="24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L="90000" marR="90000" marT="46800" marB="46800" anchor="ctr" horzOverflow="overflow"/>
                </a:tc>
              </a:tr>
            </a:tbl>
          </a:graphicData>
        </a:graphic>
      </p:graphicFrame>
    </p:spTree>
    <p:extLst>
      <p:ext uri="{BB962C8B-B14F-4D97-AF65-F5344CB8AC3E}">
        <p14:creationId xmlns:p14="http://schemas.microsoft.com/office/powerpoint/2010/main" val="1196975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514350" indent="-514350">
              <a:lnSpc>
                <a:spcPct val="110000"/>
              </a:lnSpc>
              <a:buFont typeface="+mj-lt"/>
              <a:buAutoNum type="arabicPeriod" startAt="3"/>
            </a:pPr>
            <a:r>
              <a:rPr lang="zh-CN" altLang="en-US" sz="2800" dirty="0" smtClean="0">
                <a:solidFill>
                  <a:schemeClr val="accent1"/>
                </a:solidFill>
                <a:latin typeface="微软雅黑" panose="020B0503020204020204" pitchFamily="34" charset="-122"/>
                <a:ea typeface="微软雅黑" panose="020B0503020204020204" pitchFamily="34" charset="-122"/>
              </a:rPr>
              <a:t>外汇市场</a:t>
            </a:r>
            <a:r>
              <a:rPr lang="zh-CN" altLang="en-US" sz="2800" dirty="0">
                <a:solidFill>
                  <a:schemeClr val="accent1"/>
                </a:solidFill>
                <a:latin typeface="微软雅黑" panose="020B0503020204020204" pitchFamily="34" charset="-122"/>
                <a:ea typeface="微软雅黑" panose="020B0503020204020204" pitchFamily="34" charset="-122"/>
              </a:rPr>
              <a:t>干预的效力</a:t>
            </a:r>
            <a:r>
              <a:rPr lang="zh-CN" altLang="en-US" sz="2800" dirty="0" smtClean="0">
                <a:solidFill>
                  <a:schemeClr val="accent1"/>
                </a:solidFill>
                <a:latin typeface="微软雅黑" panose="020B0503020204020204" pitchFamily="34" charset="-122"/>
                <a:ea typeface="微软雅黑" panose="020B0503020204020204" pitchFamily="34" charset="-122"/>
              </a:rPr>
              <a:t>分析</a:t>
            </a:r>
            <a:endParaRPr lang="en-US" altLang="zh-CN" sz="2800" dirty="0" smtClean="0">
              <a:solidFill>
                <a:schemeClr val="accent1"/>
              </a:solidFill>
              <a:latin typeface="微软雅黑" panose="020B0503020204020204" pitchFamily="34" charset="-122"/>
              <a:ea typeface="微软雅黑" panose="020B0503020204020204" pitchFamily="34" charset="-122"/>
            </a:endParaRPr>
          </a:p>
          <a:p>
            <a:pPr marL="742950" lvl="1" indent="-514350">
              <a:lnSpc>
                <a:spcPct val="130000"/>
              </a:lnSpc>
              <a:buFont typeface="+mj-ea"/>
              <a:buAutoNum type="circleNumDbPlain" startAt="2"/>
            </a:pPr>
            <a:r>
              <a:rPr lang="zh-CN" altLang="en-US" sz="2000" dirty="0">
                <a:latin typeface="微软雅黑" panose="020B0503020204020204" pitchFamily="34" charset="-122"/>
                <a:ea typeface="微软雅黑" panose="020B0503020204020204" pitchFamily="34" charset="-122"/>
              </a:rPr>
              <a:t>干预的信号</a:t>
            </a:r>
            <a:r>
              <a:rPr lang="zh-CN" altLang="en-US" sz="2000" dirty="0" smtClean="0">
                <a:latin typeface="微软雅黑" panose="020B0503020204020204" pitchFamily="34" charset="-122"/>
                <a:ea typeface="微软雅黑" panose="020B0503020204020204" pitchFamily="34" charset="-122"/>
              </a:rPr>
              <a:t>效应</a:t>
            </a:r>
            <a:endParaRPr lang="en-US" altLang="zh-CN" sz="2000" dirty="0" smtClean="0">
              <a:latin typeface="微软雅黑" panose="020B0503020204020204" pitchFamily="34" charset="-122"/>
              <a:ea typeface="微软雅黑" panose="020B0503020204020204" pitchFamily="34" charset="-122"/>
            </a:endParaRPr>
          </a:p>
          <a:p>
            <a:pPr marL="0" lvl="1" indent="457200">
              <a:lnSpc>
                <a:spcPct val="110000"/>
              </a:lnSpc>
              <a:spcBef>
                <a:spcPts val="1800"/>
              </a:spcBef>
              <a:buNone/>
            </a:pPr>
            <a:r>
              <a:rPr lang="zh-CN" altLang="en-US" sz="2000" dirty="0">
                <a:latin typeface="微软雅黑" panose="020B0503020204020204" pitchFamily="34" charset="-122"/>
                <a:ea typeface="微软雅黑" panose="020B0503020204020204" pitchFamily="34" charset="-122"/>
              </a:rPr>
              <a:t>一般在市场预期混乱、投机因素猖獗时特别有效。信号效应的实现要求市场参与者遵循理性预期；最为重要的是，政府必须建立起言行一致或具有政策一致性的声誉，从而使政府发出的信号具有可信性</a:t>
            </a:r>
            <a:r>
              <a:rPr lang="zh-CN" altLang="en-US" sz="2400" dirty="0">
                <a:latin typeface="微软雅黑" panose="020B0503020204020204" pitchFamily="34" charset="-122"/>
                <a:ea typeface="微软雅黑" panose="020B0503020204020204" pitchFamily="34" charset="-122"/>
              </a:rPr>
              <a:t>。</a:t>
            </a:r>
          </a:p>
          <a:p>
            <a:pPr marL="228600" lvl="1" indent="0">
              <a:lnSpc>
                <a:spcPct val="130000"/>
              </a:lnSpc>
              <a:buNone/>
            </a:pPr>
            <a:endParaRPr lang="en-US" altLang="zh-CN" sz="2600" dirty="0" smtClean="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543375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lv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六</a:t>
            </a:r>
            <a:r>
              <a:rPr lang="zh-CN" altLang="en-US" sz="2800" dirty="0" smtClean="0">
                <a:solidFill>
                  <a:schemeClr val="accent1"/>
                </a:solidFill>
                <a:latin typeface="微软雅黑" panose="020B0503020204020204" pitchFamily="34" charset="-122"/>
                <a:ea typeface="微软雅黑" panose="020B0503020204020204" pitchFamily="34" charset="-122"/>
              </a:rPr>
              <a:t>、货币</a:t>
            </a:r>
            <a:r>
              <a:rPr lang="zh-CN" altLang="en-US" sz="2800" dirty="0">
                <a:solidFill>
                  <a:schemeClr val="accent1"/>
                </a:solidFill>
                <a:latin typeface="微软雅黑" panose="020B0503020204020204" pitchFamily="34" charset="-122"/>
                <a:ea typeface="微软雅黑" panose="020B0503020204020204" pitchFamily="34" charset="-122"/>
              </a:rPr>
              <a:t>自由</a:t>
            </a:r>
            <a:r>
              <a:rPr lang="zh-CN" altLang="en-US" sz="2800" dirty="0" smtClean="0">
                <a:solidFill>
                  <a:schemeClr val="accent1"/>
                </a:solidFill>
                <a:latin typeface="微软雅黑" panose="020B0503020204020204" pitchFamily="34" charset="-122"/>
                <a:ea typeface="微软雅黑" panose="020B0503020204020204" pitchFamily="34" charset="-122"/>
              </a:rPr>
              <a:t>兑换</a:t>
            </a:r>
            <a:endParaRPr lang="en-US" altLang="zh-CN" sz="2600" dirty="0" smtClean="0">
              <a:latin typeface="微软雅黑" panose="020B0503020204020204" pitchFamily="34" charset="-122"/>
              <a:ea typeface="微软雅黑" panose="020B0503020204020204" pitchFamily="34" charset="-122"/>
            </a:endParaRPr>
          </a:p>
          <a:p>
            <a:pPr marL="514350" lvl="1" indent="-514350">
              <a:lnSpc>
                <a:spcPct val="110000"/>
              </a:lnSpc>
              <a:spcBef>
                <a:spcPts val="1800"/>
              </a:spcBef>
              <a:buFont typeface="+mj-lt"/>
              <a:buAutoNum type="arabicPeriod"/>
            </a:pPr>
            <a:r>
              <a:rPr lang="zh-CN" altLang="en-US" sz="2000" dirty="0">
                <a:solidFill>
                  <a:schemeClr val="accent1"/>
                </a:solidFill>
                <a:latin typeface="微软雅黑" panose="020B0503020204020204" pitchFamily="34" charset="-122"/>
                <a:ea typeface="微软雅黑" panose="020B0503020204020204" pitchFamily="34" charset="-122"/>
              </a:rPr>
              <a:t>货币自由兑换的基本概念</a:t>
            </a:r>
            <a:endParaRPr lang="en-US" altLang="zh-CN" sz="2000" dirty="0">
              <a:solidFill>
                <a:schemeClr val="accent1"/>
              </a:solidFill>
              <a:latin typeface="微软雅黑" panose="020B0503020204020204" pitchFamily="34" charset="-122"/>
              <a:ea typeface="微软雅黑" panose="020B0503020204020204" pitchFamily="34" charset="-122"/>
            </a:endParaRPr>
          </a:p>
          <a:p>
            <a:pPr marL="0" lvl="1" indent="457200">
              <a:lnSpc>
                <a:spcPct val="110000"/>
              </a:lnSpc>
              <a:spcBef>
                <a:spcPts val="1800"/>
              </a:spcBef>
              <a:buNone/>
            </a:pPr>
            <a:r>
              <a:rPr lang="zh-CN" altLang="en-US" sz="2000" dirty="0">
                <a:latin typeface="微软雅黑" panose="020B0503020204020204" pitchFamily="34" charset="-122"/>
                <a:ea typeface="微软雅黑" panose="020B0503020204020204" pitchFamily="34" charset="-122"/>
              </a:rPr>
              <a:t>指在外汇市场上，能自由地用本国货币购买（兑换）某种外国货币，或用某种外国货币购买（兑换）本国货币，即国际收支账户中所记录的各种国际间交易行为产生的本币与外币间的兑换需求都可以在外汇市场上不受限制地得到满足。但在现实生活中，大多数国家对上述自由兑换行为进行了一定的限制，从而形成了不同含义的货币自由兑换。</a:t>
            </a:r>
            <a:endParaRPr lang="en-US" altLang="zh-CN" sz="2000" dirty="0" smtClean="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4007585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514350" lvl="1" indent="-514350">
              <a:lnSpc>
                <a:spcPct val="110000"/>
              </a:lnSpc>
              <a:spcBef>
                <a:spcPts val="1800"/>
              </a:spcBef>
              <a:buFont typeface="+mj-lt"/>
              <a:buAutoNum type="arabicPeriod"/>
            </a:pPr>
            <a:r>
              <a:rPr lang="zh-CN" altLang="en-US" sz="2800" dirty="0" smtClean="0">
                <a:solidFill>
                  <a:schemeClr val="accent1"/>
                </a:solidFill>
                <a:latin typeface="微软雅黑" panose="020B0503020204020204" pitchFamily="34" charset="-122"/>
                <a:ea typeface="微软雅黑" panose="020B0503020204020204" pitchFamily="34" charset="-122"/>
              </a:rPr>
              <a:t>货币</a:t>
            </a:r>
            <a:r>
              <a:rPr lang="zh-CN" altLang="en-US" sz="2800" dirty="0">
                <a:solidFill>
                  <a:schemeClr val="accent1"/>
                </a:solidFill>
                <a:latin typeface="微软雅黑" panose="020B0503020204020204" pitchFamily="34" charset="-122"/>
                <a:ea typeface="微软雅黑" panose="020B0503020204020204" pitchFamily="34" charset="-122"/>
              </a:rPr>
              <a:t>自由兑换的基本概念</a:t>
            </a:r>
            <a:endParaRPr lang="en-US" altLang="zh-CN" sz="2800" dirty="0">
              <a:solidFill>
                <a:schemeClr val="accent1"/>
              </a:solidFill>
              <a:latin typeface="微软雅黑" panose="020B0503020204020204" pitchFamily="34" charset="-122"/>
              <a:ea typeface="微软雅黑" panose="020B0503020204020204" pitchFamily="34" charset="-122"/>
            </a:endParaRPr>
          </a:p>
          <a:p>
            <a:pPr marL="0" lvl="1" indent="457200">
              <a:lnSpc>
                <a:spcPct val="110000"/>
              </a:lnSpc>
              <a:spcBef>
                <a:spcPts val="1800"/>
              </a:spcBef>
              <a:buNone/>
            </a:pPr>
            <a:r>
              <a:rPr lang="zh-CN" altLang="en-US" sz="2400" dirty="0">
                <a:latin typeface="微软雅黑" panose="020B0503020204020204" pitchFamily="34" charset="-122"/>
                <a:ea typeface="微软雅黑" panose="020B0503020204020204" pitchFamily="34" charset="-122"/>
              </a:rPr>
              <a:t>经常账户下的自由兑换</a:t>
            </a:r>
          </a:p>
          <a:p>
            <a:pPr marL="0" lvl="1" indent="457200">
              <a:lnSpc>
                <a:spcPct val="110000"/>
              </a:lnSpc>
              <a:spcBef>
                <a:spcPts val="1800"/>
              </a:spcBef>
              <a:buNone/>
            </a:pPr>
            <a:r>
              <a:rPr lang="zh-CN" altLang="en-US" sz="2400" dirty="0" smtClean="0">
                <a:latin typeface="微软雅黑" panose="020B0503020204020204" pitchFamily="34" charset="-122"/>
                <a:ea typeface="微软雅黑" panose="020B0503020204020204" pitchFamily="34" charset="-122"/>
              </a:rPr>
              <a:t>资本</a:t>
            </a:r>
            <a:r>
              <a:rPr lang="zh-CN" altLang="en-US" sz="2400" dirty="0">
                <a:latin typeface="微软雅黑" panose="020B0503020204020204" pitchFamily="34" charset="-122"/>
                <a:ea typeface="微软雅黑" panose="020B0503020204020204" pitchFamily="34" charset="-122"/>
              </a:rPr>
              <a:t>与金融账户下的自由</a:t>
            </a:r>
            <a:r>
              <a:rPr lang="zh-CN" altLang="en-US" sz="2400" dirty="0" smtClean="0">
                <a:latin typeface="微软雅黑" panose="020B0503020204020204" pitchFamily="34" charset="-122"/>
                <a:ea typeface="微软雅黑" panose="020B0503020204020204" pitchFamily="34" charset="-122"/>
              </a:rPr>
              <a:t>兑换</a:t>
            </a:r>
            <a:endParaRPr lang="en-US" altLang="zh-CN" sz="2400" dirty="0" smtClean="0">
              <a:latin typeface="微软雅黑" panose="020B0503020204020204" pitchFamily="34" charset="-122"/>
              <a:ea typeface="微软雅黑" panose="020B0503020204020204" pitchFamily="34" charset="-122"/>
            </a:endParaRPr>
          </a:p>
          <a:p>
            <a:pPr marL="0" lvl="1" indent="457200">
              <a:lnSpc>
                <a:spcPct val="110000"/>
              </a:lnSpc>
              <a:spcBef>
                <a:spcPts val="1800"/>
              </a:spcBef>
              <a:buNone/>
            </a:pP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grpSp>
        <p:nvGrpSpPr>
          <p:cNvPr id="13" name="Group 4"/>
          <p:cNvGrpSpPr>
            <a:grpSpLocks/>
          </p:cNvGrpSpPr>
          <p:nvPr/>
        </p:nvGrpSpPr>
        <p:grpSpPr bwMode="auto">
          <a:xfrm>
            <a:off x="971550" y="3744639"/>
            <a:ext cx="7200900" cy="1800225"/>
            <a:chOff x="431" y="2478"/>
            <a:chExt cx="4536" cy="1134"/>
          </a:xfrm>
        </p:grpSpPr>
        <p:sp>
          <p:nvSpPr>
            <p:cNvPr id="14" name="Text Box 5"/>
            <p:cNvSpPr txBox="1">
              <a:spLocks noChangeArrowheads="1"/>
            </p:cNvSpPr>
            <p:nvPr/>
          </p:nvSpPr>
          <p:spPr bwMode="auto">
            <a:xfrm>
              <a:off x="1202" y="2478"/>
              <a:ext cx="3765" cy="113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dirty="0">
                  <a:solidFill>
                    <a:schemeClr val="bg1"/>
                  </a:solidFill>
                  <a:ea typeface="黑体" panose="02010609060101010101" pitchFamily="49" charset="-122"/>
                </a:rPr>
                <a:t>IMF</a:t>
              </a:r>
              <a:r>
                <a:rPr lang="zh-CN" altLang="en-US" sz="2800" dirty="0">
                  <a:solidFill>
                    <a:schemeClr val="bg1"/>
                  </a:solidFill>
                  <a:ea typeface="黑体" panose="02010609060101010101" pitchFamily="49" charset="-122"/>
                </a:rPr>
                <a:t>章程第八条规定，凡是实现了经常账户下的货币自由兑换的国家，该国货币就是可自由兑换货币。这些国家又被称为“第八条款国”。</a:t>
              </a:r>
            </a:p>
          </p:txBody>
        </p:sp>
        <p:sp>
          <p:nvSpPr>
            <p:cNvPr id="15" name="AutoShape 6"/>
            <p:cNvSpPr>
              <a:spLocks noChangeArrowheads="1"/>
            </p:cNvSpPr>
            <p:nvPr/>
          </p:nvSpPr>
          <p:spPr bwMode="auto">
            <a:xfrm>
              <a:off x="431" y="2659"/>
              <a:ext cx="680" cy="363"/>
            </a:xfrm>
            <a:prstGeom prst="notchedRightArrow">
              <a:avLst>
                <a:gd name="adj1" fmla="val 50000"/>
                <a:gd name="adj2" fmla="val 46832"/>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Tree>
    <p:extLst>
      <p:ext uri="{BB962C8B-B14F-4D97-AF65-F5344CB8AC3E}">
        <p14:creationId xmlns:p14="http://schemas.microsoft.com/office/powerpoint/2010/main" val="2687387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514350" lvl="1" indent="-514350">
              <a:lnSpc>
                <a:spcPct val="110000"/>
              </a:lnSpc>
              <a:spcBef>
                <a:spcPts val="1800"/>
              </a:spcBef>
              <a:buFont typeface="+mj-lt"/>
              <a:buAutoNum type="arabicPeriod"/>
            </a:pPr>
            <a:r>
              <a:rPr lang="zh-CN" altLang="en-US" sz="2800" dirty="0" smtClean="0">
                <a:solidFill>
                  <a:schemeClr val="accent1"/>
                </a:solidFill>
                <a:latin typeface="微软雅黑" panose="020B0503020204020204" pitchFamily="34" charset="-122"/>
                <a:ea typeface="微软雅黑" panose="020B0503020204020204" pitchFamily="34" charset="-122"/>
              </a:rPr>
              <a:t>货币</a:t>
            </a:r>
            <a:r>
              <a:rPr lang="zh-CN" altLang="en-US" sz="2800" dirty="0">
                <a:solidFill>
                  <a:schemeClr val="accent1"/>
                </a:solidFill>
                <a:latin typeface="微软雅黑" panose="020B0503020204020204" pitchFamily="34" charset="-122"/>
                <a:ea typeface="微软雅黑" panose="020B0503020204020204" pitchFamily="34" charset="-122"/>
              </a:rPr>
              <a:t>自由兑换的基本概念</a:t>
            </a:r>
            <a:endParaRPr lang="en-US" altLang="zh-CN" sz="2800" dirty="0">
              <a:solidFill>
                <a:schemeClr val="accent1"/>
              </a:solidFill>
              <a:latin typeface="微软雅黑" panose="020B0503020204020204" pitchFamily="34" charset="-122"/>
              <a:ea typeface="微软雅黑" panose="020B0503020204020204" pitchFamily="34" charset="-122"/>
            </a:endParaRPr>
          </a:p>
          <a:p>
            <a:pPr marL="0" lvl="1" indent="457200">
              <a:lnSpc>
                <a:spcPct val="110000"/>
              </a:lnSpc>
              <a:spcBef>
                <a:spcPts val="1800"/>
              </a:spcBef>
              <a:buNone/>
            </a:pPr>
            <a:r>
              <a:rPr lang="zh-CN" altLang="en-US" sz="2400" dirty="0">
                <a:latin typeface="微软雅黑" panose="020B0503020204020204" pitchFamily="34" charset="-122"/>
                <a:ea typeface="微软雅黑" panose="020B0503020204020204" pitchFamily="34" charset="-122"/>
              </a:rPr>
              <a:t>经常账户下的自由兑换</a:t>
            </a:r>
          </a:p>
          <a:p>
            <a:pPr marL="0" lvl="1" indent="457200">
              <a:lnSpc>
                <a:spcPct val="110000"/>
              </a:lnSpc>
              <a:spcBef>
                <a:spcPts val="1800"/>
              </a:spcBef>
              <a:buNone/>
            </a:pPr>
            <a:r>
              <a:rPr lang="zh-CN" altLang="en-US" sz="2400" dirty="0" smtClean="0">
                <a:latin typeface="微软雅黑" panose="020B0503020204020204" pitchFamily="34" charset="-122"/>
                <a:ea typeface="微软雅黑" panose="020B0503020204020204" pitchFamily="34" charset="-122"/>
              </a:rPr>
              <a:t>资本</a:t>
            </a:r>
            <a:r>
              <a:rPr lang="zh-CN" altLang="en-US" sz="2400" dirty="0">
                <a:latin typeface="微软雅黑" panose="020B0503020204020204" pitchFamily="34" charset="-122"/>
                <a:ea typeface="微软雅黑" panose="020B0503020204020204" pitchFamily="34" charset="-122"/>
              </a:rPr>
              <a:t>与金融账户下的自由</a:t>
            </a:r>
            <a:r>
              <a:rPr lang="zh-CN" altLang="en-US" sz="2400" dirty="0" smtClean="0">
                <a:latin typeface="微软雅黑" panose="020B0503020204020204" pitchFamily="34" charset="-122"/>
                <a:ea typeface="微软雅黑" panose="020B0503020204020204" pitchFamily="34" charset="-122"/>
              </a:rPr>
              <a:t>兑换</a:t>
            </a:r>
            <a:endParaRPr lang="en-US" altLang="zh-CN" sz="2400" dirty="0" smtClean="0">
              <a:latin typeface="微软雅黑" panose="020B0503020204020204" pitchFamily="34" charset="-122"/>
              <a:ea typeface="微软雅黑" panose="020B0503020204020204" pitchFamily="34" charset="-122"/>
            </a:endParaRPr>
          </a:p>
          <a:p>
            <a:pPr marL="0" lvl="1" indent="457200">
              <a:lnSpc>
                <a:spcPct val="110000"/>
              </a:lnSpc>
              <a:spcBef>
                <a:spcPts val="1800"/>
              </a:spcBef>
              <a:buNone/>
            </a:pP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grpSp>
        <p:nvGrpSpPr>
          <p:cNvPr id="6" name="Group 7"/>
          <p:cNvGrpSpPr>
            <a:grpSpLocks/>
          </p:cNvGrpSpPr>
          <p:nvPr/>
        </p:nvGrpSpPr>
        <p:grpSpPr bwMode="auto">
          <a:xfrm>
            <a:off x="971550" y="3322200"/>
            <a:ext cx="7200900" cy="2654300"/>
            <a:chOff x="431" y="2478"/>
            <a:chExt cx="4536" cy="1672"/>
          </a:xfrm>
        </p:grpSpPr>
        <p:sp>
          <p:nvSpPr>
            <p:cNvPr id="7" name="Text Box 8"/>
            <p:cNvSpPr txBox="1">
              <a:spLocks noChangeArrowheads="1"/>
            </p:cNvSpPr>
            <p:nvPr/>
          </p:nvSpPr>
          <p:spPr bwMode="auto">
            <a:xfrm>
              <a:off x="1202" y="2478"/>
              <a:ext cx="3765" cy="167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solidFill>
                    <a:schemeClr val="bg1"/>
                  </a:solidFill>
                  <a:ea typeface="黑体" panose="02010609060101010101" pitchFamily="49" charset="-122"/>
                </a:rPr>
                <a:t>一国货币实现完全可兑换性，一般来说要经历经常账户的有条件兑换、经常账户自由兑换、经常账户自由兑换加上资本与金融账户的有条件兑换、经常账户可自由兑换加上资本与金融账户自由兑换这样四个阶段。</a:t>
              </a:r>
            </a:p>
          </p:txBody>
        </p:sp>
        <p:sp>
          <p:nvSpPr>
            <p:cNvPr id="8" name="AutoShape 9"/>
            <p:cNvSpPr>
              <a:spLocks noChangeArrowheads="1"/>
            </p:cNvSpPr>
            <p:nvPr/>
          </p:nvSpPr>
          <p:spPr bwMode="auto">
            <a:xfrm>
              <a:off x="431" y="2659"/>
              <a:ext cx="680" cy="363"/>
            </a:xfrm>
            <a:prstGeom prst="notchedRightArrow">
              <a:avLst>
                <a:gd name="adj1" fmla="val 50000"/>
                <a:gd name="adj2" fmla="val 46832"/>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Tree>
    <p:extLst>
      <p:ext uri="{BB962C8B-B14F-4D97-AF65-F5344CB8AC3E}">
        <p14:creationId xmlns:p14="http://schemas.microsoft.com/office/powerpoint/2010/main" val="3091854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514350" lvl="1" indent="-514350">
              <a:lnSpc>
                <a:spcPct val="110000"/>
              </a:lnSpc>
              <a:spcBef>
                <a:spcPts val="1800"/>
              </a:spcBef>
              <a:buFont typeface="+mj-lt"/>
              <a:buAutoNum type="arabicPeriod" startAt="2"/>
            </a:pPr>
            <a:r>
              <a:rPr lang="zh-CN" altLang="en-US" sz="2800" dirty="0">
                <a:solidFill>
                  <a:schemeClr val="accent1"/>
                </a:solidFill>
                <a:latin typeface="微软雅黑" panose="020B0503020204020204" pitchFamily="34" charset="-122"/>
                <a:ea typeface="微软雅黑" panose="020B0503020204020204" pitchFamily="34" charset="-122"/>
              </a:rPr>
              <a:t>货币自由兑换的</a:t>
            </a:r>
            <a:r>
              <a:rPr lang="zh-CN" altLang="en-US" sz="2800" dirty="0" smtClean="0">
                <a:solidFill>
                  <a:schemeClr val="accent1"/>
                </a:solidFill>
                <a:latin typeface="微软雅黑" panose="020B0503020204020204" pitchFamily="34" charset="-122"/>
                <a:ea typeface="微软雅黑" panose="020B0503020204020204" pitchFamily="34" charset="-122"/>
              </a:rPr>
              <a:t>条件</a:t>
            </a:r>
            <a:endParaRPr lang="en-US" altLang="zh-CN" sz="2800" dirty="0" smtClean="0">
              <a:solidFill>
                <a:schemeClr val="accent1"/>
              </a:solidFill>
              <a:latin typeface="微软雅黑" panose="020B0503020204020204" pitchFamily="34" charset="-122"/>
              <a:ea typeface="微软雅黑" panose="020B0503020204020204" pitchFamily="34" charset="-122"/>
            </a:endParaRPr>
          </a:p>
          <a:p>
            <a:pPr marL="742950" lvl="1" indent="-514350">
              <a:lnSpc>
                <a:spcPct val="130000"/>
              </a:lnSpc>
              <a:buFont typeface="+mj-ea"/>
              <a:buAutoNum type="circleNumDbPlain"/>
            </a:pPr>
            <a:r>
              <a:rPr lang="zh-CN" altLang="en-US" sz="2600" dirty="0">
                <a:latin typeface="微软雅黑" panose="020B0503020204020204" pitchFamily="34" charset="-122"/>
                <a:ea typeface="微软雅黑" panose="020B0503020204020204" pitchFamily="34" charset="-122"/>
              </a:rPr>
              <a:t>健康的宏观经济状况</a:t>
            </a:r>
          </a:p>
          <a:p>
            <a:pPr lvl="2" indent="-457200">
              <a:lnSpc>
                <a:spcPct val="110000"/>
              </a:lnSpc>
              <a:spcBef>
                <a:spcPts val="1800"/>
              </a:spcBef>
              <a:buFont typeface="+mj-lt"/>
              <a:buAutoNum type="alphaLcParenR"/>
            </a:pPr>
            <a:r>
              <a:rPr lang="zh-CN" altLang="en-US" sz="2200" dirty="0" smtClean="0">
                <a:latin typeface="微软雅黑" panose="020B0503020204020204" pitchFamily="34" charset="-122"/>
                <a:ea typeface="微软雅黑" panose="020B0503020204020204" pitchFamily="34" charset="-122"/>
              </a:rPr>
              <a:t>稳定</a:t>
            </a:r>
            <a:r>
              <a:rPr lang="zh-CN" altLang="en-US" sz="2200" dirty="0">
                <a:latin typeface="微软雅黑" panose="020B0503020204020204" pitchFamily="34" charset="-122"/>
                <a:ea typeface="微软雅黑" panose="020B0503020204020204" pitchFamily="34" charset="-122"/>
              </a:rPr>
              <a:t>的宏观经济形势</a:t>
            </a:r>
          </a:p>
          <a:p>
            <a:pPr lvl="2" indent="-457200">
              <a:lnSpc>
                <a:spcPct val="110000"/>
              </a:lnSpc>
              <a:spcBef>
                <a:spcPts val="1800"/>
              </a:spcBef>
              <a:buFont typeface="+mj-lt"/>
              <a:buAutoNum type="alphaLcParenR"/>
            </a:pPr>
            <a:r>
              <a:rPr lang="zh-CN" altLang="en-US" sz="2200" dirty="0" smtClean="0">
                <a:latin typeface="微软雅黑" panose="020B0503020204020204" pitchFamily="34" charset="-122"/>
                <a:ea typeface="微软雅黑" panose="020B0503020204020204" pitchFamily="34" charset="-122"/>
              </a:rPr>
              <a:t>有效</a:t>
            </a:r>
            <a:r>
              <a:rPr lang="zh-CN" altLang="en-US" sz="2200" dirty="0">
                <a:latin typeface="微软雅黑" panose="020B0503020204020204" pitchFamily="34" charset="-122"/>
                <a:ea typeface="微软雅黑" panose="020B0503020204020204" pitchFamily="34" charset="-122"/>
              </a:rPr>
              <a:t>的经济自发调节机制</a:t>
            </a:r>
          </a:p>
          <a:p>
            <a:pPr lvl="2" indent="-457200">
              <a:lnSpc>
                <a:spcPct val="110000"/>
              </a:lnSpc>
              <a:spcBef>
                <a:spcPts val="1800"/>
              </a:spcBef>
              <a:buFont typeface="+mj-lt"/>
              <a:buAutoNum type="alphaLcParenR"/>
            </a:pPr>
            <a:r>
              <a:rPr lang="zh-CN" altLang="en-US" sz="2200" dirty="0" smtClean="0">
                <a:latin typeface="微软雅黑" panose="020B0503020204020204" pitchFamily="34" charset="-122"/>
                <a:ea typeface="微软雅黑" panose="020B0503020204020204" pitchFamily="34" charset="-122"/>
              </a:rPr>
              <a:t>成熟</a:t>
            </a:r>
            <a:r>
              <a:rPr lang="zh-CN" altLang="en-US" sz="2200" dirty="0">
                <a:latin typeface="微软雅黑" panose="020B0503020204020204" pitchFamily="34" charset="-122"/>
                <a:ea typeface="微软雅黑" panose="020B0503020204020204" pitchFamily="34" charset="-122"/>
              </a:rPr>
              <a:t>的宏观调控能力</a:t>
            </a:r>
          </a:p>
          <a:p>
            <a:pPr marL="0" lvl="1" indent="457200">
              <a:lnSpc>
                <a:spcPct val="110000"/>
              </a:lnSpc>
              <a:spcBef>
                <a:spcPts val="1800"/>
              </a:spcBef>
              <a:buNone/>
            </a:pP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4196738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514350" lvl="1" indent="-514350">
              <a:lnSpc>
                <a:spcPct val="110000"/>
              </a:lnSpc>
              <a:spcBef>
                <a:spcPts val="1800"/>
              </a:spcBef>
              <a:buFont typeface="+mj-lt"/>
              <a:buAutoNum type="arabicPeriod" startAt="2"/>
            </a:pPr>
            <a:r>
              <a:rPr lang="zh-CN" altLang="en-US" sz="2800" dirty="0">
                <a:solidFill>
                  <a:schemeClr val="accent1"/>
                </a:solidFill>
                <a:latin typeface="微软雅黑" panose="020B0503020204020204" pitchFamily="34" charset="-122"/>
                <a:ea typeface="微软雅黑" panose="020B0503020204020204" pitchFamily="34" charset="-122"/>
              </a:rPr>
              <a:t>货币自由兑换的</a:t>
            </a:r>
            <a:r>
              <a:rPr lang="zh-CN" altLang="en-US" sz="2800" dirty="0" smtClean="0">
                <a:solidFill>
                  <a:schemeClr val="accent1"/>
                </a:solidFill>
                <a:latin typeface="微软雅黑" panose="020B0503020204020204" pitchFamily="34" charset="-122"/>
                <a:ea typeface="微软雅黑" panose="020B0503020204020204" pitchFamily="34" charset="-122"/>
              </a:rPr>
              <a:t>条件</a:t>
            </a:r>
            <a:endParaRPr lang="en-US" altLang="zh-CN" sz="2800" dirty="0" smtClean="0">
              <a:solidFill>
                <a:schemeClr val="accent1"/>
              </a:solidFill>
              <a:latin typeface="微软雅黑" panose="020B0503020204020204" pitchFamily="34" charset="-122"/>
              <a:ea typeface="微软雅黑" panose="020B0503020204020204" pitchFamily="34" charset="-122"/>
            </a:endParaRPr>
          </a:p>
          <a:p>
            <a:pPr marL="742950" lvl="1" indent="-514350">
              <a:lnSpc>
                <a:spcPct val="130000"/>
              </a:lnSpc>
              <a:buFont typeface="+mj-ea"/>
              <a:buAutoNum type="circleNumDbPlain"/>
            </a:pPr>
            <a:r>
              <a:rPr lang="zh-CN" altLang="en-US" sz="2600" dirty="0">
                <a:latin typeface="微软雅黑" panose="020B0503020204020204" pitchFamily="34" charset="-122"/>
                <a:ea typeface="微软雅黑" panose="020B0503020204020204" pitchFamily="34" charset="-122"/>
              </a:rPr>
              <a:t>健康的宏观经济</a:t>
            </a:r>
            <a:r>
              <a:rPr lang="zh-CN" altLang="en-US" sz="2600" dirty="0" smtClean="0">
                <a:latin typeface="微软雅黑" panose="020B0503020204020204" pitchFamily="34" charset="-122"/>
                <a:ea typeface="微软雅黑" panose="020B0503020204020204" pitchFamily="34" charset="-122"/>
              </a:rPr>
              <a:t>状况</a:t>
            </a:r>
            <a:endParaRPr lang="en-US" altLang="zh-CN" sz="2600" dirty="0" smtClean="0">
              <a:latin typeface="微软雅黑" panose="020B0503020204020204" pitchFamily="34" charset="-122"/>
              <a:ea typeface="微软雅黑" panose="020B0503020204020204" pitchFamily="34" charset="-122"/>
            </a:endParaRPr>
          </a:p>
          <a:p>
            <a:pPr marL="742950" lvl="1" indent="-514350">
              <a:lnSpc>
                <a:spcPct val="130000"/>
              </a:lnSpc>
              <a:buFont typeface="+mj-ea"/>
              <a:buAutoNum type="circleNumDbPlain"/>
            </a:pPr>
            <a:r>
              <a:rPr lang="zh-CN" altLang="en-US" sz="2600" dirty="0" smtClean="0">
                <a:latin typeface="微软雅黑" panose="020B0503020204020204" pitchFamily="34" charset="-122"/>
                <a:ea typeface="微软雅黑" panose="020B0503020204020204" pitchFamily="34" charset="-122"/>
              </a:rPr>
              <a:t>健全</a:t>
            </a:r>
            <a:r>
              <a:rPr lang="zh-CN" altLang="en-US" sz="2600" dirty="0">
                <a:latin typeface="微软雅黑" panose="020B0503020204020204" pitchFamily="34" charset="-122"/>
                <a:ea typeface="微软雅黑" panose="020B0503020204020204" pitchFamily="34" charset="-122"/>
              </a:rPr>
              <a:t>的微观经济主体</a:t>
            </a:r>
          </a:p>
          <a:p>
            <a:pPr marL="742950" lvl="1" indent="-514350">
              <a:lnSpc>
                <a:spcPct val="130000"/>
              </a:lnSpc>
              <a:buFont typeface="+mj-ea"/>
              <a:buAutoNum type="circleNumDbPlain"/>
            </a:pPr>
            <a:r>
              <a:rPr lang="zh-CN" altLang="en-US" sz="2600" dirty="0" smtClean="0">
                <a:latin typeface="微软雅黑" panose="020B0503020204020204" pitchFamily="34" charset="-122"/>
                <a:ea typeface="微软雅黑" panose="020B0503020204020204" pitchFamily="34" charset="-122"/>
              </a:rPr>
              <a:t>合理</a:t>
            </a:r>
            <a:r>
              <a:rPr lang="zh-CN" altLang="en-US" sz="2600" dirty="0">
                <a:latin typeface="微软雅黑" panose="020B0503020204020204" pitchFamily="34" charset="-122"/>
                <a:ea typeface="微软雅黑" panose="020B0503020204020204" pitchFamily="34" charset="-122"/>
              </a:rPr>
              <a:t>的经济开放状态</a:t>
            </a:r>
          </a:p>
          <a:p>
            <a:pPr marL="742950" lvl="1" indent="-514350">
              <a:lnSpc>
                <a:spcPct val="130000"/>
              </a:lnSpc>
              <a:buFont typeface="+mj-ea"/>
              <a:buAutoNum type="circleNumDbPlain"/>
            </a:pPr>
            <a:r>
              <a:rPr lang="zh-CN" altLang="en-US" sz="2600" dirty="0" smtClean="0">
                <a:latin typeface="微软雅黑" panose="020B0503020204020204" pitchFamily="34" charset="-122"/>
                <a:ea typeface="微软雅黑" panose="020B0503020204020204" pitchFamily="34" charset="-122"/>
              </a:rPr>
              <a:t>恰当</a:t>
            </a:r>
            <a:r>
              <a:rPr lang="zh-CN" altLang="en-US" sz="2600" dirty="0">
                <a:latin typeface="微软雅黑" panose="020B0503020204020204" pitchFamily="34" charset="-122"/>
                <a:ea typeface="微软雅黑" panose="020B0503020204020204" pitchFamily="34" charset="-122"/>
              </a:rPr>
              <a:t>的汇率制度与汇率水平</a:t>
            </a:r>
          </a:p>
          <a:p>
            <a:pPr marL="742950" lvl="1" indent="-514350">
              <a:lnSpc>
                <a:spcPct val="130000"/>
              </a:lnSpc>
              <a:buFont typeface="+mj-ea"/>
              <a:buAutoNum type="circleNumDbPlain"/>
            </a:pPr>
            <a:endParaRPr lang="en-US" altLang="zh-CN" sz="2600" dirty="0">
              <a:latin typeface="微软雅黑" panose="020B0503020204020204" pitchFamily="34" charset="-122"/>
              <a:ea typeface="微软雅黑" panose="020B0503020204020204" pitchFamily="34" charset="-122"/>
            </a:endParaRPr>
          </a:p>
          <a:p>
            <a:pPr marL="742950" lvl="1" indent="-514350">
              <a:lnSpc>
                <a:spcPct val="130000"/>
              </a:lnSpc>
              <a:buFont typeface="+mj-ea"/>
              <a:buAutoNum type="circleNumDbPlain"/>
            </a:pPr>
            <a:endParaRPr lang="zh-CN" altLang="en-US" sz="26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834372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514350" lvl="1" indent="-514350">
              <a:lnSpc>
                <a:spcPct val="110000"/>
              </a:lnSpc>
              <a:spcBef>
                <a:spcPts val="1800"/>
              </a:spcBef>
              <a:buFont typeface="+mj-lt"/>
              <a:buAutoNum type="arabicPeriod" startAt="3"/>
            </a:pPr>
            <a:r>
              <a:rPr lang="zh-CN" altLang="en-US" sz="2800" dirty="0">
                <a:solidFill>
                  <a:schemeClr val="accent1"/>
                </a:solidFill>
                <a:latin typeface="微软雅黑" panose="020B0503020204020204" pitchFamily="34" charset="-122"/>
                <a:ea typeface="微软雅黑" panose="020B0503020204020204" pitchFamily="34" charset="-122"/>
              </a:rPr>
              <a:t>人民币自由兑换</a:t>
            </a:r>
            <a:r>
              <a:rPr lang="zh-CN" altLang="en-US" sz="2800" dirty="0" smtClean="0">
                <a:solidFill>
                  <a:schemeClr val="accent1"/>
                </a:solidFill>
                <a:latin typeface="微软雅黑" panose="020B0503020204020204" pitchFamily="34" charset="-122"/>
                <a:ea typeface="微软雅黑" panose="020B0503020204020204" pitchFamily="34" charset="-122"/>
              </a:rPr>
              <a:t>进程</a:t>
            </a:r>
            <a:endParaRPr lang="en-US" altLang="zh-CN" sz="2800" dirty="0" smtClean="0">
              <a:solidFill>
                <a:schemeClr val="accent1"/>
              </a:solidFill>
              <a:latin typeface="微软雅黑" panose="020B0503020204020204" pitchFamily="34" charset="-122"/>
              <a:ea typeface="微软雅黑" panose="020B0503020204020204" pitchFamily="34" charset="-122"/>
            </a:endParaRPr>
          </a:p>
          <a:p>
            <a:pPr marL="514350" lvl="1" indent="-514350">
              <a:lnSpc>
                <a:spcPct val="130000"/>
              </a:lnSpc>
              <a:spcBef>
                <a:spcPts val="1800"/>
              </a:spcBef>
              <a:buFont typeface="+mj-ea"/>
              <a:buAutoNum type="circleNumDbPlain"/>
            </a:pPr>
            <a:r>
              <a:rPr lang="zh-CN" altLang="en-US" sz="2400" dirty="0">
                <a:latin typeface="微软雅黑" panose="020B0503020204020204" pitchFamily="34" charset="-122"/>
                <a:ea typeface="微软雅黑" panose="020B0503020204020204" pitchFamily="34" charset="-122"/>
              </a:rPr>
              <a:t>高度集中控制时期（</a:t>
            </a:r>
            <a:r>
              <a:rPr lang="en-US" altLang="zh-CN" sz="2400" dirty="0">
                <a:latin typeface="微软雅黑" panose="020B0503020204020204" pitchFamily="34" charset="-122"/>
                <a:ea typeface="微软雅黑" panose="020B0503020204020204" pitchFamily="34" charset="-122"/>
              </a:rPr>
              <a:t>1979</a:t>
            </a:r>
            <a:r>
              <a:rPr lang="zh-CN" altLang="en-US" sz="2400" dirty="0">
                <a:latin typeface="微软雅黑" panose="020B0503020204020204" pitchFamily="34" charset="-122"/>
                <a:ea typeface="微软雅黑" panose="020B0503020204020204" pitchFamily="34" charset="-122"/>
              </a:rPr>
              <a:t>年以前）</a:t>
            </a:r>
          </a:p>
          <a:p>
            <a:pPr marL="0" lvl="1" indent="457200">
              <a:lnSpc>
                <a:spcPct val="130000"/>
              </a:lnSpc>
              <a:spcBef>
                <a:spcPts val="1800"/>
              </a:spcBef>
              <a:buNone/>
            </a:pPr>
            <a:r>
              <a:rPr lang="zh-CN" altLang="en-US" sz="2400" dirty="0" smtClean="0">
                <a:latin typeface="微软雅黑" panose="020B0503020204020204" pitchFamily="34" charset="-122"/>
                <a:ea typeface="微软雅黑" panose="020B0503020204020204" pitchFamily="34" charset="-122"/>
              </a:rPr>
              <a:t>一切</a:t>
            </a:r>
            <a:r>
              <a:rPr lang="zh-CN" altLang="en-US" sz="2400" dirty="0">
                <a:latin typeface="微软雅黑" panose="020B0503020204020204" pitchFamily="34" charset="-122"/>
                <a:ea typeface="微软雅黑" panose="020B0503020204020204" pitchFamily="34" charset="-122"/>
              </a:rPr>
              <a:t>外汇收支由国家管理，一切外汇业务由中国银行经营，国家对外汇实行全面的计划管理，统收统支。</a:t>
            </a:r>
          </a:p>
          <a:p>
            <a:pPr marL="514350" lvl="1" indent="-514350">
              <a:lnSpc>
                <a:spcPct val="130000"/>
              </a:lnSpc>
              <a:spcBef>
                <a:spcPts val="1800"/>
              </a:spcBef>
              <a:buFont typeface="+mj-ea"/>
              <a:buAutoNum type="circleNumDbPlain" startAt="2"/>
            </a:pPr>
            <a:r>
              <a:rPr lang="zh-CN" altLang="en-US" sz="2400" dirty="0" smtClean="0">
                <a:latin typeface="微软雅黑" panose="020B0503020204020204" pitchFamily="34" charset="-122"/>
                <a:ea typeface="微软雅黑" panose="020B0503020204020204" pitchFamily="34" charset="-122"/>
              </a:rPr>
              <a:t>向</a:t>
            </a:r>
            <a:r>
              <a:rPr lang="zh-CN" altLang="en-US" sz="2400" dirty="0">
                <a:latin typeface="微软雅黑" panose="020B0503020204020204" pitchFamily="34" charset="-122"/>
                <a:ea typeface="微软雅黑" panose="020B0503020204020204" pitchFamily="34" charset="-122"/>
              </a:rPr>
              <a:t>市场化过渡时期（</a:t>
            </a:r>
            <a:r>
              <a:rPr lang="en-US" altLang="zh-CN" sz="2400" dirty="0">
                <a:latin typeface="微软雅黑" panose="020B0503020204020204" pitchFamily="34" charset="-122"/>
                <a:ea typeface="微软雅黑" panose="020B0503020204020204" pitchFamily="34" charset="-122"/>
              </a:rPr>
              <a:t>1979</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1993</a:t>
            </a:r>
            <a:r>
              <a:rPr lang="zh-CN" altLang="en-US" sz="2400" dirty="0">
                <a:latin typeface="微软雅黑" panose="020B0503020204020204" pitchFamily="34" charset="-122"/>
                <a:ea typeface="微软雅黑" panose="020B0503020204020204" pitchFamily="34" charset="-122"/>
              </a:rPr>
              <a:t>）</a:t>
            </a:r>
          </a:p>
          <a:p>
            <a:pPr marL="0" lvl="1" indent="457200">
              <a:lnSpc>
                <a:spcPct val="130000"/>
              </a:lnSpc>
              <a:spcBef>
                <a:spcPts val="1800"/>
              </a:spcBef>
              <a:buNone/>
            </a:pPr>
            <a:r>
              <a:rPr lang="en-US" altLang="zh-CN" sz="2400" dirty="0" smtClean="0">
                <a:latin typeface="微软雅黑" panose="020B0503020204020204" pitchFamily="34" charset="-122"/>
                <a:ea typeface="微软雅黑" panose="020B0503020204020204" pitchFamily="34" charset="-122"/>
              </a:rPr>
              <a:t>1979</a:t>
            </a:r>
            <a:r>
              <a:rPr lang="zh-CN" altLang="en-US" sz="2400" dirty="0">
                <a:latin typeface="微软雅黑" panose="020B0503020204020204" pitchFamily="34" charset="-122"/>
                <a:ea typeface="微软雅黑" panose="020B0503020204020204" pitchFamily="34" charset="-122"/>
              </a:rPr>
              <a:t>年，国务院决定实行外汇额度留成；创汇企业和用汇企业间形成了外汇调剂市场</a:t>
            </a:r>
            <a:r>
              <a:rPr lang="zh-CN" altLang="en-US" sz="2400" dirty="0" smtClean="0">
                <a:latin typeface="微软雅黑" panose="020B0503020204020204" pitchFamily="34" charset="-122"/>
                <a:ea typeface="微软雅黑" panose="020B0503020204020204" pitchFamily="34" charset="-122"/>
              </a:rPr>
              <a:t>。</a:t>
            </a:r>
            <a:endParaRPr lang="en-US" altLang="zh-CN" sz="2400" dirty="0" smtClean="0">
              <a:latin typeface="微软雅黑" panose="020B0503020204020204" pitchFamily="34" charset="-122"/>
              <a:ea typeface="微软雅黑" panose="020B0503020204020204" pitchFamily="34" charset="-122"/>
            </a:endParaRPr>
          </a:p>
          <a:p>
            <a:pPr marL="0" lvl="1" indent="457200">
              <a:lnSpc>
                <a:spcPct val="130000"/>
              </a:lnSpc>
              <a:spcBef>
                <a:spcPts val="1800"/>
              </a:spcBef>
              <a:buNone/>
            </a:pPr>
            <a:endParaRPr lang="zh-CN" altLang="en-US" sz="2800" dirty="0">
              <a:latin typeface="微软雅黑" panose="020B0503020204020204" pitchFamily="34" charset="-122"/>
              <a:ea typeface="微软雅黑" panose="020B0503020204020204" pitchFamily="34" charset="-122"/>
            </a:endParaRPr>
          </a:p>
          <a:p>
            <a:pPr marL="514350" lvl="1" indent="-514350">
              <a:lnSpc>
                <a:spcPct val="110000"/>
              </a:lnSpc>
              <a:spcBef>
                <a:spcPts val="1800"/>
              </a:spcBef>
              <a:buFont typeface="+mj-lt"/>
              <a:buAutoNum type="arabicPeriod" startAt="2"/>
            </a:pPr>
            <a:endParaRPr lang="en-US" altLang="zh-CN" sz="2800" dirty="0" smtClean="0">
              <a:solidFill>
                <a:schemeClr val="accent1"/>
              </a:solidFill>
              <a:latin typeface="微软雅黑" panose="020B0503020204020204" pitchFamily="34" charset="-122"/>
              <a:ea typeface="微软雅黑" panose="020B0503020204020204" pitchFamily="34" charset="-122"/>
            </a:endParaRPr>
          </a:p>
          <a:p>
            <a:pPr marL="514350" lvl="1" indent="-514350">
              <a:lnSpc>
                <a:spcPct val="110000"/>
              </a:lnSpc>
              <a:spcBef>
                <a:spcPts val="1800"/>
              </a:spcBef>
              <a:buFont typeface="+mj-lt"/>
              <a:buAutoNum type="arabicPeriod" startAt="2"/>
            </a:pPr>
            <a:endParaRPr lang="en-US" altLang="zh-CN" sz="2800" dirty="0">
              <a:solidFill>
                <a:schemeClr val="accent1"/>
              </a:solidFill>
              <a:latin typeface="微软雅黑" panose="020B0503020204020204" pitchFamily="34" charset="-122"/>
              <a:ea typeface="微软雅黑" panose="020B0503020204020204" pitchFamily="34" charset="-122"/>
            </a:endParaRPr>
          </a:p>
          <a:p>
            <a:pPr marL="514350" lvl="1" indent="-514350">
              <a:lnSpc>
                <a:spcPct val="110000"/>
              </a:lnSpc>
              <a:spcBef>
                <a:spcPts val="1800"/>
              </a:spcBef>
              <a:buFont typeface="+mj-lt"/>
              <a:buAutoNum type="arabicPeriod" startAt="2"/>
            </a:pPr>
            <a:endParaRPr lang="zh-CN" altLang="en-US" sz="2800" dirty="0">
              <a:solidFill>
                <a:schemeClr val="accent1"/>
              </a:solidFill>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253980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fontScale="85000" lnSpcReduction="10000"/>
          </a:bodyPr>
          <a:lstStyle/>
          <a:p>
            <a:pPr marL="514350" lvl="1" indent="-514350">
              <a:lnSpc>
                <a:spcPct val="110000"/>
              </a:lnSpc>
              <a:spcBef>
                <a:spcPts val="1800"/>
              </a:spcBef>
              <a:buFont typeface="+mj-lt"/>
              <a:buAutoNum type="arabicPeriod" startAt="3"/>
            </a:pPr>
            <a:r>
              <a:rPr lang="zh-CN" altLang="en-US" sz="2800" dirty="0" smtClean="0">
                <a:solidFill>
                  <a:schemeClr val="accent1"/>
                </a:solidFill>
                <a:latin typeface="微软雅黑" panose="020B0503020204020204" pitchFamily="34" charset="-122"/>
                <a:ea typeface="微软雅黑" panose="020B0503020204020204" pitchFamily="34" charset="-122"/>
              </a:rPr>
              <a:t>人民币自由兑换进程</a:t>
            </a:r>
            <a:endParaRPr lang="en-US" altLang="zh-CN" sz="2800" dirty="0" smtClean="0">
              <a:solidFill>
                <a:schemeClr val="accent1"/>
              </a:solidFill>
              <a:latin typeface="微软雅黑" panose="020B0503020204020204" pitchFamily="34" charset="-122"/>
              <a:ea typeface="微软雅黑" panose="020B0503020204020204" pitchFamily="34" charset="-122"/>
            </a:endParaRPr>
          </a:p>
          <a:p>
            <a:pPr marL="514350" lvl="1" indent="-514350">
              <a:lnSpc>
                <a:spcPct val="130000"/>
              </a:lnSpc>
              <a:spcBef>
                <a:spcPts val="1800"/>
              </a:spcBef>
              <a:buFont typeface="+mj-ea"/>
              <a:buAutoNum type="circleNumDbPlain" startAt="3"/>
            </a:pPr>
            <a:r>
              <a:rPr lang="zh-CN" altLang="en-US" sz="2800" dirty="0" smtClean="0">
                <a:latin typeface="微软雅黑" panose="020B0503020204020204" pitchFamily="34" charset="-122"/>
                <a:ea typeface="微软雅黑" panose="020B0503020204020204" pitchFamily="34" charset="-122"/>
              </a:rPr>
              <a:t>经常</a:t>
            </a:r>
            <a:r>
              <a:rPr lang="zh-CN" altLang="en-US" sz="2800" dirty="0">
                <a:latin typeface="微软雅黑" panose="020B0503020204020204" pitchFamily="34" charset="-122"/>
                <a:ea typeface="微软雅黑" panose="020B0503020204020204" pitchFamily="34" charset="-122"/>
              </a:rPr>
              <a:t>账户下有条件自由兑换时期（</a:t>
            </a:r>
            <a:r>
              <a:rPr lang="en-US" altLang="zh-CN" sz="2800" dirty="0">
                <a:latin typeface="微软雅黑" panose="020B0503020204020204" pitchFamily="34" charset="-122"/>
                <a:ea typeface="微软雅黑" panose="020B0503020204020204" pitchFamily="34" charset="-122"/>
              </a:rPr>
              <a:t>1994</a:t>
            </a: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1996</a:t>
            </a:r>
            <a:r>
              <a:rPr lang="zh-CN" altLang="en-US" sz="2800" dirty="0" smtClean="0">
                <a:latin typeface="微软雅黑" panose="020B0503020204020204" pitchFamily="34" charset="-122"/>
                <a:ea typeface="微软雅黑" panose="020B0503020204020204" pitchFamily="34" charset="-122"/>
              </a:rPr>
              <a:t>）</a:t>
            </a:r>
            <a:endParaRPr lang="en-US" altLang="zh-CN" sz="2800" dirty="0" smtClean="0">
              <a:latin typeface="微软雅黑" panose="020B0503020204020204" pitchFamily="34" charset="-122"/>
              <a:ea typeface="微软雅黑" panose="020B0503020204020204" pitchFamily="34" charset="-122"/>
            </a:endParaRPr>
          </a:p>
          <a:p>
            <a:pPr marL="0" lvl="1" indent="457200">
              <a:lnSpc>
                <a:spcPct val="130000"/>
              </a:lnSpc>
              <a:spcBef>
                <a:spcPts val="1800"/>
              </a:spcBef>
              <a:buNone/>
            </a:pPr>
            <a:r>
              <a:rPr lang="zh-CN" altLang="en-US" sz="3100" dirty="0" smtClean="0">
                <a:latin typeface="微软雅黑" panose="020B0503020204020204" pitchFamily="34" charset="-122"/>
                <a:ea typeface="微软雅黑" panose="020B0503020204020204" pitchFamily="34" charset="-122"/>
              </a:rPr>
              <a:t> </a:t>
            </a:r>
            <a:r>
              <a:rPr lang="en-US" altLang="zh-CN" sz="2800" dirty="0">
                <a:latin typeface="微软雅黑" panose="020B0503020204020204" pitchFamily="34" charset="-122"/>
                <a:ea typeface="微软雅黑" panose="020B0503020204020204" pitchFamily="34" charset="-122"/>
              </a:rPr>
              <a:t>1994.1.1</a:t>
            </a:r>
            <a:r>
              <a:rPr lang="zh-CN" altLang="en-US" sz="2800" dirty="0">
                <a:latin typeface="微软雅黑" panose="020B0503020204020204" pitchFamily="34" charset="-122"/>
                <a:ea typeface="微软雅黑" panose="020B0503020204020204" pitchFamily="34" charset="-122"/>
              </a:rPr>
              <a:t>，外汇体制改革：</a:t>
            </a:r>
          </a:p>
          <a:p>
            <a:pPr marL="0" lvl="1" indent="457200">
              <a:lnSpc>
                <a:spcPct val="130000"/>
              </a:lnSpc>
              <a:spcBef>
                <a:spcPts val="1800"/>
              </a:spcBef>
              <a:buNone/>
            </a:pPr>
            <a:r>
              <a:rPr lang="zh-CN" altLang="en-US" sz="2800" dirty="0" smtClean="0">
                <a:latin typeface="微软雅黑" panose="020B0503020204020204" pitchFamily="34" charset="-122"/>
                <a:ea typeface="微软雅黑" panose="020B0503020204020204" pitchFamily="34" charset="-122"/>
              </a:rPr>
              <a:t>汇率</a:t>
            </a:r>
            <a:r>
              <a:rPr lang="zh-CN" altLang="en-US" sz="2800" dirty="0">
                <a:latin typeface="微软雅黑" panose="020B0503020204020204" pitchFamily="34" charset="-122"/>
                <a:ea typeface="微软雅黑" panose="020B0503020204020204" pitchFamily="34" charset="-122"/>
              </a:rPr>
              <a:t>并轨，取消人民币官方汇率，人民币汇率由银行间外汇市场的供求决定；</a:t>
            </a:r>
          </a:p>
          <a:p>
            <a:pPr marL="0" lvl="1" indent="457200">
              <a:lnSpc>
                <a:spcPct val="130000"/>
              </a:lnSpc>
              <a:spcBef>
                <a:spcPts val="1800"/>
              </a:spcBef>
              <a:buNone/>
            </a:pPr>
            <a:r>
              <a:rPr lang="zh-CN" altLang="en-US" sz="2800" dirty="0" smtClean="0">
                <a:latin typeface="微软雅黑" panose="020B0503020204020204" pitchFamily="34" charset="-122"/>
                <a:ea typeface="微软雅黑" panose="020B0503020204020204" pitchFamily="34" charset="-122"/>
              </a:rPr>
              <a:t>实行</a:t>
            </a:r>
            <a:r>
              <a:rPr lang="zh-CN" altLang="en-US" sz="2800" dirty="0">
                <a:latin typeface="微软雅黑" panose="020B0503020204020204" pitchFamily="34" charset="-122"/>
                <a:ea typeface="微软雅黑" panose="020B0503020204020204" pitchFamily="34" charset="-122"/>
              </a:rPr>
              <a:t>结汇制，取消外汇留成；</a:t>
            </a:r>
          </a:p>
          <a:p>
            <a:pPr marL="0" lvl="1" indent="457200">
              <a:lnSpc>
                <a:spcPct val="130000"/>
              </a:lnSpc>
              <a:spcBef>
                <a:spcPts val="1800"/>
              </a:spcBef>
              <a:buNone/>
            </a:pPr>
            <a:r>
              <a:rPr lang="zh-CN" altLang="en-US" sz="2800" dirty="0" smtClean="0">
                <a:latin typeface="微软雅黑" panose="020B0503020204020204" pitchFamily="34" charset="-122"/>
                <a:ea typeface="微软雅黑" panose="020B0503020204020204" pitchFamily="34" charset="-122"/>
              </a:rPr>
              <a:t>实行</a:t>
            </a:r>
            <a:r>
              <a:rPr lang="zh-CN" altLang="en-US" sz="2800" dirty="0">
                <a:latin typeface="微软雅黑" panose="020B0503020204020204" pitchFamily="34" charset="-122"/>
                <a:ea typeface="微软雅黑" panose="020B0503020204020204" pitchFamily="34" charset="-122"/>
              </a:rPr>
              <a:t>售汇制，境内企事业、机关和社会团体在经常项目下的对外支付，可持有效凭证购汇。</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7345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fade">
                                      <p:cBhvr>
                                        <p:cTn id="1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
            </a:r>
            <a:br>
              <a:rPr lang="zh-CN" altLang="en-US" dirty="0"/>
            </a:br>
            <a:r>
              <a:rPr lang="zh-CN" altLang="en-US" dirty="0"/>
              <a:t>第三节	开放经济下的汇率政策</a:t>
            </a:r>
            <a:endParaRPr lang="zh-CN" dirty="0"/>
          </a:p>
        </p:txBody>
      </p:sp>
      <p:sp>
        <p:nvSpPr>
          <p:cNvPr id="3" name="内容占位符 2"/>
          <p:cNvSpPr>
            <a:spLocks noGrp="1"/>
          </p:cNvSpPr>
          <p:nvPr>
            <p:ph idx="1"/>
          </p:nvPr>
        </p:nvSpPr>
        <p:spPr>
          <a:xfrm>
            <a:off x="971550" y="1447799"/>
            <a:ext cx="7200900" cy="4841879"/>
          </a:xfrm>
        </p:spPr>
        <p:txBody>
          <a:bodyPr>
            <a:normAutofit fontScale="92500" lnSpcReduction="20000"/>
          </a:bodyPr>
          <a:lstStyle/>
          <a:p>
            <a:pPr marL="514350" lvl="1" indent="-514350">
              <a:lnSpc>
                <a:spcPct val="110000"/>
              </a:lnSpc>
              <a:spcBef>
                <a:spcPts val="1800"/>
              </a:spcBef>
              <a:buFont typeface="+mj-ea"/>
              <a:buAutoNum type="circleNumDbPlain" startAt="4"/>
            </a:pPr>
            <a:r>
              <a:rPr altLang="en-US" sz="2400" dirty="0">
                <a:latin typeface="微软雅黑" panose="020B0503020204020204" pitchFamily="34" charset="-122"/>
                <a:ea typeface="微软雅黑" panose="020B0503020204020204" pitchFamily="34" charset="-122"/>
              </a:rPr>
              <a:t>经常账户下完全自由兑换时期（</a:t>
            </a:r>
            <a:r>
              <a:rPr lang="en-US" altLang="zh-CN" sz="2400" dirty="0">
                <a:latin typeface="微软雅黑" panose="020B0503020204020204" pitchFamily="34" charset="-122"/>
                <a:ea typeface="微软雅黑" panose="020B0503020204020204" pitchFamily="34" charset="-122"/>
              </a:rPr>
              <a:t>1996</a:t>
            </a:r>
            <a:r>
              <a:rPr altLang="en-US" sz="2400" dirty="0">
                <a:latin typeface="微软雅黑" panose="020B0503020204020204" pitchFamily="34" charset="-122"/>
                <a:ea typeface="微软雅黑" panose="020B0503020204020204" pitchFamily="34" charset="-122"/>
              </a:rPr>
              <a:t>年</a:t>
            </a:r>
            <a:r>
              <a:rPr lang="en-US" altLang="zh-CN" sz="2400" dirty="0">
                <a:latin typeface="微软雅黑" panose="020B0503020204020204" pitchFamily="34" charset="-122"/>
                <a:ea typeface="微软雅黑" panose="020B0503020204020204" pitchFamily="34" charset="-122"/>
              </a:rPr>
              <a:t>12</a:t>
            </a:r>
            <a:r>
              <a:rPr altLang="en-US" sz="2400" dirty="0">
                <a:latin typeface="微软雅黑" panose="020B0503020204020204" pitchFamily="34" charset="-122"/>
                <a:ea typeface="微软雅黑" panose="020B0503020204020204" pitchFamily="34" charset="-122"/>
              </a:rPr>
              <a:t>月－</a:t>
            </a:r>
            <a:r>
              <a:rPr altLang="en-US" sz="2400" dirty="0" smtClean="0">
                <a:latin typeface="微软雅黑" panose="020B0503020204020204" pitchFamily="34" charset="-122"/>
                <a:ea typeface="微软雅黑" panose="020B0503020204020204" pitchFamily="34" charset="-122"/>
              </a:rPr>
              <a:t>今</a:t>
            </a:r>
            <a:endParaRPr lang="en-US" altLang="zh-CN" sz="2400" dirty="0" smtClean="0">
              <a:latin typeface="微软雅黑" panose="020B0503020204020204" pitchFamily="34" charset="-122"/>
              <a:ea typeface="微软雅黑" panose="020B0503020204020204" pitchFamily="34" charset="-122"/>
            </a:endParaRPr>
          </a:p>
          <a:p>
            <a:pPr marL="0" lvl="1" indent="457200">
              <a:lnSpc>
                <a:spcPct val="130000"/>
              </a:lnSpc>
              <a:spcBef>
                <a:spcPts val="1800"/>
              </a:spcBef>
              <a:buNone/>
            </a:pPr>
            <a:r>
              <a:rPr lang="en-US" altLang="zh-CN" sz="2400" dirty="0" smtClean="0">
                <a:latin typeface="微软雅黑" panose="020B0503020204020204" pitchFamily="34" charset="-122"/>
                <a:ea typeface="微软雅黑" panose="020B0503020204020204" pitchFamily="34" charset="-122"/>
              </a:rPr>
              <a:t>1996</a:t>
            </a:r>
            <a:r>
              <a:rPr lang="zh-CN" altLang="en-US" sz="2400" dirty="0">
                <a:latin typeface="微软雅黑" panose="020B0503020204020204" pitchFamily="34" charset="-122"/>
                <a:ea typeface="微软雅黑" panose="020B0503020204020204" pitchFamily="34" charset="-122"/>
              </a:rPr>
              <a:t>年</a:t>
            </a:r>
            <a:r>
              <a:rPr lang="en-US" altLang="zh-CN" sz="2400" dirty="0">
                <a:latin typeface="微软雅黑" panose="020B0503020204020204" pitchFamily="34" charset="-122"/>
                <a:ea typeface="微软雅黑" panose="020B0503020204020204" pitchFamily="34" charset="-122"/>
              </a:rPr>
              <a:t>11</a:t>
            </a:r>
            <a:r>
              <a:rPr lang="zh-CN" altLang="en-US" sz="2400" dirty="0">
                <a:latin typeface="微软雅黑" panose="020B0503020204020204" pitchFamily="34" charset="-122"/>
                <a:ea typeface="微软雅黑" panose="020B0503020204020204" pitchFamily="34" charset="-122"/>
              </a:rPr>
              <a:t>月</a:t>
            </a:r>
            <a:r>
              <a:rPr lang="en-US" altLang="zh-CN" sz="2400" dirty="0">
                <a:latin typeface="微软雅黑" panose="020B0503020204020204" pitchFamily="34" charset="-122"/>
                <a:ea typeface="微软雅黑" panose="020B0503020204020204" pitchFamily="34" charset="-122"/>
              </a:rPr>
              <a:t>27</a:t>
            </a:r>
            <a:r>
              <a:rPr lang="zh-CN" altLang="en-US" sz="2400" dirty="0">
                <a:latin typeface="微软雅黑" panose="020B0503020204020204" pitchFamily="34" charset="-122"/>
                <a:ea typeface="微软雅黑" panose="020B0503020204020204" pitchFamily="34" charset="-122"/>
              </a:rPr>
              <a:t>日，中国人民银行行长戴相龙正式致函</a:t>
            </a:r>
            <a:r>
              <a:rPr lang="en-US" altLang="zh-CN" sz="2400" dirty="0">
                <a:latin typeface="微软雅黑" panose="020B0503020204020204" pitchFamily="34" charset="-122"/>
                <a:ea typeface="微软雅黑" panose="020B0503020204020204" pitchFamily="34" charset="-122"/>
              </a:rPr>
              <a:t>IMF</a:t>
            </a:r>
            <a:r>
              <a:rPr lang="zh-CN" altLang="en-US" sz="2400" dirty="0">
                <a:latin typeface="微软雅黑" panose="020B0503020204020204" pitchFamily="34" charset="-122"/>
                <a:ea typeface="微软雅黑" panose="020B0503020204020204" pitchFamily="34" charset="-122"/>
              </a:rPr>
              <a:t>，宣布从</a:t>
            </a:r>
            <a:r>
              <a:rPr lang="en-US" altLang="zh-CN" sz="2400" dirty="0">
                <a:latin typeface="微软雅黑" panose="020B0503020204020204" pitchFamily="34" charset="-122"/>
                <a:ea typeface="微软雅黑" panose="020B0503020204020204" pitchFamily="34" charset="-122"/>
              </a:rPr>
              <a:t>12</a:t>
            </a:r>
            <a:r>
              <a:rPr lang="zh-CN" altLang="en-US" sz="2400" dirty="0">
                <a:latin typeface="微软雅黑" panose="020B0503020204020204" pitchFamily="34" charset="-122"/>
                <a:ea typeface="微软雅黑" panose="020B0503020204020204" pitchFamily="34" charset="-122"/>
              </a:rPr>
              <a:t>月</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日起接受</a:t>
            </a:r>
            <a:r>
              <a:rPr lang="en-US" altLang="zh-CN" sz="2400" dirty="0">
                <a:latin typeface="微软雅黑" panose="020B0503020204020204" pitchFamily="34" charset="-122"/>
                <a:ea typeface="微软雅黑" panose="020B0503020204020204" pitchFamily="34" charset="-122"/>
              </a:rPr>
              <a:t>IMF</a:t>
            </a:r>
            <a:r>
              <a:rPr lang="zh-CN" altLang="en-US" sz="2400" dirty="0">
                <a:latin typeface="微软雅黑" panose="020B0503020204020204" pitchFamily="34" charset="-122"/>
                <a:ea typeface="微软雅黑" panose="020B0503020204020204" pitchFamily="34" charset="-122"/>
              </a:rPr>
              <a:t>协定第八条的全部义务</a:t>
            </a:r>
            <a:r>
              <a:rPr lang="zh-CN" altLang="en-US" sz="2400" dirty="0" smtClean="0">
                <a:latin typeface="微软雅黑" panose="020B0503020204020204" pitchFamily="34" charset="-122"/>
                <a:ea typeface="微软雅黑" panose="020B0503020204020204" pitchFamily="34" charset="-122"/>
              </a:rPr>
              <a:t>。</a:t>
            </a:r>
            <a:endParaRPr lang="en-US" altLang="zh-CN" sz="2400" dirty="0" smtClean="0">
              <a:latin typeface="微软雅黑" panose="020B0503020204020204" pitchFamily="34" charset="-122"/>
              <a:ea typeface="微软雅黑" panose="020B0503020204020204" pitchFamily="34" charset="-122"/>
            </a:endParaRPr>
          </a:p>
          <a:p>
            <a:pPr marL="514350" lvl="1" indent="-514350">
              <a:lnSpc>
                <a:spcPct val="130000"/>
              </a:lnSpc>
              <a:spcBef>
                <a:spcPts val="1800"/>
              </a:spcBef>
              <a:buFont typeface="+mj-ea"/>
              <a:buAutoNum type="circleNumDbPlain" startAt="5"/>
            </a:pPr>
            <a:r>
              <a:rPr lang="zh-CN" altLang="en-US" sz="2400" dirty="0" smtClean="0">
                <a:latin typeface="微软雅黑" panose="020B0503020204020204" pitchFamily="34" charset="-122"/>
                <a:ea typeface="微软雅黑" panose="020B0503020204020204" pitchFamily="34" charset="-122"/>
              </a:rPr>
              <a:t>资本</a:t>
            </a:r>
            <a:r>
              <a:rPr lang="zh-CN" altLang="en-US" sz="2400" dirty="0">
                <a:latin typeface="微软雅黑" panose="020B0503020204020204" pitchFamily="34" charset="-122"/>
                <a:ea typeface="微软雅黑" panose="020B0503020204020204" pitchFamily="34" charset="-122"/>
              </a:rPr>
              <a:t>账户有条件兑换（</a:t>
            </a:r>
            <a:r>
              <a:rPr lang="en-US" altLang="zh-CN" sz="2400" dirty="0">
                <a:latin typeface="微软雅黑" panose="020B0503020204020204" pitchFamily="34" charset="-122"/>
                <a:ea typeface="微软雅黑" panose="020B0503020204020204" pitchFamily="34" charset="-122"/>
              </a:rPr>
              <a:t>2006</a:t>
            </a:r>
            <a:r>
              <a:rPr lang="zh-CN" altLang="en-US" sz="2400" dirty="0">
                <a:latin typeface="微软雅黑" panose="020B0503020204020204" pitchFamily="34" charset="-122"/>
                <a:ea typeface="微软雅黑" panose="020B0503020204020204" pitchFamily="34" charset="-122"/>
              </a:rPr>
              <a:t>年</a:t>
            </a:r>
            <a:r>
              <a:rPr lang="en-US" altLang="zh-CN" sz="2400" dirty="0">
                <a:latin typeface="微软雅黑" panose="020B0503020204020204" pitchFamily="34" charset="-122"/>
                <a:ea typeface="微软雅黑" panose="020B0503020204020204" pitchFamily="34" charset="-122"/>
              </a:rPr>
              <a:t>5</a:t>
            </a:r>
            <a:r>
              <a:rPr lang="zh-CN" altLang="en-US" sz="2400" dirty="0">
                <a:latin typeface="微软雅黑" panose="020B0503020204020204" pitchFamily="34" charset="-122"/>
                <a:ea typeface="微软雅黑" panose="020B0503020204020204" pitchFamily="34" charset="-122"/>
              </a:rPr>
              <a:t>月</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今）</a:t>
            </a:r>
          </a:p>
          <a:p>
            <a:pPr marL="0" lvl="1" indent="457200">
              <a:lnSpc>
                <a:spcPct val="130000"/>
              </a:lnSpc>
              <a:spcBef>
                <a:spcPts val="1800"/>
              </a:spcBef>
              <a:buNone/>
            </a:pPr>
            <a:r>
              <a:rPr altLang="en-US" sz="2400" dirty="0" smtClean="0">
                <a:latin typeface="微软雅黑" panose="020B0503020204020204" pitchFamily="34" charset="-122"/>
                <a:ea typeface="微软雅黑" panose="020B0503020204020204" pitchFamily="34" charset="-122"/>
              </a:rPr>
              <a:t>个人兑换额度、合格机构投资者（</a:t>
            </a:r>
            <a:r>
              <a:rPr lang="en-US" altLang="en-US" sz="2400" dirty="0" smtClean="0">
                <a:latin typeface="微软雅黑" panose="020B0503020204020204" pitchFamily="34" charset="-122"/>
                <a:ea typeface="微软雅黑" panose="020B0503020204020204" pitchFamily="34" charset="-122"/>
              </a:rPr>
              <a:t>QDII</a:t>
            </a:r>
            <a:r>
              <a:rPr altLang="en-US" sz="2400" dirty="0" smtClean="0">
                <a:latin typeface="微软雅黑" panose="020B0503020204020204" pitchFamily="34" charset="-122"/>
                <a:ea typeface="微软雅黑" panose="020B0503020204020204" pitchFamily="34" charset="-122"/>
              </a:rPr>
              <a:t>、</a:t>
            </a:r>
            <a:r>
              <a:rPr lang="en-US" altLang="zh-CN" sz="2400" dirty="0" smtClean="0">
                <a:latin typeface="微软雅黑" panose="020B0503020204020204" pitchFamily="34" charset="-122"/>
                <a:ea typeface="微软雅黑" panose="020B0503020204020204" pitchFamily="34" charset="-122"/>
              </a:rPr>
              <a:t>QFII</a:t>
            </a:r>
            <a:r>
              <a:rPr altLang="en-US" sz="2400" dirty="0" smtClean="0">
                <a:latin typeface="微软雅黑" panose="020B0503020204020204" pitchFamily="34" charset="-122"/>
                <a:ea typeface="微软雅黑" panose="020B0503020204020204" pitchFamily="34" charset="-122"/>
              </a:rPr>
              <a:t>）、自贸区试验</a:t>
            </a:r>
            <a:r>
              <a:rPr lang="zh-CN" altLang="en-US" sz="2400" dirty="0" smtClean="0">
                <a:latin typeface="微软雅黑" panose="020B0503020204020204" pitchFamily="34" charset="-122"/>
                <a:ea typeface="微软雅黑" panose="020B0503020204020204" pitchFamily="34" charset="-122"/>
              </a:rPr>
              <a:t>、自贸岛</a:t>
            </a:r>
            <a:r>
              <a:rPr lang="en-US" altLang="en-US" sz="2400" dirty="0" smtClean="0">
                <a:latin typeface="微软雅黑" panose="020B0503020204020204" pitchFamily="34" charset="-122"/>
                <a:ea typeface="微软雅黑" panose="020B0503020204020204" pitchFamily="34" charset="-122"/>
              </a:rPr>
              <a:t>……</a:t>
            </a:r>
          </a:p>
          <a:p>
            <a:pPr marL="0" lvl="1" indent="457200">
              <a:lnSpc>
                <a:spcPct val="130000"/>
              </a:lnSpc>
              <a:spcBef>
                <a:spcPts val="1800"/>
              </a:spcBef>
              <a:buNone/>
            </a:pPr>
            <a:r>
              <a:rPr lang="zh-CN" altLang="en-US" sz="2400" dirty="0" smtClean="0">
                <a:latin typeface="微软雅黑" panose="020B0503020204020204" pitchFamily="34" charset="-122"/>
                <a:ea typeface="微软雅黑" panose="020B0503020204020204" pitchFamily="34" charset="-122"/>
              </a:rPr>
              <a:t>期间，</a:t>
            </a:r>
            <a:r>
              <a:rPr lang="en-US" altLang="zh-CN" sz="2400" dirty="0"/>
              <a:t>2015</a:t>
            </a:r>
            <a:r>
              <a:rPr lang="zh-CN" altLang="zh-CN" sz="2400" dirty="0"/>
              <a:t>年</a:t>
            </a:r>
            <a:r>
              <a:rPr lang="en-US" altLang="zh-CN" sz="2400" dirty="0"/>
              <a:t>8</a:t>
            </a:r>
            <a:r>
              <a:rPr lang="zh-CN" altLang="zh-CN" sz="2400" dirty="0"/>
              <a:t>月，中国人民银行实行了人民币汇率中间价改革，规定人民币兑美元汇率的中间价主要参考前一日的收盘价，这一改革增强了人民币汇率的弹性。</a:t>
            </a:r>
            <a:endParaRPr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509439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图片 1"/>
          <p:cNvPicPr>
            <a:picLocks noChangeAspect="1" noChangeArrowheads="1"/>
          </p:cNvPicPr>
          <p:nvPr/>
        </p:nvPicPr>
        <p:blipFill>
          <a:blip r:embed="rId2"/>
          <a:srcRect/>
          <a:stretch>
            <a:fillRect/>
          </a:stretch>
        </p:blipFill>
        <p:spPr bwMode="auto">
          <a:xfrm>
            <a:off x="285750" y="773944"/>
            <a:ext cx="8643938" cy="4572000"/>
          </a:xfrm>
          <a:prstGeom prst="rect">
            <a:avLst/>
          </a:prstGeom>
          <a:noFill/>
          <a:ln w="9525">
            <a:noFill/>
            <a:miter lim="800000"/>
            <a:headEnd/>
            <a:tailEnd/>
          </a:ln>
        </p:spPr>
      </p:pic>
    </p:spTree>
  </p:cSld>
  <p:clrMapOvr>
    <a:masterClrMapping/>
  </p:clrMapOvr>
  <p:transition spd="med">
    <p:fade/>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第四节	国际储备政策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lvl="1" indent="0">
              <a:lnSpc>
                <a:spcPct val="110000"/>
              </a:lnSpc>
              <a:spcBef>
                <a:spcPts val="1800"/>
              </a:spcBef>
              <a:buNone/>
            </a:pPr>
            <a:r>
              <a:rPr lang="zh-CN" altLang="en-US" sz="2800" dirty="0">
                <a:solidFill>
                  <a:schemeClr val="accent1"/>
                </a:solidFill>
                <a:latin typeface="微软雅黑" panose="020B0503020204020204" pitchFamily="34" charset="-122"/>
                <a:ea typeface="微软雅黑" panose="020B0503020204020204" pitchFamily="34" charset="-122"/>
              </a:rPr>
              <a:t>一、国际储备的构成</a:t>
            </a:r>
          </a:p>
          <a:p>
            <a:pPr marL="0" lvl="1" indent="457200">
              <a:lnSpc>
                <a:spcPct val="130000"/>
              </a:lnSpc>
              <a:spcBef>
                <a:spcPts val="1800"/>
              </a:spcBef>
              <a:buNone/>
            </a:pPr>
            <a:r>
              <a:rPr lang="zh-CN" altLang="en-US" sz="2400" dirty="0">
                <a:latin typeface="微软雅黑" panose="020B0503020204020204" pitchFamily="34" charset="-122"/>
                <a:ea typeface="微软雅黑" panose="020B0503020204020204" pitchFamily="34" charset="-122"/>
              </a:rPr>
              <a:t>国际储备是指一国货币当局能随时用来干预外汇市场、支付国际收支差额的资产。</a:t>
            </a:r>
          </a:p>
          <a:p>
            <a:pPr marL="0" lvl="1" indent="457200">
              <a:lnSpc>
                <a:spcPct val="130000"/>
              </a:lnSpc>
              <a:spcBef>
                <a:spcPts val="1800"/>
              </a:spcBef>
              <a:buNone/>
            </a:pPr>
            <a:r>
              <a:rPr lang="zh-CN" altLang="en-US" sz="2400" dirty="0" smtClean="0">
                <a:latin typeface="微软雅黑" panose="020B0503020204020204" pitchFamily="34" charset="-122"/>
                <a:ea typeface="微软雅黑" panose="020B0503020204020204" pitchFamily="34" charset="-122"/>
              </a:rPr>
              <a:t>是</a:t>
            </a:r>
            <a:r>
              <a:rPr lang="zh-CN" altLang="en-US" sz="2400" dirty="0">
                <a:latin typeface="微软雅黑" panose="020B0503020204020204" pitchFamily="34" charset="-122"/>
                <a:ea typeface="微软雅黑" panose="020B0503020204020204" pitchFamily="34" charset="-122"/>
              </a:rPr>
              <a:t>衡量一个国家综合国力的主要指标之一，它是调节国际收支失衡、稳定汇率、政府干预外汇市场的重要工具。</a:t>
            </a:r>
            <a:endParaRPr lang="zh-CN" altLang="en-US" sz="31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118181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第四节	国际储备政策</a:t>
            </a:r>
            <a:endParaRPr lang="zh-CN" dirty="0"/>
          </a:p>
        </p:txBody>
      </p:sp>
      <p:sp>
        <p:nvSpPr>
          <p:cNvPr id="3" name="内容占位符 2"/>
          <p:cNvSpPr>
            <a:spLocks noGrp="1"/>
          </p:cNvSpPr>
          <p:nvPr>
            <p:ph idx="1"/>
          </p:nvPr>
        </p:nvSpPr>
        <p:spPr>
          <a:xfrm>
            <a:off x="971550" y="1447799"/>
            <a:ext cx="7200900" cy="4841879"/>
          </a:xfrm>
        </p:spPr>
        <p:txBody>
          <a:bodyPr>
            <a:normAutofit fontScale="92500" lnSpcReduction="20000"/>
          </a:bodyPr>
          <a:lstStyle/>
          <a:p>
            <a:pPr marL="0" lvl="1" indent="0">
              <a:lnSpc>
                <a:spcPct val="110000"/>
              </a:lnSpc>
              <a:spcBef>
                <a:spcPts val="1800"/>
              </a:spcBef>
              <a:buNone/>
            </a:pPr>
            <a:r>
              <a:rPr lang="zh-CN" altLang="en-US" sz="2800" dirty="0">
                <a:solidFill>
                  <a:schemeClr val="accent1"/>
                </a:solidFill>
                <a:latin typeface="微软雅黑" panose="020B0503020204020204" pitchFamily="34" charset="-122"/>
                <a:ea typeface="微软雅黑" panose="020B0503020204020204" pitchFamily="34" charset="-122"/>
              </a:rPr>
              <a:t>一、国际储备的构成</a:t>
            </a:r>
          </a:p>
          <a:p>
            <a:pPr lvl="1" indent="-457200">
              <a:lnSpc>
                <a:spcPct val="130000"/>
              </a:lnSpc>
              <a:spcBef>
                <a:spcPts val="1800"/>
              </a:spcBef>
              <a:buFont typeface="+mj-lt"/>
              <a:buAutoNum type="arabicPeriod"/>
            </a:pPr>
            <a:r>
              <a:rPr lang="zh-CN" altLang="en-US" sz="2400" dirty="0">
                <a:solidFill>
                  <a:schemeClr val="accent1"/>
                </a:solidFill>
                <a:latin typeface="微软雅黑" panose="020B0503020204020204" pitchFamily="34" charset="-122"/>
                <a:ea typeface="微软雅黑" panose="020B0503020204020204" pitchFamily="34" charset="-122"/>
              </a:rPr>
              <a:t>货币性黄金</a:t>
            </a:r>
          </a:p>
          <a:p>
            <a:pPr marL="0" lvl="1" indent="457200">
              <a:lnSpc>
                <a:spcPct val="130000"/>
              </a:lnSpc>
              <a:spcBef>
                <a:spcPts val="1800"/>
              </a:spcBef>
              <a:buNone/>
            </a:pPr>
            <a:r>
              <a:rPr lang="zh-CN" altLang="en-US" sz="2400" dirty="0" smtClean="0">
                <a:latin typeface="微软雅黑" panose="020B0503020204020204" pitchFamily="34" charset="-122"/>
                <a:ea typeface="微软雅黑" panose="020B0503020204020204" pitchFamily="34" charset="-122"/>
              </a:rPr>
              <a:t>指</a:t>
            </a:r>
            <a:r>
              <a:rPr lang="zh-CN" altLang="en-US" sz="2400" dirty="0">
                <a:latin typeface="微软雅黑" panose="020B0503020204020204" pitchFamily="34" charset="-122"/>
                <a:ea typeface="微软雅黑" panose="020B0503020204020204" pitchFamily="34" charset="-122"/>
              </a:rPr>
              <a:t>一国货币当局作为金融资产持有的黄金。近几十年来，世界黄金储备一直维持在</a:t>
            </a:r>
            <a:r>
              <a:rPr lang="en-US" altLang="zh-CN" sz="2400" dirty="0">
                <a:latin typeface="微软雅黑" panose="020B0503020204020204" pitchFamily="34" charset="-122"/>
                <a:ea typeface="微软雅黑" panose="020B0503020204020204" pitchFamily="34" charset="-122"/>
              </a:rPr>
              <a:t>10</a:t>
            </a:r>
            <a:r>
              <a:rPr lang="zh-CN" altLang="en-US" sz="2400" dirty="0">
                <a:latin typeface="微软雅黑" panose="020B0503020204020204" pitchFamily="34" charset="-122"/>
                <a:ea typeface="微软雅黑" panose="020B0503020204020204" pitchFamily="34" charset="-122"/>
              </a:rPr>
              <a:t>亿盎司左右，黄金价格波动却很大。自</a:t>
            </a:r>
            <a:r>
              <a:rPr lang="en-US" altLang="zh-CN" sz="2400" dirty="0">
                <a:latin typeface="微软雅黑" panose="020B0503020204020204" pitchFamily="34" charset="-122"/>
                <a:ea typeface="微软雅黑" panose="020B0503020204020204" pitchFamily="34" charset="-122"/>
              </a:rPr>
              <a:t>1976</a:t>
            </a:r>
            <a:r>
              <a:rPr lang="zh-CN" altLang="en-US" sz="2400" dirty="0">
                <a:latin typeface="微软雅黑" panose="020B0503020204020204" pitchFamily="34" charset="-122"/>
                <a:ea typeface="微软雅黑" panose="020B0503020204020204" pitchFamily="34" charset="-122"/>
              </a:rPr>
              <a:t>年起，黄金与国际货币制度和各国货币脱钩，但国际货币基金组织在统计和公布各成员国的国际储备时，仍将黄金储备列入其中。主要原因是黄金长期以来一直被人们认为是一种最后的支付手段。</a:t>
            </a:r>
          </a:p>
          <a:p>
            <a:pPr marL="0" lvl="1" indent="457200">
              <a:lnSpc>
                <a:spcPct val="130000"/>
              </a:lnSpc>
              <a:spcBef>
                <a:spcPts val="1800"/>
              </a:spcBef>
              <a:buNone/>
            </a:pPr>
            <a:r>
              <a:rPr lang="zh-CN" altLang="en-US" sz="2400" dirty="0" smtClean="0">
                <a:latin typeface="微软雅黑" panose="020B0503020204020204" pitchFamily="34" charset="-122"/>
                <a:ea typeface="微软雅黑" panose="020B0503020204020204" pitchFamily="34" charset="-122"/>
              </a:rPr>
              <a:t>目前</a:t>
            </a:r>
            <a:r>
              <a:rPr lang="zh-CN" altLang="en-US" sz="2400" dirty="0">
                <a:latin typeface="微软雅黑" panose="020B0503020204020204" pitchFamily="34" charset="-122"/>
                <a:ea typeface="微软雅黑" panose="020B0503020204020204" pitchFamily="34" charset="-122"/>
              </a:rPr>
              <a:t>，各国货币当局在动用国际储备时，并不能直接以黄金实物对外支付，从这一角度看，黄金实际上已不是真正的国际储备，只是潜在的国际储备。</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75421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第四节	国际储备政策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lvl="1" indent="0">
              <a:lnSpc>
                <a:spcPct val="110000"/>
              </a:lnSpc>
              <a:spcBef>
                <a:spcPts val="1800"/>
              </a:spcBef>
              <a:buNone/>
            </a:pPr>
            <a:r>
              <a:rPr lang="en-US" altLang="zh-CN" sz="2000" dirty="0" smtClean="0">
                <a:solidFill>
                  <a:schemeClr val="accent1"/>
                </a:solidFill>
                <a:latin typeface="微软雅黑" panose="020B0503020204020204" pitchFamily="34" charset="-122"/>
                <a:ea typeface="微软雅黑" panose="020B0503020204020204" pitchFamily="34" charset="-122"/>
              </a:rPr>
              <a:t>1945</a:t>
            </a:r>
            <a:r>
              <a:rPr lang="zh-CN" altLang="en-US" sz="2000" dirty="0" smtClean="0">
                <a:solidFill>
                  <a:schemeClr val="accent1"/>
                </a:solidFill>
                <a:latin typeface="微软雅黑" panose="020B0503020204020204" pitchFamily="34" charset="-122"/>
                <a:ea typeface="微软雅黑" panose="020B0503020204020204" pitchFamily="34" charset="-122"/>
              </a:rPr>
              <a:t>年</a:t>
            </a:r>
            <a:r>
              <a:rPr lang="en-US" altLang="zh-CN" sz="2000" dirty="0" smtClean="0">
                <a:solidFill>
                  <a:schemeClr val="accent1"/>
                </a:solidFill>
                <a:latin typeface="微软雅黑" panose="020B0503020204020204" pitchFamily="34" charset="-122"/>
                <a:ea typeface="微软雅黑" panose="020B0503020204020204" pitchFamily="34" charset="-122"/>
              </a:rPr>
              <a:t>-1968</a:t>
            </a:r>
            <a:r>
              <a:rPr lang="zh-CN" altLang="en-US" sz="2000" dirty="0" smtClean="0">
                <a:solidFill>
                  <a:schemeClr val="accent1"/>
                </a:solidFill>
                <a:latin typeface="微软雅黑" panose="020B0503020204020204" pitchFamily="34" charset="-122"/>
                <a:ea typeface="微软雅黑" panose="020B0503020204020204" pitchFamily="34" charset="-122"/>
              </a:rPr>
              <a:t>年，</a:t>
            </a:r>
            <a:r>
              <a:rPr lang="en-US" altLang="zh-CN" sz="2000" dirty="0" smtClean="0">
                <a:solidFill>
                  <a:schemeClr val="accent1"/>
                </a:solidFill>
                <a:latin typeface="微软雅黑" panose="020B0503020204020204" pitchFamily="34" charset="-122"/>
                <a:ea typeface="微软雅黑" panose="020B0503020204020204" pitchFamily="34" charset="-122"/>
              </a:rPr>
              <a:t>35</a:t>
            </a:r>
            <a:r>
              <a:rPr lang="zh-CN" altLang="en-US" sz="2000" dirty="0" smtClean="0">
                <a:solidFill>
                  <a:schemeClr val="accent1"/>
                </a:solidFill>
                <a:latin typeface="微软雅黑" panose="020B0503020204020204" pitchFamily="34" charset="-122"/>
                <a:ea typeface="微软雅黑" panose="020B0503020204020204" pitchFamily="34" charset="-122"/>
              </a:rPr>
              <a:t>美元一盎司，</a:t>
            </a:r>
            <a:r>
              <a:rPr lang="en-US" altLang="zh-CN" sz="2000" dirty="0" smtClean="0">
                <a:solidFill>
                  <a:schemeClr val="accent1"/>
                </a:solidFill>
                <a:latin typeface="微软雅黑" panose="020B0503020204020204" pitchFamily="34" charset="-122"/>
                <a:ea typeface="微软雅黑" panose="020B0503020204020204" pitchFamily="34" charset="-122"/>
              </a:rPr>
              <a:t>2001</a:t>
            </a:r>
            <a:r>
              <a:rPr lang="zh-CN" altLang="en-US" sz="2000" dirty="0">
                <a:solidFill>
                  <a:schemeClr val="accent1"/>
                </a:solidFill>
                <a:latin typeface="微软雅黑" panose="020B0503020204020204" pitchFamily="34" charset="-122"/>
                <a:ea typeface="微软雅黑" panose="020B0503020204020204" pitchFamily="34" charset="-122"/>
              </a:rPr>
              <a:t>年</a:t>
            </a:r>
            <a:r>
              <a:rPr lang="en-US" altLang="zh-CN" sz="2000" dirty="0">
                <a:solidFill>
                  <a:schemeClr val="accent1"/>
                </a:solidFill>
                <a:latin typeface="微软雅黑" panose="020B0503020204020204" pitchFamily="34" charset="-122"/>
                <a:ea typeface="微软雅黑" panose="020B0503020204020204" pitchFamily="34" charset="-122"/>
              </a:rPr>
              <a:t>-2011</a:t>
            </a:r>
            <a:r>
              <a:rPr lang="zh-CN" altLang="en-US" sz="2000" dirty="0">
                <a:solidFill>
                  <a:schemeClr val="accent1"/>
                </a:solidFill>
                <a:latin typeface="微软雅黑" panose="020B0503020204020204" pitchFamily="34" charset="-122"/>
                <a:ea typeface="微软雅黑" panose="020B0503020204020204" pitchFamily="34" charset="-122"/>
              </a:rPr>
              <a:t>年的十年间，黄金从</a:t>
            </a:r>
            <a:r>
              <a:rPr lang="en-US" altLang="zh-CN" sz="2000" dirty="0">
                <a:solidFill>
                  <a:schemeClr val="accent1"/>
                </a:solidFill>
                <a:latin typeface="微软雅黑" panose="020B0503020204020204" pitchFamily="34" charset="-122"/>
                <a:ea typeface="微软雅黑" panose="020B0503020204020204" pitchFamily="34" charset="-122"/>
              </a:rPr>
              <a:t>250</a:t>
            </a:r>
            <a:r>
              <a:rPr lang="zh-CN" altLang="en-US" sz="2000" dirty="0" smtClean="0">
                <a:solidFill>
                  <a:schemeClr val="accent1"/>
                </a:solidFill>
                <a:latin typeface="微软雅黑" panose="020B0503020204020204" pitchFamily="34" charset="-122"/>
                <a:ea typeface="微软雅黑" panose="020B0503020204020204" pitchFamily="34" charset="-122"/>
              </a:rPr>
              <a:t>美元涨</a:t>
            </a:r>
            <a:r>
              <a:rPr lang="zh-CN" altLang="en-US" sz="2000" dirty="0" smtClean="0">
                <a:solidFill>
                  <a:schemeClr val="accent1"/>
                </a:solidFill>
                <a:latin typeface="微软雅黑" panose="020B0503020204020204" pitchFamily="34" charset="-122"/>
                <a:ea typeface="微软雅黑" panose="020B0503020204020204" pitchFamily="34" charset="-122"/>
              </a:rPr>
              <a:t>至</a:t>
            </a:r>
            <a:r>
              <a:rPr lang="en-US" altLang="zh-CN" sz="2000" dirty="0" smtClean="0">
                <a:solidFill>
                  <a:schemeClr val="accent1"/>
                </a:solidFill>
                <a:latin typeface="微软雅黑" panose="020B0503020204020204" pitchFamily="34" charset="-122"/>
                <a:ea typeface="微软雅黑" panose="020B0503020204020204" pitchFamily="34" charset="-122"/>
              </a:rPr>
              <a:t>1920</a:t>
            </a:r>
            <a:r>
              <a:rPr lang="zh-CN" altLang="en-US" sz="2000" dirty="0">
                <a:solidFill>
                  <a:schemeClr val="accent1"/>
                </a:solidFill>
                <a:latin typeface="微软雅黑" panose="020B0503020204020204" pitchFamily="34" charset="-122"/>
                <a:ea typeface="微软雅黑" panose="020B0503020204020204" pitchFamily="34" charset="-122"/>
              </a:rPr>
              <a:t>美元</a:t>
            </a:r>
            <a:r>
              <a:rPr lang="zh-CN" altLang="en-US" sz="2000" dirty="0">
                <a:solidFill>
                  <a:schemeClr val="accent1"/>
                </a:solidFill>
                <a:latin typeface="微软雅黑" panose="020B0503020204020204" pitchFamily="34" charset="-122"/>
                <a:ea typeface="微软雅黑" panose="020B0503020204020204" pitchFamily="34" charset="-122"/>
              </a:rPr>
              <a:t>。</a:t>
            </a:r>
            <a:r>
              <a:rPr lang="en-US" altLang="zh-CN" sz="2000" dirty="0" smtClean="0">
                <a:solidFill>
                  <a:schemeClr val="accent1"/>
                </a:solidFill>
                <a:latin typeface="微软雅黑" panose="020B0503020204020204" pitchFamily="34" charset="-122"/>
                <a:ea typeface="微软雅黑" panose="020B0503020204020204" pitchFamily="34" charset="-122"/>
              </a:rPr>
              <a:t>2019</a:t>
            </a:r>
            <a:r>
              <a:rPr lang="zh-CN" altLang="en-US" sz="2000" dirty="0" smtClean="0">
                <a:solidFill>
                  <a:schemeClr val="accent1"/>
                </a:solidFill>
                <a:latin typeface="微软雅黑" panose="020B0503020204020204" pitchFamily="34" charset="-122"/>
                <a:ea typeface="微软雅黑" panose="020B0503020204020204" pitchFamily="34" charset="-122"/>
              </a:rPr>
              <a:t>年</a:t>
            </a:r>
            <a:r>
              <a:rPr lang="en-US" altLang="zh-CN" sz="2000" dirty="0" smtClean="0">
                <a:solidFill>
                  <a:schemeClr val="accent1"/>
                </a:solidFill>
                <a:latin typeface="微软雅黑" panose="020B0503020204020204" pitchFamily="34" charset="-122"/>
                <a:ea typeface="微软雅黑" panose="020B0503020204020204" pitchFamily="34" charset="-122"/>
              </a:rPr>
              <a:t>12</a:t>
            </a:r>
            <a:r>
              <a:rPr lang="zh-CN" altLang="en-US" sz="2000" dirty="0" smtClean="0">
                <a:solidFill>
                  <a:schemeClr val="accent1"/>
                </a:solidFill>
                <a:latin typeface="微软雅黑" panose="020B0503020204020204" pitchFamily="34" charset="-122"/>
                <a:ea typeface="微软雅黑" panose="020B0503020204020204" pitchFamily="34" charset="-122"/>
              </a:rPr>
              <a:t>月</a:t>
            </a:r>
            <a:r>
              <a:rPr lang="en-US" altLang="zh-CN" sz="2000" dirty="0" smtClean="0">
                <a:solidFill>
                  <a:schemeClr val="accent1"/>
                </a:solidFill>
                <a:latin typeface="微软雅黑" panose="020B0503020204020204" pitchFamily="34" charset="-122"/>
                <a:ea typeface="微软雅黑" panose="020B0503020204020204" pitchFamily="34" charset="-122"/>
              </a:rPr>
              <a:t>23</a:t>
            </a:r>
            <a:r>
              <a:rPr lang="zh-CN" altLang="en-US" sz="2000" dirty="0" smtClean="0">
                <a:solidFill>
                  <a:schemeClr val="accent1"/>
                </a:solidFill>
                <a:latin typeface="微软雅黑" panose="020B0503020204020204" pitchFamily="34" charset="-122"/>
                <a:ea typeface="微软雅黑" panose="020B0503020204020204" pitchFamily="34" charset="-122"/>
              </a:rPr>
              <a:t>日</a:t>
            </a:r>
            <a:r>
              <a:rPr lang="en-US" altLang="zh-CN" sz="2000" dirty="0" smtClean="0">
                <a:solidFill>
                  <a:schemeClr val="accent1"/>
                </a:solidFill>
                <a:latin typeface="微软雅黑" panose="020B0503020204020204" pitchFamily="34" charset="-122"/>
                <a:ea typeface="微软雅黑" panose="020B0503020204020204" pitchFamily="34" charset="-122"/>
              </a:rPr>
              <a:t>1482</a:t>
            </a:r>
            <a:r>
              <a:rPr lang="zh-CN" altLang="en-US" sz="2000" dirty="0" smtClean="0">
                <a:solidFill>
                  <a:schemeClr val="accent1"/>
                </a:solidFill>
                <a:latin typeface="微软雅黑" panose="020B0503020204020204" pitchFamily="34" charset="-122"/>
                <a:ea typeface="微软雅黑" panose="020B0503020204020204" pitchFamily="34" charset="-122"/>
              </a:rPr>
              <a:t>美元</a:t>
            </a:r>
            <a:r>
              <a:rPr lang="zh-CN" altLang="en-US" sz="2000" dirty="0">
                <a:solidFill>
                  <a:schemeClr val="accent1"/>
                </a:solidFill>
                <a:latin typeface="微软雅黑" panose="020B0503020204020204" pitchFamily="34" charset="-122"/>
                <a:ea typeface="微软雅黑" panose="020B0503020204020204" pitchFamily="34" charset="-122"/>
              </a:rPr>
              <a:t>。</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pic>
        <p:nvPicPr>
          <p:cNvPr id="409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2400" y="2419650"/>
            <a:ext cx="7749600" cy="4359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42516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第四节	国际储备政策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lvl="1" indent="0">
              <a:lnSpc>
                <a:spcPct val="110000"/>
              </a:lnSpc>
              <a:spcBef>
                <a:spcPts val="1800"/>
              </a:spcBef>
              <a:buNone/>
            </a:pPr>
            <a:r>
              <a:rPr lang="zh-CN" altLang="en-US" sz="2800" dirty="0">
                <a:solidFill>
                  <a:schemeClr val="accent1"/>
                </a:solidFill>
                <a:latin typeface="微软雅黑" panose="020B0503020204020204" pitchFamily="34" charset="-122"/>
                <a:ea typeface="微软雅黑" panose="020B0503020204020204" pitchFamily="34" charset="-122"/>
              </a:rPr>
              <a:t>一、国际储备的构成</a:t>
            </a:r>
          </a:p>
          <a:p>
            <a:pPr lvl="1" indent="-457200">
              <a:lnSpc>
                <a:spcPct val="130000"/>
              </a:lnSpc>
              <a:spcBef>
                <a:spcPts val="1800"/>
              </a:spcBef>
              <a:buFont typeface="+mj-lt"/>
              <a:buAutoNum type="arabicPeriod" startAt="2"/>
            </a:pPr>
            <a:r>
              <a:rPr lang="zh-CN" altLang="en-US" sz="2400" dirty="0">
                <a:solidFill>
                  <a:schemeClr val="accent1"/>
                </a:solidFill>
                <a:latin typeface="微软雅黑" panose="020B0503020204020204" pitchFamily="34" charset="-122"/>
                <a:ea typeface="微软雅黑" panose="020B0503020204020204" pitchFamily="34" charset="-122"/>
              </a:rPr>
              <a:t>外汇储备</a:t>
            </a:r>
          </a:p>
          <a:p>
            <a:pPr marL="0" lvl="1" indent="457200">
              <a:lnSpc>
                <a:spcPct val="130000"/>
              </a:lnSpc>
              <a:spcBef>
                <a:spcPts val="1800"/>
              </a:spcBef>
              <a:buNone/>
            </a:pPr>
            <a:r>
              <a:rPr lang="zh-CN" altLang="en-US" sz="2400" dirty="0">
                <a:latin typeface="微软雅黑" panose="020B0503020204020204" pitchFamily="34" charset="-122"/>
                <a:ea typeface="微软雅黑" panose="020B0503020204020204" pitchFamily="34" charset="-122"/>
              </a:rPr>
              <a:t>是国际储备的主体。一国货币充当国际储备货币，需具备两个基本特征：自由兑换货币；内在价值相对比较稳定。</a:t>
            </a:r>
            <a:r>
              <a:rPr lang="en-US" altLang="zh-CN" sz="2400" dirty="0">
                <a:latin typeface="微软雅黑" panose="020B0503020204020204" pitchFamily="34" charset="-122"/>
                <a:ea typeface="微软雅黑" panose="020B0503020204020204" pitchFamily="34" charset="-122"/>
              </a:rPr>
              <a:t>20</a:t>
            </a:r>
            <a:r>
              <a:rPr lang="zh-CN" altLang="en-US" sz="2400" dirty="0">
                <a:latin typeface="微软雅黑" panose="020B0503020204020204" pitchFamily="34" charset="-122"/>
                <a:ea typeface="微软雅黑" panose="020B0503020204020204" pitchFamily="34" charset="-122"/>
              </a:rPr>
              <a:t>世纪</a:t>
            </a:r>
            <a:r>
              <a:rPr lang="en-US" altLang="zh-CN" sz="2400" dirty="0">
                <a:latin typeface="微软雅黑" panose="020B0503020204020204" pitchFamily="34" charset="-122"/>
                <a:ea typeface="微软雅黑" panose="020B0503020204020204" pitchFamily="34" charset="-122"/>
              </a:rPr>
              <a:t>70</a:t>
            </a:r>
            <a:r>
              <a:rPr lang="zh-CN" altLang="en-US" sz="2400" dirty="0">
                <a:latin typeface="微软雅黑" panose="020B0503020204020204" pitchFamily="34" charset="-122"/>
                <a:ea typeface="微软雅黑" panose="020B0503020204020204" pitchFamily="34" charset="-122"/>
              </a:rPr>
              <a:t>年代初期以来，由于美元价值的相对不稳定，出现了储备货币多元化的趋势。</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649690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第四节	国际储备政策</a:t>
            </a:r>
            <a:endParaRPr lang="zh-CN" dirty="0"/>
          </a:p>
        </p:txBody>
      </p:sp>
      <p:sp>
        <p:nvSpPr>
          <p:cNvPr id="3" name="内容占位符 2"/>
          <p:cNvSpPr>
            <a:spLocks noGrp="1"/>
          </p:cNvSpPr>
          <p:nvPr>
            <p:ph idx="1"/>
          </p:nvPr>
        </p:nvSpPr>
        <p:spPr>
          <a:xfrm>
            <a:off x="971550" y="1447799"/>
            <a:ext cx="7200900" cy="4841879"/>
          </a:xfrm>
        </p:spPr>
        <p:txBody>
          <a:bodyPr>
            <a:normAutofit fontScale="92500"/>
          </a:bodyPr>
          <a:lstStyle/>
          <a:p>
            <a:pPr marL="0" lvl="1" indent="0">
              <a:lnSpc>
                <a:spcPct val="110000"/>
              </a:lnSpc>
              <a:spcBef>
                <a:spcPts val="1800"/>
              </a:spcBef>
              <a:buNone/>
            </a:pPr>
            <a:r>
              <a:rPr lang="zh-CN" altLang="en-US" sz="2800" dirty="0">
                <a:solidFill>
                  <a:schemeClr val="accent1"/>
                </a:solidFill>
                <a:latin typeface="微软雅黑" panose="020B0503020204020204" pitchFamily="34" charset="-122"/>
                <a:ea typeface="微软雅黑" panose="020B0503020204020204" pitchFamily="34" charset="-122"/>
              </a:rPr>
              <a:t>一、国际储备的构成</a:t>
            </a:r>
          </a:p>
          <a:p>
            <a:pPr lvl="1" indent="-457200">
              <a:lnSpc>
                <a:spcPct val="130000"/>
              </a:lnSpc>
              <a:spcBef>
                <a:spcPts val="1800"/>
              </a:spcBef>
              <a:buFont typeface="+mj-lt"/>
              <a:buAutoNum type="arabicPeriod" startAt="2"/>
            </a:pPr>
            <a:r>
              <a:rPr lang="zh-CN" altLang="en-US" sz="2400" dirty="0">
                <a:solidFill>
                  <a:schemeClr val="accent1"/>
                </a:solidFill>
                <a:latin typeface="微软雅黑" panose="020B0503020204020204" pitchFamily="34" charset="-122"/>
                <a:ea typeface="微软雅黑" panose="020B0503020204020204" pitchFamily="34" charset="-122"/>
              </a:rPr>
              <a:t>外汇储备</a:t>
            </a:r>
          </a:p>
          <a:p>
            <a:pPr marL="0" lvl="1" indent="457200">
              <a:lnSpc>
                <a:spcPct val="130000"/>
              </a:lnSpc>
              <a:spcBef>
                <a:spcPts val="1800"/>
              </a:spcBef>
              <a:buNone/>
            </a:pPr>
            <a:r>
              <a:rPr lang="zh-CN" altLang="en-US" sz="2400" dirty="0">
                <a:latin typeface="微软雅黑" panose="020B0503020204020204" pitchFamily="34" charset="-122"/>
                <a:ea typeface="微软雅黑" panose="020B0503020204020204" pitchFamily="34" charset="-122"/>
              </a:rPr>
              <a:t>外汇储备在世界国际储备总额中所占的比重越来越大，</a:t>
            </a:r>
            <a:r>
              <a:rPr lang="en-US" altLang="zh-CN" sz="2400" dirty="0">
                <a:latin typeface="微软雅黑" panose="020B0503020204020204" pitchFamily="34" charset="-122"/>
                <a:ea typeface="微软雅黑" panose="020B0503020204020204" pitchFamily="34" charset="-122"/>
              </a:rPr>
              <a:t>1950</a:t>
            </a:r>
            <a:r>
              <a:rPr lang="zh-CN" altLang="en-US" sz="2400" dirty="0">
                <a:latin typeface="微软雅黑" panose="020B0503020204020204" pitchFamily="34" charset="-122"/>
                <a:ea typeface="微软雅黑" panose="020B0503020204020204" pitchFamily="34" charset="-122"/>
              </a:rPr>
              <a:t>年仅占</a:t>
            </a:r>
            <a:r>
              <a:rPr lang="en-US" altLang="zh-CN" sz="2400" dirty="0">
                <a:latin typeface="微软雅黑" panose="020B0503020204020204" pitchFamily="34" charset="-122"/>
                <a:ea typeface="微软雅黑" panose="020B0503020204020204" pitchFamily="34" charset="-122"/>
              </a:rPr>
              <a:t>27.5</a:t>
            </a:r>
            <a:r>
              <a:rPr lang="zh-CN" altLang="en-US" sz="2400" dirty="0">
                <a:latin typeface="微软雅黑" panose="020B0503020204020204" pitchFamily="34" charset="-122"/>
                <a:ea typeface="微软雅黑" panose="020B0503020204020204" pitchFamily="34" charset="-122"/>
              </a:rPr>
              <a:t>％，到</a:t>
            </a:r>
            <a:r>
              <a:rPr lang="en-US" altLang="zh-CN" sz="2400" dirty="0">
                <a:latin typeface="微软雅黑" panose="020B0503020204020204" pitchFamily="34" charset="-122"/>
                <a:ea typeface="微软雅黑" panose="020B0503020204020204" pitchFamily="34" charset="-122"/>
              </a:rPr>
              <a:t>1970</a:t>
            </a:r>
            <a:r>
              <a:rPr lang="zh-CN" altLang="en-US" sz="2400" dirty="0">
                <a:latin typeface="微软雅黑" panose="020B0503020204020204" pitchFamily="34" charset="-122"/>
                <a:ea typeface="微软雅黑" panose="020B0503020204020204" pitchFamily="34" charset="-122"/>
              </a:rPr>
              <a:t>年已达</a:t>
            </a:r>
            <a:r>
              <a:rPr lang="en-US" altLang="zh-CN" sz="2400" dirty="0">
                <a:latin typeface="微软雅黑" panose="020B0503020204020204" pitchFamily="34" charset="-122"/>
                <a:ea typeface="微软雅黑" panose="020B0503020204020204" pitchFamily="34" charset="-122"/>
              </a:rPr>
              <a:t>48.6%</a:t>
            </a:r>
            <a:r>
              <a:rPr lang="zh-CN" altLang="en-US" sz="2400" dirty="0">
                <a:latin typeface="微软雅黑" panose="020B0503020204020204" pitchFamily="34" charset="-122"/>
                <a:ea typeface="微软雅黑" panose="020B0503020204020204" pitchFamily="34" charset="-122"/>
              </a:rPr>
              <a:t>，进入</a:t>
            </a:r>
            <a:r>
              <a:rPr lang="en-US" altLang="zh-CN" sz="2400" dirty="0">
                <a:latin typeface="微软雅黑" panose="020B0503020204020204" pitchFamily="34" charset="-122"/>
                <a:ea typeface="微软雅黑" panose="020B0503020204020204" pitchFamily="34" charset="-122"/>
              </a:rPr>
              <a:t>20</a:t>
            </a:r>
            <a:r>
              <a:rPr lang="zh-CN" altLang="en-US" sz="2400" dirty="0">
                <a:latin typeface="微软雅黑" panose="020B0503020204020204" pitchFamily="34" charset="-122"/>
                <a:ea typeface="微软雅黑" panose="020B0503020204020204" pitchFamily="34" charset="-122"/>
              </a:rPr>
              <a:t>世纪</a:t>
            </a:r>
            <a:r>
              <a:rPr lang="en-US" altLang="zh-CN" sz="2400" dirty="0">
                <a:latin typeface="微软雅黑" panose="020B0503020204020204" pitchFamily="34" charset="-122"/>
                <a:ea typeface="微软雅黑" panose="020B0503020204020204" pitchFamily="34" charset="-122"/>
              </a:rPr>
              <a:t>80</a:t>
            </a:r>
            <a:r>
              <a:rPr lang="zh-CN" altLang="en-US" sz="2400" dirty="0">
                <a:latin typeface="微软雅黑" panose="020B0503020204020204" pitchFamily="34" charset="-122"/>
                <a:ea typeface="微软雅黑" panose="020B0503020204020204" pitchFamily="34" charset="-122"/>
              </a:rPr>
              <a:t>年代以来，一直维持在</a:t>
            </a:r>
            <a:r>
              <a:rPr lang="en-US" altLang="zh-CN" sz="2400" dirty="0">
                <a:latin typeface="微软雅黑" panose="020B0503020204020204" pitchFamily="34" charset="-122"/>
                <a:ea typeface="微软雅黑" panose="020B0503020204020204" pitchFamily="34" charset="-122"/>
              </a:rPr>
              <a:t>80</a:t>
            </a:r>
            <a:r>
              <a:rPr lang="zh-CN" altLang="en-US" sz="2400" dirty="0">
                <a:latin typeface="微软雅黑" panose="020B0503020204020204" pitchFamily="34" charset="-122"/>
                <a:ea typeface="微软雅黑" panose="020B0503020204020204" pitchFamily="34" charset="-122"/>
              </a:rPr>
              <a:t>％以上，</a:t>
            </a:r>
            <a:r>
              <a:rPr lang="en-US" altLang="zh-CN" sz="2400" dirty="0">
                <a:latin typeface="微软雅黑" panose="020B0503020204020204" pitchFamily="34" charset="-122"/>
                <a:ea typeface="微软雅黑" panose="020B0503020204020204" pitchFamily="34" charset="-122"/>
              </a:rPr>
              <a:t>1990</a:t>
            </a:r>
            <a:r>
              <a:rPr lang="zh-CN" altLang="en-US" sz="2400" dirty="0">
                <a:latin typeface="微软雅黑" panose="020B0503020204020204" pitchFamily="34" charset="-122"/>
                <a:ea typeface="微软雅黑" panose="020B0503020204020204" pitchFamily="34" charset="-122"/>
              </a:rPr>
              <a:t>年为</a:t>
            </a:r>
            <a:r>
              <a:rPr lang="en-US" altLang="zh-CN" sz="2400" dirty="0">
                <a:latin typeface="微软雅黑" panose="020B0503020204020204" pitchFamily="34" charset="-122"/>
                <a:ea typeface="微软雅黑" panose="020B0503020204020204" pitchFamily="34" charset="-122"/>
              </a:rPr>
              <a:t>88</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1998</a:t>
            </a:r>
            <a:r>
              <a:rPr lang="zh-CN" altLang="en-US" sz="2400" dirty="0">
                <a:latin typeface="微软雅黑" panose="020B0503020204020204" pitchFamily="34" charset="-122"/>
                <a:ea typeface="微软雅黑" panose="020B0503020204020204" pitchFamily="34" charset="-122"/>
              </a:rPr>
              <a:t>年，各国外汇储备总额达</a:t>
            </a:r>
            <a:r>
              <a:rPr lang="en-US" altLang="zh-CN" sz="2400" dirty="0">
                <a:latin typeface="微软雅黑" panose="020B0503020204020204" pitchFamily="34" charset="-122"/>
                <a:ea typeface="微软雅黑" panose="020B0503020204020204" pitchFamily="34" charset="-122"/>
              </a:rPr>
              <a:t>11612.06</a:t>
            </a:r>
            <a:r>
              <a:rPr lang="zh-CN" altLang="en-US" sz="2400" dirty="0">
                <a:latin typeface="微软雅黑" panose="020B0503020204020204" pitchFamily="34" charset="-122"/>
                <a:ea typeface="微软雅黑" panose="020B0503020204020204" pitchFamily="34" charset="-122"/>
              </a:rPr>
              <a:t>亿特别提款权，占世界非黄金储备总额的</a:t>
            </a:r>
            <a:r>
              <a:rPr lang="en-US" altLang="zh-CN" sz="2400" dirty="0">
                <a:latin typeface="微软雅黑" panose="020B0503020204020204" pitchFamily="34" charset="-122"/>
                <a:ea typeface="微软雅黑" panose="020B0503020204020204" pitchFamily="34" charset="-122"/>
              </a:rPr>
              <a:t>93.48%</a:t>
            </a:r>
            <a:r>
              <a:rPr lang="zh-CN" altLang="en-US" sz="2400" dirty="0">
                <a:latin typeface="微软雅黑" panose="020B0503020204020204" pitchFamily="34" charset="-122"/>
                <a:ea typeface="微软雅黑" panose="020B0503020204020204" pitchFamily="34" charset="-122"/>
              </a:rPr>
              <a:t>。至</a:t>
            </a:r>
            <a:r>
              <a:rPr lang="en-US" altLang="zh-CN" sz="2400" dirty="0">
                <a:latin typeface="微软雅黑" panose="020B0503020204020204" pitchFamily="34" charset="-122"/>
                <a:ea typeface="微软雅黑" panose="020B0503020204020204" pitchFamily="34" charset="-122"/>
              </a:rPr>
              <a:t>2009</a:t>
            </a:r>
            <a:r>
              <a:rPr lang="zh-CN" altLang="en-US" sz="2400" dirty="0">
                <a:latin typeface="微软雅黑" panose="020B0503020204020204" pitchFamily="34" charset="-122"/>
                <a:ea typeface="微软雅黑" panose="020B0503020204020204" pitchFamily="34" charset="-122"/>
              </a:rPr>
              <a:t>年，各国外汇储备总额达</a:t>
            </a:r>
            <a:r>
              <a:rPr lang="en-US" altLang="zh-CN" sz="2400" dirty="0">
                <a:latin typeface="微软雅黑" panose="020B0503020204020204" pitchFamily="34" charset="-122"/>
                <a:ea typeface="微软雅黑" panose="020B0503020204020204" pitchFamily="34" charset="-122"/>
              </a:rPr>
              <a:t>52108.75</a:t>
            </a:r>
            <a:r>
              <a:rPr lang="zh-CN" altLang="en-US" sz="2400" dirty="0">
                <a:latin typeface="微软雅黑" panose="020B0503020204020204" pitchFamily="34" charset="-122"/>
                <a:ea typeface="微软雅黑" panose="020B0503020204020204" pitchFamily="34" charset="-122"/>
              </a:rPr>
              <a:t>亿特别提款权，占世界非黄金储备总额的</a:t>
            </a:r>
            <a:r>
              <a:rPr lang="en-US" altLang="zh-CN" sz="2400" b="1" dirty="0">
                <a:solidFill>
                  <a:srgbClr val="FF0000"/>
                </a:solidFill>
                <a:latin typeface="微软雅黑" panose="020B0503020204020204" pitchFamily="34" charset="-122"/>
                <a:ea typeface="微软雅黑" panose="020B0503020204020204" pitchFamily="34" charset="-122"/>
              </a:rPr>
              <a:t>96.23%</a:t>
            </a:r>
            <a:r>
              <a:rPr lang="zh-CN" altLang="en-US" sz="2400" dirty="0">
                <a:latin typeface="微软雅黑" panose="020B0503020204020204" pitchFamily="34" charset="-122"/>
                <a:ea typeface="微软雅黑" panose="020B0503020204020204" pitchFamily="34" charset="-122"/>
              </a:rPr>
              <a:t>。</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889396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第四节	国际储备政策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lvl="1" indent="0">
              <a:lnSpc>
                <a:spcPct val="110000"/>
              </a:lnSpc>
              <a:spcBef>
                <a:spcPts val="1800"/>
              </a:spcBef>
              <a:buNone/>
            </a:pPr>
            <a:r>
              <a:rPr lang="zh-CN" altLang="en-US" sz="2800" dirty="0">
                <a:solidFill>
                  <a:schemeClr val="accent1"/>
                </a:solidFill>
                <a:latin typeface="微软雅黑" panose="020B0503020204020204" pitchFamily="34" charset="-122"/>
                <a:ea typeface="微软雅黑" panose="020B0503020204020204" pitchFamily="34" charset="-122"/>
              </a:rPr>
              <a:t>一、国际储备的构成</a:t>
            </a:r>
          </a:p>
          <a:p>
            <a:pPr lvl="1" indent="-457200">
              <a:lnSpc>
                <a:spcPct val="130000"/>
              </a:lnSpc>
              <a:spcBef>
                <a:spcPts val="1800"/>
              </a:spcBef>
              <a:buFont typeface="+mj-lt"/>
              <a:buAutoNum type="arabicPeriod" startAt="3"/>
            </a:pPr>
            <a:r>
              <a:rPr lang="zh-CN" altLang="en-US" sz="2400" dirty="0">
                <a:solidFill>
                  <a:schemeClr val="accent1"/>
                </a:solidFill>
                <a:latin typeface="微软雅黑" panose="020B0503020204020204" pitchFamily="34" charset="-122"/>
                <a:ea typeface="微软雅黑" panose="020B0503020204020204" pitchFamily="34" charset="-122"/>
              </a:rPr>
              <a:t>在</a:t>
            </a:r>
            <a:r>
              <a:rPr lang="en-US" altLang="zh-CN" sz="2400" dirty="0">
                <a:solidFill>
                  <a:schemeClr val="accent1"/>
                </a:solidFill>
                <a:latin typeface="微软雅黑" panose="020B0503020204020204" pitchFamily="34" charset="-122"/>
                <a:ea typeface="微软雅黑" panose="020B0503020204020204" pitchFamily="34" charset="-122"/>
              </a:rPr>
              <a:t>IMF</a:t>
            </a:r>
            <a:r>
              <a:rPr lang="zh-CN" altLang="en-US" sz="2400" dirty="0">
                <a:solidFill>
                  <a:schemeClr val="accent1"/>
                </a:solidFill>
                <a:latin typeface="微软雅黑" panose="020B0503020204020204" pitchFamily="34" charset="-122"/>
                <a:ea typeface="微软雅黑" panose="020B0503020204020204" pitchFamily="34" charset="-122"/>
              </a:rPr>
              <a:t>的储备</a:t>
            </a:r>
            <a:r>
              <a:rPr lang="zh-CN" altLang="en-US" sz="2400" dirty="0" smtClean="0">
                <a:solidFill>
                  <a:schemeClr val="accent1"/>
                </a:solidFill>
                <a:latin typeface="微软雅黑" panose="020B0503020204020204" pitchFamily="34" charset="-122"/>
                <a:ea typeface="微软雅黑" panose="020B0503020204020204" pitchFamily="34" charset="-122"/>
              </a:rPr>
              <a:t>头寸</a:t>
            </a:r>
            <a:endParaRPr lang="zh-CN" altLang="en-US" sz="2400" dirty="0">
              <a:solidFill>
                <a:schemeClr val="accent1"/>
              </a:solidFill>
              <a:latin typeface="微软雅黑" panose="020B0503020204020204" pitchFamily="34" charset="-122"/>
              <a:ea typeface="微软雅黑" panose="020B0503020204020204" pitchFamily="34" charset="-122"/>
            </a:endParaRPr>
          </a:p>
          <a:p>
            <a:pPr marL="0" lvl="1" indent="457200">
              <a:lnSpc>
                <a:spcPct val="130000"/>
              </a:lnSpc>
              <a:spcBef>
                <a:spcPts val="1800"/>
              </a:spcBef>
              <a:buNone/>
            </a:pPr>
            <a:r>
              <a:rPr lang="en-US" altLang="zh-CN" sz="2400" dirty="0">
                <a:latin typeface="微软雅黑" panose="020B0503020204020204" pitchFamily="34" charset="-122"/>
                <a:ea typeface="微软雅黑" panose="020B0503020204020204" pitchFamily="34" charset="-122"/>
              </a:rPr>
              <a:t>IMF</a:t>
            </a:r>
            <a:r>
              <a:rPr lang="zh-CN" altLang="en-US" sz="2400" dirty="0">
                <a:latin typeface="微软雅黑" panose="020B0503020204020204" pitchFamily="34" charset="-122"/>
                <a:ea typeface="微软雅黑" panose="020B0503020204020204" pitchFamily="34" charset="-122"/>
              </a:rPr>
              <a:t>犹如一个股份制性质的储蓄互助会。成员国需缴纳一定份额，其中，</a:t>
            </a:r>
            <a:r>
              <a:rPr lang="en-US" altLang="zh-CN" sz="2400" dirty="0">
                <a:latin typeface="微软雅黑" panose="020B0503020204020204" pitchFamily="34" charset="-122"/>
                <a:ea typeface="微软雅黑" panose="020B0503020204020204" pitchFamily="34" charset="-122"/>
              </a:rPr>
              <a:t>25</a:t>
            </a:r>
            <a:r>
              <a:rPr lang="zh-CN" altLang="en-US" sz="2400" dirty="0">
                <a:latin typeface="微软雅黑" panose="020B0503020204020204" pitchFamily="34" charset="-122"/>
                <a:ea typeface="微软雅黑" panose="020B0503020204020204" pitchFamily="34" charset="-122"/>
              </a:rPr>
              <a:t>％需以可兑换货币缴纳，其余</a:t>
            </a:r>
            <a:r>
              <a:rPr lang="en-US" altLang="zh-CN" sz="2400" dirty="0">
                <a:latin typeface="微软雅黑" panose="020B0503020204020204" pitchFamily="34" charset="-122"/>
                <a:ea typeface="微软雅黑" panose="020B0503020204020204" pitchFamily="34" charset="-122"/>
              </a:rPr>
              <a:t>75</a:t>
            </a:r>
            <a:r>
              <a:rPr lang="zh-CN" altLang="en-US" sz="2400" dirty="0">
                <a:latin typeface="微软雅黑" panose="020B0503020204020204" pitchFamily="34" charset="-122"/>
                <a:ea typeface="微软雅黑" panose="020B0503020204020204" pitchFamily="34" charset="-122"/>
              </a:rPr>
              <a:t>％用本国货币缴纳。成员国国际收支困难时，有权以本国货币抵押的形式向</a:t>
            </a:r>
            <a:r>
              <a:rPr lang="en-US" altLang="zh-CN" sz="2400" dirty="0">
                <a:latin typeface="微软雅黑" panose="020B0503020204020204" pitchFamily="34" charset="-122"/>
                <a:ea typeface="微软雅黑" panose="020B0503020204020204" pitchFamily="34" charset="-122"/>
              </a:rPr>
              <a:t>IMF</a:t>
            </a:r>
            <a:r>
              <a:rPr lang="zh-CN" altLang="en-US" sz="2400" dirty="0">
                <a:latin typeface="微软雅黑" panose="020B0503020204020204" pitchFamily="34" charset="-122"/>
                <a:ea typeface="微软雅黑" panose="020B0503020204020204" pitchFamily="34" charset="-122"/>
              </a:rPr>
              <a:t>申请提用可兑换货币，称为普通提款权，提款数额分五档，最高可达</a:t>
            </a:r>
            <a:r>
              <a:rPr lang="en-US" altLang="zh-CN" sz="2400" dirty="0">
                <a:latin typeface="微软雅黑" panose="020B0503020204020204" pitchFamily="34" charset="-122"/>
                <a:ea typeface="微软雅黑" panose="020B0503020204020204" pitchFamily="34" charset="-122"/>
              </a:rPr>
              <a:t>125</a:t>
            </a:r>
            <a:r>
              <a:rPr lang="zh-CN" altLang="en-US" sz="2400" dirty="0">
                <a:latin typeface="微软雅黑" panose="020B0503020204020204" pitchFamily="34" charset="-122"/>
                <a:ea typeface="微软雅黑" panose="020B0503020204020204" pitchFamily="34" charset="-122"/>
              </a:rPr>
              <a:t>％。</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846431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第四节	国际储备政策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lvl="1" indent="0">
              <a:lnSpc>
                <a:spcPct val="110000"/>
              </a:lnSpc>
              <a:spcBef>
                <a:spcPts val="1800"/>
              </a:spcBef>
              <a:buNone/>
            </a:pPr>
            <a:r>
              <a:rPr lang="zh-CN" altLang="en-US" sz="2800" dirty="0">
                <a:solidFill>
                  <a:schemeClr val="accent1"/>
                </a:solidFill>
                <a:latin typeface="微软雅黑" panose="020B0503020204020204" pitchFamily="34" charset="-122"/>
                <a:ea typeface="微软雅黑" panose="020B0503020204020204" pitchFamily="34" charset="-122"/>
              </a:rPr>
              <a:t>一、国际储备的</a:t>
            </a:r>
            <a:r>
              <a:rPr lang="zh-CN" altLang="en-US" sz="2800" dirty="0" smtClean="0">
                <a:solidFill>
                  <a:schemeClr val="accent1"/>
                </a:solidFill>
                <a:latin typeface="微软雅黑" panose="020B0503020204020204" pitchFamily="34" charset="-122"/>
                <a:ea typeface="微软雅黑" panose="020B0503020204020204" pitchFamily="34" charset="-122"/>
              </a:rPr>
              <a:t>构成</a:t>
            </a:r>
            <a:endParaRPr lang="zh-CN" altLang="en-US" sz="2800" dirty="0">
              <a:solidFill>
                <a:schemeClr val="accent1"/>
              </a:solidFill>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graphicFrame>
        <p:nvGraphicFramePr>
          <p:cNvPr id="6" name="Group 4"/>
          <p:cNvGraphicFramePr>
            <a:graphicFrameLocks/>
          </p:cNvGraphicFramePr>
          <p:nvPr>
            <p:extLst>
              <p:ext uri="{D42A27DB-BD31-4B8C-83A1-F6EECF244321}">
                <p14:modId xmlns:p14="http://schemas.microsoft.com/office/powerpoint/2010/main" val="945492394"/>
              </p:ext>
            </p:extLst>
          </p:nvPr>
        </p:nvGraphicFramePr>
        <p:xfrm>
          <a:off x="1166649" y="2410878"/>
          <a:ext cx="7121360" cy="2898434"/>
        </p:xfrm>
        <a:graphic>
          <a:graphicData uri="http://schemas.openxmlformats.org/drawingml/2006/table">
            <a:tbl>
              <a:tblPr>
                <a:tableStyleId>{BC89EF96-8CEA-46FF-86C4-4CE0E7609802}</a:tableStyleId>
              </a:tblPr>
              <a:tblGrid>
                <a:gridCol w="1678210"/>
                <a:gridCol w="4596465"/>
                <a:gridCol w="846685"/>
              </a:tblGrid>
              <a:tr h="574473">
                <a:tc>
                  <a:txBody>
                    <a:bodyPr/>
                    <a:lstStyle/>
                    <a:p>
                      <a:pPr marL="0" marR="0" lvl="0" indent="0" algn="ctr" defTabSz="914400" rtl="0" eaLnBrk="1" fontAlgn="ctr" latinLnBrk="0" hangingPunct="1">
                        <a:lnSpc>
                          <a:spcPct val="100000"/>
                        </a:lnSpc>
                        <a:spcBef>
                          <a:spcPct val="20000"/>
                        </a:spcBef>
                        <a:spcAft>
                          <a:spcPct val="0"/>
                        </a:spcAft>
                        <a:buClrTx/>
                        <a:buSzTx/>
                        <a:buFontTx/>
                        <a:buNone/>
                        <a:tabLst/>
                      </a:pPr>
                      <a:r>
                        <a:rPr kumimoji="0" lang="zh-CN" altLang="en-US" sz="2400" u="none" strike="noStrike" cap="none" normalizeH="0" baseline="0" dirty="0" smtClean="0">
                          <a:ln>
                            <a:noFill/>
                          </a:ln>
                          <a:effectLst/>
                          <a:latin typeface="微软雅黑" panose="020B0503020204020204" pitchFamily="34" charset="-122"/>
                          <a:ea typeface="微软雅黑" panose="020B0503020204020204" pitchFamily="34" charset="-122"/>
                        </a:rPr>
                        <a:t>第一档</a:t>
                      </a:r>
                      <a:endParaRPr kumimoji="0" lang="zh-CN" altLang="en-US" sz="24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L="90000" marR="90000" marT="46805" marB="46805" anchor="ctr" horzOverflow="overflow"/>
                </a:tc>
                <a:tc>
                  <a:txBody>
                    <a:bodyPr/>
                    <a:lstStyle/>
                    <a:p>
                      <a:pPr marL="0" marR="0" lvl="0" indent="0" algn="l" defTabSz="914400" rtl="0" eaLnBrk="1" fontAlgn="ctr" latinLnBrk="0" hangingPunct="1">
                        <a:lnSpc>
                          <a:spcPct val="100000"/>
                        </a:lnSpc>
                        <a:spcBef>
                          <a:spcPct val="20000"/>
                        </a:spcBef>
                        <a:spcAft>
                          <a:spcPct val="0"/>
                        </a:spcAft>
                        <a:buClrTx/>
                        <a:buSzTx/>
                        <a:buFontTx/>
                        <a:buNone/>
                        <a:tabLst/>
                      </a:pPr>
                      <a:r>
                        <a:rPr kumimoji="0" lang="zh-CN" altLang="en-US" sz="2400" u="none" strike="noStrike" cap="none" normalizeH="0" baseline="0" dirty="0" smtClean="0">
                          <a:ln>
                            <a:noFill/>
                          </a:ln>
                          <a:effectLst/>
                          <a:latin typeface="微软雅黑" panose="020B0503020204020204" pitchFamily="34" charset="-122"/>
                          <a:ea typeface="微软雅黑" panose="020B0503020204020204" pitchFamily="34" charset="-122"/>
                        </a:rPr>
                        <a:t>储备档提款权：</a:t>
                      </a:r>
                      <a:r>
                        <a:rPr kumimoji="0" lang="en-US" altLang="zh-CN" sz="2400" u="none" strike="noStrike" cap="none" normalizeH="0" baseline="0" dirty="0" smtClean="0">
                          <a:ln>
                            <a:noFill/>
                          </a:ln>
                          <a:effectLst/>
                          <a:latin typeface="微软雅黑" panose="020B0503020204020204" pitchFamily="34" charset="-122"/>
                          <a:ea typeface="微软雅黑" panose="020B0503020204020204" pitchFamily="34" charset="-122"/>
                        </a:rPr>
                        <a:t>25</a:t>
                      </a:r>
                      <a:r>
                        <a:rPr kumimoji="0" lang="zh-CN" altLang="en-US" sz="2400" u="none" strike="noStrike" cap="none" normalizeH="0" baseline="0" dirty="0" smtClean="0">
                          <a:ln>
                            <a:noFill/>
                          </a:ln>
                          <a:effectLst/>
                          <a:latin typeface="微软雅黑" panose="020B0503020204020204" pitchFamily="34" charset="-122"/>
                          <a:ea typeface="微软雅黑" panose="020B0503020204020204" pitchFamily="34" charset="-122"/>
                        </a:rPr>
                        <a:t>％</a:t>
                      </a:r>
                      <a:endParaRPr kumimoji="0" lang="zh-CN" altLang="en-US" sz="24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L="90000" marR="90000" marT="46805" marB="46805" anchor="ctr" horzOverflow="overflow"/>
                </a:tc>
                <a:tc rowSpan="5">
                  <a:txBody>
                    <a:bodyPr/>
                    <a:lstStyle/>
                    <a:p>
                      <a:pPr marL="0" marR="0" lvl="0" indent="0" algn="l" defTabSz="914400" rtl="0" eaLnBrk="1" fontAlgn="ctr" latinLnBrk="0" hangingPunct="1">
                        <a:lnSpc>
                          <a:spcPct val="100000"/>
                        </a:lnSpc>
                        <a:spcBef>
                          <a:spcPct val="20000"/>
                        </a:spcBef>
                        <a:spcAft>
                          <a:spcPct val="0"/>
                        </a:spcAft>
                        <a:buClrTx/>
                        <a:buSzTx/>
                        <a:buFontTx/>
                        <a:buNone/>
                        <a:tabLst/>
                      </a:pPr>
                      <a:r>
                        <a:rPr kumimoji="0" lang="zh-CN" altLang="en-US" sz="2400" u="none" strike="noStrike" cap="none" normalizeH="0" baseline="0" dirty="0" smtClean="0">
                          <a:ln>
                            <a:noFill/>
                          </a:ln>
                          <a:effectLst/>
                          <a:latin typeface="微软雅黑" panose="020B0503020204020204" pitchFamily="34" charset="-122"/>
                          <a:ea typeface="微软雅黑" panose="020B0503020204020204" pitchFamily="34" charset="-122"/>
                        </a:rPr>
                        <a:t>提用条件逐档严格</a:t>
                      </a:r>
                      <a:endParaRPr kumimoji="0" lang="zh-CN" altLang="en-US" sz="24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L="90000" marR="90000" marT="46805" marB="46805" anchor="ctr" horzOverflow="overflow"/>
                </a:tc>
              </a:tr>
              <a:tr h="573075">
                <a:tc>
                  <a:txBody>
                    <a:bodyPr/>
                    <a:lstStyle/>
                    <a:p>
                      <a:pPr marL="0" marR="0" lvl="0" indent="0" algn="ctr" defTabSz="914400" rtl="0" eaLnBrk="1" fontAlgn="ctr" latinLnBrk="0" hangingPunct="1">
                        <a:lnSpc>
                          <a:spcPct val="100000"/>
                        </a:lnSpc>
                        <a:spcBef>
                          <a:spcPct val="20000"/>
                        </a:spcBef>
                        <a:spcAft>
                          <a:spcPct val="0"/>
                        </a:spcAft>
                        <a:buClrTx/>
                        <a:buSzTx/>
                        <a:buFontTx/>
                        <a:buNone/>
                        <a:tabLst/>
                      </a:pPr>
                      <a:r>
                        <a:rPr kumimoji="0" lang="zh-CN" altLang="en-US" sz="2400" u="none" strike="noStrike" cap="none" normalizeH="0" baseline="0" dirty="0" smtClean="0">
                          <a:ln>
                            <a:noFill/>
                          </a:ln>
                          <a:effectLst/>
                          <a:latin typeface="微软雅黑" panose="020B0503020204020204" pitchFamily="34" charset="-122"/>
                          <a:ea typeface="微软雅黑" panose="020B0503020204020204" pitchFamily="34" charset="-122"/>
                        </a:rPr>
                        <a:t>第二档</a:t>
                      </a:r>
                      <a:endParaRPr kumimoji="0" lang="zh-CN" altLang="en-US" sz="24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L="90000" marR="90000" marT="46805" marB="46805" anchor="ctr" horzOverflow="overflow"/>
                </a:tc>
                <a:tc>
                  <a:txBody>
                    <a:bodyPr/>
                    <a:lstStyle/>
                    <a:p>
                      <a:pPr marL="0" marR="0" lvl="0" indent="0" algn="l" defTabSz="914400" rtl="0" eaLnBrk="1" fontAlgn="ctr" latinLnBrk="0" hangingPunct="1">
                        <a:lnSpc>
                          <a:spcPct val="100000"/>
                        </a:lnSpc>
                        <a:spcBef>
                          <a:spcPct val="20000"/>
                        </a:spcBef>
                        <a:spcAft>
                          <a:spcPct val="0"/>
                        </a:spcAft>
                        <a:buClrTx/>
                        <a:buSzTx/>
                        <a:buFontTx/>
                        <a:buNone/>
                        <a:tabLst/>
                      </a:pPr>
                      <a:r>
                        <a:rPr kumimoji="0" lang="zh-CN" altLang="en-US" sz="2400" u="none" strike="noStrike" cap="none" normalizeH="0" baseline="0" dirty="0" smtClean="0">
                          <a:ln>
                            <a:noFill/>
                          </a:ln>
                          <a:effectLst/>
                          <a:latin typeface="微软雅黑" panose="020B0503020204020204" pitchFamily="34" charset="-122"/>
                          <a:ea typeface="微软雅黑" panose="020B0503020204020204" pitchFamily="34" charset="-122"/>
                        </a:rPr>
                        <a:t>信用提款权：</a:t>
                      </a:r>
                      <a:r>
                        <a:rPr kumimoji="0" lang="en-US" altLang="zh-CN" sz="2400" u="none" strike="noStrike" cap="none" normalizeH="0" baseline="0" dirty="0" smtClean="0">
                          <a:ln>
                            <a:noFill/>
                          </a:ln>
                          <a:effectLst/>
                          <a:latin typeface="微软雅黑" panose="020B0503020204020204" pitchFamily="34" charset="-122"/>
                          <a:ea typeface="微软雅黑" panose="020B0503020204020204" pitchFamily="34" charset="-122"/>
                        </a:rPr>
                        <a:t>25</a:t>
                      </a:r>
                      <a:r>
                        <a:rPr kumimoji="0" lang="zh-CN" altLang="en-US" sz="2400" u="none" strike="noStrike" cap="none" normalizeH="0" baseline="0" dirty="0" smtClean="0">
                          <a:ln>
                            <a:noFill/>
                          </a:ln>
                          <a:effectLst/>
                          <a:latin typeface="微软雅黑" panose="020B0503020204020204" pitchFamily="34" charset="-122"/>
                          <a:ea typeface="微软雅黑" panose="020B0503020204020204" pitchFamily="34" charset="-122"/>
                        </a:rPr>
                        <a:t>％</a:t>
                      </a:r>
                      <a:endParaRPr kumimoji="0" lang="zh-CN" altLang="en-US" sz="24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L="90000" marR="90000" marT="46805" marB="46805" anchor="ctr" horzOverflow="overflow"/>
                </a:tc>
                <a:tc vMerge="1">
                  <a:txBody>
                    <a:bodyPr/>
                    <a:lstStyle/>
                    <a:p>
                      <a:endParaRPr lang="zh-CN" altLang="en-US"/>
                    </a:p>
                  </a:txBody>
                  <a:tcPr/>
                </a:tc>
              </a:tr>
              <a:tr h="574473">
                <a:tc>
                  <a:txBody>
                    <a:bodyPr/>
                    <a:lstStyle/>
                    <a:p>
                      <a:pPr marL="0" marR="0" lvl="0" indent="0" algn="ctr" defTabSz="914400" rtl="0" eaLnBrk="1" fontAlgn="ctr" latinLnBrk="0" hangingPunct="1">
                        <a:lnSpc>
                          <a:spcPct val="100000"/>
                        </a:lnSpc>
                        <a:spcBef>
                          <a:spcPct val="20000"/>
                        </a:spcBef>
                        <a:spcAft>
                          <a:spcPct val="0"/>
                        </a:spcAft>
                        <a:buClrTx/>
                        <a:buSzTx/>
                        <a:buFontTx/>
                        <a:buNone/>
                        <a:tabLst/>
                      </a:pPr>
                      <a:r>
                        <a:rPr kumimoji="0" lang="zh-CN" altLang="en-US" sz="2400" u="none" strike="noStrike" cap="none" normalizeH="0" baseline="0" dirty="0" smtClean="0">
                          <a:ln>
                            <a:noFill/>
                          </a:ln>
                          <a:effectLst/>
                          <a:latin typeface="微软雅黑" panose="020B0503020204020204" pitchFamily="34" charset="-122"/>
                          <a:ea typeface="微软雅黑" panose="020B0503020204020204" pitchFamily="34" charset="-122"/>
                        </a:rPr>
                        <a:t>第三档</a:t>
                      </a:r>
                      <a:endParaRPr kumimoji="0" lang="zh-CN" altLang="en-US" sz="24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L="90000" marR="90000" marT="46805" marB="46805"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u="none" strike="noStrike" cap="none" normalizeH="0" baseline="0" smtClean="0">
                          <a:ln>
                            <a:noFill/>
                          </a:ln>
                          <a:effectLst/>
                          <a:latin typeface="微软雅黑" panose="020B0503020204020204" pitchFamily="34" charset="-122"/>
                          <a:ea typeface="微软雅黑" panose="020B0503020204020204" pitchFamily="34" charset="-122"/>
                        </a:rPr>
                        <a:t>信用提款权：</a:t>
                      </a: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25</a:t>
                      </a:r>
                      <a:r>
                        <a:rPr kumimoji="0" lang="zh-CN" altLang="en-US" sz="2400" u="none" strike="noStrike" cap="none" normalizeH="0" baseline="0" smtClean="0">
                          <a:ln>
                            <a:noFill/>
                          </a:ln>
                          <a:effectLst/>
                          <a:latin typeface="微软雅黑" panose="020B0503020204020204" pitchFamily="34" charset="-122"/>
                          <a:ea typeface="微软雅黑" panose="020B0503020204020204" pitchFamily="34" charset="-122"/>
                        </a:rPr>
                        <a:t>％</a:t>
                      </a:r>
                      <a:endParaRPr kumimoji="0" lang="zh-CN" altLang="en-US" sz="24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endParaRPr>
                    </a:p>
                  </a:txBody>
                  <a:tcPr marL="90000" marR="90000" marT="46805" marB="46805" anchor="ctr" horzOverflow="overflow"/>
                </a:tc>
                <a:tc vMerge="1">
                  <a:txBody>
                    <a:bodyPr/>
                    <a:lstStyle/>
                    <a:p>
                      <a:endParaRPr lang="zh-CN" altLang="en-US"/>
                    </a:p>
                  </a:txBody>
                  <a:tcPr/>
                </a:tc>
              </a:tr>
              <a:tr h="717043">
                <a:tc>
                  <a:txBody>
                    <a:bodyPr/>
                    <a:lstStyle/>
                    <a:p>
                      <a:pPr marL="0" marR="0" lvl="0" indent="0" algn="ctr" defTabSz="914400" rtl="0" eaLnBrk="1" fontAlgn="ctr" latinLnBrk="0" hangingPunct="1">
                        <a:lnSpc>
                          <a:spcPct val="100000"/>
                        </a:lnSpc>
                        <a:spcBef>
                          <a:spcPct val="20000"/>
                        </a:spcBef>
                        <a:spcAft>
                          <a:spcPct val="0"/>
                        </a:spcAft>
                        <a:buClrTx/>
                        <a:buSzTx/>
                        <a:buFontTx/>
                        <a:buNone/>
                        <a:tabLst/>
                      </a:pPr>
                      <a:r>
                        <a:rPr kumimoji="0" lang="zh-CN" altLang="en-US" sz="2400" u="none" strike="noStrike" cap="none" normalizeH="0" baseline="0" dirty="0" smtClean="0">
                          <a:ln>
                            <a:noFill/>
                          </a:ln>
                          <a:effectLst/>
                          <a:latin typeface="微软雅黑" panose="020B0503020204020204" pitchFamily="34" charset="-122"/>
                          <a:ea typeface="微软雅黑" panose="020B0503020204020204" pitchFamily="34" charset="-122"/>
                        </a:rPr>
                        <a:t>第四档</a:t>
                      </a:r>
                      <a:endParaRPr kumimoji="0" lang="zh-CN" altLang="en-US" sz="24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L="90000" marR="90000" marT="46805" marB="46805"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u="none" strike="noStrike" cap="none" normalizeH="0" baseline="0" smtClean="0">
                          <a:ln>
                            <a:noFill/>
                          </a:ln>
                          <a:effectLst/>
                          <a:latin typeface="微软雅黑" panose="020B0503020204020204" pitchFamily="34" charset="-122"/>
                          <a:ea typeface="微软雅黑" panose="020B0503020204020204" pitchFamily="34" charset="-122"/>
                        </a:rPr>
                        <a:t>信用提款权：</a:t>
                      </a:r>
                      <a:r>
                        <a:rPr kumimoji="0" lang="en-US" altLang="zh-CN" sz="2400" u="none" strike="noStrike" cap="none" normalizeH="0" baseline="0" smtClean="0">
                          <a:ln>
                            <a:noFill/>
                          </a:ln>
                          <a:effectLst/>
                          <a:latin typeface="微软雅黑" panose="020B0503020204020204" pitchFamily="34" charset="-122"/>
                          <a:ea typeface="微软雅黑" panose="020B0503020204020204" pitchFamily="34" charset="-122"/>
                        </a:rPr>
                        <a:t>25</a:t>
                      </a:r>
                      <a:r>
                        <a:rPr kumimoji="0" lang="zh-CN" altLang="en-US" sz="2400" u="none" strike="noStrike" cap="none" normalizeH="0" baseline="0" smtClean="0">
                          <a:ln>
                            <a:noFill/>
                          </a:ln>
                          <a:effectLst/>
                          <a:latin typeface="微软雅黑" panose="020B0503020204020204" pitchFamily="34" charset="-122"/>
                          <a:ea typeface="微软雅黑" panose="020B0503020204020204" pitchFamily="34" charset="-122"/>
                        </a:rPr>
                        <a:t>％</a:t>
                      </a:r>
                      <a:endParaRPr kumimoji="0" lang="zh-CN" altLang="en-US" sz="24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endParaRPr>
                    </a:p>
                  </a:txBody>
                  <a:tcPr marL="90000" marR="90000" marT="46805" marB="46805" anchor="ctr" horzOverflow="overflow"/>
                </a:tc>
                <a:tc vMerge="1">
                  <a:txBody>
                    <a:bodyPr/>
                    <a:lstStyle/>
                    <a:p>
                      <a:endParaRPr lang="zh-CN" altLang="en-US"/>
                    </a:p>
                  </a:txBody>
                  <a:tcPr/>
                </a:tc>
              </a:tr>
              <a:tr h="458125">
                <a:tc>
                  <a:txBody>
                    <a:bodyPr/>
                    <a:lstStyle/>
                    <a:p>
                      <a:pPr marL="0" marR="0" lvl="0" indent="0" algn="ctr" defTabSz="914400" rtl="0" eaLnBrk="1" fontAlgn="ctr" latinLnBrk="0" hangingPunct="1">
                        <a:lnSpc>
                          <a:spcPct val="100000"/>
                        </a:lnSpc>
                        <a:spcBef>
                          <a:spcPct val="20000"/>
                        </a:spcBef>
                        <a:spcAft>
                          <a:spcPct val="0"/>
                        </a:spcAft>
                        <a:buClrTx/>
                        <a:buSzTx/>
                        <a:buFontTx/>
                        <a:buNone/>
                        <a:tabLst/>
                      </a:pPr>
                      <a:r>
                        <a:rPr kumimoji="0" lang="zh-CN" altLang="en-US" sz="2400" u="none" strike="noStrike" cap="none" normalizeH="0" baseline="0" dirty="0" smtClean="0">
                          <a:ln>
                            <a:noFill/>
                          </a:ln>
                          <a:effectLst/>
                          <a:latin typeface="微软雅黑" panose="020B0503020204020204" pitchFamily="34" charset="-122"/>
                          <a:ea typeface="微软雅黑" panose="020B0503020204020204" pitchFamily="34" charset="-122"/>
                        </a:rPr>
                        <a:t>第五档</a:t>
                      </a:r>
                      <a:endParaRPr kumimoji="0" lang="zh-CN" altLang="en-US" sz="24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L="90000" marR="90000" marT="46805" marB="46805"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u="none" strike="noStrike" cap="none" normalizeH="0" baseline="0" dirty="0" smtClean="0">
                          <a:ln>
                            <a:noFill/>
                          </a:ln>
                          <a:effectLst/>
                          <a:latin typeface="微软雅黑" panose="020B0503020204020204" pitchFamily="34" charset="-122"/>
                          <a:ea typeface="微软雅黑" panose="020B0503020204020204" pitchFamily="34" charset="-122"/>
                        </a:rPr>
                        <a:t>信用提款权：</a:t>
                      </a:r>
                      <a:r>
                        <a:rPr kumimoji="0" lang="en-US" altLang="zh-CN" sz="2400" u="none" strike="noStrike" cap="none" normalizeH="0" baseline="0" dirty="0" smtClean="0">
                          <a:ln>
                            <a:noFill/>
                          </a:ln>
                          <a:effectLst/>
                          <a:latin typeface="微软雅黑" panose="020B0503020204020204" pitchFamily="34" charset="-122"/>
                          <a:ea typeface="微软雅黑" panose="020B0503020204020204" pitchFamily="34" charset="-122"/>
                        </a:rPr>
                        <a:t>25</a:t>
                      </a:r>
                      <a:r>
                        <a:rPr kumimoji="0" lang="zh-CN" altLang="en-US" sz="2400" u="none" strike="noStrike" cap="none" normalizeH="0" baseline="0" dirty="0" smtClean="0">
                          <a:ln>
                            <a:noFill/>
                          </a:ln>
                          <a:effectLst/>
                          <a:latin typeface="微软雅黑" panose="020B0503020204020204" pitchFamily="34" charset="-122"/>
                          <a:ea typeface="微软雅黑" panose="020B0503020204020204" pitchFamily="34" charset="-122"/>
                        </a:rPr>
                        <a:t>％</a:t>
                      </a:r>
                      <a:endParaRPr kumimoji="0" lang="zh-CN" altLang="en-US" sz="24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L="90000" marR="90000" marT="46805" marB="46805" anchor="ctr" horzOverflow="overflow"/>
                </a:tc>
                <a:tc vMerge="1">
                  <a:txBody>
                    <a:bodyPr/>
                    <a:lstStyle/>
                    <a:p>
                      <a:endParaRPr lang="zh-CN" altLang="en-US"/>
                    </a:p>
                  </a:txBody>
                  <a:tcPr/>
                </a:tc>
              </a:tr>
            </a:tbl>
          </a:graphicData>
        </a:graphic>
      </p:graphicFrame>
    </p:spTree>
    <p:extLst>
      <p:ext uri="{BB962C8B-B14F-4D97-AF65-F5344CB8AC3E}">
        <p14:creationId xmlns:p14="http://schemas.microsoft.com/office/powerpoint/2010/main" val="2121220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第四节	国际储备政策</a:t>
            </a:r>
            <a:endParaRPr lang="zh-CN" dirty="0"/>
          </a:p>
        </p:txBody>
      </p:sp>
      <p:sp>
        <p:nvSpPr>
          <p:cNvPr id="3" name="内容占位符 2"/>
          <p:cNvSpPr>
            <a:spLocks noGrp="1"/>
          </p:cNvSpPr>
          <p:nvPr>
            <p:ph idx="1"/>
          </p:nvPr>
        </p:nvSpPr>
        <p:spPr>
          <a:xfrm>
            <a:off x="971550" y="1447799"/>
            <a:ext cx="7200900" cy="4841879"/>
          </a:xfrm>
        </p:spPr>
        <p:txBody>
          <a:bodyPr>
            <a:normAutofit fontScale="85000" lnSpcReduction="20000"/>
          </a:bodyPr>
          <a:lstStyle/>
          <a:p>
            <a:pPr marL="0" lvl="1" indent="0">
              <a:lnSpc>
                <a:spcPct val="110000"/>
              </a:lnSpc>
              <a:spcBef>
                <a:spcPts val="1800"/>
              </a:spcBef>
              <a:buNone/>
            </a:pPr>
            <a:r>
              <a:rPr lang="zh-CN" altLang="en-US" sz="2800" dirty="0">
                <a:solidFill>
                  <a:schemeClr val="accent1"/>
                </a:solidFill>
                <a:latin typeface="微软雅黑" panose="020B0503020204020204" pitchFamily="34" charset="-122"/>
                <a:ea typeface="微软雅黑" panose="020B0503020204020204" pitchFamily="34" charset="-122"/>
              </a:rPr>
              <a:t>一、国际储备的构成</a:t>
            </a:r>
          </a:p>
          <a:p>
            <a:pPr lvl="1" indent="-457200">
              <a:lnSpc>
                <a:spcPct val="130000"/>
              </a:lnSpc>
              <a:spcBef>
                <a:spcPts val="1800"/>
              </a:spcBef>
              <a:buFont typeface="+mj-lt"/>
              <a:buAutoNum type="arabicPeriod" startAt="3"/>
            </a:pPr>
            <a:r>
              <a:rPr lang="zh-CN" altLang="en-US" sz="2400" dirty="0">
                <a:solidFill>
                  <a:schemeClr val="accent1"/>
                </a:solidFill>
                <a:latin typeface="微软雅黑" panose="020B0503020204020204" pitchFamily="34" charset="-122"/>
                <a:ea typeface="微软雅黑" panose="020B0503020204020204" pitchFamily="34" charset="-122"/>
              </a:rPr>
              <a:t>在</a:t>
            </a:r>
            <a:r>
              <a:rPr lang="en-US" altLang="zh-CN" sz="2400" dirty="0">
                <a:solidFill>
                  <a:schemeClr val="accent1"/>
                </a:solidFill>
                <a:latin typeface="微软雅黑" panose="020B0503020204020204" pitchFamily="34" charset="-122"/>
                <a:ea typeface="微软雅黑" panose="020B0503020204020204" pitchFamily="34" charset="-122"/>
              </a:rPr>
              <a:t>IMF</a:t>
            </a:r>
            <a:r>
              <a:rPr lang="zh-CN" altLang="en-US" sz="2400" dirty="0">
                <a:solidFill>
                  <a:schemeClr val="accent1"/>
                </a:solidFill>
                <a:latin typeface="微软雅黑" panose="020B0503020204020204" pitchFamily="34" charset="-122"/>
                <a:ea typeface="微软雅黑" panose="020B0503020204020204" pitchFamily="34" charset="-122"/>
              </a:rPr>
              <a:t>的储备</a:t>
            </a:r>
            <a:r>
              <a:rPr lang="zh-CN" altLang="en-US" sz="2400" dirty="0" smtClean="0">
                <a:solidFill>
                  <a:schemeClr val="accent1"/>
                </a:solidFill>
                <a:latin typeface="微软雅黑" panose="020B0503020204020204" pitchFamily="34" charset="-122"/>
                <a:ea typeface="微软雅黑" panose="020B0503020204020204" pitchFamily="34" charset="-122"/>
              </a:rPr>
              <a:t>头寸</a:t>
            </a:r>
            <a:endParaRPr lang="zh-CN" altLang="en-US" sz="2400" dirty="0">
              <a:solidFill>
                <a:schemeClr val="accent1"/>
              </a:solidFill>
              <a:latin typeface="微软雅黑" panose="020B0503020204020204" pitchFamily="34" charset="-122"/>
              <a:ea typeface="微软雅黑" panose="020B0503020204020204" pitchFamily="34" charset="-122"/>
            </a:endParaRPr>
          </a:p>
          <a:p>
            <a:pPr marL="0" lvl="1" indent="457200">
              <a:lnSpc>
                <a:spcPct val="130000"/>
              </a:lnSpc>
              <a:spcBef>
                <a:spcPts val="0"/>
              </a:spcBef>
              <a:buNone/>
            </a:pPr>
            <a:r>
              <a:rPr lang="en-US" altLang="zh-CN" sz="2400" dirty="0">
                <a:latin typeface="微软雅黑" panose="020B0503020204020204" pitchFamily="34" charset="-122"/>
                <a:ea typeface="微软雅黑" panose="020B0503020204020204" pitchFamily="34" charset="-122"/>
              </a:rPr>
              <a:t>IMF</a:t>
            </a:r>
            <a:r>
              <a:rPr lang="zh-CN" altLang="en-US" sz="2400" dirty="0">
                <a:latin typeface="微软雅黑" panose="020B0503020204020204" pitchFamily="34" charset="-122"/>
                <a:ea typeface="微软雅黑" panose="020B0503020204020204" pitchFamily="34" charset="-122"/>
              </a:rPr>
              <a:t>的储备头寸指会员国可以自由提取使用的资产，具体包括会员国向</a:t>
            </a:r>
            <a:r>
              <a:rPr lang="en-US" altLang="zh-CN" sz="2400" dirty="0">
                <a:latin typeface="微软雅黑" panose="020B0503020204020204" pitchFamily="34" charset="-122"/>
                <a:ea typeface="微软雅黑" panose="020B0503020204020204" pitchFamily="34" charset="-122"/>
              </a:rPr>
              <a:t>IMF</a:t>
            </a:r>
            <a:r>
              <a:rPr lang="zh-CN" altLang="en-US" sz="2400" dirty="0">
                <a:latin typeface="微软雅黑" panose="020B0503020204020204" pitchFamily="34" charset="-122"/>
                <a:ea typeface="微软雅黑" panose="020B0503020204020204" pitchFamily="34" charset="-122"/>
              </a:rPr>
              <a:t>缴纳份额的外汇部分和</a:t>
            </a:r>
            <a:r>
              <a:rPr lang="en-US" altLang="zh-CN" sz="2400" dirty="0">
                <a:latin typeface="微软雅黑" panose="020B0503020204020204" pitchFamily="34" charset="-122"/>
                <a:ea typeface="微软雅黑" panose="020B0503020204020204" pitchFamily="34" charset="-122"/>
              </a:rPr>
              <a:t>IMF</a:t>
            </a:r>
            <a:r>
              <a:rPr lang="zh-CN" altLang="en-US" sz="2400" dirty="0">
                <a:latin typeface="微软雅黑" panose="020B0503020204020204" pitchFamily="34" charset="-122"/>
                <a:ea typeface="微软雅黑" panose="020B0503020204020204" pitchFamily="34" charset="-122"/>
              </a:rPr>
              <a:t>用去的本国货币持有量部分</a:t>
            </a:r>
            <a:r>
              <a:rPr lang="zh-CN" altLang="en-US" sz="2400" dirty="0" smtClean="0">
                <a:latin typeface="微软雅黑" panose="020B0503020204020204" pitchFamily="34" charset="-122"/>
                <a:ea typeface="微软雅黑" panose="020B0503020204020204" pitchFamily="34" charset="-122"/>
              </a:rPr>
              <a:t>。</a:t>
            </a:r>
            <a:endParaRPr lang="en-US" altLang="zh-CN" sz="2400" dirty="0" smtClean="0">
              <a:latin typeface="微软雅黑" panose="020B0503020204020204" pitchFamily="34" charset="-122"/>
              <a:ea typeface="微软雅黑" panose="020B0503020204020204" pitchFamily="34" charset="-122"/>
            </a:endParaRPr>
          </a:p>
          <a:p>
            <a:pPr lvl="1" indent="-457200">
              <a:lnSpc>
                <a:spcPct val="130000"/>
              </a:lnSpc>
              <a:spcBef>
                <a:spcPts val="1800"/>
              </a:spcBef>
              <a:buFont typeface="+mj-lt"/>
              <a:buAutoNum type="arabicPeriod" startAt="4"/>
            </a:pPr>
            <a:r>
              <a:rPr lang="zh-CN" altLang="en-US" sz="2400" dirty="0">
                <a:solidFill>
                  <a:schemeClr val="accent1"/>
                </a:solidFill>
                <a:latin typeface="微软雅黑" panose="020B0503020204020204" pitchFamily="34" charset="-122"/>
                <a:ea typeface="微软雅黑" panose="020B0503020204020204" pitchFamily="34" charset="-122"/>
              </a:rPr>
              <a:t>特别提款权（</a:t>
            </a:r>
            <a:r>
              <a:rPr lang="en-US" altLang="zh-CN" sz="2400" dirty="0">
                <a:solidFill>
                  <a:schemeClr val="accent1"/>
                </a:solidFill>
                <a:latin typeface="微软雅黑" panose="020B0503020204020204" pitchFamily="34" charset="-122"/>
                <a:ea typeface="微软雅黑" panose="020B0503020204020204" pitchFamily="34" charset="-122"/>
              </a:rPr>
              <a:t>SDRs</a:t>
            </a:r>
            <a:r>
              <a:rPr lang="zh-CN" altLang="en-US" sz="2400" dirty="0">
                <a:solidFill>
                  <a:schemeClr val="accent1"/>
                </a:solidFill>
                <a:latin typeface="微软雅黑" panose="020B0503020204020204" pitchFamily="34" charset="-122"/>
                <a:ea typeface="微软雅黑" panose="020B0503020204020204" pitchFamily="34" charset="-122"/>
              </a:rPr>
              <a:t>）贷方</a:t>
            </a:r>
            <a:r>
              <a:rPr lang="zh-CN" altLang="en-US" sz="2400" dirty="0" smtClean="0">
                <a:solidFill>
                  <a:schemeClr val="accent1"/>
                </a:solidFill>
                <a:latin typeface="微软雅黑" panose="020B0503020204020204" pitchFamily="34" charset="-122"/>
                <a:ea typeface="微软雅黑" panose="020B0503020204020204" pitchFamily="34" charset="-122"/>
              </a:rPr>
              <a:t>余额</a:t>
            </a:r>
            <a:endParaRPr lang="zh-CN" altLang="en-US" sz="2400" dirty="0">
              <a:solidFill>
                <a:schemeClr val="accent1"/>
              </a:solidFill>
              <a:latin typeface="微软雅黑" panose="020B0503020204020204" pitchFamily="34" charset="-122"/>
              <a:ea typeface="微软雅黑" panose="020B0503020204020204" pitchFamily="34" charset="-122"/>
            </a:endParaRPr>
          </a:p>
          <a:p>
            <a:pPr marL="0" lvl="1" indent="457200">
              <a:lnSpc>
                <a:spcPct val="130000"/>
              </a:lnSpc>
              <a:spcBef>
                <a:spcPts val="0"/>
              </a:spcBef>
              <a:buNone/>
            </a:pPr>
            <a:r>
              <a:rPr lang="en-US" altLang="zh-CN" sz="2400" dirty="0">
                <a:latin typeface="微软雅黑" panose="020B0503020204020204" pitchFamily="34" charset="-122"/>
                <a:ea typeface="微软雅黑" panose="020B0503020204020204" pitchFamily="34" charset="-122"/>
              </a:rPr>
              <a:t>SDRs</a:t>
            </a:r>
            <a:r>
              <a:rPr lang="zh-CN" altLang="en-US" sz="2400" dirty="0">
                <a:latin typeface="微软雅黑" panose="020B0503020204020204" pitchFamily="34" charset="-122"/>
                <a:ea typeface="微软雅黑" panose="020B0503020204020204" pitchFamily="34" charset="-122"/>
              </a:rPr>
              <a:t>是</a:t>
            </a:r>
            <a:r>
              <a:rPr lang="en-US" altLang="zh-CN" sz="2400" dirty="0">
                <a:latin typeface="微软雅黑" panose="020B0503020204020204" pitchFamily="34" charset="-122"/>
                <a:ea typeface="微软雅黑" panose="020B0503020204020204" pitchFamily="34" charset="-122"/>
              </a:rPr>
              <a:t>IMF</a:t>
            </a:r>
            <a:r>
              <a:rPr lang="zh-CN" altLang="en-US" sz="2400" dirty="0">
                <a:latin typeface="微软雅黑" panose="020B0503020204020204" pitchFamily="34" charset="-122"/>
                <a:ea typeface="微软雅黑" panose="020B0503020204020204" pitchFamily="34" charset="-122"/>
              </a:rPr>
              <a:t>对会员国根据份额分配的、可用以归还</a:t>
            </a:r>
            <a:r>
              <a:rPr lang="en-US" altLang="zh-CN" sz="2400" dirty="0">
                <a:latin typeface="微软雅黑" panose="020B0503020204020204" pitchFamily="34" charset="-122"/>
                <a:ea typeface="微软雅黑" panose="020B0503020204020204" pitchFamily="34" charset="-122"/>
              </a:rPr>
              <a:t>IMF</a:t>
            </a:r>
            <a:r>
              <a:rPr lang="zh-CN" altLang="en-US" sz="2400" dirty="0">
                <a:latin typeface="微软雅黑" panose="020B0503020204020204" pitchFamily="34" charset="-122"/>
                <a:ea typeface="微软雅黑" panose="020B0503020204020204" pitchFamily="34" charset="-122"/>
              </a:rPr>
              <a:t>贷款和会员国政府之间偿付国际收支赤字的账面资产。</a:t>
            </a:r>
            <a:r>
              <a:rPr lang="en-US" altLang="zh-CN" sz="2400" dirty="0">
                <a:latin typeface="微软雅黑" panose="020B0503020204020204" pitchFamily="34" charset="-122"/>
                <a:ea typeface="微软雅黑" panose="020B0503020204020204" pitchFamily="34" charset="-122"/>
              </a:rPr>
              <a:t>IMF</a:t>
            </a:r>
            <a:r>
              <a:rPr lang="zh-CN" altLang="en-US" sz="2400" dirty="0">
                <a:latin typeface="微软雅黑" panose="020B0503020204020204" pitchFamily="34" charset="-122"/>
                <a:ea typeface="微软雅黑" panose="020B0503020204020204" pitchFamily="34" charset="-122"/>
              </a:rPr>
              <a:t>分配的、尚未使用完的</a:t>
            </a:r>
            <a:r>
              <a:rPr lang="en-US" altLang="zh-CN" sz="2400" dirty="0">
                <a:latin typeface="微软雅黑" panose="020B0503020204020204" pitchFamily="34" charset="-122"/>
                <a:ea typeface="微软雅黑" panose="020B0503020204020204" pitchFamily="34" charset="-122"/>
              </a:rPr>
              <a:t>SDRs</a:t>
            </a:r>
            <a:r>
              <a:rPr lang="zh-CN" altLang="en-US" sz="2400" dirty="0">
                <a:latin typeface="微软雅黑" panose="020B0503020204020204" pitchFamily="34" charset="-122"/>
                <a:ea typeface="微软雅黑" panose="020B0503020204020204" pitchFamily="34" charset="-122"/>
              </a:rPr>
              <a:t>，构成国际储备的一部分。</a:t>
            </a:r>
          </a:p>
          <a:p>
            <a:pPr marL="0" lvl="1" indent="457200">
              <a:lnSpc>
                <a:spcPct val="130000"/>
              </a:lnSpc>
              <a:spcBef>
                <a:spcPts val="0"/>
              </a:spcBef>
              <a:buNone/>
            </a:pPr>
            <a:r>
              <a:rPr lang="en-US" altLang="zh-CN" sz="2400" dirty="0" smtClean="0">
                <a:latin typeface="微软雅黑" panose="020B0503020204020204" pitchFamily="34" charset="-122"/>
                <a:ea typeface="微软雅黑" panose="020B0503020204020204" pitchFamily="34" charset="-122"/>
              </a:rPr>
              <a:t>SDRs</a:t>
            </a:r>
            <a:r>
              <a:rPr lang="zh-CN" altLang="en-US" sz="2400" dirty="0">
                <a:latin typeface="微软雅黑" panose="020B0503020204020204" pitchFamily="34" charset="-122"/>
                <a:ea typeface="微软雅黑" panose="020B0503020204020204" pitchFamily="34" charset="-122"/>
              </a:rPr>
              <a:t>没有内在价值，其人为赋予的价值最初以黄金表示，后来以一篮子货币作为定值标准：美元</a:t>
            </a:r>
            <a:r>
              <a:rPr lang="en-US" altLang="zh-CN" sz="2400" dirty="0">
                <a:latin typeface="微软雅黑" panose="020B0503020204020204" pitchFamily="34" charset="-122"/>
                <a:ea typeface="微软雅黑" panose="020B0503020204020204" pitchFamily="34" charset="-122"/>
              </a:rPr>
              <a:t>45</a:t>
            </a:r>
            <a:r>
              <a:rPr lang="zh-CN" altLang="en-US" sz="2400" dirty="0">
                <a:latin typeface="微软雅黑" panose="020B0503020204020204" pitchFamily="34" charset="-122"/>
                <a:ea typeface="微软雅黑" panose="020B0503020204020204" pitchFamily="34" charset="-122"/>
              </a:rPr>
              <a:t>％、欧元</a:t>
            </a:r>
            <a:r>
              <a:rPr lang="en-US" altLang="zh-CN" sz="2400" dirty="0">
                <a:latin typeface="微软雅黑" panose="020B0503020204020204" pitchFamily="34" charset="-122"/>
                <a:ea typeface="微软雅黑" panose="020B0503020204020204" pitchFamily="34" charset="-122"/>
              </a:rPr>
              <a:t>29</a:t>
            </a:r>
            <a:r>
              <a:rPr lang="zh-CN" altLang="en-US" sz="2400" dirty="0">
                <a:latin typeface="微软雅黑" panose="020B0503020204020204" pitchFamily="34" charset="-122"/>
                <a:ea typeface="微软雅黑" panose="020B0503020204020204" pitchFamily="34" charset="-122"/>
              </a:rPr>
              <a:t>％、日元</a:t>
            </a:r>
            <a:r>
              <a:rPr lang="en-US" altLang="zh-CN" sz="2400" dirty="0">
                <a:latin typeface="微软雅黑" panose="020B0503020204020204" pitchFamily="34" charset="-122"/>
                <a:ea typeface="微软雅黑" panose="020B0503020204020204" pitchFamily="34" charset="-122"/>
              </a:rPr>
              <a:t>15</a:t>
            </a:r>
            <a:r>
              <a:rPr lang="zh-CN" altLang="en-US" sz="2400" dirty="0">
                <a:latin typeface="微软雅黑" panose="020B0503020204020204" pitchFamily="34" charset="-122"/>
                <a:ea typeface="微软雅黑" panose="020B0503020204020204" pitchFamily="34" charset="-122"/>
              </a:rPr>
              <a:t>％、英镑</a:t>
            </a:r>
            <a:r>
              <a:rPr lang="en-US" altLang="zh-CN" sz="2400" dirty="0">
                <a:latin typeface="微软雅黑" panose="020B0503020204020204" pitchFamily="34" charset="-122"/>
                <a:ea typeface="微软雅黑" panose="020B0503020204020204" pitchFamily="34" charset="-122"/>
              </a:rPr>
              <a:t>11</a:t>
            </a:r>
            <a:r>
              <a:rPr lang="zh-CN" altLang="en-US" sz="2400" dirty="0">
                <a:latin typeface="微软雅黑" panose="020B0503020204020204" pitchFamily="34" charset="-122"/>
                <a:ea typeface="微软雅黑" panose="020B0503020204020204" pitchFamily="34" charset="-122"/>
              </a:rPr>
              <a:t>％</a:t>
            </a:r>
            <a:r>
              <a:rPr lang="zh-CN" altLang="en-US" sz="2400" dirty="0" smtClean="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537788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第四节	国际储备政策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lvl="1" indent="0">
              <a:lnSpc>
                <a:spcPct val="110000"/>
              </a:lnSpc>
              <a:spcBef>
                <a:spcPts val="1800"/>
              </a:spcBef>
              <a:buNone/>
            </a:pPr>
            <a:r>
              <a:rPr lang="zh-CN" altLang="en-US" sz="2800" dirty="0">
                <a:solidFill>
                  <a:schemeClr val="accent1"/>
                </a:solidFill>
                <a:latin typeface="微软雅黑" panose="020B0503020204020204" pitchFamily="34" charset="-122"/>
                <a:ea typeface="微软雅黑" panose="020B0503020204020204" pitchFamily="34" charset="-122"/>
              </a:rPr>
              <a:t>一、国际储备的构成</a:t>
            </a:r>
          </a:p>
          <a:p>
            <a:pPr lvl="1" indent="-457200">
              <a:lnSpc>
                <a:spcPct val="130000"/>
              </a:lnSpc>
              <a:spcBef>
                <a:spcPts val="1800"/>
              </a:spcBef>
              <a:buFont typeface="+mj-lt"/>
              <a:buAutoNum type="arabicPeriod" startAt="4"/>
            </a:pPr>
            <a:r>
              <a:rPr lang="zh-CN" altLang="en-US" sz="2400" dirty="0" smtClean="0">
                <a:solidFill>
                  <a:schemeClr val="accent1"/>
                </a:solidFill>
                <a:latin typeface="微软雅黑" panose="020B0503020204020204" pitchFamily="34" charset="-122"/>
                <a:ea typeface="微软雅黑" panose="020B0503020204020204" pitchFamily="34" charset="-122"/>
              </a:rPr>
              <a:t>特别提款权</a:t>
            </a:r>
            <a:r>
              <a:rPr lang="zh-CN" altLang="en-US" sz="2400" dirty="0">
                <a:solidFill>
                  <a:schemeClr val="accent1"/>
                </a:solidFill>
                <a:latin typeface="微软雅黑" panose="020B0503020204020204" pitchFamily="34" charset="-122"/>
                <a:ea typeface="微软雅黑" panose="020B0503020204020204" pitchFamily="34" charset="-122"/>
              </a:rPr>
              <a:t>（</a:t>
            </a:r>
            <a:r>
              <a:rPr lang="en-US" altLang="zh-CN" sz="2400" dirty="0">
                <a:solidFill>
                  <a:schemeClr val="accent1"/>
                </a:solidFill>
                <a:latin typeface="微软雅黑" panose="020B0503020204020204" pitchFamily="34" charset="-122"/>
                <a:ea typeface="微软雅黑" panose="020B0503020204020204" pitchFamily="34" charset="-122"/>
              </a:rPr>
              <a:t>SDRs</a:t>
            </a:r>
            <a:r>
              <a:rPr lang="zh-CN" altLang="en-US" sz="2400" dirty="0">
                <a:solidFill>
                  <a:schemeClr val="accent1"/>
                </a:solidFill>
                <a:latin typeface="微软雅黑" panose="020B0503020204020204" pitchFamily="34" charset="-122"/>
                <a:ea typeface="微软雅黑" panose="020B0503020204020204" pitchFamily="34" charset="-122"/>
              </a:rPr>
              <a:t>）贷方</a:t>
            </a:r>
            <a:r>
              <a:rPr lang="zh-CN" altLang="en-US" sz="2400" dirty="0" smtClean="0">
                <a:solidFill>
                  <a:schemeClr val="accent1"/>
                </a:solidFill>
                <a:latin typeface="微软雅黑" panose="020B0503020204020204" pitchFamily="34" charset="-122"/>
                <a:ea typeface="微软雅黑" panose="020B0503020204020204" pitchFamily="34" charset="-122"/>
              </a:rPr>
              <a:t>余额</a:t>
            </a:r>
            <a:endParaRPr lang="zh-CN" altLang="en-US" sz="2400" dirty="0">
              <a:solidFill>
                <a:schemeClr val="accent1"/>
              </a:solidFill>
              <a:latin typeface="微软雅黑" panose="020B0503020204020204" pitchFamily="34" charset="-122"/>
              <a:ea typeface="微软雅黑" panose="020B0503020204020204" pitchFamily="34" charset="-122"/>
            </a:endParaRPr>
          </a:p>
          <a:p>
            <a:pPr marL="0" lvl="1" indent="457200">
              <a:lnSpc>
                <a:spcPct val="130000"/>
              </a:lnSpc>
              <a:spcBef>
                <a:spcPts val="0"/>
              </a:spcBef>
              <a:buNone/>
            </a:pPr>
            <a:r>
              <a:rPr lang="en-US" altLang="zh-CN" sz="2000" dirty="0" smtClean="0">
                <a:latin typeface="微软雅黑" panose="020B0503020204020204" pitchFamily="34" charset="-122"/>
                <a:ea typeface="微软雅黑" panose="020B0503020204020204" pitchFamily="34" charset="-122"/>
              </a:rPr>
              <a:t>2015</a:t>
            </a:r>
            <a:r>
              <a:rPr altLang="en-US" sz="2000" dirty="0" smtClean="0">
                <a:latin typeface="微软雅黑" panose="020B0503020204020204" pitchFamily="34" charset="-122"/>
                <a:ea typeface="微软雅黑" panose="020B0503020204020204" pitchFamily="34" charset="-122"/>
              </a:rPr>
              <a:t>年</a:t>
            </a:r>
            <a:r>
              <a:rPr lang="en-US" altLang="en-US" sz="2000" dirty="0" smtClean="0">
                <a:latin typeface="微软雅黑" panose="020B0503020204020204" pitchFamily="34" charset="-122"/>
                <a:ea typeface="微软雅黑" panose="020B0503020204020204" pitchFamily="34" charset="-122"/>
              </a:rPr>
              <a:t>12</a:t>
            </a:r>
            <a:r>
              <a:rPr altLang="en-US" sz="2000" dirty="0" smtClean="0">
                <a:latin typeface="微软雅黑" panose="020B0503020204020204" pitchFamily="34" charset="-122"/>
                <a:ea typeface="微软雅黑" panose="020B0503020204020204" pitchFamily="34" charset="-122"/>
              </a:rPr>
              <a:t>月</a:t>
            </a:r>
            <a:r>
              <a:rPr lang="en-US" altLang="en-US" sz="2000" dirty="0" smtClean="0">
                <a:latin typeface="微软雅黑" panose="020B0503020204020204" pitchFamily="34" charset="-122"/>
                <a:ea typeface="微软雅黑" panose="020B0503020204020204" pitchFamily="34" charset="-122"/>
              </a:rPr>
              <a:t>1</a:t>
            </a:r>
            <a:r>
              <a:rPr altLang="en-US" sz="2000" dirty="0" smtClean="0">
                <a:latin typeface="微软雅黑" panose="020B0503020204020204" pitchFamily="34" charset="-122"/>
                <a:ea typeface="微软雅黑" panose="020B0503020204020204" pitchFamily="34" charset="-122"/>
              </a:rPr>
              <a:t>日凌晨，国际货币基金组织（</a:t>
            </a:r>
            <a:r>
              <a:rPr lang="en-US" altLang="zh-CN" sz="2000" dirty="0" smtClean="0">
                <a:latin typeface="微软雅黑" panose="020B0503020204020204" pitchFamily="34" charset="-122"/>
                <a:ea typeface="微软雅黑" panose="020B0503020204020204" pitchFamily="34" charset="-122"/>
              </a:rPr>
              <a:t>IMF</a:t>
            </a:r>
            <a:r>
              <a:rPr altLang="en-US" sz="2000" dirty="0" smtClean="0">
                <a:latin typeface="微软雅黑" panose="020B0503020204020204" pitchFamily="34" charset="-122"/>
                <a:ea typeface="微软雅黑" panose="020B0503020204020204" pitchFamily="34" charset="-122"/>
              </a:rPr>
              <a:t>）批准人民币加入特别提款权（</a:t>
            </a:r>
            <a:r>
              <a:rPr lang="en-US" altLang="zh-CN" sz="2000" dirty="0" smtClean="0">
                <a:latin typeface="微软雅黑" panose="020B0503020204020204" pitchFamily="34" charset="-122"/>
                <a:ea typeface="微软雅黑" panose="020B0503020204020204" pitchFamily="34" charset="-122"/>
              </a:rPr>
              <a:t>SDR</a:t>
            </a:r>
            <a:r>
              <a:rPr altLang="en-US" sz="2000" dirty="0" smtClean="0">
                <a:latin typeface="微软雅黑" panose="020B0503020204020204" pitchFamily="34" charset="-122"/>
                <a:ea typeface="微软雅黑" panose="020B0503020204020204" pitchFamily="34" charset="-122"/>
              </a:rPr>
              <a:t>）货币篮子，美元占比从</a:t>
            </a:r>
            <a:r>
              <a:rPr lang="en-US" altLang="zh-CN" sz="2000" dirty="0" smtClean="0">
                <a:latin typeface="微软雅黑" panose="020B0503020204020204" pitchFamily="34" charset="-122"/>
                <a:ea typeface="微软雅黑" panose="020B0503020204020204" pitchFamily="34" charset="-122"/>
              </a:rPr>
              <a:t>41.9</a:t>
            </a:r>
            <a:r>
              <a:rPr altLang="en-US" sz="2000" dirty="0" smtClean="0">
                <a:latin typeface="微软雅黑" panose="020B0503020204020204" pitchFamily="34" charset="-122"/>
                <a:ea typeface="微软雅黑" panose="020B0503020204020204" pitchFamily="34" charset="-122"/>
              </a:rPr>
              <a:t>％下降至</a:t>
            </a:r>
            <a:r>
              <a:rPr lang="en-US" altLang="zh-CN" sz="2000" dirty="0" smtClean="0">
                <a:latin typeface="微软雅黑" panose="020B0503020204020204" pitchFamily="34" charset="-122"/>
                <a:ea typeface="微软雅黑" panose="020B0503020204020204" pitchFamily="34" charset="-122"/>
              </a:rPr>
              <a:t>41.7</a:t>
            </a:r>
            <a:r>
              <a:rPr altLang="en-US" sz="2000" dirty="0" smtClean="0">
                <a:latin typeface="微软雅黑" panose="020B0503020204020204" pitchFamily="34" charset="-122"/>
                <a:ea typeface="微软雅黑" panose="020B0503020204020204" pitchFamily="34" charset="-122"/>
              </a:rPr>
              <a:t>％；欧元变化最大，由</a:t>
            </a:r>
            <a:r>
              <a:rPr lang="en-US" altLang="zh-CN" sz="2000" dirty="0" smtClean="0">
                <a:latin typeface="微软雅黑" panose="020B0503020204020204" pitchFamily="34" charset="-122"/>
                <a:ea typeface="微软雅黑" panose="020B0503020204020204" pitchFamily="34" charset="-122"/>
              </a:rPr>
              <a:t>37.4</a:t>
            </a:r>
            <a:r>
              <a:rPr altLang="en-US" sz="2000" dirty="0" smtClean="0">
                <a:latin typeface="微软雅黑" panose="020B0503020204020204" pitchFamily="34" charset="-122"/>
                <a:ea typeface="微软雅黑" panose="020B0503020204020204" pitchFamily="34" charset="-122"/>
              </a:rPr>
              <a:t>％降至</a:t>
            </a:r>
            <a:r>
              <a:rPr lang="en-US" altLang="zh-CN" sz="2000" dirty="0" smtClean="0">
                <a:latin typeface="微软雅黑" panose="020B0503020204020204" pitchFamily="34" charset="-122"/>
                <a:ea typeface="微软雅黑" panose="020B0503020204020204" pitchFamily="34" charset="-122"/>
              </a:rPr>
              <a:t>30.9</a:t>
            </a:r>
            <a:r>
              <a:rPr altLang="en-US" sz="2000" dirty="0" smtClean="0">
                <a:latin typeface="微软雅黑" panose="020B0503020204020204" pitchFamily="34" charset="-122"/>
                <a:ea typeface="微软雅黑" panose="020B0503020204020204" pitchFamily="34" charset="-122"/>
              </a:rPr>
              <a:t>％；英镑则从</a:t>
            </a:r>
            <a:r>
              <a:rPr lang="en-US" altLang="zh-CN" sz="2000" dirty="0" smtClean="0">
                <a:latin typeface="微软雅黑" panose="020B0503020204020204" pitchFamily="34" charset="-122"/>
                <a:ea typeface="微软雅黑" panose="020B0503020204020204" pitchFamily="34" charset="-122"/>
              </a:rPr>
              <a:t>11.3</a:t>
            </a:r>
            <a:r>
              <a:rPr altLang="en-US" sz="2000" dirty="0" smtClean="0">
                <a:latin typeface="微软雅黑" panose="020B0503020204020204" pitchFamily="34" charset="-122"/>
                <a:ea typeface="微软雅黑" panose="020B0503020204020204" pitchFamily="34" charset="-122"/>
              </a:rPr>
              <a:t>％降至</a:t>
            </a:r>
            <a:r>
              <a:rPr lang="en-US" altLang="zh-CN" sz="2000" dirty="0" smtClean="0">
                <a:latin typeface="微软雅黑" panose="020B0503020204020204" pitchFamily="34" charset="-122"/>
                <a:ea typeface="微软雅黑" panose="020B0503020204020204" pitchFamily="34" charset="-122"/>
              </a:rPr>
              <a:t>8.1</a:t>
            </a:r>
            <a:r>
              <a:rPr altLang="en-US" sz="2000" dirty="0" smtClean="0">
                <a:latin typeface="微软雅黑" panose="020B0503020204020204" pitchFamily="34" charset="-122"/>
                <a:ea typeface="微软雅黑" panose="020B0503020204020204" pitchFamily="34" charset="-122"/>
              </a:rPr>
              <a:t>％，日元从</a:t>
            </a:r>
            <a:r>
              <a:rPr lang="en-US" altLang="zh-CN" sz="2000" dirty="0" smtClean="0">
                <a:latin typeface="微软雅黑" panose="020B0503020204020204" pitchFamily="34" charset="-122"/>
                <a:ea typeface="微软雅黑" panose="020B0503020204020204" pitchFamily="34" charset="-122"/>
              </a:rPr>
              <a:t>9.4</a:t>
            </a:r>
            <a:r>
              <a:rPr altLang="en-US" sz="2000" dirty="0" smtClean="0">
                <a:latin typeface="微软雅黑" panose="020B0503020204020204" pitchFamily="34" charset="-122"/>
                <a:ea typeface="微软雅黑" panose="020B0503020204020204" pitchFamily="34" charset="-122"/>
              </a:rPr>
              <a:t>％降至</a:t>
            </a:r>
            <a:r>
              <a:rPr lang="en-US" altLang="zh-CN" sz="2000" dirty="0" smtClean="0">
                <a:latin typeface="微软雅黑" panose="020B0503020204020204" pitchFamily="34" charset="-122"/>
                <a:ea typeface="微软雅黑" panose="020B0503020204020204" pitchFamily="34" charset="-122"/>
              </a:rPr>
              <a:t>8.3</a:t>
            </a:r>
            <a:r>
              <a:rPr altLang="en-US" sz="2000" dirty="0" smtClean="0">
                <a:latin typeface="微软雅黑" panose="020B0503020204020204" pitchFamily="34" charset="-122"/>
                <a:ea typeface="微软雅黑" panose="020B0503020204020204" pitchFamily="34" charset="-122"/>
              </a:rPr>
              <a:t>％。人民币在</a:t>
            </a:r>
            <a:r>
              <a:rPr lang="en-US" altLang="zh-CN" sz="2000" dirty="0" smtClean="0">
                <a:latin typeface="微软雅黑" panose="020B0503020204020204" pitchFamily="34" charset="-122"/>
                <a:ea typeface="微软雅黑" panose="020B0503020204020204" pitchFamily="34" charset="-122"/>
              </a:rPr>
              <a:t>SDR</a:t>
            </a:r>
            <a:r>
              <a:rPr altLang="en-US" sz="2000" dirty="0" smtClean="0">
                <a:latin typeface="微软雅黑" panose="020B0503020204020204" pitchFamily="34" charset="-122"/>
                <a:ea typeface="微软雅黑" panose="020B0503020204020204" pitchFamily="34" charset="-122"/>
              </a:rPr>
              <a:t>篮子中的权重为</a:t>
            </a:r>
            <a:r>
              <a:rPr lang="en-US" altLang="zh-CN" sz="2000" dirty="0" smtClean="0">
                <a:latin typeface="微软雅黑" panose="020B0503020204020204" pitchFamily="34" charset="-122"/>
                <a:ea typeface="微软雅黑" panose="020B0503020204020204" pitchFamily="34" charset="-122"/>
              </a:rPr>
              <a:t>10.92</a:t>
            </a:r>
            <a:r>
              <a:rPr altLang="en-US" sz="2000" dirty="0" smtClean="0">
                <a:latin typeface="微软雅黑" panose="020B0503020204020204" pitchFamily="34" charset="-122"/>
                <a:ea typeface="微软雅黑" panose="020B0503020204020204" pitchFamily="34" charset="-122"/>
              </a:rPr>
              <a:t>％，超越日元和英镑，成为</a:t>
            </a:r>
            <a:r>
              <a:rPr lang="en-US" altLang="zh-CN" sz="2000" dirty="0" smtClean="0">
                <a:latin typeface="微软雅黑" panose="020B0503020204020204" pitchFamily="34" charset="-122"/>
                <a:ea typeface="微软雅黑" panose="020B0503020204020204" pitchFamily="34" charset="-122"/>
              </a:rPr>
              <a:t>SDR</a:t>
            </a:r>
            <a:r>
              <a:rPr altLang="en-US" sz="2000" dirty="0" smtClean="0">
                <a:latin typeface="微软雅黑" panose="020B0503020204020204" pitchFamily="34" charset="-122"/>
                <a:ea typeface="微软雅黑" panose="020B0503020204020204" pitchFamily="34" charset="-122"/>
              </a:rPr>
              <a:t>货币篮子中的第三大货币。</a:t>
            </a:r>
            <a:endParaRPr altLang="en-US" sz="20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537788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第四节	国际储备政策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lvl="1" indent="0">
              <a:lnSpc>
                <a:spcPct val="110000"/>
              </a:lnSpc>
              <a:spcBef>
                <a:spcPts val="1800"/>
              </a:spcBef>
              <a:buNone/>
            </a:pPr>
            <a:r>
              <a:rPr lang="zh-CN" altLang="en-US" sz="2800" dirty="0">
                <a:solidFill>
                  <a:schemeClr val="accent1"/>
                </a:solidFill>
                <a:latin typeface="微软雅黑" panose="020B0503020204020204" pitchFamily="34" charset="-122"/>
                <a:ea typeface="微软雅黑" panose="020B0503020204020204" pitchFamily="34" charset="-122"/>
              </a:rPr>
              <a:t>一、国际储备的构成</a:t>
            </a:r>
          </a:p>
          <a:p>
            <a:pPr marL="0" lvl="1" indent="457200">
              <a:lnSpc>
                <a:spcPct val="130000"/>
              </a:lnSpc>
              <a:spcBef>
                <a:spcPts val="1800"/>
              </a:spcBef>
              <a:buNone/>
            </a:pPr>
            <a:r>
              <a:rPr lang="zh-CN" altLang="en-US" sz="2400" dirty="0">
                <a:solidFill>
                  <a:schemeClr val="accent1"/>
                </a:solidFill>
                <a:latin typeface="微软雅黑" panose="020B0503020204020204" pitchFamily="34" charset="-122"/>
                <a:ea typeface="微软雅黑" panose="020B0503020204020204" pitchFamily="34" charset="-122"/>
              </a:rPr>
              <a:t>国际储备和国际清偿力的区别？</a:t>
            </a:r>
          </a:p>
          <a:p>
            <a:pPr marL="0" lvl="1" indent="457200">
              <a:lnSpc>
                <a:spcPct val="130000"/>
              </a:lnSpc>
              <a:spcBef>
                <a:spcPts val="1800"/>
              </a:spcBef>
              <a:buNone/>
            </a:pPr>
            <a:r>
              <a:rPr lang="zh-CN" altLang="en-US" sz="2400" dirty="0" smtClean="0">
                <a:latin typeface="微软雅黑" panose="020B0503020204020204" pitchFamily="34" charset="-122"/>
                <a:ea typeface="微软雅黑" panose="020B0503020204020204" pitchFamily="34" charset="-122"/>
              </a:rPr>
              <a:t>与</a:t>
            </a:r>
            <a:r>
              <a:rPr lang="zh-CN" altLang="en-US" sz="2400" dirty="0">
                <a:latin typeface="微软雅黑" panose="020B0503020204020204" pitchFamily="34" charset="-122"/>
                <a:ea typeface="微软雅黑" panose="020B0503020204020204" pitchFamily="34" charset="-122"/>
              </a:rPr>
              <a:t>国际储备相近而又不同的一个概念是国际清偿力（</a:t>
            </a:r>
            <a:r>
              <a:rPr lang="en-US" altLang="zh-CN" sz="2400" dirty="0">
                <a:latin typeface="微软雅黑" panose="020B0503020204020204" pitchFamily="34" charset="-122"/>
                <a:ea typeface="微软雅黑" panose="020B0503020204020204" pitchFamily="34" charset="-122"/>
              </a:rPr>
              <a:t>International Liquidity</a:t>
            </a:r>
            <a:r>
              <a:rPr lang="zh-CN" altLang="en-US" sz="2400" dirty="0">
                <a:latin typeface="微软雅黑" panose="020B0503020204020204" pitchFamily="34" charset="-122"/>
                <a:ea typeface="微软雅黑" panose="020B0503020204020204" pitchFamily="34" charset="-122"/>
              </a:rPr>
              <a:t>）。国际清偿力的含义比国际储备要广泛一些，可定义为一个国家为本国国际收支赤字融通资金的能力。它不仅包括货币当局持有的各种国际储备，而且包括该国从国际金融机构和国际资本市场融通资金的能力等</a:t>
            </a:r>
            <a:r>
              <a:rPr lang="zh-CN" altLang="en-US" sz="2400" dirty="0" smtClean="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484557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第四节	国际储备政策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lvl="1" indent="0">
              <a:lnSpc>
                <a:spcPct val="110000"/>
              </a:lnSpc>
              <a:spcBef>
                <a:spcPts val="1800"/>
              </a:spcBef>
              <a:buNone/>
            </a:pPr>
            <a:r>
              <a:rPr lang="zh-CN" altLang="en-US" sz="2800" dirty="0">
                <a:solidFill>
                  <a:schemeClr val="accent1"/>
                </a:solidFill>
                <a:latin typeface="微软雅黑" panose="020B0503020204020204" pitchFamily="34" charset="-122"/>
                <a:ea typeface="微软雅黑" panose="020B0503020204020204" pitchFamily="34" charset="-122"/>
              </a:rPr>
              <a:t>一、国际储备的构成</a:t>
            </a:r>
          </a:p>
          <a:p>
            <a:pPr lvl="1" indent="-457200">
              <a:lnSpc>
                <a:spcPct val="130000"/>
              </a:lnSpc>
              <a:spcBef>
                <a:spcPts val="1800"/>
              </a:spcBef>
              <a:buFont typeface="+mj-lt"/>
              <a:buAutoNum type="arabicPeriod"/>
            </a:pPr>
            <a:r>
              <a:rPr lang="zh-CN" altLang="en-US" sz="2400" dirty="0">
                <a:solidFill>
                  <a:schemeClr val="accent1"/>
                </a:solidFill>
                <a:latin typeface="微软雅黑" panose="020B0503020204020204" pitchFamily="34" charset="-122"/>
                <a:ea typeface="微软雅黑" panose="020B0503020204020204" pitchFamily="34" charset="-122"/>
              </a:rPr>
              <a:t>储备需求的数量管理</a:t>
            </a:r>
          </a:p>
          <a:p>
            <a:pPr marL="0" lvl="1" indent="457200">
              <a:lnSpc>
                <a:spcPct val="130000"/>
              </a:lnSpc>
              <a:spcBef>
                <a:spcPts val="1800"/>
              </a:spcBef>
              <a:buNone/>
            </a:pPr>
            <a:r>
              <a:rPr lang="zh-CN" altLang="en-US" sz="2400" dirty="0">
                <a:latin typeface="微软雅黑" panose="020B0503020204020204" pitchFamily="34" charset="-122"/>
                <a:ea typeface="微软雅黑" panose="020B0503020204020204" pitchFamily="34" charset="-122"/>
              </a:rPr>
              <a:t>最早对此问题研究的是特里芬，提出储备的合理数量约为该国进口总额的</a:t>
            </a:r>
            <a:r>
              <a:rPr lang="en-US" altLang="zh-CN" sz="2400" dirty="0">
                <a:latin typeface="微软雅黑" panose="020B0503020204020204" pitchFamily="34" charset="-122"/>
                <a:ea typeface="微软雅黑" panose="020B0503020204020204" pitchFamily="34" charset="-122"/>
              </a:rPr>
              <a:t>20</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50</a:t>
            </a:r>
            <a:r>
              <a:rPr lang="zh-CN" altLang="en-US" sz="2400" dirty="0">
                <a:latin typeface="微软雅黑" panose="020B0503020204020204" pitchFamily="34" charset="-122"/>
                <a:ea typeface="微软雅黑" panose="020B0503020204020204" pitchFamily="34" charset="-122"/>
              </a:rPr>
              <a:t>％，外汇管制国家的储备可少一点。自此，这一领域的研究越来越多，综合起来，决定一国最佳储备量的因素主要是</a:t>
            </a:r>
            <a:r>
              <a:rPr lang="zh-CN" altLang="en-US" sz="2400" dirty="0" smtClean="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98851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第四节	国际储备政策</a:t>
            </a:r>
            <a:endParaRPr lang="zh-CN" dirty="0"/>
          </a:p>
        </p:txBody>
      </p:sp>
      <p:sp>
        <p:nvSpPr>
          <p:cNvPr id="3" name="内容占位符 2"/>
          <p:cNvSpPr>
            <a:spLocks noGrp="1"/>
          </p:cNvSpPr>
          <p:nvPr>
            <p:ph idx="1"/>
          </p:nvPr>
        </p:nvSpPr>
        <p:spPr>
          <a:xfrm>
            <a:off x="971550" y="1447799"/>
            <a:ext cx="7200900" cy="4841879"/>
          </a:xfrm>
        </p:spPr>
        <p:txBody>
          <a:bodyPr>
            <a:normAutofit lnSpcReduction="10000"/>
          </a:bodyPr>
          <a:lstStyle/>
          <a:p>
            <a:pPr lvl="1" indent="-457200">
              <a:lnSpc>
                <a:spcPct val="130000"/>
              </a:lnSpc>
              <a:spcBef>
                <a:spcPts val="1800"/>
              </a:spcBef>
              <a:buFont typeface="+mj-lt"/>
              <a:buAutoNum type="arabicPeriod"/>
            </a:pPr>
            <a:r>
              <a:rPr lang="zh-CN" altLang="en-US" sz="2400" dirty="0" smtClean="0">
                <a:solidFill>
                  <a:schemeClr val="accent1"/>
                </a:solidFill>
                <a:latin typeface="微软雅黑" panose="020B0503020204020204" pitchFamily="34" charset="-122"/>
                <a:ea typeface="微软雅黑" panose="020B0503020204020204" pitchFamily="34" charset="-122"/>
              </a:rPr>
              <a:t>储备</a:t>
            </a:r>
            <a:r>
              <a:rPr lang="zh-CN" altLang="en-US" sz="2400" dirty="0">
                <a:solidFill>
                  <a:schemeClr val="accent1"/>
                </a:solidFill>
                <a:latin typeface="微软雅黑" panose="020B0503020204020204" pitchFamily="34" charset="-122"/>
                <a:ea typeface="微软雅黑" panose="020B0503020204020204" pitchFamily="34" charset="-122"/>
              </a:rPr>
              <a:t>需求的数量</a:t>
            </a:r>
            <a:r>
              <a:rPr lang="zh-CN" altLang="en-US" sz="2400" dirty="0" smtClean="0">
                <a:solidFill>
                  <a:schemeClr val="accent1"/>
                </a:solidFill>
                <a:latin typeface="微软雅黑" panose="020B0503020204020204" pitchFamily="34" charset="-122"/>
                <a:ea typeface="微软雅黑" panose="020B0503020204020204" pitchFamily="34" charset="-122"/>
              </a:rPr>
              <a:t>管理</a:t>
            </a:r>
            <a:endParaRPr lang="en-US" altLang="zh-CN" sz="2400" dirty="0" smtClean="0">
              <a:solidFill>
                <a:schemeClr val="accent1"/>
              </a:solidFill>
              <a:latin typeface="微软雅黑" panose="020B0503020204020204" pitchFamily="34" charset="-122"/>
              <a:ea typeface="微软雅黑" panose="020B0503020204020204" pitchFamily="34" charset="-122"/>
            </a:endParaRPr>
          </a:p>
          <a:p>
            <a:pPr lvl="2" indent="-457200">
              <a:lnSpc>
                <a:spcPct val="130000"/>
              </a:lnSpc>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rPr>
              <a:t>进口规模</a:t>
            </a:r>
          </a:p>
          <a:p>
            <a:pPr lvl="2" indent="-457200">
              <a:lnSpc>
                <a:spcPct val="130000"/>
              </a:lnSpc>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rPr>
              <a:t>进出口贸易（或国际收支）差额的波动幅度</a:t>
            </a:r>
          </a:p>
          <a:p>
            <a:pPr lvl="2" indent="-457200">
              <a:lnSpc>
                <a:spcPct val="130000"/>
              </a:lnSpc>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rPr>
              <a:t>汇率制度</a:t>
            </a:r>
          </a:p>
          <a:p>
            <a:pPr lvl="2" indent="-457200">
              <a:lnSpc>
                <a:spcPct val="130000"/>
              </a:lnSpc>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rPr>
              <a:t>国际收支自动调节机制和调节政策的效率</a:t>
            </a:r>
          </a:p>
          <a:p>
            <a:pPr lvl="2" indent="-457200">
              <a:lnSpc>
                <a:spcPct val="130000"/>
              </a:lnSpc>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rPr>
              <a:t>持有储备的机会成本</a:t>
            </a:r>
          </a:p>
          <a:p>
            <a:pPr lvl="2" indent="-457200">
              <a:lnSpc>
                <a:spcPct val="130000"/>
              </a:lnSpc>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rPr>
              <a:t>金融市场的发育程度</a:t>
            </a:r>
          </a:p>
          <a:p>
            <a:pPr lvl="2" indent="-457200">
              <a:lnSpc>
                <a:spcPct val="130000"/>
              </a:lnSpc>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rPr>
              <a:t>国际货币合作状况</a:t>
            </a:r>
          </a:p>
          <a:p>
            <a:pPr lvl="2" indent="-457200">
              <a:lnSpc>
                <a:spcPct val="130000"/>
              </a:lnSpc>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rPr>
              <a:t>国际资本流动</a:t>
            </a:r>
            <a:r>
              <a:rPr lang="zh-CN" altLang="en-US" sz="2200" dirty="0" smtClean="0">
                <a:latin typeface="微软雅黑" panose="020B0503020204020204" pitchFamily="34" charset="-122"/>
                <a:ea typeface="微软雅黑" panose="020B0503020204020204" pitchFamily="34" charset="-122"/>
              </a:rPr>
              <a:t>情况</a:t>
            </a:r>
            <a:endParaRPr lang="zh-CN" altLang="en-US" sz="22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656381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500"/>
                                        <p:tgtEl>
                                          <p:spTgt spid="3">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Effect transition="in" filter="fade">
                                      <p:cBhvr>
                                        <p:cTn id="25" dur="500"/>
                                        <p:tgtEl>
                                          <p:spTgt spid="3">
                                            <p:txEl>
                                              <p:pRg st="7" end="7"/>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animEffect transition="in" filter="fade">
                                      <p:cBhvr>
                                        <p:cTn id="28"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第四节	国际储备政策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lvl="1" indent="-457200">
              <a:lnSpc>
                <a:spcPct val="130000"/>
              </a:lnSpc>
              <a:spcBef>
                <a:spcPts val="1800"/>
              </a:spcBef>
              <a:buFont typeface="+mj-lt"/>
              <a:buAutoNum type="arabicPeriod" startAt="2"/>
            </a:pPr>
            <a:r>
              <a:rPr lang="zh-CN" altLang="en-US" sz="2400" dirty="0">
                <a:solidFill>
                  <a:schemeClr val="accent1"/>
                </a:solidFill>
                <a:latin typeface="微软雅黑" panose="020B0503020204020204" pitchFamily="34" charset="-122"/>
                <a:ea typeface="微软雅黑" panose="020B0503020204020204" pitchFamily="34" charset="-122"/>
              </a:rPr>
              <a:t>储备资产的结构</a:t>
            </a:r>
            <a:r>
              <a:rPr lang="zh-CN" altLang="en-US" sz="2400" dirty="0" smtClean="0">
                <a:solidFill>
                  <a:schemeClr val="accent1"/>
                </a:solidFill>
                <a:latin typeface="微软雅黑" panose="020B0503020204020204" pitchFamily="34" charset="-122"/>
                <a:ea typeface="微软雅黑" panose="020B0503020204020204" pitchFamily="34" charset="-122"/>
              </a:rPr>
              <a:t>管理</a:t>
            </a:r>
            <a:endParaRPr lang="en-US" altLang="zh-CN" sz="2400" dirty="0" smtClean="0">
              <a:solidFill>
                <a:schemeClr val="accent1"/>
              </a:solidFill>
              <a:latin typeface="微软雅黑" panose="020B0503020204020204" pitchFamily="34" charset="-122"/>
              <a:ea typeface="微软雅黑" panose="020B0503020204020204" pitchFamily="34" charset="-122"/>
            </a:endParaRPr>
          </a:p>
          <a:p>
            <a:pPr marL="228600" lvl="2" indent="0">
              <a:lnSpc>
                <a:spcPct val="130000"/>
              </a:lnSpc>
              <a:buNone/>
            </a:pPr>
            <a:r>
              <a:rPr lang="zh-CN" altLang="en-US" sz="2200" dirty="0">
                <a:latin typeface="微软雅黑" panose="020B0503020204020204" pitchFamily="34" charset="-122"/>
                <a:ea typeface="微软雅黑" panose="020B0503020204020204" pitchFamily="34" charset="-122"/>
              </a:rPr>
              <a:t>应遵循的原则是：</a:t>
            </a:r>
          </a:p>
          <a:p>
            <a:pPr lvl="2" indent="-457200">
              <a:lnSpc>
                <a:spcPct val="130000"/>
              </a:lnSpc>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rPr>
              <a:t>币值的稳定性</a:t>
            </a:r>
          </a:p>
          <a:p>
            <a:pPr lvl="2" indent="-457200">
              <a:lnSpc>
                <a:spcPct val="130000"/>
              </a:lnSpc>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rPr>
              <a:t>盈利性</a:t>
            </a:r>
          </a:p>
          <a:p>
            <a:pPr lvl="2" indent="-457200">
              <a:lnSpc>
                <a:spcPct val="130000"/>
              </a:lnSpc>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rPr>
              <a:t>国际经贸往来的方便性</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993897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专栏讨论：人民币国际化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lvl="1" indent="0">
              <a:lnSpc>
                <a:spcPct val="110000"/>
              </a:lnSpc>
              <a:spcBef>
                <a:spcPts val="1800"/>
              </a:spcBef>
              <a:buNone/>
            </a:pPr>
            <a:r>
              <a:rPr lang="zh-CN" altLang="en-US" sz="2800" dirty="0">
                <a:solidFill>
                  <a:schemeClr val="accent1"/>
                </a:solidFill>
                <a:latin typeface="微软雅黑" panose="020B0503020204020204" pitchFamily="34" charset="-122"/>
                <a:ea typeface="微软雅黑" panose="020B0503020204020204" pitchFamily="34" charset="-122"/>
              </a:rPr>
              <a:t>国际背景：</a:t>
            </a:r>
          </a:p>
          <a:p>
            <a:pPr marL="0" lvl="1" indent="457200">
              <a:lnSpc>
                <a:spcPct val="130000"/>
              </a:lnSpc>
              <a:spcBef>
                <a:spcPts val="1800"/>
              </a:spcBef>
              <a:buNone/>
            </a:pPr>
            <a:r>
              <a:rPr lang="en-US" altLang="zh-CN" sz="2400" dirty="0">
                <a:latin typeface="微软雅黑" panose="020B0503020204020204" pitchFamily="34" charset="-122"/>
                <a:ea typeface="微软雅黑" panose="020B0503020204020204" pitchFamily="34" charset="-122"/>
              </a:rPr>
              <a:t>2008</a:t>
            </a:r>
            <a:r>
              <a:rPr lang="zh-CN" altLang="en-US" sz="2400" dirty="0">
                <a:latin typeface="微软雅黑" panose="020B0503020204020204" pitchFamily="34" charset="-122"/>
                <a:ea typeface="微软雅黑" panose="020B0503020204020204" pitchFamily="34" charset="-122"/>
              </a:rPr>
              <a:t>年全球金融危机之后，国际社会普遍认同当前国际货币体系存在缺陷，需要进行改革。其中，人民币加入</a:t>
            </a:r>
            <a:r>
              <a:rPr lang="en-US" altLang="zh-CN" sz="2400" dirty="0">
                <a:latin typeface="微软雅黑" panose="020B0503020204020204" pitchFamily="34" charset="-122"/>
                <a:ea typeface="微软雅黑" panose="020B0503020204020204" pitchFamily="34" charset="-122"/>
              </a:rPr>
              <a:t>SDR</a:t>
            </a:r>
            <a:r>
              <a:rPr lang="zh-CN" altLang="en-US" sz="2400" dirty="0">
                <a:latin typeface="微软雅黑" panose="020B0503020204020204" pitchFamily="34" charset="-122"/>
                <a:ea typeface="微软雅黑" panose="020B0503020204020204" pitchFamily="34" charset="-122"/>
              </a:rPr>
              <a:t>以及发展人民币成为新的国际储备货币两个话题在国际社会引起了广泛关注。一些国际知名学者对人民币国际化寄予厚望。</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84073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专栏讨论：人民币国际化</a:t>
            </a:r>
            <a:endParaRPr lang="zh-CN" dirty="0"/>
          </a:p>
        </p:txBody>
      </p:sp>
      <p:sp>
        <p:nvSpPr>
          <p:cNvPr id="3" name="内容占位符 2"/>
          <p:cNvSpPr>
            <a:spLocks noGrp="1"/>
          </p:cNvSpPr>
          <p:nvPr>
            <p:ph idx="1"/>
          </p:nvPr>
        </p:nvSpPr>
        <p:spPr>
          <a:xfrm>
            <a:off x="971550" y="1447799"/>
            <a:ext cx="7200900" cy="4841879"/>
          </a:xfrm>
        </p:spPr>
        <p:txBody>
          <a:bodyPr>
            <a:normAutofit fontScale="92500"/>
          </a:bodyPr>
          <a:lstStyle/>
          <a:p>
            <a:pPr marL="0" lvl="1" indent="0">
              <a:lnSpc>
                <a:spcPct val="110000"/>
              </a:lnSpc>
              <a:spcBef>
                <a:spcPts val="1800"/>
              </a:spcBef>
              <a:buNone/>
            </a:pPr>
            <a:r>
              <a:rPr lang="zh-CN" altLang="en-US" sz="2800" dirty="0">
                <a:solidFill>
                  <a:schemeClr val="accent1"/>
                </a:solidFill>
                <a:latin typeface="微软雅黑" panose="020B0503020204020204" pitchFamily="34" charset="-122"/>
                <a:ea typeface="微软雅黑" panose="020B0503020204020204" pitchFamily="34" charset="-122"/>
              </a:rPr>
              <a:t>国内认识：</a:t>
            </a:r>
          </a:p>
          <a:p>
            <a:pPr marL="0" lvl="1" indent="457200">
              <a:lnSpc>
                <a:spcPct val="130000"/>
              </a:lnSpc>
              <a:spcBef>
                <a:spcPts val="1800"/>
              </a:spcBef>
              <a:buNone/>
            </a:pPr>
            <a:r>
              <a:rPr lang="zh-CN" altLang="en-US" sz="2400" dirty="0">
                <a:latin typeface="微软雅黑" panose="020B0503020204020204" pitchFamily="34" charset="-122"/>
                <a:ea typeface="微软雅黑" panose="020B0503020204020204" pitchFamily="34" charset="-122"/>
              </a:rPr>
              <a:t>“如果你控制了石油，你就控制了所有国家；如果你控制了粮食，你就控制了所有的人；如果你控制了货币，你就控制了整个世界。 ”</a:t>
            </a:r>
            <a:r>
              <a:rPr lang="en-US" altLang="zh-CN" sz="2400" dirty="0">
                <a:latin typeface="微软雅黑" panose="020B0503020204020204" pitchFamily="34" charset="-122"/>
                <a:ea typeface="微软雅黑" panose="020B0503020204020204" pitchFamily="34" charset="-122"/>
              </a:rPr>
              <a:t>——</a:t>
            </a:r>
            <a:r>
              <a:rPr lang="zh-CN" altLang="en-US" sz="2400" dirty="0" smtClean="0">
                <a:latin typeface="微软雅黑" panose="020B0503020204020204" pitchFamily="34" charset="-122"/>
                <a:ea typeface="微软雅黑" panose="020B0503020204020204" pitchFamily="34" charset="-122"/>
              </a:rPr>
              <a:t>基辛格</a:t>
            </a:r>
            <a:endParaRPr lang="en-US" altLang="zh-CN" sz="2400" dirty="0" smtClean="0">
              <a:latin typeface="微软雅黑" panose="020B0503020204020204" pitchFamily="34" charset="-122"/>
              <a:ea typeface="微软雅黑" panose="020B0503020204020204" pitchFamily="34" charset="-122"/>
            </a:endParaRPr>
          </a:p>
          <a:p>
            <a:pPr marL="0" lvl="1" indent="457200">
              <a:lnSpc>
                <a:spcPct val="130000"/>
              </a:lnSpc>
              <a:spcBef>
                <a:spcPts val="1800"/>
              </a:spcBef>
              <a:buNone/>
            </a:pPr>
            <a:endParaRPr lang="zh-CN" altLang="en-US" sz="2400" dirty="0">
              <a:latin typeface="微软雅黑" panose="020B0503020204020204" pitchFamily="34" charset="-122"/>
              <a:ea typeface="微软雅黑" panose="020B0503020204020204" pitchFamily="34" charset="-122"/>
            </a:endParaRPr>
          </a:p>
          <a:p>
            <a:pPr marL="0" lvl="1" indent="457200">
              <a:lnSpc>
                <a:spcPct val="130000"/>
              </a:lnSpc>
              <a:spcBef>
                <a:spcPts val="1800"/>
              </a:spcBef>
              <a:buNone/>
            </a:pPr>
            <a:r>
              <a:rPr lang="zh-CN" altLang="en-US" sz="2400" dirty="0">
                <a:latin typeface="微软雅黑" panose="020B0503020204020204" pitchFamily="34" charset="-122"/>
                <a:ea typeface="微软雅黑" panose="020B0503020204020204" pitchFamily="34" charset="-122"/>
              </a:rPr>
              <a:t>“要颠覆现存社会的基础，再没有比搞坏这个社会的货币更微妙且更保险的方式了。这一过程引发了经济规律的破坏性一面中隐藏的全部力量，它是以一种无人能弄明白的方式做到这一点的。” </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凯恩斯</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368297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专栏讨论：人民币国际化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lvl="1" indent="0">
              <a:lnSpc>
                <a:spcPct val="110000"/>
              </a:lnSpc>
              <a:spcBef>
                <a:spcPts val="1800"/>
              </a:spcBef>
              <a:buNone/>
            </a:pPr>
            <a:r>
              <a:rPr lang="zh-CN" altLang="en-US" sz="2800" dirty="0">
                <a:solidFill>
                  <a:schemeClr val="accent1"/>
                </a:solidFill>
                <a:latin typeface="微软雅黑" panose="020B0503020204020204" pitchFamily="34" charset="-122"/>
                <a:ea typeface="微软雅黑" panose="020B0503020204020204" pitchFamily="34" charset="-122"/>
              </a:rPr>
              <a:t>国内认识：</a:t>
            </a:r>
          </a:p>
          <a:p>
            <a:pPr marL="0" lvl="1" indent="457200">
              <a:lnSpc>
                <a:spcPct val="130000"/>
              </a:lnSpc>
              <a:spcBef>
                <a:spcPts val="1800"/>
              </a:spcBef>
              <a:buNone/>
            </a:pPr>
            <a:r>
              <a:rPr lang="zh-CN" altLang="en-US" sz="2400" dirty="0">
                <a:latin typeface="微软雅黑" panose="020B0503020204020204" pitchFamily="34" charset="-122"/>
                <a:ea typeface="微软雅黑" panose="020B0503020204020204" pitchFamily="34" charset="-122"/>
              </a:rPr>
              <a:t>中国要避免现实金融世界对本国发展带来的负面影响，人民币国际化是迫不得已的追求</a:t>
            </a:r>
            <a:r>
              <a:rPr lang="zh-CN" altLang="en-US" sz="2400" dirty="0" smtClean="0">
                <a:latin typeface="微软雅黑" panose="020B0503020204020204" pitchFamily="34" charset="-122"/>
                <a:ea typeface="微软雅黑" panose="020B0503020204020204" pitchFamily="34" charset="-122"/>
              </a:rPr>
              <a:t>。</a:t>
            </a:r>
            <a:endParaRPr lang="en-US" altLang="zh-CN" sz="2400" dirty="0" smtClean="0">
              <a:latin typeface="微软雅黑" panose="020B0503020204020204" pitchFamily="34" charset="-122"/>
              <a:ea typeface="微软雅黑" panose="020B0503020204020204" pitchFamily="34" charset="-122"/>
            </a:endParaRPr>
          </a:p>
          <a:p>
            <a:pPr marL="0" lvl="1" indent="457200">
              <a:lnSpc>
                <a:spcPct val="130000"/>
              </a:lnSpc>
              <a:spcBef>
                <a:spcPts val="1800"/>
              </a:spcBef>
              <a:buNone/>
            </a:pPr>
            <a:endParaRPr lang="zh-CN" altLang="en-US" sz="2400" dirty="0">
              <a:latin typeface="微软雅黑" panose="020B0503020204020204" pitchFamily="34" charset="-122"/>
              <a:ea typeface="微软雅黑" panose="020B0503020204020204" pitchFamily="34" charset="-122"/>
            </a:endParaRPr>
          </a:p>
          <a:p>
            <a:pPr marL="0" lvl="1" indent="457200">
              <a:lnSpc>
                <a:spcPct val="130000"/>
              </a:lnSpc>
              <a:spcBef>
                <a:spcPts val="1800"/>
              </a:spcBef>
              <a:buNone/>
            </a:pPr>
            <a:r>
              <a:rPr lang="zh-CN" altLang="en-US" sz="2400" dirty="0" smtClean="0">
                <a:latin typeface="微软雅黑" panose="020B0503020204020204" pitchFamily="34" charset="-122"/>
                <a:ea typeface="微软雅黑" panose="020B0503020204020204" pitchFamily="34" charset="-122"/>
              </a:rPr>
              <a:t>从国际</a:t>
            </a:r>
            <a:r>
              <a:rPr lang="zh-CN" altLang="en-US" sz="2400" dirty="0">
                <a:latin typeface="微软雅黑" panose="020B0503020204020204" pitchFamily="34" charset="-122"/>
                <a:ea typeface="微软雅黑" panose="020B0503020204020204" pitchFamily="34" charset="-122"/>
              </a:rPr>
              <a:t>金融动荡到美国经济正式走向复苏这一段时间</a:t>
            </a:r>
            <a:r>
              <a:rPr lang="zh-CN" altLang="en-US" sz="2400" dirty="0" smtClean="0">
                <a:latin typeface="微软雅黑" panose="020B0503020204020204" pitchFamily="34" charset="-122"/>
                <a:ea typeface="微软雅黑" panose="020B0503020204020204" pitchFamily="34" charset="-122"/>
              </a:rPr>
              <a:t>，是</a:t>
            </a:r>
            <a:r>
              <a:rPr lang="zh-CN" altLang="en-US" sz="2400" dirty="0">
                <a:latin typeface="微软雅黑" panose="020B0503020204020204" pitchFamily="34" charset="-122"/>
                <a:ea typeface="微软雅黑" panose="020B0503020204020204" pitchFamily="34" charset="-122"/>
              </a:rPr>
              <a:t>人民币国际化难得的时间窗口。</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4244905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大国地位初具雏形</a:t>
            </a:r>
            <a:endParaRPr lang="zh-CN" dirty="0"/>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graphicFrame>
        <p:nvGraphicFramePr>
          <p:cNvPr id="6" name="Group 4"/>
          <p:cNvGraphicFramePr>
            <a:graphicFrameLocks noGrp="1"/>
          </p:cNvGraphicFramePr>
          <p:nvPr>
            <p:extLst>
              <p:ext uri="{D42A27DB-BD31-4B8C-83A1-F6EECF244321}">
                <p14:modId xmlns:p14="http://schemas.microsoft.com/office/powerpoint/2010/main" val="1639280438"/>
              </p:ext>
            </p:extLst>
          </p:nvPr>
        </p:nvGraphicFramePr>
        <p:xfrm>
          <a:off x="457201" y="1419728"/>
          <a:ext cx="8145378" cy="4358640"/>
        </p:xfrm>
        <a:graphic>
          <a:graphicData uri="http://schemas.openxmlformats.org/drawingml/2006/table">
            <a:tbl>
              <a:tblPr>
                <a:tableStyleId>{BC89EF96-8CEA-46FF-86C4-4CE0E7609802}</a:tableStyleId>
              </a:tblPr>
              <a:tblGrid>
                <a:gridCol w="5538609"/>
                <a:gridCol w="2606769"/>
              </a:tblGrid>
              <a:tr h="384356">
                <a:tc>
                  <a:txBody>
                    <a:bodyPr/>
                    <a:lstStyle>
                      <a:lvl1pPr defTabSz="4572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45720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defTabSz="4572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457200" rtl="0" eaLnBrk="1" fontAlgn="base" latinLnBrk="0" hangingPunct="1">
                        <a:lnSpc>
                          <a:spcPct val="100000"/>
                        </a:lnSpc>
                        <a:spcBef>
                          <a:spcPct val="15000"/>
                        </a:spcBef>
                        <a:spcAft>
                          <a:spcPct val="15000"/>
                        </a:spcAft>
                        <a:buClr>
                          <a:schemeClr val="hlink"/>
                        </a:buClr>
                        <a:buSzPct val="75000"/>
                        <a:buFont typeface="Wingdings" panose="05000000000000000000" pitchFamily="2" charset="2"/>
                        <a:buNone/>
                        <a:tabLst/>
                      </a:pPr>
                      <a:r>
                        <a:rPr kumimoji="0" lang="zh-CN" altLang="en-US" sz="2000" u="none" strike="noStrike" cap="none" normalizeH="0" baseline="0" smtClean="0">
                          <a:ln>
                            <a:noFill/>
                          </a:ln>
                          <a:effectLst/>
                          <a:latin typeface="微软雅黑" panose="020B0503020204020204" pitchFamily="34" charset="-122"/>
                          <a:ea typeface="微软雅黑" panose="020B0503020204020204" pitchFamily="34" charset="-122"/>
                        </a:rPr>
                        <a:t>指标</a:t>
                      </a:r>
                      <a:r>
                        <a:rPr kumimoji="0" lang="zh-CN" altLang="en-GB" sz="2000" u="none" strike="noStrike" cap="none" normalizeH="0" baseline="0" smtClean="0">
                          <a:ln>
                            <a:noFill/>
                          </a:ln>
                          <a:effectLst/>
                          <a:latin typeface="微软雅黑" panose="020B0503020204020204" pitchFamily="34" charset="-122"/>
                          <a:ea typeface="微软雅黑" panose="020B0503020204020204" pitchFamily="34" charset="-122"/>
                        </a:rPr>
                        <a:t> </a:t>
                      </a:r>
                      <a:r>
                        <a:rPr kumimoji="0" lang="en-GB" altLang="zh-CN" sz="2000" u="none" strike="noStrike" cap="none" normalizeH="0" baseline="0" smtClean="0">
                          <a:ln>
                            <a:noFill/>
                          </a:ln>
                          <a:effectLst/>
                          <a:latin typeface="微软雅黑" panose="020B0503020204020204" pitchFamily="34" charset="-122"/>
                          <a:ea typeface="微软雅黑" panose="020B0503020204020204" pitchFamily="34" charset="-122"/>
                        </a:rPr>
                        <a:t>(2009)</a:t>
                      </a:r>
                      <a:endParaRPr kumimoji="0" lang="en-GB" altLang="zh-CN"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45720" marR="45720" anchor="b" horzOverflow="overflow"/>
                </a:tc>
                <a:tc>
                  <a:txBody>
                    <a:bodyPr/>
                    <a:lstStyle>
                      <a:lvl1pPr defTabSz="4572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45720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defTabSz="4572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base" latinLnBrk="0" hangingPunct="1">
                        <a:lnSpc>
                          <a:spcPct val="100000"/>
                        </a:lnSpc>
                        <a:spcBef>
                          <a:spcPct val="15000"/>
                        </a:spcBef>
                        <a:spcAft>
                          <a:spcPct val="15000"/>
                        </a:spcAft>
                        <a:buClr>
                          <a:schemeClr val="hlink"/>
                        </a:buClr>
                        <a:buSzPct val="75000"/>
                        <a:buFont typeface="Wingdings" panose="05000000000000000000" pitchFamily="2" charset="2"/>
                        <a:buNone/>
                        <a:tabLst/>
                      </a:pPr>
                      <a:r>
                        <a:rPr kumimoji="0" lang="zh-CN" altLang="en-US" sz="2000" u="none" strike="noStrike" cap="none" normalizeH="0" baseline="0" smtClean="0">
                          <a:ln>
                            <a:noFill/>
                          </a:ln>
                          <a:effectLst/>
                          <a:latin typeface="微软雅黑" panose="020B0503020204020204" pitchFamily="34" charset="-122"/>
                          <a:ea typeface="微软雅黑" panose="020B0503020204020204" pitchFamily="34" charset="-122"/>
                        </a:rPr>
                        <a:t>中国的排位</a:t>
                      </a:r>
                      <a:endParaRPr kumimoji="0" lang="en-GB" altLang="zh-CN"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45720" marR="45720" anchor="b" horzOverflow="overflow"/>
                </a:tc>
              </a:tr>
              <a:tr h="381466">
                <a:tc>
                  <a:txBody>
                    <a:bodyPr/>
                    <a:lstStyle>
                      <a:lvl1pPr defTabSz="4572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45720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defTabSz="4572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457200" rtl="0" eaLnBrk="1" fontAlgn="base" latinLnBrk="0" hangingPunct="1">
                        <a:lnSpc>
                          <a:spcPct val="100000"/>
                        </a:lnSpc>
                        <a:spcBef>
                          <a:spcPct val="15000"/>
                        </a:spcBef>
                        <a:spcAft>
                          <a:spcPct val="15000"/>
                        </a:spcAft>
                        <a:buClr>
                          <a:schemeClr val="hlink"/>
                        </a:buClr>
                        <a:buSzPct val="75000"/>
                        <a:buFont typeface="Wingdings" panose="05000000000000000000" pitchFamily="2" charset="2"/>
                        <a:buNone/>
                        <a:tabLst/>
                      </a:pPr>
                      <a:r>
                        <a:rPr kumimoji="0" lang="zh-CN" altLang="en-US" sz="2000" u="none" strike="noStrike" cap="none" normalizeH="0" baseline="0" smtClean="0">
                          <a:ln>
                            <a:noFill/>
                          </a:ln>
                          <a:effectLst/>
                          <a:latin typeface="微软雅黑" panose="020B0503020204020204" pitchFamily="34" charset="-122"/>
                          <a:ea typeface="微软雅黑" panose="020B0503020204020204" pitchFamily="34" charset="-122"/>
                        </a:rPr>
                        <a:t>外汇储备</a:t>
                      </a:r>
                      <a:endParaRPr kumimoji="0" lang="en-GB" altLang="zh-CN"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45720" marR="0" anchor="ctr" horzOverflow="overflow"/>
                </a:tc>
                <a:tc>
                  <a:txBody>
                    <a:bodyPr/>
                    <a:lstStyle>
                      <a:lvl1pPr defTabSz="4572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45720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defTabSz="4572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base" latinLnBrk="0" hangingPunct="1">
                        <a:lnSpc>
                          <a:spcPct val="100000"/>
                        </a:lnSpc>
                        <a:spcBef>
                          <a:spcPct val="15000"/>
                        </a:spcBef>
                        <a:spcAft>
                          <a:spcPct val="15000"/>
                        </a:spcAft>
                        <a:buClr>
                          <a:schemeClr val="hlink"/>
                        </a:buClr>
                        <a:buSzPct val="75000"/>
                        <a:buFont typeface="Wingdings" panose="05000000000000000000" pitchFamily="2" charset="2"/>
                        <a:buNone/>
                        <a:tabLst/>
                      </a:pPr>
                      <a:r>
                        <a:rPr kumimoji="0" lang="en-GB" altLang="zh-CN" sz="2000" u="none" strike="noStrike" cap="none" normalizeH="0" baseline="0" smtClean="0">
                          <a:ln>
                            <a:noFill/>
                          </a:ln>
                          <a:effectLst/>
                          <a:latin typeface="微软雅黑" panose="020B0503020204020204" pitchFamily="34" charset="-122"/>
                          <a:ea typeface="微软雅黑" panose="020B0503020204020204" pitchFamily="34" charset="-122"/>
                        </a:rPr>
                        <a:t>1</a:t>
                      </a:r>
                      <a:endParaRPr kumimoji="0" lang="en-GB" altLang="zh-CN"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45720" marR="0" anchor="ctr" horzOverflow="overflow"/>
                </a:tc>
              </a:tr>
              <a:tr h="381466">
                <a:tc>
                  <a:txBody>
                    <a:bodyPr/>
                    <a:lstStyle>
                      <a:lvl1pPr defTabSz="4572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45720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defTabSz="4572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457200" rtl="0" eaLnBrk="1" fontAlgn="base" latinLnBrk="0" hangingPunct="1">
                        <a:lnSpc>
                          <a:spcPct val="100000"/>
                        </a:lnSpc>
                        <a:spcBef>
                          <a:spcPct val="15000"/>
                        </a:spcBef>
                        <a:spcAft>
                          <a:spcPct val="15000"/>
                        </a:spcAft>
                        <a:buClr>
                          <a:schemeClr val="hlink"/>
                        </a:buClr>
                        <a:buSzPct val="75000"/>
                        <a:buFont typeface="Wingdings" panose="05000000000000000000" pitchFamily="2" charset="2"/>
                        <a:buNone/>
                        <a:tabLst/>
                      </a:pPr>
                      <a:r>
                        <a:rPr kumimoji="0" lang="zh-CN" altLang="en-US" sz="2000" u="none" strike="noStrike" cap="none" normalizeH="0" baseline="0" smtClean="0">
                          <a:ln>
                            <a:noFill/>
                          </a:ln>
                          <a:effectLst/>
                          <a:latin typeface="微软雅黑" panose="020B0503020204020204" pitchFamily="34" charset="-122"/>
                          <a:ea typeface="微软雅黑" panose="020B0503020204020204" pitchFamily="34" charset="-122"/>
                        </a:rPr>
                        <a:t>出口额</a:t>
                      </a:r>
                      <a:endParaRPr kumimoji="0" lang="zh-CN" altLang="en-GB"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45720" marR="0" anchor="ctr" horzOverflow="overflow"/>
                </a:tc>
                <a:tc>
                  <a:txBody>
                    <a:bodyPr/>
                    <a:lstStyle>
                      <a:lvl1pPr defTabSz="4572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45720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defTabSz="4572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base" latinLnBrk="0" hangingPunct="1">
                        <a:lnSpc>
                          <a:spcPct val="100000"/>
                        </a:lnSpc>
                        <a:spcBef>
                          <a:spcPct val="15000"/>
                        </a:spcBef>
                        <a:spcAft>
                          <a:spcPct val="15000"/>
                        </a:spcAft>
                        <a:buClr>
                          <a:schemeClr val="hlink"/>
                        </a:buClr>
                        <a:buSzPct val="75000"/>
                        <a:buFont typeface="Wingdings" panose="05000000000000000000" pitchFamily="2" charset="2"/>
                        <a:buNone/>
                        <a:tabLst/>
                      </a:pPr>
                      <a:r>
                        <a:rPr kumimoji="0" lang="en-GB" altLang="zh-CN" sz="2000" u="none" strike="noStrike" cap="none" normalizeH="0" baseline="0" smtClean="0">
                          <a:ln>
                            <a:noFill/>
                          </a:ln>
                          <a:effectLst/>
                          <a:latin typeface="微软雅黑" panose="020B0503020204020204" pitchFamily="34" charset="-122"/>
                          <a:ea typeface="微软雅黑" panose="020B0503020204020204" pitchFamily="34" charset="-122"/>
                        </a:rPr>
                        <a:t>1</a:t>
                      </a:r>
                      <a:endParaRPr kumimoji="0" lang="en-GB" altLang="zh-CN"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45720" marR="0" anchor="ctr" horzOverflow="overflow"/>
                </a:tc>
              </a:tr>
              <a:tr h="381466">
                <a:tc>
                  <a:txBody>
                    <a:bodyPr/>
                    <a:lstStyle>
                      <a:lvl1pPr defTabSz="4572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45720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defTabSz="4572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457200" rtl="0" eaLnBrk="1" fontAlgn="base" latinLnBrk="0" hangingPunct="1">
                        <a:lnSpc>
                          <a:spcPct val="100000"/>
                        </a:lnSpc>
                        <a:spcBef>
                          <a:spcPct val="15000"/>
                        </a:spcBef>
                        <a:spcAft>
                          <a:spcPct val="15000"/>
                        </a:spcAft>
                        <a:buClr>
                          <a:schemeClr val="hlink"/>
                        </a:buClr>
                        <a:buSzPct val="75000"/>
                        <a:buFont typeface="Wingdings" panose="05000000000000000000" pitchFamily="2" charset="2"/>
                        <a:buNone/>
                        <a:tabLst/>
                      </a:pPr>
                      <a:r>
                        <a:rPr kumimoji="0" lang="zh-CN" altLang="en-GB" sz="2000" u="none" strike="noStrike" cap="none" normalizeH="0" baseline="0" smtClean="0">
                          <a:ln>
                            <a:noFill/>
                          </a:ln>
                          <a:effectLst/>
                          <a:latin typeface="微软雅黑" panose="020B0503020204020204" pitchFamily="34" charset="-122"/>
                          <a:ea typeface="微软雅黑" panose="020B0503020204020204" pitchFamily="34" charset="-122"/>
                        </a:rPr>
                        <a:t>经常账户顺差</a:t>
                      </a:r>
                      <a:endParaRPr kumimoji="0" lang="en-GB" altLang="zh-CN"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45720" marR="0" anchor="ctr" horzOverflow="overflow"/>
                </a:tc>
                <a:tc>
                  <a:txBody>
                    <a:bodyPr/>
                    <a:lstStyle>
                      <a:lvl1pPr defTabSz="4572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45720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defTabSz="4572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base" latinLnBrk="0" hangingPunct="1">
                        <a:lnSpc>
                          <a:spcPct val="100000"/>
                        </a:lnSpc>
                        <a:spcBef>
                          <a:spcPct val="15000"/>
                        </a:spcBef>
                        <a:spcAft>
                          <a:spcPct val="15000"/>
                        </a:spcAft>
                        <a:buClr>
                          <a:schemeClr val="hlink"/>
                        </a:buClr>
                        <a:buSzPct val="75000"/>
                        <a:buFont typeface="Wingdings" panose="05000000000000000000" pitchFamily="2" charset="2"/>
                        <a:buNone/>
                        <a:tabLst/>
                      </a:pPr>
                      <a:r>
                        <a:rPr kumimoji="0" lang="en-GB" altLang="zh-CN" sz="2000" u="none" strike="noStrike" cap="none" normalizeH="0" baseline="0" smtClean="0">
                          <a:ln>
                            <a:noFill/>
                          </a:ln>
                          <a:effectLst/>
                          <a:latin typeface="微软雅黑" panose="020B0503020204020204" pitchFamily="34" charset="-122"/>
                          <a:ea typeface="微软雅黑" panose="020B0503020204020204" pitchFamily="34" charset="-122"/>
                        </a:rPr>
                        <a:t>1</a:t>
                      </a:r>
                      <a:endParaRPr kumimoji="0" lang="en-GB" altLang="zh-CN"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45720" marR="0" anchor="ctr" horzOverflow="overflow"/>
                </a:tc>
              </a:tr>
              <a:tr h="381466">
                <a:tc>
                  <a:txBody>
                    <a:bodyPr/>
                    <a:lstStyle>
                      <a:lvl1pPr defTabSz="4572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45720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defTabSz="4572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457200" rtl="0" eaLnBrk="1" fontAlgn="base" latinLnBrk="0" hangingPunct="1">
                        <a:lnSpc>
                          <a:spcPct val="100000"/>
                        </a:lnSpc>
                        <a:spcBef>
                          <a:spcPct val="15000"/>
                        </a:spcBef>
                        <a:spcAft>
                          <a:spcPct val="15000"/>
                        </a:spcAft>
                        <a:buClr>
                          <a:schemeClr val="hlink"/>
                        </a:buClr>
                        <a:buSzPct val="75000"/>
                        <a:buFont typeface="Wingdings" panose="05000000000000000000" pitchFamily="2" charset="2"/>
                        <a:buNone/>
                        <a:tabLst/>
                      </a:pPr>
                      <a:r>
                        <a:rPr kumimoji="0" lang="zh-CN" altLang="en-US" sz="2000" u="none" strike="noStrike" cap="none" normalizeH="0" baseline="0" smtClean="0">
                          <a:ln>
                            <a:noFill/>
                          </a:ln>
                          <a:effectLst/>
                          <a:latin typeface="微软雅黑" panose="020B0503020204020204" pitchFamily="34" charset="-122"/>
                          <a:ea typeface="微软雅黑" panose="020B0503020204020204" pitchFamily="34" charset="-122"/>
                        </a:rPr>
                        <a:t>煤炭消费量</a:t>
                      </a:r>
                      <a:endParaRPr kumimoji="0" lang="zh-CN" altLang="en-GB"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45720" marR="0" anchor="ctr" horzOverflow="overflow"/>
                </a:tc>
                <a:tc>
                  <a:txBody>
                    <a:bodyPr/>
                    <a:lstStyle>
                      <a:lvl1pPr defTabSz="4572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45720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defTabSz="4572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base" latinLnBrk="0" hangingPunct="1">
                        <a:lnSpc>
                          <a:spcPct val="100000"/>
                        </a:lnSpc>
                        <a:spcBef>
                          <a:spcPct val="15000"/>
                        </a:spcBef>
                        <a:spcAft>
                          <a:spcPct val="15000"/>
                        </a:spcAft>
                        <a:buClr>
                          <a:schemeClr val="hlink"/>
                        </a:buClr>
                        <a:buSzPct val="75000"/>
                        <a:buFont typeface="Wingdings" panose="05000000000000000000" pitchFamily="2" charset="2"/>
                        <a:buNone/>
                        <a:tabLst/>
                      </a:pPr>
                      <a:r>
                        <a:rPr kumimoji="0" lang="en-GB" altLang="zh-CN" sz="2000" u="none" strike="noStrike" cap="none" normalizeH="0" baseline="0" smtClean="0">
                          <a:ln>
                            <a:noFill/>
                          </a:ln>
                          <a:effectLst/>
                          <a:latin typeface="微软雅黑" panose="020B0503020204020204" pitchFamily="34" charset="-122"/>
                          <a:ea typeface="微软雅黑" panose="020B0503020204020204" pitchFamily="34" charset="-122"/>
                        </a:rPr>
                        <a:t>1</a:t>
                      </a:r>
                      <a:endParaRPr kumimoji="0" lang="en-GB" altLang="zh-CN"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45720" marR="0" anchor="ctr" horzOverflow="overflow"/>
                </a:tc>
              </a:tr>
              <a:tr h="381466">
                <a:tc>
                  <a:txBody>
                    <a:bodyPr/>
                    <a:lstStyle>
                      <a:lvl1pPr defTabSz="4572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45720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defTabSz="4572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457200" rtl="0" eaLnBrk="1" fontAlgn="base" latinLnBrk="0" hangingPunct="1">
                        <a:lnSpc>
                          <a:spcPct val="100000"/>
                        </a:lnSpc>
                        <a:spcBef>
                          <a:spcPct val="15000"/>
                        </a:spcBef>
                        <a:spcAft>
                          <a:spcPct val="15000"/>
                        </a:spcAft>
                        <a:buClr>
                          <a:schemeClr val="hlink"/>
                        </a:buClr>
                        <a:buSzPct val="75000"/>
                        <a:buFont typeface="Wingdings" panose="05000000000000000000" pitchFamily="2" charset="2"/>
                        <a:buNone/>
                        <a:tabLst/>
                      </a:pPr>
                      <a:r>
                        <a:rPr kumimoji="0" lang="zh-CN" altLang="en-US" sz="2000" u="none" strike="noStrike" cap="none" normalizeH="0" baseline="0" smtClean="0">
                          <a:ln>
                            <a:noFill/>
                          </a:ln>
                          <a:effectLst/>
                          <a:latin typeface="微软雅黑" panose="020B0503020204020204" pitchFamily="34" charset="-122"/>
                          <a:ea typeface="微软雅黑" panose="020B0503020204020204" pitchFamily="34" charset="-122"/>
                        </a:rPr>
                        <a:t>汽车销售量</a:t>
                      </a:r>
                      <a:endParaRPr kumimoji="0" lang="en-GB" altLang="zh-CN"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45720" marR="0" anchor="ctr" horzOverflow="overflow"/>
                </a:tc>
                <a:tc>
                  <a:txBody>
                    <a:bodyPr/>
                    <a:lstStyle>
                      <a:lvl1pPr defTabSz="4572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45720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defTabSz="4572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base" latinLnBrk="0" hangingPunct="1">
                        <a:lnSpc>
                          <a:spcPct val="100000"/>
                        </a:lnSpc>
                        <a:spcBef>
                          <a:spcPct val="15000"/>
                        </a:spcBef>
                        <a:spcAft>
                          <a:spcPct val="15000"/>
                        </a:spcAft>
                        <a:buClr>
                          <a:schemeClr val="hlink"/>
                        </a:buClr>
                        <a:buSzPct val="75000"/>
                        <a:buFont typeface="Wingdings" panose="05000000000000000000" pitchFamily="2" charset="2"/>
                        <a:buNone/>
                        <a:tabLst/>
                      </a:pPr>
                      <a:r>
                        <a:rPr kumimoji="0" lang="en-GB" altLang="zh-CN" sz="2000" u="none" strike="noStrike" cap="none" normalizeH="0" baseline="0" smtClean="0">
                          <a:ln>
                            <a:noFill/>
                          </a:ln>
                          <a:effectLst/>
                          <a:latin typeface="微软雅黑" panose="020B0503020204020204" pitchFamily="34" charset="-122"/>
                          <a:ea typeface="微软雅黑" panose="020B0503020204020204" pitchFamily="34" charset="-122"/>
                        </a:rPr>
                        <a:t>1</a:t>
                      </a:r>
                      <a:endParaRPr kumimoji="0" lang="en-GB" altLang="zh-CN"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45720" marR="0" anchor="ctr" horzOverflow="overflow"/>
                </a:tc>
              </a:tr>
              <a:tr h="381466">
                <a:tc>
                  <a:txBody>
                    <a:bodyPr/>
                    <a:lstStyle>
                      <a:lvl1pPr defTabSz="4572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45720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defTabSz="4572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457200" rtl="0" eaLnBrk="1" fontAlgn="base" latinLnBrk="0" hangingPunct="1">
                        <a:lnSpc>
                          <a:spcPct val="100000"/>
                        </a:lnSpc>
                        <a:spcBef>
                          <a:spcPct val="15000"/>
                        </a:spcBef>
                        <a:spcAft>
                          <a:spcPct val="15000"/>
                        </a:spcAft>
                        <a:buClr>
                          <a:schemeClr val="hlink"/>
                        </a:buClr>
                        <a:buSzPct val="75000"/>
                        <a:buFont typeface="Wingdings" panose="05000000000000000000" pitchFamily="2" charset="2"/>
                        <a:buNone/>
                        <a:tabLst/>
                      </a:pPr>
                      <a:r>
                        <a:rPr kumimoji="0" lang="en-GB" altLang="zh-CN" sz="2000" u="none" strike="noStrike" cap="none" normalizeH="0" baseline="0" dirty="0" smtClean="0">
                          <a:ln>
                            <a:noFill/>
                          </a:ln>
                          <a:effectLst/>
                          <a:latin typeface="微软雅黑" panose="020B0503020204020204" pitchFamily="34" charset="-122"/>
                          <a:ea typeface="微软雅黑" panose="020B0503020204020204" pitchFamily="34" charset="-122"/>
                        </a:rPr>
                        <a:t>GDP – </a:t>
                      </a:r>
                      <a:r>
                        <a:rPr kumimoji="0" lang="zh-CN" altLang="en-GB" sz="2000" u="none" strike="noStrike" cap="none" normalizeH="0" baseline="0" dirty="0" smtClean="0">
                          <a:ln>
                            <a:noFill/>
                          </a:ln>
                          <a:effectLst/>
                          <a:latin typeface="微软雅黑" panose="020B0503020204020204" pitchFamily="34" charset="-122"/>
                          <a:ea typeface="微软雅黑" panose="020B0503020204020204" pitchFamily="34" charset="-122"/>
                        </a:rPr>
                        <a:t>按购买力平价</a:t>
                      </a:r>
                      <a:endParaRPr kumimoji="0" lang="zh-CN" altLang="en-GB" sz="20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45720" marR="0" anchor="ctr" horzOverflow="overflow"/>
                </a:tc>
                <a:tc>
                  <a:txBody>
                    <a:bodyPr/>
                    <a:lstStyle>
                      <a:lvl1pPr defTabSz="4572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45720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defTabSz="4572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base" latinLnBrk="0" hangingPunct="1">
                        <a:lnSpc>
                          <a:spcPct val="100000"/>
                        </a:lnSpc>
                        <a:spcBef>
                          <a:spcPct val="15000"/>
                        </a:spcBef>
                        <a:spcAft>
                          <a:spcPct val="15000"/>
                        </a:spcAft>
                        <a:buClr>
                          <a:schemeClr val="hlink"/>
                        </a:buClr>
                        <a:buSzPct val="75000"/>
                        <a:buFont typeface="Wingdings" panose="05000000000000000000" pitchFamily="2" charset="2"/>
                        <a:buNone/>
                        <a:tabLst/>
                      </a:pPr>
                      <a:r>
                        <a:rPr kumimoji="0" lang="en-GB" altLang="zh-CN" sz="2000" u="none" strike="noStrike" cap="none" normalizeH="0" baseline="0" smtClean="0">
                          <a:ln>
                            <a:noFill/>
                          </a:ln>
                          <a:effectLst/>
                          <a:latin typeface="微软雅黑" panose="020B0503020204020204" pitchFamily="34" charset="-122"/>
                          <a:ea typeface="微软雅黑" panose="020B0503020204020204" pitchFamily="34" charset="-122"/>
                        </a:rPr>
                        <a:t>2</a:t>
                      </a:r>
                      <a:endParaRPr kumimoji="0" lang="en-GB" altLang="zh-CN"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45720" marR="0" anchor="ctr" horzOverflow="overflow"/>
                </a:tc>
              </a:tr>
              <a:tr h="381466">
                <a:tc>
                  <a:txBody>
                    <a:bodyPr/>
                    <a:lstStyle>
                      <a:lvl1pPr defTabSz="4572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45720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defTabSz="4572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457200" rtl="0" eaLnBrk="1" fontAlgn="base" latinLnBrk="0" hangingPunct="1">
                        <a:lnSpc>
                          <a:spcPct val="100000"/>
                        </a:lnSpc>
                        <a:spcBef>
                          <a:spcPct val="15000"/>
                        </a:spcBef>
                        <a:spcAft>
                          <a:spcPct val="15000"/>
                        </a:spcAft>
                        <a:buClr>
                          <a:schemeClr val="hlink"/>
                        </a:buClr>
                        <a:buSzPct val="75000"/>
                        <a:buFont typeface="Wingdings" panose="05000000000000000000" pitchFamily="2" charset="2"/>
                        <a:buNone/>
                        <a:tabLst/>
                      </a:pPr>
                      <a:r>
                        <a:rPr kumimoji="0" lang="zh-CN" altLang="en-GB" sz="2000" u="none" strike="noStrike" cap="none" normalizeH="0" baseline="0" smtClean="0">
                          <a:ln>
                            <a:noFill/>
                          </a:ln>
                          <a:effectLst/>
                          <a:latin typeface="微软雅黑" panose="020B0503020204020204" pitchFamily="34" charset="-122"/>
                          <a:ea typeface="微软雅黑" panose="020B0503020204020204" pitchFamily="34" charset="-122"/>
                        </a:rPr>
                        <a:t>石油消费量</a:t>
                      </a:r>
                      <a:endParaRPr kumimoji="0" lang="en-GB" altLang="zh-CN"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45720" marR="0" anchor="ctr" horzOverflow="overflow"/>
                </a:tc>
                <a:tc>
                  <a:txBody>
                    <a:bodyPr/>
                    <a:lstStyle>
                      <a:lvl1pPr defTabSz="4572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45720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defTabSz="4572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base" latinLnBrk="0" hangingPunct="1">
                        <a:lnSpc>
                          <a:spcPct val="100000"/>
                        </a:lnSpc>
                        <a:spcBef>
                          <a:spcPct val="15000"/>
                        </a:spcBef>
                        <a:spcAft>
                          <a:spcPct val="15000"/>
                        </a:spcAft>
                        <a:buClr>
                          <a:schemeClr val="hlink"/>
                        </a:buClr>
                        <a:buSzPct val="75000"/>
                        <a:buFont typeface="Wingdings" panose="05000000000000000000" pitchFamily="2" charset="2"/>
                        <a:buNone/>
                        <a:tabLst/>
                      </a:pPr>
                      <a:r>
                        <a:rPr kumimoji="0" lang="en-GB" altLang="zh-CN" sz="2000" u="none" strike="noStrike" cap="none" normalizeH="0" baseline="0" smtClean="0">
                          <a:ln>
                            <a:noFill/>
                          </a:ln>
                          <a:effectLst/>
                          <a:latin typeface="微软雅黑" panose="020B0503020204020204" pitchFamily="34" charset="-122"/>
                          <a:ea typeface="微软雅黑" panose="020B0503020204020204" pitchFamily="34" charset="-122"/>
                        </a:rPr>
                        <a:t>2</a:t>
                      </a:r>
                      <a:endParaRPr kumimoji="0" lang="en-GB" altLang="zh-CN"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45720" marR="0" anchor="ctr" horzOverflow="overflow"/>
                </a:tc>
              </a:tr>
              <a:tr h="381466">
                <a:tc>
                  <a:txBody>
                    <a:bodyPr/>
                    <a:lstStyle>
                      <a:lvl1pPr defTabSz="4572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45720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defTabSz="4572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457200" rtl="0" eaLnBrk="1" fontAlgn="base" latinLnBrk="0" hangingPunct="1">
                        <a:lnSpc>
                          <a:spcPct val="100000"/>
                        </a:lnSpc>
                        <a:spcBef>
                          <a:spcPct val="15000"/>
                        </a:spcBef>
                        <a:spcAft>
                          <a:spcPct val="15000"/>
                        </a:spcAft>
                        <a:buClr>
                          <a:schemeClr val="hlink"/>
                        </a:buClr>
                        <a:buSzPct val="75000"/>
                        <a:buFont typeface="Wingdings" panose="05000000000000000000" pitchFamily="2" charset="2"/>
                        <a:buNone/>
                        <a:tabLst/>
                      </a:pPr>
                      <a:r>
                        <a:rPr kumimoji="0" lang="zh-CN" altLang="en-US" sz="2000" u="none" strike="noStrike" cap="none" normalizeH="0" baseline="0" smtClean="0">
                          <a:ln>
                            <a:noFill/>
                          </a:ln>
                          <a:effectLst/>
                          <a:latin typeface="微软雅黑" panose="020B0503020204020204" pitchFamily="34" charset="-122"/>
                          <a:ea typeface="微软雅黑" panose="020B0503020204020204" pitchFamily="34" charset="-122"/>
                        </a:rPr>
                        <a:t>电力消费量</a:t>
                      </a:r>
                      <a:endParaRPr kumimoji="0" lang="en-GB" altLang="zh-CN"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45720" marR="0" anchor="ctr" horzOverflow="overflow"/>
                </a:tc>
                <a:tc>
                  <a:txBody>
                    <a:bodyPr/>
                    <a:lstStyle>
                      <a:lvl1pPr defTabSz="4572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45720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defTabSz="4572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base" latinLnBrk="0" hangingPunct="1">
                        <a:lnSpc>
                          <a:spcPct val="100000"/>
                        </a:lnSpc>
                        <a:spcBef>
                          <a:spcPct val="15000"/>
                        </a:spcBef>
                        <a:spcAft>
                          <a:spcPct val="15000"/>
                        </a:spcAft>
                        <a:buClr>
                          <a:schemeClr val="hlink"/>
                        </a:buClr>
                        <a:buSzPct val="75000"/>
                        <a:buFont typeface="Wingdings" panose="05000000000000000000" pitchFamily="2" charset="2"/>
                        <a:buNone/>
                        <a:tabLst/>
                      </a:pPr>
                      <a:r>
                        <a:rPr kumimoji="0" lang="en-GB" altLang="zh-CN" sz="2000" u="none" strike="noStrike" cap="none" normalizeH="0" baseline="0" smtClean="0">
                          <a:ln>
                            <a:noFill/>
                          </a:ln>
                          <a:effectLst/>
                          <a:latin typeface="微软雅黑" panose="020B0503020204020204" pitchFamily="34" charset="-122"/>
                          <a:ea typeface="微软雅黑" panose="020B0503020204020204" pitchFamily="34" charset="-122"/>
                        </a:rPr>
                        <a:t>2</a:t>
                      </a:r>
                      <a:endParaRPr kumimoji="0" lang="en-GB" altLang="zh-CN"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45720" marR="0" anchor="ctr" horzOverflow="overflow"/>
                </a:tc>
              </a:tr>
              <a:tr h="381466">
                <a:tc>
                  <a:txBody>
                    <a:bodyPr/>
                    <a:lstStyle>
                      <a:lvl1pPr defTabSz="4572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45720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defTabSz="4572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457200" rtl="0" eaLnBrk="1" fontAlgn="base" latinLnBrk="0" hangingPunct="1">
                        <a:lnSpc>
                          <a:spcPct val="100000"/>
                        </a:lnSpc>
                        <a:spcBef>
                          <a:spcPct val="15000"/>
                        </a:spcBef>
                        <a:spcAft>
                          <a:spcPct val="15000"/>
                        </a:spcAft>
                        <a:buClr>
                          <a:schemeClr val="hlink"/>
                        </a:buClr>
                        <a:buSzPct val="75000"/>
                        <a:buFont typeface="Wingdings" panose="05000000000000000000" pitchFamily="2" charset="2"/>
                        <a:buNone/>
                        <a:tabLst/>
                      </a:pPr>
                      <a:r>
                        <a:rPr kumimoji="0" lang="zh-CN" altLang="en-US" sz="2000" u="none" strike="noStrike" cap="none" normalizeH="0" baseline="0" smtClean="0">
                          <a:ln>
                            <a:noFill/>
                          </a:ln>
                          <a:effectLst/>
                          <a:latin typeface="微软雅黑" panose="020B0503020204020204" pitchFamily="34" charset="-122"/>
                          <a:ea typeface="微软雅黑" panose="020B0503020204020204" pitchFamily="34" charset="-122"/>
                        </a:rPr>
                        <a:t>初级能源消费量</a:t>
                      </a:r>
                      <a:endParaRPr kumimoji="0" lang="en-GB" altLang="zh-CN"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45720" marR="0" anchor="ctr" horzOverflow="overflow"/>
                </a:tc>
                <a:tc>
                  <a:txBody>
                    <a:bodyPr/>
                    <a:lstStyle>
                      <a:lvl1pPr defTabSz="4572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45720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defTabSz="4572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base" latinLnBrk="0" hangingPunct="1">
                        <a:lnSpc>
                          <a:spcPct val="100000"/>
                        </a:lnSpc>
                        <a:spcBef>
                          <a:spcPct val="15000"/>
                        </a:spcBef>
                        <a:spcAft>
                          <a:spcPct val="15000"/>
                        </a:spcAft>
                        <a:buClr>
                          <a:schemeClr val="hlink"/>
                        </a:buClr>
                        <a:buSzPct val="75000"/>
                        <a:buFont typeface="Wingdings" panose="05000000000000000000" pitchFamily="2" charset="2"/>
                        <a:buNone/>
                        <a:tabLst/>
                      </a:pPr>
                      <a:r>
                        <a:rPr kumimoji="0" lang="en-GB" altLang="zh-CN" sz="2000" u="none" strike="noStrike" cap="none" normalizeH="0" baseline="0" smtClean="0">
                          <a:ln>
                            <a:noFill/>
                          </a:ln>
                          <a:effectLst/>
                          <a:latin typeface="微软雅黑" panose="020B0503020204020204" pitchFamily="34" charset="-122"/>
                          <a:ea typeface="微软雅黑" panose="020B0503020204020204" pitchFamily="34" charset="-122"/>
                        </a:rPr>
                        <a:t>2</a:t>
                      </a:r>
                      <a:endParaRPr kumimoji="0" lang="en-GB" altLang="zh-CN"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45720" marR="0" anchor="ctr" horzOverflow="overflow"/>
                </a:tc>
              </a:tr>
              <a:tr h="381466">
                <a:tc>
                  <a:txBody>
                    <a:bodyPr/>
                    <a:lstStyle>
                      <a:lvl1pPr defTabSz="4572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45720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defTabSz="4572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457200" rtl="0" eaLnBrk="1" fontAlgn="base" latinLnBrk="0" hangingPunct="1">
                        <a:lnSpc>
                          <a:spcPct val="100000"/>
                        </a:lnSpc>
                        <a:spcBef>
                          <a:spcPct val="15000"/>
                        </a:spcBef>
                        <a:spcAft>
                          <a:spcPct val="15000"/>
                        </a:spcAft>
                        <a:buClr>
                          <a:schemeClr val="hlink"/>
                        </a:buClr>
                        <a:buSzPct val="75000"/>
                        <a:buFont typeface="Wingdings" panose="05000000000000000000" pitchFamily="2" charset="2"/>
                        <a:buNone/>
                        <a:tabLst/>
                      </a:pPr>
                      <a:r>
                        <a:rPr kumimoji="0" lang="zh-CN" altLang="en-GB" sz="2000" u="none" strike="noStrike" cap="none" normalizeH="0" baseline="0" smtClean="0">
                          <a:ln>
                            <a:noFill/>
                          </a:ln>
                          <a:effectLst/>
                          <a:latin typeface="微软雅黑" panose="020B0503020204020204" pitchFamily="34" charset="-122"/>
                          <a:ea typeface="微软雅黑" panose="020B0503020204020204" pitchFamily="34" charset="-122"/>
                        </a:rPr>
                        <a:t>名义</a:t>
                      </a:r>
                      <a:r>
                        <a:rPr kumimoji="0" lang="en-GB" altLang="zh-CN" sz="2000" u="none" strike="noStrike" cap="none" normalizeH="0" baseline="0" smtClean="0">
                          <a:ln>
                            <a:noFill/>
                          </a:ln>
                          <a:effectLst/>
                          <a:latin typeface="微软雅黑" panose="020B0503020204020204" pitchFamily="34" charset="-122"/>
                          <a:ea typeface="微软雅黑" panose="020B0503020204020204" pitchFamily="34" charset="-122"/>
                        </a:rPr>
                        <a:t>GDP</a:t>
                      </a:r>
                      <a:endParaRPr kumimoji="0" lang="zh-CN" altLang="en-GB"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45720" marR="0" anchor="ctr" horzOverflow="overflow"/>
                </a:tc>
                <a:tc>
                  <a:txBody>
                    <a:bodyPr/>
                    <a:lstStyle>
                      <a:lvl1pPr defTabSz="45720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45720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defTabSz="4572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defTabSz="4572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457200" rtl="0" eaLnBrk="1" fontAlgn="base" latinLnBrk="0" hangingPunct="1">
                        <a:lnSpc>
                          <a:spcPct val="100000"/>
                        </a:lnSpc>
                        <a:spcBef>
                          <a:spcPct val="15000"/>
                        </a:spcBef>
                        <a:spcAft>
                          <a:spcPct val="15000"/>
                        </a:spcAft>
                        <a:buClr>
                          <a:schemeClr val="hlink"/>
                        </a:buClr>
                        <a:buSzPct val="75000"/>
                        <a:buFont typeface="Wingdings" panose="05000000000000000000" pitchFamily="2" charset="2"/>
                        <a:buNone/>
                        <a:tabLst/>
                      </a:pPr>
                      <a:r>
                        <a:rPr kumimoji="0" lang="en-GB" altLang="zh-CN" sz="2000" u="none" strike="noStrike" cap="none" normalizeH="0" baseline="0" dirty="0" smtClean="0">
                          <a:ln>
                            <a:noFill/>
                          </a:ln>
                          <a:effectLst/>
                          <a:latin typeface="微软雅黑" panose="020B0503020204020204" pitchFamily="34" charset="-122"/>
                          <a:ea typeface="微软雅黑" panose="020B0503020204020204" pitchFamily="34" charset="-122"/>
                        </a:rPr>
                        <a:t>2</a:t>
                      </a:r>
                      <a:endParaRPr kumimoji="0" lang="en-GB" altLang="zh-CN" sz="20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45720" marR="0" anchor="ctr" horzOverflow="overflow"/>
                </a:tc>
              </a:tr>
            </a:tbl>
          </a:graphicData>
        </a:graphic>
      </p:graphicFrame>
      <p:sp>
        <p:nvSpPr>
          <p:cNvPr id="7" name="矩形 4"/>
          <p:cNvSpPr>
            <a:spLocks noChangeArrowheads="1"/>
          </p:cNvSpPr>
          <p:nvPr/>
        </p:nvSpPr>
        <p:spPr bwMode="auto">
          <a:xfrm>
            <a:off x="457201" y="5516814"/>
            <a:ext cx="457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85788" indent="-585788"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Clr>
                <a:srgbClr val="000000"/>
              </a:buClr>
            </a:pPr>
            <a:endParaRPr lang="zh-CN" altLang="en-GB" dirty="0">
              <a:solidFill>
                <a:schemeClr val="accent1"/>
              </a:solidFill>
              <a:latin typeface="微软雅黑" panose="020B0503020204020204" pitchFamily="34" charset="-122"/>
              <a:ea typeface="微软雅黑" panose="020B0503020204020204" pitchFamily="34" charset="-122"/>
            </a:endParaRPr>
          </a:p>
          <a:p>
            <a:pPr eaLnBrk="1" hangingPunct="1">
              <a:buClr>
                <a:srgbClr val="000000"/>
              </a:buClr>
            </a:pPr>
            <a:r>
              <a:rPr lang="zh-CN" altLang="en-US" dirty="0">
                <a:solidFill>
                  <a:schemeClr val="accent1"/>
                </a:solidFill>
                <a:latin typeface="微软雅黑" panose="020B0503020204020204" pitchFamily="34" charset="-122"/>
                <a:ea typeface="微软雅黑" panose="020B0503020204020204" pitchFamily="34" charset="-122"/>
                <a:cs typeface="Arial Unicode MS" panose="020B0604020202020204" pitchFamily="34" charset="-122"/>
              </a:rPr>
              <a:t>数据来源</a:t>
            </a:r>
            <a:r>
              <a:rPr lang="en-GB" altLang="zh-CN" dirty="0">
                <a:solidFill>
                  <a:schemeClr val="accent1"/>
                </a:solidFill>
                <a:latin typeface="微软雅黑" panose="020B0503020204020204" pitchFamily="34" charset="-122"/>
                <a:ea typeface="微软雅黑" panose="020B0503020204020204" pitchFamily="34" charset="-122"/>
                <a:cs typeface="Arial Unicode MS" panose="020B0604020202020204" pitchFamily="34" charset="-122"/>
              </a:rPr>
              <a:t>: CEIC</a:t>
            </a:r>
            <a:r>
              <a:rPr lang="zh-CN" altLang="en-US" dirty="0">
                <a:solidFill>
                  <a:schemeClr val="accent1"/>
                </a:solidFill>
                <a:latin typeface="微软雅黑" panose="020B0503020204020204" pitchFamily="34" charset="-122"/>
                <a:ea typeface="微软雅黑" panose="020B0503020204020204" pitchFamily="34" charset="-122"/>
                <a:cs typeface="Arial Unicode MS" panose="020B0604020202020204" pitchFamily="34" charset="-122"/>
              </a:rPr>
              <a:t>和野村</a:t>
            </a:r>
            <a:r>
              <a:rPr lang="zh-CN" altLang="en-US" dirty="0" smtClean="0">
                <a:solidFill>
                  <a:schemeClr val="accent1"/>
                </a:solidFill>
                <a:latin typeface="微软雅黑" panose="020B0503020204020204" pitchFamily="34" charset="-122"/>
                <a:ea typeface="微软雅黑" panose="020B0503020204020204" pitchFamily="34" charset="-122"/>
                <a:cs typeface="Arial Unicode MS" panose="020B0604020202020204" pitchFamily="34" charset="-122"/>
              </a:rPr>
              <a:t>国际</a:t>
            </a:r>
            <a:endParaRPr lang="zh-CN" altLang="en-GB" dirty="0">
              <a:solidFill>
                <a:schemeClr val="accent1"/>
              </a:solidFill>
              <a:latin typeface="微软雅黑" panose="020B0503020204020204" pitchFamily="34" charset="-122"/>
              <a:ea typeface="微软雅黑" panose="020B0503020204020204" pitchFamily="34" charset="-122"/>
              <a:cs typeface="Arial Unicode MS" panose="020B0604020202020204" pitchFamily="34" charset="-122"/>
            </a:endParaRPr>
          </a:p>
        </p:txBody>
      </p:sp>
    </p:spTree>
    <p:extLst>
      <p:ext uri="{BB962C8B-B14F-4D97-AF65-F5344CB8AC3E}">
        <p14:creationId xmlns:p14="http://schemas.microsoft.com/office/powerpoint/2010/main" val="76594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专栏讨论：人民币国际化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lvl="1" indent="0">
              <a:lnSpc>
                <a:spcPct val="110000"/>
              </a:lnSpc>
              <a:spcBef>
                <a:spcPts val="1800"/>
              </a:spcBef>
              <a:buNone/>
            </a:pPr>
            <a:r>
              <a:rPr lang="zh-CN" altLang="en-US" sz="2800" dirty="0" smtClean="0">
                <a:solidFill>
                  <a:schemeClr val="accent1"/>
                </a:solidFill>
                <a:latin typeface="微软雅黑" panose="020B0503020204020204" pitchFamily="34" charset="-122"/>
                <a:ea typeface="微软雅黑" panose="020B0503020204020204" pitchFamily="34" charset="-122"/>
              </a:rPr>
              <a:t>人民币</a:t>
            </a:r>
            <a:r>
              <a:rPr lang="zh-CN" altLang="en-US" sz="2800" dirty="0">
                <a:solidFill>
                  <a:schemeClr val="accent1"/>
                </a:solidFill>
                <a:latin typeface="微软雅黑" panose="020B0503020204020204" pitchFamily="34" charset="-122"/>
                <a:ea typeface="微软雅黑" panose="020B0503020204020204" pitchFamily="34" charset="-122"/>
              </a:rPr>
              <a:t>国际化进程</a:t>
            </a:r>
            <a:r>
              <a:rPr lang="zh-CN" altLang="en-US" sz="2800" dirty="0" smtClean="0">
                <a:solidFill>
                  <a:schemeClr val="accent1"/>
                </a:solidFill>
                <a:latin typeface="微软雅黑" panose="020B0503020204020204" pitchFamily="34" charset="-122"/>
                <a:ea typeface="微软雅黑" panose="020B0503020204020204" pitchFamily="34" charset="-122"/>
              </a:rPr>
              <a:t>：</a:t>
            </a:r>
            <a:endParaRPr lang="en-US" altLang="zh-CN" sz="2400" dirty="0" smtClean="0">
              <a:latin typeface="微软雅黑" panose="020B0503020204020204" pitchFamily="34" charset="-122"/>
              <a:ea typeface="微软雅黑" panose="020B0503020204020204" pitchFamily="34" charset="-122"/>
            </a:endParaRPr>
          </a:p>
          <a:p>
            <a:pPr lvl="1" indent="-457200">
              <a:lnSpc>
                <a:spcPct val="130000"/>
              </a:lnSpc>
              <a:spcBef>
                <a:spcPts val="1800"/>
              </a:spcBef>
              <a:buFont typeface="+mj-lt"/>
              <a:buAutoNum type="arabicPeriod"/>
            </a:pPr>
            <a:r>
              <a:rPr lang="zh-CN" altLang="en-US" sz="2400" dirty="0">
                <a:latin typeface="微软雅黑" panose="020B0503020204020204" pitchFamily="34" charset="-122"/>
                <a:ea typeface="微软雅黑" panose="020B0503020204020204" pitchFamily="34" charset="-122"/>
              </a:rPr>
              <a:t>跨境贸易人民币结算金额高速增长 </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249451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800" dirty="0"/>
              <a:t>跨境人民币结算规模高速增长（单位：亿元</a:t>
            </a:r>
            <a:r>
              <a:rPr lang="zh-CN" altLang="en-US" sz="2800" dirty="0" smtClean="0"/>
              <a:t>）</a:t>
            </a:r>
            <a:endParaRPr lang="zh-CN" altLang="en-US" sz="2800" dirty="0"/>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graphicFrame>
        <p:nvGraphicFramePr>
          <p:cNvPr id="3" name="Object 2"/>
          <p:cNvGraphicFramePr>
            <a:graphicFrameLocks noGrp="1" noChangeAspect="1"/>
          </p:cNvGraphicFramePr>
          <p:nvPr>
            <p:ph idx="1"/>
            <p:extLst>
              <p:ext uri="{D42A27DB-BD31-4B8C-83A1-F6EECF244321}">
                <p14:modId xmlns:p14="http://schemas.microsoft.com/office/powerpoint/2010/main" val="1657654949"/>
              </p:ext>
            </p:extLst>
          </p:nvPr>
        </p:nvGraphicFramePr>
        <p:xfrm>
          <a:off x="43839" y="1745318"/>
          <a:ext cx="8933716" cy="3620028"/>
        </p:xfrm>
        <a:graphic>
          <a:graphicData uri="http://schemas.openxmlformats.org/drawingml/2006/chart">
            <c:chart xmlns:c="http://schemas.openxmlformats.org/drawingml/2006/chart" xmlns:r="http://schemas.openxmlformats.org/officeDocument/2006/relationships" r:id="rId3"/>
          </a:graphicData>
        </a:graphic>
      </p:graphicFrame>
      <p:sp>
        <p:nvSpPr>
          <p:cNvPr id="4" name="矩形 3"/>
          <p:cNvSpPr/>
          <p:nvPr/>
        </p:nvSpPr>
        <p:spPr>
          <a:xfrm>
            <a:off x="457201" y="5608261"/>
            <a:ext cx="6821944" cy="341632"/>
          </a:xfrm>
          <a:prstGeom prst="rect">
            <a:avLst/>
          </a:prstGeom>
        </p:spPr>
        <p:txBody>
          <a:bodyPr wrap="square">
            <a:spAutoFit/>
          </a:bodyPr>
          <a:lstStyle/>
          <a:p>
            <a:pPr>
              <a:lnSpc>
                <a:spcPct val="90000"/>
              </a:lnSpc>
            </a:pPr>
            <a:r>
              <a:rPr lang="zh-CN" altLang="en-US" dirty="0">
                <a:solidFill>
                  <a:schemeClr val="accent1"/>
                </a:solidFill>
                <a:latin typeface="微软雅黑" panose="020B0503020204020204" pitchFamily="34" charset="-122"/>
                <a:ea typeface="微软雅黑" panose="020B0503020204020204" pitchFamily="34" charset="-122"/>
              </a:rPr>
              <a:t>资料来源：中国人民银行各季度</a:t>
            </a:r>
            <a:r>
              <a:rPr lang="en-US" altLang="zh-CN" dirty="0">
                <a:solidFill>
                  <a:schemeClr val="accent1"/>
                </a:solidFill>
                <a:latin typeface="微软雅黑" panose="020B0503020204020204" pitchFamily="34" charset="-122"/>
                <a:ea typeface="微软雅黑" panose="020B0503020204020204" pitchFamily="34" charset="-122"/>
              </a:rPr>
              <a:t>《</a:t>
            </a:r>
            <a:r>
              <a:rPr lang="zh-CN" altLang="en-US" dirty="0">
                <a:solidFill>
                  <a:schemeClr val="accent1"/>
                </a:solidFill>
                <a:latin typeface="微软雅黑" panose="020B0503020204020204" pitchFamily="34" charset="-122"/>
                <a:ea typeface="微软雅黑" panose="020B0503020204020204" pitchFamily="34" charset="-122"/>
              </a:rPr>
              <a:t>中国货币政策执行报告</a:t>
            </a:r>
            <a:r>
              <a:rPr lang="en-US" altLang="zh-CN" dirty="0">
                <a:solidFill>
                  <a:schemeClr val="accent1"/>
                </a:solidFill>
                <a:latin typeface="微软雅黑" panose="020B0503020204020204" pitchFamily="34" charset="-122"/>
                <a:ea typeface="微软雅黑" panose="020B0503020204020204" pitchFamily="34" charset="-122"/>
              </a:rPr>
              <a:t>》</a:t>
            </a:r>
            <a:endParaRPr lang="zh-CN" altLang="en-US" dirty="0">
              <a:solidFill>
                <a:schemeClr val="accent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81915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专栏讨论：人民币国际化</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lvl="1" indent="0">
              <a:lnSpc>
                <a:spcPct val="110000"/>
              </a:lnSpc>
              <a:spcBef>
                <a:spcPts val="1800"/>
              </a:spcBef>
              <a:buNone/>
            </a:pPr>
            <a:r>
              <a:rPr lang="zh-CN" altLang="en-US" sz="2800" dirty="0" smtClean="0">
                <a:solidFill>
                  <a:schemeClr val="accent1"/>
                </a:solidFill>
                <a:latin typeface="微软雅黑" panose="020B0503020204020204" pitchFamily="34" charset="-122"/>
                <a:ea typeface="微软雅黑" panose="020B0503020204020204" pitchFamily="34" charset="-122"/>
              </a:rPr>
              <a:t>人民币</a:t>
            </a:r>
            <a:r>
              <a:rPr lang="zh-CN" altLang="en-US" sz="2800" dirty="0">
                <a:solidFill>
                  <a:schemeClr val="accent1"/>
                </a:solidFill>
                <a:latin typeface="微软雅黑" panose="020B0503020204020204" pitchFamily="34" charset="-122"/>
                <a:ea typeface="微软雅黑" panose="020B0503020204020204" pitchFamily="34" charset="-122"/>
              </a:rPr>
              <a:t>国际化进程</a:t>
            </a:r>
            <a:r>
              <a:rPr lang="zh-CN" altLang="en-US" sz="2800" dirty="0" smtClean="0">
                <a:solidFill>
                  <a:schemeClr val="accent1"/>
                </a:solidFill>
                <a:latin typeface="微软雅黑" panose="020B0503020204020204" pitchFamily="34" charset="-122"/>
                <a:ea typeface="微软雅黑" panose="020B0503020204020204" pitchFamily="34" charset="-122"/>
              </a:rPr>
              <a:t>：</a:t>
            </a:r>
            <a:endParaRPr lang="en-US" altLang="zh-CN" sz="2400" dirty="0" smtClean="0">
              <a:latin typeface="微软雅黑" panose="020B0503020204020204" pitchFamily="34" charset="-122"/>
              <a:ea typeface="微软雅黑" panose="020B0503020204020204" pitchFamily="34" charset="-122"/>
            </a:endParaRPr>
          </a:p>
          <a:p>
            <a:pPr lvl="1" indent="-457200">
              <a:lnSpc>
                <a:spcPct val="130000"/>
              </a:lnSpc>
              <a:spcBef>
                <a:spcPts val="1800"/>
              </a:spcBef>
              <a:buFont typeface="+mj-lt"/>
              <a:buAutoNum type="arabicPeriod"/>
            </a:pPr>
            <a:r>
              <a:rPr lang="zh-CN" altLang="en-US" sz="2400" dirty="0">
                <a:latin typeface="微软雅黑" panose="020B0503020204020204" pitchFamily="34" charset="-122"/>
                <a:ea typeface="微软雅黑" panose="020B0503020204020204" pitchFamily="34" charset="-122"/>
              </a:rPr>
              <a:t>跨境贸易人民币结算金额高速增长</a:t>
            </a:r>
          </a:p>
          <a:p>
            <a:pPr lvl="1" indent="-457200">
              <a:lnSpc>
                <a:spcPct val="130000"/>
              </a:lnSpc>
              <a:spcBef>
                <a:spcPts val="1800"/>
              </a:spcBef>
              <a:buFont typeface="+mj-lt"/>
              <a:buAutoNum type="arabicPeriod"/>
            </a:pPr>
            <a:r>
              <a:rPr lang="zh-CN" altLang="en-US" sz="2400" dirty="0">
                <a:latin typeface="微软雅黑" panose="020B0503020204020204" pitchFamily="34" charset="-122"/>
                <a:ea typeface="微软雅黑" panose="020B0503020204020204" pitchFamily="34" charset="-122"/>
              </a:rPr>
              <a:t>货币互换协议规模继续扩大 </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783871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中国人民银行签署的双边本币互换</a:t>
            </a:r>
            <a:r>
              <a:rPr lang="zh-CN" altLang="en-US" dirty="0" smtClean="0"/>
              <a:t>协议</a:t>
            </a:r>
            <a:endParaRPr lang="zh-CN" altLang="en-US" dirty="0"/>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graphicFrame>
        <p:nvGraphicFramePr>
          <p:cNvPr id="6" name="Group 421"/>
          <p:cNvGraphicFramePr>
            <a:graphicFrameLocks noGrp="1"/>
          </p:cNvGraphicFramePr>
          <p:nvPr>
            <p:extLst>
              <p:ext uri="{D42A27DB-BD31-4B8C-83A1-F6EECF244321}">
                <p14:modId xmlns:p14="http://schemas.microsoft.com/office/powerpoint/2010/main" val="2334785045"/>
              </p:ext>
            </p:extLst>
          </p:nvPr>
        </p:nvGraphicFramePr>
        <p:xfrm>
          <a:off x="457201" y="1160771"/>
          <a:ext cx="8337884" cy="5486220"/>
        </p:xfrm>
        <a:graphic>
          <a:graphicData uri="http://schemas.openxmlformats.org/drawingml/2006/table">
            <a:tbl>
              <a:tblPr>
                <a:tableStyleId>{69CF1AB2-1976-4502-BF36-3FF5EA218861}</a:tableStyleId>
              </a:tblPr>
              <a:tblGrid>
                <a:gridCol w="1358628"/>
                <a:gridCol w="2856842"/>
                <a:gridCol w="2419475"/>
                <a:gridCol w="1702939"/>
              </a:tblGrid>
              <a:tr h="29739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u="none" strike="noStrike" cap="none" normalizeH="0" baseline="0" dirty="0" smtClean="0">
                          <a:ln>
                            <a:noFill/>
                          </a:ln>
                          <a:effectLst/>
                          <a:latin typeface="微软雅黑" panose="020B0503020204020204" pitchFamily="34" charset="-122"/>
                          <a:ea typeface="微软雅黑" panose="020B0503020204020204" pitchFamily="34" charset="-122"/>
                        </a:rPr>
                        <a:t>签署时间</a:t>
                      </a:r>
                      <a:endParaRPr kumimoji="0" lang="zh-CN" altLang="en-US" sz="14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u="none" strike="noStrike" cap="none" normalizeH="0" baseline="0" dirty="0" smtClean="0">
                          <a:ln>
                            <a:noFill/>
                          </a:ln>
                          <a:effectLst/>
                          <a:latin typeface="微软雅黑" panose="020B0503020204020204" pitchFamily="34" charset="-122"/>
                          <a:ea typeface="微软雅黑" panose="020B0503020204020204" pitchFamily="34" charset="-122"/>
                        </a:rPr>
                        <a:t>央行</a:t>
                      </a:r>
                      <a:r>
                        <a:rPr kumimoji="0" lang="en-US" altLang="zh-CN" sz="1400" u="none" strike="noStrike" cap="none" normalizeH="0" baseline="0" dirty="0" smtClean="0">
                          <a:ln>
                            <a:noFill/>
                          </a:ln>
                          <a:effectLst/>
                          <a:latin typeface="微软雅黑" panose="020B0503020204020204" pitchFamily="34" charset="-122"/>
                          <a:ea typeface="微软雅黑" panose="020B0503020204020204" pitchFamily="34" charset="-122"/>
                        </a:rPr>
                        <a:t>/</a:t>
                      </a:r>
                      <a:r>
                        <a:rPr kumimoji="0" lang="zh-CN" altLang="en-US" sz="1400" u="none" strike="noStrike" cap="none" normalizeH="0" baseline="0" dirty="0" smtClean="0">
                          <a:ln>
                            <a:noFill/>
                          </a:ln>
                          <a:effectLst/>
                          <a:latin typeface="微软雅黑" panose="020B0503020204020204" pitchFamily="34" charset="-122"/>
                          <a:ea typeface="微软雅黑" panose="020B0503020204020204" pitchFamily="34" charset="-122"/>
                        </a:rPr>
                        <a:t>货币当局</a:t>
                      </a:r>
                      <a:endParaRPr kumimoji="0" lang="zh-CN" altLang="en-US" sz="14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u="none" strike="noStrike" cap="none" normalizeH="0" baseline="0" smtClean="0">
                          <a:ln>
                            <a:noFill/>
                          </a:ln>
                          <a:effectLst/>
                          <a:latin typeface="微软雅黑" panose="020B0503020204020204" pitchFamily="34" charset="-122"/>
                          <a:ea typeface="微软雅黑" panose="020B0503020204020204" pitchFamily="34" charset="-122"/>
                        </a:rPr>
                        <a:t>互换金额（人民币）</a:t>
                      </a:r>
                      <a:endParaRPr kumimoji="0" lang="zh-CN" altLang="en-US"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u="none" strike="noStrike" cap="none" normalizeH="0" baseline="0" smtClean="0">
                          <a:ln>
                            <a:noFill/>
                          </a:ln>
                          <a:effectLst/>
                          <a:latin typeface="微软雅黑" panose="020B0503020204020204" pitchFamily="34" charset="-122"/>
                          <a:ea typeface="微软雅黑" panose="020B0503020204020204" pitchFamily="34" charset="-122"/>
                        </a:rPr>
                        <a:t>备注</a:t>
                      </a:r>
                      <a:endParaRPr kumimoji="0" lang="zh-CN" altLang="en-US"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r>
              <a:tr h="29739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u="none" strike="noStrike" cap="none" normalizeH="0" baseline="0" dirty="0" smtClean="0">
                          <a:ln>
                            <a:noFill/>
                          </a:ln>
                          <a:effectLst/>
                          <a:latin typeface="微软雅黑" panose="020B0503020204020204" pitchFamily="34" charset="-122"/>
                          <a:ea typeface="微软雅黑" panose="020B0503020204020204" pitchFamily="34" charset="-122"/>
                        </a:rPr>
                        <a:t>2008.12.12</a:t>
                      </a:r>
                      <a:endParaRPr kumimoji="0" lang="en-US" altLang="zh-CN" sz="14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u="none" strike="noStrike" cap="none" normalizeH="0" baseline="0" smtClean="0">
                          <a:ln>
                            <a:noFill/>
                          </a:ln>
                          <a:effectLst/>
                          <a:latin typeface="微软雅黑" panose="020B0503020204020204" pitchFamily="34" charset="-122"/>
                          <a:ea typeface="微软雅黑" panose="020B0503020204020204" pitchFamily="34" charset="-122"/>
                        </a:rPr>
                        <a:t>韩国银行</a:t>
                      </a:r>
                      <a:endParaRPr kumimoji="0" lang="zh-CN" altLang="en-US"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u="none" strike="noStrike" cap="none" normalizeH="0" baseline="0" smtClean="0">
                          <a:ln>
                            <a:noFill/>
                          </a:ln>
                          <a:effectLst/>
                          <a:latin typeface="微软雅黑" panose="020B0503020204020204" pitchFamily="34" charset="-122"/>
                          <a:ea typeface="微软雅黑" panose="020B0503020204020204" pitchFamily="34" charset="-122"/>
                        </a:rPr>
                        <a:t>1800</a:t>
                      </a:r>
                      <a:r>
                        <a:rPr kumimoji="0" lang="zh-CN" altLang="en-US" sz="1400" u="none" strike="noStrike" cap="none" normalizeH="0" baseline="0" smtClean="0">
                          <a:ln>
                            <a:noFill/>
                          </a:ln>
                          <a:effectLst/>
                          <a:latin typeface="微软雅黑" panose="020B0503020204020204" pitchFamily="34" charset="-122"/>
                          <a:ea typeface="微软雅黑" panose="020B0503020204020204" pitchFamily="34" charset="-122"/>
                        </a:rPr>
                        <a:t>亿元</a:t>
                      </a:r>
                      <a:endParaRPr kumimoji="0" lang="zh-CN" altLang="en-US"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rowSpan="12">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u="none" strike="noStrike" cap="none" normalizeH="0" baseline="0" dirty="0" smtClean="0">
                          <a:ln>
                            <a:noFill/>
                          </a:ln>
                          <a:effectLst/>
                          <a:latin typeface="微软雅黑" panose="020B0503020204020204" pitchFamily="34" charset="-122"/>
                          <a:ea typeface="微软雅黑" panose="020B0503020204020204" pitchFamily="34" charset="-122"/>
                        </a:rPr>
                        <a:t>有效期三年，经双方同意可以展期。</a:t>
                      </a:r>
                      <a:endParaRPr kumimoji="0" lang="zh-CN" altLang="en-US" sz="14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r>
              <a:tr h="29739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u="none" strike="noStrike" cap="none" normalizeH="0" baseline="0" smtClean="0">
                          <a:ln>
                            <a:noFill/>
                          </a:ln>
                          <a:effectLst/>
                          <a:latin typeface="微软雅黑" panose="020B0503020204020204" pitchFamily="34" charset="-122"/>
                          <a:ea typeface="微软雅黑" panose="020B0503020204020204" pitchFamily="34" charset="-122"/>
                        </a:rPr>
                        <a:t>2009.2.8</a:t>
                      </a:r>
                      <a:endParaRPr kumimoji="0" lang="en-US" altLang="zh-CN"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u="none" strike="noStrike" cap="none" normalizeH="0" baseline="0" smtClean="0">
                          <a:ln>
                            <a:noFill/>
                          </a:ln>
                          <a:effectLst/>
                          <a:latin typeface="微软雅黑" panose="020B0503020204020204" pitchFamily="34" charset="-122"/>
                          <a:ea typeface="微软雅黑" panose="020B0503020204020204" pitchFamily="34" charset="-122"/>
                        </a:rPr>
                        <a:t>马来西亚国民银行</a:t>
                      </a:r>
                      <a:endParaRPr kumimoji="0" lang="zh-CN" altLang="en-US"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u="none" strike="noStrike" cap="none" normalizeH="0" baseline="0" smtClean="0">
                          <a:ln>
                            <a:noFill/>
                          </a:ln>
                          <a:effectLst/>
                          <a:latin typeface="微软雅黑" panose="020B0503020204020204" pitchFamily="34" charset="-122"/>
                          <a:ea typeface="微软雅黑" panose="020B0503020204020204" pitchFamily="34" charset="-122"/>
                        </a:rPr>
                        <a:t>800</a:t>
                      </a:r>
                      <a:r>
                        <a:rPr kumimoji="0" lang="zh-CN" altLang="en-US" sz="1400" u="none" strike="noStrike" cap="none" normalizeH="0" baseline="0" smtClean="0">
                          <a:ln>
                            <a:noFill/>
                          </a:ln>
                          <a:effectLst/>
                          <a:latin typeface="微软雅黑" panose="020B0503020204020204" pitchFamily="34" charset="-122"/>
                          <a:ea typeface="微软雅黑" panose="020B0503020204020204" pitchFamily="34" charset="-122"/>
                        </a:rPr>
                        <a:t>亿元</a:t>
                      </a:r>
                      <a:endParaRPr kumimoji="0" lang="zh-CN" altLang="en-US"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vMerge="1">
                  <a:txBody>
                    <a:bodyPr/>
                    <a:lstStyle/>
                    <a:p>
                      <a:endParaRPr lang="zh-CN" altLang="en-US"/>
                    </a:p>
                  </a:txBody>
                  <a:tcPr/>
                </a:tc>
              </a:tr>
              <a:tr h="29739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u="none" strike="noStrike" cap="none" normalizeH="0" baseline="0" smtClean="0">
                          <a:ln>
                            <a:noFill/>
                          </a:ln>
                          <a:effectLst/>
                          <a:latin typeface="微软雅黑" panose="020B0503020204020204" pitchFamily="34" charset="-122"/>
                          <a:ea typeface="微软雅黑" panose="020B0503020204020204" pitchFamily="34" charset="-122"/>
                        </a:rPr>
                        <a:t>2009.3.11</a:t>
                      </a:r>
                      <a:endParaRPr kumimoji="0" lang="en-US" altLang="zh-CN"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u="none" strike="noStrike" cap="none" normalizeH="0" baseline="0" smtClean="0">
                          <a:ln>
                            <a:noFill/>
                          </a:ln>
                          <a:effectLst/>
                          <a:latin typeface="微软雅黑" panose="020B0503020204020204" pitchFamily="34" charset="-122"/>
                          <a:ea typeface="微软雅黑" panose="020B0503020204020204" pitchFamily="34" charset="-122"/>
                        </a:rPr>
                        <a:t>白俄罗斯共和国国家银行</a:t>
                      </a:r>
                      <a:endParaRPr kumimoji="0" lang="zh-CN" altLang="en-US"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u="none" strike="noStrike" cap="none" normalizeH="0" baseline="0" smtClean="0">
                          <a:ln>
                            <a:noFill/>
                          </a:ln>
                          <a:effectLst/>
                          <a:latin typeface="微软雅黑" panose="020B0503020204020204" pitchFamily="34" charset="-122"/>
                          <a:ea typeface="微软雅黑" panose="020B0503020204020204" pitchFamily="34" charset="-122"/>
                        </a:rPr>
                        <a:t>200</a:t>
                      </a:r>
                      <a:r>
                        <a:rPr kumimoji="0" lang="zh-CN" altLang="en-US" sz="1400" u="none" strike="noStrike" cap="none" normalizeH="0" baseline="0" smtClean="0">
                          <a:ln>
                            <a:noFill/>
                          </a:ln>
                          <a:effectLst/>
                          <a:latin typeface="微软雅黑" panose="020B0503020204020204" pitchFamily="34" charset="-122"/>
                          <a:ea typeface="微软雅黑" panose="020B0503020204020204" pitchFamily="34" charset="-122"/>
                        </a:rPr>
                        <a:t>亿元</a:t>
                      </a:r>
                      <a:endParaRPr kumimoji="0" lang="zh-CN" altLang="en-US"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vMerge="1">
                  <a:txBody>
                    <a:bodyPr/>
                    <a:lstStyle/>
                    <a:p>
                      <a:endParaRPr lang="zh-CN" altLang="en-US"/>
                    </a:p>
                  </a:txBody>
                  <a:tcPr/>
                </a:tc>
              </a:tr>
              <a:tr h="29739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u="none" strike="noStrike" cap="none" normalizeH="0" baseline="0" smtClean="0">
                          <a:ln>
                            <a:noFill/>
                          </a:ln>
                          <a:effectLst/>
                          <a:latin typeface="微软雅黑" panose="020B0503020204020204" pitchFamily="34" charset="-122"/>
                          <a:ea typeface="微软雅黑" panose="020B0503020204020204" pitchFamily="34" charset="-122"/>
                        </a:rPr>
                        <a:t>2009.3.23</a:t>
                      </a:r>
                      <a:endParaRPr kumimoji="0" lang="en-US" altLang="zh-CN"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u="none" strike="noStrike" cap="none" normalizeH="0" baseline="0" smtClean="0">
                          <a:ln>
                            <a:noFill/>
                          </a:ln>
                          <a:effectLst/>
                          <a:latin typeface="微软雅黑" panose="020B0503020204020204" pitchFamily="34" charset="-122"/>
                          <a:ea typeface="微软雅黑" panose="020B0503020204020204" pitchFamily="34" charset="-122"/>
                        </a:rPr>
                        <a:t>印度尼西亚银行</a:t>
                      </a:r>
                      <a:endParaRPr kumimoji="0" lang="zh-CN" altLang="en-US"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u="none" strike="noStrike" cap="none" normalizeH="0" baseline="0" smtClean="0">
                          <a:ln>
                            <a:noFill/>
                          </a:ln>
                          <a:effectLst/>
                          <a:latin typeface="微软雅黑" panose="020B0503020204020204" pitchFamily="34" charset="-122"/>
                          <a:ea typeface="微软雅黑" panose="020B0503020204020204" pitchFamily="34" charset="-122"/>
                        </a:rPr>
                        <a:t>1000</a:t>
                      </a:r>
                      <a:r>
                        <a:rPr kumimoji="0" lang="zh-CN" altLang="en-US" sz="1400" u="none" strike="noStrike" cap="none" normalizeH="0" baseline="0" smtClean="0">
                          <a:ln>
                            <a:noFill/>
                          </a:ln>
                          <a:effectLst/>
                          <a:latin typeface="微软雅黑" panose="020B0503020204020204" pitchFamily="34" charset="-122"/>
                          <a:ea typeface="微软雅黑" panose="020B0503020204020204" pitchFamily="34" charset="-122"/>
                        </a:rPr>
                        <a:t>亿元</a:t>
                      </a:r>
                      <a:endParaRPr kumimoji="0" lang="zh-CN" altLang="en-US"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vMerge="1">
                  <a:txBody>
                    <a:bodyPr/>
                    <a:lstStyle/>
                    <a:p>
                      <a:endParaRPr lang="zh-CN" altLang="en-US"/>
                    </a:p>
                  </a:txBody>
                  <a:tcPr/>
                </a:tc>
              </a:tr>
              <a:tr h="29739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u="none" strike="noStrike" cap="none" normalizeH="0" baseline="0" smtClean="0">
                          <a:ln>
                            <a:noFill/>
                          </a:ln>
                          <a:effectLst/>
                          <a:latin typeface="微软雅黑" panose="020B0503020204020204" pitchFamily="34" charset="-122"/>
                          <a:ea typeface="微软雅黑" panose="020B0503020204020204" pitchFamily="34" charset="-122"/>
                        </a:rPr>
                        <a:t>2009.4.2</a:t>
                      </a:r>
                      <a:endParaRPr kumimoji="0" lang="en-US" altLang="zh-CN"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u="none" strike="noStrike" cap="none" normalizeH="0" baseline="0" smtClean="0">
                          <a:ln>
                            <a:noFill/>
                          </a:ln>
                          <a:effectLst/>
                          <a:latin typeface="微软雅黑" panose="020B0503020204020204" pitchFamily="34" charset="-122"/>
                          <a:ea typeface="微软雅黑" panose="020B0503020204020204" pitchFamily="34" charset="-122"/>
                        </a:rPr>
                        <a:t>阿根廷中央银行</a:t>
                      </a:r>
                      <a:endParaRPr kumimoji="0" lang="zh-CN" altLang="en-US"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u="none" strike="noStrike" cap="none" normalizeH="0" baseline="0" smtClean="0">
                          <a:ln>
                            <a:noFill/>
                          </a:ln>
                          <a:effectLst/>
                          <a:latin typeface="微软雅黑" panose="020B0503020204020204" pitchFamily="34" charset="-122"/>
                          <a:ea typeface="微软雅黑" panose="020B0503020204020204" pitchFamily="34" charset="-122"/>
                        </a:rPr>
                        <a:t>700</a:t>
                      </a:r>
                      <a:r>
                        <a:rPr kumimoji="0" lang="zh-CN" altLang="en-US" sz="1400" u="none" strike="noStrike" cap="none" normalizeH="0" baseline="0" smtClean="0">
                          <a:ln>
                            <a:noFill/>
                          </a:ln>
                          <a:effectLst/>
                          <a:latin typeface="微软雅黑" panose="020B0503020204020204" pitchFamily="34" charset="-122"/>
                          <a:ea typeface="微软雅黑" panose="020B0503020204020204" pitchFamily="34" charset="-122"/>
                        </a:rPr>
                        <a:t>亿元</a:t>
                      </a:r>
                      <a:endParaRPr kumimoji="0" lang="zh-CN" altLang="en-US"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vMerge="1">
                  <a:txBody>
                    <a:bodyPr/>
                    <a:lstStyle/>
                    <a:p>
                      <a:endParaRPr lang="zh-CN" altLang="en-US"/>
                    </a:p>
                  </a:txBody>
                  <a:tcPr/>
                </a:tc>
              </a:tr>
              <a:tr h="29739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u="none" strike="noStrike" cap="none" normalizeH="0" baseline="0" smtClean="0">
                          <a:ln>
                            <a:noFill/>
                          </a:ln>
                          <a:effectLst/>
                          <a:latin typeface="微软雅黑" panose="020B0503020204020204" pitchFamily="34" charset="-122"/>
                          <a:ea typeface="微软雅黑" panose="020B0503020204020204" pitchFamily="34" charset="-122"/>
                        </a:rPr>
                        <a:t>2010.6.9</a:t>
                      </a:r>
                      <a:endParaRPr kumimoji="0" lang="en-US" altLang="zh-CN"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u="none" strike="noStrike" cap="none" normalizeH="0" baseline="0" smtClean="0">
                          <a:ln>
                            <a:noFill/>
                          </a:ln>
                          <a:effectLst/>
                          <a:latin typeface="微软雅黑" panose="020B0503020204020204" pitchFamily="34" charset="-122"/>
                          <a:ea typeface="微软雅黑" panose="020B0503020204020204" pitchFamily="34" charset="-122"/>
                        </a:rPr>
                        <a:t>冰岛中央银行</a:t>
                      </a:r>
                      <a:endParaRPr kumimoji="0" lang="zh-CN" altLang="en-US"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u="none" strike="noStrike" cap="none" normalizeH="0" baseline="0" smtClean="0">
                          <a:ln>
                            <a:noFill/>
                          </a:ln>
                          <a:effectLst/>
                          <a:latin typeface="微软雅黑" panose="020B0503020204020204" pitchFamily="34" charset="-122"/>
                          <a:ea typeface="微软雅黑" panose="020B0503020204020204" pitchFamily="34" charset="-122"/>
                        </a:rPr>
                        <a:t>35</a:t>
                      </a:r>
                      <a:r>
                        <a:rPr kumimoji="0" lang="zh-CN" altLang="en-US" sz="1400" u="none" strike="noStrike" cap="none" normalizeH="0" baseline="0" smtClean="0">
                          <a:ln>
                            <a:noFill/>
                          </a:ln>
                          <a:effectLst/>
                          <a:latin typeface="微软雅黑" panose="020B0503020204020204" pitchFamily="34" charset="-122"/>
                          <a:ea typeface="微软雅黑" panose="020B0503020204020204" pitchFamily="34" charset="-122"/>
                        </a:rPr>
                        <a:t>亿元</a:t>
                      </a:r>
                      <a:endParaRPr kumimoji="0" lang="zh-CN" altLang="en-US"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vMerge="1">
                  <a:txBody>
                    <a:bodyPr/>
                    <a:lstStyle/>
                    <a:p>
                      <a:endParaRPr lang="zh-CN" altLang="en-US"/>
                    </a:p>
                  </a:txBody>
                  <a:tcPr/>
                </a:tc>
              </a:tr>
              <a:tr h="29739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u="none" strike="noStrike" cap="none" normalizeH="0" baseline="0" smtClean="0">
                          <a:ln>
                            <a:noFill/>
                          </a:ln>
                          <a:effectLst/>
                          <a:latin typeface="微软雅黑" panose="020B0503020204020204" pitchFamily="34" charset="-122"/>
                          <a:ea typeface="微软雅黑" panose="020B0503020204020204" pitchFamily="34" charset="-122"/>
                        </a:rPr>
                        <a:t>2010.7.23</a:t>
                      </a:r>
                      <a:endParaRPr kumimoji="0" lang="en-US" altLang="zh-CN"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u="none" strike="noStrike" cap="none" normalizeH="0" baseline="0" smtClean="0">
                          <a:ln>
                            <a:noFill/>
                          </a:ln>
                          <a:effectLst/>
                          <a:latin typeface="微软雅黑" panose="020B0503020204020204" pitchFamily="34" charset="-122"/>
                          <a:ea typeface="微软雅黑" panose="020B0503020204020204" pitchFamily="34" charset="-122"/>
                        </a:rPr>
                        <a:t>新加坡金融管理局</a:t>
                      </a:r>
                      <a:endParaRPr kumimoji="0" lang="zh-CN" altLang="en-US"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u="none" strike="noStrike" cap="none" normalizeH="0" baseline="0" dirty="0" smtClean="0">
                          <a:ln>
                            <a:noFill/>
                          </a:ln>
                          <a:effectLst/>
                          <a:latin typeface="微软雅黑" panose="020B0503020204020204" pitchFamily="34" charset="-122"/>
                          <a:ea typeface="微软雅黑" panose="020B0503020204020204" pitchFamily="34" charset="-122"/>
                        </a:rPr>
                        <a:t>1500</a:t>
                      </a:r>
                      <a:r>
                        <a:rPr kumimoji="0" lang="zh-CN" altLang="en-US" sz="1400" u="none" strike="noStrike" cap="none" normalizeH="0" baseline="0" dirty="0" smtClean="0">
                          <a:ln>
                            <a:noFill/>
                          </a:ln>
                          <a:effectLst/>
                          <a:latin typeface="微软雅黑" panose="020B0503020204020204" pitchFamily="34" charset="-122"/>
                          <a:ea typeface="微软雅黑" panose="020B0503020204020204" pitchFamily="34" charset="-122"/>
                        </a:rPr>
                        <a:t>亿元</a:t>
                      </a:r>
                      <a:endParaRPr kumimoji="0" lang="zh-CN" altLang="en-US" sz="14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vMerge="1">
                  <a:txBody>
                    <a:bodyPr/>
                    <a:lstStyle/>
                    <a:p>
                      <a:endParaRPr lang="zh-CN" altLang="en-US"/>
                    </a:p>
                  </a:txBody>
                  <a:tcPr/>
                </a:tc>
              </a:tr>
              <a:tr h="29739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u="none" strike="noStrike" cap="none" normalizeH="0" baseline="0" smtClean="0">
                          <a:ln>
                            <a:noFill/>
                          </a:ln>
                          <a:effectLst/>
                          <a:latin typeface="微软雅黑" panose="020B0503020204020204" pitchFamily="34" charset="-122"/>
                          <a:ea typeface="微软雅黑" panose="020B0503020204020204" pitchFamily="34" charset="-122"/>
                        </a:rPr>
                        <a:t>2011.4.18</a:t>
                      </a:r>
                      <a:endParaRPr kumimoji="0" lang="en-US" altLang="zh-CN"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u="none" strike="noStrike" cap="none" normalizeH="0" baseline="0" smtClean="0">
                          <a:ln>
                            <a:noFill/>
                          </a:ln>
                          <a:effectLst/>
                          <a:latin typeface="微软雅黑" panose="020B0503020204020204" pitchFamily="34" charset="-122"/>
                          <a:ea typeface="微软雅黑" panose="020B0503020204020204" pitchFamily="34" charset="-122"/>
                        </a:rPr>
                        <a:t>新西兰储备银行</a:t>
                      </a:r>
                      <a:endParaRPr kumimoji="0" lang="zh-CN" altLang="en-US"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u="none" strike="noStrike" cap="none" normalizeH="0" baseline="0" dirty="0" smtClean="0">
                          <a:ln>
                            <a:noFill/>
                          </a:ln>
                          <a:effectLst/>
                          <a:latin typeface="微软雅黑" panose="020B0503020204020204" pitchFamily="34" charset="-122"/>
                          <a:ea typeface="微软雅黑" panose="020B0503020204020204" pitchFamily="34" charset="-122"/>
                        </a:rPr>
                        <a:t>250</a:t>
                      </a:r>
                      <a:r>
                        <a:rPr kumimoji="0" lang="zh-CN" altLang="en-US" sz="1400" u="none" strike="noStrike" cap="none" normalizeH="0" baseline="0" dirty="0" smtClean="0">
                          <a:ln>
                            <a:noFill/>
                          </a:ln>
                          <a:effectLst/>
                          <a:latin typeface="微软雅黑" panose="020B0503020204020204" pitchFamily="34" charset="-122"/>
                          <a:ea typeface="微软雅黑" panose="020B0503020204020204" pitchFamily="34" charset="-122"/>
                        </a:rPr>
                        <a:t>亿元</a:t>
                      </a:r>
                      <a:endParaRPr kumimoji="0" lang="zh-CN" altLang="en-US" sz="14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vMerge="1">
                  <a:txBody>
                    <a:bodyPr/>
                    <a:lstStyle/>
                    <a:p>
                      <a:endParaRPr lang="zh-CN" altLang="en-US"/>
                    </a:p>
                  </a:txBody>
                  <a:tcPr/>
                </a:tc>
              </a:tr>
              <a:tr h="29739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u="none" strike="noStrike" cap="none" normalizeH="0" baseline="0" smtClean="0">
                          <a:ln>
                            <a:noFill/>
                          </a:ln>
                          <a:effectLst/>
                          <a:latin typeface="微软雅黑" panose="020B0503020204020204" pitchFamily="34" charset="-122"/>
                          <a:ea typeface="微软雅黑" panose="020B0503020204020204" pitchFamily="34" charset="-122"/>
                        </a:rPr>
                        <a:t>2011.4.19</a:t>
                      </a:r>
                      <a:endParaRPr kumimoji="0" lang="en-US" altLang="zh-CN"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u="none" strike="noStrike" cap="none" normalizeH="0" baseline="0" smtClean="0">
                          <a:ln>
                            <a:noFill/>
                          </a:ln>
                          <a:effectLst/>
                          <a:latin typeface="微软雅黑" panose="020B0503020204020204" pitchFamily="34" charset="-122"/>
                          <a:ea typeface="微软雅黑" panose="020B0503020204020204" pitchFamily="34" charset="-122"/>
                        </a:rPr>
                        <a:t>乌兹别克斯坦共和国中央银行</a:t>
                      </a:r>
                      <a:endParaRPr kumimoji="0" lang="zh-CN" altLang="en-US"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u="none" strike="noStrike" cap="none" normalizeH="0" baseline="0" smtClean="0">
                          <a:ln>
                            <a:noFill/>
                          </a:ln>
                          <a:effectLst/>
                          <a:latin typeface="微软雅黑" panose="020B0503020204020204" pitchFamily="34" charset="-122"/>
                          <a:ea typeface="微软雅黑" panose="020B0503020204020204" pitchFamily="34" charset="-122"/>
                        </a:rPr>
                        <a:t>7</a:t>
                      </a:r>
                      <a:r>
                        <a:rPr kumimoji="0" lang="zh-CN" altLang="en-US" sz="1400" u="none" strike="noStrike" cap="none" normalizeH="0" baseline="0" smtClean="0">
                          <a:ln>
                            <a:noFill/>
                          </a:ln>
                          <a:effectLst/>
                          <a:latin typeface="微软雅黑" panose="020B0503020204020204" pitchFamily="34" charset="-122"/>
                          <a:ea typeface="微软雅黑" panose="020B0503020204020204" pitchFamily="34" charset="-122"/>
                        </a:rPr>
                        <a:t>亿元</a:t>
                      </a:r>
                      <a:endParaRPr kumimoji="0" lang="zh-CN" altLang="en-US"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vMerge="1">
                  <a:txBody>
                    <a:bodyPr/>
                    <a:lstStyle/>
                    <a:p>
                      <a:endParaRPr lang="zh-CN" altLang="en-US"/>
                    </a:p>
                  </a:txBody>
                  <a:tcPr/>
                </a:tc>
              </a:tr>
              <a:tr h="29739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u="none" strike="noStrike" cap="none" normalizeH="0" baseline="0" smtClean="0">
                          <a:ln>
                            <a:noFill/>
                          </a:ln>
                          <a:effectLst/>
                          <a:latin typeface="微软雅黑" panose="020B0503020204020204" pitchFamily="34" charset="-122"/>
                          <a:ea typeface="微软雅黑" panose="020B0503020204020204" pitchFamily="34" charset="-122"/>
                        </a:rPr>
                        <a:t>2011.5.6</a:t>
                      </a:r>
                      <a:endParaRPr kumimoji="0" lang="en-US" altLang="zh-CN"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u="none" strike="noStrike" cap="none" normalizeH="0" baseline="0" smtClean="0">
                          <a:ln>
                            <a:noFill/>
                          </a:ln>
                          <a:effectLst/>
                          <a:latin typeface="微软雅黑" panose="020B0503020204020204" pitchFamily="34" charset="-122"/>
                          <a:ea typeface="微软雅黑" panose="020B0503020204020204" pitchFamily="34" charset="-122"/>
                        </a:rPr>
                        <a:t>蒙古国中央银行</a:t>
                      </a:r>
                      <a:endParaRPr kumimoji="0" lang="zh-CN" altLang="en-US"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u="none" strike="noStrike" cap="none" normalizeH="0" baseline="0" dirty="0" smtClean="0">
                          <a:ln>
                            <a:noFill/>
                          </a:ln>
                          <a:effectLst/>
                          <a:latin typeface="微软雅黑" panose="020B0503020204020204" pitchFamily="34" charset="-122"/>
                          <a:ea typeface="微软雅黑" panose="020B0503020204020204" pitchFamily="34" charset="-122"/>
                        </a:rPr>
                        <a:t>50</a:t>
                      </a:r>
                      <a:r>
                        <a:rPr kumimoji="0" lang="zh-CN" altLang="en-US" sz="1400" u="none" strike="noStrike" cap="none" normalizeH="0" baseline="0" dirty="0" smtClean="0">
                          <a:ln>
                            <a:noFill/>
                          </a:ln>
                          <a:effectLst/>
                          <a:latin typeface="微软雅黑" panose="020B0503020204020204" pitchFamily="34" charset="-122"/>
                          <a:ea typeface="微软雅黑" panose="020B0503020204020204" pitchFamily="34" charset="-122"/>
                        </a:rPr>
                        <a:t>亿元</a:t>
                      </a:r>
                      <a:endParaRPr kumimoji="0" lang="zh-CN" altLang="en-US" sz="14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vMerge="1">
                  <a:txBody>
                    <a:bodyPr/>
                    <a:lstStyle/>
                    <a:p>
                      <a:endParaRPr lang="zh-CN" altLang="en-US"/>
                    </a:p>
                  </a:txBody>
                  <a:tcPr/>
                </a:tc>
              </a:tr>
              <a:tr h="29739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u="none" strike="noStrike" cap="none" normalizeH="0" baseline="0" smtClean="0">
                          <a:ln>
                            <a:noFill/>
                          </a:ln>
                          <a:effectLst/>
                          <a:latin typeface="微软雅黑" panose="020B0503020204020204" pitchFamily="34" charset="-122"/>
                          <a:ea typeface="微软雅黑" panose="020B0503020204020204" pitchFamily="34" charset="-122"/>
                        </a:rPr>
                        <a:t>2011.6.13</a:t>
                      </a:r>
                      <a:endParaRPr kumimoji="0" lang="en-US" altLang="zh-CN"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u="none" strike="noStrike" cap="none" normalizeH="0" baseline="0" smtClean="0">
                          <a:ln>
                            <a:noFill/>
                          </a:ln>
                          <a:effectLst/>
                          <a:latin typeface="微软雅黑" panose="020B0503020204020204" pitchFamily="34" charset="-122"/>
                          <a:ea typeface="微软雅黑" panose="020B0503020204020204" pitchFamily="34" charset="-122"/>
                        </a:rPr>
                        <a:t>哈萨克斯坦共和国国家银行</a:t>
                      </a:r>
                      <a:endParaRPr kumimoji="0" lang="zh-CN" altLang="en-US"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u="none" strike="noStrike" cap="none" normalizeH="0" baseline="0" smtClean="0">
                          <a:ln>
                            <a:noFill/>
                          </a:ln>
                          <a:effectLst/>
                          <a:latin typeface="微软雅黑" panose="020B0503020204020204" pitchFamily="34" charset="-122"/>
                          <a:ea typeface="微软雅黑" panose="020B0503020204020204" pitchFamily="34" charset="-122"/>
                        </a:rPr>
                        <a:t>70</a:t>
                      </a:r>
                      <a:r>
                        <a:rPr kumimoji="0" lang="zh-CN" altLang="en-US" sz="1400" u="none" strike="noStrike" cap="none" normalizeH="0" baseline="0" smtClean="0">
                          <a:ln>
                            <a:noFill/>
                          </a:ln>
                          <a:effectLst/>
                          <a:latin typeface="微软雅黑" panose="020B0503020204020204" pitchFamily="34" charset="-122"/>
                          <a:ea typeface="微软雅黑" panose="020B0503020204020204" pitchFamily="34" charset="-122"/>
                        </a:rPr>
                        <a:t>亿元</a:t>
                      </a:r>
                      <a:endParaRPr kumimoji="0" lang="zh-CN" altLang="en-US"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vMerge="1">
                  <a:txBody>
                    <a:bodyPr/>
                    <a:lstStyle/>
                    <a:p>
                      <a:endParaRPr lang="zh-CN" altLang="en-US"/>
                    </a:p>
                  </a:txBody>
                  <a:tcPr/>
                </a:tc>
              </a:tr>
              <a:tr h="29739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u="none" strike="noStrike" cap="none" normalizeH="0" baseline="0" smtClean="0">
                          <a:ln>
                            <a:noFill/>
                          </a:ln>
                          <a:effectLst/>
                          <a:latin typeface="微软雅黑" panose="020B0503020204020204" pitchFamily="34" charset="-122"/>
                          <a:ea typeface="微软雅黑" panose="020B0503020204020204" pitchFamily="34" charset="-122"/>
                        </a:rPr>
                        <a:t>2009.1.20</a:t>
                      </a:r>
                      <a:endParaRPr kumimoji="0" lang="en-US" altLang="zh-CN"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u="none" strike="noStrike" cap="none" normalizeH="0" baseline="0" smtClean="0">
                          <a:ln>
                            <a:noFill/>
                          </a:ln>
                          <a:effectLst/>
                          <a:latin typeface="微软雅黑" panose="020B0503020204020204" pitchFamily="34" charset="-122"/>
                          <a:ea typeface="微软雅黑" panose="020B0503020204020204" pitchFamily="34" charset="-122"/>
                        </a:rPr>
                        <a:t>中国香港金融管理局</a:t>
                      </a:r>
                      <a:endParaRPr kumimoji="0" lang="zh-CN" altLang="en-US"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u="none" strike="noStrike" cap="none" normalizeH="0" baseline="0" smtClean="0">
                          <a:ln>
                            <a:noFill/>
                          </a:ln>
                          <a:effectLst/>
                          <a:latin typeface="微软雅黑" panose="020B0503020204020204" pitchFamily="34" charset="-122"/>
                          <a:ea typeface="微软雅黑" panose="020B0503020204020204" pitchFamily="34" charset="-122"/>
                        </a:rPr>
                        <a:t>2000</a:t>
                      </a:r>
                      <a:r>
                        <a:rPr kumimoji="0" lang="zh-CN" altLang="en-US" sz="1400" u="none" strike="noStrike" cap="none" normalizeH="0" baseline="0" smtClean="0">
                          <a:ln>
                            <a:noFill/>
                          </a:ln>
                          <a:effectLst/>
                          <a:latin typeface="微软雅黑" panose="020B0503020204020204" pitchFamily="34" charset="-122"/>
                          <a:ea typeface="微软雅黑" panose="020B0503020204020204" pitchFamily="34" charset="-122"/>
                        </a:rPr>
                        <a:t>亿元</a:t>
                      </a:r>
                      <a:endParaRPr kumimoji="0" lang="zh-CN" altLang="en-US"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vMerge="1">
                  <a:txBody>
                    <a:bodyPr/>
                    <a:lstStyle/>
                    <a:p>
                      <a:endParaRPr lang="zh-CN" altLang="en-US"/>
                    </a:p>
                  </a:txBody>
                  <a:tcPr/>
                </a:tc>
              </a:tr>
              <a:tr h="29739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u="none" strike="noStrike" cap="none" normalizeH="0" baseline="0" smtClean="0">
                          <a:ln>
                            <a:noFill/>
                          </a:ln>
                          <a:effectLst/>
                          <a:latin typeface="微软雅黑" panose="020B0503020204020204" pitchFamily="34" charset="-122"/>
                          <a:ea typeface="微软雅黑" panose="020B0503020204020204" pitchFamily="34" charset="-122"/>
                        </a:rPr>
                        <a:t>2011.10.26</a:t>
                      </a:r>
                      <a:endParaRPr kumimoji="0" lang="en-US" altLang="zh-CN"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u="none" strike="noStrike" cap="none" normalizeH="0" baseline="0" smtClean="0">
                          <a:ln>
                            <a:noFill/>
                          </a:ln>
                          <a:effectLst/>
                          <a:latin typeface="微软雅黑" panose="020B0503020204020204" pitchFamily="34" charset="-122"/>
                          <a:ea typeface="微软雅黑" panose="020B0503020204020204" pitchFamily="34" charset="-122"/>
                        </a:rPr>
                        <a:t>韩国银行</a:t>
                      </a:r>
                      <a:endParaRPr kumimoji="0" lang="zh-CN" altLang="en-US"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u="none" strike="noStrike" cap="none" normalizeH="0" baseline="0" smtClean="0">
                          <a:ln>
                            <a:noFill/>
                          </a:ln>
                          <a:effectLst/>
                          <a:latin typeface="微软雅黑" panose="020B0503020204020204" pitchFamily="34" charset="-122"/>
                          <a:ea typeface="微软雅黑" panose="020B0503020204020204" pitchFamily="34" charset="-122"/>
                        </a:rPr>
                        <a:t>3600</a:t>
                      </a:r>
                      <a:r>
                        <a:rPr kumimoji="0" lang="zh-CN" altLang="en-US" sz="1400" u="none" strike="noStrike" cap="none" normalizeH="0" baseline="0" smtClean="0">
                          <a:ln>
                            <a:noFill/>
                          </a:ln>
                          <a:effectLst/>
                          <a:latin typeface="微软雅黑" panose="020B0503020204020204" pitchFamily="34" charset="-122"/>
                          <a:ea typeface="微软雅黑" panose="020B0503020204020204" pitchFamily="34" charset="-122"/>
                        </a:rPr>
                        <a:t>亿元</a:t>
                      </a:r>
                      <a:endParaRPr kumimoji="0" lang="zh-CN" altLang="en-US"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rowSpan="2">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u="none" strike="noStrike" cap="none" normalizeH="0" baseline="0" smtClean="0">
                          <a:ln>
                            <a:noFill/>
                          </a:ln>
                          <a:effectLst/>
                          <a:latin typeface="微软雅黑" panose="020B0503020204020204" pitchFamily="34" charset="-122"/>
                          <a:ea typeface="微软雅黑" panose="020B0503020204020204" pitchFamily="34" charset="-122"/>
                        </a:rPr>
                        <a:t>续签并扩大一倍互换规模。</a:t>
                      </a:r>
                      <a:endParaRPr kumimoji="0" lang="zh-CN" altLang="en-US"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r>
              <a:tr h="29739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u="none" strike="noStrike" cap="none" normalizeH="0" baseline="0" smtClean="0">
                          <a:ln>
                            <a:noFill/>
                          </a:ln>
                          <a:effectLst/>
                          <a:latin typeface="微软雅黑" panose="020B0503020204020204" pitchFamily="34" charset="-122"/>
                          <a:ea typeface="微软雅黑" panose="020B0503020204020204" pitchFamily="34" charset="-122"/>
                        </a:rPr>
                        <a:t>2011.11.22</a:t>
                      </a:r>
                      <a:endParaRPr kumimoji="0" lang="en-US" altLang="zh-CN"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u="none" strike="noStrike" cap="none" normalizeH="0" baseline="0" smtClean="0">
                          <a:ln>
                            <a:noFill/>
                          </a:ln>
                          <a:effectLst/>
                          <a:latin typeface="微软雅黑" panose="020B0503020204020204" pitchFamily="34" charset="-122"/>
                          <a:ea typeface="微软雅黑" panose="020B0503020204020204" pitchFamily="34" charset="-122"/>
                        </a:rPr>
                        <a:t>香港金融管理局</a:t>
                      </a:r>
                      <a:endParaRPr kumimoji="0" lang="zh-CN" altLang="en-US"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u="none" strike="noStrike" cap="none" normalizeH="0" baseline="0" smtClean="0">
                          <a:ln>
                            <a:noFill/>
                          </a:ln>
                          <a:effectLst/>
                          <a:latin typeface="微软雅黑" panose="020B0503020204020204" pitchFamily="34" charset="-122"/>
                          <a:ea typeface="微软雅黑" panose="020B0503020204020204" pitchFamily="34" charset="-122"/>
                        </a:rPr>
                        <a:t>4000</a:t>
                      </a:r>
                      <a:r>
                        <a:rPr kumimoji="0" lang="zh-CN" altLang="en-US" sz="1400" u="none" strike="noStrike" cap="none" normalizeH="0" baseline="0" smtClean="0">
                          <a:ln>
                            <a:noFill/>
                          </a:ln>
                          <a:effectLst/>
                          <a:latin typeface="微软雅黑" panose="020B0503020204020204" pitchFamily="34" charset="-122"/>
                          <a:ea typeface="微软雅黑" panose="020B0503020204020204" pitchFamily="34" charset="-122"/>
                        </a:rPr>
                        <a:t>亿元</a:t>
                      </a:r>
                      <a:endParaRPr kumimoji="0" lang="zh-CN" altLang="en-US"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vMerge="1">
                  <a:txBody>
                    <a:bodyPr/>
                    <a:lstStyle/>
                    <a:p>
                      <a:endParaRPr lang="zh-CN" altLang="en-US"/>
                    </a:p>
                  </a:txBody>
                  <a:tcPr/>
                </a:tc>
              </a:tr>
              <a:tr h="29739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u="none" strike="noStrike" cap="none" normalizeH="0" baseline="0" smtClean="0">
                          <a:ln>
                            <a:noFill/>
                          </a:ln>
                          <a:effectLst/>
                          <a:latin typeface="微软雅黑" panose="020B0503020204020204" pitchFamily="34" charset="-122"/>
                          <a:ea typeface="微软雅黑" panose="020B0503020204020204" pitchFamily="34" charset="-122"/>
                        </a:rPr>
                        <a:t>2011.12.22</a:t>
                      </a:r>
                      <a:endParaRPr kumimoji="0" lang="en-US" altLang="zh-CN"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u="none" strike="noStrike" cap="none" normalizeH="0" baseline="0" smtClean="0">
                          <a:ln>
                            <a:noFill/>
                          </a:ln>
                          <a:effectLst/>
                          <a:latin typeface="微软雅黑" panose="020B0503020204020204" pitchFamily="34" charset="-122"/>
                          <a:ea typeface="微软雅黑" panose="020B0503020204020204" pitchFamily="34" charset="-122"/>
                        </a:rPr>
                        <a:t>泰国银行</a:t>
                      </a:r>
                      <a:endParaRPr kumimoji="0" lang="zh-CN" altLang="en-US"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u="none" strike="noStrike" cap="none" normalizeH="0" baseline="0" smtClean="0">
                          <a:ln>
                            <a:noFill/>
                          </a:ln>
                          <a:effectLst/>
                          <a:latin typeface="微软雅黑" panose="020B0503020204020204" pitchFamily="34" charset="-122"/>
                          <a:ea typeface="微软雅黑" panose="020B0503020204020204" pitchFamily="34" charset="-122"/>
                        </a:rPr>
                        <a:t>700</a:t>
                      </a:r>
                      <a:r>
                        <a:rPr kumimoji="0" lang="zh-CN" altLang="en-US" sz="1400" u="none" strike="noStrike" cap="none" normalizeH="0" baseline="0" smtClean="0">
                          <a:ln>
                            <a:noFill/>
                          </a:ln>
                          <a:effectLst/>
                          <a:latin typeface="微软雅黑" panose="020B0503020204020204" pitchFamily="34" charset="-122"/>
                          <a:ea typeface="微软雅黑" panose="020B0503020204020204" pitchFamily="34" charset="-122"/>
                        </a:rPr>
                        <a:t>亿元</a:t>
                      </a:r>
                      <a:endParaRPr kumimoji="0" lang="zh-CN" altLang="en-US"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rowSpan="3">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u="none" strike="noStrike" cap="none" normalizeH="0" baseline="0" dirty="0" smtClean="0">
                          <a:ln>
                            <a:noFill/>
                          </a:ln>
                          <a:effectLst/>
                          <a:latin typeface="微软雅黑" panose="020B0503020204020204" pitchFamily="34" charset="-122"/>
                          <a:ea typeface="微软雅黑" panose="020B0503020204020204" pitchFamily="34" charset="-122"/>
                        </a:rPr>
                        <a:t>有效期三年，经双方同意可以展期。</a:t>
                      </a:r>
                      <a:endParaRPr kumimoji="0" lang="zh-CN" altLang="en-US" sz="14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r>
              <a:tr h="29739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u="none" strike="noStrike" cap="none" normalizeH="0" baseline="0" smtClean="0">
                          <a:ln>
                            <a:noFill/>
                          </a:ln>
                          <a:effectLst/>
                          <a:latin typeface="微软雅黑" panose="020B0503020204020204" pitchFamily="34" charset="-122"/>
                          <a:ea typeface="微软雅黑" panose="020B0503020204020204" pitchFamily="34" charset="-122"/>
                        </a:rPr>
                        <a:t>2011.12.23</a:t>
                      </a:r>
                      <a:endParaRPr kumimoji="0" lang="en-US" altLang="zh-CN"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u="none" strike="noStrike" cap="none" normalizeH="0" baseline="0" smtClean="0">
                          <a:ln>
                            <a:noFill/>
                          </a:ln>
                          <a:effectLst/>
                          <a:latin typeface="微软雅黑" panose="020B0503020204020204" pitchFamily="34" charset="-122"/>
                          <a:ea typeface="微软雅黑" panose="020B0503020204020204" pitchFamily="34" charset="-122"/>
                        </a:rPr>
                        <a:t>巴基斯坦国家银行</a:t>
                      </a:r>
                      <a:endParaRPr kumimoji="0" lang="zh-CN" altLang="en-US"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u="none" strike="noStrike" cap="none" normalizeH="0" baseline="0" smtClean="0">
                          <a:ln>
                            <a:noFill/>
                          </a:ln>
                          <a:effectLst/>
                          <a:latin typeface="微软雅黑" panose="020B0503020204020204" pitchFamily="34" charset="-122"/>
                          <a:ea typeface="微软雅黑" panose="020B0503020204020204" pitchFamily="34" charset="-122"/>
                        </a:rPr>
                        <a:t>100</a:t>
                      </a:r>
                      <a:r>
                        <a:rPr kumimoji="0" lang="zh-CN" altLang="en-US" sz="1400" u="none" strike="noStrike" cap="none" normalizeH="0" baseline="0" smtClean="0">
                          <a:ln>
                            <a:noFill/>
                          </a:ln>
                          <a:effectLst/>
                          <a:latin typeface="微软雅黑" panose="020B0503020204020204" pitchFamily="34" charset="-122"/>
                          <a:ea typeface="微软雅黑" panose="020B0503020204020204" pitchFamily="34" charset="-122"/>
                        </a:rPr>
                        <a:t>亿元</a:t>
                      </a:r>
                      <a:endParaRPr kumimoji="0" lang="zh-CN" altLang="en-US"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vMerge="1">
                  <a:txBody>
                    <a:bodyPr/>
                    <a:lstStyle/>
                    <a:p>
                      <a:endParaRPr lang="zh-CN" altLang="en-US"/>
                    </a:p>
                  </a:txBody>
                  <a:tcPr/>
                </a:tc>
              </a:tr>
              <a:tr h="29739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u="none" strike="noStrike" cap="none" normalizeH="0" baseline="0" smtClean="0">
                          <a:ln>
                            <a:noFill/>
                          </a:ln>
                          <a:effectLst/>
                          <a:latin typeface="微软雅黑" panose="020B0503020204020204" pitchFamily="34" charset="-122"/>
                          <a:ea typeface="微软雅黑" panose="020B0503020204020204" pitchFamily="34" charset="-122"/>
                        </a:rPr>
                        <a:t>2012.1.17</a:t>
                      </a:r>
                      <a:endParaRPr kumimoji="0" lang="en-US" altLang="zh-CN"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u="none" strike="noStrike" cap="none" normalizeH="0" baseline="0" smtClean="0">
                          <a:ln>
                            <a:noFill/>
                          </a:ln>
                          <a:effectLst/>
                          <a:latin typeface="微软雅黑" panose="020B0503020204020204" pitchFamily="34" charset="-122"/>
                          <a:ea typeface="微软雅黑" panose="020B0503020204020204" pitchFamily="34" charset="-122"/>
                        </a:rPr>
                        <a:t>阿联酋中央银行</a:t>
                      </a:r>
                      <a:endParaRPr kumimoji="0" lang="zh-CN" altLang="en-US" sz="1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u="none" strike="noStrike" cap="none" normalizeH="0" baseline="0" dirty="0" smtClean="0">
                          <a:ln>
                            <a:noFill/>
                          </a:ln>
                          <a:effectLst/>
                          <a:latin typeface="微软雅黑" panose="020B0503020204020204" pitchFamily="34" charset="-122"/>
                          <a:ea typeface="微软雅黑" panose="020B0503020204020204" pitchFamily="34" charset="-122"/>
                        </a:rPr>
                        <a:t>350</a:t>
                      </a:r>
                      <a:r>
                        <a:rPr kumimoji="0" lang="zh-CN" altLang="en-US" sz="1400" u="none" strike="noStrike" cap="none" normalizeH="0" baseline="0" dirty="0" smtClean="0">
                          <a:ln>
                            <a:noFill/>
                          </a:ln>
                          <a:effectLst/>
                          <a:latin typeface="微软雅黑" panose="020B0503020204020204" pitchFamily="34" charset="-122"/>
                          <a:ea typeface="微软雅黑" panose="020B0503020204020204" pitchFamily="34" charset="-122"/>
                        </a:rPr>
                        <a:t>亿元</a:t>
                      </a:r>
                      <a:endParaRPr kumimoji="0" lang="zh-CN" altLang="en-US" sz="14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marT="45715" marB="45715" anchor="ctr" horzOverflow="overflow"/>
                </a:tc>
                <a:tc vMerge="1">
                  <a:txBody>
                    <a:bodyPr/>
                    <a:lstStyle/>
                    <a:p>
                      <a:endParaRPr lang="zh-CN" altLang="en-US"/>
                    </a:p>
                  </a:txBody>
                  <a:tcPr/>
                </a:tc>
              </a:tr>
            </a:tbl>
          </a:graphicData>
        </a:graphic>
      </p:graphicFrame>
    </p:spTree>
    <p:extLst>
      <p:ext uri="{BB962C8B-B14F-4D97-AF65-F5344CB8AC3E}">
        <p14:creationId xmlns:p14="http://schemas.microsoft.com/office/powerpoint/2010/main" val="2877493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专栏讨论：人民币国际化</a:t>
            </a:r>
            <a:endParaRPr lang="zh-CN" dirty="0"/>
          </a:p>
        </p:txBody>
      </p:sp>
      <p:sp>
        <p:nvSpPr>
          <p:cNvPr id="3" name="内容占位符 2"/>
          <p:cNvSpPr>
            <a:spLocks noGrp="1"/>
          </p:cNvSpPr>
          <p:nvPr>
            <p:ph idx="1"/>
          </p:nvPr>
        </p:nvSpPr>
        <p:spPr>
          <a:xfrm>
            <a:off x="971550" y="1447799"/>
            <a:ext cx="7200900" cy="4841879"/>
          </a:xfrm>
        </p:spPr>
        <p:txBody>
          <a:bodyPr>
            <a:normAutofit fontScale="92500" lnSpcReduction="20000"/>
          </a:bodyPr>
          <a:lstStyle/>
          <a:p>
            <a:pPr marL="0" lvl="1" indent="0">
              <a:lnSpc>
                <a:spcPct val="110000"/>
              </a:lnSpc>
              <a:spcBef>
                <a:spcPts val="1800"/>
              </a:spcBef>
              <a:buNone/>
            </a:pPr>
            <a:r>
              <a:rPr lang="zh-CN" altLang="en-US" sz="2800" dirty="0" smtClean="0">
                <a:solidFill>
                  <a:schemeClr val="accent1"/>
                </a:solidFill>
                <a:latin typeface="微软雅黑" panose="020B0503020204020204" pitchFamily="34" charset="-122"/>
                <a:ea typeface="微软雅黑" panose="020B0503020204020204" pitchFamily="34" charset="-122"/>
              </a:rPr>
              <a:t>人民币</a:t>
            </a:r>
            <a:r>
              <a:rPr lang="zh-CN" altLang="en-US" sz="2800" dirty="0">
                <a:solidFill>
                  <a:schemeClr val="accent1"/>
                </a:solidFill>
                <a:latin typeface="微软雅黑" panose="020B0503020204020204" pitchFamily="34" charset="-122"/>
                <a:ea typeface="微软雅黑" panose="020B0503020204020204" pitchFamily="34" charset="-122"/>
              </a:rPr>
              <a:t>国际化进程</a:t>
            </a:r>
            <a:r>
              <a:rPr lang="zh-CN" altLang="en-US" sz="2800" dirty="0" smtClean="0">
                <a:solidFill>
                  <a:schemeClr val="accent1"/>
                </a:solidFill>
                <a:latin typeface="微软雅黑" panose="020B0503020204020204" pitchFamily="34" charset="-122"/>
                <a:ea typeface="微软雅黑" panose="020B0503020204020204" pitchFamily="34" charset="-122"/>
              </a:rPr>
              <a:t>：</a:t>
            </a:r>
            <a:endParaRPr lang="en-US" altLang="zh-CN" sz="2400" dirty="0" smtClean="0">
              <a:latin typeface="微软雅黑" panose="020B0503020204020204" pitchFamily="34" charset="-122"/>
              <a:ea typeface="微软雅黑" panose="020B0503020204020204" pitchFamily="34" charset="-122"/>
            </a:endParaRPr>
          </a:p>
          <a:p>
            <a:pPr lvl="1" indent="-457200">
              <a:lnSpc>
                <a:spcPct val="130000"/>
              </a:lnSpc>
              <a:spcBef>
                <a:spcPts val="1800"/>
              </a:spcBef>
              <a:buFont typeface="+mj-lt"/>
              <a:buAutoNum type="arabicPeriod"/>
            </a:pPr>
            <a:r>
              <a:rPr lang="zh-CN" altLang="en-US" sz="2400" dirty="0">
                <a:latin typeface="微软雅黑" panose="020B0503020204020204" pitchFamily="34" charset="-122"/>
                <a:ea typeface="微软雅黑" panose="020B0503020204020204" pitchFamily="34" charset="-122"/>
              </a:rPr>
              <a:t>跨境贸易人民币结算金额高速增长</a:t>
            </a:r>
          </a:p>
          <a:p>
            <a:pPr lvl="1" indent="-457200">
              <a:lnSpc>
                <a:spcPct val="130000"/>
              </a:lnSpc>
              <a:spcBef>
                <a:spcPts val="1800"/>
              </a:spcBef>
              <a:buFont typeface="+mj-lt"/>
              <a:buAutoNum type="arabicPeriod"/>
            </a:pPr>
            <a:r>
              <a:rPr lang="zh-CN" altLang="en-US" sz="2400" dirty="0">
                <a:latin typeface="微软雅黑" panose="020B0503020204020204" pitchFamily="34" charset="-122"/>
                <a:ea typeface="微软雅黑" panose="020B0503020204020204" pitchFamily="34" charset="-122"/>
              </a:rPr>
              <a:t>货币互换协议规模继续扩大 </a:t>
            </a:r>
          </a:p>
          <a:p>
            <a:pPr lvl="1" indent="-457200">
              <a:lnSpc>
                <a:spcPct val="130000"/>
              </a:lnSpc>
              <a:spcBef>
                <a:spcPts val="1800"/>
              </a:spcBef>
              <a:buFont typeface="+mj-lt"/>
              <a:buAutoNum type="arabicPeriod"/>
            </a:pPr>
            <a:r>
              <a:rPr lang="zh-CN" altLang="en-US" sz="2400" dirty="0">
                <a:latin typeface="微软雅黑" panose="020B0503020204020204" pitchFamily="34" charset="-122"/>
                <a:ea typeface="微软雅黑" panose="020B0503020204020204" pitchFamily="34" charset="-122"/>
              </a:rPr>
              <a:t>中国同意一些国家购买中国国债作为其央行的外汇资产</a:t>
            </a:r>
          </a:p>
          <a:p>
            <a:pPr lvl="1" indent="-457200">
              <a:lnSpc>
                <a:spcPct val="130000"/>
              </a:lnSpc>
              <a:spcBef>
                <a:spcPts val="1800"/>
              </a:spcBef>
              <a:buFont typeface="+mj-lt"/>
              <a:buAutoNum type="arabicPeriod"/>
            </a:pPr>
            <a:r>
              <a:rPr lang="zh-CN" altLang="en-US" sz="2400" dirty="0">
                <a:latin typeface="微软雅黑" panose="020B0503020204020204" pitchFamily="34" charset="-122"/>
                <a:ea typeface="微软雅黑" panose="020B0503020204020204" pitchFamily="34" charset="-122"/>
              </a:rPr>
              <a:t>中国放宽了人民币在私人部门中的使用范围，开始允许内地企业使用人民币进行跨境贸易结算</a:t>
            </a:r>
          </a:p>
          <a:p>
            <a:pPr lvl="1" indent="-457200">
              <a:lnSpc>
                <a:spcPct val="130000"/>
              </a:lnSpc>
              <a:spcBef>
                <a:spcPts val="1800"/>
              </a:spcBef>
              <a:buFont typeface="+mj-lt"/>
              <a:buAutoNum type="arabicPeriod"/>
            </a:pPr>
            <a:r>
              <a:rPr lang="zh-CN" altLang="en-US" sz="2400" dirty="0">
                <a:latin typeface="微软雅黑" panose="020B0503020204020204" pitchFamily="34" charset="-122"/>
                <a:ea typeface="微软雅黑" panose="020B0503020204020204" pitchFamily="34" charset="-122"/>
              </a:rPr>
              <a:t>在内地与香港两岸监管机构合作下推进离岸人民币市场的发展，允许使用人民币进行对外直接投资</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671934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专栏讨论：人民币国际化</a:t>
            </a:r>
            <a:endParaRPr lang="zh-CN" dirty="0"/>
          </a:p>
        </p:txBody>
      </p:sp>
      <p:sp>
        <p:nvSpPr>
          <p:cNvPr id="3" name="内容占位符 2"/>
          <p:cNvSpPr>
            <a:spLocks noGrp="1"/>
          </p:cNvSpPr>
          <p:nvPr>
            <p:ph idx="1"/>
          </p:nvPr>
        </p:nvSpPr>
        <p:spPr>
          <a:xfrm>
            <a:off x="971550" y="1447799"/>
            <a:ext cx="7200900" cy="4841879"/>
          </a:xfrm>
        </p:spPr>
        <p:txBody>
          <a:bodyPr>
            <a:normAutofit fontScale="85000" lnSpcReduction="10000"/>
          </a:bodyPr>
          <a:lstStyle/>
          <a:p>
            <a:pPr marL="0" lvl="1" indent="457200">
              <a:lnSpc>
                <a:spcPct val="160000"/>
              </a:lnSpc>
              <a:spcBef>
                <a:spcPts val="1800"/>
              </a:spcBef>
              <a:buNone/>
            </a:pPr>
            <a:r>
              <a:rPr lang="zh-CN" altLang="en-US" sz="2400" dirty="0">
                <a:latin typeface="微软雅黑" panose="020B0503020204020204" pitchFamily="34" charset="-122"/>
                <a:ea typeface="微软雅黑" panose="020B0503020204020204" pitchFamily="34" charset="-122"/>
              </a:rPr>
              <a:t>各项推进人民币国际化的政策当中，人民币贸易结算和香港人民币离岸市场等两项措施牵涉利益最广泛，也最受关注</a:t>
            </a:r>
            <a:r>
              <a:rPr lang="zh-CN" altLang="en-US" sz="2400" dirty="0" smtClean="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a:p>
            <a:pPr marL="0" lvl="1" indent="457200">
              <a:lnSpc>
                <a:spcPct val="160000"/>
              </a:lnSpc>
              <a:spcBef>
                <a:spcPts val="1800"/>
              </a:spcBef>
              <a:buNone/>
            </a:pPr>
            <a:r>
              <a:rPr lang="en-US" altLang="zh-CN" sz="2400" dirty="0">
                <a:latin typeface="微软雅黑" panose="020B0503020204020204" pitchFamily="34" charset="-122"/>
                <a:ea typeface="微软雅黑" panose="020B0503020204020204" pitchFamily="34" charset="-122"/>
              </a:rPr>
              <a:t>2010</a:t>
            </a:r>
            <a:r>
              <a:rPr lang="zh-CN" altLang="en-US" sz="2400" dirty="0">
                <a:latin typeface="微软雅黑" panose="020B0503020204020204" pitchFamily="34" charset="-122"/>
                <a:ea typeface="微软雅黑" panose="020B0503020204020204" pitchFamily="34" charset="-122"/>
              </a:rPr>
              <a:t>年</a:t>
            </a:r>
            <a:r>
              <a:rPr lang="en-US" altLang="zh-CN" sz="2400" dirty="0">
                <a:latin typeface="微软雅黑" panose="020B0503020204020204" pitchFamily="34" charset="-122"/>
                <a:ea typeface="微软雅黑" panose="020B0503020204020204" pitchFamily="34" charset="-122"/>
              </a:rPr>
              <a:t>8</a:t>
            </a:r>
            <a:r>
              <a:rPr lang="zh-CN" altLang="en-US" sz="2400" dirty="0">
                <a:latin typeface="微软雅黑" panose="020B0503020204020204" pitchFamily="34" charset="-122"/>
                <a:ea typeface="微软雅黑" panose="020B0503020204020204" pitchFamily="34" charset="-122"/>
              </a:rPr>
              <a:t>月香港离岸人民币（以下简称</a:t>
            </a:r>
            <a:r>
              <a:rPr lang="en-US" altLang="zh-CN" sz="2400" dirty="0">
                <a:latin typeface="微软雅黑" panose="020B0503020204020204" pitchFamily="34" charset="-122"/>
                <a:ea typeface="微软雅黑" panose="020B0503020204020204" pitchFamily="34" charset="-122"/>
              </a:rPr>
              <a:t>CNH</a:t>
            </a:r>
            <a:r>
              <a:rPr lang="zh-CN" altLang="en-US" sz="2400" dirty="0">
                <a:latin typeface="微软雅黑" panose="020B0503020204020204" pitchFamily="34" charset="-122"/>
                <a:ea typeface="微软雅黑" panose="020B0503020204020204" pitchFamily="34" charset="-122"/>
              </a:rPr>
              <a:t>）市场成立之后，跨境人民币贸易结算的月度金额迅速逼近千亿量级</a:t>
            </a:r>
            <a:r>
              <a:rPr lang="zh-CN" altLang="en-US" sz="2400" dirty="0" smtClean="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香港人民币计价的债券发行在</a:t>
            </a:r>
            <a:r>
              <a:rPr lang="en-US" altLang="zh-CN" sz="2400" dirty="0">
                <a:latin typeface="微软雅黑" panose="020B0503020204020204" pitchFamily="34" charset="-122"/>
                <a:ea typeface="微软雅黑" panose="020B0503020204020204" pitchFamily="34" charset="-122"/>
              </a:rPr>
              <a:t>2011</a:t>
            </a:r>
            <a:r>
              <a:rPr lang="zh-CN" altLang="en-US" sz="2400" dirty="0">
                <a:latin typeface="微软雅黑" panose="020B0503020204020204" pitchFamily="34" charset="-122"/>
                <a:ea typeface="微软雅黑" panose="020B0503020204020204" pitchFamily="34" charset="-122"/>
              </a:rPr>
              <a:t>年突破了千亿人民币，远超过了</a:t>
            </a:r>
            <a:r>
              <a:rPr lang="en-US" altLang="zh-CN" sz="2400" dirty="0">
                <a:latin typeface="微软雅黑" panose="020B0503020204020204" pitchFamily="34" charset="-122"/>
                <a:ea typeface="微软雅黑" panose="020B0503020204020204" pitchFamily="34" charset="-122"/>
              </a:rPr>
              <a:t>2010</a:t>
            </a:r>
            <a:r>
              <a:rPr lang="zh-CN" altLang="en-US" sz="2400" dirty="0">
                <a:latin typeface="微软雅黑" panose="020B0503020204020204" pitchFamily="34" charset="-122"/>
                <a:ea typeface="微软雅黑" panose="020B0503020204020204" pitchFamily="34" charset="-122"/>
              </a:rPr>
              <a:t>年的</a:t>
            </a:r>
            <a:r>
              <a:rPr lang="en-US" altLang="zh-CN" sz="2400" dirty="0">
                <a:latin typeface="微软雅黑" panose="020B0503020204020204" pitchFamily="34" charset="-122"/>
                <a:ea typeface="微软雅黑" panose="020B0503020204020204" pitchFamily="34" charset="-122"/>
              </a:rPr>
              <a:t>360</a:t>
            </a:r>
            <a:r>
              <a:rPr lang="zh-CN" altLang="en-US" sz="2400" dirty="0">
                <a:latin typeface="微软雅黑" panose="020B0503020204020204" pitchFamily="34" charset="-122"/>
                <a:ea typeface="微软雅黑" panose="020B0503020204020204" pitchFamily="34" charset="-122"/>
              </a:rPr>
              <a:t>亿人民币。</a:t>
            </a:r>
            <a:r>
              <a:rPr lang="zh-CN" altLang="en-US" sz="2400" dirty="0" smtClean="0">
                <a:latin typeface="微软雅黑" panose="020B0503020204020204" pitchFamily="34" charset="-122"/>
                <a:ea typeface="微软雅黑" panose="020B0503020204020204" pitchFamily="34" charset="-122"/>
              </a:rPr>
              <a:t>香港</a:t>
            </a:r>
            <a:r>
              <a:rPr lang="zh-CN" altLang="en-US" sz="2400" dirty="0">
                <a:latin typeface="微软雅黑" panose="020B0503020204020204" pitchFamily="34" charset="-122"/>
                <a:ea typeface="微软雅黑" panose="020B0503020204020204" pitchFamily="34" charset="-122"/>
              </a:rPr>
              <a:t>离岸人民币存款规模由</a:t>
            </a:r>
            <a:r>
              <a:rPr lang="en-US" altLang="zh-CN" sz="2400" dirty="0">
                <a:latin typeface="微软雅黑" panose="020B0503020204020204" pitchFamily="34" charset="-122"/>
                <a:ea typeface="微软雅黑" panose="020B0503020204020204" pitchFamily="34" charset="-122"/>
              </a:rPr>
              <a:t>2009</a:t>
            </a:r>
            <a:r>
              <a:rPr lang="zh-CN" altLang="en-US" sz="2400" dirty="0">
                <a:latin typeface="微软雅黑" panose="020B0503020204020204" pitchFamily="34" charset="-122"/>
                <a:ea typeface="微软雅黑" panose="020B0503020204020204" pitchFamily="34" charset="-122"/>
              </a:rPr>
              <a:t>年</a:t>
            </a:r>
            <a:r>
              <a:rPr lang="en-US" altLang="zh-CN" sz="2400" dirty="0">
                <a:latin typeface="微软雅黑" panose="020B0503020204020204" pitchFamily="34" charset="-122"/>
                <a:ea typeface="微软雅黑" panose="020B0503020204020204" pitchFamily="34" charset="-122"/>
              </a:rPr>
              <a:t>7</a:t>
            </a:r>
            <a:r>
              <a:rPr lang="zh-CN" altLang="en-US" sz="2400" dirty="0">
                <a:latin typeface="微软雅黑" panose="020B0503020204020204" pitchFamily="34" charset="-122"/>
                <a:ea typeface="微软雅黑" panose="020B0503020204020204" pitchFamily="34" charset="-122"/>
              </a:rPr>
              <a:t>月的</a:t>
            </a:r>
            <a:r>
              <a:rPr lang="en-US" altLang="zh-CN" sz="2400" dirty="0">
                <a:latin typeface="微软雅黑" panose="020B0503020204020204" pitchFamily="34" charset="-122"/>
                <a:ea typeface="微软雅黑" panose="020B0503020204020204" pitchFamily="34" charset="-122"/>
              </a:rPr>
              <a:t>559</a:t>
            </a:r>
            <a:r>
              <a:rPr lang="zh-CN" altLang="en-US" sz="2400" dirty="0">
                <a:latin typeface="微软雅黑" panose="020B0503020204020204" pitchFamily="34" charset="-122"/>
                <a:ea typeface="微软雅黑" panose="020B0503020204020204" pitchFamily="34" charset="-122"/>
              </a:rPr>
              <a:t>亿，上升到</a:t>
            </a:r>
            <a:r>
              <a:rPr lang="en-US" altLang="zh-CN" sz="2400" dirty="0">
                <a:latin typeface="微软雅黑" panose="020B0503020204020204" pitchFamily="34" charset="-122"/>
                <a:ea typeface="微软雅黑" panose="020B0503020204020204" pitchFamily="34" charset="-122"/>
              </a:rPr>
              <a:t>2015</a:t>
            </a:r>
            <a:r>
              <a:rPr lang="zh-CN" altLang="en-US" sz="2400" dirty="0">
                <a:latin typeface="微软雅黑" panose="020B0503020204020204" pitchFamily="34" charset="-122"/>
                <a:ea typeface="微软雅黑" panose="020B0503020204020204" pitchFamily="34" charset="-122"/>
              </a:rPr>
              <a:t>年</a:t>
            </a:r>
            <a:r>
              <a:rPr lang="en-US" altLang="zh-CN" sz="2400" dirty="0">
                <a:latin typeface="微软雅黑" panose="020B0503020204020204" pitchFamily="34" charset="-122"/>
                <a:ea typeface="微软雅黑" panose="020B0503020204020204" pitchFamily="34" charset="-122"/>
              </a:rPr>
              <a:t>4</a:t>
            </a:r>
            <a:r>
              <a:rPr lang="zh-CN" altLang="en-US" sz="2400" dirty="0">
                <a:latin typeface="微软雅黑" panose="020B0503020204020204" pitchFamily="34" charset="-122"/>
                <a:ea typeface="微软雅黑" panose="020B0503020204020204" pitchFamily="34" charset="-122"/>
              </a:rPr>
              <a:t>月的</a:t>
            </a:r>
            <a:r>
              <a:rPr lang="en-US" altLang="zh-CN" sz="2400" dirty="0">
                <a:latin typeface="微软雅黑" panose="020B0503020204020204" pitchFamily="34" charset="-122"/>
                <a:ea typeface="微软雅黑" panose="020B0503020204020204" pitchFamily="34" charset="-122"/>
              </a:rPr>
              <a:t>9552</a:t>
            </a:r>
            <a:r>
              <a:rPr lang="zh-CN" altLang="en-US" sz="2400" dirty="0">
                <a:latin typeface="微软雅黑" panose="020B0503020204020204" pitchFamily="34" charset="-122"/>
                <a:ea typeface="微软雅黑" panose="020B0503020204020204" pitchFamily="34" charset="-122"/>
              </a:rPr>
              <a:t>亿</a:t>
            </a:r>
            <a:r>
              <a:rPr lang="zh-CN" altLang="en-US" sz="2400" dirty="0" smtClean="0">
                <a:latin typeface="微软雅黑" panose="020B0503020204020204" pitchFamily="34" charset="-122"/>
                <a:ea typeface="微软雅黑" panose="020B0503020204020204" pitchFamily="34" charset="-122"/>
              </a:rPr>
              <a:t>。截至</a:t>
            </a:r>
            <a:r>
              <a:rPr lang="en-US" altLang="zh-CN" sz="2400" dirty="0">
                <a:latin typeface="微软雅黑" panose="020B0503020204020204" pitchFamily="34" charset="-122"/>
                <a:ea typeface="微软雅黑" panose="020B0503020204020204" pitchFamily="34" charset="-122"/>
              </a:rPr>
              <a:t>2015</a:t>
            </a:r>
            <a:r>
              <a:rPr lang="zh-CN" altLang="en-US" sz="2400" dirty="0">
                <a:latin typeface="微软雅黑" panose="020B0503020204020204" pitchFamily="34" charset="-122"/>
                <a:ea typeface="微软雅黑" panose="020B0503020204020204" pitchFamily="34" charset="-122"/>
              </a:rPr>
              <a:t>年</a:t>
            </a:r>
            <a:r>
              <a:rPr lang="en-US" altLang="zh-CN" sz="2400" dirty="0">
                <a:latin typeface="微软雅黑" panose="020B0503020204020204" pitchFamily="34" charset="-122"/>
                <a:ea typeface="微软雅黑" panose="020B0503020204020204" pitchFamily="34" charset="-122"/>
              </a:rPr>
              <a:t>4</a:t>
            </a:r>
            <a:r>
              <a:rPr lang="zh-CN" altLang="en-US" sz="2400" dirty="0">
                <a:latin typeface="微软雅黑" panose="020B0503020204020204" pitchFamily="34" charset="-122"/>
                <a:ea typeface="微软雅黑" panose="020B0503020204020204" pitchFamily="34" charset="-122"/>
              </a:rPr>
              <a:t>月，</a:t>
            </a:r>
            <a:r>
              <a:rPr lang="zh-CN" altLang="en-US" sz="2400" dirty="0" smtClean="0">
                <a:latin typeface="微软雅黑" panose="020B0503020204020204" pitchFamily="34" charset="-122"/>
                <a:ea typeface="微软雅黑" panose="020B0503020204020204" pitchFamily="34" charset="-122"/>
              </a:rPr>
              <a:t>香港</a:t>
            </a:r>
            <a:r>
              <a:rPr lang="zh-CN" altLang="en-US" sz="2400" dirty="0">
                <a:latin typeface="微软雅黑" panose="020B0503020204020204" pitchFamily="34" charset="-122"/>
                <a:ea typeface="微软雅黑" panose="020B0503020204020204" pitchFamily="34" charset="-122"/>
              </a:rPr>
              <a:t>参与经营人民币存款业务的持牌银行，由</a:t>
            </a:r>
            <a:r>
              <a:rPr lang="en-US" altLang="zh-CN" sz="2400" dirty="0">
                <a:latin typeface="微软雅黑" panose="020B0503020204020204" pitchFamily="34" charset="-122"/>
                <a:ea typeface="微软雅黑" panose="020B0503020204020204" pitchFamily="34" charset="-122"/>
              </a:rPr>
              <a:t>40</a:t>
            </a:r>
            <a:r>
              <a:rPr lang="zh-CN" altLang="en-US" sz="2400" dirty="0">
                <a:latin typeface="微软雅黑" panose="020B0503020204020204" pitchFamily="34" charset="-122"/>
                <a:ea typeface="微软雅黑" panose="020B0503020204020204" pitchFamily="34" charset="-122"/>
              </a:rPr>
              <a:t>家增加到</a:t>
            </a:r>
            <a:r>
              <a:rPr lang="en-US" altLang="zh-CN" sz="2400" dirty="0">
                <a:latin typeface="微软雅黑" panose="020B0503020204020204" pitchFamily="34" charset="-122"/>
                <a:ea typeface="微软雅黑" panose="020B0503020204020204" pitchFamily="34" charset="-122"/>
              </a:rPr>
              <a:t>147</a:t>
            </a:r>
            <a:r>
              <a:rPr lang="zh-CN" altLang="en-US" sz="2400" dirty="0" smtClean="0">
                <a:latin typeface="微软雅黑" panose="020B0503020204020204" pitchFamily="34" charset="-122"/>
                <a:ea typeface="微软雅黑" panose="020B0503020204020204" pitchFamily="34" charset="-122"/>
              </a:rPr>
              <a:t>家</a:t>
            </a:r>
            <a:r>
              <a:rPr lang="zh-CN" altLang="en-US" sz="2400" dirty="0">
                <a:latin typeface="微软雅黑" panose="020B0503020204020204" pitchFamily="34" charset="-122"/>
                <a:ea typeface="微软雅黑" panose="020B0503020204020204" pitchFamily="34" charset="-122"/>
              </a:rPr>
              <a:t>，</a:t>
            </a:r>
            <a:r>
              <a:rPr lang="zh-CN" altLang="en-US" sz="2400" dirty="0" smtClean="0">
                <a:latin typeface="微软雅黑" panose="020B0503020204020204" pitchFamily="34" charset="-122"/>
                <a:ea typeface="微软雅黑" panose="020B0503020204020204" pitchFamily="34" charset="-122"/>
              </a:rPr>
              <a:t>香港</a:t>
            </a:r>
            <a:r>
              <a:rPr lang="zh-CN" altLang="en-US" sz="2400" dirty="0">
                <a:latin typeface="微软雅黑" panose="020B0503020204020204" pitchFamily="34" charset="-122"/>
                <a:ea typeface="微软雅黑" panose="020B0503020204020204" pitchFamily="34" charset="-122"/>
              </a:rPr>
              <a:t>人民币清算平台的参加行已经达到了</a:t>
            </a:r>
            <a:r>
              <a:rPr lang="en-US" altLang="zh-CN" sz="2400" dirty="0">
                <a:latin typeface="微软雅黑" panose="020B0503020204020204" pitchFamily="34" charset="-122"/>
                <a:ea typeface="微软雅黑" panose="020B0503020204020204" pitchFamily="34" charset="-122"/>
              </a:rPr>
              <a:t>166</a:t>
            </a:r>
            <a:r>
              <a:rPr lang="zh-CN" altLang="en-US" sz="2400" dirty="0">
                <a:latin typeface="微软雅黑" panose="020B0503020204020204" pitchFamily="34" charset="-122"/>
                <a:ea typeface="微软雅黑" panose="020B0503020204020204" pitchFamily="34" charset="-122"/>
              </a:rPr>
              <a:t>家。 </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959004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香港人民币存款和经营人民币机构数量</a:t>
            </a:r>
            <a:endParaRPr lang="zh-CN" dirty="0"/>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graphicFrame>
        <p:nvGraphicFramePr>
          <p:cNvPr id="6" name="图表 5"/>
          <p:cNvGraphicFramePr>
            <a:graphicFrameLocks/>
          </p:cNvGraphicFramePr>
          <p:nvPr>
            <p:extLst>
              <p:ext uri="{D42A27DB-BD31-4B8C-83A1-F6EECF244321}">
                <p14:modId xmlns:p14="http://schemas.microsoft.com/office/powerpoint/2010/main" val="571497995"/>
              </p:ext>
            </p:extLst>
          </p:nvPr>
        </p:nvGraphicFramePr>
        <p:xfrm>
          <a:off x="457201" y="1160771"/>
          <a:ext cx="8237912" cy="494862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586828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1"/>
          </p:nvPr>
        </p:nvSpPr>
        <p:spPr/>
        <p:txBody>
          <a:bodyPr/>
          <a:lstStyle/>
          <a:p>
            <a:r>
              <a:rPr lang="zh-CN" altLang="en-US" smtClean="0"/>
              <a:t>国际金融学 范小云</a:t>
            </a:r>
            <a:endParaRPr lang="zh-CN"/>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77108"/>
            <a:ext cx="9026066" cy="39428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2053883" y="5655212"/>
            <a:ext cx="6049108" cy="461665"/>
          </a:xfrm>
          <a:prstGeom prst="rect">
            <a:avLst/>
          </a:prstGeom>
          <a:noFill/>
        </p:spPr>
        <p:txBody>
          <a:bodyPr wrap="square" rtlCol="0">
            <a:spAutoFit/>
          </a:bodyPr>
          <a:lstStyle/>
          <a:p>
            <a:r>
              <a:rPr lang="en-US" altLang="zh-CN" sz="2400" b="1" dirty="0" smtClean="0">
                <a:solidFill>
                  <a:srgbClr val="0070C0"/>
                </a:solidFill>
              </a:rPr>
              <a:t>2018</a:t>
            </a:r>
            <a:r>
              <a:rPr lang="zh-CN" altLang="en-US" sz="2400" b="1" dirty="0" smtClean="0">
                <a:solidFill>
                  <a:srgbClr val="0070C0"/>
                </a:solidFill>
              </a:rPr>
              <a:t>年的一项调研结果</a:t>
            </a:r>
            <a:endParaRPr lang="zh-CN" altLang="en-US" sz="2400" b="1" dirty="0">
              <a:solidFill>
                <a:srgbClr val="0070C0"/>
              </a:solidFill>
            </a:endParaRPr>
          </a:p>
        </p:txBody>
      </p:sp>
    </p:spTree>
    <p:extLst>
      <p:ext uri="{BB962C8B-B14F-4D97-AF65-F5344CB8AC3E}">
        <p14:creationId xmlns:p14="http://schemas.microsoft.com/office/powerpoint/2010/main" val="2063768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Diamond Grid 16x9">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15_4109default" id="{E728D685-11FC-4812-BA85-57AC6F9C9F40}" vid="{BC4E008B-95FF-4815-904E-143A8EDFC1D4}"/>
    </a:ext>
  </a:extLst>
</a:theme>
</file>

<file path=ppt/theme/theme2.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27087C0F-7449-45C4-B248-63D02665BF1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菱形网格演示文稿（宽屏）</Template>
  <TotalTime>0</TotalTime>
  <Words>10573</Words>
  <Application>Microsoft Office PowerPoint</Application>
  <PresentationFormat>全屏显示(4:3)</PresentationFormat>
  <Paragraphs>1409</Paragraphs>
  <Slides>126</Slides>
  <Notes>122</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126</vt:i4>
      </vt:variant>
    </vt:vector>
  </HeadingPairs>
  <TitlesOfParts>
    <vt:vector size="128" baseType="lpstr">
      <vt:lpstr>Diamond Grid 16x9</vt:lpstr>
      <vt:lpstr>工作表</vt:lpstr>
      <vt:lpstr>国际金融学</vt:lpstr>
      <vt:lpstr>第七章    开放经济下的宏观经济政策</vt:lpstr>
      <vt:lpstr>PowerPoint 演示文稿</vt:lpstr>
      <vt:lpstr>第一节  开放经济条件下的政策目标、工具和调控原理</vt:lpstr>
      <vt:lpstr>第一节  开放经济条件下的政策目标、工具和调控原理</vt:lpstr>
      <vt:lpstr>第一节  开放经济条件下的政策目标、工具和调控原理</vt:lpstr>
      <vt:lpstr>第一节  开放经济条件下的政策目标、工具和调控原理</vt:lpstr>
      <vt:lpstr>第一节  开放经济条件下的政策目标、工具和调控原理</vt:lpstr>
      <vt:lpstr>第一节  开放经济条件下的政策目标、工具和调控原理</vt:lpstr>
      <vt:lpstr>第一节  开放经济条件下的政策目标、工具和调控原理</vt:lpstr>
      <vt:lpstr>第一节  开放经济条件下的政策目标、工具和调控原理</vt:lpstr>
      <vt:lpstr>第一节  开放经济条件下的政策目标、工具和调控原理</vt:lpstr>
      <vt:lpstr>第二节 开放经济条件下的财政、货币政策                              ——蒙代尔－弗莱明模型</vt:lpstr>
      <vt:lpstr>基本模型</vt:lpstr>
      <vt:lpstr>PowerPoint 演示文稿</vt:lpstr>
      <vt:lpstr>PowerPoint 演示文稿</vt:lpstr>
      <vt:lpstr>PowerPoint 演示文稿</vt:lpstr>
      <vt:lpstr>第二节 开放经济条件下的财政、货币政策                              ——蒙代尔－弗莱明模型</vt:lpstr>
      <vt:lpstr>第二节 开放经济条件下的财政、货币政策                              ——蒙代尔－弗莱明模型</vt:lpstr>
      <vt:lpstr>固定汇率制下，扩张的货币政策</vt:lpstr>
      <vt:lpstr>固定汇率制下，扩张的财政政策（资本不流动）</vt:lpstr>
      <vt:lpstr>固定汇率制下，扩张的财政政策（资本流动程度低）</vt:lpstr>
      <vt:lpstr>固定汇率制下，扩张的财政政策</vt:lpstr>
      <vt:lpstr>固定汇率制下，扩张的财政政策（资本流动程度高）</vt:lpstr>
      <vt:lpstr>固定汇率制下，扩张的财政政策</vt:lpstr>
      <vt:lpstr>第二节 开放经济条件下的财政、货币政策                              ——蒙代尔－弗莱明模型</vt:lpstr>
      <vt:lpstr>浮动汇率制下，扩张的货币政策</vt:lpstr>
      <vt:lpstr>浮动汇率制下，扩张的财政政策</vt:lpstr>
      <vt:lpstr>浮动汇率制下，扩张的财政政策（资本流动程度低）</vt:lpstr>
      <vt:lpstr>浮动汇率制下，扩张的财政政策（资本流动程度高）</vt:lpstr>
      <vt:lpstr>浮动汇率制下，扩张的财政政策</vt:lpstr>
      <vt:lpstr>第二节 开放经济条件下的财政、货币政策                              ——蒙代尔－弗莱明模型</vt:lpstr>
      <vt:lpstr>第二节 开放经济条件下的财政、货币政策                              ——蒙代尔－弗莱明模型</vt:lpstr>
      <vt:lpstr>第二节 开放经济条件下的财政、货币政策                              ——蒙代尔－弗莱明模型</vt:lpstr>
      <vt:lpstr>1994-2000主要指标运行情况</vt:lpstr>
      <vt:lpstr>RMB nominal exchange rate (1980－1998)</vt:lpstr>
      <vt:lpstr> 第三节 开放经济下的汇率政策</vt:lpstr>
      <vt:lpstr> 第三节 开放经济下的汇率政策</vt:lpstr>
      <vt:lpstr>PowerPoint 演示文稿</vt:lpstr>
      <vt:lpstr>PowerPoint 演示文稿</vt:lpstr>
      <vt:lpstr> 第三节 开放经济下的汇率政策</vt:lpstr>
      <vt:lpstr>PowerPoint 演示文稿</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 第三节 开放经济下的汇率政策</vt:lpstr>
      <vt:lpstr>PowerPoint 演示文稿</vt:lpstr>
      <vt:lpstr>第四节 国际储备政策</vt:lpstr>
      <vt:lpstr>第四节 国际储备政策</vt:lpstr>
      <vt:lpstr>第四节 国际储备政策</vt:lpstr>
      <vt:lpstr>第四节 国际储备政策</vt:lpstr>
      <vt:lpstr>第四节 国际储备政策</vt:lpstr>
      <vt:lpstr>第四节 国际储备政策</vt:lpstr>
      <vt:lpstr>第四节 国际储备政策</vt:lpstr>
      <vt:lpstr>第四节 国际储备政策</vt:lpstr>
      <vt:lpstr>第四节 国际储备政策</vt:lpstr>
      <vt:lpstr>第四节 国际储备政策</vt:lpstr>
      <vt:lpstr>第四节 国际储备政策</vt:lpstr>
      <vt:lpstr>第四节 国际储备政策</vt:lpstr>
      <vt:lpstr>第四节 国际储备政策</vt:lpstr>
      <vt:lpstr>专栏讨论：人民币国际化</vt:lpstr>
      <vt:lpstr>专栏讨论：人民币国际化</vt:lpstr>
      <vt:lpstr>专栏讨论：人民币国际化</vt:lpstr>
      <vt:lpstr>大国地位初具雏形</vt:lpstr>
      <vt:lpstr>专栏讨论：人民币国际化</vt:lpstr>
      <vt:lpstr>跨境人民币结算规模高速增长（单位：亿元）</vt:lpstr>
      <vt:lpstr>专栏讨论：人民币国际化</vt:lpstr>
      <vt:lpstr>中国人民银行签署的双边本币互换协议</vt:lpstr>
      <vt:lpstr>专栏讨论：人民币国际化</vt:lpstr>
      <vt:lpstr>专栏讨论：人民币国际化</vt:lpstr>
      <vt:lpstr>香港人民币存款和经营人民币机构数量</vt:lpstr>
      <vt:lpstr>PowerPoint 演示文稿</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2015-03-10T15:06:14Z</dcterms:created>
  <dcterms:modified xsi:type="dcterms:W3CDTF">2019-12-23T22:32:57Z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TC030310159991</vt:lpwstr>
  </property>
</Properties>
</file>